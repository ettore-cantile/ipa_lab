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1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ore Cantile" userId="2f5e44afd0b03182" providerId="LiveId" clId="{CD915B2B-370A-4042-882B-34345CCC72E6}"/>
    <pc:docChg chg="undo custSel delSld modSld">
      <pc:chgData name="Ettore Cantile" userId="2f5e44afd0b03182" providerId="LiveId" clId="{CD915B2B-370A-4042-882B-34345CCC72E6}" dt="2026-07-06T11:57:00.317" v="75" actId="20577"/>
      <pc:docMkLst>
        <pc:docMk/>
      </pc:docMkLst>
      <pc:sldChg chg="modSp mod">
        <pc:chgData name="Ettore Cantile" userId="2f5e44afd0b03182" providerId="LiveId" clId="{CD915B2B-370A-4042-882B-34345CCC72E6}" dt="2026-07-06T11:57:00.317" v="75" actId="20577"/>
        <pc:sldMkLst>
          <pc:docMk/>
          <pc:sldMk cId="0" sldId="256"/>
        </pc:sldMkLst>
        <pc:spChg chg="mod">
          <ac:chgData name="Ettore Cantile" userId="2f5e44afd0b03182" providerId="LiveId" clId="{CD915B2B-370A-4042-882B-34345CCC72E6}" dt="2026-07-06T11:57:00.317" v="75" actId="20577"/>
          <ac:spMkLst>
            <pc:docMk/>
            <pc:sldMk cId="0" sldId="256"/>
            <ac:spMk id="17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56:44.081" v="73" actId="1076"/>
        <pc:sldMkLst>
          <pc:docMk/>
          <pc:sldMk cId="0" sldId="257"/>
        </pc:sldMkLst>
        <pc:spChg chg="mod">
          <ac:chgData name="Ettore Cantile" userId="2f5e44afd0b03182" providerId="LiveId" clId="{CD915B2B-370A-4042-882B-34345CCC72E6}" dt="2026-07-06T11:49:54.640" v="56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44.081" v="7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24.904" v="72" actId="20577"/>
          <ac:spMkLst>
            <pc:docMk/>
            <pc:sldMk cId="0" sldId="257"/>
            <ac:spMk id="21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50:40.652" v="58" actId="1076"/>
        <pc:sldMkLst>
          <pc:docMk/>
          <pc:sldMk cId="0" sldId="258"/>
        </pc:sldMkLst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0:40.652" v="58" actId="1076"/>
          <ac:spMkLst>
            <pc:docMk/>
            <pc:sldMk cId="0" sldId="258"/>
            <ac:spMk id="47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51:05.891" v="61" actId="2711"/>
        <pc:sldMkLst>
          <pc:docMk/>
          <pc:sldMk cId="0" sldId="259"/>
        </pc:sldMkLst>
        <pc:spChg chg="mod">
          <ac:chgData name="Ettore Cantile" userId="2f5e44afd0b03182" providerId="LiveId" clId="{CD915B2B-370A-4042-882B-34345CCC72E6}" dt="2026-07-06T11:51:05.891" v="61" actId="2711"/>
          <ac:spMkLst>
            <pc:docMk/>
            <pc:sldMk cId="0" sldId="259"/>
            <ac:spMk id="35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52:53.427" v="62" actId="1076"/>
        <pc:sldMkLst>
          <pc:docMk/>
          <pc:sldMk cId="0" sldId="260"/>
        </pc:sldMkLst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2:53.427" v="62" actId="1076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53:34.528" v="68" actId="1076"/>
        <pc:sldMkLst>
          <pc:docMk/>
          <pc:sldMk cId="0" sldId="261"/>
        </pc:sldMkLst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17.232" v="66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34.528" v="68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34.528" v="6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34.528" v="68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34.528" v="68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34.528" v="68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34.528" v="68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3:34.528" v="68" actId="1076"/>
          <ac:spMkLst>
            <pc:docMk/>
            <pc:sldMk cId="0" sldId="261"/>
            <ac:spMk id="23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36:33.162" v="12" actId="20577"/>
        <pc:sldMkLst>
          <pc:docMk/>
          <pc:sldMk cId="0" sldId="262"/>
        </pc:sldMkLst>
        <pc:spChg chg="mod">
          <ac:chgData name="Ettore Cantile" userId="2f5e44afd0b03182" providerId="LiveId" clId="{CD915B2B-370A-4042-882B-34345CCC72E6}" dt="2026-07-06T11:36:33.162" v="12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37:48.355" v="18" actId="1076"/>
        <pc:sldMkLst>
          <pc:docMk/>
          <pc:sldMk cId="0" sldId="263"/>
        </pc:sldMkLst>
        <pc:spChg chg="mod">
          <ac:chgData name="Ettore Cantile" userId="2f5e44afd0b03182" providerId="LiveId" clId="{CD915B2B-370A-4042-882B-34345CCC72E6}" dt="2026-07-06T11:37:48.355" v="18" actId="1076"/>
          <ac:spMkLst>
            <pc:docMk/>
            <pc:sldMk cId="0" sldId="263"/>
            <ac:spMk id="25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38:52.834" v="27" actId="1076"/>
        <pc:sldMkLst>
          <pc:docMk/>
          <pc:sldMk cId="0" sldId="264"/>
        </pc:sldMkLst>
        <pc:spChg chg="mod">
          <ac:chgData name="Ettore Cantile" userId="2f5e44afd0b03182" providerId="LiveId" clId="{CD915B2B-370A-4042-882B-34345CCC72E6}" dt="2026-07-06T11:38:52.834" v="27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38:20.133" v="23" actId="255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39:08.310" v="28" actId="1076"/>
        <pc:sldMkLst>
          <pc:docMk/>
          <pc:sldMk cId="0" sldId="265"/>
        </pc:sldMkLst>
        <pc:spChg chg="mod">
          <ac:chgData name="Ettore Cantile" userId="2f5e44afd0b03182" providerId="LiveId" clId="{CD915B2B-370A-4042-882B-34345CCC72E6}" dt="2026-07-06T11:39:08.310" v="28" actId="1076"/>
          <ac:spMkLst>
            <pc:docMk/>
            <pc:sldMk cId="0" sldId="265"/>
            <ac:spMk id="24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39:32.882" v="34" actId="20577"/>
        <pc:sldMkLst>
          <pc:docMk/>
          <pc:sldMk cId="0" sldId="266"/>
        </pc:sldMkLst>
        <pc:spChg chg="mod">
          <ac:chgData name="Ettore Cantile" userId="2f5e44afd0b03182" providerId="LiveId" clId="{CD915B2B-370A-4042-882B-34345CCC72E6}" dt="2026-07-06T11:39:32.882" v="34" actId="20577"/>
          <ac:spMkLst>
            <pc:docMk/>
            <pc:sldMk cId="0" sldId="266"/>
            <ac:spMk id="12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39:50.931" v="35" actId="1076"/>
        <pc:sldMkLst>
          <pc:docMk/>
          <pc:sldMk cId="0" sldId="267"/>
        </pc:sldMkLst>
        <pc:spChg chg="mod">
          <ac:chgData name="Ettore Cantile" userId="2f5e44afd0b03182" providerId="LiveId" clId="{CD915B2B-370A-4042-882B-34345CCC72E6}" dt="2026-07-06T11:39:50.931" v="35" actId="1076"/>
          <ac:spMkLst>
            <pc:docMk/>
            <pc:sldMk cId="0" sldId="267"/>
            <ac:spMk id="26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40:05.947" v="39" actId="20577"/>
        <pc:sldMkLst>
          <pc:docMk/>
          <pc:sldMk cId="0" sldId="268"/>
        </pc:sldMkLst>
        <pc:spChg chg="mod">
          <ac:chgData name="Ettore Cantile" userId="2f5e44afd0b03182" providerId="LiveId" clId="{CD915B2B-370A-4042-882B-34345CCC72E6}" dt="2026-07-06T11:40:05.947" v="39" actId="20577"/>
          <ac:spMkLst>
            <pc:docMk/>
            <pc:sldMk cId="0" sldId="268"/>
            <ac:spMk id="12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40:38.773" v="45" actId="20577"/>
        <pc:sldMkLst>
          <pc:docMk/>
          <pc:sldMk cId="0" sldId="269"/>
        </pc:sldMkLst>
        <pc:spChg chg="mod">
          <ac:chgData name="Ettore Cantile" userId="2f5e44afd0b03182" providerId="LiveId" clId="{CD915B2B-370A-4042-882B-34345CCC72E6}" dt="2026-07-06T11:40:38.773" v="45" actId="20577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46:55.342" v="49" actId="1076"/>
        <pc:sldMkLst>
          <pc:docMk/>
          <pc:sldMk cId="0" sldId="270"/>
        </pc:sldMkLst>
        <pc:spChg chg="mod">
          <ac:chgData name="Ettore Cantile" userId="2f5e44afd0b03182" providerId="LiveId" clId="{CD915B2B-370A-4042-882B-34345CCC72E6}" dt="2026-07-06T11:46:55.342" v="49" actId="1076"/>
          <ac:spMkLst>
            <pc:docMk/>
            <pc:sldMk cId="0" sldId="270"/>
            <ac:spMk id="20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56:03.649" v="71" actId="1076"/>
        <pc:sldMkLst>
          <pc:docMk/>
          <pc:sldMk cId="0" sldId="271"/>
        </pc:sldMkLst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" creationId="{00000000-0000-0000-0000-000000000000}"/>
          </ac:spMkLst>
        </pc:spChg>
        <pc:spChg chg="mod or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2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3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4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5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6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7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7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7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7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6:03.649" v="71" actId="1076"/>
          <ac:spMkLst>
            <pc:docMk/>
            <pc:sldMk cId="0" sldId="271"/>
            <ac:spMk id="74" creationId="{00000000-0000-0000-0000-000000000000}"/>
          </ac:spMkLst>
        </pc:spChg>
      </pc:sldChg>
      <pc:sldChg chg="modSp mod">
        <pc:chgData name="Ettore Cantile" userId="2f5e44afd0b03182" providerId="LiveId" clId="{CD915B2B-370A-4042-882B-34345CCC72E6}" dt="2026-07-06T11:55:35.118" v="70" actId="1076"/>
        <pc:sldMkLst>
          <pc:docMk/>
          <pc:sldMk cId="0" sldId="272"/>
        </pc:sldMkLst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2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4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5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6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7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8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39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40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41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42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43" creationId="{00000000-0000-0000-0000-000000000000}"/>
          </ac:spMkLst>
        </pc:spChg>
        <pc:spChg chg="mod">
          <ac:chgData name="Ettore Cantile" userId="2f5e44afd0b03182" providerId="LiveId" clId="{CD915B2B-370A-4042-882B-34345CCC72E6}" dt="2026-07-06T11:55:35.118" v="70" actId="1076"/>
          <ac:spMkLst>
            <pc:docMk/>
            <pc:sldMk cId="0" sldId="272"/>
            <ac:spMk id="44" creationId="{00000000-0000-0000-0000-000000000000}"/>
          </ac:spMkLst>
        </pc:spChg>
      </pc:sldChg>
      <pc:sldChg chg="del">
        <pc:chgData name="Ettore Cantile" userId="2f5e44afd0b03182" providerId="LiveId" clId="{CD915B2B-370A-4042-882B-34345CCC72E6}" dt="2026-07-06T11:49:14.073" v="54" actId="2696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9966960" y="320040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10680192" y="320040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>
            <a:off x="11393424" y="320040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10323576" y="941832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>
            <a:off x="11036808" y="941832"/>
            <a:ext cx="713232" cy="822960"/>
          </a:xfrm>
          <a:prstGeom prst="hexagon">
            <a:avLst/>
          </a:prstGeom>
          <a:noFill/>
          <a:ln w="13970">
            <a:solidFill>
              <a:srgbClr val="F6A6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11750040" y="941832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xagon 7"/>
          <p:cNvSpPr/>
          <p:nvPr/>
        </p:nvSpPr>
        <p:spPr>
          <a:xfrm>
            <a:off x="9966960" y="1563624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10680192" y="1563624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11393424" y="1563624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10323576" y="2185416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Hexagon 11"/>
          <p:cNvSpPr/>
          <p:nvPr/>
        </p:nvSpPr>
        <p:spPr>
          <a:xfrm>
            <a:off x="11036808" y="2185416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11750040" y="2185416"/>
            <a:ext cx="713232" cy="822960"/>
          </a:xfrm>
          <a:prstGeom prst="hexagon">
            <a:avLst/>
          </a:prstGeom>
          <a:noFill/>
          <a:ln w="13970">
            <a:solidFill>
              <a:srgbClr val="2C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94560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70632"/>
            <a:ext cx="877824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ECEDF2"/>
                </a:solidFill>
                <a:latin typeface="Cambria"/>
              </a:rPr>
              <a:t>IPA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441146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dirty="0">
                <a:solidFill>
                  <a:srgbClr val="F6A609"/>
                </a:solidFill>
                <a:latin typeface="Courier New"/>
              </a:rPr>
              <a:t>Intelligent P</a:t>
            </a:r>
            <a:r>
              <a:rPr lang="it-IT" sz="1800" b="1" dirty="0">
                <a:solidFill>
                  <a:srgbClr val="F6A609"/>
                </a:solidFill>
                <a:latin typeface="Courier New"/>
              </a:rPr>
              <a:t>A</a:t>
            </a:r>
            <a:r>
              <a:rPr sz="1800" b="1" dirty="0" err="1">
                <a:solidFill>
                  <a:srgbClr val="F6A609"/>
                </a:solidFill>
                <a:latin typeface="Courier New"/>
              </a:rPr>
              <a:t>ckets</a:t>
            </a:r>
            <a:r>
              <a:rPr sz="1800" b="1" dirty="0">
                <a:solidFill>
                  <a:srgbClr val="F6A609"/>
                </a:solidFill>
                <a:latin typeface="Courier New"/>
              </a:rPr>
              <a:t> con </a:t>
            </a:r>
            <a:r>
              <a:rPr sz="1800" b="1" dirty="0" err="1">
                <a:solidFill>
                  <a:srgbClr val="F6A609"/>
                </a:solidFill>
                <a:latin typeface="Courier New"/>
              </a:rPr>
              <a:t>eBPF</a:t>
            </a:r>
            <a:r>
              <a:rPr sz="1800" b="1" dirty="0">
                <a:solidFill>
                  <a:srgbClr val="F6A609"/>
                </a:solidFill>
                <a:latin typeface="Courier New"/>
              </a:rPr>
              <a:t>/XDP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81728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50">
                <a:solidFill>
                  <a:srgbClr val="9AA1B4"/>
                </a:solidFill>
                <a:latin typeface="Calibri"/>
              </a:rPr>
              <a:t>Scenario Germany50, quattro metodi di forwarding neurale e risultati sperimentali.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61888"/>
            <a:ext cx="10058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5D0BA"/>
                </a:solidFill>
                <a:latin typeface="Courier New"/>
              </a:rPr>
              <a:t>Kathara · Germany50 · model_cache · fwd_table · QAT · IPA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Obiettivo del progetto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 err="1">
                <a:solidFill>
                  <a:srgbClr val="9AA1B4"/>
                </a:solidFill>
                <a:latin typeface="Calibri"/>
              </a:rPr>
              <a:t>Portare</a:t>
            </a:r>
            <a:r>
              <a:rPr sz="1500" b="0" dirty="0">
                <a:solidFill>
                  <a:srgbClr val="9AA1B4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AA1B4"/>
                </a:solidFill>
                <a:latin typeface="Calibri"/>
              </a:rPr>
              <a:t>una</a:t>
            </a:r>
            <a:r>
              <a:rPr sz="1500" b="0" dirty="0">
                <a:solidFill>
                  <a:srgbClr val="9AA1B4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AA1B4"/>
                </a:solidFill>
                <a:latin typeface="Calibri"/>
              </a:rPr>
              <a:t>decisione</a:t>
            </a:r>
            <a:r>
              <a:rPr sz="1500" b="0" dirty="0">
                <a:solidFill>
                  <a:srgbClr val="9AA1B4"/>
                </a:solidFill>
                <a:latin typeface="Calibri"/>
              </a:rPr>
              <a:t> ML </a:t>
            </a:r>
            <a:r>
              <a:rPr sz="1500" b="0" dirty="0" err="1">
                <a:solidFill>
                  <a:srgbClr val="9AA1B4"/>
                </a:solidFill>
                <a:latin typeface="Calibri"/>
              </a:rPr>
              <a:t>direttamente</a:t>
            </a:r>
            <a:r>
              <a:rPr sz="1500" b="0" dirty="0">
                <a:solidFill>
                  <a:srgbClr val="9AA1B4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AA1B4"/>
                </a:solidFill>
                <a:latin typeface="Calibri"/>
              </a:rPr>
              <a:t>nel</a:t>
            </a:r>
            <a:r>
              <a:rPr sz="1500" b="0" dirty="0">
                <a:solidFill>
                  <a:srgbClr val="9AA1B4"/>
                </a:solidFill>
                <a:latin typeface="Calibri"/>
              </a:rPr>
              <a:t> data plane.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" y="2670048"/>
            <a:ext cx="470916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50" dirty="0">
                <a:solidFill>
                  <a:srgbClr val="9AA1B4"/>
                </a:solidFill>
                <a:latin typeface="Calibri"/>
              </a:rPr>
              <a:t>IPA cambia la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prospettiva</a:t>
            </a:r>
            <a:r>
              <a:rPr sz="1550" dirty="0">
                <a:solidFill>
                  <a:srgbClr val="9AA1B4"/>
                </a:solidFill>
                <a:latin typeface="Calibri"/>
              </a:rPr>
              <a:t>: il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pacchetto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non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contiene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solo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dati</a:t>
            </a:r>
            <a:r>
              <a:rPr sz="1550" dirty="0">
                <a:solidFill>
                  <a:srgbClr val="9AA1B4"/>
                </a:solidFill>
                <a:latin typeface="Calibri"/>
              </a:rPr>
              <a:t>, ma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anche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l'informazione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necessaria per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scegliere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il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percorso</a:t>
            </a:r>
            <a:r>
              <a:rPr sz="1550" dirty="0">
                <a:solidFill>
                  <a:srgbClr val="9AA1B4"/>
                </a:solidFill>
                <a:latin typeface="Calibri"/>
              </a:rPr>
              <a:t>. Il router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esegue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una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mini-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inferenza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per-hop senza </a:t>
            </a:r>
            <a:r>
              <a:rPr sz="1550" dirty="0" err="1">
                <a:solidFill>
                  <a:srgbClr val="9AA1B4"/>
                </a:solidFill>
                <a:latin typeface="Calibri"/>
              </a:rPr>
              <a:t>interrogare</a:t>
            </a:r>
            <a:r>
              <a:rPr sz="1550" dirty="0">
                <a:solidFill>
                  <a:srgbClr val="9AA1B4"/>
                </a:solidFill>
                <a:latin typeface="Calibri"/>
              </a:rPr>
              <a:t> un controller centrale.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5074920" cy="932688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0488" y="1847088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90488" y="198424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0296" y="1847088"/>
            <a:ext cx="3931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Data plane programmabile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2194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dirty="0">
                <a:solidFill>
                  <a:srgbClr val="9AA1B4"/>
                </a:solidFill>
                <a:latin typeface="Calibri"/>
              </a:rPr>
              <a:t>XDP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intercetta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il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pacchetto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prima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dello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stack Linux e decide se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inoltrarlo</a:t>
            </a:r>
            <a:r>
              <a:rPr sz="1180" dirty="0">
                <a:solidFill>
                  <a:srgbClr val="9AA1B4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743200"/>
            <a:ext cx="5074920" cy="932688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0488" y="2944368"/>
            <a:ext cx="640080" cy="6400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308152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2944368"/>
            <a:ext cx="3931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Modello compatto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32918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I pesi sono quantizzati a int8 e indicizzati da model_id.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840480"/>
            <a:ext cx="5074920" cy="932688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4041648"/>
            <a:ext cx="640080" cy="640080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417880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4041648"/>
            <a:ext cx="3931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Forwarding mission-driven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432968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dirty="0">
                <a:solidFill>
                  <a:srgbClr val="9AA1B4"/>
                </a:solidFill>
                <a:latin typeface="Calibri"/>
              </a:rPr>
              <a:t>La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chiave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prodotta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dall'inferenza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seleziona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l'azione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in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fwd_table</a:t>
            </a:r>
            <a:r>
              <a:rPr sz="1180" dirty="0">
                <a:solidFill>
                  <a:srgbClr val="9AA1B4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49824"/>
            <a:ext cx="42834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dirty="0">
                <a:solidFill>
                  <a:srgbClr val="F6A609"/>
                </a:solidFill>
                <a:latin typeface="Cambria"/>
              </a:rPr>
              <a:t>Idea centrale: piu' </a:t>
            </a:r>
            <a:r>
              <a:rPr sz="1800" b="1" dirty="0" err="1">
                <a:solidFill>
                  <a:srgbClr val="F6A609"/>
                </a:solidFill>
                <a:latin typeface="Cambria"/>
              </a:rPr>
              <a:t>autonomia</a:t>
            </a:r>
            <a:r>
              <a:rPr sz="1800" b="1" dirty="0">
                <a:solidFill>
                  <a:srgbClr val="F6A609"/>
                </a:solidFill>
                <a:latin typeface="Cambria"/>
              </a:rPr>
              <a:t> </a:t>
            </a:r>
            <a:r>
              <a:rPr sz="1800" b="1" dirty="0" err="1">
                <a:solidFill>
                  <a:srgbClr val="F6A609"/>
                </a:solidFill>
                <a:latin typeface="Cambria"/>
              </a:rPr>
              <a:t>nel</a:t>
            </a:r>
            <a:r>
              <a:rPr sz="1800" b="1" dirty="0">
                <a:solidFill>
                  <a:srgbClr val="F6A609"/>
                </a:solidFill>
                <a:latin typeface="Cambria"/>
              </a:rPr>
              <a:t> kernel.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Scenario di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Topologia reale Germany50 importata da SNDlib ed eseguita in Kathara.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1317" y="2112264"/>
            <a:ext cx="2194560" cy="438912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5325" y="2203704"/>
            <a:ext cx="2066543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Parametro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5877" y="2112264"/>
            <a:ext cx="2743200" cy="438912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49885" y="2203704"/>
            <a:ext cx="2615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Valore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1317" y="2551176"/>
            <a:ext cx="219456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5325" y="2642616"/>
            <a:ext cx="2066543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Nodi 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5877" y="2551176"/>
            <a:ext cx="274320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49885" y="2642616"/>
            <a:ext cx="2615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1317" y="2990088"/>
            <a:ext cx="219456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5325" y="3081528"/>
            <a:ext cx="2066543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Nodi totali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5877" y="2990088"/>
            <a:ext cx="274320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49885" y="3081528"/>
            <a:ext cx="2615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52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1317" y="3429000"/>
            <a:ext cx="219456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5325" y="3520440"/>
            <a:ext cx="2066543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Grado massimo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5877" y="3429000"/>
            <a:ext cx="274320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49885" y="3520440"/>
            <a:ext cx="2615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1317" y="3867912"/>
            <a:ext cx="219456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5325" y="3959352"/>
            <a:ext cx="2066543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Sorgente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5877" y="3867912"/>
            <a:ext cx="274320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49885" y="3959352"/>
            <a:ext cx="2615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h_src su Karlsruhe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1317" y="4306824"/>
            <a:ext cx="219456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55325" y="4398263"/>
            <a:ext cx="2066543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Destinazione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85877" y="4306824"/>
            <a:ext cx="274320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49885" y="4398263"/>
            <a:ext cx="2615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h_dst su Flensburg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1317" y="4745736"/>
            <a:ext cx="219456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55325" y="4837176"/>
            <a:ext cx="2066543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Failure max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85877" y="4745736"/>
            <a:ext cx="2743200" cy="438912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9885" y="4837176"/>
            <a:ext cx="2615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86277" y="1719072"/>
            <a:ext cx="4800600" cy="1078992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87445" y="1920240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87445" y="2057400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FR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253" y="1920240"/>
            <a:ext cx="36576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Emulazione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7253" y="2267712"/>
            <a:ext cx="365760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Ogni nodo Germany50 diventa un container Kathara con FRR/OSPF e supporto BCC/eBPF.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86277" y="2999232"/>
            <a:ext cx="4800600" cy="1078992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87445" y="3200400"/>
            <a:ext cx="640080" cy="6400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7445" y="3337560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7253" y="3200400"/>
            <a:ext cx="36576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Traffico di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7253" y="3547872"/>
            <a:ext cx="365760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I sender Scapy inviano pacchetti UDP sulla porta 9999 con header IPA.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86277" y="4279392"/>
            <a:ext cx="4800600" cy="1078992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687445" y="4480560"/>
            <a:ext cx="640080" cy="640080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87445" y="4617720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4161F"/>
                </a:solidFill>
                <a:latin typeface="Courier New"/>
              </a:rPr>
              <a:t>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7253" y="4480560"/>
            <a:ext cx="36576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Nodo esempio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37253" y="4828032"/>
            <a:ext cx="365760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dirty="0">
                <a:solidFill>
                  <a:srgbClr val="9AA1B4"/>
                </a:solidFill>
                <a:latin typeface="Calibri"/>
              </a:rPr>
              <a:t>Router: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frankfurt</a:t>
            </a:r>
            <a:r>
              <a:rPr sz="1180" dirty="0">
                <a:solidFill>
                  <a:srgbClr val="9AA1B4"/>
                </a:solidFill>
                <a:latin typeface="Calibri"/>
              </a:rPr>
              <a:t>. Sender: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darmstadt</a:t>
            </a:r>
            <a:r>
              <a:rPr sz="1180" dirty="0">
                <a:solidFill>
                  <a:srgbClr val="9AA1B4"/>
                </a:solidFill>
                <a:latin typeface="Calibri"/>
              </a:rPr>
              <a:t>. Model ID di default: 42.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Pipeline del pacchetto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Dal parsing dell'header IPA alla redirect XDP.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1874519" cy="102412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12263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UDP:9999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hook XDP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599" y="2057400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2072" y="1856231"/>
            <a:ext cx="1874519" cy="10241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2112263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IPA hdr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459736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model_id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057400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9784" y="1856231"/>
            <a:ext cx="1874519" cy="10241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1224" y="2112263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model_cache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459736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pesi int8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2057400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7496" y="1856231"/>
            <a:ext cx="1874519" cy="1024128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88936" y="2112263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dot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59736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057400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65208" y="1856231"/>
            <a:ext cx="1874519" cy="102412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2112263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fwd_table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459736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redirect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749039"/>
            <a:ext cx="4846320" cy="13258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2688" y="3950207"/>
            <a:ext cx="640080" cy="6400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08736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2496" y="3950207"/>
            <a:ext cx="37033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Input 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2496" y="4297679"/>
            <a:ext cx="370332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iv = [model_id, ip-&gt;ttl, ingress_ifindex, input_size]. Nel codice condiviso input_size vale 65.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493008"/>
            <a:ext cx="5349240" cy="1755648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90488" y="3675887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91656" y="3675887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92824" y="3675887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3602736"/>
            <a:ext cx="4343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9AA1B4"/>
                </a:solidFill>
                <a:latin typeface="Courier New"/>
              </a:rPr>
              <a:t>kernel formula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3912" y="3968496"/>
            <a:ext cx="5020055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5352" y="4151376"/>
            <a:ext cx="409086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output_raw</a:t>
            </a: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sum(iv[</a:t>
            </a:r>
            <a:r>
              <a:rPr sz="12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* (__s8)weights[</a:t>
            </a:r>
            <a:r>
              <a:rPr sz="12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 = (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output_raw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OFFSET * scale) / scale;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bpf_redirect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(act-&gt;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ifindex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Mappe eBPF condivise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Lo stato vive in mappe accessibili da kernel e user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8180" y="1938528"/>
            <a:ext cx="3429000" cy="2240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9348" y="2139696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9348" y="2276856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9156" y="2139696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model_cache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9156" y="2487168"/>
            <a:ext cx="2286000" cy="1581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Key: model_id. Value: flag validita', scale_factor e array di pesi int8. Nei metodi 1-3 parte piena; nel metodo 4 parte vuota.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1500" y="1938528"/>
            <a:ext cx="3429000" cy="2240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82668" y="2139696"/>
            <a:ext cx="640080" cy="6400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668" y="2276856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2476" y="2139696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fwd_table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2476" y="2487168"/>
            <a:ext cx="2286000" cy="1581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Key: output dell'inferenza. Value: ifindex di uscita e MAC da riscrivere prima del redirect.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4820" y="1938528"/>
            <a:ext cx="3429000" cy="2240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85988" y="2139696"/>
            <a:ext cx="640080" cy="640080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5988" y="2276856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5796" y="2139696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5796" y="2487168"/>
            <a:ext cx="2286000" cy="1581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miss_events e model_miss_events notificano il CP quando mancano una regola o un modello.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42416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dirty="0" err="1">
                <a:solidFill>
                  <a:srgbClr val="F6A609"/>
                </a:solidFill>
                <a:latin typeface="Cambria"/>
              </a:rPr>
              <a:t>valid_keys</a:t>
            </a:r>
            <a:r>
              <a:rPr sz="1700" b="1" dirty="0">
                <a:solidFill>
                  <a:srgbClr val="F6A609"/>
                </a:solidFill>
                <a:latin typeface="Cambria"/>
              </a:rPr>
              <a:t> serve solo </a:t>
            </a:r>
            <a:r>
              <a:rPr sz="1700" b="1" dirty="0" err="1">
                <a:solidFill>
                  <a:srgbClr val="F6A609"/>
                </a:solidFill>
                <a:latin typeface="Cambria"/>
              </a:rPr>
              <a:t>alla</a:t>
            </a:r>
            <a:r>
              <a:rPr sz="1700" b="1" dirty="0">
                <a:solidFill>
                  <a:srgbClr val="F6A609"/>
                </a:solidFill>
                <a:latin typeface="Cambria"/>
              </a:rPr>
              <a:t> </a:t>
            </a:r>
            <a:r>
              <a:rPr sz="1700" b="1" dirty="0" err="1">
                <a:solidFill>
                  <a:srgbClr val="F6A609"/>
                </a:solidFill>
                <a:latin typeface="Cambria"/>
              </a:rPr>
              <a:t>misura</a:t>
            </a:r>
            <a:r>
              <a:rPr sz="1700" b="1" dirty="0">
                <a:solidFill>
                  <a:srgbClr val="F6A609"/>
                </a:solidFill>
                <a:latin typeface="Cambria"/>
              </a:rPr>
              <a:t> </a:t>
            </a:r>
            <a:r>
              <a:rPr sz="1700" b="1" dirty="0" err="1">
                <a:solidFill>
                  <a:srgbClr val="F6A609"/>
                </a:solidFill>
                <a:latin typeface="Cambria"/>
              </a:rPr>
              <a:t>sperimentale</a:t>
            </a:r>
            <a:r>
              <a:rPr sz="1700" b="1" dirty="0">
                <a:solidFill>
                  <a:srgbClr val="F6A609"/>
                </a:solidFill>
                <a:latin typeface="Cambria"/>
              </a:rPr>
              <a:t>: distingue TRUE HIT, FAKE HIT e MISS.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Metriche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Come vengono classificati i pacchetti.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315468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28254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TRUE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282549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7DD88B"/>
                </a:solidFill>
                <a:latin typeface="Cambria"/>
              </a:rPr>
              <a:t>corretto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788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30">
                <a:solidFill>
                  <a:srgbClr val="9AA1B4"/>
                </a:solidFill>
                <a:latin typeface="Calibri"/>
              </a:rPr>
              <a:t>fwd_table[key] trovata e valid_keys[ttl] coincide con la key calcolata.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15468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965960"/>
            <a:ext cx="28254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FAKE HIT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267712"/>
            <a:ext cx="282549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8A8A"/>
                </a:solidFill>
                <a:latin typeface="Cambria"/>
              </a:rPr>
              <a:t>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2788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30">
                <a:solidFill>
                  <a:srgbClr val="9AA1B4"/>
                </a:solidFill>
                <a:latin typeface="Calibri"/>
              </a:rPr>
              <a:t>La tabella contiene una key, ma non e' quella valida per quel TTL.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828800"/>
            <a:ext cx="315468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965960"/>
            <a:ext cx="28254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MISS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267712"/>
            <a:ext cx="282549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C85A"/>
                </a:solidFill>
                <a:latin typeface="Cambria"/>
              </a:rPr>
              <a:t>assenza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08960"/>
            <a:ext cx="2788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30">
                <a:solidFill>
                  <a:srgbClr val="9AA1B4"/>
                </a:solidFill>
                <a:latin typeface="Calibri"/>
              </a:rPr>
              <a:t>La key non e' in fwd_table: serve intervento del CP o fallback.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5416" y="4215384"/>
            <a:ext cx="8458200" cy="1005840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86585" y="43982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87753" y="43982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788921" y="43982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54097" y="4325112"/>
            <a:ext cx="74523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1B4"/>
                </a:solidFill>
                <a:latin typeface="Courier New"/>
              </a:rPr>
              <a:t>classifier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9" y="4690872"/>
            <a:ext cx="8129016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75818" y="4730286"/>
            <a:ext cx="778595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  = </a:t>
            </a:r>
            <a:r>
              <a:rPr sz="10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fwd_table</a:t>
            </a:r>
            <a:r>
              <a:rPr sz="10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[key] &amp;&amp; </a:t>
            </a:r>
            <a:r>
              <a:rPr sz="10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valid_keys</a:t>
            </a:r>
            <a:r>
              <a:rPr sz="10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0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ttl</a:t>
            </a:r>
            <a:r>
              <a:rPr sz="10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key</a:t>
            </a:r>
            <a:b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  = </a:t>
            </a:r>
            <a:r>
              <a:rPr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fwd_table</a:t>
            </a: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[key] &amp;&amp; </a:t>
            </a:r>
            <a:r>
              <a:rPr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valid_keys</a:t>
            </a: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ttl</a:t>
            </a: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!= key</a:t>
            </a:r>
            <a:b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MISS  = !</a:t>
            </a:r>
            <a:r>
              <a:rPr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fwd_table</a:t>
            </a: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[key]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dirty="0">
                <a:solidFill>
                  <a:srgbClr val="9AA1B4"/>
                </a:solidFill>
                <a:latin typeface="Courier New"/>
              </a:rPr>
              <a:t>IPA Lab · Intelligent Packets con </a:t>
            </a:r>
            <a:r>
              <a:rPr sz="950" b="0" dirty="0" err="1">
                <a:solidFill>
                  <a:srgbClr val="9AA1B4"/>
                </a:solidFill>
                <a:latin typeface="Courier New"/>
              </a:rPr>
              <a:t>eBPF</a:t>
            </a:r>
            <a:r>
              <a:rPr sz="950" b="0" dirty="0">
                <a:solidFill>
                  <a:srgbClr val="9AA1B4"/>
                </a:solidFill>
                <a:latin typeface="Courier New"/>
              </a:rPr>
              <a:t>/XDP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1: PTQ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Post-Training Quantization: prima training float32, poi quantizzazione.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>
                <a:solidFill>
                  <a:srgbClr val="9AA1B4"/>
                </a:solidFill>
                <a:latin typeface="Calibri"/>
              </a:rPr>
              <a:t>Nel metodo PTQ il CP calcola le regole usando i pesi float originali, mentre il kernel usa i pesi int8 caricati in model_cache. L'asimmetria e' voluta: misura quanto la quantizzazione a posteriori rompe l'allineamento.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664208"/>
            <a:ext cx="5897880" cy="2148840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87568" y="18470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88736" y="18470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89904" y="18470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73936"/>
            <a:ext cx="4892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1B4"/>
                </a:solidFill>
                <a:latin typeface="Courier New"/>
              </a:rPr>
              <a:t>method1_ptq.py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139696"/>
            <a:ext cx="5568696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2" y="2322576"/>
            <a:ext cx="5299528" cy="12926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00B050"/>
                </a:solidFill>
                <a:latin typeface="Courier New"/>
              </a:rPr>
              <a:t>cp_weights</a:t>
            </a:r>
            <a:r>
              <a:rPr sz="1200" b="0" dirty="0">
                <a:solidFill>
                  <a:srgbClr val="00B050"/>
                </a:solidFill>
                <a:latin typeface="Courier New"/>
              </a:rPr>
              <a:t> = </a:t>
            </a:r>
            <a:r>
              <a:rPr sz="1200" b="0" dirty="0" err="1">
                <a:solidFill>
                  <a:srgbClr val="00B050"/>
                </a:solidFill>
                <a:latin typeface="Courier New"/>
              </a:rPr>
              <a:t>float_data</a:t>
            </a:r>
            <a:r>
              <a:rPr sz="1200" b="0" dirty="0">
                <a:solidFill>
                  <a:srgbClr val="00B050"/>
                </a:solidFill>
                <a:latin typeface="Courier New"/>
              </a:rPr>
              <a:t>["weights"][:4]</a:t>
            </a:r>
            <a:endParaRPr lang="it-IT" sz="1200" b="0" dirty="0">
              <a:solidFill>
                <a:srgbClr val="00B050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br>
              <a:rPr sz="1200" dirty="0">
                <a:solidFill>
                  <a:srgbClr val="00B050"/>
                </a:solidFill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it-IT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eger_weights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load_weights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("/shared/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weights.json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populate_model_cache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(b,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model_id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integer_weights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scale)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populate_fwd_and_valid_keys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b, action,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cp_weights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scale,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integer_arithmetic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=False)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5196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" y="4453128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459028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6776" y="445312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480060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usa weights_float.json e aritmetica float.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425196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36007" y="4453128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7" y="459028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445312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480060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usa weights.json e pesi int8.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25196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85048" y="4453128"/>
            <a:ext cx="640080" cy="640080"/>
          </a:xfrm>
          <a:prstGeom prst="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459028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5" y="445312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Effetto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5" y="480060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FAKE HIT e MISS diventano visibili.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1: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30 pacchetti di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TRUE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7DD88B"/>
                </a:solidFill>
                <a:latin typeface="Cambria"/>
              </a:rPr>
              <a:t>0 (0%)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FAKE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8A8A"/>
                </a:solidFill>
                <a:latin typeface="Cambria"/>
              </a:rPr>
              <a:t>18 (60%)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C85A"/>
                </a:solidFill>
                <a:latin typeface="Cambria"/>
              </a:rPr>
              <a:t>12 (40%)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66160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611879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538728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DD88B"/>
                </a:solidFill>
                <a:latin typeface="Courier New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078224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FAKE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4123944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46320" y="4123944"/>
            <a:ext cx="1700784" cy="128016"/>
          </a:xfrm>
          <a:prstGeom prst="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4050791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8A8A"/>
                </a:solidFill>
                <a:latin typeface="Courier New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590288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MISS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636007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0" y="4636007"/>
            <a:ext cx="1133856" cy="128016"/>
          </a:xfrm>
          <a:prstGeom prst="rect">
            <a:avLst/>
          </a:prstGeom>
          <a:solidFill>
            <a:srgbClr val="FF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4562855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85A"/>
                </a:solidFill>
                <a:latin typeface="Courier New"/>
              </a:rP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" y="4983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 dirty="0" err="1">
                <a:solidFill>
                  <a:srgbClr val="9AA1B4"/>
                </a:solidFill>
                <a:latin typeface="Calibri"/>
              </a:rPr>
              <a:t>Interpretazione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: PTQ non e'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affidabile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per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questa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implementazione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,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perche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' il CP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installa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chiavi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float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che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il kernel int8 non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riproduce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con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precisione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2: QAT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Quantization-Aware Training: il modello viene addestrato pensando all'int8.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 dirty="0">
                <a:solidFill>
                  <a:srgbClr val="9AA1B4"/>
                </a:solidFill>
                <a:latin typeface="Calibri"/>
              </a:rPr>
              <a:t>Il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modello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QAT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simula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la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quantizzazione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durante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il forward: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pesi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vengono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scalati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,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arrotondati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,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clampati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a int8 e poi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riportati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a float per il training con 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664208"/>
            <a:ext cx="5897880" cy="2148840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87568" y="18470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88736" y="18470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89904" y="18470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73936"/>
            <a:ext cx="4892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1B4"/>
                </a:solidFill>
                <a:latin typeface="Courier New"/>
              </a:rPr>
              <a:t>FRR_model.py / method2_qat.py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139696"/>
            <a:ext cx="5568696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2" y="2322576"/>
            <a:ext cx="4183838" cy="12926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00B050"/>
                </a:solidFill>
                <a:latin typeface="Courier New"/>
              </a:rPr>
              <a:t>w_scaled</a:t>
            </a:r>
            <a:r>
              <a:rPr sz="1200" b="0" dirty="0">
                <a:solidFill>
                  <a:srgbClr val="00B050"/>
                </a:solidFill>
                <a:latin typeface="Courier New"/>
              </a:rPr>
              <a:t>  = w * 128</a:t>
            </a:r>
            <a:br>
              <a:rPr dirty="0"/>
            </a:b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w_rounded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torch.round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w_scaled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w_clamped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torch.clamp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w_rounded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-128, 127)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populate_fwd_and_valid_keys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b, action, int8_weights, 128,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integer_arithmetic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5196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" y="4453128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459028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6776" y="445312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Scale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480060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fisso a 128 per CP e kernel.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425196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36007" y="4453128"/>
            <a:ext cx="640080" cy="6400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7" y="459028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//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445312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Divisione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480060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Python usa // per imitare 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25196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85048" y="4453128"/>
            <a:ext cx="640080" cy="640080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459028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5" y="445312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Risultato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5" y="480060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chiavi identiche nel CP e in XDP.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2: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30 pacchetti di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TRUE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7DD88B"/>
                </a:solidFill>
                <a:latin typeface="Cambria"/>
              </a:rPr>
              <a:t>30 (100%)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FAKE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8A8A"/>
                </a:solidFill>
                <a:latin typeface="Cambria"/>
              </a:rPr>
              <a:t>0 (0%)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C85A"/>
                </a:solidFill>
                <a:latin typeface="Cambria"/>
              </a:rPr>
              <a:t>0 (0%)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66160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611879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46320" y="3611879"/>
            <a:ext cx="2834640" cy="128016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3538728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DD88B"/>
                </a:solidFill>
                <a:latin typeface="Courier New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078224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FAKE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4123944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4050791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8A8A"/>
                </a:solidFill>
                <a:latin typeface="Courier New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590288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MISS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636007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4562855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85A"/>
                </a:solidFill>
                <a:latin typeface="Courier New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138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 dirty="0" err="1">
                <a:solidFill>
                  <a:srgbClr val="9AA1B4"/>
                </a:solidFill>
                <a:latin typeface="Calibri"/>
              </a:rPr>
              <a:t>Interpretazione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: QAT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risolve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il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problema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principale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del PTQ. La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tabella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preinstallata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contiene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esattamente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le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chiavi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che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il kernel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calcola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a runtime.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3: OpenFlow-like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Regole installate on demand dal control plane.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4617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>
                <a:solidFill>
                  <a:srgbClr val="9AA1B4"/>
                </a:solidFill>
                <a:latin typeface="Calibri"/>
              </a:rPr>
              <a:t>Qui model_cache viene caricata al boot con il modello QAT, ma fwd_table parte vuota. Quando il kernel non trova una key, invia un miss_event al CP.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664208"/>
            <a:ext cx="5897880" cy="2331720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87568" y="18470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88736" y="18470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89904" y="18470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73936"/>
            <a:ext cx="4892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1B4"/>
                </a:solidFill>
                <a:latin typeface="Courier New"/>
              </a:rPr>
              <a:t>method3_openflow.py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139696"/>
            <a:ext cx="5568696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2" y="2322576"/>
            <a:ext cx="4183838" cy="11079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sz="12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handle_miss</a:t>
            </a: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2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data, size):</a:t>
            </a:r>
            <a:endParaRPr lang="it-IT" sz="1200" b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Aft>
                <a:spcPts val="0"/>
              </a:spcAft>
            </a:pP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MissEvent.from_buffer_copy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(raw)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 =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ev.key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gia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calcolata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dal kernel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fwd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c_ulonglong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(key)] = action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vk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[c_uint8(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ev.ttl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)]   =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c_ulonglong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(key)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98848"/>
            <a:ext cx="1874519" cy="10241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TTL nuovo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02352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MISS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4700016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3512" y="4498848"/>
            <a:ext cx="1874519" cy="102412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44952" y="4754880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5102352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installa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1" y="4700016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1224" y="4498848"/>
            <a:ext cx="1874519" cy="1024128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2664" y="4754880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TTL visto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5102352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TRUE HIT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4700016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4498848"/>
            <a:ext cx="1874519" cy="102412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0375" y="4754880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XDP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5102352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redirect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3: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Snapshot durante il warm-up.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TRUE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7DD88B"/>
                </a:solidFill>
                <a:latin typeface="Cambria"/>
              </a:rPr>
              <a:t>5 (17%)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FAKE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8A8A"/>
                </a:solidFill>
                <a:latin typeface="Cambria"/>
              </a:rPr>
              <a:t>14 (47%)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C85A"/>
                </a:solidFill>
                <a:latin typeface="Cambria"/>
              </a:rPr>
              <a:t>11 (37%)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66160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611879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46320" y="3611879"/>
            <a:ext cx="481888" cy="128016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3538728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DD88B"/>
                </a:solidFill>
                <a:latin typeface="Courier New"/>
              </a:rPr>
              <a:t>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078224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FAKE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4123944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4123944"/>
            <a:ext cx="1332280" cy="128016"/>
          </a:xfrm>
          <a:prstGeom prst="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20" y="4050791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8A8A"/>
                </a:solidFill>
                <a:latin typeface="Courier New"/>
              </a:rPr>
              <a:t>47%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590288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CEDF2"/>
                </a:solidFill>
                <a:latin typeface="Courier New"/>
              </a:rPr>
              <a:t>MISS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4636007"/>
            <a:ext cx="2834640" cy="128016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46320" y="4636007"/>
            <a:ext cx="1048816" cy="128016"/>
          </a:xfrm>
          <a:prstGeom prst="rect">
            <a:avLst/>
          </a:prstGeom>
          <a:solidFill>
            <a:srgbClr val="FF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4562855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85A"/>
                </a:solidFill>
                <a:latin typeface="Courier New"/>
              </a:rPr>
              <a:t>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001769"/>
            <a:ext cx="100584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 dirty="0" err="1">
                <a:solidFill>
                  <a:srgbClr val="9AA1B4"/>
                </a:solidFill>
                <a:latin typeface="Calibri"/>
              </a:rPr>
              <a:t>Interpretazione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: il primo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giro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include il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costo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di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apprendimento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. Dopo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che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TTL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distinti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sono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stati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visti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almeno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una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volta,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MISS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si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fermano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e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i</a:t>
            </a:r>
            <a:r>
              <a:rPr sz="1520" dirty="0">
                <a:solidFill>
                  <a:srgbClr val="9AA1B4"/>
                </a:solidFill>
                <a:latin typeface="Calibri"/>
              </a:rPr>
              <a:t> TRUE HIT </a:t>
            </a:r>
            <a:r>
              <a:rPr sz="1520" dirty="0" err="1">
                <a:solidFill>
                  <a:srgbClr val="9AA1B4"/>
                </a:solidFill>
                <a:latin typeface="Calibri"/>
              </a:rPr>
              <a:t>crescono</a:t>
            </a:r>
            <a:r>
              <a:rPr sz="1520" dirty="0">
                <a:solidFill>
                  <a:srgbClr val="9AA1B4"/>
                </a:solidFill>
                <a:latin typeface="Calibr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4: IPA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Il modello non e' preinstallato: arriva dentro il pacchetto.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46177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>
                <a:solidFill>
                  <a:srgbClr val="9AA1B4"/>
                </a:solidFill>
                <a:latin typeface="Calibri"/>
              </a:rPr>
              <a:t>Questo e' il caso piu' vicino al paradigma IPA: model_cache e fwd_table partono vuote. Il primo pacchetto per un model_id trasporta i pesi nel payload UDP.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664208"/>
            <a:ext cx="5897880" cy="2331720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87568" y="18470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88736" y="18470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89904" y="18470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73936"/>
            <a:ext cx="4892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1B4"/>
                </a:solidFill>
                <a:latin typeface="Courier New"/>
              </a:rPr>
              <a:t>method4_ipa_demo.py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139696"/>
            <a:ext cx="5568696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2" y="2322576"/>
            <a:ext cx="4927631" cy="11079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weights = [int8(ev.w0), int8(ev.w1),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int8(ev.w2), int8(ev.w3)]</a:t>
            </a:r>
            <a:endParaRPr lang="it-IT" sz="12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Aft>
                <a:spcPts val="0"/>
              </a:spcAft>
            </a:pP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populate_model_cache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(b,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ev.model_id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weights, 128)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 = (sum(iv[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* weights[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+ OFFSET * 128) // 128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fwd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c_ulonglong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(key)] =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9768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" y="4498848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463600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6776" y="449884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484632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nessun modello, nessuna regola.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429768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36007" y="4498848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7" y="463600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449884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Primo pkt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484632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MODEL MISS + estrazione pesi.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297680"/>
            <a:ext cx="333756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85048" y="4498848"/>
            <a:ext cx="640080" cy="640080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463600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5" y="4498848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Poi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5" y="4846320"/>
            <a:ext cx="21945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TRUE HIT per TTL gia' noti.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4: ciclo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Dal payload alla cache del modello.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74519"/>
            <a:ext cx="1874519" cy="102412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30552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Payload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4 pesi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599" y="2075688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2072" y="1874519"/>
            <a:ext cx="1874519" cy="10241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2130552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MODEL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478024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075688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9784" y="1874519"/>
            <a:ext cx="1874519" cy="10241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1224" y="2130552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478024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carica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2075688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7496" y="1874519"/>
            <a:ext cx="1874519" cy="1024128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88936" y="2130552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fwd_table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78024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prima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075688"/>
            <a:ext cx="320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65208" y="1874519"/>
            <a:ext cx="1874519" cy="102412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2130552"/>
            <a:ext cx="1691639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14161F"/>
                </a:solidFill>
                <a:latin typeface="Courier New"/>
              </a:rPr>
              <a:t>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478024"/>
            <a:ext cx="169163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23314A"/>
                </a:solidFill>
                <a:latin typeface="Calibri"/>
              </a:rPr>
              <a:t>TRUE HIT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749039"/>
            <a:ext cx="4800600" cy="13258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2688" y="3950207"/>
            <a:ext cx="640080" cy="640080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08736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4161F"/>
                </a:solidFill>
                <a:latin typeface="Courier New"/>
              </a:rPr>
              <a:t>SN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2496" y="3950207"/>
            <a:ext cx="36576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Safety 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2496" y="4297679"/>
            <a:ext cx="365760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Se arriva un TTL non ancora visto, il kernel genera FWD MISS e il CP installa la regola on demand.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493008"/>
            <a:ext cx="5349240" cy="1755648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90488" y="3675887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91656" y="3675887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92824" y="3675887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3602736"/>
            <a:ext cx="4343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1B4"/>
                </a:solidFill>
                <a:latin typeface="Courier New"/>
              </a:rPr>
              <a:t>verifier-friendly read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3912" y="3968496"/>
            <a:ext cx="5020055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5352" y="4151376"/>
            <a:ext cx="4462760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__u8 *w = (__u8 *)(</a:t>
            </a:r>
            <a:r>
              <a:rPr sz="12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ipa</a:t>
            </a:r>
            <a:r>
              <a:rPr sz="12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+ 1);</a:t>
            </a:r>
            <a:endParaRPr lang="it-IT" sz="1200" b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Aft>
                <a:spcPts val="0"/>
              </a:spcAft>
            </a:pP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((void *)(w + 4) &gt; </a:t>
            </a:r>
            <a:r>
              <a:rPr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data_end</a:t>
            </a: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return XDP_PASS;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mev.w0 = w[0]; mev.w1 = w[1];</a:t>
            </a:r>
            <a:b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mev.w2 = w[2]; mev.w3 = w[3];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Metodo 4: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La metrica chiave e' la transizione dal primo packet al forwarding autonomo.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TRUE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7DD88B"/>
                </a:solidFill>
                <a:latin typeface="Cambria"/>
              </a:rPr>
              <a:t>crescente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FAKE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8A8A"/>
                </a:solidFill>
                <a:latin typeface="Cambria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83080"/>
            <a:ext cx="3246120" cy="109728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920240"/>
            <a:ext cx="291693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>
                <a:solidFill>
                  <a:srgbClr val="9AA1B4"/>
                </a:solidFill>
                <a:latin typeface="Courier New"/>
              </a:rPr>
              <a:t>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21991"/>
            <a:ext cx="291693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C85A"/>
                </a:solidFill>
                <a:latin typeface="Cambria"/>
              </a:rPr>
              <a:t>TTL nuovi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429000"/>
            <a:ext cx="9921240" cy="1325880"/>
          </a:xfrm>
          <a:prstGeom prst="rect">
            <a:avLst/>
          </a:prstGeom>
          <a:solidFill>
            <a:srgbClr val="0C0E14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98448" y="361188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99616" y="361188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00784" y="361188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65960" y="3538728"/>
            <a:ext cx="8915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1B4"/>
                </a:solidFill>
                <a:latin typeface="Courier New"/>
              </a:rPr>
              <a:t>router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904487"/>
            <a:ext cx="9592056" cy="9144"/>
          </a:xfrm>
          <a:prstGeom prst="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50906" y="4026479"/>
            <a:ext cx="4693593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[CP] MODEL MISS | </a:t>
            </a:r>
            <a:r>
              <a:rPr sz="1000" b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model_id</a:t>
            </a:r>
            <a:r>
              <a:rPr sz="1000" b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=42 | weights extracted from packet</a:t>
            </a:r>
            <a:b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[cache] Model 42 loaded | </a:t>
            </a:r>
            <a:r>
              <a:rPr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scale_factor</a:t>
            </a: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=128</a:t>
            </a:r>
            <a:b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[CP] LOADED &amp; rule INSTALLED | elapsed=~2 </a:t>
            </a:r>
            <a:r>
              <a:rPr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b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[CP] Next packets -&gt; TRUE HIT (&lt;1 </a:t>
            </a:r>
            <a:r>
              <a:rPr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74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20">
                <a:solidFill>
                  <a:srgbClr val="9AA1B4"/>
                </a:solidFill>
                <a:latin typeface="Calibri"/>
              </a:rPr>
              <a:t>Interpretazione: il router apprende il modello dal pacchetto e poi inoltra in autonomia alla velocita' del kernel.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Differenze principali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Cosa cambia tra i quattro metodi.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3681" y="1645920"/>
            <a:ext cx="1554480" cy="512064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7689" y="1737360"/>
            <a:ext cx="142646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Aspetto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388161" y="1645920"/>
            <a:ext cx="2057400" cy="512064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52169" y="1737360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PTQ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5561" y="1645920"/>
            <a:ext cx="2057400" cy="512064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9569" y="1737360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QAT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02961" y="1645920"/>
            <a:ext cx="2423160" cy="512064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6969" y="1737360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OpenFlow-like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6121" y="1645920"/>
            <a:ext cx="2423160" cy="512064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90129" y="1737360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IPA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681" y="2157984"/>
            <a:ext cx="155448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7689" y="2249424"/>
            <a:ext cx="142646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Pesi 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8161" y="2157984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52169" y="2249424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float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5561" y="2157984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9569" y="2249424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int8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02961" y="2157984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6969" y="2249424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ev.key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26121" y="2157984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90129" y="2249424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payload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681" y="2670048"/>
            <a:ext cx="155448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689" y="2761488"/>
            <a:ext cx="142646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model_cache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8161" y="2670048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52169" y="2761488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piena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5561" y="2670048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09569" y="2761488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piena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2961" y="2670048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6969" y="2761488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piena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26121" y="2670048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90129" y="2761488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vuota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681" y="3182112"/>
            <a:ext cx="155448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7689" y="3273552"/>
            <a:ext cx="142646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fwd_table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88161" y="3182112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52169" y="3273552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statica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45561" y="3182112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9569" y="3273552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statica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02961" y="3182112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6969" y="3273552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vuota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26121" y="3182112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90129" y="3273552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vuota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681" y="3694176"/>
            <a:ext cx="155448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7689" y="3785616"/>
            <a:ext cx="142646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Allineamento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8161" y="3694176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52169" y="3785616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45561" y="3694176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09569" y="3785616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perfetto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02961" y="3694176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66969" y="3785616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perfetto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26121" y="3694176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90129" y="3785616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perfetto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3681" y="4206240"/>
            <a:ext cx="155448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7689" y="4297680"/>
            <a:ext cx="142646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MISS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8161" y="4206240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52169" y="4297680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errore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45561" y="4206240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09569" y="4297680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02961" y="4206240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66969" y="4297680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TTL nuovi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26121" y="4206240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90129" y="4297680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modello/TTL nuovi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3681" y="4718304"/>
            <a:ext cx="155448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7689" y="4809744"/>
            <a:ext cx="142646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Scalabilita'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88161" y="4718304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52169" y="4809744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range fisso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45561" y="4718304"/>
            <a:ext cx="205740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09569" y="4809744"/>
            <a:ext cx="192938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range fisso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02961" y="4718304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66969" y="4809744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dinamica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6121" y="4718304"/>
            <a:ext cx="2423160" cy="512064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990129" y="4809744"/>
            <a:ext cx="2295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dinamica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77840"/>
            <a:ext cx="107899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6A609"/>
                </a:solidFill>
                <a:latin typeface="Cambria"/>
              </a:rPr>
              <a:t>Sintesi: QAT corregge il calcolo; OpenFlow-like e IPA Demo correggono anche il modo in cui le regole vengono installate.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772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6A609"/>
                </a:solidFill>
                <a:latin typeface="Cambria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9319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CEDF2"/>
                </a:solidFill>
                <a:latin typeface="Cambria"/>
              </a:rPr>
              <a:t>Risultati a confronto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1078992"/>
            <a:ext cx="10241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A1B4"/>
                </a:solidFill>
                <a:latin typeface="Calibri"/>
              </a:rPr>
              <a:t>Il comportamento cambia per quantizzazione e popolamento delle tabelle.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91593" y="1581910"/>
            <a:ext cx="2423160" cy="5669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55601" y="1673350"/>
            <a:ext cx="229514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Metodo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214753" y="1581910"/>
            <a:ext cx="2011680" cy="5669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8761" y="1673350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TRUE HIT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6433" y="1581910"/>
            <a:ext cx="2011680" cy="5669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0441" y="1673350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FAKE HIT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112" y="1581910"/>
            <a:ext cx="2011680" cy="566928"/>
          </a:xfrm>
          <a:prstGeom prst="rect">
            <a:avLst/>
          </a:prstGeom>
          <a:solidFill>
            <a:srgbClr val="F6A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120" y="1673350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4161F"/>
                </a:solidFill>
                <a:latin typeface="Courier New"/>
              </a:rPr>
              <a:t>MISS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91593" y="2148838"/>
            <a:ext cx="242316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55601" y="2240278"/>
            <a:ext cx="229514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PTQ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4753" y="2148838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8761" y="2240278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0 (0%)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6433" y="2148838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0441" y="2240278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18 (60%)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112" y="2148838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120" y="2240278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12 (40%)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91593" y="2715766"/>
            <a:ext cx="242316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55601" y="2807206"/>
            <a:ext cx="229514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QAT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4753" y="2715766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8761" y="2807206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30 (100%)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6433" y="2715766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0441" y="2807206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0 (0%)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112" y="2715766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120" y="2807206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0 (0%)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91593" y="3282693"/>
            <a:ext cx="242316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55601" y="3374134"/>
            <a:ext cx="229514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OpenFlow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14753" y="3282693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78761" y="3374134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5 (17%)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6433" y="3282693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90441" y="3374134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14 (47%)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38112" y="3282693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02120" y="3374134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11 (37%)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1593" y="3849622"/>
            <a:ext cx="242316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55601" y="3941061"/>
            <a:ext cx="229514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CEDF2"/>
                </a:solidFill>
                <a:latin typeface="Courier New"/>
              </a:rPr>
              <a:t>IPA Demo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4753" y="3849622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78761" y="3941061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crescente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26433" y="3849622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90441" y="3941061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alibr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38112" y="3849622"/>
            <a:ext cx="2011680" cy="566928"/>
          </a:xfrm>
          <a:prstGeom prst="rect">
            <a:avLst/>
          </a:prstGeom>
          <a:solidFill>
            <a:srgbClr val="1C1F2B"/>
          </a:solidFill>
          <a:ln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02120" y="3941061"/>
            <a:ext cx="18836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dirty="0">
                <a:solidFill>
                  <a:srgbClr val="9AA1B4"/>
                </a:solidFill>
                <a:latin typeface="Calibri"/>
              </a:rPr>
              <a:t>primo/TTL </a:t>
            </a:r>
            <a:r>
              <a:rPr sz="950" b="0" dirty="0" err="1">
                <a:solidFill>
                  <a:srgbClr val="9AA1B4"/>
                </a:solidFill>
                <a:latin typeface="Calibri"/>
              </a:rPr>
              <a:t>nuovi</a:t>
            </a:r>
            <a:endParaRPr sz="950" b="0" dirty="0">
              <a:solidFill>
                <a:srgbClr val="9AA1B4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097280" y="4663440"/>
            <a:ext cx="297180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298448" y="4864607"/>
            <a:ext cx="640080" cy="640080"/>
          </a:xfrm>
          <a:prstGeom prst="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98448" y="500176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48256" y="4864607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PTQ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8256" y="5212079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>
                <a:solidFill>
                  <a:srgbClr val="9AA1B4"/>
                </a:solidFill>
                <a:latin typeface="Calibri"/>
              </a:rPr>
              <a:t>errore di quantizzazione visibile.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4663440"/>
            <a:ext cx="297180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18888" y="4864607"/>
            <a:ext cx="640080" cy="640080"/>
          </a:xfrm>
          <a:prstGeom prst="rect">
            <a:avLst/>
          </a:prstGeom>
          <a:solidFill>
            <a:srgbClr val="7DD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18888" y="500176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61F"/>
                </a:solidFill>
                <a:latin typeface="Courier New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68696" y="4864607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QAT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68696" y="5212079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dirty="0" err="1">
                <a:solidFill>
                  <a:srgbClr val="9AA1B4"/>
                </a:solidFill>
                <a:latin typeface="Calibri"/>
              </a:rPr>
              <a:t>allineamento</a:t>
            </a:r>
            <a:r>
              <a:rPr sz="1180" dirty="0">
                <a:solidFill>
                  <a:srgbClr val="9AA1B4"/>
                </a:solidFill>
                <a:latin typeface="Calibri"/>
              </a:rPr>
              <a:t> </a:t>
            </a:r>
            <a:r>
              <a:rPr sz="1180" dirty="0" err="1">
                <a:solidFill>
                  <a:srgbClr val="9AA1B4"/>
                </a:solidFill>
                <a:latin typeface="Calibri"/>
              </a:rPr>
              <a:t>perfetto</a:t>
            </a:r>
            <a:r>
              <a:rPr sz="1180" dirty="0">
                <a:solidFill>
                  <a:srgbClr val="9AA1B4"/>
                </a:solidFill>
                <a:latin typeface="Calibri"/>
              </a:rPr>
              <a:t>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4663440"/>
            <a:ext cx="2971800" cy="96012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39328" y="4864607"/>
            <a:ext cx="640080" cy="6400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39328" y="500176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14161F"/>
                </a:solidFill>
                <a:latin typeface="Courier New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89136" y="4864607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ECEDF2"/>
                </a:solidFill>
                <a:latin typeface="Calibri"/>
              </a:rPr>
              <a:t>Dinamici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89136" y="5212079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dirty="0">
                <a:solidFill>
                  <a:srgbClr val="9AA1B4"/>
                </a:solidFill>
                <a:latin typeface="Calibri"/>
              </a:rPr>
              <a:t>warm-up, poi kernel speed.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63550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A1B4"/>
                </a:solidFill>
                <a:latin typeface="Courier New"/>
              </a:rPr>
              <a:t>IPA Lab · Intelligent Packets con eBPF/XDP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1951</Words>
  <Application>Microsoft Office PowerPoint</Application>
  <PresentationFormat>Widescreen</PresentationFormat>
  <Paragraphs>329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Ettore Cantile</cp:lastModifiedBy>
  <cp:revision>1</cp:revision>
  <dcterms:created xsi:type="dcterms:W3CDTF">2013-01-27T09:14:16Z</dcterms:created>
  <dcterms:modified xsi:type="dcterms:W3CDTF">2026-07-06T11:57:50Z</dcterms:modified>
  <cp:category/>
</cp:coreProperties>
</file>