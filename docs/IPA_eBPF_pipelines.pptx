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3" r:id="rId16"/>
    <p:sldId id="270" r:id="rId17"/>
    <p:sldId id="271" r:id="rId18"/>
    <p:sldId id="272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84" y="1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exagon 2"/>
          <p:cNvSpPr/>
          <p:nvPr/>
        </p:nvSpPr>
        <p:spPr>
          <a:xfrm rot="5400000">
            <a:off x="10698480" y="457200"/>
            <a:ext cx="1051560" cy="946403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exagon 3"/>
          <p:cNvSpPr/>
          <p:nvPr/>
        </p:nvSpPr>
        <p:spPr>
          <a:xfrm rot="5400000">
            <a:off x="11292840" y="1051560"/>
            <a:ext cx="1051560" cy="946403"/>
          </a:xfrm>
          <a:prstGeom prst="hexagon">
            <a:avLst/>
          </a:prstGeom>
          <a:noFill/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Hexagon 4"/>
          <p:cNvSpPr/>
          <p:nvPr/>
        </p:nvSpPr>
        <p:spPr>
          <a:xfrm rot="5400000">
            <a:off x="10104120" y="1645920"/>
            <a:ext cx="1051560" cy="946403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85800" y="1965960"/>
            <a:ext cx="822960" cy="82296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0D1117"/>
                </a:solidFill>
                <a:latin typeface="Segoe UI"/>
              </a:rPr>
              <a:t>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058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400" b="1">
                <a:solidFill>
                  <a:srgbClr val="E6EDF3"/>
                </a:solidFill>
                <a:latin typeface="Georgia"/>
              </a:rPr>
              <a:t>IPA / eBPF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77639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5A623"/>
                </a:solidFill>
                <a:latin typeface="Consolas"/>
              </a:rPr>
              <a:t>Tre pipeline di inferenza neurale nel datapath XDP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091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Lo stesso modello nel kernel Linux in tre modi: dal codice specializzato ai moduli riusabili —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un trade-off tra prestazioni di picco e flessibilità runtime.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98932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P1 hardcoded</a:t>
            </a:r>
            <a:r>
              <a:rPr sz="1300" b="0">
                <a:solidFill>
                  <a:srgbClr val="484F58"/>
                </a:solidFill>
                <a:latin typeface="Consolas"/>
              </a:rPr>
              <a:t>   ·   </a:t>
            </a:r>
            <a:r>
              <a:rPr sz="1300" b="1">
                <a:solidFill>
                  <a:srgbClr val="F5A623"/>
                </a:solidFill>
                <a:latin typeface="Consolas"/>
              </a:rPr>
              <a:t>P2 template</a:t>
            </a:r>
            <a:r>
              <a:rPr sz="1300" b="0">
                <a:solidFill>
                  <a:srgbClr val="484F58"/>
                </a:solidFill>
                <a:latin typeface="Consolas"/>
              </a:rPr>
              <a:t>   ·   </a:t>
            </a:r>
            <a:r>
              <a:rPr sz="1300" b="1">
                <a:solidFill>
                  <a:srgbClr val="F85149"/>
                </a:solidFill>
                <a:latin typeface="Consolas"/>
              </a:rPr>
              <a:t>P3 modular</a:t>
            </a:r>
            <a:r>
              <a:rPr sz="1200" b="0">
                <a:solidFill>
                  <a:srgbClr val="484F58"/>
                </a:solidFill>
                <a:latin typeface="Consolas"/>
              </a:rPr>
              <a:t>      ·   XDP · BPF maps · tail call · int8 · link_state fast-reroute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Il design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trade-off tra prestazioni e flessibilità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7902" y="2494263"/>
            <a:ext cx="484632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dirty="0">
                <a:solidFill>
                  <a:srgbClr val="E6EDF3"/>
                </a:solidFill>
                <a:latin typeface="Segoe UI"/>
              </a:rPr>
              <a:t>Lo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stesso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modello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neurale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può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vivere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nel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datapath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eBPF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in </a:t>
            </a:r>
            <a:r>
              <a:rPr sz="1400" b="1" dirty="0" err="1">
                <a:solidFill>
                  <a:srgbClr val="F5A623"/>
                </a:solidFill>
                <a:latin typeface="Segoe UI"/>
              </a:rPr>
              <a:t>tre</a:t>
            </a:r>
            <a:r>
              <a:rPr sz="1400" b="1" dirty="0">
                <a:solidFill>
                  <a:srgbClr val="F5A623"/>
                </a:solidFill>
                <a:latin typeface="Segoe UI"/>
              </a:rPr>
              <a:t> </a:t>
            </a:r>
            <a:r>
              <a:rPr sz="1400" b="1" dirty="0" err="1">
                <a:solidFill>
                  <a:srgbClr val="F5A623"/>
                </a:solidFill>
                <a:latin typeface="Segoe UI"/>
              </a:rPr>
              <a:t>modi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endParaRPr sz="1400" b="0" dirty="0">
              <a:solidFill>
                <a:srgbClr val="E6EDF3"/>
              </a:solidFill>
              <a:latin typeface="Segoe UI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dirty="0" err="1">
                <a:solidFill>
                  <a:srgbClr val="8B949E"/>
                </a:solidFill>
                <a:latin typeface="Segoe UI"/>
              </a:rPr>
              <a:t>Più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si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specializza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il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codice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,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più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aumenta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la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velocità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di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picco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ma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diminuisce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la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flessibilità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a runtime.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endParaRPr sz="1400" b="0" dirty="0">
              <a:solidFill>
                <a:srgbClr val="8B949E"/>
              </a:solidFill>
              <a:latin typeface="Segoe UI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dirty="0" err="1">
                <a:solidFill>
                  <a:srgbClr val="8B949E"/>
                </a:solidFill>
                <a:latin typeface="Segoe UI"/>
              </a:rPr>
              <a:t>Aumentando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 la </a:t>
            </a:r>
            <a:r>
              <a:rPr sz="1300" b="0" dirty="0" err="1">
                <a:solidFill>
                  <a:srgbClr val="8B949E"/>
                </a:solidFill>
                <a:latin typeface="Segoe UI"/>
              </a:rPr>
              <a:t>flessibilità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300" b="0" dirty="0" err="1">
                <a:solidFill>
                  <a:srgbClr val="8B949E"/>
                </a:solidFill>
                <a:latin typeface="Segoe UI"/>
              </a:rPr>
              <a:t>crescono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 tail call, map lookup e </a:t>
            </a:r>
            <a:r>
              <a:rPr sz="1300" b="0" dirty="0" err="1">
                <a:solidFill>
                  <a:srgbClr val="8B949E"/>
                </a:solidFill>
                <a:latin typeface="Segoe UI"/>
              </a:rPr>
              <a:t>istruzioni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300" b="0" dirty="0" err="1">
                <a:solidFill>
                  <a:srgbClr val="8B949E"/>
                </a:solidFill>
                <a:latin typeface="Segoe UI"/>
              </a:rPr>
              <a:t>eBPF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; cala il throughput </a:t>
            </a:r>
            <a:r>
              <a:rPr sz="1300" b="0" dirty="0" err="1">
                <a:solidFill>
                  <a:srgbClr val="8B949E"/>
                </a:solidFill>
                <a:latin typeface="Segoe UI"/>
              </a:rPr>
              <a:t>massimo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69502" y="1624006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25534" y="1825174"/>
            <a:ext cx="5303520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—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Massime prestazioni, minima flessibilità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eBPF per modello, pesi nel codice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69502" y="3087046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25534" y="3288214"/>
            <a:ext cx="5303520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—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intermedie, flessibilità media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per architettura, pesi in mappa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69502" y="4550086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5534" y="4751253"/>
            <a:ext cx="5303520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—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flessibilità, prestazioni inferiori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2 programmi generici (layer_first + layer_hidden), stato in scratch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19088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84F58"/>
                </a:solidFill>
                <a:latin typeface="Consolas"/>
              </a:rPr>
              <a:t>performance  ◀─────────────────▶  flessibilità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Architettura comune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pacchetto IPA su UDP, un hook XDP, un MLP int8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UDP :9999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IPA header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XDP hook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ingress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feature[65]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vettore sparso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dirty="0">
                <a:solidFill>
                  <a:srgbClr val="F5A623"/>
                </a:solidFill>
                <a:latin typeface="Consolas"/>
              </a:rPr>
              <a:t>MLP int8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dirty="0">
                <a:solidFill>
                  <a:srgbClr val="8B949E"/>
                </a:solidFill>
                <a:latin typeface="Segoe UI"/>
              </a:rPr>
              <a:t>65-4-4-7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azione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redirect / drop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94760"/>
            <a:ext cx="534924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6112" y="3995928"/>
            <a:ext cx="489204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Il pacchetto IPA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Header custom dentro UDP:9999 con model_id, scale_factor e descrittori delle feature.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programma XDP intercetta il pacchetto in ingresso prima dello stack di rete.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Stesso modello e stesso layout feature per le tre pipeline: cambia solo COME sono eseguite.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94760"/>
            <a:ext cx="534924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73952" y="3995928"/>
            <a:ext cx="489204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3FD0C8"/>
                </a:solidFill>
                <a:latin typeface="Segoe UI"/>
              </a:rPr>
              <a:t>Il </a:t>
            </a:r>
            <a:r>
              <a:rPr sz="1350" b="1" dirty="0" err="1">
                <a:solidFill>
                  <a:srgbClr val="3FD0C8"/>
                </a:solidFill>
                <a:latin typeface="Segoe UI"/>
              </a:rPr>
              <a:t>modello</a:t>
            </a:r>
            <a:endParaRPr sz="1350" b="1" dirty="0">
              <a:solidFill>
                <a:srgbClr val="3FD0C8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MLP 65→4→4→7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quantizzato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int8 (post-training), scale factor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potenza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di 2.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Aritmetica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intera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pura: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float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nel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kernel.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Output = argmax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su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7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classi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(6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interfacce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di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uscita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+ DROP).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Le 65 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Come il pacchetto diventa l'input del modello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[0..5]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61488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link_state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up/down delle 6
interfacce egress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0332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40480" y="233172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[6..11]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761488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iface one-hot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461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dirty="0">
                <a:solidFill>
                  <a:srgbClr val="8B949E"/>
                </a:solidFill>
                <a:latin typeface="Segoe UI"/>
              </a:rPr>
              <a:t>porta </a:t>
            </a:r>
            <a:r>
              <a:rPr sz="1050" b="0" dirty="0" err="1">
                <a:solidFill>
                  <a:srgbClr val="8B949E"/>
                </a:solidFill>
                <a:latin typeface="Segoe UI"/>
              </a:rPr>
              <a:t>d'ingresso</a:t>
            </a:r>
            <a:r>
              <a:rPr sz="1050" b="0" dirty="0">
                <a:solidFill>
                  <a:srgbClr val="8B949E"/>
                </a:solidFill>
                <a:latin typeface="Segoe UI"/>
              </a:rPr>
              <a:t>
(6 </a:t>
            </a:r>
            <a:r>
              <a:rPr sz="1050" b="0" dirty="0" err="1">
                <a:solidFill>
                  <a:srgbClr val="8B949E"/>
                </a:solidFill>
                <a:latin typeface="Segoe UI"/>
              </a:rPr>
              <a:t>valori</a:t>
            </a:r>
            <a:r>
              <a:rPr sz="1050" b="0" dirty="0">
                <a:solidFill>
                  <a:srgbClr val="8B949E"/>
                </a:solidFill>
                <a:latin typeface="Segoe UI"/>
              </a:rPr>
              <a:t>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2194560"/>
            <a:ext cx="132588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903720" y="2331720"/>
            <a:ext cx="1051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[12]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761488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TTL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3246120"/>
            <a:ext cx="1051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scalare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2194560"/>
            <a:ext cx="324612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12480" y="2331720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[13..64]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61488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dirty="0">
                <a:solidFill>
                  <a:srgbClr val="E6EDF3"/>
                </a:solidFill>
                <a:latin typeface="Consolas"/>
              </a:rPr>
              <a:t>node one-hot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246120"/>
            <a:ext cx="2971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nodo corrente
(52 valori)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206240"/>
            <a:ext cx="10927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6EDF3"/>
                </a:solidFill>
                <a:latin typeface="Segoe UI"/>
              </a:rPr>
              <a:t>Il vettore è </a:t>
            </a:r>
            <a:r>
              <a:rPr sz="1350" b="1">
                <a:solidFill>
                  <a:srgbClr val="F5A623"/>
                </a:solidFill>
                <a:latin typeface="Segoe UI"/>
              </a:rPr>
              <a:t>sparso</a:t>
            </a:r>
            <a:r>
              <a:rPr sz="1350" b="0">
                <a:solidFill>
                  <a:srgbClr val="8B949E"/>
                </a:solidFill>
                <a:latin typeface="Segoe UI"/>
              </a:rPr>
              <a:t>: a runtime solo poche entry sono non-nulle. Le one-hot e il TTL sono derivate dal pacchetto; </a:t>
            </a:r>
            <a:r>
              <a:rPr sz="1350" b="1">
                <a:solidFill>
                  <a:srgbClr val="3FB950"/>
                </a:solidFill>
                <a:latin typeface="Segoe UI"/>
              </a:rPr>
              <a:t>le prime 6 (link_state) sono lette da una mappa BPF condivisa</a:t>
            </a:r>
            <a:r>
              <a:rPr sz="1350" b="0">
                <a:solidFill>
                  <a:srgbClr val="8B949E"/>
                </a:solidFill>
                <a:latin typeface="Segoe UI"/>
              </a:rPr>
              <a:t> tenuta aggiornata da un monitor userspace.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74920"/>
            <a:ext cx="10927080" cy="10515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5276088"/>
            <a:ext cx="10424159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fv[i]            = link_state[i];   /* [0..5]  up/down egress (da mappa)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fv[iface + 5]    = 1;               /* [6..11] iface one-hot           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fv[12] = ttl;    fv[node + 13] = 1; /* [12] TTL   [13..64] node one-hot */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link_state — il segnale fast-reroute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Da feature sempre-zero a stato reale delle interfacce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092708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Le prime 6 feature sono lo </a:t>
            </a:r>
            <a:r>
              <a:rPr sz="1400" b="1">
                <a:solidFill>
                  <a:srgbClr val="3FB950"/>
                </a:solidFill>
                <a:latin typeface="Segoe UI"/>
              </a:rPr>
              <a:t>stato operativo up/down delle 6 interfacce di uscita</a:t>
            </a:r>
            <a:r>
              <a:rPr sz="1400" b="0">
                <a:solidFill>
                  <a:srgbClr val="E6EDF3"/>
                </a:solidFill>
                <a:latin typeface="Segoe UI"/>
              </a:rPr>
              <a:t>: il segnale centrale del fast-reroute — quale next-hop è disponibile adesso. </a:t>
            </a:r>
            <a:r>
              <a:rPr sz="1400" b="0">
                <a:solidFill>
                  <a:srgbClr val="8B949E"/>
                </a:solidFill>
                <a:latin typeface="Segoe UI"/>
              </a:rPr>
              <a:t>Prima erano sempre 0 (il modello non vedeva mai un guasto); ora sono popolate dal carrier reale.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00400"/>
            <a:ext cx="2439162" cy="100584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31519" y="3246120"/>
            <a:ext cx="2256282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1" y="3255264"/>
            <a:ext cx="2292858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dirty="0">
                <a:solidFill>
                  <a:srgbClr val="58A6FF"/>
                </a:solidFill>
                <a:latin typeface="Consolas"/>
              </a:rPr>
              <a:t>/sys/.../carrier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dirty="0">
                <a:solidFill>
                  <a:srgbClr val="8B949E"/>
                </a:solidFill>
                <a:latin typeface="Segoe UI"/>
              </a:rPr>
              <a:t>kernel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8386" y="34747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3290" y="3200400"/>
            <a:ext cx="2439162" cy="100584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554730" y="3246120"/>
            <a:ext cx="2256282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36442" y="3255264"/>
            <a:ext cx="2292858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dirty="0">
                <a:solidFill>
                  <a:srgbClr val="E6EDF3"/>
                </a:solidFill>
                <a:latin typeface="Consolas"/>
              </a:rPr>
              <a:t>link_state_monitor.py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dirty="0">
                <a:solidFill>
                  <a:srgbClr val="8B949E"/>
                </a:solidFill>
                <a:latin typeface="Segoe UI"/>
              </a:rPr>
              <a:t>polling </a:t>
            </a:r>
            <a:r>
              <a:rPr sz="950" b="0" dirty="0" err="1">
                <a:solidFill>
                  <a:srgbClr val="8B949E"/>
                </a:solidFill>
                <a:latin typeface="Segoe UI"/>
              </a:rPr>
              <a:t>userspace</a:t>
            </a:r>
            <a:endParaRPr sz="950" b="0" dirty="0">
              <a:solidFill>
                <a:srgbClr val="8B949E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11596" y="34747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6500" y="3200400"/>
            <a:ext cx="2439162" cy="100584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377940" y="3246120"/>
            <a:ext cx="2256282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59652" y="3255264"/>
            <a:ext cx="2292858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BPF_ARRAY link_state[6]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1=up 0=down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4806" y="34747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09710" y="3200400"/>
            <a:ext cx="2439162" cy="100584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201150" y="3246120"/>
            <a:ext cx="2256282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82862" y="3255264"/>
            <a:ext cx="2292858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XDP feature[0..5]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inferenza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572000"/>
            <a:ext cx="5349240" cy="16002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96112" y="4773168"/>
            <a:ext cx="489204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Come è reso veritiero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thread legge /sys/class/net/ethX/carrier di ogni egress.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Scrive link_state[i] = 1 (up) / 0 (down) nella mappa condivisa.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programmi eBPF leggono il valore al pacchetto successivo, senza reload.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572000"/>
            <a:ext cx="5349240" cy="16002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73952" y="4773168"/>
            <a:ext cx="489204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 err="1">
                <a:solidFill>
                  <a:srgbClr val="3FB950"/>
                </a:solidFill>
                <a:latin typeface="Segoe UI"/>
              </a:rPr>
              <a:t>Effetto</a:t>
            </a:r>
            <a:r>
              <a:rPr sz="1350" b="1" dirty="0">
                <a:solidFill>
                  <a:srgbClr val="3FB950"/>
                </a:solidFill>
                <a:latin typeface="Segoe UI"/>
              </a:rPr>
              <a:t> </a:t>
            </a:r>
            <a:r>
              <a:rPr sz="1350" b="1" dirty="0" err="1">
                <a:solidFill>
                  <a:srgbClr val="3FB950"/>
                </a:solidFill>
                <a:latin typeface="Segoe UI"/>
              </a:rPr>
              <a:t>sull'inferenza</a:t>
            </a:r>
            <a:endParaRPr sz="1350" b="1" dirty="0">
              <a:solidFill>
                <a:srgbClr val="3FB950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Link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che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cade → la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sua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feature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va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 0 →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l'argmax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può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scegliere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un'altra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uscita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All'avvio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mappa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è seed a tutti-up (baseline sana).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Unica map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nell'inferenza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di P1 (feature, non peso).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1 — Hardcoded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Pesi come costanti C, inferenza completamente srotolata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packet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dirty="0">
                <a:solidFill>
                  <a:srgbClr val="3FB950"/>
                </a:solidFill>
                <a:latin typeface="Consolas"/>
              </a:rPr>
              <a:t>dispatcher → model_&lt;id&gt;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dirty="0">
                <a:solidFill>
                  <a:srgbClr val="8B949E"/>
                </a:solidFill>
                <a:latin typeface="Segoe UI"/>
              </a:rPr>
              <a:t>1 tail call, </a:t>
            </a:r>
            <a:r>
              <a:rPr sz="95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950" b="0" dirty="0">
                <a:solidFill>
                  <a:srgbClr val="8B949E"/>
                </a:solidFill>
                <a:latin typeface="Segoe UI"/>
              </a:rPr>
              <a:t> = </a:t>
            </a:r>
            <a:r>
              <a:rPr sz="950" b="0" dirty="0" err="1">
                <a:solidFill>
                  <a:srgbClr val="8B949E"/>
                </a:solidFill>
                <a:latin typeface="Segoe UI"/>
              </a:rPr>
              <a:t>letterali</a:t>
            </a:r>
            <a:r>
              <a:rPr sz="950" b="0" dirty="0">
                <a:solidFill>
                  <a:srgbClr val="8B949E"/>
                </a:solidFill>
                <a:latin typeface="Segoe UI"/>
              </a:rPr>
              <a:t> 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dirty="0">
                <a:solidFill>
                  <a:srgbClr val="3FB950"/>
                </a:solidFill>
                <a:latin typeface="Consolas"/>
              </a:rPr>
              <a:t>argmax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dirty="0">
                <a:solidFill>
                  <a:srgbClr val="8B949E"/>
                </a:solidFill>
                <a:latin typeface="Segoe UI"/>
              </a:rPr>
              <a:t>unrolled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dirty="0" err="1">
                <a:solidFill>
                  <a:srgbClr val="3FB950"/>
                </a:solidFill>
                <a:latin typeface="Consolas"/>
              </a:rPr>
              <a:t>mac_table</a:t>
            </a:r>
            <a:r>
              <a:rPr sz="1300" b="1" dirty="0">
                <a:solidFill>
                  <a:srgbClr val="3FB950"/>
                </a:solidFill>
                <a:latin typeface="Consolas"/>
              </a:rPr>
              <a:t>[</a:t>
            </a:r>
            <a:r>
              <a:rPr sz="1300" b="1" dirty="0" err="1">
                <a:solidFill>
                  <a:srgbClr val="3FB950"/>
                </a:solidFill>
                <a:latin typeface="Consolas"/>
              </a:rPr>
              <a:t>cls</a:t>
            </a:r>
            <a:r>
              <a:rPr sz="1300" b="1" dirty="0">
                <a:solidFill>
                  <a:srgbClr val="3FB950"/>
                </a:solidFill>
                <a:latin typeface="Consolas"/>
              </a:rPr>
              <a:t>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dirty="0" err="1">
                <a:solidFill>
                  <a:srgbClr val="8B949E"/>
                </a:solidFill>
                <a:latin typeface="Segoe UI"/>
              </a:rPr>
              <a:t>ifindex</a:t>
            </a:r>
            <a:r>
              <a:rPr sz="950" b="0" dirty="0">
                <a:solidFill>
                  <a:srgbClr val="8B949E"/>
                </a:solidFill>
                <a:latin typeface="Segoe UI"/>
              </a:rPr>
              <a:t> + MAC rewrite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1937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319375" y="3364992"/>
            <a:ext cx="156362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1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47591" y="3364992"/>
            <a:ext cx="176479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047591" y="3364992"/>
            <a:ext cx="176479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0 lookup pesi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7697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76975" y="3364992"/>
            <a:ext cx="156362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328 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0519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05191" y="336499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85 ns · 11.8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840480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6112" y="3964399"/>
            <a:ext cx="1046988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3FB950"/>
                </a:solidFill>
                <a:latin typeface="Segoe UI"/>
              </a:rPr>
              <a:t>Come è </a:t>
            </a:r>
            <a:r>
              <a:rPr sz="1350" b="1" dirty="0" err="1">
                <a:solidFill>
                  <a:srgbClr val="3FB950"/>
                </a:solidFill>
                <a:latin typeface="Segoe UI"/>
              </a:rPr>
              <a:t>implementata</a:t>
            </a:r>
            <a:endParaRPr sz="1350" b="1" dirty="0">
              <a:solidFill>
                <a:srgbClr val="3FB950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Un dispatcher leggero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estrae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ed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esegue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UNA tail call verso model_&lt;id&gt;: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int8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restano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letterali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signed char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nel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sorgente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C, zero lookup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Inferenza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65→4→4→7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completamente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srotolata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loop),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map lookup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Un solo switch(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iface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 e uno switch(node) per model_&lt;id&gt;: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evita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l'esplosione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rami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nel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verifier.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link_state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[0..5]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dalla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mappa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sommato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come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ls_i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* w[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j,i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]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neuroni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fc1.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Nessun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model_cache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era un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residuo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(gate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is_valid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+ blob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mai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usato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 —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rimosso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ora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è hardcoded puro.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Testato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2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concorrenti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REGISTRATI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stessa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architettura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65-4-4-7) --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verifica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il routing dispatcher-&gt;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model_progs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[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], PASS.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/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NON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variano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in P1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generatore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 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costanti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globali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Azione ora via mac_table[cls] (stesso pattern di P2/P3): riscrive i MAC src/dst reali prima del redirect (era solo switch(cls)-&gt;ifindex, senza MAC rewrite).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1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fc1 srotolato: pesi come costanti, link_state dalla mappa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9659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3FB950"/>
                </a:solidFill>
                <a:latin typeface="Segoe UI"/>
              </a:rPr>
              <a:t>generato in C (ebpf_program.py)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972" y="2583180"/>
            <a:ext cx="10424159" cy="1464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/*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link_state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[0..5]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letti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dalla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mappa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(feature, non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pesi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)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lk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=0; 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lp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=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link_state.lookup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(&amp;_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lk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); if (_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lp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) ls0=(long long)(*_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lp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8B949E"/>
                </a:solidFill>
                <a:latin typeface="Consolas"/>
              </a:rPr>
              <a:t>...  ls5 = </a:t>
            </a:r>
            <a:r>
              <a:rPr sz="1100" b="0" dirty="0" err="1">
                <a:solidFill>
                  <a:srgbClr val="8B949E"/>
                </a:solidFill>
                <a:latin typeface="Consolas"/>
              </a:rPr>
              <a:t>link_state</a:t>
            </a:r>
            <a:r>
              <a:rPr sz="1100" b="0" dirty="0">
                <a:solidFill>
                  <a:srgbClr val="8B949E"/>
                </a:solidFill>
                <a:latin typeface="Consolas"/>
              </a:rPr>
              <a:t>[5]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 </a:t>
            </a:r>
            <a:endParaRPr sz="1100" b="0" dirty="0">
              <a:solidFill>
                <a:schemeClr val="tx1">
                  <a:lumMod val="50000"/>
                  <a:lumOff val="50000"/>
                </a:schemeClr>
              </a:solidFill>
              <a:latin typeface="Consolas"/>
            </a:endParaRP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/*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neurone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fc1: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pesi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come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letterali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C,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nessuna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lookup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pesi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long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long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h1_0 = RELU_LL( (__s64)_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ttl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* 12LL + w_iface_0 + w_node_0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3FB950"/>
                </a:solidFill>
                <a:latin typeface="Consolas"/>
              </a:rPr>
              <a:t>        + ls0*-7LL + ls1*3LL + ls2*0LL + ls3*5LL + ls4*-2LL + ls5*1LL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        + 4LL );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 err="1">
                <a:solidFill>
                  <a:srgbClr val="F5A623"/>
                </a:solidFill>
                <a:latin typeface="Segoe UI"/>
              </a:rPr>
              <a:t>Perché</a:t>
            </a:r>
            <a:r>
              <a:rPr sz="1350" b="1" dirty="0">
                <a:solidFill>
                  <a:srgbClr val="F5A623"/>
                </a:solidFill>
                <a:latin typeface="Segoe UI"/>
              </a:rPr>
              <a:t> </a:t>
            </a:r>
            <a:r>
              <a:rPr sz="1350" b="1" dirty="0" err="1">
                <a:solidFill>
                  <a:srgbClr val="F5A623"/>
                </a:solidFill>
                <a:latin typeface="Segoe UI"/>
              </a:rPr>
              <a:t>così</a:t>
            </a:r>
            <a:endParaRPr sz="1350" b="1" dirty="0">
              <a:solidFill>
                <a:srgbClr val="F5A623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static const array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indicizzati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variabili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runtime: il verifier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rifiuta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(relocation → 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Soluzione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uno switch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unico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iface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per node,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scalari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su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stack.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4544568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F5A623"/>
                </a:solidFill>
                <a:latin typeface="Segoe UI"/>
              </a:rPr>
              <a:t>Costo </a:t>
            </a:r>
            <a:r>
              <a:rPr sz="1350" b="1" dirty="0" err="1">
                <a:solidFill>
                  <a:srgbClr val="F5A623"/>
                </a:solidFill>
                <a:latin typeface="Segoe UI"/>
              </a:rPr>
              <a:t>dell'update</a:t>
            </a:r>
            <a:endParaRPr sz="1350" b="1" dirty="0">
              <a:solidFill>
                <a:srgbClr val="F5A623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Cambiare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=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rigenera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il C,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ricompila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con LLVM,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ricarica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XDP.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Nessun hot-swap: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massima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specializzazione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, minima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flessibilità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2 —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programma per forma architetturale, pesi letti da mappa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packet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dispatcher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registry[id]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arch_generic_2layer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legge arch_weights + argmax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mac_table[cls]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 + MAC rewrite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6791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067915" y="3364992"/>
            <a:ext cx="156362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1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9613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796131" y="336499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150 lookup / pkt (reale)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27851" y="3364992"/>
            <a:ext cx="166420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127851" y="3364992"/>
            <a:ext cx="166420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7.9 KB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5665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56651" y="336499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411 ns · 2.43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840480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6112" y="3977641"/>
            <a:ext cx="1046988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F5A623"/>
                </a:solidFill>
                <a:latin typeface="Segoe UI"/>
              </a:rPr>
              <a:t>Come è </a:t>
            </a:r>
            <a:r>
              <a:rPr sz="1350" b="1" dirty="0" err="1">
                <a:solidFill>
                  <a:srgbClr val="F5A623"/>
                </a:solidFill>
                <a:latin typeface="Segoe UI"/>
              </a:rPr>
              <a:t>implementata</a:t>
            </a:r>
            <a:endParaRPr sz="1350" b="1" dirty="0">
              <a:solidFill>
                <a:srgbClr val="F5A623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Un solo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l’intera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famiglia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"2 hidden layer" (arch_generic_2layer): input/output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fissi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dal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protocollo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(65/7).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Le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n_h1/n_h2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 runtime da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arch_registry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fino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tetto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compilato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T2_MAX_H1/T2_MAX_H2 --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ricompilazione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per un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piu largo o stretto.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I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int8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stanno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in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arch_weights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(BPF_ARRAY),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 runtime con lookup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su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offset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calcolato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da n_h1/n_h2.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link_state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[0..5]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nel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loop fc1: acc +=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link_state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[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] *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arch_weights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[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woff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+ j*65 +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].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Aggiornamento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/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=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load_arch_weights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() sui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ricompilazione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reload.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Testato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=0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reale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65-4-4-7 +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=1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sintetico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65-6-5-7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diversa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stessa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2 hidden layer) REGISTRATI INSIEME,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stesso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compilato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-- PASS.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2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Prodotto scalare sparso via lookup su BPF_ARRAY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9659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arch_generic_2layer (ebpf_template_arch.py) -- semplificato, n_h1/n_h2 runtime fino a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972" y="2629689"/>
            <a:ext cx="10424159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for (j = 0; j &lt; 4;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j++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) {          /*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neuroni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fc1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8B949E"/>
                </a:solidFill>
                <a:latin typeface="Consolas"/>
              </a:rPr>
              <a:t>    acc = bias(j);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    acc +=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ttl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 * W[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woff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+ j*65 + 12];      /* TTL  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3FB950"/>
                </a:solidFill>
                <a:latin typeface="Consolas"/>
              </a:rPr>
              <a:t>    for (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 = 0;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 &lt; 6;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++)                 /*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link_state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 [0..5]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3FB950"/>
                </a:solidFill>
                <a:latin typeface="Consolas"/>
              </a:rPr>
              <a:t>        acc +=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link_state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] * W[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woff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 + j*65 +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    acc += W[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iface_idx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];  acc += W[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node_idx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8B949E"/>
                </a:solidFill>
                <a:latin typeface="Consolas"/>
              </a:rPr>
              <a:t>    h1[j] = RELU(acc);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Perché la mappa va bene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BPF_ARRAY è un oggetto kernel registrato: l'indice aritmetico è sicuro per il verifier.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Niente relocation, niente puntatori non risolti.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4544568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Flessibilità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pesi si cambiano a runtime senza toccare il codice eBPF.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 (476 ns): tra P1 hardcoded e P3 modular.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3 — Modular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Rete scomposta in layer, stato intermedio in scratch PERCPU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dispatcher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scrive feature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layer_first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sparso, n_out runtime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layer_hidden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denso, n_in/n_out runtime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layer_hidden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ultimo layer, argmax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67331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967331" y="3364992"/>
            <a:ext cx="156362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3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95547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95547" y="336499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163 lookup / pkt (reale)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27267" y="3364992"/>
            <a:ext cx="176479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027267" y="3364992"/>
            <a:ext cx="176479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16.5 KB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56651" y="3364992"/>
            <a:ext cx="226771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56651" y="3364992"/>
            <a:ext cx="226771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738 ns · 1.36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3231" y="4050792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69263" y="4123944"/>
            <a:ext cx="1046988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F85149"/>
                </a:solidFill>
                <a:latin typeface="Segoe UI"/>
              </a:rPr>
              <a:t>Come è </a:t>
            </a:r>
            <a:r>
              <a:rPr sz="1350" b="1" dirty="0" err="1">
                <a:solidFill>
                  <a:srgbClr val="F85149"/>
                </a:solidFill>
                <a:latin typeface="Segoe UI"/>
              </a:rPr>
              <a:t>implementata</a:t>
            </a:r>
            <a:endParaRPr sz="1350" b="1" dirty="0">
              <a:solidFill>
                <a:srgbClr val="F85149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Due soli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generici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layer_first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(hop 0,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lettura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sparsa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del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vettore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65-feature)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layer_hidden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(hop 1..N-1,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denso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n_in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-&gt;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n_out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 -- non uno per layer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fisso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dinamiche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layer_registry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/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layer_shapes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dicono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 runtime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quanti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layer ha il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la forma di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ciascuno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“Ultimo layer” e'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deciso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dai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dati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(layer_idx+1==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n_layers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), non da quale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occupa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lo slot di tail-call --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con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diverse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condividono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lo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stesso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chain senza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conflitti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N tail call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reali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pacchetto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dipende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dalla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del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);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l’ultimo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hop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calcola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argmax -&gt;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mac_table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[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classe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] -&gt;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bpf_redirect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Aggiornamento =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load_modular_weights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() scrive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+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layer_shapes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+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layer_registry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nuova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lista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layer): cambia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senza reload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2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eBPF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Testato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=0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reale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65-4-4-7 (3 layer) +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=1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sintetico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65-5-6-4-7 (4 layer,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diverse) REGISTRATI INSIEME,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stessi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2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compilati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-- PASS.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3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Il dispatcher scrive le feature; i layer leggono lo scratch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82880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85149"/>
                </a:solidFill>
                <a:latin typeface="Segoe UI"/>
              </a:rPr>
              <a:t>modular_dispatcher + layer_first (ebpf_modular.py)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2583181"/>
            <a:ext cx="10424159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8B949E"/>
                </a:solidFill>
                <a:latin typeface="Consolas"/>
              </a:rPr>
              <a:t>/* </a:t>
            </a:r>
            <a:r>
              <a:rPr sz="1100" b="0" dirty="0" err="1">
                <a:solidFill>
                  <a:srgbClr val="8B949E"/>
                </a:solidFill>
                <a:latin typeface="Consolas"/>
              </a:rPr>
              <a:t>modular_dispatcher</a:t>
            </a:r>
            <a:r>
              <a:rPr sz="1100" b="0" dirty="0">
                <a:solidFill>
                  <a:srgbClr val="8B949E"/>
                </a:solidFill>
                <a:latin typeface="Consolas"/>
              </a:rPr>
              <a:t>: niente array </a:t>
            </a:r>
            <a:r>
              <a:rPr sz="1100" b="0" dirty="0" err="1">
                <a:solidFill>
                  <a:srgbClr val="8B949E"/>
                </a:solidFill>
                <a:latin typeface="Consolas"/>
              </a:rPr>
              <a:t>denso</a:t>
            </a:r>
            <a:r>
              <a:rPr sz="1100" b="0" dirty="0">
                <a:solidFill>
                  <a:srgbClr val="8B949E"/>
                </a:solidFill>
                <a:latin typeface="Consolas"/>
              </a:rPr>
              <a:t>, solo 5 slot meta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 err="1">
                <a:solidFill>
                  <a:srgbClr val="3FB950"/>
                </a:solidFill>
                <a:latin typeface="Consolas"/>
              </a:rPr>
              <a:t>scratch_meta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[MODEL_ID]=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model_id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scratch_meta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[SCALE]=scale;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scratch_meta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[LAYER_IDX]=0;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 err="1">
                <a:solidFill>
                  <a:srgbClr val="3FB950"/>
                </a:solidFill>
                <a:latin typeface="Consolas"/>
              </a:rPr>
              <a:t>scratch_meta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[INGRESS_IF]=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ifidx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scratch_meta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[TTL]=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ttl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 err="1">
                <a:solidFill>
                  <a:srgbClr val="E6EDF3"/>
                </a:solidFill>
                <a:latin typeface="Consolas"/>
              </a:rPr>
              <a:t>layer_chain.call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(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ctx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, 0);              /* tail call -&gt;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layer_first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F5A623"/>
                </a:solidFill>
                <a:latin typeface="Consolas"/>
              </a:rPr>
              <a:t>/*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layer_first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: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lettura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sparsa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 (come P2), NON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denso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su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 65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F5A623"/>
                </a:solidFill>
                <a:latin typeface="Consolas"/>
              </a:rPr>
              <a:t>acc = bias(j)+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ttl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*W[..+12]+sum(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link_state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[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]*W[..+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])+W[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iface_idx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]+W[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node_idx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F5A623"/>
                </a:solidFill>
                <a:latin typeface="Consolas"/>
              </a:rPr>
              <a:t>if(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n_layers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==1) argmax(acc); else {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scratch_acts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[j]=RELU(acc);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layer_chain.call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(ctx,1); 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4325112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3FD0C8"/>
                </a:solidFill>
                <a:latin typeface="Segoe UI"/>
              </a:rPr>
              <a:t>scratch PERCPU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Ogni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CPU ha la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sua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copia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lock,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contesa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I layer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leggono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/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scrivono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attivazioni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intermedie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qui.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Il layout 65 feature è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identico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 P1/P2.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4325112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3FD0C8"/>
                </a:solidFill>
                <a:latin typeface="Segoe UI"/>
              </a:rPr>
              <a:t>Catena di tail call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dispatcher -&gt;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layer_first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(hop 0,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sparso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 -&gt;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layer_hidden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x (n_layers-1)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denso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Cambiare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architettura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=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cambiare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layer_shapes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/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layer_registry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+ forma), MAI la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sequenza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tail-call: slot0=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layer_first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, slot1..15=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layer_hidden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sempre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uguali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Massima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flessibilita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dinamiche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), al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costo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di N tail call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pacchetto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dipende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dalla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del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Dall'argmax all'azione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La NN decide la porta; mac_table risolve il next-hop — comune alle tre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240279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argmax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best_cls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9173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9456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240279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classe 0..5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porta / DROP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9173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9456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240279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mac_table[cls]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 + MAC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9173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9456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240279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MAC rewrite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src/dst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9173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9456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240279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94760"/>
            <a:ext cx="534924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6112" y="3995928"/>
            <a:ext cx="4892040" cy="1965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La NN decide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argmax sui 7 output → classe = porta di uscita (cls 6 = DROP).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 calcolo di chiave, nessuna validazione dell'output.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Ci si fida della decisione del modello (è il paradigma IPA).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94760"/>
            <a:ext cx="534924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73952" y="3995928"/>
            <a:ext cx="4892040" cy="1965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mac_table = dizionario porte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mac_table[classe] → {ifindex, src_mac, dst_mac}: single lookup.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Riscrive gli header Ethernet e fa bpf_redirect.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P1: mappa hardcoded in uno switch (0 lookup). P2/P3: mac_table.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dirty="0">
                <a:solidFill>
                  <a:srgbClr val="F5A623"/>
                </a:solidFill>
                <a:latin typeface="Georgia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Verifica nel kernel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BPF_PROG_TEST_RUN — indipendente dalla rete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108813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dirty="0">
                <a:solidFill>
                  <a:srgbClr val="E6EDF3"/>
                </a:solidFill>
                <a:latin typeface="Segoe UI"/>
              </a:rPr>
              <a:t>Il fabric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Kathara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non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consegna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UDP:9999 end-to-end,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quindi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la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correttezza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si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verifica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caricando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i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programmi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XDP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reali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ed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eseguendo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1" dirty="0">
                <a:solidFill>
                  <a:srgbClr val="F5A623"/>
                </a:solidFill>
                <a:latin typeface="Consolas"/>
              </a:rPr>
              <a:t>BPF_PROG_TEST_RUN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endParaRPr sz="1400" b="0" dirty="0">
              <a:solidFill>
                <a:srgbClr val="E6EDF3"/>
              </a:solidFill>
              <a:latin typeface="Segoe UI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dirty="0" err="1">
                <a:solidFill>
                  <a:srgbClr val="8B949E"/>
                </a:solidFill>
                <a:latin typeface="Segoe UI"/>
              </a:rPr>
              <a:t>Verifica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1" dirty="0">
                <a:solidFill>
                  <a:srgbClr val="3FD0C8"/>
                </a:solidFill>
                <a:latin typeface="Segoe UI"/>
              </a:rPr>
              <a:t>single-pass e </a:t>
            </a:r>
            <a:r>
              <a:rPr sz="1400" b="1" dirty="0" err="1">
                <a:solidFill>
                  <a:srgbClr val="3FD0C8"/>
                </a:solidFill>
                <a:latin typeface="Segoe UI"/>
              </a:rPr>
              <a:t>uniforme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sulle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3 pipeline: pre-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installa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mac_table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[0..5],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esegue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una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volta e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controlla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che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la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classe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scelta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dal kernel =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classe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del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riferimento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Python.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dirty="0">
                <a:solidFill>
                  <a:srgbClr val="8B949E"/>
                </a:solidFill>
                <a:latin typeface="Segoe UI"/>
              </a:rPr>
              <a:t>Nessun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ctx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custom: sotto TEST_RUN il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riferimento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Python assume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ingress_ifindex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=0 per P1 (la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sua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ifindex_table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non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mappa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il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valore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reale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) e =1 per P2/P3 (clamp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diretto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sul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valore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osservato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realmente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dal kernel in sandbox).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dirty="0" err="1">
                <a:solidFill>
                  <a:srgbClr val="8B949E"/>
                </a:solidFill>
                <a:latin typeface="Segoe UI"/>
              </a:rPr>
              <a:t>Criterio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di PASS: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retval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∈ {0,4} (redirect) e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cls_stats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[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ref_cls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] &gt; 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892040"/>
            <a:ext cx="10927080" cy="1051560"/>
          </a:xfrm>
          <a:prstGeom prst="roundRect">
            <a:avLst/>
          </a:prstGeom>
          <a:solidFill>
            <a:srgbClr val="112A14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892040"/>
            <a:ext cx="104241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dirty="0">
                <a:solidFill>
                  <a:srgbClr val="3FB950"/>
                </a:solidFill>
                <a:latin typeface="Consolas"/>
              </a:rPr>
              <a:t>✓  3 pipeline · TTL 1–5 · 5/5 PASS </a:t>
            </a:r>
            <a:r>
              <a:rPr sz="1600" b="1" dirty="0" err="1">
                <a:solidFill>
                  <a:srgbClr val="3FB950"/>
                </a:solidFill>
                <a:latin typeface="Consolas"/>
              </a:rPr>
              <a:t>ciascuna</a:t>
            </a:r>
            <a:r>
              <a:rPr sz="1600" b="1" dirty="0">
                <a:solidFill>
                  <a:srgbClr val="3FB950"/>
                </a:solidFill>
                <a:latin typeface="Consolas"/>
              </a:rPr>
              <a:t> · </a:t>
            </a:r>
            <a:r>
              <a:rPr sz="1600" b="1" dirty="0" err="1">
                <a:solidFill>
                  <a:srgbClr val="3FB950"/>
                </a:solidFill>
                <a:latin typeface="Consolas"/>
              </a:rPr>
              <a:t>pkt_stats</a:t>
            </a:r>
            <a:r>
              <a:rPr sz="1600" b="1" dirty="0">
                <a:solidFill>
                  <a:srgbClr val="3FB950"/>
                </a:solidFill>
                <a:latin typeface="Consolas"/>
              </a:rPr>
              <a:t> HIT · kernel suite: PASS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Risultati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Metriche reali dal kernel (BPF_PROG_TEST_RUN, modello 65-4-4-7)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9319689"/>
              </p:ext>
            </p:extLst>
          </p:nvPr>
        </p:nvGraphicFramePr>
        <p:xfrm>
          <a:off x="640080" y="2011680"/>
          <a:ext cx="8586216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B949E"/>
                          </a:solidFill>
                          <a:latin typeface="Segoe UI"/>
                        </a:rPr>
                        <a:t>Metrica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P1 hardcoded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P2 template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P3 modular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Istruzioni eBPF (xlated)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963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5 951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5 931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Codice jited (byte)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4 591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27 097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26 823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Tail calls / pacchetto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Map lookup / pkt (</a:t>
                      </a:r>
                      <a:r>
                        <a:rPr dirty="0" err="1">
                          <a:solidFill>
                            <a:schemeClr val="bg1"/>
                          </a:solidFill>
                        </a:rPr>
                        <a:t>reale</a:t>
                      </a:r>
                      <a:r>
                        <a:rPr dirty="0">
                          <a:solidFill>
                            <a:schemeClr val="bg1"/>
                          </a:solidFill>
                        </a:rPr>
                        <a:t>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9.0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150.0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163.0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Memoria mappe (byte)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328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8 072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16 904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Latenza (ns / pkt)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85.0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476.0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772.0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Throughput (Mpps)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11.765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2.101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1.295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CPU (%)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57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81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69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509760" y="2011680"/>
            <a:ext cx="2057400" cy="33832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65792" y="2212848"/>
            <a:ext cx="160020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Lettura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 piu' veloce: 85 ns, 11.8 Mpps.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 piu' compatto: 328 B, 963 istr.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Tail call, map lookup, memoria e latenza crescono P1-&gt;P2-&gt;P3.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P2/P3 quasi stesse istruzioni statiche (~5.9k): il costo di P3 e' nei tail call (3 vs 1) e nei map lookup extra (163 vs 150), non nel codice.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27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mac_table: argmax -&gt; mac_table[classe] -&gt; bpf_redirect su tutte e 3 (P1 hardcoded via dispatcher + 1 tail call, 0 lookup sui pesi). L'inferenza é identica nelle 3 (classe kernel = riferimento Python); differisce solo il design. Ordine coerente con la tassonomia. Verificato anche multi-modello concorrente (2 model_id nello stesso oggetto BPF): P2/P3 con architetture DIVERSE (larghezza per P2, profonditá+larghezza per P3), 6/6 PASS.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Costo reale di aggiunta modello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bench_model_add.py — BPF_PROG_LOAD misurato, non stimato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994494"/>
              </p:ext>
            </p:extLst>
          </p:nvPr>
        </p:nvGraphicFramePr>
        <p:xfrm>
          <a:off x="640080" y="2011680"/>
          <a:ext cx="8586216" cy="2464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B949E"/>
                          </a:solidFill>
                          <a:latin typeface="Segoe UI"/>
                        </a:rPr>
                        <a:t>Metrica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P1 hardcoded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P2 template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P3 modular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Setup one-time (ms)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n/d (nel costo add)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1 332.624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1 165.954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Mean add (ms)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1 122.082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1.629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1.100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Min add (ms)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886.545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1.032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0.850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Max add (ms)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1 498.204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2.002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1.553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Stdev add (ms)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268.769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0.427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0.321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509760" y="2011680"/>
            <a:ext cx="2057400" cy="33832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65792" y="2212848"/>
            <a:ext cx="160020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 err="1">
                <a:solidFill>
                  <a:srgbClr val="3FD0C8"/>
                </a:solidFill>
                <a:latin typeface="Segoe UI"/>
              </a:rPr>
              <a:t>Lettura</a:t>
            </a:r>
            <a:endParaRPr sz="1350" b="1" dirty="0">
              <a:solidFill>
                <a:srgbClr val="3FD0C8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~690-1020x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più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lento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aggiunto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template/modular: solo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bpf_map_update_elem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setup one-time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pagato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una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sola volta.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conferma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più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flessibilità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= update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più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economico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27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Metodologia: </a:t>
            </a:r>
            <a:r>
              <a:rPr sz="1200" b="0">
                <a:solidFill>
                  <a:srgbClr val="8B949E"/>
                </a:solidFill>
                <a:latin typeface="Segoe UI"/>
              </a:rPr>
              <a:t>shared/bench_model_add.py registra 3 model_id concorrenti con offset non sovrapposti in arch_weights (template) / layer_weights (modular), eseguito in Kathara con root+BCC. hardcoded rigenera il sorgente C e ricompila/ricarica il programma ad ogni modello (nessuna via incrementale per design); template/modular caricano il programma XDP una sola volta e poi scrivono solo la mappa dei pesi (bpf_map_update_elem).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link_state nelle tre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Stessa mappa, tre modi di leggerla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52044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04288"/>
            <a:ext cx="306324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—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6 lookup link_state[i] all'inizio dell'inferenza.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Sommati come ls_i * w[j,i] con w letterali C.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Unica mappa letta: è input, non peso.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Design hardcoded puro preservato.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2103120"/>
            <a:ext cx="352044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0" y="2304288"/>
            <a:ext cx="306324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—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Lookup link_state[i] nel loop fc1.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Prodotto con arch_weights[woff + j*65 + i].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Stessa mappa, pesi separati in BPF_ARRAY.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Nessuna ricompilazione per l'update.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56616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57031" y="2304288"/>
            <a:ext cx="310896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—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Solo layer_first (hop 0) legge link_state[0..5], lettura sparsa come P1/P2.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layer_hidden (hop successivi) non la vede mai: riceve solo scratch_acts gia' calcolato.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dispatcher NON tocca link_state: scrive solo 5 slot di meta (model_id, scale, layer_idx, ingress_if, ttl).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Stessa lettura sparsa di P1/P2, non un array denso da 65 slot.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532120"/>
            <a:ext cx="10927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E6EDF3"/>
                </a:solidFill>
                <a:latin typeface="Segoe UI"/>
              </a:rPr>
              <a:t>Un unico monitor userspace </a:t>
            </a:r>
            <a:r>
              <a:rPr sz="1300" b="1">
                <a:solidFill>
                  <a:srgbClr val="3FD0C8"/>
                </a:solidFill>
                <a:latin typeface="Consolas"/>
              </a:rPr>
              <a:t>(link_state_monitor.py)</a:t>
            </a:r>
            <a:r>
              <a:rPr sz="1300" b="0">
                <a:solidFill>
                  <a:srgbClr val="8B949E"/>
                </a:solidFill>
                <a:latin typeface="Segoe UI"/>
              </a:rPr>
              <a:t> alimenta la stessa mappa condivisa: il fast-reroute reagisce ai guasti indipendentemente dalla pipeline scelta.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I vincoli del verifier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Perché il codice ha questa forma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50008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No array statici indicizzati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static const indicizzato da variabile runtime → relocation fallisce, l'accesso collassa a 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P1: uno switch(iface) e uno switch(node) unici, scalari su stack.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488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73952" y="2350008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No esplosione dei rami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switch per-neurone → O((7·52)^neuroni) percorsi: il verifier si arrende.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switch che assegna il contributo di tutti i neuroni insieme: O(7+52).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P3 reale: un blocco denso unico compilava a 19983 istr. (limite 4096 su questo kernel) -- split in layer_first (sparso) + layer_hidden (denso).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4407407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Protocollo per offset assoluto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ip-&gt;protocol come bitfield si sballa con header minimali BCC/Kathara.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Letto all'offset RFC 791 (byte 9); UDP header via ihl*4.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73952" y="4407407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Pesi come byte unsigned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BCC vecchio non risolve il leaf signed char in alcune mappe.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Storage __u8, cast a __s8 prima dell'aritmetica (bit pattern identico).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exagon 2"/>
          <p:cNvSpPr/>
          <p:nvPr/>
        </p:nvSpPr>
        <p:spPr>
          <a:xfrm rot="5400000">
            <a:off x="10881360" y="502920"/>
            <a:ext cx="1005840" cy="905256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exagon 3"/>
          <p:cNvSpPr/>
          <p:nvPr/>
        </p:nvSpPr>
        <p:spPr>
          <a:xfrm rot="5400000">
            <a:off x="11430000" y="1097280"/>
            <a:ext cx="1005840" cy="905256"/>
          </a:xfrm>
          <a:prstGeom prst="hexagon">
            <a:avLst/>
          </a:prstGeom>
          <a:noFill/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E6EDF3"/>
                </a:solidFill>
                <a:latin typeface="Georgia"/>
              </a:rPr>
              <a:t>Il costo della flessibilità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46304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Aumentando la flessibilità: più tail call, più map lookup, più istruzioni — meno prestazioni di picco.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352044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0632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ricompila + ricarica XDP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Datapath: massima specializzazione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Memoria mappe minima (puro)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2468880"/>
            <a:ext cx="352044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0" y="2670048"/>
            <a:ext cx="30632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bpf_map_update_elem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 (476 ns)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Buon compromesso pratico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2468880"/>
            <a:ext cx="356616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57031" y="2670048"/>
            <a:ext cx="31089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scrivi pesi + layer_shapes/registry (no reload programmi)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 runtime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Overhead: 3 tail call + scratch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92040"/>
            <a:ext cx="10927080" cy="1051560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4892040"/>
            <a:ext cx="104241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D1117"/>
                </a:solidFill>
                <a:latin typeface="Georgia"/>
              </a:rPr>
              <a:t>Non esiste un'unica implementazione naturale: si sceglie quanto specializzare il modello nel datapath.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19088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84F58"/>
                </a:solidFill>
                <a:latin typeface="Consolas"/>
              </a:rPr>
              <a:t>IPA / eBPF · design space · P1 hardcoded · P2 template · P3 modular · link_state fast-reroute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</TotalTime>
  <Words>3699</Words>
  <Application>Microsoft Office PowerPoint</Application>
  <PresentationFormat>Widescreen</PresentationFormat>
  <Paragraphs>392</Paragraphs>
  <Slides>18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18</vt:i4>
      </vt:variant>
    </vt:vector>
  </HeadingPairs>
  <TitlesOfParts>
    <vt:vector size="24" baseType="lpstr">
      <vt:lpstr>Arial</vt:lpstr>
      <vt:lpstr>Calibri</vt:lpstr>
      <vt:lpstr>Consolas</vt:lpstr>
      <vt:lpstr>Georgia</vt:lpstr>
      <vt:lpstr>Segoe UI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Ettore Cantile</cp:lastModifiedBy>
  <cp:revision>17</cp:revision>
  <dcterms:created xsi:type="dcterms:W3CDTF">2013-01-27T09:14:16Z</dcterms:created>
  <dcterms:modified xsi:type="dcterms:W3CDTF">2026-07-13T09:37:34Z</dcterms:modified>
  <cp:category/>
</cp:coreProperties>
</file>