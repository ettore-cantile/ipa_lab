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3" r:id="rId16"/>
    <p:sldId id="270" r:id="rId17"/>
    <p:sldId id="271" r:id="rId18"/>
    <p:sldId id="272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81" d="100"/>
          <a:sy n="81" d="100"/>
        </p:scale>
        <p:origin x="84" y="10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Hexagon 2"/>
          <p:cNvSpPr/>
          <p:nvPr/>
        </p:nvSpPr>
        <p:spPr>
          <a:xfrm rot="5400000">
            <a:off x="10698480" y="457200"/>
            <a:ext cx="1051560" cy="946403"/>
          </a:xfrm>
          <a:prstGeom prst="hexagon">
            <a:avLst/>
          </a:prstGeom>
          <a:noFill/>
          <a:ln w="15875">
            <a:solidFill>
              <a:srgbClr val="484F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Hexagon 3"/>
          <p:cNvSpPr/>
          <p:nvPr/>
        </p:nvSpPr>
        <p:spPr>
          <a:xfrm rot="5400000">
            <a:off x="11292840" y="1051560"/>
            <a:ext cx="1051560" cy="946403"/>
          </a:xfrm>
          <a:prstGeom prst="hexagon">
            <a:avLst/>
          </a:prstGeom>
          <a:noFill/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Hexagon 4"/>
          <p:cNvSpPr/>
          <p:nvPr/>
        </p:nvSpPr>
        <p:spPr>
          <a:xfrm rot="5400000">
            <a:off x="10104120" y="1645920"/>
            <a:ext cx="1051560" cy="946403"/>
          </a:xfrm>
          <a:prstGeom prst="hexagon">
            <a:avLst/>
          </a:prstGeom>
          <a:noFill/>
          <a:ln w="15875">
            <a:solidFill>
              <a:srgbClr val="484F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685800" y="1965960"/>
            <a:ext cx="822960" cy="82296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1965960"/>
            <a:ext cx="82296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0D1117"/>
                </a:solidFill>
                <a:latin typeface="Segoe UI"/>
              </a:rPr>
              <a:t>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80360"/>
            <a:ext cx="100584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5400" b="1">
                <a:solidFill>
                  <a:srgbClr val="E6EDF3"/>
                </a:solidFill>
                <a:latin typeface="Georgia"/>
              </a:rPr>
              <a:t>IPA / eBPF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977639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>
                <a:solidFill>
                  <a:srgbClr val="F5A623"/>
                </a:solidFill>
                <a:latin typeface="Consolas"/>
              </a:rPr>
              <a:t>Tre pipeline di inferenza neurale nel datapath XDP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709160"/>
            <a:ext cx="107899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8B949E"/>
                </a:solidFill>
                <a:latin typeface="Segoe UI"/>
              </a:rPr>
              <a:t>Lo stesso modello nel kernel Linux in tre modi: dal codice specializzato ai moduli riusabili —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8B949E"/>
                </a:solidFill>
                <a:latin typeface="Segoe UI"/>
              </a:rPr>
              <a:t>un trade-off tra prestazioni di picco e flessibilità runtime.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989320"/>
            <a:ext cx="11338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3FB950"/>
                </a:solidFill>
                <a:latin typeface="Consolas"/>
              </a:rPr>
              <a:t>P1 hardcoded</a:t>
            </a:r>
            <a:r>
              <a:rPr sz="1300" b="0">
                <a:solidFill>
                  <a:srgbClr val="484F58"/>
                </a:solidFill>
                <a:latin typeface="Consolas"/>
              </a:rPr>
              <a:t>   ·   </a:t>
            </a:r>
            <a:r>
              <a:rPr sz="1300" b="1">
                <a:solidFill>
                  <a:srgbClr val="F5A623"/>
                </a:solidFill>
                <a:latin typeface="Consolas"/>
              </a:rPr>
              <a:t>P2 template</a:t>
            </a:r>
            <a:r>
              <a:rPr sz="1300" b="0">
                <a:solidFill>
                  <a:srgbClr val="484F58"/>
                </a:solidFill>
                <a:latin typeface="Consolas"/>
              </a:rPr>
              <a:t>   ·   </a:t>
            </a:r>
            <a:r>
              <a:rPr sz="1300" b="1">
                <a:solidFill>
                  <a:srgbClr val="F85149"/>
                </a:solidFill>
                <a:latin typeface="Consolas"/>
              </a:rPr>
              <a:t>P3 modular</a:t>
            </a:r>
            <a:r>
              <a:rPr sz="1200" b="0">
                <a:solidFill>
                  <a:srgbClr val="484F58"/>
                </a:solidFill>
                <a:latin typeface="Consolas"/>
              </a:rPr>
              <a:t>      ·   XDP · BPF maps · tail call · int8 · link_state fast-reroute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Il design space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Un trade-off tra prestazioni e flessibilità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4846320" cy="2926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E6EDF3"/>
                </a:solidFill>
                <a:latin typeface="Segoe UI"/>
              </a:rPr>
              <a:t>Lo stesso modello neurale può vivere nel datapath eBPF in </a:t>
            </a:r>
            <a:r>
              <a:rPr sz="1400" b="1">
                <a:solidFill>
                  <a:srgbClr val="F5A623"/>
                </a:solidFill>
                <a:latin typeface="Segoe UI"/>
              </a:rPr>
              <a:t>tre modi</a:t>
            </a:r>
            <a:r>
              <a:rPr sz="1400" b="0">
                <a:solidFill>
                  <a:srgbClr val="E6EDF3"/>
                </a:solidFill>
                <a:latin typeface="Segoe UI"/>
              </a:rPr>
              <a:t>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endParaRPr sz="1400" b="0">
              <a:solidFill>
                <a:srgbClr val="E6EDF3"/>
              </a:solidFill>
              <a:latin typeface="Segoe UI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8B949E"/>
                </a:solidFill>
                <a:latin typeface="Segoe UI"/>
              </a:rPr>
              <a:t>Più si specializza il codice, più aumenta la velocità di picco ma diminuisce la flessibilità a runtime.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endParaRPr sz="1400" b="0">
              <a:solidFill>
                <a:srgbClr val="8B949E"/>
              </a:solidFill>
              <a:latin typeface="Segoe UI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8B949E"/>
                </a:solidFill>
                <a:latin typeface="Segoe UI"/>
              </a:rPr>
              <a:t>Aumentando la flessibilità crescono tail call, map lookup e istruzioni eBPF; cala il throughput massimo.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06440" y="1965960"/>
            <a:ext cx="5760720" cy="132588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062472" y="2167128"/>
            <a:ext cx="5303520" cy="9601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B950"/>
                </a:solidFill>
                <a:latin typeface="Segoe UI"/>
              </a:rPr>
              <a:t>P1 — Hardcoded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Massime prestazioni, minima flessibilità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1 programma eBPF per modello, pesi nel codice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06440" y="3429000"/>
            <a:ext cx="5760720" cy="132588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062472" y="3630168"/>
            <a:ext cx="5303520" cy="9601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P2 — Template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Prestazioni intermedie, flessibilità media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1 programma per architettura, pesi in mappa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806440" y="4892040"/>
            <a:ext cx="5760720" cy="132588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062472" y="5093207"/>
            <a:ext cx="5303520" cy="9601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85149"/>
                </a:solidFill>
                <a:latin typeface="Segoe UI"/>
              </a:rPr>
              <a:t>P3 — Modular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Massima flessibilità, prestazioni inferiori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1 programma per layer, stato in scratch map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19088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484F58"/>
                </a:solidFill>
                <a:latin typeface="Consolas"/>
              </a:rPr>
              <a:t>performance  ◀─────────────────▶  flessibilità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Architettura comune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Un pacchetto IPA su UDP, un hook XDP, un MLP int8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1874520" cy="1051560"/>
          </a:xfrm>
          <a:prstGeom prst="roundRect">
            <a:avLst/>
          </a:prstGeom>
          <a:solidFill>
            <a:srgbClr val="122A3A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31519" y="2194560"/>
            <a:ext cx="1691640" cy="64008"/>
          </a:xfrm>
          <a:prstGeom prst="round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3231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58A6FF"/>
                </a:solidFill>
                <a:latin typeface="Consolas"/>
              </a:rPr>
              <a:t>UDP :9999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IPA header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23744" y="24460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98648" y="2148840"/>
            <a:ext cx="1874520" cy="10515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E6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2990088" y="2194560"/>
            <a:ext cx="1691640" cy="64008"/>
          </a:xfrm>
          <a:prstGeom prst="roundRect">
            <a:avLst/>
          </a:prstGeom>
          <a:solidFill>
            <a:srgbClr val="E6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971800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E6EDF3"/>
                </a:solidFill>
                <a:latin typeface="Consolas"/>
              </a:rPr>
              <a:t>XDP hook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ingress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82312" y="24460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57216" y="2148840"/>
            <a:ext cx="1874520" cy="1051560"/>
          </a:xfrm>
          <a:prstGeom prst="roundRect">
            <a:avLst/>
          </a:prstGeom>
          <a:solidFill>
            <a:srgbClr val="2A200A"/>
          </a:solidFill>
          <a:ln w="1905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248656" y="2194560"/>
            <a:ext cx="1691640" cy="64008"/>
          </a:xfrm>
          <a:prstGeom prst="round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230368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5A623"/>
                </a:solidFill>
                <a:latin typeface="Consolas"/>
              </a:rPr>
              <a:t>feature[65]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vettore sparso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24460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15784" y="2148840"/>
            <a:ext cx="1874520" cy="1051560"/>
          </a:xfrm>
          <a:prstGeom prst="roundRect">
            <a:avLst/>
          </a:prstGeom>
          <a:solidFill>
            <a:srgbClr val="2A200A"/>
          </a:solidFill>
          <a:ln w="1905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7507224" y="2194560"/>
            <a:ext cx="1691640" cy="64008"/>
          </a:xfrm>
          <a:prstGeom prst="round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488936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5A623"/>
                </a:solidFill>
                <a:latin typeface="Consolas"/>
              </a:rPr>
              <a:t>MLP int8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65-4-4-7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99448" y="24460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74352" y="2148840"/>
            <a:ext cx="1874520" cy="1051560"/>
          </a:xfrm>
          <a:prstGeom prst="roundRect">
            <a:avLst/>
          </a:prstGeom>
          <a:solidFill>
            <a:srgbClr val="112A22"/>
          </a:solidFill>
          <a:ln w="19050">
            <a:solidFill>
              <a:srgbClr val="3FD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9765792" y="2194560"/>
            <a:ext cx="1691640" cy="64008"/>
          </a:xfrm>
          <a:prstGeom prst="roundRect">
            <a:avLst/>
          </a:prstGeom>
          <a:solidFill>
            <a:srgbClr val="3FD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747504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D0C8"/>
                </a:solidFill>
                <a:latin typeface="Consolas"/>
              </a:rPr>
              <a:t>azione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redirect / drop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3794760"/>
            <a:ext cx="5349240" cy="22860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96112" y="3995928"/>
            <a:ext cx="4892040" cy="1920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D0C8"/>
                </a:solidFill>
                <a:latin typeface="Segoe UI"/>
              </a:rPr>
              <a:t>Il pacchetto IPA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Header custom dentro UDP:9999 con model_id, scale_factor e descrittori delle feature.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Il programma XDP intercetta il pacchetto in ingresso prima dello stack di rete.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Stesso modello e stesso layout feature per le tre pipeline: cambia solo COME sono eseguite.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0" y="3794760"/>
            <a:ext cx="5349240" cy="22860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473952" y="3995928"/>
            <a:ext cx="4892040" cy="1920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D0C8"/>
                </a:solidFill>
                <a:latin typeface="Segoe UI"/>
              </a:rPr>
              <a:t>Il modello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MLP 65→4→4→7 quantizzato int8 (post-training), scale factor potenza di 2.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Aritmetica intera pura: nessun float nel kernel.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Output = argmax su 7 classi (6 interfacce di uscita + DROP).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Le 65 feature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Come il pacchetto diventa l'input del modello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2880360" cy="17373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2331720"/>
            <a:ext cx="2606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3FB950"/>
                </a:solidFill>
                <a:latin typeface="Consolas"/>
              </a:rPr>
              <a:t>[0..5]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761488"/>
            <a:ext cx="2606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>
                <a:solidFill>
                  <a:srgbClr val="E6EDF3"/>
                </a:solidFill>
                <a:latin typeface="Consolas"/>
              </a:rPr>
              <a:t>link_state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246120"/>
            <a:ext cx="2606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8B949E"/>
                </a:solidFill>
                <a:latin typeface="Segoe UI"/>
              </a:rPr>
              <a:t>up/down delle 6
interfacce egress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03320" y="2194560"/>
            <a:ext cx="2880360" cy="17373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840480" y="2331720"/>
            <a:ext cx="2606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F5A623"/>
                </a:solidFill>
                <a:latin typeface="Consolas"/>
              </a:rPr>
              <a:t>[6..11]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2761488"/>
            <a:ext cx="2606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>
                <a:solidFill>
                  <a:srgbClr val="E6EDF3"/>
                </a:solidFill>
                <a:latin typeface="Consolas"/>
              </a:rPr>
              <a:t>iface one-hot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0" y="3246120"/>
            <a:ext cx="2606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8B949E"/>
                </a:solidFill>
                <a:latin typeface="Segoe UI"/>
              </a:rPr>
              <a:t>porta d'ingresso
(6 valori)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66560" y="2194560"/>
            <a:ext cx="1325880" cy="17373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903720" y="2331720"/>
            <a:ext cx="1051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58A6FF"/>
                </a:solidFill>
                <a:latin typeface="Consolas"/>
              </a:rPr>
              <a:t>[12]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761488"/>
            <a:ext cx="1051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>
                <a:solidFill>
                  <a:srgbClr val="E6EDF3"/>
                </a:solidFill>
                <a:latin typeface="Consolas"/>
              </a:rPr>
              <a:t>TTL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3246120"/>
            <a:ext cx="1051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8B949E"/>
                </a:solidFill>
                <a:latin typeface="Segoe UI"/>
              </a:rPr>
              <a:t>scalare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75320" y="2194560"/>
            <a:ext cx="3246120" cy="17373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412480" y="2331720"/>
            <a:ext cx="2971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F85149"/>
                </a:solidFill>
                <a:latin typeface="Consolas"/>
              </a:rPr>
              <a:t>[13..64]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2761488"/>
            <a:ext cx="2971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>
                <a:solidFill>
                  <a:srgbClr val="E6EDF3"/>
                </a:solidFill>
                <a:latin typeface="Consolas"/>
              </a:rPr>
              <a:t>node one-hot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3246120"/>
            <a:ext cx="2971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8B949E"/>
                </a:solidFill>
                <a:latin typeface="Segoe UI"/>
              </a:rPr>
              <a:t>nodo corrente
(52 valori)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206240"/>
            <a:ext cx="109270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E6EDF3"/>
                </a:solidFill>
                <a:latin typeface="Segoe UI"/>
              </a:rPr>
              <a:t>Il vettore è </a:t>
            </a:r>
            <a:r>
              <a:rPr sz="1350" b="1">
                <a:solidFill>
                  <a:srgbClr val="F5A623"/>
                </a:solidFill>
                <a:latin typeface="Segoe UI"/>
              </a:rPr>
              <a:t>sparso</a:t>
            </a:r>
            <a:r>
              <a:rPr sz="1350" b="0">
                <a:solidFill>
                  <a:srgbClr val="8B949E"/>
                </a:solidFill>
                <a:latin typeface="Segoe UI"/>
              </a:rPr>
              <a:t>: a runtime solo poche entry sono non-nulle. Le one-hot e il TTL sono derivate dal pacchetto; </a:t>
            </a:r>
            <a:r>
              <a:rPr sz="1350" b="1">
                <a:solidFill>
                  <a:srgbClr val="3FB950"/>
                </a:solidFill>
                <a:latin typeface="Segoe UI"/>
              </a:rPr>
              <a:t>le prime 6 (link_state) sono lette da una mappa BPF condivisa</a:t>
            </a:r>
            <a:r>
              <a:rPr sz="1350" b="0">
                <a:solidFill>
                  <a:srgbClr val="8B949E"/>
                </a:solidFill>
                <a:latin typeface="Segoe UI"/>
              </a:rPr>
              <a:t> tenuta aggiornata da un monitor userspace.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5074920"/>
            <a:ext cx="10927080" cy="1051560"/>
          </a:xfrm>
          <a:prstGeom prst="roundRect">
            <a:avLst/>
          </a:prstGeom>
          <a:solidFill>
            <a:srgbClr val="0A0E14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14400" y="5276088"/>
            <a:ext cx="10424159" cy="4114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8B949E"/>
                </a:solidFill>
                <a:latin typeface="Consolas"/>
              </a:rPr>
              <a:t>fv[i]            = link_state[i];   /* [0..5]  up/down egress (da mappa)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8B949E"/>
                </a:solidFill>
                <a:latin typeface="Consolas"/>
              </a:rPr>
              <a:t>fv[iface + 5]    = 1;               /* [6..11] iface one-hot           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8B949E"/>
                </a:solidFill>
                <a:latin typeface="Consolas"/>
              </a:rPr>
              <a:t>fv[12] = ttl;    fv[node + 13] = 1; /* [12] TTL   [13..64] node one-hot */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link_state — il segnale fast-reroute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Da feature sempre-zero a stato reale delle interfacce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57400"/>
            <a:ext cx="1092708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E6EDF3"/>
                </a:solidFill>
                <a:latin typeface="Segoe UI"/>
              </a:rPr>
              <a:t>Le prime 6 feature sono lo </a:t>
            </a:r>
            <a:r>
              <a:rPr sz="1400" b="1">
                <a:solidFill>
                  <a:srgbClr val="3FB950"/>
                </a:solidFill>
                <a:latin typeface="Segoe UI"/>
              </a:rPr>
              <a:t>stato operativo up/down delle 6 interfacce di uscita</a:t>
            </a:r>
            <a:r>
              <a:rPr sz="1400" b="0">
                <a:solidFill>
                  <a:srgbClr val="E6EDF3"/>
                </a:solidFill>
                <a:latin typeface="Segoe UI"/>
              </a:rPr>
              <a:t>: il segnale centrale del fast-reroute — quale next-hop è disponibile adesso. </a:t>
            </a:r>
            <a:r>
              <a:rPr sz="1400" b="0">
                <a:solidFill>
                  <a:srgbClr val="8B949E"/>
                </a:solidFill>
                <a:latin typeface="Segoe UI"/>
              </a:rPr>
              <a:t>Prima erano sempre 0 (il modello non vedeva mai un guasto); ora sono popolate dal carrier reale.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200400"/>
            <a:ext cx="2439162" cy="1005840"/>
          </a:xfrm>
          <a:prstGeom prst="roundRect">
            <a:avLst/>
          </a:prstGeom>
          <a:solidFill>
            <a:srgbClr val="122A3A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731519" y="3246120"/>
            <a:ext cx="2256282" cy="64008"/>
          </a:xfrm>
          <a:prstGeom prst="round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13231" y="3255264"/>
            <a:ext cx="2292858" cy="9509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58A6FF"/>
                </a:solidFill>
                <a:latin typeface="Consolas"/>
              </a:rPr>
              <a:t>/sys/.../carrier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kernel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88386" y="34747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63290" y="3200400"/>
            <a:ext cx="2439162" cy="100584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E6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3554730" y="3246120"/>
            <a:ext cx="2256282" cy="64008"/>
          </a:xfrm>
          <a:prstGeom prst="roundRect">
            <a:avLst/>
          </a:prstGeom>
          <a:solidFill>
            <a:srgbClr val="E6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536442" y="3255264"/>
            <a:ext cx="2292858" cy="9509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E6EDF3"/>
                </a:solidFill>
                <a:latin typeface="Consolas"/>
              </a:rPr>
              <a:t>link_state_monitor.py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polling userspace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11596" y="34747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86500" y="3200400"/>
            <a:ext cx="2439162" cy="1005840"/>
          </a:xfrm>
          <a:prstGeom prst="roundRect">
            <a:avLst/>
          </a:prstGeom>
          <a:solidFill>
            <a:srgbClr val="112A14"/>
          </a:solidFill>
          <a:ln w="1905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6377940" y="3246120"/>
            <a:ext cx="2256282" cy="64008"/>
          </a:xfrm>
          <a:prstGeom prst="round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359652" y="3255264"/>
            <a:ext cx="2292858" cy="9509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B950"/>
                </a:solidFill>
                <a:latin typeface="Consolas"/>
              </a:rPr>
              <a:t>BPF_ARRAY link_state[6]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1=up 0=down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34806" y="34747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09710" y="3200400"/>
            <a:ext cx="2439162" cy="1005840"/>
          </a:xfrm>
          <a:prstGeom prst="roundRect">
            <a:avLst/>
          </a:prstGeom>
          <a:solidFill>
            <a:srgbClr val="112A22"/>
          </a:solidFill>
          <a:ln w="19050">
            <a:solidFill>
              <a:srgbClr val="3FD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9201150" y="3246120"/>
            <a:ext cx="2256282" cy="64008"/>
          </a:xfrm>
          <a:prstGeom prst="roundRect">
            <a:avLst/>
          </a:prstGeom>
          <a:solidFill>
            <a:srgbClr val="3FD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82862" y="3255264"/>
            <a:ext cx="2292858" cy="9509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D0C8"/>
                </a:solidFill>
                <a:latin typeface="Consolas"/>
              </a:rPr>
              <a:t>XDP feature[0..5]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inferenza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572000"/>
            <a:ext cx="5349240" cy="16002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96112" y="4773168"/>
            <a:ext cx="4892040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B950"/>
                </a:solidFill>
                <a:latin typeface="Segoe UI"/>
              </a:rPr>
              <a:t>Come è reso veritiero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Un thread legge /sys/class/net/ethX/carrier di ogni egress.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Scrive link_state[i] = 1 (up) / 0 (down) nella mappa condivisa.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 programmi eBPF leggono il valore al pacchetto successivo, senza reload.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4572000"/>
            <a:ext cx="5349240" cy="16002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73952" y="4773168"/>
            <a:ext cx="4892040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B950"/>
                </a:solidFill>
                <a:latin typeface="Segoe UI"/>
              </a:rPr>
              <a:t>Effetto sull'inferenza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Link che cade → la sua feature va a 0 → l'argmax può scegliere un'altra uscita.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All'avvio la mappa è seed a tutti-up (baseline sana).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Unica map letta nell'inferenza di P1 (feature, non peso).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Pipeline 1 — Hardcoded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Pesi come costanti C, inferenza completamente srotolata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1874520" cy="1051560"/>
          </a:xfrm>
          <a:prstGeom prst="roundRect">
            <a:avLst/>
          </a:prstGeom>
          <a:solidFill>
            <a:srgbClr val="122A3A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31519" y="2194560"/>
            <a:ext cx="1691640" cy="64008"/>
          </a:xfrm>
          <a:prstGeom prst="round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3231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58A6FF"/>
                </a:solidFill>
                <a:latin typeface="Consolas"/>
              </a:rPr>
              <a:t>packet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23744" y="24460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98648" y="2148840"/>
            <a:ext cx="1874520" cy="1051560"/>
          </a:xfrm>
          <a:prstGeom prst="roundRect">
            <a:avLst/>
          </a:prstGeom>
          <a:solidFill>
            <a:srgbClr val="112A14"/>
          </a:solidFill>
          <a:ln w="1905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2990088" y="2194560"/>
            <a:ext cx="1691640" cy="64008"/>
          </a:xfrm>
          <a:prstGeom prst="round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971800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B950"/>
                </a:solidFill>
                <a:latin typeface="Consolas"/>
              </a:rPr>
              <a:t>ipa_switch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pesi = letterali 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82312" y="24460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57216" y="2148840"/>
            <a:ext cx="1874520" cy="1051560"/>
          </a:xfrm>
          <a:prstGeom prst="roundRect">
            <a:avLst/>
          </a:prstGeom>
          <a:solidFill>
            <a:srgbClr val="112A14"/>
          </a:solidFill>
          <a:ln w="1905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248656" y="2194560"/>
            <a:ext cx="1691640" cy="64008"/>
          </a:xfrm>
          <a:prstGeom prst="round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230368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B950"/>
                </a:solidFill>
                <a:latin typeface="Consolas"/>
              </a:rPr>
              <a:t>argmax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unrolled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24460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15784" y="2148840"/>
            <a:ext cx="1874520" cy="1051560"/>
          </a:xfrm>
          <a:prstGeom prst="roundRect">
            <a:avLst/>
          </a:prstGeom>
          <a:solidFill>
            <a:srgbClr val="112A14"/>
          </a:solidFill>
          <a:ln w="1905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7507224" y="2194560"/>
            <a:ext cx="1691640" cy="64008"/>
          </a:xfrm>
          <a:prstGeom prst="round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488936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B950"/>
                </a:solidFill>
                <a:latin typeface="Consolas"/>
              </a:rPr>
              <a:t>switch(cls)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ifindex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99448" y="24460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74352" y="2148840"/>
            <a:ext cx="1874520" cy="1051560"/>
          </a:xfrm>
          <a:prstGeom prst="roundRect">
            <a:avLst/>
          </a:prstGeom>
          <a:solidFill>
            <a:srgbClr val="112A22"/>
          </a:solidFill>
          <a:ln w="19050">
            <a:solidFill>
              <a:srgbClr val="3FD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9765792" y="2194560"/>
            <a:ext cx="1691640" cy="64008"/>
          </a:xfrm>
          <a:prstGeom prst="roundRect">
            <a:avLst/>
          </a:prstGeom>
          <a:solidFill>
            <a:srgbClr val="3FD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747504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D0C8"/>
                </a:solidFill>
                <a:latin typeface="Consolas"/>
              </a:rPr>
              <a:t>bpf_redirect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azione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319375" y="3364992"/>
            <a:ext cx="1563624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2319375" y="3364992"/>
            <a:ext cx="1563624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FB950"/>
                </a:solidFill>
                <a:latin typeface="Consolas"/>
              </a:rPr>
              <a:t>0 tail call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047591" y="3364992"/>
            <a:ext cx="1764792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047591" y="3364992"/>
            <a:ext cx="1764792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FB950"/>
                </a:solidFill>
                <a:latin typeface="Consolas"/>
              </a:rPr>
              <a:t>0 lookup pesi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76975" y="3364992"/>
            <a:ext cx="1563624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976975" y="3364992"/>
            <a:ext cx="1563624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FB950"/>
                </a:solidFill>
                <a:latin typeface="Consolas"/>
              </a:rPr>
              <a:t>264 B mappe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705191" y="3364992"/>
            <a:ext cx="2167128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705191" y="3364992"/>
            <a:ext cx="216712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FB950"/>
                </a:solidFill>
                <a:latin typeface="Consolas"/>
              </a:rPr>
              <a:t>32 ns · 31.3 Mpps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0080" y="3840480"/>
            <a:ext cx="10927080" cy="22860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96112" y="4041648"/>
            <a:ext cx="10469880" cy="1920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B950"/>
                </a:solidFill>
                <a:latin typeface="Segoe UI"/>
              </a:rPr>
              <a:t>Come è implementata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Un programma eBPF dedicato per modello: i pesi int8 sono letterali signed char nel sorgente C.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Inferenza 65→4→4→7 completamente srotolata (nessun loop), nessuna map lookup per i pesi.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Un solo switch(iface) e uno switch(node) per tutto il programma: evita l'esplosione dei rami nel verifier.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link_state[0..5] letto dalla mappa e sommato come ls_i * w[j,i] nei neuroni fc1.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Nessun model_cache: era un residuo (gate is_valid + blob pesi mai usato) — rimosso, ora è hardcoded puro.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Pipeline 1 — il codice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fc1 srotolato: pesi come costanti, link_state dalla mappa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10927080" cy="1965960"/>
          </a:xfrm>
          <a:prstGeom prst="roundRect">
            <a:avLst/>
          </a:prstGeom>
          <a:solidFill>
            <a:srgbClr val="0A0E14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96112" y="2313432"/>
            <a:ext cx="10469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3FB950"/>
                </a:solidFill>
                <a:latin typeface="Segoe UI"/>
              </a:rPr>
              <a:t>generato in C (ebpf_program.py)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8972" y="2583180"/>
            <a:ext cx="10424159" cy="1325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rgbClr val="484F58"/>
                </a:solidFill>
                <a:latin typeface="Consolas"/>
              </a:rPr>
              <a:t>/* </a:t>
            </a:r>
            <a:r>
              <a:rPr sz="1100" b="0" dirty="0" err="1">
                <a:solidFill>
                  <a:srgbClr val="484F58"/>
                </a:solidFill>
                <a:latin typeface="Consolas"/>
              </a:rPr>
              <a:t>link_state</a:t>
            </a:r>
            <a:r>
              <a:rPr sz="1100" b="0" dirty="0">
                <a:solidFill>
                  <a:srgbClr val="484F58"/>
                </a:solidFill>
                <a:latin typeface="Consolas"/>
              </a:rPr>
              <a:t>[0..5] </a:t>
            </a:r>
            <a:r>
              <a:rPr sz="1100" b="0" dirty="0" err="1">
                <a:solidFill>
                  <a:srgbClr val="484F58"/>
                </a:solidFill>
                <a:latin typeface="Consolas"/>
              </a:rPr>
              <a:t>letti</a:t>
            </a:r>
            <a:r>
              <a:rPr sz="1100" b="0" dirty="0">
                <a:solidFill>
                  <a:srgbClr val="484F58"/>
                </a:solidFill>
                <a:latin typeface="Consolas"/>
              </a:rPr>
              <a:t> </a:t>
            </a:r>
            <a:r>
              <a:rPr sz="1100" b="0" dirty="0" err="1">
                <a:solidFill>
                  <a:srgbClr val="484F58"/>
                </a:solidFill>
                <a:latin typeface="Consolas"/>
              </a:rPr>
              <a:t>dalla</a:t>
            </a:r>
            <a:r>
              <a:rPr sz="1100" b="0" dirty="0">
                <a:solidFill>
                  <a:srgbClr val="484F58"/>
                </a:solidFill>
                <a:latin typeface="Consolas"/>
              </a:rPr>
              <a:t> </a:t>
            </a:r>
            <a:r>
              <a:rPr sz="1100" b="0" dirty="0" err="1">
                <a:solidFill>
                  <a:srgbClr val="484F58"/>
                </a:solidFill>
                <a:latin typeface="Consolas"/>
              </a:rPr>
              <a:t>mappa</a:t>
            </a:r>
            <a:r>
              <a:rPr sz="1100" b="0" dirty="0">
                <a:solidFill>
                  <a:srgbClr val="484F58"/>
                </a:solidFill>
                <a:latin typeface="Consolas"/>
              </a:rPr>
              <a:t> (feature, non </a:t>
            </a:r>
            <a:r>
              <a:rPr sz="1100" b="0" dirty="0" err="1">
                <a:solidFill>
                  <a:srgbClr val="484F58"/>
                </a:solidFill>
                <a:latin typeface="Consolas"/>
              </a:rPr>
              <a:t>pesi</a:t>
            </a:r>
            <a:r>
              <a:rPr sz="1100" b="0" dirty="0">
                <a:solidFill>
                  <a:srgbClr val="484F58"/>
                </a:solidFill>
                <a:latin typeface="Consolas"/>
              </a:rPr>
              <a:t>)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rgbClr val="E6EDF3"/>
                </a:solidFill>
                <a:latin typeface="Consolas"/>
              </a:rPr>
              <a:t>_</a:t>
            </a:r>
            <a:r>
              <a:rPr sz="1100" b="0" dirty="0" err="1">
                <a:solidFill>
                  <a:srgbClr val="E6EDF3"/>
                </a:solidFill>
                <a:latin typeface="Consolas"/>
              </a:rPr>
              <a:t>lk</a:t>
            </a:r>
            <a:r>
              <a:rPr sz="1100" b="0" dirty="0">
                <a:solidFill>
                  <a:srgbClr val="E6EDF3"/>
                </a:solidFill>
                <a:latin typeface="Consolas"/>
              </a:rPr>
              <a:t>=0; _</a:t>
            </a:r>
            <a:r>
              <a:rPr sz="1100" b="0" dirty="0" err="1">
                <a:solidFill>
                  <a:srgbClr val="E6EDF3"/>
                </a:solidFill>
                <a:latin typeface="Consolas"/>
              </a:rPr>
              <a:t>lp</a:t>
            </a:r>
            <a:r>
              <a:rPr sz="1100" b="0" dirty="0">
                <a:solidFill>
                  <a:srgbClr val="E6EDF3"/>
                </a:solidFill>
                <a:latin typeface="Consolas"/>
              </a:rPr>
              <a:t>=</a:t>
            </a:r>
            <a:r>
              <a:rPr sz="1100" b="0" dirty="0" err="1">
                <a:solidFill>
                  <a:srgbClr val="E6EDF3"/>
                </a:solidFill>
                <a:latin typeface="Consolas"/>
              </a:rPr>
              <a:t>link_state.lookup</a:t>
            </a:r>
            <a:r>
              <a:rPr sz="1100" b="0" dirty="0">
                <a:solidFill>
                  <a:srgbClr val="E6EDF3"/>
                </a:solidFill>
                <a:latin typeface="Consolas"/>
              </a:rPr>
              <a:t>(&amp;_</a:t>
            </a:r>
            <a:r>
              <a:rPr sz="1100" b="0" dirty="0" err="1">
                <a:solidFill>
                  <a:srgbClr val="E6EDF3"/>
                </a:solidFill>
                <a:latin typeface="Consolas"/>
              </a:rPr>
              <a:t>lk</a:t>
            </a:r>
            <a:r>
              <a:rPr sz="1100" b="0" dirty="0">
                <a:solidFill>
                  <a:srgbClr val="E6EDF3"/>
                </a:solidFill>
                <a:latin typeface="Consolas"/>
              </a:rPr>
              <a:t>); if (_</a:t>
            </a:r>
            <a:r>
              <a:rPr sz="1100" b="0" dirty="0" err="1">
                <a:solidFill>
                  <a:srgbClr val="E6EDF3"/>
                </a:solidFill>
                <a:latin typeface="Consolas"/>
              </a:rPr>
              <a:t>lp</a:t>
            </a:r>
            <a:r>
              <a:rPr sz="1100" b="0" dirty="0">
                <a:solidFill>
                  <a:srgbClr val="E6EDF3"/>
                </a:solidFill>
                <a:latin typeface="Consolas"/>
              </a:rPr>
              <a:t>) ls0=(long long)(*_</a:t>
            </a:r>
            <a:r>
              <a:rPr sz="1100" b="0" dirty="0" err="1">
                <a:solidFill>
                  <a:srgbClr val="E6EDF3"/>
                </a:solidFill>
                <a:latin typeface="Consolas"/>
              </a:rPr>
              <a:t>lp</a:t>
            </a:r>
            <a:r>
              <a:rPr sz="1100" b="0" dirty="0">
                <a:solidFill>
                  <a:srgbClr val="E6EDF3"/>
                </a:solidFill>
                <a:latin typeface="Consolas"/>
              </a:rPr>
              <a:t>);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rgbClr val="8B949E"/>
                </a:solidFill>
                <a:latin typeface="Consolas"/>
              </a:rPr>
              <a:t>...  ls5 = </a:t>
            </a:r>
            <a:r>
              <a:rPr sz="1100" b="0" dirty="0" err="1">
                <a:solidFill>
                  <a:srgbClr val="8B949E"/>
                </a:solidFill>
                <a:latin typeface="Consolas"/>
              </a:rPr>
              <a:t>link_state</a:t>
            </a:r>
            <a:r>
              <a:rPr sz="1100" b="0" dirty="0">
                <a:solidFill>
                  <a:srgbClr val="8B949E"/>
                </a:solidFill>
                <a:latin typeface="Consolas"/>
              </a:rPr>
              <a:t>[5]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rgbClr val="E6EDF3"/>
                </a:solidFill>
                <a:latin typeface="Consolas"/>
              </a:rPr>
              <a:t> 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rgbClr val="484F58"/>
                </a:solidFill>
                <a:latin typeface="Consolas"/>
              </a:rPr>
              <a:t>/* </a:t>
            </a:r>
            <a:r>
              <a:rPr sz="1100" b="0" dirty="0" err="1">
                <a:solidFill>
                  <a:srgbClr val="484F58"/>
                </a:solidFill>
                <a:latin typeface="Consolas"/>
              </a:rPr>
              <a:t>neurone</a:t>
            </a:r>
            <a:r>
              <a:rPr sz="1100" b="0" dirty="0">
                <a:solidFill>
                  <a:srgbClr val="484F58"/>
                </a:solidFill>
                <a:latin typeface="Consolas"/>
              </a:rPr>
              <a:t> fc1: </a:t>
            </a:r>
            <a:r>
              <a:rPr sz="1100" b="0" dirty="0" err="1">
                <a:solidFill>
                  <a:srgbClr val="484F58"/>
                </a:solidFill>
                <a:latin typeface="Consolas"/>
              </a:rPr>
              <a:t>pesi</a:t>
            </a:r>
            <a:r>
              <a:rPr sz="1100" b="0" dirty="0">
                <a:solidFill>
                  <a:srgbClr val="484F58"/>
                </a:solidFill>
                <a:latin typeface="Consolas"/>
              </a:rPr>
              <a:t> come </a:t>
            </a:r>
            <a:r>
              <a:rPr sz="1100" b="0" dirty="0" err="1">
                <a:solidFill>
                  <a:srgbClr val="484F58"/>
                </a:solidFill>
                <a:latin typeface="Consolas"/>
              </a:rPr>
              <a:t>letterali</a:t>
            </a:r>
            <a:r>
              <a:rPr sz="1100" b="0" dirty="0">
                <a:solidFill>
                  <a:srgbClr val="484F58"/>
                </a:solidFill>
                <a:latin typeface="Consolas"/>
              </a:rPr>
              <a:t> C, </a:t>
            </a:r>
            <a:r>
              <a:rPr sz="1100" b="0" dirty="0" err="1">
                <a:solidFill>
                  <a:srgbClr val="484F58"/>
                </a:solidFill>
                <a:latin typeface="Consolas"/>
              </a:rPr>
              <a:t>nessuna</a:t>
            </a:r>
            <a:r>
              <a:rPr sz="1100" b="0" dirty="0">
                <a:solidFill>
                  <a:srgbClr val="484F58"/>
                </a:solidFill>
                <a:latin typeface="Consolas"/>
              </a:rPr>
              <a:t> lookup </a:t>
            </a:r>
            <a:r>
              <a:rPr sz="1100" b="0" dirty="0" err="1">
                <a:solidFill>
                  <a:srgbClr val="484F58"/>
                </a:solidFill>
                <a:latin typeface="Consolas"/>
              </a:rPr>
              <a:t>pesi</a:t>
            </a:r>
            <a:r>
              <a:rPr sz="1100" b="0" dirty="0">
                <a:solidFill>
                  <a:srgbClr val="484F58"/>
                </a:solidFill>
                <a:latin typeface="Consolas"/>
              </a:rPr>
              <a:t>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rgbClr val="E6EDF3"/>
                </a:solidFill>
                <a:latin typeface="Consolas"/>
              </a:rPr>
              <a:t>long </a:t>
            </a:r>
            <a:r>
              <a:rPr sz="1100" b="0" dirty="0" err="1">
                <a:solidFill>
                  <a:srgbClr val="E6EDF3"/>
                </a:solidFill>
                <a:latin typeface="Consolas"/>
              </a:rPr>
              <a:t>long</a:t>
            </a:r>
            <a:r>
              <a:rPr sz="1100" b="0" dirty="0">
                <a:solidFill>
                  <a:srgbClr val="E6EDF3"/>
                </a:solidFill>
                <a:latin typeface="Consolas"/>
              </a:rPr>
              <a:t> h1_0 = RELU_LL( (__s64)_</a:t>
            </a:r>
            <a:r>
              <a:rPr sz="1100" b="0" dirty="0" err="1">
                <a:solidFill>
                  <a:srgbClr val="E6EDF3"/>
                </a:solidFill>
                <a:latin typeface="Consolas"/>
              </a:rPr>
              <a:t>ttl</a:t>
            </a:r>
            <a:r>
              <a:rPr sz="1100" b="0" dirty="0">
                <a:solidFill>
                  <a:srgbClr val="E6EDF3"/>
                </a:solidFill>
                <a:latin typeface="Consolas"/>
              </a:rPr>
              <a:t> * 12LL + w_iface_0 + w_node_0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rgbClr val="3FB950"/>
                </a:solidFill>
                <a:latin typeface="Consolas"/>
              </a:rPr>
              <a:t>        + ls0*-7LL + ls1*3LL + ls2*0LL + ls3*5LL + ls4*-2LL + ls5*1LL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rgbClr val="E6EDF3"/>
                </a:solidFill>
                <a:latin typeface="Consolas"/>
              </a:rPr>
              <a:t>        + 4LL );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343400"/>
            <a:ext cx="5349240" cy="173736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96112" y="4544568"/>
            <a:ext cx="489204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Perché così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static const array indicizzati da variabili runtime: il verifier rifiuta (relocation → 0).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Soluzione: uno switch unico per iface e per node, scalari su stack.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4343400"/>
            <a:ext cx="5349240" cy="173736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73952" y="4544568"/>
            <a:ext cx="489204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Costo dell'update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Cambiare modello = rigenera il C, ricompila con LLVM, ricarica XDP.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Nessun hot-swap: massima specializzazione, minima flessibilità.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Pipeline 2 — Template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Un programma per forma architetturale, pesi letti da mappa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1874520" cy="1051560"/>
          </a:xfrm>
          <a:prstGeom prst="roundRect">
            <a:avLst/>
          </a:prstGeom>
          <a:solidFill>
            <a:srgbClr val="122A3A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31519" y="2194560"/>
            <a:ext cx="1691640" cy="64008"/>
          </a:xfrm>
          <a:prstGeom prst="round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3231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58A6FF"/>
                </a:solidFill>
                <a:latin typeface="Consolas"/>
              </a:rPr>
              <a:t>packet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23744" y="24460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98648" y="2148840"/>
            <a:ext cx="1874520" cy="10515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E6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2990088" y="2194560"/>
            <a:ext cx="1691640" cy="64008"/>
          </a:xfrm>
          <a:prstGeom prst="roundRect">
            <a:avLst/>
          </a:prstGeom>
          <a:solidFill>
            <a:srgbClr val="E6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971800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E6EDF3"/>
                </a:solidFill>
                <a:latin typeface="Consolas"/>
              </a:rPr>
              <a:t>dispatcher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registry[id]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82312" y="24460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57216" y="2148840"/>
            <a:ext cx="1874520" cy="1051560"/>
          </a:xfrm>
          <a:prstGeom prst="roundRect">
            <a:avLst/>
          </a:prstGeom>
          <a:solidFill>
            <a:srgbClr val="2A200A"/>
          </a:solidFill>
          <a:ln w="1905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248656" y="2194560"/>
            <a:ext cx="1691640" cy="64008"/>
          </a:xfrm>
          <a:prstGeom prst="round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230368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5A623"/>
                </a:solidFill>
                <a:latin typeface="Consolas"/>
              </a:rPr>
              <a:t>arch_generic_2layer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1 prog / n_h1,n_h2 runtime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24460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15784" y="2148840"/>
            <a:ext cx="1874520" cy="1051560"/>
          </a:xfrm>
          <a:prstGeom prst="roundRect">
            <a:avLst/>
          </a:prstGeom>
          <a:solidFill>
            <a:srgbClr val="2A200A"/>
          </a:solidFill>
          <a:ln w="1905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7507224" y="2194560"/>
            <a:ext cx="1691640" cy="64008"/>
          </a:xfrm>
          <a:prstGeom prst="round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488936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5A623"/>
                </a:solidFill>
                <a:latin typeface="Consolas"/>
              </a:rPr>
              <a:t>arch_weights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BPF_ARRAY int8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99448" y="24460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74352" y="2148840"/>
            <a:ext cx="1874520" cy="1051560"/>
          </a:xfrm>
          <a:prstGeom prst="roundRect">
            <a:avLst/>
          </a:prstGeom>
          <a:solidFill>
            <a:srgbClr val="112A22"/>
          </a:solidFill>
          <a:ln w="19050">
            <a:solidFill>
              <a:srgbClr val="3FD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9765792" y="2194560"/>
            <a:ext cx="1691640" cy="64008"/>
          </a:xfrm>
          <a:prstGeom prst="roundRect">
            <a:avLst/>
          </a:prstGeom>
          <a:solidFill>
            <a:srgbClr val="3FD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747504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D0C8"/>
                </a:solidFill>
                <a:latin typeface="Consolas"/>
              </a:rPr>
              <a:t>bpf_redirect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azione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067915" y="3364992"/>
            <a:ext cx="1563624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2067915" y="3364992"/>
            <a:ext cx="1563624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5A623"/>
                </a:solidFill>
                <a:latin typeface="Consolas"/>
              </a:rPr>
              <a:t>1 tail call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796131" y="3364992"/>
            <a:ext cx="2167128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796131" y="3364992"/>
            <a:ext cx="216712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E6EDF3"/>
                </a:solidFill>
                <a:latin typeface="Consolas"/>
              </a:rPr>
              <a:t>~322 lookup / pkt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27851" y="3364992"/>
            <a:ext cx="1664208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127851" y="3364992"/>
            <a:ext cx="166420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E6EDF3"/>
                </a:solidFill>
                <a:latin typeface="Consolas"/>
              </a:rPr>
              <a:t>7.9 KB mappe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56651" y="3364992"/>
            <a:ext cx="2167128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956651" y="3364992"/>
            <a:ext cx="216712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5A623"/>
                </a:solidFill>
                <a:latin typeface="Consolas"/>
              </a:rPr>
              <a:t>411 ns · 2.43 Mpps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0080" y="3840480"/>
            <a:ext cx="10927080" cy="22860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96112" y="4041648"/>
            <a:ext cx="10469880" cy="1920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Come è implementata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Un solo programma per l’intera famiglia "2 hidden layer" (arch_generic_2layer): input/output fissi dal protocollo (65/7).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Le larghezze n_h1/n_h2 sono lette a runtime da arch_registry, fino al tetto compilato T2_MAX_H1/T2_MAX_H2 -- nessuna ricompilazione per un modello piu largo o stretto.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 pesi int8 stanno in arch_weights (BPF_ARRAY), letti a runtime con lookup su offset calcolato da n_h1/n_h2.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link_state[0..5] letto nel loop fc1: acc += link_state[i] * arch_weights[woff + j*65 + i].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Aggiornamento modello/larghezza = load_arch_weights() sui pesi. Nessuna ricompilazione, nessun reload.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Pipeline 2 — il codice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Prodotto scalare sparso via lookup su BPF_ARRAY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10927080" cy="1965960"/>
          </a:xfrm>
          <a:prstGeom prst="roundRect">
            <a:avLst/>
          </a:prstGeom>
          <a:solidFill>
            <a:srgbClr val="0A0E14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96112" y="2313432"/>
            <a:ext cx="10469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F5A623"/>
                </a:solidFill>
                <a:latin typeface="Segoe UI"/>
              </a:rPr>
              <a:t>arch_65_4_4_7 (ebpf_template_arch.py)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8972" y="2629689"/>
            <a:ext cx="10424159" cy="1325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rgbClr val="E6EDF3"/>
                </a:solidFill>
                <a:latin typeface="Consolas"/>
              </a:rPr>
              <a:t>for (j = 0; j &lt; 4; </a:t>
            </a:r>
            <a:r>
              <a:rPr sz="1100" b="0" dirty="0" err="1">
                <a:solidFill>
                  <a:srgbClr val="E6EDF3"/>
                </a:solidFill>
                <a:latin typeface="Consolas"/>
              </a:rPr>
              <a:t>j++</a:t>
            </a:r>
            <a:r>
              <a:rPr sz="1100" b="0" dirty="0">
                <a:solidFill>
                  <a:srgbClr val="E6EDF3"/>
                </a:solidFill>
                <a:latin typeface="Consolas"/>
              </a:rPr>
              <a:t>) {          /* </a:t>
            </a:r>
            <a:r>
              <a:rPr sz="1100" b="0" dirty="0" err="1">
                <a:solidFill>
                  <a:srgbClr val="E6EDF3"/>
                </a:solidFill>
                <a:latin typeface="Consolas"/>
              </a:rPr>
              <a:t>neuroni</a:t>
            </a:r>
            <a:r>
              <a:rPr sz="1100" b="0" dirty="0">
                <a:solidFill>
                  <a:srgbClr val="E6EDF3"/>
                </a:solidFill>
                <a:latin typeface="Consolas"/>
              </a:rPr>
              <a:t> fc1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rgbClr val="8B949E"/>
                </a:solidFill>
                <a:latin typeface="Consolas"/>
              </a:rPr>
              <a:t>    acc = bias(j);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rgbClr val="E6EDF3"/>
                </a:solidFill>
                <a:latin typeface="Consolas"/>
              </a:rPr>
              <a:t>    acc += </a:t>
            </a:r>
            <a:r>
              <a:rPr sz="1100" b="0" dirty="0" err="1">
                <a:solidFill>
                  <a:srgbClr val="E6EDF3"/>
                </a:solidFill>
                <a:latin typeface="Consolas"/>
              </a:rPr>
              <a:t>ttl</a:t>
            </a:r>
            <a:r>
              <a:rPr sz="1100" b="0" dirty="0">
                <a:solidFill>
                  <a:srgbClr val="E6EDF3"/>
                </a:solidFill>
                <a:latin typeface="Consolas"/>
              </a:rPr>
              <a:t>  * W[</a:t>
            </a:r>
            <a:r>
              <a:rPr sz="1100" b="0" dirty="0" err="1">
                <a:solidFill>
                  <a:srgbClr val="E6EDF3"/>
                </a:solidFill>
                <a:latin typeface="Consolas"/>
              </a:rPr>
              <a:t>woff</a:t>
            </a:r>
            <a:r>
              <a:rPr sz="1100" b="0" dirty="0">
                <a:solidFill>
                  <a:srgbClr val="E6EDF3"/>
                </a:solidFill>
                <a:latin typeface="Consolas"/>
              </a:rPr>
              <a:t> + j*65 + 12];      /* TTL  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rgbClr val="3FB950"/>
                </a:solidFill>
                <a:latin typeface="Consolas"/>
              </a:rPr>
              <a:t>    for (</a:t>
            </a:r>
            <a:r>
              <a:rPr sz="1100" b="0" dirty="0" err="1">
                <a:solidFill>
                  <a:srgbClr val="3FB950"/>
                </a:solidFill>
                <a:latin typeface="Consolas"/>
              </a:rPr>
              <a:t>i</a:t>
            </a:r>
            <a:r>
              <a:rPr sz="1100" b="0" dirty="0">
                <a:solidFill>
                  <a:srgbClr val="3FB950"/>
                </a:solidFill>
                <a:latin typeface="Consolas"/>
              </a:rPr>
              <a:t> = 0; </a:t>
            </a:r>
            <a:r>
              <a:rPr sz="1100" b="0" dirty="0" err="1">
                <a:solidFill>
                  <a:srgbClr val="3FB950"/>
                </a:solidFill>
                <a:latin typeface="Consolas"/>
              </a:rPr>
              <a:t>i</a:t>
            </a:r>
            <a:r>
              <a:rPr sz="1100" b="0" dirty="0">
                <a:solidFill>
                  <a:srgbClr val="3FB950"/>
                </a:solidFill>
                <a:latin typeface="Consolas"/>
              </a:rPr>
              <a:t> &lt; 6; </a:t>
            </a:r>
            <a:r>
              <a:rPr sz="1100" b="0" dirty="0" err="1">
                <a:solidFill>
                  <a:srgbClr val="3FB950"/>
                </a:solidFill>
                <a:latin typeface="Consolas"/>
              </a:rPr>
              <a:t>i</a:t>
            </a:r>
            <a:r>
              <a:rPr sz="1100" b="0" dirty="0">
                <a:solidFill>
                  <a:srgbClr val="3FB950"/>
                </a:solidFill>
                <a:latin typeface="Consolas"/>
              </a:rPr>
              <a:t>++)                 /* </a:t>
            </a:r>
            <a:r>
              <a:rPr sz="1100" b="0" dirty="0" err="1">
                <a:solidFill>
                  <a:srgbClr val="3FB950"/>
                </a:solidFill>
                <a:latin typeface="Consolas"/>
              </a:rPr>
              <a:t>link_state</a:t>
            </a:r>
            <a:r>
              <a:rPr sz="1100" b="0" dirty="0">
                <a:solidFill>
                  <a:srgbClr val="3FB950"/>
                </a:solidFill>
                <a:latin typeface="Consolas"/>
              </a:rPr>
              <a:t> [0..5]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rgbClr val="3FB950"/>
                </a:solidFill>
                <a:latin typeface="Consolas"/>
              </a:rPr>
              <a:t>        acc += </a:t>
            </a:r>
            <a:r>
              <a:rPr sz="1100" b="0" dirty="0" err="1">
                <a:solidFill>
                  <a:srgbClr val="3FB950"/>
                </a:solidFill>
                <a:latin typeface="Consolas"/>
              </a:rPr>
              <a:t>link_state</a:t>
            </a:r>
            <a:r>
              <a:rPr sz="1100" b="0" dirty="0">
                <a:solidFill>
                  <a:srgbClr val="3FB950"/>
                </a:solidFill>
                <a:latin typeface="Consolas"/>
              </a:rPr>
              <a:t>[</a:t>
            </a:r>
            <a:r>
              <a:rPr sz="1100" b="0" dirty="0" err="1">
                <a:solidFill>
                  <a:srgbClr val="3FB950"/>
                </a:solidFill>
                <a:latin typeface="Consolas"/>
              </a:rPr>
              <a:t>i</a:t>
            </a:r>
            <a:r>
              <a:rPr sz="1100" b="0" dirty="0">
                <a:solidFill>
                  <a:srgbClr val="3FB950"/>
                </a:solidFill>
                <a:latin typeface="Consolas"/>
              </a:rPr>
              <a:t>] * W[</a:t>
            </a:r>
            <a:r>
              <a:rPr sz="1100" b="0" dirty="0" err="1">
                <a:solidFill>
                  <a:srgbClr val="3FB950"/>
                </a:solidFill>
                <a:latin typeface="Consolas"/>
              </a:rPr>
              <a:t>woff</a:t>
            </a:r>
            <a:r>
              <a:rPr sz="1100" b="0" dirty="0">
                <a:solidFill>
                  <a:srgbClr val="3FB950"/>
                </a:solidFill>
                <a:latin typeface="Consolas"/>
              </a:rPr>
              <a:t> + j*65 + </a:t>
            </a:r>
            <a:r>
              <a:rPr sz="1100" b="0" dirty="0" err="1">
                <a:solidFill>
                  <a:srgbClr val="3FB950"/>
                </a:solidFill>
                <a:latin typeface="Consolas"/>
              </a:rPr>
              <a:t>i</a:t>
            </a:r>
            <a:r>
              <a:rPr sz="1100" b="0" dirty="0">
                <a:solidFill>
                  <a:srgbClr val="3FB950"/>
                </a:solidFill>
                <a:latin typeface="Consolas"/>
              </a:rPr>
              <a:t>];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rgbClr val="E6EDF3"/>
                </a:solidFill>
                <a:latin typeface="Consolas"/>
              </a:rPr>
              <a:t>    acc += W[</a:t>
            </a:r>
            <a:r>
              <a:rPr sz="1100" b="0" dirty="0" err="1">
                <a:solidFill>
                  <a:srgbClr val="E6EDF3"/>
                </a:solidFill>
                <a:latin typeface="Consolas"/>
              </a:rPr>
              <a:t>iface_idx</a:t>
            </a:r>
            <a:r>
              <a:rPr sz="1100" b="0" dirty="0">
                <a:solidFill>
                  <a:srgbClr val="E6EDF3"/>
                </a:solidFill>
                <a:latin typeface="Consolas"/>
              </a:rPr>
              <a:t>];  acc += W[</a:t>
            </a:r>
            <a:r>
              <a:rPr sz="1100" b="0" dirty="0" err="1">
                <a:solidFill>
                  <a:srgbClr val="E6EDF3"/>
                </a:solidFill>
                <a:latin typeface="Consolas"/>
              </a:rPr>
              <a:t>node_idx</a:t>
            </a:r>
            <a:r>
              <a:rPr sz="1100" b="0" dirty="0">
                <a:solidFill>
                  <a:srgbClr val="E6EDF3"/>
                </a:solidFill>
                <a:latin typeface="Consolas"/>
              </a:rPr>
              <a:t>];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rgbClr val="8B949E"/>
                </a:solidFill>
                <a:latin typeface="Consolas"/>
              </a:rPr>
              <a:t>    h1[j] = RELU(acc);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rgbClr val="E6EDF3"/>
                </a:solidFill>
                <a:latin typeface="Consolas"/>
              </a:rPr>
              <a:t>}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343400"/>
            <a:ext cx="5349240" cy="173736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96112" y="4544568"/>
            <a:ext cx="489204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D0C8"/>
                </a:solidFill>
                <a:latin typeface="Segoe UI"/>
              </a:rPr>
              <a:t>Perché la mappa va bene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BPF_ARRAY è un oggetto kernel registrato: l'indice aritmetico è sicuro per il verifier.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Niente relocation, niente puntatori non risolti.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4343400"/>
            <a:ext cx="5349240" cy="173736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73952" y="4544568"/>
            <a:ext cx="489204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D0C8"/>
                </a:solidFill>
                <a:latin typeface="Segoe UI"/>
              </a:rPr>
              <a:t>Flessibilità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 pesi si cambiano a runtime senza toccare il codice eBPF.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Prestazioni intermedie (125 ns): tra P1 hardcoded e P3 modular.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Pipeline 3 — Modular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Rete scomposta in layer, stato intermedio in scratch PERCPU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1874520" cy="10515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E6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31519" y="2194560"/>
            <a:ext cx="1691640" cy="64008"/>
          </a:xfrm>
          <a:prstGeom prst="roundRect">
            <a:avLst/>
          </a:prstGeom>
          <a:solidFill>
            <a:srgbClr val="E6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3231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E6EDF3"/>
                </a:solidFill>
                <a:latin typeface="Consolas"/>
              </a:rPr>
              <a:t>dispatcher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scrive feature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23744" y="24460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98648" y="2148840"/>
            <a:ext cx="1874520" cy="1051560"/>
          </a:xfrm>
          <a:prstGeom prst="roundRect">
            <a:avLst/>
          </a:prstGeom>
          <a:solidFill>
            <a:srgbClr val="2A1211"/>
          </a:solidFill>
          <a:ln w="1905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2990088" y="2194560"/>
            <a:ext cx="1691640" cy="64008"/>
          </a:xfrm>
          <a:prstGeom prst="roundRect">
            <a:avLst/>
          </a:prstGeom>
          <a:solidFill>
            <a:srgbClr val="F85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971800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85149"/>
                </a:solidFill>
                <a:latin typeface="Consolas"/>
              </a:rPr>
              <a:t>layer_first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sparso, n_out runtime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82312" y="24460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57216" y="2148840"/>
            <a:ext cx="1874520" cy="1051560"/>
          </a:xfrm>
          <a:prstGeom prst="roundRect">
            <a:avLst/>
          </a:prstGeom>
          <a:solidFill>
            <a:srgbClr val="2A1211"/>
          </a:solidFill>
          <a:ln w="1905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248656" y="2194560"/>
            <a:ext cx="1691640" cy="64008"/>
          </a:xfrm>
          <a:prstGeom prst="roundRect">
            <a:avLst/>
          </a:prstGeom>
          <a:solidFill>
            <a:srgbClr val="F85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230368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85149"/>
                </a:solidFill>
                <a:latin typeface="Consolas"/>
              </a:rPr>
              <a:t>layer_hidden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denso, n_in/n_out runtime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24460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15784" y="2148840"/>
            <a:ext cx="1874520" cy="1051560"/>
          </a:xfrm>
          <a:prstGeom prst="roundRect">
            <a:avLst/>
          </a:prstGeom>
          <a:solidFill>
            <a:srgbClr val="2A1211"/>
          </a:solidFill>
          <a:ln w="1905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7507224" y="2194560"/>
            <a:ext cx="1691640" cy="64008"/>
          </a:xfrm>
          <a:prstGeom prst="roundRect">
            <a:avLst/>
          </a:prstGeom>
          <a:solidFill>
            <a:srgbClr val="F85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488936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85149"/>
                </a:solidFill>
                <a:latin typeface="Consolas"/>
              </a:rPr>
              <a:t>layer_hidden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ultimo layer, argmax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99448" y="24460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74352" y="2148840"/>
            <a:ext cx="1874520" cy="1051560"/>
          </a:xfrm>
          <a:prstGeom prst="roundRect">
            <a:avLst/>
          </a:prstGeom>
          <a:solidFill>
            <a:srgbClr val="112A22"/>
          </a:solidFill>
          <a:ln w="19050">
            <a:solidFill>
              <a:srgbClr val="3FD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9765792" y="2194560"/>
            <a:ext cx="1691640" cy="64008"/>
          </a:xfrm>
          <a:prstGeom prst="roundRect">
            <a:avLst/>
          </a:prstGeom>
          <a:solidFill>
            <a:srgbClr val="3FD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747504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D0C8"/>
                </a:solidFill>
                <a:latin typeface="Consolas"/>
              </a:rPr>
              <a:t>bpf_redirect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azione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967331" y="3364992"/>
            <a:ext cx="1563624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967331" y="3364992"/>
            <a:ext cx="1563624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85149"/>
                </a:solidFill>
                <a:latin typeface="Consolas"/>
              </a:rPr>
              <a:t>3 tail call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695547" y="3364992"/>
            <a:ext cx="2167128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695547" y="3364992"/>
            <a:ext cx="216712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85149"/>
                </a:solidFill>
                <a:latin typeface="Consolas"/>
              </a:rPr>
              <a:t>~384 lookup / pkt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027267" y="3364992"/>
            <a:ext cx="1764792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027267" y="3364992"/>
            <a:ext cx="1764792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E6EDF3"/>
                </a:solidFill>
                <a:latin typeface="Consolas"/>
              </a:rPr>
              <a:t>16.5 KB mappe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56651" y="3364992"/>
            <a:ext cx="2267712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956651" y="3364992"/>
            <a:ext cx="2267712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85149"/>
                </a:solidFill>
                <a:latin typeface="Consolas"/>
              </a:rPr>
              <a:t>738 ns · 1.36 Mpps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0080" y="3840480"/>
            <a:ext cx="10927080" cy="22860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96112" y="4041648"/>
            <a:ext cx="10469880" cy="1920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85149"/>
                </a:solidFill>
                <a:latin typeface="Segoe UI"/>
              </a:rPr>
              <a:t>Come è implementata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Due soli programmi generici: layer_first (hop 0, lettura sparsa del vettore 65-feature) e layer_hidden (hop 1..N-1, denso n_in-&gt;n_out) -- non uno per layer fisso.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Profondita E larghezza sono dinamiche: layer_registry/layer_shapes dicono a runtime quanti layer ha il modello e la forma di ciascuno.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“Ultimo layer” e' deciso dai dati (layer_idx+1==n_layers), non da quale programma occupa lo slot di tail-call -- modelli con profondita diverse condividono lo stesso chain senza conflitti.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N tail call reali per pacchetto (dipende dalla profondita del modello); l’ultimo hop calcola argmax -&gt; mac_table[classe] -&gt; bpf_redirect.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Aggiornamento = load_modular_weights() scrive pesi + layer_shapes + layer_registry (nuova lista layer): cambia profondita E larghezza senza reload dei 2 programmi eBPF.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Pipeline 3 — il codice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Il dispatcher scrive le feature; i layer leggono lo scratch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10927080" cy="1828800"/>
          </a:xfrm>
          <a:prstGeom prst="roundRect">
            <a:avLst/>
          </a:prstGeom>
          <a:solidFill>
            <a:srgbClr val="0A0E14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96112" y="2313432"/>
            <a:ext cx="10469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F85149"/>
                </a:solidFill>
                <a:latin typeface="Segoe UI"/>
              </a:rPr>
              <a:t>modular_dispatcher (ebpf_modular.py)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715768"/>
            <a:ext cx="10424159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8B949E"/>
                </a:solidFill>
                <a:latin typeface="Consolas"/>
              </a:rPr>
              <a:t>for (i = 0; i &lt; 65; i++) scratch_acts[i] = 0;    /* azzera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3FB950"/>
                </a:solidFill>
                <a:latin typeface="Consolas"/>
              </a:rPr>
              <a:t>for (i = 0; i &lt; 6;  i++)                          /* link_state [0..5]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3FB950"/>
                </a:solidFill>
                <a:latin typeface="Consolas"/>
              </a:rPr>
              <a:t>    scratch_acts[i] = link_state[i];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E6EDF3"/>
                </a:solidFill>
                <a:latin typeface="Consolas"/>
              </a:rPr>
              <a:t>scratch_acts[12] = ttl;  scratch_acts[6+iface] = 1;  scratch_acts[13+node] = 1;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F5A623"/>
                </a:solidFill>
                <a:latin typeface="Consolas"/>
              </a:rPr>
              <a:t>layer_chain.call(ctx, 0);        /* tail call -&gt; layer_65_4 */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206240"/>
            <a:ext cx="5349240" cy="1874519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96112" y="4407407"/>
            <a:ext cx="4892040" cy="1508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D0C8"/>
                </a:solidFill>
                <a:latin typeface="Segoe UI"/>
              </a:rPr>
              <a:t>scratch PERCPU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Ogni CPU ha la sua copia: nessun lock, nessuna contesa.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 layer leggono/scrivono le attivazioni intermedie qui.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Il layout 65 feature è identico a P1/P2.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4206240"/>
            <a:ext cx="5349240" cy="1874519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73952" y="4407407"/>
            <a:ext cx="4892040" cy="1508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D0C8"/>
                </a:solidFill>
                <a:latin typeface="Segoe UI"/>
              </a:rPr>
              <a:t>Catena di tail call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dispatcher → layer_65_4 → layer_4_4 → layer_4_7_argmax.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Cambiare architettura = cambiare la sequenza in layer_chain.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Massima flessibilità, al costo di 3 salti per pacchetto.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Dall'argmax all'azione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La NN decide la porta; mac_table risolve il next-hop — comune alle tre pipeline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1874520" cy="1051560"/>
          </a:xfrm>
          <a:prstGeom prst="roundRect">
            <a:avLst/>
          </a:prstGeom>
          <a:solidFill>
            <a:srgbClr val="122A3A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31519" y="2240279"/>
            <a:ext cx="1691640" cy="64008"/>
          </a:xfrm>
          <a:prstGeom prst="round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3231" y="224942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58A6FF"/>
                </a:solidFill>
                <a:latin typeface="Consolas"/>
              </a:rPr>
              <a:t>argmax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best_cls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23744" y="2491739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98648" y="2194560"/>
            <a:ext cx="1874520" cy="10515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E6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2990088" y="2240279"/>
            <a:ext cx="1691640" cy="64008"/>
          </a:xfrm>
          <a:prstGeom prst="roundRect">
            <a:avLst/>
          </a:prstGeom>
          <a:solidFill>
            <a:srgbClr val="E6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971800" y="224942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E6EDF3"/>
                </a:solidFill>
                <a:latin typeface="Consolas"/>
              </a:rPr>
              <a:t>classe 0..5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porta / DROP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82312" y="2491739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57216" y="2194560"/>
            <a:ext cx="1874520" cy="1051560"/>
          </a:xfrm>
          <a:prstGeom prst="roundRect">
            <a:avLst/>
          </a:prstGeom>
          <a:solidFill>
            <a:srgbClr val="2A200A"/>
          </a:solidFill>
          <a:ln w="1905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248656" y="2240279"/>
            <a:ext cx="1691640" cy="64008"/>
          </a:xfrm>
          <a:prstGeom prst="round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230368" y="224942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5A623"/>
                </a:solidFill>
                <a:latin typeface="Consolas"/>
              </a:rPr>
              <a:t>mac_table[cls]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ifindex + MAC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2491739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15784" y="2194560"/>
            <a:ext cx="1874520" cy="10515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E6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7507224" y="2240279"/>
            <a:ext cx="1691640" cy="64008"/>
          </a:xfrm>
          <a:prstGeom prst="roundRect">
            <a:avLst/>
          </a:prstGeom>
          <a:solidFill>
            <a:srgbClr val="E6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488936" y="224942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E6EDF3"/>
                </a:solidFill>
                <a:latin typeface="Consolas"/>
              </a:rPr>
              <a:t>MAC rewrite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src/dst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99448" y="2491739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74352" y="2194560"/>
            <a:ext cx="1874520" cy="1051560"/>
          </a:xfrm>
          <a:prstGeom prst="roundRect">
            <a:avLst/>
          </a:prstGeom>
          <a:solidFill>
            <a:srgbClr val="112A22"/>
          </a:solidFill>
          <a:ln w="19050">
            <a:solidFill>
              <a:srgbClr val="3FD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9765792" y="2240279"/>
            <a:ext cx="1691640" cy="64008"/>
          </a:xfrm>
          <a:prstGeom prst="roundRect">
            <a:avLst/>
          </a:prstGeom>
          <a:solidFill>
            <a:srgbClr val="3FD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747504" y="224942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D0C8"/>
                </a:solidFill>
                <a:latin typeface="Consolas"/>
              </a:rPr>
              <a:t>bpf_redirect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ifindex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3794760"/>
            <a:ext cx="5349240" cy="233172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96112" y="3995928"/>
            <a:ext cx="4892040" cy="1965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D0C8"/>
                </a:solidFill>
                <a:latin typeface="Segoe UI"/>
              </a:rPr>
              <a:t>La NN decide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argmax sui 7 output → classe = porta di uscita (cls 6 = DROP).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Nessun calcolo di chiave, nessuna validazione dell'output.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Ci si fida della decisione del modello (è il paradigma IPA).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0" y="3794760"/>
            <a:ext cx="5349240" cy="233172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473952" y="3995928"/>
            <a:ext cx="4892040" cy="1965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D0C8"/>
                </a:solidFill>
                <a:latin typeface="Segoe UI"/>
              </a:rPr>
              <a:t>mac_table = dizionario porte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mac_table[classe] → {ifindex, src_mac, dst_mac}: single lookup.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Riscrive gli header Ethernet e fa bpf_redirect.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P1: mappa hardcoded in uno switch (0 lookup). P2/P3: mac_table.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Verifica nel kernel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BPF_PROG_TEST_RUN — indipendente dalla rete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48840"/>
            <a:ext cx="1088136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E6EDF3"/>
                </a:solidFill>
                <a:latin typeface="Segoe UI"/>
              </a:rPr>
              <a:t>Il fabric Kathara non consegna UDP:9999 end-to-end, quindi la correttezza si verifica caricando i programmi XDP reali ed eseguendo </a:t>
            </a:r>
            <a:r>
              <a:rPr sz="1400" b="1">
                <a:solidFill>
                  <a:srgbClr val="F5A623"/>
                </a:solidFill>
                <a:latin typeface="Consolas"/>
              </a:rPr>
              <a:t>BPF_PROG_TEST_RUN</a:t>
            </a:r>
            <a:r>
              <a:rPr sz="1400" b="0">
                <a:solidFill>
                  <a:srgbClr val="E6EDF3"/>
                </a:solidFill>
                <a:latin typeface="Segoe UI"/>
              </a:rPr>
              <a:t>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endParaRPr sz="1400" b="0">
              <a:solidFill>
                <a:srgbClr val="E6EDF3"/>
              </a:solidFill>
              <a:latin typeface="Segoe UI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8B949E"/>
                </a:solidFill>
                <a:latin typeface="Segoe UI"/>
              </a:rPr>
              <a:t>Verifica </a:t>
            </a:r>
            <a:r>
              <a:rPr sz="1400" b="1">
                <a:solidFill>
                  <a:srgbClr val="3FD0C8"/>
                </a:solidFill>
                <a:latin typeface="Segoe UI"/>
              </a:rPr>
              <a:t>single-pass e uniforme</a:t>
            </a:r>
            <a:r>
              <a:rPr sz="1400" b="0">
                <a:solidFill>
                  <a:srgbClr val="8B949E"/>
                </a:solidFill>
                <a:latin typeface="Segoe UI"/>
              </a:rPr>
              <a:t> sulle 3 pipeline: pre-installa mac_table[0..5], esegue una volta e controlla che la classe scelta dal kernel = classe del riferimento Python. 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8B949E"/>
                </a:solidFill>
                <a:latin typeface="Segoe UI"/>
              </a:rPr>
              <a:t>Nessun ctx custom: sotto TEST_RUN l'ingress_ifindex di sandbox cade fuori dai range attesi di tutte e 3, quindi combaciano allo stesso modo col riferimento Python. 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8B949E"/>
                </a:solidFill>
                <a:latin typeface="Segoe UI"/>
              </a:rPr>
              <a:t>Criterio di PASS: retval ∈ {0,4} (redirect) e cls_stats[ref_cls] &gt; 0.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892040"/>
            <a:ext cx="10927080" cy="1051560"/>
          </a:xfrm>
          <a:prstGeom prst="roundRect">
            <a:avLst/>
          </a:prstGeom>
          <a:solidFill>
            <a:srgbClr val="112A14"/>
          </a:solidFill>
          <a:ln w="15875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4892040"/>
            <a:ext cx="1042416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3FB950"/>
                </a:solidFill>
                <a:latin typeface="Consolas"/>
              </a:rPr>
              <a:t>✓  3 pipeline · TTL 1–5 · 5/5 PASS ciascuna · pkt_stats HIT · kernel suite: PASS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Risultati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Metriche reali dal kernel (BPF_PROG_TEST_RUN, modello 65-4-4-7)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011680"/>
          <a:ext cx="8586216" cy="3383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647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647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647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8B949E"/>
                          </a:solidFill>
                          <a:latin typeface="Segoe UI"/>
                        </a:rPr>
                        <a:t>Metrica</a:t>
                      </a:r>
                    </a:p>
                  </a:txBody>
                  <a:tcPr marL="109728" marR="73152" marT="18288" marB="18288" anchor="ctr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8B949E"/>
                          </a:solidFill>
                          <a:latin typeface="Consolas"/>
                        </a:rPr>
                        <a:t>P1 hardcoded</a:t>
                      </a:r>
                    </a:p>
                  </a:txBody>
                  <a:tcPr marL="109728" marR="73152" marT="18288" marB="18288" anchor="ctr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8B949E"/>
                          </a:solidFill>
                          <a:latin typeface="Consolas"/>
                        </a:rPr>
                        <a:t>P2 template</a:t>
                      </a:r>
                    </a:p>
                  </a:txBody>
                  <a:tcPr marL="109728" marR="73152" marT="18288" marB="18288" anchor="ctr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8B949E"/>
                          </a:solidFill>
                          <a:latin typeface="Consolas"/>
                        </a:rPr>
                        <a:t>P3 modular</a:t>
                      </a:r>
                    </a:p>
                  </a:txBody>
                  <a:tcPr marL="109728" marR="73152" marT="18288" marB="18288" anchor="ctr">
                    <a:solidFill>
                      <a:srgbClr val="161B2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Istruzioni eBPF (xlated)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883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5 951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5 931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Codice jited (byte)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4 215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27 097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26 823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Tail calls / pacchetto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 (leaf)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Map lookup / pkt (stima)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322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384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Memoria mappe (byte)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168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8 072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16 904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Latenza (ns / pkt)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50.0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411.0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738.0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Throughput (Mpps)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20.000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2.433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1.355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CPU (%)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36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67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75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9509760" y="2011680"/>
            <a:ext cx="2057400" cy="338328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765792" y="2212848"/>
            <a:ext cx="1600200" cy="3017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D0C8"/>
                </a:solidFill>
                <a:latin typeface="Segoe UI"/>
              </a:rPr>
              <a:t>Lettura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P1 più veloce: 50 ns, 20.0 Mpps.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P1 più compatto: 168 B, 883 istr.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Tail call, memoria e latenza crescono P1→P2→P3.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P2/P3 quasi stesse istruzioni statiche (~5.9k): il costo di P3 e' nei tail call extra (3 vs 1), non nel codice.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577840"/>
            <a:ext cx="109270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5A623"/>
                </a:solidFill>
                <a:latin typeface="Segoe UI"/>
              </a:rPr>
              <a:t>mac_table: </a:t>
            </a:r>
            <a:r>
              <a:rPr sz="1200" b="0">
                <a:solidFill>
                  <a:srgbClr val="8B949E"/>
                </a:solidFill>
                <a:latin typeface="Segoe UI"/>
              </a:rPr>
              <a:t>argmax → mac_table[classe] → bpf_redirect su tutte e 3 (P1 hardcoded in uno switch, 0 lookup). L'inferenza è identica nelle 3 (classe kernel = riferimento Python); differisce solo il design. Ordine coerente con la tassonomia.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Costo reale di aggiunta modello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bench_model_add.py — BPF_PROG_LOAD misurato, non stimato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011680"/>
          <a:ext cx="8586216" cy="22971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647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647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647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8B949E"/>
                          </a:solidFill>
                          <a:latin typeface="Segoe UI"/>
                        </a:rPr>
                        <a:t>Metrica</a:t>
                      </a:r>
                    </a:p>
                  </a:txBody>
                  <a:tcPr marL="109728" marR="73152" marT="18288" marB="18288" anchor="ctr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8B949E"/>
                          </a:solidFill>
                          <a:latin typeface="Consolas"/>
                        </a:rPr>
                        <a:t>P1 hardcoded</a:t>
                      </a:r>
                    </a:p>
                  </a:txBody>
                  <a:tcPr marL="109728" marR="73152" marT="18288" marB="18288" anchor="ctr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8B949E"/>
                          </a:solidFill>
                          <a:latin typeface="Consolas"/>
                        </a:rPr>
                        <a:t>P2 template</a:t>
                      </a:r>
                    </a:p>
                  </a:txBody>
                  <a:tcPr marL="109728" marR="73152" marT="18288" marB="18288" anchor="ctr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8B949E"/>
                          </a:solidFill>
                          <a:latin typeface="Consolas"/>
                        </a:rPr>
                        <a:t>P3 modular</a:t>
                      </a:r>
                    </a:p>
                  </a:txBody>
                  <a:tcPr marL="109728" marR="73152" marT="18288" marB="18288" anchor="ctr">
                    <a:solidFill>
                      <a:srgbClr val="161B2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Setup one-time (ms)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n/d (nel costo add)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2 137.812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2 425.498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Mean add (ms)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1 893.448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2.143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2.801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Min add (ms)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1 420.993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1.395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1.802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Max add (ms)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2 829.601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2.656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4.454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Stdev add (ms)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661.970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0.540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1.177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9509760" y="2011680"/>
            <a:ext cx="2057400" cy="338328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765792" y="2212848"/>
            <a:ext cx="1600200" cy="3017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D0C8"/>
                </a:solidFill>
                <a:latin typeface="Segoe UI"/>
              </a:rPr>
              <a:t>Lettura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hardcoded ~700–900× più lento per modello aggiunto.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template/modular: solo bpf_map_update_elem.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setup one-time pagato una sola volta.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conferma: più flessibilità = update più economico.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577840"/>
            <a:ext cx="109270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5A623"/>
                </a:solidFill>
                <a:latin typeface="Segoe UI"/>
              </a:rPr>
              <a:t>Metodologia: </a:t>
            </a:r>
            <a:r>
              <a:rPr sz="1200" b="0">
                <a:solidFill>
                  <a:srgbClr val="8B949E"/>
                </a:solidFill>
                <a:latin typeface="Segoe UI"/>
              </a:rPr>
              <a:t>shared/bench_model_add.py registra 3 model_id concorrenti con offset non sovrapposti in arch_weights (template) / layer_weights (modular), eseguito in Kathara con root+BCC. hardcoded rigenera il sorgente C e ricompila/ricarica il programma ad ogni modello (nessuna via incrementale per design); template/modular caricano il programma XDP una sola volta e poi scrivono solo la mappa dei pesi (bpf_map_update_elem).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link_state nelle tre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Stessa mappa, tre modi di leggerla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03120"/>
            <a:ext cx="3520440" cy="32004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96112" y="2304288"/>
            <a:ext cx="3063240" cy="2834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B950"/>
                </a:solidFill>
                <a:latin typeface="Segoe UI"/>
              </a:rPr>
              <a:t>P1 — Hardcoded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6 lookup link_state[i] all'inizio dell'inferenza.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Sommati come ls_i * w[j,i] con w letterali C.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Unica mappa letta: è input, non peso.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Design hardcoded puro preservato.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15968" y="2103120"/>
            <a:ext cx="3520440" cy="32004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0" y="2304288"/>
            <a:ext cx="3063240" cy="2834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P2 — Template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Lookup link_state[i] nel loop fc1.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Prodotto con arch_weights[woff + j*65 + i].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Stessa mappa, pesi separati in BPF_ARRAY.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Nessuna ricompilazione per l'update.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0" y="2103120"/>
            <a:ext cx="3566160" cy="32004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57031" y="2304288"/>
            <a:ext cx="3108960" cy="2834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85149"/>
                </a:solidFill>
                <a:latin typeface="Segoe UI"/>
              </a:rPr>
              <a:t>P3 — Modular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Il dispatcher copia link_state[0..5] in scratch_acts.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 layer-block la trattano come qualunque attivazione.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La feature attraversa la catena di tail call.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Massima uniformità del datapath.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532120"/>
            <a:ext cx="109270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E6EDF3"/>
                </a:solidFill>
                <a:latin typeface="Segoe UI"/>
              </a:rPr>
              <a:t>Un unico monitor userspace </a:t>
            </a:r>
            <a:r>
              <a:rPr sz="1300" b="1">
                <a:solidFill>
                  <a:srgbClr val="3FD0C8"/>
                </a:solidFill>
                <a:latin typeface="Consolas"/>
              </a:rPr>
              <a:t>(link_state_monitor.py)</a:t>
            </a:r>
            <a:r>
              <a:rPr sz="1300" b="0">
                <a:solidFill>
                  <a:srgbClr val="8B949E"/>
                </a:solidFill>
                <a:latin typeface="Segoe UI"/>
              </a:rPr>
              <a:t> alimenta la stessa mappa condivisa: il fast-reroute reagisce ai guasti indipendentemente dalla pipeline scelta.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I vincoli del verifier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Perché il codice ha questa forma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5349240" cy="1874519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96112" y="2350008"/>
            <a:ext cx="4892040" cy="1508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No array statici indicizzati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static const indicizzato da variabile runtime → relocation fallisce, l'accesso collassa a 0.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P1: uno switch(iface) e uno switch(node) unici, scalari su stack.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148840"/>
            <a:ext cx="5349240" cy="1874519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73952" y="2350008"/>
            <a:ext cx="4892040" cy="1508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No esplosione dei rami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switch per-neurone → O((7·52)^neuroni) percorsi: il verifier si arrende.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Un solo switch che assegna il contributo di tutti i neuroni insieme: O(7+52).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206240"/>
            <a:ext cx="5349240" cy="1874519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96112" y="4407407"/>
            <a:ext cx="4892040" cy="1508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Protocollo per offset assoluto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ip-&gt;protocol come bitfield si sballa con header minimali BCC/Kathara.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Letto all'offset RFC 791 (byte 9); UDP header via ihl*4.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4206240"/>
            <a:ext cx="5349240" cy="1874519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73952" y="4407407"/>
            <a:ext cx="4892040" cy="1508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Pesi come byte unsigned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BCC vecchio non risolve il leaf signed char in alcune mappe.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Storage __u8, cast a __s8 prima dell'aritmetica (bit pattern identico).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Hexagon 2"/>
          <p:cNvSpPr/>
          <p:nvPr/>
        </p:nvSpPr>
        <p:spPr>
          <a:xfrm rot="5400000">
            <a:off x="10881360" y="502920"/>
            <a:ext cx="1005840" cy="905256"/>
          </a:xfrm>
          <a:prstGeom prst="hexagon">
            <a:avLst/>
          </a:prstGeom>
          <a:noFill/>
          <a:ln w="15875">
            <a:solidFill>
              <a:srgbClr val="484F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Hexagon 3"/>
          <p:cNvSpPr/>
          <p:nvPr/>
        </p:nvSpPr>
        <p:spPr>
          <a:xfrm rot="5400000">
            <a:off x="11430000" y="1097280"/>
            <a:ext cx="1005840" cy="905256"/>
          </a:xfrm>
          <a:prstGeom prst="hexagon">
            <a:avLst/>
          </a:prstGeom>
          <a:noFill/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058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E6EDF3"/>
                </a:solidFill>
                <a:latin typeface="Georgia"/>
              </a:rPr>
              <a:t>Il costo della flessibilità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146304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8B949E"/>
                </a:solidFill>
                <a:latin typeface="Segoe UI"/>
              </a:rPr>
              <a:t>Aumentando la flessibilità: più tail call, più map lookup, più istruzioni — meno prestazioni di picco.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468880"/>
            <a:ext cx="3520440" cy="210312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96112" y="2670048"/>
            <a:ext cx="306324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B950"/>
                </a:solidFill>
                <a:latin typeface="Segoe UI"/>
              </a:rPr>
              <a:t>P1 Hardcoded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Update = ricompila + ricarica XDP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Datapath: massima specializzazione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Memoria mappe minima (puro)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2468880"/>
            <a:ext cx="3520440" cy="210312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0" y="2670048"/>
            <a:ext cx="306324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P2 Template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Update = bpf_map_update_elem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Prestazioni intermedie (287 ns)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Buon compromesso pratico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2468880"/>
            <a:ext cx="3566160" cy="210312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57031" y="2670048"/>
            <a:ext cx="310896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85149"/>
                </a:solidFill>
                <a:latin typeface="Segoe UI"/>
              </a:rPr>
              <a:t>P3 Modular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Update = hot-swap di un layer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Massima flessibilità runtime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Overhead: 3 tail call + scratch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892040"/>
            <a:ext cx="10927080" cy="1051560"/>
          </a:xfrm>
          <a:prstGeom prst="round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14400" y="4892040"/>
            <a:ext cx="1042416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0D1117"/>
                </a:solidFill>
                <a:latin typeface="Georgia"/>
              </a:rPr>
              <a:t>Non esiste un'unica implementazione naturale: si sceglie quanto specializzare il modello nel datapath.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6419088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484F58"/>
                </a:solidFill>
                <a:latin typeface="Consolas"/>
              </a:rPr>
              <a:t>IPA / eBPF · design space · P1 hardcoded · P2 template · P3 modular · link_state fast-reroute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3210</Words>
  <Application>Microsoft Office PowerPoint</Application>
  <PresentationFormat>Widescreen</PresentationFormat>
  <Paragraphs>385</Paragraphs>
  <Slides>18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5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18</vt:i4>
      </vt:variant>
    </vt:vector>
  </HeadingPairs>
  <TitlesOfParts>
    <vt:vector size="24" baseType="lpstr">
      <vt:lpstr>Arial</vt:lpstr>
      <vt:lpstr>Calibri</vt:lpstr>
      <vt:lpstr>Consolas</vt:lpstr>
      <vt:lpstr>Georgia</vt:lpstr>
      <vt:lpstr>Segoe UI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Ettore Cantile</cp:lastModifiedBy>
  <cp:revision>4</cp:revision>
  <dcterms:created xsi:type="dcterms:W3CDTF">2013-01-27T09:14:16Z</dcterms:created>
  <dcterms:modified xsi:type="dcterms:W3CDTF">2026-07-10T18:08:31Z</dcterms:modified>
  <cp:category/>
</cp:coreProperties>
</file>