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3" r:id="rId16"/>
    <p:sldId id="270" r:id="rId17"/>
    <p:sldId id="271" r:id="rId18"/>
    <p:sldId id="272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84" y="1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exagon 2"/>
          <p:cNvSpPr/>
          <p:nvPr/>
        </p:nvSpPr>
        <p:spPr>
          <a:xfrm rot="5400000">
            <a:off x="10698480" y="457200"/>
            <a:ext cx="1051560" cy="946403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exagon 3"/>
          <p:cNvSpPr/>
          <p:nvPr/>
        </p:nvSpPr>
        <p:spPr>
          <a:xfrm rot="5400000">
            <a:off x="11292840" y="1051560"/>
            <a:ext cx="1051560" cy="946403"/>
          </a:xfrm>
          <a:prstGeom prst="hexagon">
            <a:avLst/>
          </a:prstGeom>
          <a:noFill/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Hexagon 4"/>
          <p:cNvSpPr/>
          <p:nvPr/>
        </p:nvSpPr>
        <p:spPr>
          <a:xfrm rot="5400000">
            <a:off x="10104120" y="1645920"/>
            <a:ext cx="1051560" cy="946403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85800" y="1965960"/>
            <a:ext cx="822960" cy="822960"/>
          </a:xfrm>
          <a:prstGeom prst="ellipse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85800" y="1965960"/>
            <a:ext cx="82296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0D1117"/>
                </a:solidFill>
                <a:latin typeface="Segoe UI"/>
              </a:rPr>
              <a:t>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880360"/>
            <a:ext cx="100584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5400" b="1">
                <a:solidFill>
                  <a:srgbClr val="E6EDF3"/>
                </a:solidFill>
                <a:latin typeface="Georgia"/>
              </a:rPr>
              <a:t>IPA / eBPF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977639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F5A623"/>
                </a:solidFill>
                <a:latin typeface="Consolas"/>
              </a:rPr>
              <a:t>Tre pipeline di inferenza neurale nel datapath XDP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09160"/>
            <a:ext cx="1078992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Lo stesso modello nel kernel Linux in tre modi: dal codice specializzato ai moduli riusabili —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un trade-off tra prestazioni di picco e flessibilità runtime.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98932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P1 hardcoded</a:t>
            </a:r>
            <a:r>
              <a:rPr sz="1300" b="0">
                <a:solidFill>
                  <a:srgbClr val="484F58"/>
                </a:solidFill>
                <a:latin typeface="Consolas"/>
              </a:rPr>
              <a:t>   ·   </a:t>
            </a:r>
            <a:r>
              <a:rPr sz="1300" b="1">
                <a:solidFill>
                  <a:srgbClr val="F5A623"/>
                </a:solidFill>
                <a:latin typeface="Consolas"/>
              </a:rPr>
              <a:t>P2 template</a:t>
            </a:r>
            <a:r>
              <a:rPr sz="1300" b="0">
                <a:solidFill>
                  <a:srgbClr val="484F58"/>
                </a:solidFill>
                <a:latin typeface="Consolas"/>
              </a:rPr>
              <a:t>   ·   </a:t>
            </a:r>
            <a:r>
              <a:rPr sz="1300" b="1">
                <a:solidFill>
                  <a:srgbClr val="F85149"/>
                </a:solidFill>
                <a:latin typeface="Consolas"/>
              </a:rPr>
              <a:t>P3 modular</a:t>
            </a:r>
            <a:r>
              <a:rPr sz="1200" b="0">
                <a:solidFill>
                  <a:srgbClr val="484F58"/>
                </a:solidFill>
                <a:latin typeface="Consolas"/>
              </a:rPr>
              <a:t>      ·   XDP · BPF maps · tail call · int8 · link_state fast-reroute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Il design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trade-off tra prestazioni e flessibilità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7902" y="2494263"/>
            <a:ext cx="484632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dirty="0">
                <a:solidFill>
                  <a:srgbClr val="E6EDF3"/>
                </a:solidFill>
                <a:latin typeface="Segoe UI"/>
              </a:rPr>
              <a:t>Lo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stesso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modello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neurale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può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vivere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nel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datapath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E6EDF3"/>
                </a:solidFill>
                <a:latin typeface="Segoe UI"/>
              </a:rPr>
              <a:t>eBPF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 in </a:t>
            </a:r>
            <a:r>
              <a:rPr sz="1400" b="1" dirty="0" err="1">
                <a:solidFill>
                  <a:srgbClr val="F5A623"/>
                </a:solidFill>
                <a:latin typeface="Segoe UI"/>
              </a:rPr>
              <a:t>tre</a:t>
            </a:r>
            <a:r>
              <a:rPr sz="1400" b="1" dirty="0">
                <a:solidFill>
                  <a:srgbClr val="F5A623"/>
                </a:solidFill>
                <a:latin typeface="Segoe UI"/>
              </a:rPr>
              <a:t> </a:t>
            </a:r>
            <a:r>
              <a:rPr sz="1400" b="1" dirty="0" err="1">
                <a:solidFill>
                  <a:srgbClr val="F5A623"/>
                </a:solidFill>
                <a:latin typeface="Segoe UI"/>
              </a:rPr>
              <a:t>modi</a:t>
            </a:r>
            <a:r>
              <a:rPr sz="1400" b="0" dirty="0">
                <a:solidFill>
                  <a:srgbClr val="E6EDF3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endParaRPr sz="1400" b="0" dirty="0">
              <a:solidFill>
                <a:srgbClr val="E6EDF3"/>
              </a:solidFill>
              <a:latin typeface="Segoe UI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dirty="0" err="1">
                <a:solidFill>
                  <a:srgbClr val="8B949E"/>
                </a:solidFill>
                <a:latin typeface="Segoe UI"/>
              </a:rPr>
              <a:t>Più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si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specializza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il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codice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,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più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aumenta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la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velocità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di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picco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ma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diminuisce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la </a:t>
            </a:r>
            <a:r>
              <a:rPr sz="1400" b="0" dirty="0" err="1">
                <a:solidFill>
                  <a:srgbClr val="8B949E"/>
                </a:solidFill>
                <a:latin typeface="Segoe UI"/>
              </a:rPr>
              <a:t>flessibilità</a:t>
            </a:r>
            <a:r>
              <a:rPr sz="1400" b="0" dirty="0">
                <a:solidFill>
                  <a:srgbClr val="8B949E"/>
                </a:solidFill>
                <a:latin typeface="Segoe UI"/>
              </a:rPr>
              <a:t> a runtime.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endParaRPr sz="1400" b="0" dirty="0">
              <a:solidFill>
                <a:srgbClr val="8B949E"/>
              </a:solidFill>
              <a:latin typeface="Segoe UI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dirty="0" err="1">
                <a:solidFill>
                  <a:srgbClr val="8B949E"/>
                </a:solidFill>
                <a:latin typeface="Segoe UI"/>
              </a:rPr>
              <a:t>Aumentando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 la </a:t>
            </a:r>
            <a:r>
              <a:rPr sz="1300" b="0" dirty="0" err="1">
                <a:solidFill>
                  <a:srgbClr val="8B949E"/>
                </a:solidFill>
                <a:latin typeface="Segoe UI"/>
              </a:rPr>
              <a:t>flessibilità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300" b="0" dirty="0" err="1">
                <a:solidFill>
                  <a:srgbClr val="8B949E"/>
                </a:solidFill>
                <a:latin typeface="Segoe UI"/>
              </a:rPr>
              <a:t>crescono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 tail call, map lookup e </a:t>
            </a:r>
            <a:r>
              <a:rPr sz="1300" b="0" dirty="0" err="1">
                <a:solidFill>
                  <a:srgbClr val="8B949E"/>
                </a:solidFill>
                <a:latin typeface="Segoe UI"/>
              </a:rPr>
              <a:t>istruzioni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300" b="0" dirty="0" err="1">
                <a:solidFill>
                  <a:srgbClr val="8B949E"/>
                </a:solidFill>
                <a:latin typeface="Segoe UI"/>
              </a:rPr>
              <a:t>eBPF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; cala il throughput </a:t>
            </a:r>
            <a:r>
              <a:rPr sz="1300" b="0" dirty="0" err="1">
                <a:solidFill>
                  <a:srgbClr val="8B949E"/>
                </a:solidFill>
                <a:latin typeface="Segoe UI"/>
              </a:rPr>
              <a:t>massimo</a:t>
            </a:r>
            <a:r>
              <a:rPr sz="1300" b="0" dirty="0">
                <a:solidFill>
                  <a:srgbClr val="8B949E"/>
                </a:solidFill>
                <a:latin typeface="Segoe UI"/>
              </a:rPr>
              <a:t>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69502" y="1624006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125534" y="1825174"/>
            <a:ext cx="5303520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—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Massime prestazioni, minima flessibilità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eBPF per modello, pesi nel codice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69502" y="3087046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25534" y="3288214"/>
            <a:ext cx="5303520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—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intermedie, flessibilità media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per architettura, pesi in mappa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69502" y="4550086"/>
            <a:ext cx="5760720" cy="13258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25534" y="4751253"/>
            <a:ext cx="5303520" cy="9601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—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flessibilità, prestazioni inferiori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1 programma per layer, stato in scratch 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19088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84F58"/>
                </a:solidFill>
                <a:latin typeface="Consolas"/>
              </a:rPr>
              <a:t>performance  ◀─────────────────▶  flessibilità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Architettura comune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pacchetto IPA su UDP, un hook XDP, un MLP int8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UDP :9999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IPA header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XDP hook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ingress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feature[65]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vettore sparso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MLP int8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65-4-4-7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azione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redirect / drop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94760"/>
            <a:ext cx="534924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6112" y="3995928"/>
            <a:ext cx="489204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Il pacchetto IPA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Header custom dentro UDP:9999 con model_id, scale_factor e descrittori delle feature.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programma XDP intercetta il pacchetto in ingresso prima dello stack di rete.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Stesso modello e stesso layout feature per le tre pipeline: cambia solo COME sono eseguite.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94760"/>
            <a:ext cx="534924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73952" y="3995928"/>
            <a:ext cx="489204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Il modello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MLP 65→4→4→7 quantizzato int8 (post-training), scale factor potenza di 2.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Aritmetica intera pura: nessun float nel kernel.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Output = argmax su 7 classi (6 interfacce di uscita + DROP).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Le 65 feature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Come il pacchetto diventa l'input del modello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288036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[0..5]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61488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link_state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2461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up/down delle 6
interfacce egress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703320" y="2194560"/>
            <a:ext cx="288036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840480" y="2331720"/>
            <a:ext cx="2606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[6..11]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761488"/>
            <a:ext cx="2606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iface one-hot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0480" y="3246120"/>
            <a:ext cx="2606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porta d'ingresso
(6 valori)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66560" y="2194560"/>
            <a:ext cx="132588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903720" y="2331720"/>
            <a:ext cx="1051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[12]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03720" y="2761488"/>
            <a:ext cx="1051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TTL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3246120"/>
            <a:ext cx="1051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scalare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75320" y="2194560"/>
            <a:ext cx="3246120" cy="17373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12480" y="2331720"/>
            <a:ext cx="2971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[13..64]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2761488"/>
            <a:ext cx="2971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>
                <a:solidFill>
                  <a:srgbClr val="E6EDF3"/>
                </a:solidFill>
                <a:latin typeface="Consolas"/>
              </a:rPr>
              <a:t>node one-hot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246120"/>
            <a:ext cx="2971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8B949E"/>
                </a:solidFill>
                <a:latin typeface="Segoe UI"/>
              </a:rPr>
              <a:t>nodo corrente
(52 valori)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206240"/>
            <a:ext cx="10927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E6EDF3"/>
                </a:solidFill>
                <a:latin typeface="Segoe UI"/>
              </a:rPr>
              <a:t>Il vettore è </a:t>
            </a:r>
            <a:r>
              <a:rPr sz="1350" b="1">
                <a:solidFill>
                  <a:srgbClr val="F5A623"/>
                </a:solidFill>
                <a:latin typeface="Segoe UI"/>
              </a:rPr>
              <a:t>sparso</a:t>
            </a:r>
            <a:r>
              <a:rPr sz="1350" b="0">
                <a:solidFill>
                  <a:srgbClr val="8B949E"/>
                </a:solidFill>
                <a:latin typeface="Segoe UI"/>
              </a:rPr>
              <a:t>: a runtime solo poche entry sono non-nulle. Le one-hot e il TTL sono derivate dal pacchetto; </a:t>
            </a:r>
            <a:r>
              <a:rPr sz="1350" b="1">
                <a:solidFill>
                  <a:srgbClr val="3FB950"/>
                </a:solidFill>
                <a:latin typeface="Segoe UI"/>
              </a:rPr>
              <a:t>le prime 6 (link_state) sono lette da una mappa BPF condivisa</a:t>
            </a:r>
            <a:r>
              <a:rPr sz="1350" b="0">
                <a:solidFill>
                  <a:srgbClr val="8B949E"/>
                </a:solidFill>
                <a:latin typeface="Segoe UI"/>
              </a:rPr>
              <a:t> tenuta aggiornata da un monitor userspace.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074920"/>
            <a:ext cx="10927080" cy="10515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14400" y="5276088"/>
            <a:ext cx="10424159" cy="4114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fv[i]            = link_state[i];   /* [0..5]  up/down egress (da mappa)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fv[iface + 5]    = 1;               /* [6..11] iface one-hot           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8B949E"/>
                </a:solidFill>
                <a:latin typeface="Consolas"/>
              </a:rPr>
              <a:t>fv[12] = ttl;    fv[node + 13] = 1; /* [12] TTL   [13..64] node one-hot */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link_state — il segnale fast-reroute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Da feature sempre-zero a stato reale delle interfacce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57400"/>
            <a:ext cx="1092708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Le prime 6 feature sono lo </a:t>
            </a:r>
            <a:r>
              <a:rPr sz="1400" b="1">
                <a:solidFill>
                  <a:srgbClr val="3FB950"/>
                </a:solidFill>
                <a:latin typeface="Segoe UI"/>
              </a:rPr>
              <a:t>stato operativo up/down delle 6 interfacce di uscita</a:t>
            </a:r>
            <a:r>
              <a:rPr sz="1400" b="0">
                <a:solidFill>
                  <a:srgbClr val="E6EDF3"/>
                </a:solidFill>
                <a:latin typeface="Segoe UI"/>
              </a:rPr>
              <a:t>: il segnale centrale del fast-reroute — quale next-hop è disponibile adesso. </a:t>
            </a:r>
            <a:r>
              <a:rPr sz="1400" b="0">
                <a:solidFill>
                  <a:srgbClr val="8B949E"/>
                </a:solidFill>
                <a:latin typeface="Segoe UI"/>
              </a:rPr>
              <a:t>Prima erano sempre 0 (il modello non vedeva mai un guasto); ora sono popolate dal carrier reale.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00400"/>
            <a:ext cx="2439162" cy="100584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731519" y="3246120"/>
            <a:ext cx="2256282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1" y="3255264"/>
            <a:ext cx="2292858" cy="9509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/sys/.../carrier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kernel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88386" y="34747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3290" y="3200400"/>
            <a:ext cx="2439162" cy="100584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3554730" y="3246120"/>
            <a:ext cx="2256282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36442" y="3255264"/>
            <a:ext cx="2292858" cy="9509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link_state_monitor.py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polling userspace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11596" y="34747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86500" y="3200400"/>
            <a:ext cx="2439162" cy="100584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6377940" y="3246120"/>
            <a:ext cx="2256282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59652" y="3255264"/>
            <a:ext cx="2292858" cy="9509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BPF_ARRAY link_state[6]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1=up 0=down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34806" y="34747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09710" y="3200400"/>
            <a:ext cx="2439162" cy="100584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9201150" y="3246120"/>
            <a:ext cx="2256282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82862" y="3255264"/>
            <a:ext cx="2292858" cy="9509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XDP feature[0..5]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inferenza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572000"/>
            <a:ext cx="5349240" cy="16002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96112" y="4773168"/>
            <a:ext cx="489204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Come è reso veritiero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thread legge /sys/class/net/ethX/carrier di ogni egress.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Scrive link_state[i] = 1 (up) / 0 (down) nella mappa condivisa.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programmi eBPF leggono il valore al pacchetto successivo, senza reload.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572000"/>
            <a:ext cx="5349240" cy="16002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73952" y="4773168"/>
            <a:ext cx="4892040" cy="1234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Effetto sull'inferenza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Link che cade → la sua feature va a 0 → l'argmax può scegliere un'altra uscita.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All'avvio la mappa è seed a tutti-up (baseline sana).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Unica map letta nell'inferenza di P1 (feature, non peso).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1 — Hardcoded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Pesi come costanti C, inferenza completamente srotolata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packet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dispatcher → model_&lt;id&gt;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1 tail call, pesi = letterali 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argmax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unrolled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112A14"/>
          </a:solidFill>
          <a:ln w="19050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3FB9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B950"/>
                </a:solidFill>
                <a:latin typeface="Consolas"/>
              </a:rPr>
              <a:t>switch(cls)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31937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319375" y="3364992"/>
            <a:ext cx="156362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1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47591" y="3364992"/>
            <a:ext cx="176479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047591" y="3364992"/>
            <a:ext cx="176479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0 lookup pesi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7697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76975" y="3364992"/>
            <a:ext cx="156362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168 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05191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05191" y="336499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3FB950"/>
                </a:solidFill>
                <a:latin typeface="Consolas"/>
              </a:rPr>
              <a:t>45 ns · 22.2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840480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6112" y="4041648"/>
            <a:ext cx="1046988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Come è implementata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dispatcher leggero estrae model_id ed esegue UNA tail call verso model_&lt;id&gt;: i pesi int8 restano letterali signed char nel sorgente C, zero lookup pesi.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Inferenza 65→4→4→7 completamente srotolata (nessun loop), nessuna map lookup per i pesi.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switch(iface) e uno switch(node) per model_&lt;id&gt;: evita l'esplosione dei rami nel verifier.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link_state[0..5] letto dalla mappa e sommato come ls_i * w[j,i] nei neuroni fc1.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 model_cache: era un residuo (gate is_valid + blob pesi mai usato) — rimosso, ora è hardcoded puro.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Testato: 2 model_id concorrenti REGISTRATI (stessa architettura 65-4-4-7) -- verifica il routing dispatcher-&gt;model_progs[model_id], PASS. Larghezza/profondita NON variano per modello in P1 (generatore C a costanti globali).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1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fc1 srotolato: pesi come costanti, link_state dalla mappa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9659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3FB950"/>
                </a:solidFill>
                <a:latin typeface="Segoe UI"/>
              </a:rPr>
              <a:t>generato in C (ebpf_program.py)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972" y="2583180"/>
            <a:ext cx="10424159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484F58"/>
                </a:solidFill>
                <a:latin typeface="Consolas"/>
              </a:rPr>
              <a:t>/* </a:t>
            </a:r>
            <a:r>
              <a:rPr sz="1100" b="0" dirty="0" err="1">
                <a:solidFill>
                  <a:srgbClr val="484F58"/>
                </a:solidFill>
                <a:latin typeface="Consolas"/>
              </a:rPr>
              <a:t>link_state</a:t>
            </a:r>
            <a:r>
              <a:rPr sz="1100" b="0" dirty="0">
                <a:solidFill>
                  <a:srgbClr val="484F58"/>
                </a:solidFill>
                <a:latin typeface="Consolas"/>
              </a:rPr>
              <a:t>[0..5] </a:t>
            </a:r>
            <a:r>
              <a:rPr sz="1100" b="0" dirty="0" err="1">
                <a:solidFill>
                  <a:srgbClr val="484F58"/>
                </a:solidFill>
                <a:latin typeface="Consolas"/>
              </a:rPr>
              <a:t>letti</a:t>
            </a:r>
            <a:r>
              <a:rPr sz="1100" b="0" dirty="0">
                <a:solidFill>
                  <a:srgbClr val="484F58"/>
                </a:solidFill>
                <a:latin typeface="Consolas"/>
              </a:rPr>
              <a:t> </a:t>
            </a:r>
            <a:r>
              <a:rPr sz="1100" b="0" dirty="0" err="1">
                <a:solidFill>
                  <a:srgbClr val="484F58"/>
                </a:solidFill>
                <a:latin typeface="Consolas"/>
              </a:rPr>
              <a:t>dalla</a:t>
            </a:r>
            <a:r>
              <a:rPr sz="1100" b="0" dirty="0">
                <a:solidFill>
                  <a:srgbClr val="484F58"/>
                </a:solidFill>
                <a:latin typeface="Consolas"/>
              </a:rPr>
              <a:t> </a:t>
            </a:r>
            <a:r>
              <a:rPr sz="1100" b="0" dirty="0" err="1">
                <a:solidFill>
                  <a:srgbClr val="484F58"/>
                </a:solidFill>
                <a:latin typeface="Consolas"/>
              </a:rPr>
              <a:t>mappa</a:t>
            </a:r>
            <a:r>
              <a:rPr sz="1100" b="0" dirty="0">
                <a:solidFill>
                  <a:srgbClr val="484F58"/>
                </a:solidFill>
                <a:latin typeface="Consolas"/>
              </a:rPr>
              <a:t> (feature, non </a:t>
            </a:r>
            <a:r>
              <a:rPr sz="1100" b="0" dirty="0" err="1">
                <a:solidFill>
                  <a:srgbClr val="484F58"/>
                </a:solidFill>
                <a:latin typeface="Consolas"/>
              </a:rPr>
              <a:t>pesi</a:t>
            </a:r>
            <a:r>
              <a:rPr sz="1100" b="0" dirty="0">
                <a:solidFill>
                  <a:srgbClr val="484F58"/>
                </a:solidFill>
                <a:latin typeface="Consolas"/>
              </a:rPr>
              <a:t>)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lk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=0; 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lp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=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link_state.lookup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(&amp;_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lk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); if (_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lp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) ls0=(long long)(*_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lp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8B949E"/>
                </a:solidFill>
                <a:latin typeface="Consolas"/>
              </a:rPr>
              <a:t>...  ls5 = </a:t>
            </a:r>
            <a:r>
              <a:rPr sz="1100" b="0" dirty="0" err="1">
                <a:solidFill>
                  <a:srgbClr val="8B949E"/>
                </a:solidFill>
                <a:latin typeface="Consolas"/>
              </a:rPr>
              <a:t>link_state</a:t>
            </a:r>
            <a:r>
              <a:rPr sz="1100" b="0" dirty="0">
                <a:solidFill>
                  <a:srgbClr val="8B949E"/>
                </a:solidFill>
                <a:latin typeface="Consolas"/>
              </a:rPr>
              <a:t>[5]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 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484F58"/>
                </a:solidFill>
                <a:latin typeface="Consolas"/>
              </a:rPr>
              <a:t>/* </a:t>
            </a:r>
            <a:r>
              <a:rPr sz="1100" b="0" dirty="0" err="1">
                <a:solidFill>
                  <a:srgbClr val="484F58"/>
                </a:solidFill>
                <a:latin typeface="Consolas"/>
              </a:rPr>
              <a:t>neurone</a:t>
            </a:r>
            <a:r>
              <a:rPr sz="1100" b="0" dirty="0">
                <a:solidFill>
                  <a:srgbClr val="484F58"/>
                </a:solidFill>
                <a:latin typeface="Consolas"/>
              </a:rPr>
              <a:t> fc1: </a:t>
            </a:r>
            <a:r>
              <a:rPr sz="1100" b="0" dirty="0" err="1">
                <a:solidFill>
                  <a:srgbClr val="484F58"/>
                </a:solidFill>
                <a:latin typeface="Consolas"/>
              </a:rPr>
              <a:t>pesi</a:t>
            </a:r>
            <a:r>
              <a:rPr sz="1100" b="0" dirty="0">
                <a:solidFill>
                  <a:srgbClr val="484F58"/>
                </a:solidFill>
                <a:latin typeface="Consolas"/>
              </a:rPr>
              <a:t> come </a:t>
            </a:r>
            <a:r>
              <a:rPr sz="1100" b="0" dirty="0" err="1">
                <a:solidFill>
                  <a:srgbClr val="484F58"/>
                </a:solidFill>
                <a:latin typeface="Consolas"/>
              </a:rPr>
              <a:t>letterali</a:t>
            </a:r>
            <a:r>
              <a:rPr sz="1100" b="0" dirty="0">
                <a:solidFill>
                  <a:srgbClr val="484F58"/>
                </a:solidFill>
                <a:latin typeface="Consolas"/>
              </a:rPr>
              <a:t> C, </a:t>
            </a:r>
            <a:r>
              <a:rPr sz="1100" b="0" dirty="0" err="1">
                <a:solidFill>
                  <a:srgbClr val="484F58"/>
                </a:solidFill>
                <a:latin typeface="Consolas"/>
              </a:rPr>
              <a:t>nessuna</a:t>
            </a:r>
            <a:r>
              <a:rPr sz="1100" b="0" dirty="0">
                <a:solidFill>
                  <a:srgbClr val="484F58"/>
                </a:solidFill>
                <a:latin typeface="Consolas"/>
              </a:rPr>
              <a:t> lookup </a:t>
            </a:r>
            <a:r>
              <a:rPr sz="1100" b="0" dirty="0" err="1">
                <a:solidFill>
                  <a:srgbClr val="484F58"/>
                </a:solidFill>
                <a:latin typeface="Consolas"/>
              </a:rPr>
              <a:t>pesi</a:t>
            </a:r>
            <a:r>
              <a:rPr sz="1100" b="0" dirty="0">
                <a:solidFill>
                  <a:srgbClr val="484F58"/>
                </a:solidFill>
                <a:latin typeface="Consolas"/>
              </a:rPr>
              <a:t>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long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long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h1_0 = RELU_LL( (__s64)_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ttl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* 12LL + w_iface_0 + w_node_0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3FB950"/>
                </a:solidFill>
                <a:latin typeface="Consolas"/>
              </a:rPr>
              <a:t>        + ls0*-7LL + ls1*3LL + ls2*0LL + ls3*5LL + ls4*-2LL + ls5*1LL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        + 4LL );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92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Perché così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static const array indicizzati da variabili runtime: il verifier rifiuta (relocation → 0).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Soluzione: uno switch unico per iface e per node, scalari su stack.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4544568"/>
            <a:ext cx="4892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Costo dell'update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Cambiare modello = rigenera il C, ricompila con LLVM, ricarica XDP.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 hot-swap: massima specializzazione, minima flessibilità.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2 — Template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Un programma per forma architetturale, pesi letti da mappa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packet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dispatcher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registry[id]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arch_generic_2layer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1 prog / n_h1,n_h2 runtime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arch_weights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BPF_ARRAY int8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67915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067915" y="3364992"/>
            <a:ext cx="156362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1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796131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796131" y="336499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150 lookup / pkt (reale)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27851" y="3364992"/>
            <a:ext cx="166420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127851" y="3364992"/>
            <a:ext cx="166420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7.9 KB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56651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956651" y="336499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5A623"/>
                </a:solidFill>
                <a:latin typeface="Consolas"/>
              </a:rPr>
              <a:t>411 ns · 2.43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3840480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96112" y="4041648"/>
            <a:ext cx="1046988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Come è implementata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programma per l’intera famiglia "2 hidden layer" (arch_generic_2layer): input/output fissi dal protocollo (65/7).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Le larghezze n_h1/n_h2 sono lette a runtime da arch_registry, fino al tetto compilato T2_MAX_H1/T2_MAX_H2 -- nessuna ricompilazione per un modello piu largo o stretto.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pesi int8 stanno in arch_weights (BPF_ARRAY), letti a runtime con lookup su offset calcolato da n_h1/n_h2.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link_state[0..5] letto nel loop fc1: acc += link_state[i] * arch_weights[woff + j*65 + i].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Aggiornamento modello/larghezza = load_arch_weights() sui pesi. Nessuna ricompilazione, nessun reload.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Testato: model_id=0 reale 65-4-4-7 + model_id=1 sintetico 65-6-5-7 (larghezza diversa, stessa profondita 2 hidden layer) REGISTRATI INSIEME, stesso programma compilato -- PASS.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2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Prodotto scalare sparso via lookup su BPF_ARRAY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96596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5A623"/>
                </a:solidFill>
                <a:latin typeface="Segoe UI"/>
              </a:rPr>
              <a:t>arch_generic_2layer (ebpf_template_arch.py) -- semplificato, n_h1/n_h2 runtime fino a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8972" y="2629689"/>
            <a:ext cx="10424159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for (j = 0; j &lt; 4;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j++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) {          /*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neuroni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fc1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8B949E"/>
                </a:solidFill>
                <a:latin typeface="Consolas"/>
              </a:rPr>
              <a:t>    acc = bias(j);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    acc +=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ttl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 * W[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woff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+ j*65 + 12];      /* TTL  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3FB950"/>
                </a:solidFill>
                <a:latin typeface="Consolas"/>
              </a:rPr>
              <a:t>    for (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 = 0;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 &lt; 6;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++)                 /*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link_state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 [0..5]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3FB950"/>
                </a:solidFill>
                <a:latin typeface="Consolas"/>
              </a:rPr>
              <a:t>        acc +=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link_state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] * W[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woff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 + j*65 +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    acc += W[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iface_idx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];  acc += W[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node_idx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8B949E"/>
                </a:solidFill>
                <a:latin typeface="Consolas"/>
              </a:rPr>
              <a:t>    h1[j] = RELU(acc);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E6EDF3"/>
                </a:solidFill>
                <a:latin typeface="Consolas"/>
              </a:rPr>
              <a:t>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4544568"/>
            <a:ext cx="4892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Perché la mappa va bene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BPF_ARRAY è un oggetto kernel registrato: l'indice aritmetico è sicuro per il verifier.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Niente relocation, niente puntatori non risolti.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343400"/>
            <a:ext cx="5349240" cy="173736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4544568"/>
            <a:ext cx="489204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Flessibilità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pesi si cambiano a runtime senza toccare il codice eBPF.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 (476 ns): tra P1 hardcoded e P3 modular.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3 — Modular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Rete scomposta in layer, stato intermedio in scratch PERCPU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194560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dispatcher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scrive feature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layer_first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sparso, n_out runtime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layer_hidden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denso, n_in/n_out runtime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48840"/>
            <a:ext cx="1874520" cy="1051560"/>
          </a:xfrm>
          <a:prstGeom prst="roundRect">
            <a:avLst/>
          </a:prstGeom>
          <a:solidFill>
            <a:srgbClr val="2A1211"/>
          </a:solidFill>
          <a:ln w="19050">
            <a:solidFill>
              <a:srgbClr val="F8514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194560"/>
            <a:ext cx="1691640" cy="64008"/>
          </a:xfrm>
          <a:prstGeom prst="roundRect">
            <a:avLst/>
          </a:prstGeom>
          <a:solidFill>
            <a:srgbClr val="F851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85149"/>
                </a:solidFill>
                <a:latin typeface="Consolas"/>
              </a:rPr>
              <a:t>layer_hidden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ultimo layer, argmax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46020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4884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194560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0370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azione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967331" y="3364992"/>
            <a:ext cx="1563624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967331" y="3364992"/>
            <a:ext cx="1563624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3 tail call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95547" y="3364992"/>
            <a:ext cx="2167128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95547" y="3364992"/>
            <a:ext cx="216712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163 lookup / pkt (reale)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27267" y="3364992"/>
            <a:ext cx="176479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027267" y="3364992"/>
            <a:ext cx="176479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E6EDF3"/>
                </a:solidFill>
                <a:latin typeface="Consolas"/>
              </a:rPr>
              <a:t>16.5 KB mappe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956651" y="3364992"/>
            <a:ext cx="2267712" cy="384048"/>
          </a:xfrm>
          <a:prstGeom prst="round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956651" y="3364992"/>
            <a:ext cx="2267712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85149"/>
                </a:solidFill>
                <a:latin typeface="Consolas"/>
              </a:rPr>
              <a:t>738 ns · 1.36 Mpps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13231" y="4050792"/>
            <a:ext cx="10927080" cy="22860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69263" y="4123944"/>
            <a:ext cx="10469880" cy="1920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 dirty="0">
                <a:solidFill>
                  <a:srgbClr val="F85149"/>
                </a:solidFill>
                <a:latin typeface="Segoe UI"/>
              </a:rPr>
              <a:t>Come è </a:t>
            </a:r>
            <a:r>
              <a:rPr sz="1350" b="1" dirty="0" err="1">
                <a:solidFill>
                  <a:srgbClr val="F85149"/>
                </a:solidFill>
                <a:latin typeface="Segoe UI"/>
              </a:rPr>
              <a:t>implementata</a:t>
            </a:r>
            <a:endParaRPr sz="1350" b="1" dirty="0">
              <a:solidFill>
                <a:srgbClr val="F85149"/>
              </a:solidFill>
              <a:latin typeface="Segoe UI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Due soli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generici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layer_first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(hop 0,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lettura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sparsa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del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vettore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65-feature)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layer_hidden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(hop 1..N-1,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denso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n_in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-&gt;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n_out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 -- non uno per layer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fisso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sono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dinamiche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layer_registry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/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layer_shapes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dicono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 runtime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quanti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layer ha il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la forma di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ciascuno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“Ultimo layer” e'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deciso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dai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dati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(layer_idx+1==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n_layers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), non da quale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occupa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lo slot di tail-call --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con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diverse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condividono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lo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stesso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chain senza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conflitti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N tail call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reali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per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pacchetto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dipende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dalla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del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modello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);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l’ultimo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hop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calcola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argmax -&gt;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mac_table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[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classe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] -&gt;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bpf_redirect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Aggiornamento =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load_modular_weights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() scrive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pesi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+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layer_shapes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+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layer_registry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(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nuova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lista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layer): cambia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senza reload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dei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2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eBPF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 dirty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Testato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: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=0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reale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65-4-4-7 (3 layer) +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model_id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=1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sintetico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65-5-6-4-7 (4 layer,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larghezza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E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profondita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diverse) REGISTRATI INSIEME,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stessi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2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programmi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</a:t>
            </a:r>
            <a:r>
              <a:rPr sz="1100" b="0" dirty="0" err="1">
                <a:solidFill>
                  <a:srgbClr val="8B949E"/>
                </a:solidFill>
                <a:latin typeface="Segoe UI"/>
              </a:rPr>
              <a:t>compilati</a:t>
            </a:r>
            <a:r>
              <a:rPr sz="1100" b="0" dirty="0">
                <a:solidFill>
                  <a:srgbClr val="8B949E"/>
                </a:solidFill>
                <a:latin typeface="Segoe UI"/>
              </a:rPr>
              <a:t> -- PASS.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Pipeline 3 — il codice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Il dispatcher scrive le feature; i layer leggono lo scratch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10927080" cy="1828800"/>
          </a:xfrm>
          <a:prstGeom prst="roundRect">
            <a:avLst/>
          </a:prstGeom>
          <a:solidFill>
            <a:srgbClr val="0A0E14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13432"/>
            <a:ext cx="1046988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>
                <a:solidFill>
                  <a:srgbClr val="F85149"/>
                </a:solidFill>
                <a:latin typeface="Segoe UI"/>
              </a:rPr>
              <a:t>modular_dispatcher + layer_first (ebpf_modular.py)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3767" y="2583181"/>
            <a:ext cx="10424159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8B949E"/>
                </a:solidFill>
                <a:latin typeface="Consolas"/>
              </a:rPr>
              <a:t>/* </a:t>
            </a:r>
            <a:r>
              <a:rPr sz="1100" b="0" dirty="0" err="1">
                <a:solidFill>
                  <a:srgbClr val="8B949E"/>
                </a:solidFill>
                <a:latin typeface="Consolas"/>
              </a:rPr>
              <a:t>modular_dispatcher</a:t>
            </a:r>
            <a:r>
              <a:rPr sz="1100" b="0" dirty="0">
                <a:solidFill>
                  <a:srgbClr val="8B949E"/>
                </a:solidFill>
                <a:latin typeface="Consolas"/>
              </a:rPr>
              <a:t>: niente array </a:t>
            </a:r>
            <a:r>
              <a:rPr sz="1100" b="0" dirty="0" err="1">
                <a:solidFill>
                  <a:srgbClr val="8B949E"/>
                </a:solidFill>
                <a:latin typeface="Consolas"/>
              </a:rPr>
              <a:t>denso</a:t>
            </a:r>
            <a:r>
              <a:rPr sz="1100" b="0" dirty="0">
                <a:solidFill>
                  <a:srgbClr val="8B949E"/>
                </a:solidFill>
                <a:latin typeface="Consolas"/>
              </a:rPr>
              <a:t>, solo 5 slot meta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 err="1">
                <a:solidFill>
                  <a:srgbClr val="3FB950"/>
                </a:solidFill>
                <a:latin typeface="Consolas"/>
              </a:rPr>
              <a:t>scratch_meta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[MODEL_ID]=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model_id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;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scratch_meta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[SCALE]=scale;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scratch_meta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[LAYER_IDX]=0;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 err="1">
                <a:solidFill>
                  <a:srgbClr val="3FB950"/>
                </a:solidFill>
                <a:latin typeface="Consolas"/>
              </a:rPr>
              <a:t>scratch_meta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[INGRESS_IF]=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ifidx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; 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scratch_meta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[TTL]=</a:t>
            </a:r>
            <a:r>
              <a:rPr sz="1100" b="0" dirty="0" err="1">
                <a:solidFill>
                  <a:srgbClr val="3FB950"/>
                </a:solidFill>
                <a:latin typeface="Consolas"/>
              </a:rPr>
              <a:t>ttl</a:t>
            </a:r>
            <a:r>
              <a:rPr sz="1100" b="0" dirty="0">
                <a:solidFill>
                  <a:srgbClr val="3FB950"/>
                </a:solidFill>
                <a:latin typeface="Consolas"/>
              </a:rPr>
              <a:t>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 err="1">
                <a:solidFill>
                  <a:srgbClr val="E6EDF3"/>
                </a:solidFill>
                <a:latin typeface="Consolas"/>
              </a:rPr>
              <a:t>layer_chain.call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(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ctx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, 0);              /* tail call -&gt; </a:t>
            </a:r>
            <a:r>
              <a:rPr sz="1100" b="0" dirty="0" err="1">
                <a:solidFill>
                  <a:srgbClr val="E6EDF3"/>
                </a:solidFill>
                <a:latin typeface="Consolas"/>
              </a:rPr>
              <a:t>layer_first</a:t>
            </a:r>
            <a:r>
              <a:rPr sz="1100" b="0" dirty="0">
                <a:solidFill>
                  <a:srgbClr val="E6EDF3"/>
                </a:solidFill>
                <a:latin typeface="Consolas"/>
              </a:rPr>
              <a:t>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F5A623"/>
                </a:solidFill>
                <a:latin typeface="Consolas"/>
              </a:rPr>
              <a:t>/*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layer_first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: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lettura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sparsa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 (come P2), NON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denso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su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 65 */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F5A623"/>
                </a:solidFill>
                <a:latin typeface="Consolas"/>
              </a:rPr>
              <a:t>acc = bias(j)+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ttl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*W[..+12]+sum(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link_state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[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]*W[..+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i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])+W[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iface_idx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]+W[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node_idx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];</a:t>
            </a:r>
          </a:p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100"/>
              </a:spcAft>
            </a:pPr>
            <a:r>
              <a:rPr sz="1100" b="0" dirty="0">
                <a:solidFill>
                  <a:srgbClr val="F5A623"/>
                </a:solidFill>
                <a:latin typeface="Consolas"/>
              </a:rPr>
              <a:t>if(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n_layers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==1) argmax(acc); else {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scratch_acts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[j]=RELU(acc); </a:t>
            </a:r>
            <a:r>
              <a:rPr sz="1100" b="0" dirty="0" err="1">
                <a:solidFill>
                  <a:srgbClr val="F5A623"/>
                </a:solidFill>
                <a:latin typeface="Consolas"/>
              </a:rPr>
              <a:t>layer_chain.call</a:t>
            </a:r>
            <a:r>
              <a:rPr sz="1100" b="0" dirty="0">
                <a:solidFill>
                  <a:srgbClr val="F5A623"/>
                </a:solidFill>
                <a:latin typeface="Consolas"/>
              </a:rPr>
              <a:t>(ctx,1); }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6112" y="4407407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scratch PERCPU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Ogni CPU ha la sua copia: nessun lock, nessuna contesa.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layer leggono/scrivono le attivazioni intermedie qui.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layout 65 feature è identico a P1/P2.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73952" y="4407407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Catena di tail call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dispatcher -&gt; layer_first (hop 0, sparso) -&gt; layer_hidden x (n_layers-1) (denso).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Cambiare architettura = cambiare layer_shapes/layer_registry (pesi + forma), MAI la sequenza dei tail-call: slot0=layer_first, slot1..15=layer_hidden sempre uguali.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flessibilita (profondita E larghezza dinamiche), al costo di N tail call per pacchetto (dipende dalla profondita del modello).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Dall'argmax all'azione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La NN decide la porta; mac_table risolve il next-hop — comune alle tre pipeline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94560"/>
            <a:ext cx="1874520" cy="1051560"/>
          </a:xfrm>
          <a:prstGeom prst="roundRect">
            <a:avLst/>
          </a:prstGeom>
          <a:solidFill>
            <a:srgbClr val="122A3A"/>
          </a:solidFill>
          <a:ln w="19050">
            <a:solidFill>
              <a:srgbClr val="58A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731519" y="2240279"/>
            <a:ext cx="1691640" cy="64008"/>
          </a:xfrm>
          <a:prstGeom prst="roundRect">
            <a:avLst/>
          </a:prstGeom>
          <a:solidFill>
            <a:srgbClr val="58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1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58A6FF"/>
                </a:solidFill>
                <a:latin typeface="Consolas"/>
              </a:rPr>
              <a:t>argmax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best_cls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23744" y="2491739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98648" y="219456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990088" y="2240279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971800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classe 0..5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porta / DROP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2491739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7216" y="2194560"/>
            <a:ext cx="1874520" cy="1051560"/>
          </a:xfrm>
          <a:prstGeom prst="roundRect">
            <a:avLst/>
          </a:prstGeom>
          <a:solidFill>
            <a:srgbClr val="2A200A"/>
          </a:solidFill>
          <a:ln w="1905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248656" y="2240279"/>
            <a:ext cx="1691640" cy="64008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230368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F5A623"/>
                </a:solidFill>
                <a:latin typeface="Consolas"/>
              </a:rPr>
              <a:t>mac_table[cls]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 + MAC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491739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15784" y="2194560"/>
            <a:ext cx="1874520" cy="1051560"/>
          </a:xfrm>
          <a:prstGeom prst="roundRect">
            <a:avLst/>
          </a:prstGeom>
          <a:solidFill>
            <a:srgbClr val="1B222E"/>
          </a:solidFill>
          <a:ln w="19050">
            <a:solidFill>
              <a:srgbClr val="E6EDF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507224" y="2240279"/>
            <a:ext cx="1691640" cy="64008"/>
          </a:xfrm>
          <a:prstGeom prst="roundRect">
            <a:avLst/>
          </a:prstGeom>
          <a:solidFill>
            <a:srgbClr val="E6ED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88936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E6EDF3"/>
                </a:solidFill>
                <a:latin typeface="Consolas"/>
              </a:rPr>
              <a:t>MAC rewrite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src/dst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9448" y="2491739"/>
            <a:ext cx="3657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>
                <a:solidFill>
                  <a:srgbClr val="F5A623"/>
                </a:solidFill>
                <a:latin typeface="Segoe UI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674352" y="2194560"/>
            <a:ext cx="1874520" cy="1051560"/>
          </a:xfrm>
          <a:prstGeom prst="roundRect">
            <a:avLst/>
          </a:prstGeom>
          <a:solidFill>
            <a:srgbClr val="112A22"/>
          </a:solidFill>
          <a:ln w="19050">
            <a:solidFill>
              <a:srgbClr val="3FD0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2240279"/>
            <a:ext cx="1691640" cy="64008"/>
          </a:xfrm>
          <a:prstGeom prst="roundRect">
            <a:avLst/>
          </a:prstGeom>
          <a:solidFill>
            <a:srgbClr val="3FD0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47504" y="2249424"/>
            <a:ext cx="1728216" cy="996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>
                <a:solidFill>
                  <a:srgbClr val="3FD0C8"/>
                </a:solidFill>
                <a:latin typeface="Consolas"/>
              </a:rPr>
              <a:t>bpf_redirect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8B949E"/>
                </a:solidFill>
                <a:latin typeface="Segoe UI"/>
              </a:rPr>
              <a:t>ifindex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94760"/>
            <a:ext cx="534924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96112" y="3995928"/>
            <a:ext cx="4892040" cy="1965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La NN decide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argmax sui 7 output → classe = porta di uscita (cls 6 = DROP).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 calcolo di chiave, nessuna validazione dell'output.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Ci si fida della decisione del modello (è il paradigma IPA).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3794760"/>
            <a:ext cx="5349240" cy="23317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73952" y="3995928"/>
            <a:ext cx="4892040" cy="1965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mac_table = dizionario porte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mac_table[classe] → {ifindex, src_mac, dst_mac}: single lookup.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Riscrive gli header Ethernet e fa bpf_redirect.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P1: mappa hardcoded in uno switch (0 lookup). P2/P3: mac_table.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Verifica nel kernel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BPF_PROG_TEST_RUN — indipendente dalla rete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108813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E6EDF3"/>
                </a:solidFill>
                <a:latin typeface="Segoe UI"/>
              </a:rPr>
              <a:t>Il fabric Kathara non consegna UDP:9999 end-to-end, quindi la correttezza si verifica caricando i programmi XDP reali ed eseguendo </a:t>
            </a:r>
            <a:r>
              <a:rPr sz="1400" b="1">
                <a:solidFill>
                  <a:srgbClr val="F5A623"/>
                </a:solidFill>
                <a:latin typeface="Consolas"/>
              </a:rPr>
              <a:t>BPF_PROG_TEST_RUN</a:t>
            </a:r>
            <a:r>
              <a:rPr sz="1400" b="0">
                <a:solidFill>
                  <a:srgbClr val="E6EDF3"/>
                </a:solidFill>
                <a:latin typeface="Segoe UI"/>
              </a:rPr>
              <a:t>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endParaRPr sz="1400" b="0">
              <a:solidFill>
                <a:srgbClr val="E6EDF3"/>
              </a:solidFill>
              <a:latin typeface="Segoe UI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Verifica </a:t>
            </a:r>
            <a:r>
              <a:rPr sz="1400" b="1">
                <a:solidFill>
                  <a:srgbClr val="3FD0C8"/>
                </a:solidFill>
                <a:latin typeface="Segoe UI"/>
              </a:rPr>
              <a:t>single-pass e uniforme</a:t>
            </a:r>
            <a:r>
              <a:rPr sz="1400" b="0">
                <a:solidFill>
                  <a:srgbClr val="8B949E"/>
                </a:solidFill>
                <a:latin typeface="Segoe UI"/>
              </a:rPr>
              <a:t> sulle 3 pipeline: pre-installa mac_table[0..5], esegue una volta e controlla che la classe scelta dal kernel = classe del riferimento Python.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Nessun ctx custom: sotto TEST_RUN il riferimento Python assume ingress_ifindex=0 per P1 (la sua ifindex_table non mappa il valore reale) e =1 per P2/P3 (clamp diretto sul valore osservato realmente dal kernel in sandbox). 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>
                <a:solidFill>
                  <a:srgbClr val="8B949E"/>
                </a:solidFill>
                <a:latin typeface="Segoe UI"/>
              </a:rPr>
              <a:t>Criterio di PASS: retval ∈ {0,4} (redirect) e cls_stats[ref_cls] &gt; 0.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4892040"/>
            <a:ext cx="10927080" cy="1051560"/>
          </a:xfrm>
          <a:prstGeom prst="roundRect">
            <a:avLst/>
          </a:prstGeom>
          <a:solidFill>
            <a:srgbClr val="112A14"/>
          </a:solidFill>
          <a:ln w="15875">
            <a:solidFill>
              <a:srgbClr val="3FB9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4892040"/>
            <a:ext cx="104241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3FB950"/>
                </a:solidFill>
                <a:latin typeface="Consolas"/>
              </a:rPr>
              <a:t>✓  3 pipeline · TTL 1–5 · 5/5 PASS ciascuna · pkt_stats HIT · kernel suite: PASS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Risultati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Metriche reali dal kernel (BPF_PROG_TEST_RUN, modello 65-4-4-7)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7701619"/>
              </p:ext>
            </p:extLst>
          </p:nvPr>
        </p:nvGraphicFramePr>
        <p:xfrm>
          <a:off x="640080" y="2011680"/>
          <a:ext cx="8586216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8B949E"/>
                          </a:solidFill>
                          <a:latin typeface="Segoe UI"/>
                        </a:rPr>
                        <a:t>Metrica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P1 hardcoded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P2 template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P3 modular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Istruzioni eBPF (xlated)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912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5 951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5 931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Codice jited (byte)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4 436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27 097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26 823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Tail calls / pacchetto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3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Map lookup / pkt (</a:t>
                      </a:r>
                      <a:r>
                        <a:rPr dirty="0" err="1">
                          <a:solidFill>
                            <a:schemeClr val="bg1"/>
                          </a:solidFill>
                        </a:rPr>
                        <a:t>reale</a:t>
                      </a:r>
                      <a:r>
                        <a:rPr dirty="0">
                          <a:solidFill>
                            <a:schemeClr val="bg1"/>
                          </a:solidFill>
                        </a:rPr>
                        <a:t>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8.0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150.0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163.0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Memoria mappe (byte)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168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8 072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16 904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Latenza (ns / pkt)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45.0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476.0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772.0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Throughput (Mpps)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22.222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2.101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1.295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CPU (%)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42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>
                          <a:solidFill>
                            <a:schemeClr val="bg1"/>
                          </a:solidFill>
                        </a:rPr>
                        <a:t>81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dirty="0">
                          <a:solidFill>
                            <a:schemeClr val="bg1"/>
                          </a:solidFill>
                        </a:rPr>
                        <a:t>69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509760" y="2011680"/>
            <a:ext cx="2057400" cy="33832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65792" y="2212848"/>
            <a:ext cx="160020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Lettura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 piu' veloce: 45 ns, 22.2 Mpps.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 piu' compatto: 168 B, 912 istr.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Tail call, map lookup, memoria e latenza crescono P1-&gt;P2-&gt;P3.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P2/P3 quasi stesse istruzioni statiche (~5.9k): il costo di P3 e' nei tail call (3 vs 1) e nei map lookup extra (163 vs 150), non nel codice.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927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mac_table: argmax -&gt; mac_table[classe] -&gt; bpf_redirect su tutte e 3 (P1 hardcoded via dispatcher + 1 tail call, 0 lookup sui pesi). L'inferenza é identica nelle 3 (classe kernel = riferimento Python); differisce solo il design. Ordine coerente con la tassonomia. Verificato anche multi-modello concorrente (2 model_id nello stesso oggetto BPF): P2/P3 con architetture DIVERSE (larghezza per P2, profonditá+larghezza per P3), 6/6 PASS.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Costo reale di aggiunta modello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bench_model_add.py — BPF_PROG_LOAD misurato, non stimato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11680"/>
          <a:ext cx="8586216" cy="22971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64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8B949E"/>
                          </a:solidFill>
                          <a:latin typeface="Segoe UI"/>
                        </a:rPr>
                        <a:t>Metrica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P1 hardcoded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P2 template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1">
                          <a:solidFill>
                            <a:srgbClr val="8B949E"/>
                          </a:solidFill>
                          <a:latin typeface="Consolas"/>
                        </a:rPr>
                        <a:t>P3 modular</a:t>
                      </a:r>
                    </a:p>
                  </a:txBody>
                  <a:tcPr marL="109728" marR="73152" marT="18288" marB="18288" anchor="ctr"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Setup one-time (ms)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n/d (nel costo add)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2 137.812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2 425.498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Mean add (ms)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1 893.448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2.143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2.801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Min add (ms)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1 420.993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1.395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1.802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Max add (ms)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2 829.601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2.656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4.454</a:t>
                      </a:r>
                    </a:p>
                  </a:txBody>
                  <a:tcPr marL="109728" marR="73152" marT="18288" marB="18288" anchor="ctr">
                    <a:solidFill>
                      <a:srgbClr val="0D111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5920">
                <a:tc>
                  <a:txBody>
                    <a:bodyPr/>
                    <a:lstStyle/>
                    <a:p>
                      <a:pPr algn="l"/>
                      <a:r>
                        <a:rPr sz="1250" b="1">
                          <a:solidFill>
                            <a:srgbClr val="E6EDF3"/>
                          </a:solidFill>
                          <a:latin typeface="Segoe UI"/>
                        </a:rPr>
                        <a:t>Stdev add (ms)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661.970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0.540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 b="0">
                          <a:solidFill>
                            <a:srgbClr val="E6EDF3"/>
                          </a:solidFill>
                          <a:latin typeface="Consolas"/>
                        </a:rPr>
                        <a:t>1.177</a:t>
                      </a:r>
                    </a:p>
                  </a:txBody>
                  <a:tcPr marL="109728" marR="73152" marT="18288" marB="18288" anchor="ctr">
                    <a:solidFill>
                      <a:srgbClr val="1B22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509760" y="2011680"/>
            <a:ext cx="2057400" cy="338328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765792" y="2212848"/>
            <a:ext cx="1600200" cy="3017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D0C8"/>
                </a:solidFill>
                <a:latin typeface="Segoe UI"/>
              </a:rPr>
              <a:t>Lettura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hardcoded ~700–900× più lento per modello aggiunto.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template/modular: solo bpf_map_update_elem.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setup one-time pagato una sola volta.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D0C8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conferma: più flessibilità = update più economico.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577840"/>
            <a:ext cx="10927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5A623"/>
                </a:solidFill>
                <a:latin typeface="Segoe UI"/>
              </a:rPr>
              <a:t>Metodologia: </a:t>
            </a:r>
            <a:r>
              <a:rPr sz="1200" b="0">
                <a:solidFill>
                  <a:srgbClr val="8B949E"/>
                </a:solidFill>
                <a:latin typeface="Segoe UI"/>
              </a:rPr>
              <a:t>shared/bench_model_add.py registra 3 model_id concorrenti con offset non sovrapposti in arch_weights (template) / layer_weights (modular), eseguito in Kathara con root+BCC. hardcoded rigenera il sorgente C e ricompila/ricarica il programma ad ogni modello (nessuna via incrementale per design); template/modular caricano il programma XDP una sola volta e poi scrivono solo la mappa dei pesi (bpf_map_update_elem).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link_state nelle tre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Stessa mappa, tre modi di leggerla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352044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04288"/>
            <a:ext cx="306324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—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6 lookup link_state[i] all'inizio dell'inferenza.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Sommati come ls_i * w[j,i] con w letterali C.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Unica mappa letta: è input, non peso.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Design hardcoded puro preservato.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2103120"/>
            <a:ext cx="352044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0" y="2304288"/>
            <a:ext cx="306324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—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Lookup link_state[i] nel loop fc1.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Prodotto con arch_weights[woff + j*65 + i].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Stessa mappa, pesi separati in BPF_ARRAY.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Nessuna ricompilazione per l'update.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566160" cy="320040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57031" y="2304288"/>
            <a:ext cx="3108960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—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Il dispatcher copia link_state[0..5] in scratch_acts.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 layer-block la trattano come qualunque attivazione.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La feature attraversa la catena di tail call.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uniformità del datapath.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532120"/>
            <a:ext cx="10927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E6EDF3"/>
                </a:solidFill>
                <a:latin typeface="Segoe UI"/>
              </a:rPr>
              <a:t>Un unico monitor userspace </a:t>
            </a:r>
            <a:r>
              <a:rPr sz="1300" b="1">
                <a:solidFill>
                  <a:srgbClr val="3FD0C8"/>
                </a:solidFill>
                <a:latin typeface="Consolas"/>
              </a:rPr>
              <a:t>(link_state_monitor.py)</a:t>
            </a:r>
            <a:r>
              <a:rPr sz="1300" b="0">
                <a:solidFill>
                  <a:srgbClr val="8B949E"/>
                </a:solidFill>
                <a:latin typeface="Segoe UI"/>
              </a:rPr>
              <a:t> alimenta la stessa mappa condivisa: il fast-reroute reagisce ai guasti indipendentemente dalla pipeline scelta.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928" y="384048"/>
            <a:ext cx="1097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F5A623"/>
                </a:solidFill>
                <a:latin typeface="Georgia"/>
              </a:rP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365760"/>
            <a:ext cx="98755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E6EDF3"/>
                </a:solidFill>
                <a:latin typeface="Georgia"/>
              </a:rPr>
              <a:t>I vincoli del verifier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27632" y="1024128"/>
            <a:ext cx="9875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0">
                <a:solidFill>
                  <a:srgbClr val="8B949E"/>
                </a:solidFill>
                <a:latin typeface="Segoe UI"/>
              </a:rPr>
              <a:t>Perché il codice ha questa forma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96112" y="2350008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No array statici indicizzati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static const indicizzato da variabile runtime → relocation fallisce, l'accesso collassa a 0.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P1: uno switch(iface) e uno switch(node) unici, scalari su stack.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488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73952" y="2350008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No esplosione dei rami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switch per-neurone → O((7·52)^neuroni) percorsi: il verifier si arrende.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Un solo switch che assegna il contributo di tutti i neuroni insieme: O(7+52).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96112" y="4407407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Protocollo per offset assoluto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ip-&gt;protocol come bitfield si sballa con header minimali BCC/Kathara.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Letto all'offset RFC 791 (byte 9); UDP header via ihl*4.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4206240"/>
            <a:ext cx="5349240" cy="1874519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73952" y="4407407"/>
            <a:ext cx="48920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Pesi come byte unsigned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BCC vecchio non risolve il leaf signed char in alcune mappe.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Storage __u8, cast a __s8 prima dell'aritmetica (bit pattern identico).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Hexagon 2"/>
          <p:cNvSpPr/>
          <p:nvPr/>
        </p:nvSpPr>
        <p:spPr>
          <a:xfrm rot="5400000">
            <a:off x="10881360" y="502920"/>
            <a:ext cx="1005840" cy="905256"/>
          </a:xfrm>
          <a:prstGeom prst="hexagon">
            <a:avLst/>
          </a:prstGeom>
          <a:noFill/>
          <a:ln w="15875">
            <a:solidFill>
              <a:srgbClr val="484F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Hexagon 3"/>
          <p:cNvSpPr/>
          <p:nvPr/>
        </p:nvSpPr>
        <p:spPr>
          <a:xfrm rot="5400000">
            <a:off x="11430000" y="1097280"/>
            <a:ext cx="1005840" cy="905256"/>
          </a:xfrm>
          <a:prstGeom prst="hexagon">
            <a:avLst/>
          </a:prstGeom>
          <a:noFill/>
          <a:ln w="15875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10058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>
                <a:solidFill>
                  <a:srgbClr val="E6EDF3"/>
                </a:solidFill>
                <a:latin typeface="Georgia"/>
              </a:rPr>
              <a:t>Il costo della flessibilità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463040"/>
            <a:ext cx="106984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>
                <a:solidFill>
                  <a:srgbClr val="8B949E"/>
                </a:solidFill>
                <a:latin typeface="Segoe UI"/>
              </a:rPr>
              <a:t>Aumentando la flessibilità: più tail call, più map lookup, più istruzioni — meno prestazioni di picco.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68880"/>
            <a:ext cx="352044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96112" y="2670048"/>
            <a:ext cx="30632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3FB950"/>
                </a:solidFill>
                <a:latin typeface="Segoe UI"/>
              </a:rPr>
              <a:t>P1 Hardcoded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ricompila + ricarica XDP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Datapath: massima specializzazione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3FB950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Memoria mappe minima (puro)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2468880"/>
            <a:ext cx="352044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72000" y="2670048"/>
            <a:ext cx="30632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5A623"/>
                </a:solidFill>
                <a:latin typeface="Segoe UI"/>
              </a:rPr>
              <a:t>P2 Template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bpf_map_update_elem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Prestazioni intermedie (287 ns)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5A623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Buon compromesso pratico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01000" y="2468880"/>
            <a:ext cx="3566160" cy="2103120"/>
          </a:xfrm>
          <a:prstGeom prst="roundRect">
            <a:avLst/>
          </a:prstGeom>
          <a:solidFill>
            <a:srgbClr val="1B222E"/>
          </a:solidFill>
          <a:ln w="12700">
            <a:solidFill>
              <a:srgbClr val="3036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57031" y="2670048"/>
            <a:ext cx="310896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50" b="1">
                <a:solidFill>
                  <a:srgbClr val="F85149"/>
                </a:solidFill>
                <a:latin typeface="Segoe UI"/>
              </a:rPr>
              <a:t>P3 Modular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Update = hot-swap di un layer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Massima flessibilità runtime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100" b="0">
                <a:solidFill>
                  <a:srgbClr val="F85149"/>
                </a:solidFill>
                <a:latin typeface="Segoe UI"/>
              </a:rPr>
              <a:t>•  </a:t>
            </a:r>
            <a:r>
              <a:rPr sz="1100" b="0">
                <a:solidFill>
                  <a:srgbClr val="8B949E"/>
                </a:solidFill>
                <a:latin typeface="Segoe UI"/>
              </a:rPr>
              <a:t>Overhead: 3 tail call + scratch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892040"/>
            <a:ext cx="10927080" cy="1051560"/>
          </a:xfrm>
          <a:prstGeom prst="round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14400" y="4892040"/>
            <a:ext cx="1042416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D1117"/>
                </a:solidFill>
                <a:latin typeface="Georgia"/>
              </a:rPr>
              <a:t>Non esiste un'unica implementazione naturale: si sceglie quanto specializzare il modello nel datapath.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19088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484F58"/>
                </a:solidFill>
                <a:latin typeface="Consolas"/>
              </a:rPr>
              <a:t>IPA / eBPF · design space · P1 hardcoded · P2 template · P3 modular · link_state fast-reroute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3552</Words>
  <Application>Microsoft Office PowerPoint</Application>
  <PresentationFormat>Widescreen</PresentationFormat>
  <Paragraphs>390</Paragraphs>
  <Slides>18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18</vt:i4>
      </vt:variant>
    </vt:vector>
  </HeadingPairs>
  <TitlesOfParts>
    <vt:vector size="24" baseType="lpstr">
      <vt:lpstr>Arial</vt:lpstr>
      <vt:lpstr>Calibri</vt:lpstr>
      <vt:lpstr>Consolas</vt:lpstr>
      <vt:lpstr>Georgia</vt:lpstr>
      <vt:lpstr>Segoe UI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Ettore Cantile</cp:lastModifiedBy>
  <cp:revision>8</cp:revision>
  <dcterms:created xsi:type="dcterms:W3CDTF">2013-01-27T09:14:16Z</dcterms:created>
  <dcterms:modified xsi:type="dcterms:W3CDTF">2026-07-12T09:01:39Z</dcterms:modified>
  <cp:category/>
</cp:coreProperties>
</file>