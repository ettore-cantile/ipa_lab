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exagon 2"/>
          <p:cNvSpPr/>
          <p:nvPr/>
        </p:nvSpPr>
        <p:spPr>
          <a:xfrm rot="5400000">
            <a:off x="10698480" y="457200"/>
            <a:ext cx="1051560" cy="946403"/>
          </a:xfrm>
          <a:prstGeom prst="hexagon">
            <a:avLst/>
          </a:prstGeom>
          <a:noFill/>
          <a:ln w="15875">
            <a:solidFill>
              <a:srgbClr val="484F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Hexagon 3"/>
          <p:cNvSpPr/>
          <p:nvPr/>
        </p:nvSpPr>
        <p:spPr>
          <a:xfrm rot="5400000">
            <a:off x="11292840" y="1051560"/>
            <a:ext cx="1051560" cy="946403"/>
          </a:xfrm>
          <a:prstGeom prst="hexagon">
            <a:avLst/>
          </a:prstGeom>
          <a:noFill/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Hexagon 4"/>
          <p:cNvSpPr/>
          <p:nvPr/>
        </p:nvSpPr>
        <p:spPr>
          <a:xfrm rot="5400000">
            <a:off x="10104120" y="1645920"/>
            <a:ext cx="1051560" cy="946403"/>
          </a:xfrm>
          <a:prstGeom prst="hexagon">
            <a:avLst/>
          </a:prstGeom>
          <a:noFill/>
          <a:ln w="15875">
            <a:solidFill>
              <a:srgbClr val="484F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85800" y="1965960"/>
            <a:ext cx="822960" cy="82296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5960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0D1117"/>
                </a:solidFill>
                <a:latin typeface="Segoe UI"/>
              </a:rPr>
              <a:t>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80360"/>
            <a:ext cx="10058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5400" b="1">
                <a:solidFill>
                  <a:srgbClr val="E6EDF3"/>
                </a:solidFill>
                <a:latin typeface="Georgia"/>
              </a:rPr>
              <a:t>IPA / eBPF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977639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F5A623"/>
                </a:solidFill>
                <a:latin typeface="Consolas"/>
              </a:rPr>
              <a:t>Tre pipeline di inferenza neurale nel datapath XDP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709160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8B949E"/>
                </a:solidFill>
                <a:latin typeface="Segoe UI"/>
              </a:rPr>
              <a:t>Lo stesso modello nel kernel Linux in tre modi: dal codice specializzato ai moduli riusabili —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8B949E"/>
                </a:solidFill>
                <a:latin typeface="Segoe UI"/>
              </a:rPr>
              <a:t>un trade-off tra prestazioni di picco e flessibilità runtime.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989320"/>
            <a:ext cx="11338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FB950"/>
                </a:solidFill>
                <a:latin typeface="Consolas"/>
              </a:rPr>
              <a:t>P1 hardcoded</a:t>
            </a:r>
            <a:r>
              <a:rPr sz="1300" b="0">
                <a:solidFill>
                  <a:srgbClr val="484F58"/>
                </a:solidFill>
                <a:latin typeface="Consolas"/>
              </a:rPr>
              <a:t>   ·   </a:t>
            </a:r>
            <a:r>
              <a:rPr sz="1300" b="1">
                <a:solidFill>
                  <a:srgbClr val="F5A623"/>
                </a:solidFill>
                <a:latin typeface="Consolas"/>
              </a:rPr>
              <a:t>P2 template</a:t>
            </a:r>
            <a:r>
              <a:rPr sz="1300" b="0">
                <a:solidFill>
                  <a:srgbClr val="484F58"/>
                </a:solidFill>
                <a:latin typeface="Consolas"/>
              </a:rPr>
              <a:t>   ·   </a:t>
            </a:r>
            <a:r>
              <a:rPr sz="1300" b="1">
                <a:solidFill>
                  <a:srgbClr val="F85149"/>
                </a:solidFill>
                <a:latin typeface="Consolas"/>
              </a:rPr>
              <a:t>P3 modular</a:t>
            </a:r>
            <a:r>
              <a:rPr sz="1200" b="0">
                <a:solidFill>
                  <a:srgbClr val="484F58"/>
                </a:solidFill>
                <a:latin typeface="Consolas"/>
              </a:rPr>
              <a:t>      ·   XDP · BPF maps · tail call · int8 · link_state fast-reroute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Il design space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Un trade-off tra prestazioni e flessibilità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484632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E6EDF3"/>
                </a:solidFill>
                <a:latin typeface="Segoe UI"/>
              </a:rPr>
              <a:t>Lo stesso modello neurale può vivere nel datapath eBPF in </a:t>
            </a:r>
            <a:r>
              <a:rPr sz="1400" b="1">
                <a:solidFill>
                  <a:srgbClr val="F5A623"/>
                </a:solidFill>
                <a:latin typeface="Segoe UI"/>
              </a:rPr>
              <a:t>tre modi</a:t>
            </a:r>
            <a:r>
              <a:rPr sz="1400" b="0">
                <a:solidFill>
                  <a:srgbClr val="E6EDF3"/>
                </a:solidFill>
                <a:latin typeface="Segoe UI"/>
              </a:rPr>
              <a:t>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>
                <a:solidFill>
                  <a:srgbClr val="E6EDF3"/>
                </a:solidFill>
                <a:latin typeface="Segoe UI"/>
              </a:rPr>
              <a:t/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8B949E"/>
                </a:solidFill>
                <a:latin typeface="Segoe UI"/>
              </a:rPr>
              <a:t>Più si specializza il codice, più aumenta la velocità di picco ma diminuisce la flessibilità a runtime.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>
                <a:solidFill>
                  <a:srgbClr val="E6EDF3"/>
                </a:solidFill>
                <a:latin typeface="Segoe UI"/>
              </a:rPr>
              <a:t/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8B949E"/>
                </a:solidFill>
                <a:latin typeface="Segoe UI"/>
              </a:rPr>
              <a:t>Aumentando la flessibilità crescono tail call, map lookup e istruzioni eBPF; cala il throughput massimo.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06440" y="1965960"/>
            <a:ext cx="5760720" cy="132588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62472" y="2167128"/>
            <a:ext cx="5303520" cy="960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B950"/>
                </a:solidFill>
                <a:latin typeface="Segoe UI"/>
              </a:rPr>
              <a:t>P1 — Hardcoded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Massime prestazioni, minima flessibilità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1 programma eBPF per modello, pesi nel codice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06440" y="3429000"/>
            <a:ext cx="5760720" cy="132588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62472" y="3630168"/>
            <a:ext cx="5303520" cy="960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P2 — Template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Prestazioni intermedie, flessibilità media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1 programma per architettura, pesi in mappa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06440" y="4892040"/>
            <a:ext cx="5760720" cy="132588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62472" y="5093207"/>
            <a:ext cx="5303520" cy="960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85149"/>
                </a:solidFill>
                <a:latin typeface="Segoe UI"/>
              </a:rPr>
              <a:t>P3 — Modular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Massima flessibilità, prestazioni inferiori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1 programma per layer, stato in scratch map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1908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484F58"/>
                </a:solidFill>
                <a:latin typeface="Consolas"/>
              </a:rPr>
              <a:t>performance  ◀─────────────────▶  flessibilità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Architettura comune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Un pacchetto IPA su UDP, un hook XDP, un MLP int8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874520" cy="1051560"/>
          </a:xfrm>
          <a:prstGeom prst="roundRect">
            <a:avLst/>
          </a:prstGeom>
          <a:solidFill>
            <a:srgbClr val="122A3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19" y="2194560"/>
            <a:ext cx="1691640" cy="64008"/>
          </a:xfrm>
          <a:prstGeom prst="round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1" y="220370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58A6FF"/>
                </a:solidFill>
                <a:latin typeface="Consolas"/>
              </a:rPr>
              <a:t>UDP :9999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IPA header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23744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98648" y="2148840"/>
            <a:ext cx="1874520" cy="10515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E6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990088" y="2194560"/>
            <a:ext cx="1691640" cy="64008"/>
          </a:xfrm>
          <a:prstGeom prst="roundRect">
            <a:avLst/>
          </a:prstGeom>
          <a:solidFill>
            <a:srgbClr val="E6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71800" y="220370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EDF3"/>
                </a:solidFill>
                <a:latin typeface="Consolas"/>
              </a:rPr>
              <a:t>XDP hook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ingress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82312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57216" y="2148840"/>
            <a:ext cx="1874520" cy="1051560"/>
          </a:xfrm>
          <a:prstGeom prst="roundRect">
            <a:avLst/>
          </a:prstGeom>
          <a:solidFill>
            <a:srgbClr val="2A200A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248656" y="2194560"/>
            <a:ext cx="1691640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0368" y="220370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5A623"/>
                </a:solidFill>
                <a:latin typeface="Consolas"/>
              </a:rPr>
              <a:t>feature[65]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vettore sparso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15784" y="2148840"/>
            <a:ext cx="1874520" cy="1051560"/>
          </a:xfrm>
          <a:prstGeom prst="roundRect">
            <a:avLst/>
          </a:prstGeom>
          <a:solidFill>
            <a:srgbClr val="2A200A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507224" y="2194560"/>
            <a:ext cx="1691640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88936" y="220370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5A623"/>
                </a:solidFill>
                <a:latin typeface="Consolas"/>
              </a:rPr>
              <a:t>MLP int8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65-4-4-7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9448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74352" y="2148840"/>
            <a:ext cx="1874520" cy="1051560"/>
          </a:xfrm>
          <a:prstGeom prst="roundRect">
            <a:avLst/>
          </a:prstGeom>
          <a:solidFill>
            <a:srgbClr val="112A22"/>
          </a:solidFill>
          <a:ln w="19050">
            <a:solidFill>
              <a:srgbClr val="3F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765792" y="2194560"/>
            <a:ext cx="1691640" cy="64008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47504" y="220370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azione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redirect / drop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3794760"/>
            <a:ext cx="5349240" cy="22860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3995928"/>
            <a:ext cx="489204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Il pacchetto IPA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Header custom dentro UDP:9999 con model_id, scale_factor e descrittori delle feature.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Il programma XDP intercetta il pacchetto in ingresso prima dello stack di rete.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Stesso modello e stesso layout feature per le tre pipeline: cambia solo COME sono eseguite.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3794760"/>
            <a:ext cx="5349240" cy="22860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73952" y="3995928"/>
            <a:ext cx="489204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Il modello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MLP 65→4→4→7 quantizzato int8 (post-training), scale factor potenza di 2.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Aritmetica intera pura: nessun float nel kernel.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Output = argmax su 7 classi (6 interfacce di uscita + DROP).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Le 65 feature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Come il pacchetto diventa l'input del modello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880360" cy="17373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FB950"/>
                </a:solidFill>
                <a:latin typeface="Consolas"/>
              </a:rPr>
              <a:t>[0..5]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761488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E6EDF3"/>
                </a:solidFill>
                <a:latin typeface="Consolas"/>
              </a:rPr>
              <a:t>link_state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46120"/>
            <a:ext cx="2606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8B949E"/>
                </a:solidFill>
                <a:latin typeface="Segoe UI"/>
              </a:rPr>
              <a:t>up/down delle 6
interfacce egress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03320" y="2194560"/>
            <a:ext cx="2880360" cy="17373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0" y="2331720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5A623"/>
                </a:solidFill>
                <a:latin typeface="Consolas"/>
              </a:rPr>
              <a:t>[6..11]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2761488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E6EDF3"/>
                </a:solidFill>
                <a:latin typeface="Consolas"/>
              </a:rPr>
              <a:t>iface one-hot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3246120"/>
            <a:ext cx="2606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8B949E"/>
                </a:solidFill>
                <a:latin typeface="Segoe UI"/>
              </a:rPr>
              <a:t>porta d'ingresso
(6 valori)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66560" y="2194560"/>
            <a:ext cx="1325880" cy="17373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03720" y="2331720"/>
            <a:ext cx="1051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58A6FF"/>
                </a:solidFill>
                <a:latin typeface="Consolas"/>
              </a:rPr>
              <a:t>[12]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761488"/>
            <a:ext cx="1051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E6EDF3"/>
                </a:solidFill>
                <a:latin typeface="Consolas"/>
              </a:rPr>
              <a:t>TTL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3246120"/>
            <a:ext cx="1051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8B949E"/>
                </a:solidFill>
                <a:latin typeface="Segoe UI"/>
              </a:rPr>
              <a:t>scalare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75320" y="2194560"/>
            <a:ext cx="3246120" cy="17373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0" y="2331720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85149"/>
                </a:solidFill>
                <a:latin typeface="Consolas"/>
              </a:rPr>
              <a:t>[13..64]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2761488"/>
            <a:ext cx="2971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E6EDF3"/>
                </a:solidFill>
                <a:latin typeface="Consolas"/>
              </a:rPr>
              <a:t>node one-hot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3246120"/>
            <a:ext cx="2971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8B949E"/>
                </a:solidFill>
                <a:latin typeface="Segoe UI"/>
              </a:rPr>
              <a:t>nodo corrente
(52 valori)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206240"/>
            <a:ext cx="10927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E6EDF3"/>
                </a:solidFill>
                <a:latin typeface="Segoe UI"/>
              </a:rPr>
              <a:t>Il vettore è </a:t>
            </a:r>
            <a:r>
              <a:rPr sz="1350" b="1">
                <a:solidFill>
                  <a:srgbClr val="F5A623"/>
                </a:solidFill>
                <a:latin typeface="Segoe UI"/>
              </a:rPr>
              <a:t>sparso</a:t>
            </a:r>
            <a:r>
              <a:rPr sz="1350" b="0">
                <a:solidFill>
                  <a:srgbClr val="8B949E"/>
                </a:solidFill>
                <a:latin typeface="Segoe UI"/>
              </a:rPr>
              <a:t>: a runtime solo poche entry sono non-nulle. Le one-hot e il TTL sono derivate dal pacchetto; </a:t>
            </a:r>
            <a:r>
              <a:rPr sz="1350" b="1">
                <a:solidFill>
                  <a:srgbClr val="3FB950"/>
                </a:solidFill>
                <a:latin typeface="Segoe UI"/>
              </a:rPr>
              <a:t>le prime 6 (link_state) sono lette da una mappa BPF condivisa</a:t>
            </a:r>
            <a:r>
              <a:rPr sz="1350" b="0">
                <a:solidFill>
                  <a:srgbClr val="8B949E"/>
                </a:solidFill>
                <a:latin typeface="Segoe UI"/>
              </a:rPr>
              <a:t> tenuta aggiornata da un monitor userspace.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5074920"/>
            <a:ext cx="10927080" cy="1051560"/>
          </a:xfrm>
          <a:prstGeom prst="roundRect">
            <a:avLst/>
          </a:prstGeom>
          <a:solidFill>
            <a:srgbClr val="0A0E14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276088"/>
            <a:ext cx="10424159" cy="411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8B949E"/>
                </a:solidFill>
                <a:latin typeface="Consolas"/>
              </a:rPr>
              <a:t>fv[i]            = link_state[i];   /* [0..5]  up/down egress (da mappa)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8B949E"/>
                </a:solidFill>
                <a:latin typeface="Consolas"/>
              </a:rPr>
              <a:t>fv[iface + 5]    = 1;               /* [6..11] iface one-hot           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8B949E"/>
                </a:solidFill>
                <a:latin typeface="Consolas"/>
              </a:rPr>
              <a:t>fv[12] = ttl;    fv[node + 13] = 1; /* [12] TTL   [13..64] node one-hot */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link_state — il segnale fast-reroute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Da feature sempre-zero a stato reale delle interfacce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57400"/>
            <a:ext cx="1092708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E6EDF3"/>
                </a:solidFill>
                <a:latin typeface="Segoe UI"/>
              </a:rPr>
              <a:t>Le prime 6 feature sono lo </a:t>
            </a:r>
            <a:r>
              <a:rPr sz="1400" b="1">
                <a:solidFill>
                  <a:srgbClr val="3FB950"/>
                </a:solidFill>
                <a:latin typeface="Segoe UI"/>
              </a:rPr>
              <a:t>stato operativo up/down delle 6 interfacce di uscita</a:t>
            </a:r>
            <a:r>
              <a:rPr sz="1400" b="0">
                <a:solidFill>
                  <a:srgbClr val="E6EDF3"/>
                </a:solidFill>
                <a:latin typeface="Segoe UI"/>
              </a:rPr>
              <a:t>: il segnale centrale del fast-reroute — quale next-hop è disponibile adesso. </a:t>
            </a:r>
            <a:r>
              <a:rPr sz="1400" b="0">
                <a:solidFill>
                  <a:srgbClr val="8B949E"/>
                </a:solidFill>
                <a:latin typeface="Segoe UI"/>
              </a:rPr>
              <a:t>Prima erano sempre 0 (il modello non vedeva mai un guasto); ora sono popolate dal carrier reale.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200400"/>
            <a:ext cx="2439162" cy="1005840"/>
          </a:xfrm>
          <a:prstGeom prst="roundRect">
            <a:avLst/>
          </a:prstGeom>
          <a:solidFill>
            <a:srgbClr val="122A3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19" y="3246120"/>
            <a:ext cx="2256282" cy="64008"/>
          </a:xfrm>
          <a:prstGeom prst="round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1" y="3255264"/>
            <a:ext cx="2292858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58A6FF"/>
                </a:solidFill>
                <a:latin typeface="Consolas"/>
              </a:rPr>
              <a:t>/sys/.../carrier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kernel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88386" y="34747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63290" y="3200400"/>
            <a:ext cx="2439162" cy="100584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E6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554730" y="3246120"/>
            <a:ext cx="2256282" cy="64008"/>
          </a:xfrm>
          <a:prstGeom prst="roundRect">
            <a:avLst/>
          </a:prstGeom>
          <a:solidFill>
            <a:srgbClr val="E6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36442" y="3255264"/>
            <a:ext cx="2292858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EDF3"/>
                </a:solidFill>
                <a:latin typeface="Consolas"/>
              </a:rPr>
              <a:t>link_state_monitor.py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polling userspace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11596" y="34747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86500" y="3200400"/>
            <a:ext cx="2439162" cy="1005840"/>
          </a:xfrm>
          <a:prstGeom prst="roundRect">
            <a:avLst/>
          </a:prstGeom>
          <a:solidFill>
            <a:srgbClr val="112A14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377940" y="3246120"/>
            <a:ext cx="2256282" cy="64008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9652" y="3255264"/>
            <a:ext cx="2292858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B950"/>
                </a:solidFill>
                <a:latin typeface="Consolas"/>
              </a:rPr>
              <a:t>BPF_ARRAY link_state[6]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1=up 0=down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34806" y="34747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09710" y="3200400"/>
            <a:ext cx="2439162" cy="1005840"/>
          </a:xfrm>
          <a:prstGeom prst="roundRect">
            <a:avLst/>
          </a:prstGeom>
          <a:solidFill>
            <a:srgbClr val="112A22"/>
          </a:solidFill>
          <a:ln w="19050">
            <a:solidFill>
              <a:srgbClr val="3F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201150" y="3246120"/>
            <a:ext cx="2256282" cy="64008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82862" y="3255264"/>
            <a:ext cx="2292858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XDP feature[0..5]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inferenza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572000"/>
            <a:ext cx="5349240" cy="16002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6112" y="4773168"/>
            <a:ext cx="489204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B950"/>
                </a:solidFill>
                <a:latin typeface="Segoe UI"/>
              </a:rPr>
              <a:t>Come è reso veritiero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Un thread legge /sys/class/net/ethX/carrier di ogni egress.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Scrive link_state[i] = 1 (up) / 0 (down) nella mappa condivisa.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 programmi eBPF leggono il valore al pacchetto successivo, senza reload.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4572000"/>
            <a:ext cx="5349240" cy="16002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3952" y="4773168"/>
            <a:ext cx="489204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B950"/>
                </a:solidFill>
                <a:latin typeface="Segoe UI"/>
              </a:rPr>
              <a:t>Effetto sull'inferenza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Link che cade → la sua feature va a 0 → l'argmax può scegliere un'altra uscita.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All'avvio la mappa è seed a tutti-up (baseline sana).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Unica map letta nell'inferenza di P1 (feature, non peso).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Pipeline 1 — Hardcoded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Pesi come costanti C, inferenza completamente srotolata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874520" cy="1051560"/>
          </a:xfrm>
          <a:prstGeom prst="roundRect">
            <a:avLst/>
          </a:prstGeom>
          <a:solidFill>
            <a:srgbClr val="122A3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19" y="2194560"/>
            <a:ext cx="1691640" cy="64008"/>
          </a:xfrm>
          <a:prstGeom prst="round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1" y="220370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58A6FF"/>
                </a:solidFill>
                <a:latin typeface="Consolas"/>
              </a:rPr>
              <a:t>packet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23744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98648" y="2148840"/>
            <a:ext cx="1874520" cy="1051560"/>
          </a:xfrm>
          <a:prstGeom prst="roundRect">
            <a:avLst/>
          </a:prstGeom>
          <a:solidFill>
            <a:srgbClr val="112A14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990088" y="2194560"/>
            <a:ext cx="1691640" cy="64008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71800" y="220370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B950"/>
                </a:solidFill>
                <a:latin typeface="Consolas"/>
              </a:rPr>
              <a:t>ipa_switch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pesi = letterali 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82312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57216" y="2148840"/>
            <a:ext cx="1874520" cy="1051560"/>
          </a:xfrm>
          <a:prstGeom prst="roundRect">
            <a:avLst/>
          </a:prstGeom>
          <a:solidFill>
            <a:srgbClr val="112A14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248656" y="2194560"/>
            <a:ext cx="1691640" cy="64008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0368" y="220370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B950"/>
                </a:solidFill>
                <a:latin typeface="Consolas"/>
              </a:rPr>
              <a:t>argmax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unrolled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15784" y="2148840"/>
            <a:ext cx="1874520" cy="1051560"/>
          </a:xfrm>
          <a:prstGeom prst="roundRect">
            <a:avLst/>
          </a:prstGeom>
          <a:solidFill>
            <a:srgbClr val="112A14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507224" y="2194560"/>
            <a:ext cx="1691640" cy="64008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88936" y="220370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B950"/>
                </a:solidFill>
                <a:latin typeface="Consolas"/>
              </a:rPr>
              <a:t>switch(cls)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ifindex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9448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74352" y="2148840"/>
            <a:ext cx="1874520" cy="1051560"/>
          </a:xfrm>
          <a:prstGeom prst="roundRect">
            <a:avLst/>
          </a:prstGeom>
          <a:solidFill>
            <a:srgbClr val="112A22"/>
          </a:solidFill>
          <a:ln w="19050">
            <a:solidFill>
              <a:srgbClr val="3F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765792" y="2194560"/>
            <a:ext cx="1691640" cy="64008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47504" y="220370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bpf_redirect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azione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319375" y="3364992"/>
            <a:ext cx="1563624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319375" y="3364992"/>
            <a:ext cx="156362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FB950"/>
                </a:solidFill>
                <a:latin typeface="Consolas"/>
              </a:rPr>
              <a:t>0 tail call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47591" y="3364992"/>
            <a:ext cx="1764792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47591" y="3364992"/>
            <a:ext cx="176479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FB950"/>
                </a:solidFill>
                <a:latin typeface="Consolas"/>
              </a:rPr>
              <a:t>0 lookup pesi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76975" y="3364992"/>
            <a:ext cx="1563624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76975" y="3364992"/>
            <a:ext cx="156362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FB950"/>
                </a:solidFill>
                <a:latin typeface="Consolas"/>
              </a:rPr>
              <a:t>264 B mappe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05191" y="3364992"/>
            <a:ext cx="2167128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05191" y="3364992"/>
            <a:ext cx="216712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FB950"/>
                </a:solidFill>
                <a:latin typeface="Consolas"/>
              </a:rPr>
              <a:t>72 ns · 13.9 Mpps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3840480"/>
            <a:ext cx="10927080" cy="22860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6112" y="4041648"/>
            <a:ext cx="1046988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B950"/>
                </a:solidFill>
                <a:latin typeface="Segoe UI"/>
              </a:rPr>
              <a:t>Come è implementata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Un programma eBPF dedicato per modello: i pesi int8 sono letterali signed char nel sorgente C.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Inferenza 65→4→4→7 completamente srotolata (nessun loop), nessuna map lookup per i pesi.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Un solo switch(iface) e uno switch(node) per tutto il programma: evita l'esplosione dei rami nel verifier.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link_state[0..5] letto dalla mappa e sommato come ls_i * w[j,i] nei neuroni fc1.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Nessun model_cache: era un residuo (gate is_valid + blob pesi mai usato) — rimosso, ora è hardcoded puro.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Pipeline 1 — il codice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fc1 srotolato: pesi come costanti, link_state dalla mappa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0927080" cy="1965960"/>
          </a:xfrm>
          <a:prstGeom prst="roundRect">
            <a:avLst/>
          </a:prstGeom>
          <a:solidFill>
            <a:srgbClr val="0A0E14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313432"/>
            <a:ext cx="10469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3FB950"/>
                </a:solidFill>
                <a:latin typeface="Segoe UI"/>
              </a:rPr>
              <a:t>generato in C (ebpf_program.py)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15768"/>
            <a:ext cx="1042415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484F58"/>
                </a:solidFill>
                <a:latin typeface="Consolas"/>
              </a:rPr>
              <a:t>/* link_state[0..5] letti dalla mappa (feature, non pesi)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onsolas"/>
              </a:rPr>
              <a:t>_lk=0; _lp=link_state.lookup(&amp;_lk); if (_lp) ls0=(long long)(*_lp);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8B949E"/>
                </a:solidFill>
                <a:latin typeface="Consolas"/>
              </a:rPr>
              <a:t>...  ls5 = link_state[5]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onsolas"/>
              </a:rPr>
              <a:t> 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484F58"/>
                </a:solidFill>
                <a:latin typeface="Consolas"/>
              </a:rPr>
              <a:t>/* neurone fc1: pesi come letterali C, nessuna lookup pesi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onsolas"/>
              </a:rPr>
              <a:t>long long h1_0 = RELU_LL( (__s64)_ttl * 12LL + w_iface_0 + w_node_0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3FB950"/>
                </a:solidFill>
                <a:latin typeface="Consolas"/>
              </a:rPr>
              <a:t>        + ls0*-7LL + ls1*3LL + ls2*0LL + ls3*5LL + ls4*-2LL + ls5*1LL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onsolas"/>
              </a:rPr>
              <a:t>        + 4LL );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343400"/>
            <a:ext cx="5349240" cy="173736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544568"/>
            <a:ext cx="48920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Perché così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static const array indicizzati da variabili runtime: il verifier rifiuta (relocation → 0).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Soluzione: uno switch unico per iface e per node, scalari su stack.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343400"/>
            <a:ext cx="5349240" cy="173736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3952" y="4544568"/>
            <a:ext cx="48920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Costo dell'update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Cambiare modello = rigenera il C, ricompila con LLVM, ricarica XDP.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Nessun hot-swap: massima specializzazione, minima flessibilità.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Pipeline 2 — Template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Un programma per forma architetturale, pesi letti da mappa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874520" cy="1051560"/>
          </a:xfrm>
          <a:prstGeom prst="roundRect">
            <a:avLst/>
          </a:prstGeom>
          <a:solidFill>
            <a:srgbClr val="122A3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19" y="2194560"/>
            <a:ext cx="1691640" cy="64008"/>
          </a:xfrm>
          <a:prstGeom prst="round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1" y="220370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58A6FF"/>
                </a:solidFill>
                <a:latin typeface="Consolas"/>
              </a:rPr>
              <a:t>packet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23744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98648" y="2148840"/>
            <a:ext cx="1874520" cy="10515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E6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990088" y="2194560"/>
            <a:ext cx="1691640" cy="64008"/>
          </a:xfrm>
          <a:prstGeom prst="roundRect">
            <a:avLst/>
          </a:prstGeom>
          <a:solidFill>
            <a:srgbClr val="E6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71800" y="220370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EDF3"/>
                </a:solidFill>
                <a:latin typeface="Consolas"/>
              </a:rPr>
              <a:t>dispatcher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registry[id]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82312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57216" y="2148840"/>
            <a:ext cx="1874520" cy="1051560"/>
          </a:xfrm>
          <a:prstGeom prst="roundRect">
            <a:avLst/>
          </a:prstGeom>
          <a:solidFill>
            <a:srgbClr val="2A200A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248656" y="2194560"/>
            <a:ext cx="1691640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0368" y="220370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5A623"/>
                </a:solidFill>
                <a:latin typeface="Consolas"/>
              </a:rPr>
              <a:t>arch_65_4_4_7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1 prog / arch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15784" y="2148840"/>
            <a:ext cx="1874520" cy="1051560"/>
          </a:xfrm>
          <a:prstGeom prst="roundRect">
            <a:avLst/>
          </a:prstGeom>
          <a:solidFill>
            <a:srgbClr val="2A200A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507224" y="2194560"/>
            <a:ext cx="1691640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88936" y="220370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5A623"/>
                </a:solidFill>
                <a:latin typeface="Consolas"/>
              </a:rPr>
              <a:t>arch_weights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BPF_ARRAY int8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9448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74352" y="2148840"/>
            <a:ext cx="1874520" cy="1051560"/>
          </a:xfrm>
          <a:prstGeom prst="roundRect">
            <a:avLst/>
          </a:prstGeom>
          <a:solidFill>
            <a:srgbClr val="112A22"/>
          </a:solidFill>
          <a:ln w="19050">
            <a:solidFill>
              <a:srgbClr val="3F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765792" y="2194560"/>
            <a:ext cx="1691640" cy="64008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47504" y="220370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bpf_redirect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azione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17623" y="3364992"/>
            <a:ext cx="1563624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017623" y="3364992"/>
            <a:ext cx="156362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5A623"/>
                </a:solidFill>
                <a:latin typeface="Consolas"/>
              </a:rPr>
              <a:t>1 tail call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745839" y="3364992"/>
            <a:ext cx="2167128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745839" y="3364992"/>
            <a:ext cx="216712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6EDF3"/>
                </a:solidFill>
                <a:latin typeface="Consolas"/>
              </a:rPr>
              <a:t>~322 lookup / pkt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077559" y="3364992"/>
            <a:ext cx="1764792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77559" y="3364992"/>
            <a:ext cx="176479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6EDF3"/>
                </a:solidFill>
                <a:latin typeface="Consolas"/>
              </a:rPr>
              <a:t>15.8 KB mappe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06943" y="3364992"/>
            <a:ext cx="2167128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06943" y="3364992"/>
            <a:ext cx="216712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5A623"/>
                </a:solidFill>
                <a:latin typeface="Consolas"/>
              </a:rPr>
              <a:t>287 ns · 3.5 Mpps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3840480"/>
            <a:ext cx="10927080" cy="22860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6112" y="4041648"/>
            <a:ext cx="1046988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Come è implementata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Un solo programma per forma di rete (arch_65_4_4_7): N modelli con la stessa architettura lo riusano.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Il dispatcher legge arch_registry[model_id] → arch_id e fa una tail call al programma architetturale.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 pesi int8 stanno in arch_weights (BPF_ARRAY), letti a runtime con lookup su indice aritmetico.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link_state[0..5] letto nel loop fc1: acc += link_state[i] * arch_weights[woff + j*65 + i].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Aggiornamento del modello = bpf_map_update_elem sui pesi. Nessuna ricompilazione, nessun reload.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Pipeline 2 — il codice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Prodotto scalare sparso via lookup su BPF_ARRAY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0927080" cy="1965960"/>
          </a:xfrm>
          <a:prstGeom prst="roundRect">
            <a:avLst/>
          </a:prstGeom>
          <a:solidFill>
            <a:srgbClr val="0A0E14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313432"/>
            <a:ext cx="10469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arch_65_4_4_7 (ebpf_template_arch.py)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15768"/>
            <a:ext cx="10424159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onsolas"/>
              </a:rPr>
              <a:t>for (j = 0; j &lt; 4; j++) {          /* neuroni fc1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8B949E"/>
                </a:solidFill>
                <a:latin typeface="Consolas"/>
              </a:rPr>
              <a:t>    acc = bias(j);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onsolas"/>
              </a:rPr>
              <a:t>    acc += ttl  * W[woff + j*65 + 12];      /* TTL  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3FB950"/>
                </a:solidFill>
                <a:latin typeface="Consolas"/>
              </a:rPr>
              <a:t>    for (i = 0; i &lt; 6; i++)                 /* link_state [0..5]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3FB950"/>
                </a:solidFill>
                <a:latin typeface="Consolas"/>
              </a:rPr>
              <a:t>        acc += link_state[i] * W[woff + j*65 + i];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onsolas"/>
              </a:rPr>
              <a:t>    acc += W[iface_idx];  acc += W[node_idx];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8B949E"/>
                </a:solidFill>
                <a:latin typeface="Consolas"/>
              </a:rPr>
              <a:t>    h1[j] = RELU(acc);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onsolas"/>
              </a:rPr>
              <a:t>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343400"/>
            <a:ext cx="5349240" cy="173736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544568"/>
            <a:ext cx="48920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Perché la mappa va bene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BPF_ARRAY è un oggetto kernel registrato: l'indice aritmetico è sicuro per il verifier.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Niente relocation, niente puntatori non risolti.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343400"/>
            <a:ext cx="5349240" cy="173736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3952" y="4544568"/>
            <a:ext cx="48920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Flessibilità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 pesi si cambiano a runtime senza toccare il codice eBPF.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Prestazioni intermedie (287 ns): tra P1 hardcoded e P3 modular.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Pipeline 3 — Modular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Rete scomposta in layer, stato intermedio in scratch PERCPU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874520" cy="10515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E6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19" y="2194560"/>
            <a:ext cx="1691640" cy="64008"/>
          </a:xfrm>
          <a:prstGeom prst="roundRect">
            <a:avLst/>
          </a:prstGeom>
          <a:solidFill>
            <a:srgbClr val="E6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1" y="220370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EDF3"/>
                </a:solidFill>
                <a:latin typeface="Consolas"/>
              </a:rPr>
              <a:t>dispatcher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scrive feature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23744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98648" y="2148840"/>
            <a:ext cx="1874520" cy="1051560"/>
          </a:xfrm>
          <a:prstGeom prst="roundRect">
            <a:avLst/>
          </a:prstGeom>
          <a:solidFill>
            <a:srgbClr val="2A1211"/>
          </a:solidFill>
          <a:ln w="1905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990088" y="2194560"/>
            <a:ext cx="1691640" cy="64008"/>
          </a:xfrm>
          <a:prstGeom prst="roundRect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71800" y="220370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85149"/>
                </a:solidFill>
                <a:latin typeface="Consolas"/>
              </a:rPr>
              <a:t>layer_65_4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fc1 + ReLU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82312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57216" y="2148840"/>
            <a:ext cx="1874520" cy="1051560"/>
          </a:xfrm>
          <a:prstGeom prst="roundRect">
            <a:avLst/>
          </a:prstGeom>
          <a:solidFill>
            <a:srgbClr val="2A1211"/>
          </a:solidFill>
          <a:ln w="1905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248656" y="2194560"/>
            <a:ext cx="1691640" cy="64008"/>
          </a:xfrm>
          <a:prstGeom prst="roundRect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0368" y="220370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85149"/>
                </a:solidFill>
                <a:latin typeface="Consolas"/>
              </a:rPr>
              <a:t>layer_4_4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fc2 + ReLU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15784" y="2148840"/>
            <a:ext cx="1874520" cy="1051560"/>
          </a:xfrm>
          <a:prstGeom prst="roundRect">
            <a:avLst/>
          </a:prstGeom>
          <a:solidFill>
            <a:srgbClr val="2A1211"/>
          </a:solidFill>
          <a:ln w="1905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507224" y="2194560"/>
            <a:ext cx="1691640" cy="64008"/>
          </a:xfrm>
          <a:prstGeom prst="roundRect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88936" y="220370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85149"/>
                </a:solidFill>
                <a:latin typeface="Consolas"/>
              </a:rPr>
              <a:t>layer_4_7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out + argmax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9448" y="2446020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74352" y="2148840"/>
            <a:ext cx="1874520" cy="1051560"/>
          </a:xfrm>
          <a:prstGeom prst="roundRect">
            <a:avLst/>
          </a:prstGeom>
          <a:solidFill>
            <a:srgbClr val="112A22"/>
          </a:solidFill>
          <a:ln w="19050">
            <a:solidFill>
              <a:srgbClr val="3F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765792" y="2194560"/>
            <a:ext cx="1691640" cy="64008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47504" y="220370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bpf_redirect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azione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917039" y="3364992"/>
            <a:ext cx="1563624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917039" y="3364992"/>
            <a:ext cx="156362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85149"/>
                </a:solidFill>
                <a:latin typeface="Consolas"/>
              </a:rPr>
              <a:t>3 tail call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645255" y="3364992"/>
            <a:ext cx="2167128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45255" y="3364992"/>
            <a:ext cx="216712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85149"/>
                </a:solidFill>
                <a:latin typeface="Consolas"/>
              </a:rPr>
              <a:t>~384 lookup / pkt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76975" y="3364992"/>
            <a:ext cx="1764792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76975" y="3364992"/>
            <a:ext cx="176479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6EDF3"/>
                </a:solidFill>
                <a:latin typeface="Consolas"/>
              </a:rPr>
              <a:t>28.5 KB mappe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06359" y="3364992"/>
            <a:ext cx="2368296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06359" y="3364992"/>
            <a:ext cx="236829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85149"/>
                </a:solidFill>
                <a:latin typeface="Consolas"/>
              </a:rPr>
              <a:t>1274 ns · 0.79 Mpps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3840480"/>
            <a:ext cx="10927080" cy="22860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6112" y="4041648"/>
            <a:ext cx="1046988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85149"/>
                </a:solidFill>
                <a:latin typeface="Segoe UI"/>
              </a:rPr>
              <a:t>Come è implementata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Ogni layer è un programma eBPF separato; sono concatenati via layer_chain (BPF_PROG_ARRAY) con tail call.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Le attivazioni intermedie passano in una BPF_PERCPU_ARRAY (scratch): niente stack, niente contese.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Il dispatcher scrive le feature in scratch — incluse link_state[0..5] nei primi 6 slot — e avvia la catena.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3 tail call reali per pacchetto; l'ultimo blocco calcola argmax → mac_table[classe] → bpf_redirect.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Aggiornamento = cambia pesi e/o sequenza dei layer; hot-swap di un singolo blocco senza reload.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Pipeline 3 — il codice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Il dispatcher scrive le feature; i layer leggono lo scratch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0927080" cy="1828800"/>
          </a:xfrm>
          <a:prstGeom prst="roundRect">
            <a:avLst/>
          </a:prstGeom>
          <a:solidFill>
            <a:srgbClr val="0A0E14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313432"/>
            <a:ext cx="10469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F85149"/>
                </a:solidFill>
                <a:latin typeface="Segoe UI"/>
              </a:rPr>
              <a:t>modular_dispatcher (ebpf_modular.py)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15768"/>
            <a:ext cx="1042415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8B949E"/>
                </a:solidFill>
                <a:latin typeface="Consolas"/>
              </a:rPr>
              <a:t>for (i = 0; i &lt; 65; i++) scratch_acts[i] = 0;    /* azzera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3FB950"/>
                </a:solidFill>
                <a:latin typeface="Consolas"/>
              </a:rPr>
              <a:t>for (i = 0; i &lt; 6;  i++)                          /* link_state [0..5]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3FB950"/>
                </a:solidFill>
                <a:latin typeface="Consolas"/>
              </a:rPr>
              <a:t>    scratch_acts[i] = link_state[i];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E6EDF3"/>
                </a:solidFill>
                <a:latin typeface="Consolas"/>
              </a:rPr>
              <a:t>scratch_acts[12] = ttl;  scratch_acts[6+iface] = 1;  scratch_acts[13+node] = 1;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F5A623"/>
                </a:solidFill>
                <a:latin typeface="Consolas"/>
              </a:rPr>
              <a:t>layer_chain.call(ctx, 0);        /* tail call -&gt; layer_65_4 */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206240"/>
            <a:ext cx="5349240" cy="1874519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407407"/>
            <a:ext cx="489204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scratch PERCPU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Ogni CPU ha la sua copia: nessun lock, nessuna contesa.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 layer leggono/scrivono le attivazioni intermedie qui.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Il layout 65 feature è identico a P1/P2.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206240"/>
            <a:ext cx="5349240" cy="1874519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3952" y="4407407"/>
            <a:ext cx="489204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Catena di tail call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dispatcher → layer_65_4 → layer_4_4 → layer_4_7_argmax.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Cambiare architettura = cambiare la sequenza in layer_chain.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Massima flessibilità, al costo di 3 salti per pacchetto.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Dall'argmax all'azione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La NN decide la porta; mac_table risolve il next-hop — comune alle tre pipeline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1874520" cy="1051560"/>
          </a:xfrm>
          <a:prstGeom prst="roundRect">
            <a:avLst/>
          </a:prstGeom>
          <a:solidFill>
            <a:srgbClr val="122A3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19" y="2240279"/>
            <a:ext cx="1691640" cy="64008"/>
          </a:xfrm>
          <a:prstGeom prst="round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1" y="224942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58A6FF"/>
                </a:solidFill>
                <a:latin typeface="Consolas"/>
              </a:rPr>
              <a:t>argmax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best_cls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23744" y="2491739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98648" y="2194560"/>
            <a:ext cx="1874520" cy="10515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E6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990088" y="2240279"/>
            <a:ext cx="1691640" cy="64008"/>
          </a:xfrm>
          <a:prstGeom prst="roundRect">
            <a:avLst/>
          </a:prstGeom>
          <a:solidFill>
            <a:srgbClr val="E6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71800" y="224942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EDF3"/>
                </a:solidFill>
                <a:latin typeface="Consolas"/>
              </a:rPr>
              <a:t>classe 0..5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porta / DROP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82312" y="2491739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57216" y="2194560"/>
            <a:ext cx="1874520" cy="1051560"/>
          </a:xfrm>
          <a:prstGeom prst="roundRect">
            <a:avLst/>
          </a:prstGeom>
          <a:solidFill>
            <a:srgbClr val="2A200A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248656" y="2240279"/>
            <a:ext cx="1691640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0368" y="224942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5A623"/>
                </a:solidFill>
                <a:latin typeface="Consolas"/>
              </a:rPr>
              <a:t>mac_table[cls]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ifindex + MAC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491739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15784" y="2194560"/>
            <a:ext cx="1874520" cy="10515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E6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507224" y="2240279"/>
            <a:ext cx="1691640" cy="64008"/>
          </a:xfrm>
          <a:prstGeom prst="roundRect">
            <a:avLst/>
          </a:prstGeom>
          <a:solidFill>
            <a:srgbClr val="E6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88936" y="224942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EDF3"/>
                </a:solidFill>
                <a:latin typeface="Consolas"/>
              </a:rPr>
              <a:t>MAC rewrite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src/dst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9448" y="2491739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74352" y="2194560"/>
            <a:ext cx="1874520" cy="1051560"/>
          </a:xfrm>
          <a:prstGeom prst="roundRect">
            <a:avLst/>
          </a:prstGeom>
          <a:solidFill>
            <a:srgbClr val="112A22"/>
          </a:solidFill>
          <a:ln w="19050">
            <a:solidFill>
              <a:srgbClr val="3F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765792" y="2240279"/>
            <a:ext cx="1691640" cy="64008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47504" y="2249424"/>
            <a:ext cx="1728216" cy="9966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bpf_redirect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ifindex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3794760"/>
            <a:ext cx="5349240" cy="233172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3995928"/>
            <a:ext cx="4892040" cy="1965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La NN decide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argmax sui 7 output → classe = porta di uscita (cls 6 = DROP).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Nessun calcolo di chiave, nessuna validazione dell'output.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Ci si fida della decisione del modello (è il paradigma IPA).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3794760"/>
            <a:ext cx="5349240" cy="233172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73952" y="3995928"/>
            <a:ext cx="4892040" cy="1965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mac_table = dizionario porte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mac_table[classe] → {ifindex, src_mac, dst_mac}: single lookup.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Riscrive gli header Ethernet e fa bpf_redirect.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P1: mappa hardcoded in uno switch (0 lookup). P2/P3: mac_table.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Verifica nel kernel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BPF_PROG_TEST_RUN — indipendente dalla rete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48840"/>
            <a:ext cx="108813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E6EDF3"/>
                </a:solidFill>
                <a:latin typeface="Segoe UI"/>
              </a:rPr>
              <a:t>Il fabric Kathara non consegna UDP:9999 end-to-end, quindi la correttezza si verifica caricando i programmi XDP reali ed eseguendo </a:t>
            </a:r>
            <a:r>
              <a:rPr sz="1400" b="1">
                <a:solidFill>
                  <a:srgbClr val="F5A623"/>
                </a:solidFill>
                <a:latin typeface="Consolas"/>
              </a:rPr>
              <a:t>BPF_PROG_TEST_RUN</a:t>
            </a:r>
            <a:r>
              <a:rPr sz="1400" b="0">
                <a:solidFill>
                  <a:srgbClr val="E6EDF3"/>
                </a:solidFill>
                <a:latin typeface="Segoe UI"/>
              </a:rPr>
              <a:t>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E6EDF3"/>
                </a:solidFill>
                <a:latin typeface="Segoe UI"/>
              </a:rPr>
              <a:t/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8B949E"/>
                </a:solidFill>
                <a:latin typeface="Segoe UI"/>
              </a:rPr>
              <a:t>Verifica </a:t>
            </a:r>
            <a:r>
              <a:rPr sz="1400" b="1">
                <a:solidFill>
                  <a:srgbClr val="3FD0C8"/>
                </a:solidFill>
                <a:latin typeface="Segoe UI"/>
              </a:rPr>
              <a:t>single-pass e uniforme</a:t>
            </a:r>
            <a:r>
              <a:rPr sz="1400" b="0">
                <a:solidFill>
                  <a:srgbClr val="8B949E"/>
                </a:solidFill>
                <a:latin typeface="Segoe UI"/>
              </a:rPr>
              <a:t> sulle 3 pipeline: pre-installa mac_table[0..5], esegue una volta e controlla che la classe scelta dal kernel = classe del riferimento Python. 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8B949E"/>
                </a:solidFill>
                <a:latin typeface="Segoe UI"/>
              </a:rPr>
              <a:t>Un xdp_md azzerato come contesto pin-a ingress_ifindex=0 (risolve il vecchio drift del template). 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8B949E"/>
                </a:solidFill>
                <a:latin typeface="Segoe UI"/>
              </a:rPr>
              <a:t>Criterio di PASS: retval ∈ {0,4} (redirect) e cls_stats[ref_cls] &gt; 0.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892040"/>
            <a:ext cx="10927080" cy="1051560"/>
          </a:xfrm>
          <a:prstGeom prst="roundRect">
            <a:avLst/>
          </a:prstGeom>
          <a:solidFill>
            <a:srgbClr val="112A14"/>
          </a:solidFill>
          <a:ln w="15875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892040"/>
            <a:ext cx="104241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3FB950"/>
                </a:solidFill>
                <a:latin typeface="Consolas"/>
              </a:rPr>
              <a:t>✓  3 pipeline · TTL 1–5 · 5/5 PASS ciascuna · pkt_stats HIT · kernel suite: PASS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Risultati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Metriche reali dal kernel (BPF_PROG_TEST_RUN, modello 65-4-4-7)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011680"/>
          <a:ext cx="8586216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764792"/>
                <a:gridCol w="1764792"/>
                <a:gridCol w="1764792"/>
              </a:tblGrid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8B949E"/>
                          </a:solidFill>
                          <a:latin typeface="Segoe UI"/>
                        </a:rPr>
                        <a:t>Metrica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8B949E"/>
                          </a:solidFill>
                          <a:latin typeface="Consolas"/>
                        </a:rPr>
                        <a:t>P1 hardcoded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8B949E"/>
                          </a:solidFill>
                          <a:latin typeface="Consolas"/>
                        </a:rPr>
                        <a:t>P2 template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8B949E"/>
                          </a:solidFill>
                          <a:latin typeface="Consolas"/>
                        </a:rPr>
                        <a:t>P3 modular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Istruzioni eBPF (xlated)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996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2 668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13 645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Codice jited (byte)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4 658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12 575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58 146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Tail calls / pacchetto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0 (leaf)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1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Map lookup / pkt (stima)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8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322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384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Memoria mappe (byte)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264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15 796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28 468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Latenza (ns / pkt)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72.0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287.0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1274.0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Throughput (Mpps)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13.889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3.484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0.785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CPU (%)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58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61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80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9509760" y="2011680"/>
            <a:ext cx="2057400" cy="338328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65792" y="2212848"/>
            <a:ext cx="160020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Lettura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P1 più veloce: 72 ns, 13.9 Mpps.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P1 più compatto: 264 B, 996 istr.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Ogni costo cresce P1→P2→P3.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P3 ≈12× istruzioni di P1.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577840"/>
            <a:ext cx="10927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5A623"/>
                </a:solidFill>
                <a:latin typeface="Segoe UI"/>
              </a:rPr>
              <a:t>Confronto pulito: </a:t>
            </a:r>
            <a:r>
              <a:rPr sz="1200" b="0">
                <a:solidFill>
                  <a:srgbClr val="8B949E"/>
                </a:solidFill>
                <a:latin typeface="Segoe UI"/>
              </a:rPr>
              <a:t>P1 è sceso da 1109 a 72 ns rimuovendo 3 bpf_trace_printk per pacchetto (assenti in P2/P3) che falsavano il baseline. L'inferenza è identica nelle 3 (classe kernel = riferimento Python); differisce solo il design. Ordine coerente con la tassonomia.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link_state nelle tre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Stessa mappa, tre modi di leggerla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3520440" cy="32004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304288"/>
            <a:ext cx="306324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B950"/>
                </a:solidFill>
                <a:latin typeface="Segoe UI"/>
              </a:rPr>
              <a:t>P1 — Hardcoded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6 lookup link_state[i] all'inizio dell'inferenza.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Sommati come ls_i * w[j,i] con w letterali C.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Unica mappa letta: è input, non peso.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Design hardcoded puro preservato.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5968" y="2103120"/>
            <a:ext cx="3520440" cy="32004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304288"/>
            <a:ext cx="306324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P2 — Template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Lookup link_state[i] nel loop fc1.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Prodotto con arch_weights[woff + j*65 + i].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Stessa mappa, pesi separati in BPF_ARRAY.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Nessuna ricompilazione per l'update.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2103120"/>
            <a:ext cx="3566160" cy="32004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57031" y="2304288"/>
            <a:ext cx="310896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85149"/>
                </a:solidFill>
                <a:latin typeface="Segoe UI"/>
              </a:rPr>
              <a:t>P3 — Modular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Il dispatcher copia link_state[0..5] in scratch_acts.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 layer-block la trattano come qualunque attivazione.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La feature attraversa la catena di tail call.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Massima uniformità del datapath.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532120"/>
            <a:ext cx="10927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E6EDF3"/>
                </a:solidFill>
                <a:latin typeface="Segoe UI"/>
              </a:rPr>
              <a:t>Un unico monitor userspace </a:t>
            </a:r>
            <a:r>
              <a:rPr sz="1300" b="1">
                <a:solidFill>
                  <a:srgbClr val="3FD0C8"/>
                </a:solidFill>
                <a:latin typeface="Consolas"/>
              </a:rPr>
              <a:t>(link_state_monitor.py)</a:t>
            </a:r>
            <a:r>
              <a:rPr sz="1300" b="0">
                <a:solidFill>
                  <a:srgbClr val="8B949E"/>
                </a:solidFill>
                <a:latin typeface="Segoe UI"/>
              </a:rPr>
              <a:t> alimenta la stessa mappa condivisa: il fast-reroute reagisce ai guasti indipendentemente dalla pipeline scelta.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I vincoli del verifier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Perché il codice ha questa forma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5349240" cy="1874519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350008"/>
            <a:ext cx="489204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No array statici indicizzati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static const indicizzato da variabile runtime → relocation fallisce, l'accesso collassa a 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P1: uno switch(iface) e uno switch(node) unici, scalari su stack.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148840"/>
            <a:ext cx="5349240" cy="1874519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3952" y="2350008"/>
            <a:ext cx="489204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No esplosione dei rami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switch per-neurone → O((7·52)^neuroni) percorsi: il verifier si arrende.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Un solo switch che assegna il contributo di tutti i neuroni insieme: O(7+52).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206240"/>
            <a:ext cx="5349240" cy="1874519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4407407"/>
            <a:ext cx="489204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Protocollo per offset assoluto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ip-&gt;protocol come bitfield si sballa con header minimali BCC/Kathara.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Letto all'offset RFC 791 (byte 9); UDP header via ihl*4.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4206240"/>
            <a:ext cx="5349240" cy="1874519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73952" y="4407407"/>
            <a:ext cx="489204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Pesi come byte unsigned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BCC vecchio non risolve il leaf signed char in alcune mappe.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Storage __u8, cast a __s8 prima dell'aritmetica (bit pattern identico).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exagon 2"/>
          <p:cNvSpPr/>
          <p:nvPr/>
        </p:nvSpPr>
        <p:spPr>
          <a:xfrm rot="5400000">
            <a:off x="10881360" y="502920"/>
            <a:ext cx="1005840" cy="905256"/>
          </a:xfrm>
          <a:prstGeom prst="hexagon">
            <a:avLst/>
          </a:prstGeom>
          <a:noFill/>
          <a:ln w="15875">
            <a:solidFill>
              <a:srgbClr val="484F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Hexagon 3"/>
          <p:cNvSpPr/>
          <p:nvPr/>
        </p:nvSpPr>
        <p:spPr>
          <a:xfrm rot="5400000">
            <a:off x="11430000" y="1097280"/>
            <a:ext cx="1005840" cy="905256"/>
          </a:xfrm>
          <a:prstGeom prst="hexagon">
            <a:avLst/>
          </a:prstGeom>
          <a:noFill/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E6EDF3"/>
                </a:solidFill>
                <a:latin typeface="Georgia"/>
              </a:rPr>
              <a:t>Il costo della flessibilità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1463040"/>
            <a:ext cx="10698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8B949E"/>
                </a:solidFill>
                <a:latin typeface="Segoe UI"/>
              </a:rPr>
              <a:t>Aumentando la flessibilità: più tail call, più map lookup, più istruzioni — meno prestazioni di picco.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468880"/>
            <a:ext cx="3520440" cy="210312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670048"/>
            <a:ext cx="30632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B950"/>
                </a:solidFill>
                <a:latin typeface="Segoe UI"/>
              </a:rPr>
              <a:t>P1 Hardcoded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Update = ricompila + ricarica XDP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Datapath: massima specializzazione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Memoria mappe minima (puro)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2468880"/>
            <a:ext cx="3520440" cy="210312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2670048"/>
            <a:ext cx="30632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P2 Template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Update = bpf_map_update_elem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Prestazioni intermedie (287 ns)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Buon compromesso pratico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2468880"/>
            <a:ext cx="3566160" cy="210312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7031" y="2670048"/>
            <a:ext cx="31089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85149"/>
                </a:solidFill>
                <a:latin typeface="Segoe UI"/>
              </a:rPr>
              <a:t>P3 Modular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Update = hot-swap di un layer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Massima flessibilità runtime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Overhead: 3 tail call + scratch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892040"/>
            <a:ext cx="10927080" cy="1051560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892040"/>
            <a:ext cx="104241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0D1117"/>
                </a:solidFill>
                <a:latin typeface="Georgia"/>
              </a:rPr>
              <a:t>Non esiste un'unica implementazione naturale: si sceglie quanto specializzare il modello nel datapath.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41908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484F58"/>
                </a:solidFill>
                <a:latin typeface="Consolas"/>
              </a:rPr>
              <a:t>IPA / eBPF · design space · P1 hardcoded · P2 template · P3 modular · link_state fast-reroute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