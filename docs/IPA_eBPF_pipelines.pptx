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5400000">
            <a:off x="10698480" y="457200"/>
            <a:ext cx="1051560" cy="946403"/>
          </a:xfrm>
          <a:prstGeom prst="hexagon">
            <a:avLst/>
          </a:prstGeom>
          <a:noFill/>
          <a:ln w="15875">
            <a:solidFill>
              <a:srgbClr val="484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5400000">
            <a:off x="11292840" y="1051560"/>
            <a:ext cx="1051560" cy="946403"/>
          </a:xfrm>
          <a:prstGeom prst="hexagon">
            <a:avLst/>
          </a:prstGeom>
          <a:noFill/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5400000">
            <a:off x="10104120" y="1645920"/>
            <a:ext cx="1051560" cy="946403"/>
          </a:xfrm>
          <a:prstGeom prst="hexagon">
            <a:avLst/>
          </a:prstGeom>
          <a:noFill/>
          <a:ln w="15875">
            <a:solidFill>
              <a:srgbClr val="484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65960"/>
            <a:ext cx="822960" cy="8229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1117"/>
                </a:solidFill>
                <a:latin typeface="Segoe UI"/>
              </a:rPr>
              <a:t>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E6EDF3"/>
                </a:solidFill>
                <a:latin typeface="Georgia"/>
              </a:rPr>
              <a:t>IPA / eBPF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5A623"/>
                </a:solidFill>
                <a:latin typeface="Consolas"/>
              </a:rPr>
              <a:t>Tre pipeline di inferenza neurale nel datapath XDP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Lo stesso modello nel kernel Linux in tre modi: dal codice specializzato ai moduli riusabili —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un trade-off tra prestazioni di picco e flessibilità runtime.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P1 hardcoded</a:t>
            </a:r>
            <a:r>
              <a:rPr sz="1300" b="0">
                <a:solidFill>
                  <a:srgbClr val="484F58"/>
                </a:solidFill>
                <a:latin typeface="Consolas"/>
              </a:rPr>
              <a:t>   ·   </a:t>
            </a:r>
            <a:r>
              <a:rPr sz="1300" b="1">
                <a:solidFill>
                  <a:srgbClr val="F5A623"/>
                </a:solidFill>
                <a:latin typeface="Consolas"/>
              </a:rPr>
              <a:t>P2 template</a:t>
            </a:r>
            <a:r>
              <a:rPr sz="1300" b="0">
                <a:solidFill>
                  <a:srgbClr val="484F58"/>
                </a:solidFill>
                <a:latin typeface="Consolas"/>
              </a:rPr>
              <a:t>   ·   </a:t>
            </a:r>
            <a:r>
              <a:rPr sz="1300" b="1">
                <a:solidFill>
                  <a:srgbClr val="F85149"/>
                </a:solidFill>
                <a:latin typeface="Consolas"/>
              </a:rPr>
              <a:t>P3 modular</a:t>
            </a:r>
            <a:r>
              <a:rPr sz="1200" b="0">
                <a:solidFill>
                  <a:srgbClr val="484F58"/>
                </a:solidFill>
                <a:latin typeface="Consolas"/>
              </a:rPr>
              <a:t>      ·   XDP · BPF maps · tail call · int8 · link_state fast-reroute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Il design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Un trade-off tra prestazioni e flessibilità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Lo stesso modello neurale può vivere nel datapath eBPF in </a:t>
            </a:r>
            <a:r>
              <a:rPr sz="1400" b="1">
                <a:solidFill>
                  <a:srgbClr val="F5A623"/>
                </a:solidFill>
                <a:latin typeface="Segoe UI"/>
              </a:rPr>
              <a:t>tre modi</a:t>
            </a:r>
            <a:r>
              <a:rPr sz="1400" b="0">
                <a:solidFill>
                  <a:srgbClr val="E6EDF3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Più si specializza il codice, più aumenta la velocità di picco ma diminuisce la flessibilità a runtime.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E6EDF3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B949E"/>
                </a:solidFill>
                <a:latin typeface="Segoe UI"/>
              </a:rPr>
              <a:t>Aumentando la flessibilità crescono tail call, map lookup e istruzioni eBPF; cala il throughput massimo.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965960"/>
            <a:ext cx="5760720" cy="132588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2472" y="2167128"/>
            <a:ext cx="5303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P1 — Hardcoded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Massime prestazioni, minima flessibilità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1 programma eBPF per modello, pesi nel codice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429000"/>
            <a:ext cx="5760720" cy="132588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2472" y="3630168"/>
            <a:ext cx="5303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P2 — Template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Prestazioni intermedie, flessibilità media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1 programma per architettura, pesi in mappa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892040"/>
            <a:ext cx="5760720" cy="132588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5093207"/>
            <a:ext cx="5303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85149"/>
                </a:solidFill>
                <a:latin typeface="Segoe UI"/>
              </a:rPr>
              <a:t>P3 — Modular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Massima flessibilità, prestazioni inferiori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1 programma per layer, stato in scratch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484F58"/>
                </a:solidFill>
                <a:latin typeface="Consolas"/>
              </a:rPr>
              <a:t>performance  ◀─────────────────▶  flessibilità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Architettura comune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Un pacchetto IPA su UDP, un hook XDP, un MLP int8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874520" cy="1051560"/>
          </a:xfrm>
          <a:prstGeom prst="roundRect">
            <a:avLst/>
          </a:prstGeom>
          <a:solidFill>
            <a:srgbClr val="122A3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UDP :9999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IPA 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148840"/>
            <a:ext cx="1874520" cy="10515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XDP hook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148840"/>
            <a:ext cx="1874520" cy="1051560"/>
          </a:xfrm>
          <a:prstGeom prst="roundRect">
            <a:avLst/>
          </a:prstGeom>
          <a:solidFill>
            <a:srgbClr val="2A200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feature[65]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vettore sparso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2148840"/>
            <a:ext cx="1874520" cy="1051560"/>
          </a:xfrm>
          <a:prstGeom prst="roundRect">
            <a:avLst/>
          </a:prstGeom>
          <a:solidFill>
            <a:srgbClr val="2A200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MLP int8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65-4-4-7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2148840"/>
            <a:ext cx="1874520" cy="1051560"/>
          </a:xfrm>
          <a:prstGeom prst="roundRect">
            <a:avLst/>
          </a:prstGeom>
          <a:solidFill>
            <a:srgbClr val="112A22"/>
          </a:solidFill>
          <a:ln w="19050">
            <a:solidFill>
              <a:srgbClr val="3F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azione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redirect / drop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349240" cy="22860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95928"/>
            <a:ext cx="4892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Il pacchetto IPA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Header custom dentro UDP:9999 con model_id, scale_factor e descrittori delle feature.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Il programma XDP intercetta il pacchetto in ingresso prima dello stack di rete.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Stesso modello e stesso layout feature per le tre pipeline: cambia solo COME sono eseguite.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5349240" cy="22860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995928"/>
            <a:ext cx="4892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Il modello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MLP 65→4→4→7 quantizzato int8 (post-training), scale factor potenza di 2.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Aritmetica intera pura: nessun float nel kernel.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Output = argmax su 7 classi (6 interfacce di uscita + DROP).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Le 65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Come il pacchetto diventa l'input del modello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880360" cy="17373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[0..5]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E6EDF3"/>
                </a:solidFill>
                <a:latin typeface="Consolas"/>
              </a:rPr>
              <a:t>link_state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949E"/>
                </a:solidFill>
                <a:latin typeface="Segoe UI"/>
              </a:rPr>
              <a:t>up/down delle 6
interfacce egress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194560"/>
            <a:ext cx="2880360" cy="17373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3317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[6..11]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6148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E6EDF3"/>
                </a:solidFill>
                <a:latin typeface="Consolas"/>
              </a:rPr>
              <a:t>iface one-hot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4612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949E"/>
                </a:solidFill>
                <a:latin typeface="Segoe UI"/>
              </a:rPr>
              <a:t>porta d'ingresso
(6 valori)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194560"/>
            <a:ext cx="1325880" cy="17373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33172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[12]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761488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E6EDF3"/>
                </a:solidFill>
                <a:latin typeface="Consolas"/>
              </a:rPr>
              <a:t>TTL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4612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949E"/>
                </a:solidFill>
                <a:latin typeface="Segoe UI"/>
              </a:rPr>
              <a:t>scalare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194560"/>
            <a:ext cx="3246120" cy="17373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3317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[13..64]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614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E6EDF3"/>
                </a:solidFill>
                <a:latin typeface="Consolas"/>
              </a:rPr>
              <a:t>node one-hot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4612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B949E"/>
                </a:solidFill>
                <a:latin typeface="Segoe UI"/>
              </a:rPr>
              <a:t>nodo corrente
(52 valori)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10927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Segoe UI"/>
              </a:rPr>
              <a:t>Il vettore è </a:t>
            </a:r>
            <a:r>
              <a:rPr sz="1350" b="1">
                <a:solidFill>
                  <a:srgbClr val="F5A623"/>
                </a:solidFill>
                <a:latin typeface="Segoe UI"/>
              </a:rPr>
              <a:t>sparso</a:t>
            </a:r>
            <a:r>
              <a:rPr sz="1350" b="0">
                <a:solidFill>
                  <a:srgbClr val="8B949E"/>
                </a:solidFill>
                <a:latin typeface="Segoe UI"/>
              </a:rPr>
              <a:t>: a runtime solo poche entry sono non-nulle. Le one-hot e il TTL sono derivate dal pacchetto; </a:t>
            </a:r>
            <a:r>
              <a:rPr sz="1350" b="1">
                <a:solidFill>
                  <a:srgbClr val="3FB950"/>
                </a:solidFill>
                <a:latin typeface="Segoe UI"/>
              </a:rPr>
              <a:t>le prime 6 (link_state) sono lette da una mappa BPF condivisa</a:t>
            </a:r>
            <a:r>
              <a:rPr sz="1350" b="0">
                <a:solidFill>
                  <a:srgbClr val="8B949E"/>
                </a:solidFill>
                <a:latin typeface="Segoe UI"/>
              </a:rPr>
              <a:t> tenuta aggiornata da un monitor userspace.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10927080" cy="105156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76088"/>
            <a:ext cx="10424159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fv[i]            = link_state[i];   /* [0..5]  up/down egress (da mappa)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fv[iface + 5]    = 1;               /* [6..11] iface one-hot           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fv[12] = ttl;    fv[node + 13] = 1; /* [12] TTL   [13..64] node one-hot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link_state — il segnale fast-reroute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Da feature sempre-zero a stato reale delle interfacce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27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Le prime 6 feature sono lo </a:t>
            </a:r>
            <a:r>
              <a:rPr sz="1400" b="1">
                <a:solidFill>
                  <a:srgbClr val="3FB950"/>
                </a:solidFill>
                <a:latin typeface="Segoe UI"/>
              </a:rPr>
              <a:t>stato operativo up/down delle 6 interfacce di uscita</a:t>
            </a:r>
            <a:r>
              <a:rPr sz="1400" b="0">
                <a:solidFill>
                  <a:srgbClr val="E6EDF3"/>
                </a:solidFill>
                <a:latin typeface="Segoe UI"/>
              </a:rPr>
              <a:t>: il segnale centrale del fast-reroute — quale next-hop è disponibile adesso. </a:t>
            </a:r>
            <a:r>
              <a:rPr sz="1400" b="0">
                <a:solidFill>
                  <a:srgbClr val="8B949E"/>
                </a:solidFill>
                <a:latin typeface="Segoe UI"/>
              </a:rPr>
              <a:t>Prima erano sempre 0 (il modello non vedeva mai un guasto); ora sono popolate dal carrier reale.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2439162" cy="1005840"/>
          </a:xfrm>
          <a:prstGeom prst="roundRect">
            <a:avLst/>
          </a:prstGeom>
          <a:solidFill>
            <a:srgbClr val="122A3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3200400"/>
            <a:ext cx="229285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/sys/.../carrier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8386" y="34747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3290" y="3200400"/>
            <a:ext cx="2439162" cy="100584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6442" y="3200400"/>
            <a:ext cx="229285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link_state_monitor.py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polling userspace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34747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3200400"/>
            <a:ext cx="2439162" cy="1005840"/>
          </a:xfrm>
          <a:prstGeom prst="roundRect">
            <a:avLst/>
          </a:prstGeom>
          <a:solidFill>
            <a:srgbClr val="112A14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9652" y="3200400"/>
            <a:ext cx="229285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BPF_ARRAY link_state[6]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1=up 0=down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4806" y="34747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9710" y="3200400"/>
            <a:ext cx="2439162" cy="1005840"/>
          </a:xfrm>
          <a:prstGeom prst="roundRect">
            <a:avLst/>
          </a:prstGeom>
          <a:solidFill>
            <a:srgbClr val="112A22"/>
          </a:solidFill>
          <a:ln w="19050">
            <a:solidFill>
              <a:srgbClr val="3F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2862" y="3200400"/>
            <a:ext cx="229285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XDP feature[0..5]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inferenza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72000"/>
            <a:ext cx="5349240" cy="16002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773168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Come è reso veritiero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 thread legge /sys/class/net/ethX/carrier di ogni egress.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Scrive link_state[i] = 1 (up) / 0 (down) nella mappa condivisa.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 programmi eBPF leggono il valore al pacchetto successivo, senza reload.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349240" cy="16002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773168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Effetto sull'inferenza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Link che cade → la sua feature va a 0 → l'argmax può scegliere un'altra uscita.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All'avvio la mappa è seed a tutti-up (baseline sana).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Unica map letta nell'inferenza di P1 (feature, non peso).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Pipeline 1 — Hardcoded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Pesi come costanti C, inferenza completamente srotolata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874520" cy="1051560"/>
          </a:xfrm>
          <a:prstGeom prst="roundRect">
            <a:avLst/>
          </a:prstGeom>
          <a:solidFill>
            <a:srgbClr val="122A3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packet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148840"/>
            <a:ext cx="1874520" cy="1051560"/>
          </a:xfrm>
          <a:prstGeom prst="roundRect">
            <a:avLst/>
          </a:prstGeom>
          <a:solidFill>
            <a:srgbClr val="112A14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ipa_switch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pesi = letterali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148840"/>
            <a:ext cx="1874520" cy="1051560"/>
          </a:xfrm>
          <a:prstGeom prst="roundRect">
            <a:avLst/>
          </a:prstGeom>
          <a:solidFill>
            <a:srgbClr val="112A14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argmax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unrolled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2148840"/>
            <a:ext cx="1874520" cy="1051560"/>
          </a:xfrm>
          <a:prstGeom prst="roundRect">
            <a:avLst/>
          </a:prstGeom>
          <a:solidFill>
            <a:srgbClr val="112A14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B950"/>
                </a:solidFill>
                <a:latin typeface="Consolas"/>
              </a:rPr>
              <a:t>switch(cls)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ifindex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2148840"/>
            <a:ext cx="1874520" cy="1051560"/>
          </a:xfrm>
          <a:prstGeom prst="roundRect">
            <a:avLst/>
          </a:prstGeom>
          <a:solidFill>
            <a:srgbClr val="112A22"/>
          </a:solidFill>
          <a:ln w="19050">
            <a:solidFill>
              <a:srgbClr val="3F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bpf_redirect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azione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10927080" cy="23317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95928"/>
            <a:ext cx="10469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Come è implementata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 programma eBPF dedicato per modello: i pesi int8 sono letterali signed char nel sorgente C.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Inferenza 65→4→4→7 completamente srotolata (nessun loop), nessuna map lookup per i pesi.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 solo switch(iface) e uno switch(node) per tutto il programma: evita l'esplosione dei rami nel verifier.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link_state[0..5] letto dalla mappa e sommato come ls_i * w[j,i] nei neuroni fc1.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Nessun model_cache: era un residuo (gate is_valid + blob pesi mai usato) — rimosso, ora è hardcoded puro.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Pipeline 1 — il codice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fc1 srotolato: pesi come costanti, link_state dalla mappa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27080" cy="196596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FB950"/>
                </a:solidFill>
                <a:latin typeface="Segoe UI"/>
              </a:rPr>
              <a:t>generato in C (ebpf_program.py)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1042415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84F58"/>
                </a:solidFill>
                <a:latin typeface="Consolas"/>
              </a:rPr>
              <a:t>/* link_state[0..5] letti dalla mappa (feature, non pesi)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_lk=0; _lp=link_state.lookup(&amp;_lk); if (_lp) ls0=(long long)(*_lp);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...  ls5 = link_state[5]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84F58"/>
                </a:solidFill>
                <a:latin typeface="Consolas"/>
              </a:rPr>
              <a:t>/* neurone fc1: pesi come letterali C, nessuna lookup pesi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long long h1_0 = RELU_LL( (__s64)_ttl * 12LL + w_iface_0 + w_node_0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        + ls0*-7LL + ls1*3LL + ls2*0LL + ls3*5LL + ls4*-2LL + ls5*1LL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        + 4LL 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5349240" cy="173736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44568"/>
            <a:ext cx="4892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Perché così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static const array indicizzati da variabili runtime: il verifier rifiuta (relocation → 0).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Soluzione: uno switch unico per iface e per node, scalari su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349240" cy="173736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544568"/>
            <a:ext cx="4892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Costo dell'update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Cambiare modello = rigenera il C, ricompila con LLVM, ricarica XDP.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Nessun hot-swap: massima specializzazione, minima flessibilità.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Pipeline 2 —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Un programma per forma architetturale, pesi letti da mappa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874520" cy="1051560"/>
          </a:xfrm>
          <a:prstGeom prst="roundRect">
            <a:avLst/>
          </a:prstGeom>
          <a:solidFill>
            <a:srgbClr val="122A3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packet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148840"/>
            <a:ext cx="1874520" cy="10515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dispatcher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registry[id]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148840"/>
            <a:ext cx="1874520" cy="1051560"/>
          </a:xfrm>
          <a:prstGeom prst="roundRect">
            <a:avLst/>
          </a:prstGeom>
          <a:solidFill>
            <a:srgbClr val="2A200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arch_65_4_4_7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1 prog / 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2148840"/>
            <a:ext cx="1874520" cy="1051560"/>
          </a:xfrm>
          <a:prstGeom prst="roundRect">
            <a:avLst/>
          </a:prstGeom>
          <a:solidFill>
            <a:srgbClr val="2A200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arch_weights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BPF_ARRAY int8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2148840"/>
            <a:ext cx="1874520" cy="1051560"/>
          </a:xfrm>
          <a:prstGeom prst="roundRect">
            <a:avLst/>
          </a:prstGeom>
          <a:solidFill>
            <a:srgbClr val="112A22"/>
          </a:solidFill>
          <a:ln w="19050">
            <a:solidFill>
              <a:srgbClr val="3F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bpf_redirect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azione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10927080" cy="23317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95928"/>
            <a:ext cx="10469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Come è implementata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 solo programma per forma di rete (arch_65_4_4_7): N modelli con la stessa architettura lo riusano.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Il dispatcher legge arch_registry[model_id] → arch_id e fa una tail call al programma architetturale.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 pesi int8 stanno in arch_weights (BPF_ARRAY), letti a runtime con lookup su indice aritmetico.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link_state[0..5] letto nel loop fc1: acc += link_state[i] * arch_weights[woff + j*65 + i].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Aggiornamento del modello = bpf_map_update_elem sui pesi. Nessuna ricompilazione, nessun reload.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Pipeline 2 — il codice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Prodotto scalare sparso via lookup su BPF_ARRAY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27080" cy="196596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arch_65_4_4_7 (ebpf_template_arch.py)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1042415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for (j = 0; j &lt; 4; j++) {          /* neuroni fc1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    acc = bias(j);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    acc += ttl  * W[woff + j*65 + 12];      /* TTL  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    for (i = 0; i &lt; 6; i++)                 /* link_state [0..5]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        acc += link_state[i] * W[woff + j*65 + i];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    acc += W[iface_idx];  acc += W[node_idx];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    h1[j] = RELU(acc);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5349240" cy="173736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44568"/>
            <a:ext cx="4892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Perché la mappa va bene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BPF_ARRAY è un oggetto kernel registrato: l'indice aritmetico è sicuro per il verifier.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Niente relocation, niente puntatori non risolti.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349240" cy="173736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544568"/>
            <a:ext cx="4892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Flessibilità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 pesi si cambiano a runtime senza toccare il codice eBPF.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Prestazioni intermedie (287 ns): tra P1 hardcoded e P3 modular.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Pipeline 3 —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Rete scomposta in layer, stato intermedio in scratch PERCPU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874520" cy="10515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dispatcher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scrive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148840"/>
            <a:ext cx="1874520" cy="1051560"/>
          </a:xfrm>
          <a:prstGeom prst="roundRect">
            <a:avLst/>
          </a:prstGeom>
          <a:solidFill>
            <a:srgbClr val="2A1211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layer_65_4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fc1 + ReLU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148840"/>
            <a:ext cx="1874520" cy="1051560"/>
          </a:xfrm>
          <a:prstGeom prst="roundRect">
            <a:avLst/>
          </a:prstGeom>
          <a:solidFill>
            <a:srgbClr val="2A1211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layer_4_4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fc2 + ReLU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2148840"/>
            <a:ext cx="1874520" cy="1051560"/>
          </a:xfrm>
          <a:prstGeom prst="roundRect">
            <a:avLst/>
          </a:prstGeom>
          <a:solidFill>
            <a:srgbClr val="2A1211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85149"/>
                </a:solidFill>
                <a:latin typeface="Consolas"/>
              </a:rPr>
              <a:t>layer_4_7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out + argmax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4460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2148840"/>
            <a:ext cx="1874520" cy="1051560"/>
          </a:xfrm>
          <a:prstGeom prst="roundRect">
            <a:avLst/>
          </a:prstGeom>
          <a:solidFill>
            <a:srgbClr val="112A22"/>
          </a:solidFill>
          <a:ln w="19050">
            <a:solidFill>
              <a:srgbClr val="3F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4884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bpf_redirect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azione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10927080" cy="23317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95928"/>
            <a:ext cx="10469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85149"/>
                </a:solidFill>
                <a:latin typeface="Segoe UI"/>
              </a:rPr>
              <a:t>Come è implementata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Ogni layer è un programma eBPF separato; sono concatenati via layer_chain (BPF_PROG_ARRAY) con tail call.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Le attivazioni intermedie passano in una BPF_PERCPU_ARRAY (scratch): niente stack, niente contese.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Il dispatcher scrive le feature in scratch — incluse link_state[0..5] nei primi 6 slot — e avvia la catena.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3 tail call reali per pacchetto; l'ultimo blocco calcola argmax → key → fwd_table → bpf_redirect.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Aggiornamento = cambia pesi e/o sequenza dei layer; hot-swap di un singolo blocco senza reload.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Pipeline 3 — il codice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Il dispatcher scrive le feature; i layer leggono lo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27080" cy="1828800"/>
          </a:xfrm>
          <a:prstGeom prst="round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10469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85149"/>
                </a:solidFill>
                <a:latin typeface="Segoe UI"/>
              </a:rPr>
              <a:t>modular_dispatcher (ebpf_modular.py)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104241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Consolas"/>
              </a:rPr>
              <a:t>for (i = 0; i &lt; 65; i++) scratch_acts[i] = 0;    /* azzera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for (i = 0; i &lt; 6;  i++)                          /* link_state [0..5] */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FB950"/>
                </a:solidFill>
                <a:latin typeface="Consolas"/>
              </a:rPr>
              <a:t>    scratch_acts[i] = link_state[i];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6EDF3"/>
                </a:solidFill>
                <a:latin typeface="Consolas"/>
              </a:rPr>
              <a:t>scratch_acts[12] = ttl;  scratch_acts[6+iface] = 1;  scratch_acts[13+node] = 1;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5A623"/>
                </a:solidFill>
                <a:latin typeface="Consolas"/>
              </a:rPr>
              <a:t>layer_chain.call(ctx, 0);        /* tail call -&gt; layer_65_4 */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5349240" cy="1874519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407407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scratch PERCPU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Ogni CPU ha la sua copia: nessun lock, nessuna contesa.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 layer leggono/scrivono le attivazioni intermedie qui.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Il layout 65 feature è identico a P1/P2.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06240"/>
            <a:ext cx="5349240" cy="1874519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407407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Catena di tail call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dispatcher → layer_65_4 → layer_4_4 → layer_4_7_argmax.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Cambiare architettura = cambiare la sequenza in layer_chain.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Massima flessibilità, al costo di 3 salti per pacchetto.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Dall'argmax all'azione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Chiave di forwarding e redirect — comune alle tre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874520" cy="1051560"/>
          </a:xfrm>
          <a:prstGeom prst="roundRect">
            <a:avLst/>
          </a:prstGeom>
          <a:solidFill>
            <a:srgbClr val="122A3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19456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8A6FF"/>
                </a:solidFill>
                <a:latin typeface="Consolas"/>
              </a:rPr>
              <a:t>argmax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best_val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249173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194560"/>
            <a:ext cx="1874520" cy="10515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9456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key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(val + OFF·scale)/scale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49173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194560"/>
            <a:ext cx="1874520" cy="1051560"/>
          </a:xfrm>
          <a:prstGeom prst="roundRect">
            <a:avLst/>
          </a:prstGeom>
          <a:solidFill>
            <a:srgbClr val="2A200A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19456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A623"/>
                </a:solidFill>
                <a:latin typeface="Consolas"/>
              </a:rPr>
              <a:t>fwd_table[key]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9173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2194560"/>
            <a:ext cx="1874520" cy="1051560"/>
          </a:xfrm>
          <a:prstGeom prst="roundRect">
            <a:avLst/>
          </a:prstGeom>
          <a:solidFill>
            <a:srgbClr val="1B222E"/>
          </a:solidFill>
          <a:ln w="1905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219456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6EDF3"/>
                </a:solidFill>
                <a:latin typeface="Consolas"/>
              </a:rPr>
              <a:t>MAC rewrite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src/dst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491739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2194560"/>
            <a:ext cx="1874520" cy="1051560"/>
          </a:xfrm>
          <a:prstGeom prst="roundRect">
            <a:avLst/>
          </a:prstGeom>
          <a:solidFill>
            <a:srgbClr val="112A22"/>
          </a:solidFill>
          <a:ln w="19050">
            <a:solidFill>
              <a:srgbClr val="3FD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194560"/>
            <a:ext cx="172821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D0C8"/>
                </a:solidFill>
                <a:latin typeface="Consolas"/>
              </a:rPr>
              <a:t>bpf_redirect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B949E"/>
                </a:solidFill>
                <a:latin typeface="Segoe UI"/>
              </a:rPr>
              <a:t>ifindex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349240" cy="23317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95928"/>
            <a:ext cx="48920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Chiave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key = (best_val + OFFSET·scale) / scale (divisione unsigned).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OFFSET mantiene il numeratore positivo (BPF non ha divisione signed 64-bit).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La stessa formula in P1/P2/P3 rende le tre pipeline confrontabili.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5349240" cy="23317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995928"/>
            <a:ext cx="48920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Azione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HIT: fwd_table[key] trovata e TTL coerente → riscrive MAC → bpf_redirect.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FAKE: key presente ma TTL sbagliato → evento verso il control plane.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MISS: nessuna regola → XDP_PASS.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Verifica nel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BPF_PROG_TEST_RUN — indipendente dalla rete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Il fabric Kathara non consegna UDP:9999 end-to-end, quindi la correttezza si verifica caricando i programmi XDP reali ed eseguendo </a:t>
            </a:r>
            <a:r>
              <a:rPr sz="1400" b="1">
                <a:solidFill>
                  <a:srgbClr val="F5A623"/>
                </a:solidFill>
                <a:latin typeface="Consolas"/>
              </a:rPr>
              <a:t>BPF_PROG_TEST_RUN</a:t>
            </a:r>
            <a:r>
              <a:rPr sz="1400" b="0">
                <a:solidFill>
                  <a:srgbClr val="E6EDF3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E6EDF3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Per P2/P3 la verifica è </a:t>
            </a:r>
            <a:r>
              <a:rPr sz="1400" b="1">
                <a:solidFill>
                  <a:srgbClr val="3FD0C8"/>
                </a:solidFill>
                <a:latin typeface="Segoe UI"/>
              </a:rPr>
              <a:t>a due passate</a:t>
            </a:r>
            <a:r>
              <a:rPr sz="1400" b="0">
                <a:solidFill>
                  <a:srgbClr val="8B949E"/>
                </a:solidFill>
                <a:latin typeface="Segoe UI"/>
              </a:rPr>
              <a:t>: si cattura la chiave di forwarding emessa dal kernel, la si installa in fwd_table, si ri-esegue e si controlla che il redirect scatti.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La baseline usa link_state seed a tutti-up, coerente con il modello di riferimento in Python.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Criterio di PASS: retval ∈ {0,4} (redirect) e pkt_stats[HIT] &gt;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92040"/>
            <a:ext cx="10927080" cy="1051560"/>
          </a:xfrm>
          <a:prstGeom prst="roundRect">
            <a:avLst/>
          </a:prstGeom>
          <a:solidFill>
            <a:srgbClr val="112A14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FB950"/>
                </a:solidFill>
                <a:latin typeface="Consolas"/>
              </a:rPr>
              <a:t>✓  3 pipeline · TTL 1–5 · 5/5 PASS ciascuna · pkt_stats HIT · kernel suite: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Risultati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Metriche reali dal kernel (BPF_PROG_TEST_RUN, modello 65-4-4-7)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858621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64792"/>
                <a:gridCol w="1764792"/>
                <a:gridCol w="1764792"/>
              </a:tblGrid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8B949E"/>
                          </a:solidFill>
                          <a:latin typeface="Segoe UI"/>
                        </a:rPr>
                        <a:t>Metrica</a:t>
                      </a:r>
                    </a:p>
                  </a:txBody>
                  <a:tcPr marL="109728" marR="73152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8B949E"/>
                          </a:solidFill>
                          <a:latin typeface="Consolas"/>
                        </a:rPr>
                        <a:t>P1 hardcoded</a:t>
                      </a:r>
                    </a:p>
                  </a:txBody>
                  <a:tcPr marL="109728" marR="73152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8B949E"/>
                          </a:solidFill>
                          <a:latin typeface="Consolas"/>
                        </a:rPr>
                        <a:t>P2 template</a:t>
                      </a:r>
                    </a:p>
                  </a:txBody>
                  <a:tcPr marL="109728" marR="73152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8B949E"/>
                          </a:solidFill>
                          <a:latin typeface="Consolas"/>
                        </a:rPr>
                        <a:t>P3 modular</a:t>
                      </a:r>
                    </a:p>
                  </a:txBody>
                  <a:tcPr marL="109728" marR="73152" marT="18288" marB="18288" anchor="ctr">
                    <a:solidFill>
                      <a:srgbClr val="161B22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Istruzioni eBPF (xlated)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996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2 897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13 645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Codice jited (byte)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4 658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12 575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58 146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Tail calls / pacchetto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0 (leaf)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Map lookup / pkt (stima)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322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384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Memoria mappe (byte)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264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15 796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28 468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Latenza (ns / pkt)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287.0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1274.0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Throughput (Mpps)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13.889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3.484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0.785</a:t>
                      </a:r>
                    </a:p>
                  </a:txBody>
                  <a:tcPr marL="109728" marR="73152" marT="18288" marB="18288" anchor="ctr">
                    <a:solidFill>
                      <a:srgbClr val="1B222E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6EDF3"/>
                          </a:solidFill>
                          <a:latin typeface="Segoe UI"/>
                        </a:rPr>
                        <a:t>CPU (%)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58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61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E6EDF3"/>
                          </a:solidFill>
                          <a:latin typeface="Consolas"/>
                        </a:rPr>
                        <a:t>80</a:t>
                      </a:r>
                    </a:p>
                  </a:txBody>
                  <a:tcPr marL="109728" marR="73152" marT="18288" marB="18288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509760" y="2011680"/>
            <a:ext cx="2057400" cy="338328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65792" y="2212848"/>
            <a:ext cx="16002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D0C8"/>
                </a:solidFill>
                <a:latin typeface="Segoe UI"/>
              </a:rPr>
              <a:t>Lettura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P1 più veloce: 72 ns, 13.9 Mpps.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P1 più compatto: 264 B, 996 istr.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Ogni costo cresce P1→P2→P3.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D0C8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P3 ≈12× istruzioni di P1.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927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Confronto pulito: </a:t>
            </a:r>
            <a:r>
              <a:rPr sz="1200" b="0">
                <a:solidFill>
                  <a:srgbClr val="8B949E"/>
                </a:solidFill>
                <a:latin typeface="Segoe UI"/>
              </a:rPr>
              <a:t>P1 è sceso da 1109 a 72 ns rimuovendo 3 bpf_trace_printk per pacchetto (assenti in P2/P3) che falsavano il baseline. L'inferenza è identica nelle 3 (chiave kernel = riferimento Python); differisce solo il design. Ordine coerente con la tassonomia.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link_state nelle tre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Stessa mappa, tre modi di leggerla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0440" cy="32004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30632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P1 — Hardcoded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6 lookup link_state[i] all'inizio dell'inferenza.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Sommati come ls_i * w[j,i] con w letterali C.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Unica mappa letta: è input, non peso.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Design hardcoded puro preservato.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2103120"/>
            <a:ext cx="3520440" cy="32004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04288"/>
            <a:ext cx="30632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P2 — Template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Lookup link_state[i] nel loop fc1.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Prodotto con arch_weights[woff + j*65 + i].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Stessa mappa, pesi separati in BPF_ARRAY.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Nessuna ricompilazione per l'update.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103120"/>
            <a:ext cx="3566160" cy="32004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2304288"/>
            <a:ext cx="3108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85149"/>
                </a:solidFill>
                <a:latin typeface="Segoe UI"/>
              </a:rPr>
              <a:t>P3 — Modular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Il dispatcher copia link_state[0..5] in scratch_acts.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 layer-block la trattano come qualunque attivazione.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La feature attraversa la catena di tail call.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Massima uniformità del datapath.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27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6EDF3"/>
                </a:solidFill>
                <a:latin typeface="Segoe UI"/>
              </a:rPr>
              <a:t>Un unico monitor userspace </a:t>
            </a:r>
            <a:r>
              <a:rPr sz="1300" b="1">
                <a:solidFill>
                  <a:srgbClr val="3FD0C8"/>
                </a:solidFill>
                <a:latin typeface="Consolas"/>
              </a:rPr>
              <a:t>(link_state_monitor.py)</a:t>
            </a:r>
            <a:r>
              <a:rPr sz="1300" b="0">
                <a:solidFill>
                  <a:srgbClr val="8B949E"/>
                </a:solidFill>
                <a:latin typeface="Segoe UI"/>
              </a:rPr>
              <a:t> alimenta la stessa mappa condivisa: il fast-reroute reagisce ai guasti indipendentemente dalla pipeline scelta.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5A623"/>
                </a:solidFill>
                <a:latin typeface="Georgia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5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Georgia"/>
              </a:rPr>
              <a:t>I vincoli del verifier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102412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Segoe UI"/>
              </a:rPr>
              <a:t>Perché il codice ha questa forma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49240" cy="1874519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50008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No array statici indicizzati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static const indicizzato da variabile runtime → relocation fallisce, l'accesso collassa a 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P1: uno switch(iface) e uno switch(node) unici, scalari su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349240" cy="1874519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350008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No esplosione dei rami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switch per-neurone → O((7·52)^neuroni) percorsi: il verifier si arrende.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Un solo switch che assegna il contributo di tutti i neuroni insieme: O(7+52).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5349240" cy="1874519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07407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Protocollo per offset assoluto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ip-&gt;protocol come bitfield si sballa con header minimali BCC/Kathara.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Letto all'offset RFC 791 (byte 9); UDP header via ihl*4.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349240" cy="1874519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407407"/>
            <a:ext cx="48920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Pesi come byte unsigned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BCC vecchio non risolve il leaf signed char in alcune mappe.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Storage __u8, cast a __s8 prima dell'aritmetica (bit pattern identico).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5400000">
            <a:off x="10881360" y="502920"/>
            <a:ext cx="1005840" cy="905256"/>
          </a:xfrm>
          <a:prstGeom prst="hexagon">
            <a:avLst/>
          </a:prstGeom>
          <a:noFill/>
          <a:ln w="15875">
            <a:solidFill>
              <a:srgbClr val="484F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5400000">
            <a:off x="11430000" y="1097280"/>
            <a:ext cx="1005840" cy="905256"/>
          </a:xfrm>
          <a:prstGeom prst="hexagon">
            <a:avLst/>
          </a:prstGeom>
          <a:noFill/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E6EDF3"/>
                </a:solidFill>
                <a:latin typeface="Georgia"/>
              </a:rPr>
              <a:t>Il costo della flessibilità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4630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Aumentando la flessibilità: più tail call, più map lookup, più istruzioni — meno prestazioni di picco.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520440" cy="21031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P1 Hardcoded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Update = ricompila + ricarica XDP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Datapath: massima specializzazione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FB950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Memoria mappe minima (puro)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468880"/>
            <a:ext cx="3520440" cy="21031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70048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5A623"/>
                </a:solidFill>
                <a:latin typeface="Segoe UI"/>
              </a:rPr>
              <a:t>P2 Template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Update = bpf_map_update_elem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Prestazioni intermedie (287 ns)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5A623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Buon compromesso pratico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468880"/>
            <a:ext cx="3566160" cy="210312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26700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F85149"/>
                </a:solidFill>
                <a:latin typeface="Segoe UI"/>
              </a:rPr>
              <a:t>P3 Modular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Update = hot-swap di un layer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Massima flessibilità runtime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F85149"/>
                </a:solidFill>
                <a:latin typeface="Segoe UI"/>
              </a:rPr>
              <a:t>•  </a:t>
            </a:r>
            <a:r>
              <a:rPr sz="1100" b="0">
                <a:solidFill>
                  <a:srgbClr val="8B949E"/>
                </a:solidFill>
                <a:latin typeface="Segoe UI"/>
              </a:rPr>
              <a:t>Overhead: 3 tail call + scratch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10927080" cy="10515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D1117"/>
                </a:solidFill>
                <a:latin typeface="Georgia"/>
              </a:rPr>
              <a:t>Non esiste un'unica implementazione naturale: si sceglie quanto specializzare il modello nel datapath.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484F58"/>
                </a:solidFill>
                <a:latin typeface="Consolas"/>
              </a:rPr>
              <a:t>IPA / eBPF · design space · P1 hardcoded · P2 template · P3 modular · link_state fast-reroute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