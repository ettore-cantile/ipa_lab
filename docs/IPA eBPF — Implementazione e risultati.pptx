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deck copre l'implementazione e i risultati, non la tesi. Ogni cifra viene da un run registrato; dove una misura non regge, il deck lo dice invece di nasconderlo.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 la pena leggerla ad alta voce se in sala c'e' qualcuno che non lavora sul kernel. Le due righe che di solito servono davvero sono "istruzioni" e "baseline": senza, meta' dei grafici sembrano dire il contrario di quello che dicono.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e' la mappa: serve a mostrare che gli otto punti sono coperti e a dare al lettore l'ordine in cui arrivano.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punto della slide: la scala non e' una classifica di velocita', e' una scala di quanto si sa al momento di compilare. Ogni casella verde in piu' e' una ricompilazione in meno quando il modello cambia. La colonna "porte del nodo" e' l'aggiunta piu' recente e vale solo per p1_static: P1.5 serve tutta la rete da un binario solo, quindi deve tenere la larghezza piena del modello. Il costo di quella colonna NON e' ancora misurato - asse `degree` di bench_scaling.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e' la slide che spiega perche' piu' avanti la sparsita' abbassa P1 di 4,8 volte e non tocca P2 e P3 di un'istruzione.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riga che il relatore chiedeva: il costo di rendere configurabili le feature. 614 -&gt; 1071 istruzioni fra p1_static e hardcoded, e in latenza 29 -&gt; 37 ns, cioe' quasi nulla; poi il salto vero a 149 quando anche l'architettura diventa runtime. Da dire se chiedono: lo stesso identico programma misurato in un altro sweep dello stesso giorno dava 53/62/266/430 ns, un fattore 1,8 UNIFORME su tutte e quattro. Le istruzioni erano identiche al bit. E' la frequenza effettiva della macchina, non una differenza fra le pipeline: per questo si citano i rapporti e non i nanosecondi assoluti.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costo di compilare va confrontato con quello di CAMBIARE modello, non con quello di partire. Le generiche compilano una volta all'accensione del nodo e mai piu'; le specializzate ricompilano a ogni modello nuovo. Se i modelli si aggiornano spesso, il conto si ribalta.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parte da dire a voce e' la seconda casella scura. Avevo previsto il contrario, e la misura mi ha smentito: il meccanismo e' reale - quelle moltiplicazioni vengono davvero eseguite - ma sono 16 su circa 979 istruzioni, e la misura non le distingue dalla propria dispersione. La riduzione di dimensione e' dimostrata, il guadagno di tempo no. Da misurare ancora: l'incrocio con la sparsita', perche' con pesi molto sparsi il compilatore cancella gia' parte di quel lavoro.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pannello in basso a destra e' quello da non saltare: dice che la specializzazione sul nodo e la sparsita' dei pesi competono per lo stesso guadagno. Se i pesi sono gia' quasi tutti zero, congelare il nodo non aggiunge niente.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figura nel repository e' in scala logaritmica, altrimenti le due curve P1 restano schiacciate contro le 14 628 istruzioni di P2 e il confronto fra loro, che e' il punto, non si vede.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e' anche l'unica leva che fa scendere insieme dimensione E tempo: -79% di istruzioni e -41% di latenza. Sull'asse delle porte le istruzioni scendevano e il tempo no; qui scendono tutte e due, perche' spariscono moltiplicazioni che venivano davvero eseguite ogni volta.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risposta al perche' sta nelle due righe in fondo alla tabella - i salti e le letture - non nella prima. E' il tema della slide successiva.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Quella nota in fondo e' la prova piu' forte che il numero di istruzioni non misura il costo: stesso tempo, il 39% di codice in piu' o in meno.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 il risultato che serve a chi deve scegliere l'architettura. Se il nodo usa una versione generica, spendere il budget di pesi in profondita' costa quasi il doppio che spenderlo in larghezza. Se usa una specializzata, puo' scegliere in base all'accuratezza e basta.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fattore s^(l-1) e' quello che nel progetto ha portato l'accordo float/int8 dal 72% al 96%. E' l'unica parte non ovvia della formula e va spiegata a voce.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punto da dire a voce: un test verde non vuol dire codice corretto, vuol dire due implementazioni d'accordo. Qui erano d'accordo sull'errore. E' la ragione per cui il confronto e' diventato a quattro vie e non a due.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Funzionava per coincidenza: nel modello di riferimento la scelta numero k cadeva sulla porta numero k per le prime cinque. Tenere separate le due numerazioni non aggiunge funzioni - fa emergere gli errori che la coincidenza nascondeva, come il contatore.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Quella nota e' costata un giro a vuoto: riempivo la tabella al posto sbagliato e le percentuali non si muovevano di un centesimo. Percentuali identiche al centesimo vogliono dire codice mai eseguito, non codice sbagliato: e' un sintomo che vale la pena riconoscere.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colonna dei numeri in ingresso si ricalcola a mano riga per riga, ed e' il punto: se il motore fosse ancora cucito su una rete sola, queste cinque righe direbbero tutte lo stesso numero. Sono le schede vere degli scenari, non un esempio costruito.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Senza la terza riga il secondo caso sembra il primo. Nel run reale e' esattamente quello che e' successo.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generatore non fa solo numeri a caso: rispetta la struttura degli ingressi, che e' la parte che il programma nel kernel puo' davvero sbagliare. Tipo, intervallo, vincoli, codifica, dimensione complessiva.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 di metodo: non si usano i 1000 ingressi generati a tavolino perche' il programma nel kernel non riceve un elenco di numeri, se lo costruisce da tabelle, TTL, porta d'ingresso e identita' del nodo. Confrontare su ingressi che una delle due parti non potrebbe mai vedere non direbbe niente.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L'affermazione "la scheda si legge mentre il programma gira, quindi qualunque modello va bene" andava verificata voce per voce, non in blocco. L'unico numero che deve per forza seguire il modello era proprio l'unico scritto nel codice.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 baseline e P1 restino identiche AL CONTEGGIO e' la verifica che il cambiamento non ha toccato percorsi che non doveva. La latenza invece si e' spostata su tutte e quattro le colonne, baseline compresa: quello e' rumore.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terzo banco e' un test di controllo, ed e' quello che ha cambiato la lettura di tutti gli altri numeri. Senza di lui non si poteva dire se a fermarsi fosse il nodo o il banco.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 dire a voce: la correzione e' al ribasso. Il costo di P2 sopra la baseline era stimato ~200 ns confrontando latenze end-to-end che contenevano ciascuna il proprio trasporto. Separato, e' 156. Il numero vecchio era gonfiato del 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domanda che questa slide lascia aperta e' esattamente quella che la prossima chiude: a fermarsi e' il nodo o il banco? Non si puo' rispondere da dentro questi dati.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 lanciare SEMPRE da solo: in coda allo sweep, sulla stessa macchina ancora calda, la stessa misura ha dato 1,26 Mpps invece di 3,73. Quel run e' stato buttato.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due muri sono dati, non guasti. Il primo e' il piu' insidioso: un numero plausibile di un programma che non fa niente e' peggio di un errore rumoroso.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controprova: sull'asse a colonna singola l'ingresso va da 16 a 65 e i pesi da 271 a 663, ma la latenza resta 88/89/88 su P1 specializzata e 507/487/509 su P3. Le istruzioni intanto salgono da 1146 a 1702: la taglia statica cresce, il percorso eseguito no. Attenzione: hardcoded (+22%) e template (+28%) si muovono al punto piu' largo - su hardcoded e' plausibile la pressione sulla cache istruzioni, su template e' dentro il rumore. Le righe piatte da citare sono le altre due.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 mostrare affiancati e lasciare parlare: sono gli stessi identici punti misurati, cambia solo che cosa si mette sull'asse orizzontale. A sinistra sembra che il modello non spieghi niente; a destra si legge una costante per ogni versione.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Tenuta in deck apposta: una previsione sbagliata e' un risultato, e toglierla sarebbe riscrivere la storia. Il metodo che l'ha smentita e' lo stesso che l'aveva prodotta -- misurare invece di dedurre.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Chiudere sui limiti non e' modestia: e' cio' che rende citabili le righe della colonna di sinistra. La riga sulle dimensioni deterministiche e' quella che ha salvato tutto: 546 contro 614, oppure 614 contro 1071, sono numeri identici a ogni run - ed e' proprio perche' NON si muovevano che si e' capito che a sbagliare era il cronometro e non i programmi.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07"/>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E8A87C"/>
                </a:solidFill>
                <a:latin typeface="JetBrains Mono" pitchFamily="34" charset="0"/>
                <a:ea typeface="JetBrains Mono" pitchFamily="34" charset="-122"/>
                <a:cs typeface="JetBrains Mono" pitchFamily="34" charset="-120"/>
              </a:rPr>
              <a:t>INFERENZA DI RETE NEURALE DENTRO IL KERNEL LINUX</a:t>
            </a:r>
            <a:endParaRPr lang="en-US" sz="1400" dirty="0"/>
          </a:p>
        </p:txBody>
      </p:sp>
      <p:sp>
        <p:nvSpPr>
          <p:cNvPr id="3" name="Text 1"/>
          <p:cNvSpPr/>
          <p:nvPr/>
        </p:nvSpPr>
        <p:spPr>
          <a:xfrm>
            <a:off x="812800" y="1873316"/>
            <a:ext cx="10883392" cy="2265561"/>
          </a:xfrm>
          <a:prstGeom prst="rect">
            <a:avLst/>
          </a:prstGeom>
          <a:noFill/>
          <a:ln/>
        </p:spPr>
        <p:txBody>
          <a:bodyPr wrap="square" lIns="0" tIns="0" rIns="0" bIns="0" rtlCol="0" anchor="t">
            <a:normAutofit/>
          </a:bodyPr>
          <a:lstStyle/>
          <a:p>
            <a:pPr algn="l" indent="0" marL="0">
              <a:lnSpc>
                <a:spcPts val="5880"/>
              </a:lnSpc>
              <a:buNone/>
            </a:pPr>
            <a:r>
              <a:rPr lang="en-US" sz="5600" b="1" dirty="0">
                <a:solidFill>
                  <a:srgbClr val="FBFBF8"/>
                </a:solidFill>
                <a:latin typeface="IBM Plex Sans" pitchFamily="34" charset="0"/>
                <a:ea typeface="IBM Plex Sans" pitchFamily="34" charset="-122"/>
                <a:cs typeface="IBM Plex Sans" pitchFamily="34" charset="-120"/>
              </a:rPr>
              <a:t>Quattro versioni,</a:t>
            </a:r>
            <a:endParaRPr lang="en-US" sz="5600" dirty="0"/>
          </a:p>
          <a:p>
            <a:pPr algn="l" indent="0" marL="0">
              <a:lnSpc>
                <a:spcPts val="5880"/>
              </a:lnSpc>
              <a:buNone/>
            </a:pPr>
            <a:r>
              <a:rPr lang="en-US" sz="5600" b="1" dirty="0">
                <a:solidFill>
                  <a:srgbClr val="FBFBF8"/>
                </a:solidFill>
                <a:latin typeface="IBM Plex Sans" pitchFamily="34" charset="0"/>
                <a:ea typeface="IBM Plex Sans" pitchFamily="34" charset="-122"/>
                <a:cs typeface="IBM Plex Sans" pitchFamily="34" charset="-120"/>
              </a:rPr>
              <a:t>otto esperimenti,</a:t>
            </a:r>
            <a:endParaRPr lang="en-US" sz="5600" dirty="0"/>
          </a:p>
          <a:p>
            <a:pPr algn="l" indent="0" marL="0">
              <a:lnSpc>
                <a:spcPts val="5880"/>
              </a:lnSpc>
              <a:buNone/>
            </a:pPr>
            <a:r>
              <a:rPr lang="en-US" sz="5600" b="1" dirty="0">
                <a:solidFill>
                  <a:srgbClr val="FBFBF8"/>
                </a:solidFill>
                <a:latin typeface="IBM Plex Sans" pitchFamily="34" charset="0"/>
                <a:ea typeface="IBM Plex Sans" pitchFamily="34" charset="-122"/>
                <a:cs typeface="IBM Plex Sans" pitchFamily="34" charset="-120"/>
              </a:rPr>
              <a:t>due difetti trovati</a:t>
            </a:r>
            <a:endParaRPr lang="en-US" sz="5600" dirty="0"/>
          </a:p>
        </p:txBody>
      </p:sp>
      <p:sp>
        <p:nvSpPr>
          <p:cNvPr id="4" name="Text 2"/>
          <p:cNvSpPr/>
          <p:nvPr/>
        </p:nvSpPr>
        <p:spPr>
          <a:xfrm>
            <a:off x="812800" y="4316677"/>
            <a:ext cx="915670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BFD8D5"/>
                </a:solidFill>
                <a:latin typeface="IBM Plex Sans" pitchFamily="34" charset="0"/>
                <a:ea typeface="IBM Plex Sans" pitchFamily="34" charset="-122"/>
                <a:cs typeface="IBM Plex Sans" pitchFamily="34" charset="-120"/>
              </a:rPr>
              <a:t>Una rete neurale che decide dove mandare i pacchetti, dentro il kernel Linux. Che cosa è stato costruito, e che cosa dicono le misure.</a:t>
            </a:r>
            <a:endParaRPr lang="en-US" sz="2000" dirty="0"/>
          </a:p>
        </p:txBody>
      </p:sp>
      <p:sp>
        <p:nvSpPr>
          <p:cNvPr id="5" name="Text 3"/>
          <p:cNvSpPr/>
          <p:nvPr/>
        </p:nvSpPr>
        <p:spPr>
          <a:xfrm>
            <a:off x="812800" y="5814087"/>
            <a:ext cx="5305708"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FA3BF"/>
                </a:solidFill>
                <a:latin typeface="JetBrains Mono" pitchFamily="34" charset="0"/>
                <a:ea typeface="JetBrains Mono" pitchFamily="34" charset="-122"/>
                <a:cs typeface="JetBrains Mono" pitchFamily="34" charset="-120"/>
              </a:rPr>
              <a:t>Quattro versioni a confronto · tre modi di misurarle</a:t>
            </a:r>
            <a:endParaRPr lang="en-US" sz="1300" dirty="0"/>
          </a:p>
        </p:txBody>
      </p:sp>
      <p:sp>
        <p:nvSpPr>
          <p:cNvPr id="6" name="Text 4"/>
          <p:cNvSpPr/>
          <p:nvPr/>
        </p:nvSpPr>
        <p:spPr>
          <a:xfrm>
            <a:off x="6370373" y="5814087"/>
            <a:ext cx="143768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FA3BF"/>
                </a:solidFill>
                <a:latin typeface="JetBrains Mono" pitchFamily="34" charset="0"/>
                <a:ea typeface="JetBrains Mono" pitchFamily="34" charset="-122"/>
                <a:cs typeface="JetBrains Mono" pitchFamily="34" charset="-120"/>
              </a:rPr>
              <a:t>settembre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07963"/>
          </a:xfrm>
          <a:prstGeom prst="rect">
            <a:avLst/>
          </a:prstGeom>
          <a:noFill/>
          <a:ln/>
        </p:spPr>
        <p:txBody>
          <a:bodyPr wrap="square" lIns="0" tIns="0" rIns="0" bIns="0" rtlCol="0" anchor="t">
            <a:normAutofit/>
          </a:bodyPr>
          <a:lstStyle/>
          <a:p>
            <a:pPr algn="l" indent="0" marL="0">
              <a:lnSpc>
                <a:spcPts val="1473"/>
              </a:lnSpc>
              <a:buNone/>
            </a:pPr>
            <a:r>
              <a:rPr lang="en-US" sz="1052" spc="100" kern="0" dirty="0">
                <a:solidFill>
                  <a:srgbClr val="C2410C"/>
                </a:solidFill>
                <a:latin typeface="JetBrains Mono" pitchFamily="34" charset="0"/>
                <a:ea typeface="JetBrains Mono" pitchFamily="34" charset="-122"/>
                <a:cs typeface="JetBrains Mono" pitchFamily="34" charset="-120"/>
              </a:rPr>
              <a:t>DIECI PAROLE, PER LEGGERE TUTTO IL RESTO</a:t>
            </a:r>
            <a:endParaRPr lang="en-US" sz="1052" dirty="0"/>
          </a:p>
        </p:txBody>
      </p:sp>
      <p:sp>
        <p:nvSpPr>
          <p:cNvPr id="3" name="Text 1"/>
          <p:cNvSpPr/>
          <p:nvPr/>
        </p:nvSpPr>
        <p:spPr>
          <a:xfrm>
            <a:off x="812800" y="1058863"/>
            <a:ext cx="10883392" cy="345414"/>
          </a:xfrm>
          <a:prstGeom prst="rect">
            <a:avLst/>
          </a:prstGeom>
          <a:noFill/>
          <a:ln/>
        </p:spPr>
        <p:txBody>
          <a:bodyPr wrap="square" lIns="0" tIns="0" rIns="0" bIns="0" rtlCol="0" anchor="t">
            <a:normAutofit/>
          </a:bodyPr>
          <a:lstStyle/>
          <a:p>
            <a:pPr algn="l" indent="0" marL="0">
              <a:lnSpc>
                <a:spcPts val="2522"/>
              </a:lnSpc>
              <a:buNone/>
            </a:pPr>
            <a:r>
              <a:rPr lang="en-US" sz="2293" b="1" dirty="0">
                <a:solidFill>
                  <a:srgbClr val="14213D"/>
                </a:solidFill>
                <a:latin typeface="IBM Plex Sans" pitchFamily="34" charset="0"/>
                <a:ea typeface="IBM Plex Sans" pitchFamily="34" charset="-122"/>
                <a:cs typeface="IBM Plex Sans" pitchFamily="34" charset="-120"/>
              </a:rPr>
              <a:t>Le parole che tornano</a:t>
            </a:r>
            <a:endParaRPr lang="en-US" sz="2293"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1543976"/>
          <a:ext cx="10566400" cy="4132924"/>
        </p:xfrm>
        <a:graphic>
          <a:graphicData uri="http://schemas.openxmlformats.org/drawingml/2006/table">
            <a:tbl>
              <a:tblPr/>
              <a:tblGrid>
                <a:gridCol w="2747264"/>
                <a:gridCol w="7819136"/>
              </a:tblGrid>
              <a:tr h="336550">
                <a:tc>
                  <a:txBody>
                    <a:bodyPr/>
                    <a:lstStyle/>
                    <a:p>
                      <a:pPr indent="0" marL="0">
                        <a:lnSpc>
                          <a:spcPts val="1695"/>
                        </a:lnSpc>
                        <a:buNone/>
                      </a:pPr>
                      <a:r>
                        <a:rPr lang="en-US" sz="1211" b="1" dirty="0">
                          <a:solidFill>
                            <a:srgbClr val="FBFBF8"/>
                          </a:solidFill>
                          <a:latin typeface="IBM Plex Sans" pitchFamily="34" charset="0"/>
                          <a:ea typeface="IBM Plex Sans" pitchFamily="34" charset="-122"/>
                          <a:cs typeface="IBM Plex Sans" pitchFamily="34" charset="-120"/>
                        </a:rPr>
                        <a:t>Parola</a:t>
                      </a:r>
                      <a:endParaRPr lang="en-US" sz="1211" dirty="0">
                        <a:latin typeface="IBM Plex Sans" charset="0"/>
                        <a:ea typeface="IBM Plex Sans" charset="0"/>
                        <a:cs typeface="IBM Plex Sans" charset="0"/>
                      </a:endParaRPr>
                    </a:p>
                  </a:txBody>
                  <a:tcPr marL="53812" marR="53812" marT="53812" marB="53812"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14213D"/>
                    </a:solidFill>
                  </a:tcPr>
                </a:tc>
                <a:tc>
                  <a:txBody>
                    <a:bodyPr/>
                    <a:lstStyle/>
                    <a:p>
                      <a:pPr indent="0" marL="0">
                        <a:lnSpc>
                          <a:spcPts val="1695"/>
                        </a:lnSpc>
                        <a:buNone/>
                      </a:pPr>
                      <a:r>
                        <a:rPr lang="en-US" sz="1211" b="1" dirty="0">
                          <a:solidFill>
                            <a:srgbClr val="FBFBF8"/>
                          </a:solidFill>
                          <a:latin typeface="IBM Plex Sans" pitchFamily="34" charset="0"/>
                          <a:ea typeface="IBM Plex Sans" pitchFamily="34" charset="-122"/>
                          <a:cs typeface="IBM Plex Sans" pitchFamily="34" charset="-120"/>
                        </a:rPr>
                        <a:t>Che cosa vuol dire qui</a:t>
                      </a:r>
                      <a:endParaRPr lang="en-US" sz="1211" dirty="0">
                        <a:latin typeface="IBM Plex Sans" charset="0"/>
                        <a:ea typeface="IBM Plex Sans" charset="0"/>
                        <a:cs typeface="IBM Plex Sans" charset="0"/>
                      </a:endParaRPr>
                    </a:p>
                  </a:txBody>
                  <a:tcPr marL="53812" marR="53812" marT="53812" marB="53812"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14213D"/>
                    </a:solidFill>
                  </a:tcPr>
                </a:tc>
              </a:tr>
              <a:tr h="551722">
                <a:tc>
                  <a:txBody>
                    <a:bodyPr/>
                    <a:lstStyle/>
                    <a:p>
                      <a:pPr indent="0" marL="0">
                        <a:lnSpc>
                          <a:spcPts val="1695"/>
                        </a:lnSpc>
                        <a:buNone/>
                      </a:pPr>
                      <a:r>
                        <a:rPr lang="en-US" sz="1211" dirty="0">
                          <a:solidFill>
                            <a:srgbClr val="14213D"/>
                          </a:solidFill>
                          <a:latin typeface="IBM Plex Sans" pitchFamily="34" charset="0"/>
                          <a:ea typeface="IBM Plex Sans" pitchFamily="34" charset="-122"/>
                          <a:cs typeface="IBM Plex Sans" pitchFamily="34" charset="-120"/>
                        </a:rPr>
                        <a:t>pipeline</a:t>
                      </a:r>
                      <a:endParaRPr lang="en-US" sz="1211" dirty="0">
                        <a:latin typeface="IBM Plex Sans" charset="0"/>
                        <a:ea typeface="IBM Plex Sans" charset="0"/>
                        <a:cs typeface="IBM Plex Sans" charset="0"/>
                      </a:endParaRPr>
                    </a:p>
                  </a:txBody>
                  <a:tcPr marL="53812" marR="53812" marT="53812" marB="53812"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EEF1F5"/>
                    </a:solidFill>
                  </a:tcPr>
                </a:tc>
                <a:tc>
                  <a:txBody>
                    <a:bodyPr/>
                    <a:lstStyle/>
                    <a:p>
                      <a:pPr indent="0" marL="0">
                        <a:lnSpc>
                          <a:spcPts val="1695"/>
                        </a:lnSpc>
                        <a:buNone/>
                      </a:pPr>
                      <a:r>
                        <a:rPr lang="en-US" sz="1211" dirty="0">
                          <a:solidFill>
                            <a:srgbClr val="14213D"/>
                          </a:solidFill>
                          <a:latin typeface="IBM Plex Sans" pitchFamily="34" charset="0"/>
                          <a:ea typeface="IBM Plex Sans" pitchFamily="34" charset="-122"/>
                          <a:cs typeface="IBM Plex Sans" pitchFamily="34" charset="-120"/>
                        </a:rPr>
                        <a:t>Una versione del programma. Tutte prendono la stessa decisione; cambia quanto sanno già quando vengono compilate.</a:t>
                      </a:r>
                      <a:endParaRPr lang="en-US" sz="1211" dirty="0">
                        <a:latin typeface="IBM Plex Sans" charset="0"/>
                        <a:ea typeface="IBM Plex Sans" charset="0"/>
                        <a:cs typeface="IBM Plex Sans" charset="0"/>
                      </a:endParaRPr>
                    </a:p>
                  </a:txBody>
                  <a:tcPr marL="53812" marR="53812" marT="53812" marB="53812"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EEF1F5"/>
                    </a:solidFill>
                  </a:tcPr>
                </a:tc>
              </a:tr>
              <a:tr h="336550">
                <a:tc>
                  <a:txBody>
                    <a:bodyPr/>
                    <a:lstStyle/>
                    <a:p>
                      <a:pPr indent="0" marL="0">
                        <a:lnSpc>
                          <a:spcPts val="1695"/>
                        </a:lnSpc>
                        <a:buNone/>
                      </a:pPr>
                      <a:r>
                        <a:rPr lang="en-US" sz="1211" dirty="0">
                          <a:solidFill>
                            <a:srgbClr val="14213D"/>
                          </a:solidFill>
                          <a:latin typeface="IBM Plex Sans" pitchFamily="34" charset="0"/>
                          <a:ea typeface="IBM Plex Sans" pitchFamily="34" charset="-122"/>
                          <a:cs typeface="IBM Plex Sans" pitchFamily="34" charset="-120"/>
                        </a:rPr>
                        <a:t>inferenza</a:t>
                      </a:r>
                      <a:endParaRPr lang="en-US" sz="1211" dirty="0">
                        <a:latin typeface="IBM Plex Sans" charset="0"/>
                        <a:ea typeface="IBM Plex Sans" charset="0"/>
                        <a:cs typeface="IBM Plex Sans" charset="0"/>
                      </a:endParaRPr>
                    </a:p>
                  </a:txBody>
                  <a:tcPr marL="53812" marR="53812" marT="53812" marB="53812"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c>
                  <a:txBody>
                    <a:bodyPr/>
                    <a:lstStyle/>
                    <a:p>
                      <a:pPr indent="0" marL="0">
                        <a:lnSpc>
                          <a:spcPts val="1695"/>
                        </a:lnSpc>
                        <a:buNone/>
                      </a:pPr>
                      <a:r>
                        <a:rPr lang="en-US" sz="1211" dirty="0">
                          <a:solidFill>
                            <a:srgbClr val="14213D"/>
                          </a:solidFill>
                          <a:latin typeface="IBM Plex Sans" pitchFamily="34" charset="0"/>
                          <a:ea typeface="IBM Plex Sans" pitchFamily="34" charset="-122"/>
                          <a:cs typeface="IBM Plex Sans" pitchFamily="34" charset="-120"/>
                        </a:rPr>
                        <a:t>Il calcolo della rete neurale su un pacchetto: da che porta è entrato, com’è la rete, dove mandarlo.</a:t>
                      </a:r>
                      <a:endParaRPr lang="en-US" sz="1211" dirty="0">
                        <a:latin typeface="IBM Plex Sans" charset="0"/>
                        <a:ea typeface="IBM Plex Sans" charset="0"/>
                        <a:cs typeface="IBM Plex Sans" charset="0"/>
                      </a:endParaRPr>
                    </a:p>
                  </a:txBody>
                  <a:tcPr marL="53812" marR="53812" marT="53812" marB="53812"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r>
              <a:tr h="336616">
                <a:tc>
                  <a:txBody>
                    <a:bodyPr/>
                    <a:lstStyle/>
                    <a:p>
                      <a:pPr indent="0" marL="0">
                        <a:lnSpc>
                          <a:spcPts val="1695"/>
                        </a:lnSpc>
                        <a:buNone/>
                      </a:pPr>
                      <a:r>
                        <a:rPr lang="en-US" sz="1211" dirty="0">
                          <a:solidFill>
                            <a:srgbClr val="14213D"/>
                          </a:solidFill>
                          <a:latin typeface="IBM Plex Sans" pitchFamily="34" charset="0"/>
                          <a:ea typeface="IBM Plex Sans" pitchFamily="34" charset="-122"/>
                          <a:cs typeface="IBM Plex Sans" pitchFamily="34" charset="-120"/>
                        </a:rPr>
                        <a:t>latenza</a:t>
                      </a:r>
                      <a:endParaRPr lang="en-US" sz="1211" dirty="0">
                        <a:latin typeface="IBM Plex Sans" charset="0"/>
                        <a:ea typeface="IBM Plex Sans" charset="0"/>
                        <a:cs typeface="IBM Plex Sans" charset="0"/>
                      </a:endParaRPr>
                    </a:p>
                  </a:txBody>
                  <a:tcPr marL="53812" marR="53812" marT="53812" marB="53812"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EEF1F5"/>
                    </a:solidFill>
                  </a:tcPr>
                </a:tc>
                <a:tc>
                  <a:txBody>
                    <a:bodyPr/>
                    <a:lstStyle/>
                    <a:p>
                      <a:pPr indent="0" marL="0">
                        <a:lnSpc>
                          <a:spcPts val="1695"/>
                        </a:lnSpc>
                        <a:buNone/>
                      </a:pPr>
                      <a:r>
                        <a:rPr lang="en-US" sz="1211" dirty="0">
                          <a:solidFill>
                            <a:srgbClr val="14213D"/>
                          </a:solidFill>
                          <a:latin typeface="IBM Plex Sans" pitchFamily="34" charset="0"/>
                          <a:ea typeface="IBM Plex Sans" pitchFamily="34" charset="-122"/>
                          <a:cs typeface="IBM Plex Sans" pitchFamily="34" charset="-120"/>
                        </a:rPr>
                        <a:t>Quanto tempo un pacchetto passa dentro il programma. Si misura in miliardesimi di secondo (ns).</a:t>
                      </a:r>
                      <a:endParaRPr lang="en-US" sz="1211" dirty="0">
                        <a:latin typeface="IBM Plex Sans" charset="0"/>
                        <a:ea typeface="IBM Plex Sans" charset="0"/>
                        <a:cs typeface="IBM Plex Sans" charset="0"/>
                      </a:endParaRPr>
                    </a:p>
                  </a:txBody>
                  <a:tcPr marL="53812" marR="53812" marT="53812" marB="53812"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EEF1F5"/>
                    </a:solidFill>
                  </a:tcPr>
                </a:tc>
              </a:tr>
              <a:tr h="336616">
                <a:tc>
                  <a:txBody>
                    <a:bodyPr/>
                    <a:lstStyle/>
                    <a:p>
                      <a:pPr indent="0" marL="0">
                        <a:lnSpc>
                          <a:spcPts val="1695"/>
                        </a:lnSpc>
                        <a:buNone/>
                      </a:pPr>
                      <a:r>
                        <a:rPr lang="en-US" sz="1211" dirty="0">
                          <a:solidFill>
                            <a:srgbClr val="14213D"/>
                          </a:solidFill>
                          <a:latin typeface="IBM Plex Sans" pitchFamily="34" charset="0"/>
                          <a:ea typeface="IBM Plex Sans" pitchFamily="34" charset="-122"/>
                          <a:cs typeface="IBM Plex Sans" pitchFamily="34" charset="-120"/>
                        </a:rPr>
                        <a:t>istruzioni</a:t>
                      </a:r>
                      <a:endParaRPr lang="en-US" sz="1211" dirty="0">
                        <a:latin typeface="IBM Plex Sans" charset="0"/>
                        <a:ea typeface="IBM Plex Sans" charset="0"/>
                        <a:cs typeface="IBM Plex Sans" charset="0"/>
                      </a:endParaRPr>
                    </a:p>
                  </a:txBody>
                  <a:tcPr marL="53812" marR="53812" marT="53812" marB="53812"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c>
                  <a:txBody>
                    <a:bodyPr/>
                    <a:lstStyle/>
                    <a:p>
                      <a:pPr indent="0" marL="0">
                        <a:lnSpc>
                          <a:spcPts val="1695"/>
                        </a:lnSpc>
                        <a:buNone/>
                      </a:pPr>
                      <a:r>
                        <a:rPr lang="en-US" sz="1211" dirty="0">
                          <a:solidFill>
                            <a:srgbClr val="14213D"/>
                          </a:solidFill>
                          <a:latin typeface="IBM Plex Sans" pitchFamily="34" charset="0"/>
                          <a:ea typeface="IBM Plex Sans" pitchFamily="34" charset="-122"/>
                          <a:cs typeface="IBM Plex Sans" pitchFamily="34" charset="-120"/>
                        </a:rPr>
                        <a:t>Quanto è grande il programma compilato. Non è quanto lavoro fa: sono due cose diverse, e il deck lo mostra.</a:t>
                      </a:r>
                      <a:endParaRPr lang="en-US" sz="1211" dirty="0">
                        <a:latin typeface="IBM Plex Sans" charset="0"/>
                        <a:ea typeface="IBM Plex Sans" charset="0"/>
                        <a:cs typeface="IBM Plex Sans" charset="0"/>
                      </a:endParaRPr>
                    </a:p>
                  </a:txBody>
                  <a:tcPr marL="53812" marR="53812" marT="53812" marB="53812"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r>
              <a:tr h="551789">
                <a:tc>
                  <a:txBody>
                    <a:bodyPr/>
                    <a:lstStyle/>
                    <a:p>
                      <a:pPr indent="0" marL="0">
                        <a:lnSpc>
                          <a:spcPts val="1695"/>
                        </a:lnSpc>
                        <a:buNone/>
                      </a:pPr>
                      <a:r>
                        <a:rPr lang="en-US" sz="1211" dirty="0">
                          <a:solidFill>
                            <a:srgbClr val="14213D"/>
                          </a:solidFill>
                          <a:latin typeface="IBM Plex Sans" pitchFamily="34" charset="0"/>
                          <a:ea typeface="IBM Plex Sans" pitchFamily="34" charset="-122"/>
                          <a:cs typeface="IBM Plex Sans" pitchFamily="34" charset="-120"/>
                        </a:rPr>
                        <a:t>tabella</a:t>
                      </a:r>
                      <a:endParaRPr lang="en-US" sz="1211" dirty="0">
                        <a:latin typeface="IBM Plex Sans" charset="0"/>
                        <a:ea typeface="IBM Plex Sans" charset="0"/>
                        <a:cs typeface="IBM Plex Sans" charset="0"/>
                      </a:endParaRPr>
                    </a:p>
                  </a:txBody>
                  <a:tcPr marL="53812" marR="53812" marT="53812" marB="53812"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EEF1F5"/>
                    </a:solidFill>
                  </a:tcPr>
                </a:tc>
                <a:tc>
                  <a:txBody>
                    <a:bodyPr/>
                    <a:lstStyle/>
                    <a:p>
                      <a:pPr indent="0" marL="0">
                        <a:lnSpc>
                          <a:spcPts val="1695"/>
                        </a:lnSpc>
                        <a:buNone/>
                      </a:pPr>
                      <a:r>
                        <a:rPr lang="en-US" sz="1211" dirty="0">
                          <a:solidFill>
                            <a:srgbClr val="14213D"/>
                          </a:solidFill>
                          <a:latin typeface="IBM Plex Sans" pitchFamily="34" charset="0"/>
                          <a:ea typeface="IBM Plex Sans" pitchFamily="34" charset="-122"/>
                          <a:cs typeface="IBM Plex Sans" pitchFamily="34" charset="-120"/>
                        </a:rPr>
                        <a:t>Memoria condivisa fra il programma dentro il kernel e il resto del sistema. Ci si scrivono i pesi, le porte, i conteggi.</a:t>
                      </a:r>
                      <a:endParaRPr lang="en-US" sz="1211" dirty="0">
                        <a:latin typeface="IBM Plex Sans" charset="0"/>
                        <a:ea typeface="IBM Plex Sans" charset="0"/>
                        <a:cs typeface="IBM Plex Sans" charset="0"/>
                      </a:endParaRPr>
                    </a:p>
                  </a:txBody>
                  <a:tcPr marL="53812" marR="53812" marT="53812" marB="53812"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EEF1F5"/>
                    </a:solidFill>
                  </a:tcPr>
                </a:tc>
              </a:tr>
              <a:tr h="336616">
                <a:tc>
                  <a:txBody>
                    <a:bodyPr/>
                    <a:lstStyle/>
                    <a:p>
                      <a:pPr indent="0" marL="0">
                        <a:lnSpc>
                          <a:spcPts val="1695"/>
                        </a:lnSpc>
                        <a:buNone/>
                      </a:pPr>
                      <a:r>
                        <a:rPr lang="en-US" sz="1211" dirty="0">
                          <a:solidFill>
                            <a:srgbClr val="14213D"/>
                          </a:solidFill>
                          <a:latin typeface="IBM Plex Sans" pitchFamily="34" charset="0"/>
                          <a:ea typeface="IBM Plex Sans" pitchFamily="34" charset="-122"/>
                          <a:cs typeface="IBM Plex Sans" pitchFamily="34" charset="-120"/>
                        </a:rPr>
                        <a:t>pesi</a:t>
                      </a:r>
                      <a:endParaRPr lang="en-US" sz="1211" dirty="0">
                        <a:latin typeface="IBM Plex Sans" charset="0"/>
                        <a:ea typeface="IBM Plex Sans" charset="0"/>
                        <a:cs typeface="IBM Plex Sans" charset="0"/>
                      </a:endParaRPr>
                    </a:p>
                  </a:txBody>
                  <a:tcPr marL="53812" marR="53812" marT="53812" marB="53812"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c>
                  <a:txBody>
                    <a:bodyPr/>
                    <a:lstStyle/>
                    <a:p>
                      <a:pPr indent="0" marL="0">
                        <a:lnSpc>
                          <a:spcPts val="1695"/>
                        </a:lnSpc>
                        <a:buNone/>
                      </a:pPr>
                      <a:r>
                        <a:rPr lang="en-US" sz="1211" dirty="0">
                          <a:solidFill>
                            <a:srgbClr val="14213D"/>
                          </a:solidFill>
                          <a:latin typeface="IBM Plex Sans" pitchFamily="34" charset="0"/>
                          <a:ea typeface="IBM Plex Sans" pitchFamily="34" charset="-122"/>
                          <a:cs typeface="IBM Plex Sans" pitchFamily="34" charset="-120"/>
                        </a:rPr>
                        <a:t>I numeri che la rete neurale ha imparato durante l’addestramento.</a:t>
                      </a:r>
                      <a:endParaRPr lang="en-US" sz="1211" dirty="0">
                        <a:latin typeface="IBM Plex Sans" charset="0"/>
                        <a:ea typeface="IBM Plex Sans" charset="0"/>
                        <a:cs typeface="IBM Plex Sans" charset="0"/>
                      </a:endParaRPr>
                    </a:p>
                  </a:txBody>
                  <a:tcPr marL="53812" marR="53812" marT="53812" marB="53812"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r>
              <a:tr h="336616">
                <a:tc>
                  <a:txBody>
                    <a:bodyPr/>
                    <a:lstStyle/>
                    <a:p>
                      <a:pPr indent="0" marL="0">
                        <a:lnSpc>
                          <a:spcPts val="1695"/>
                        </a:lnSpc>
                        <a:buNone/>
                      </a:pPr>
                      <a:r>
                        <a:rPr lang="en-US" sz="1211" dirty="0">
                          <a:solidFill>
                            <a:srgbClr val="14213D"/>
                          </a:solidFill>
                          <a:latin typeface="IBM Plex Sans" pitchFamily="34" charset="0"/>
                          <a:ea typeface="IBM Plex Sans" pitchFamily="34" charset="-122"/>
                          <a:cs typeface="IBM Plex Sans" pitchFamily="34" charset="-120"/>
                        </a:rPr>
                        <a:t>moltiplicazione</a:t>
                      </a:r>
                      <a:endParaRPr lang="en-US" sz="1211" dirty="0">
                        <a:latin typeface="IBM Plex Sans" charset="0"/>
                        <a:ea typeface="IBM Plex Sans" charset="0"/>
                        <a:cs typeface="IBM Plex Sans" charset="0"/>
                      </a:endParaRPr>
                    </a:p>
                  </a:txBody>
                  <a:tcPr marL="53812" marR="53812" marT="53812" marB="53812"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EEF1F5"/>
                    </a:solidFill>
                  </a:tcPr>
                </a:tc>
                <a:tc>
                  <a:txBody>
                    <a:bodyPr/>
                    <a:lstStyle/>
                    <a:p>
                      <a:pPr indent="0" marL="0">
                        <a:lnSpc>
                          <a:spcPts val="1695"/>
                        </a:lnSpc>
                        <a:buNone/>
                      </a:pPr>
                      <a:r>
                        <a:rPr lang="en-US" sz="1211" dirty="0">
                          <a:solidFill>
                            <a:srgbClr val="14213D"/>
                          </a:solidFill>
                          <a:latin typeface="IBM Plex Sans" pitchFamily="34" charset="0"/>
                          <a:ea typeface="IBM Plex Sans" pitchFamily="34" charset="-122"/>
                          <a:cs typeface="IBM Plex Sans" pitchFamily="34" charset="-120"/>
                        </a:rPr>
                        <a:t>L’operazione base della rete: un peso per un ingresso, sommato al totale. &amp;Egrave; l’unità di lavoro che conta.</a:t>
                      </a:r>
                      <a:endParaRPr lang="en-US" sz="1211" dirty="0">
                        <a:latin typeface="IBM Plex Sans" charset="0"/>
                        <a:ea typeface="IBM Plex Sans" charset="0"/>
                        <a:cs typeface="IBM Plex Sans" charset="0"/>
                      </a:endParaRPr>
                    </a:p>
                  </a:txBody>
                  <a:tcPr marL="53812" marR="53812" marT="53812" marB="53812"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EEF1F5"/>
                    </a:solidFill>
                  </a:tcPr>
                </a:tc>
              </a:tr>
              <a:tr h="336616">
                <a:tc>
                  <a:txBody>
                    <a:bodyPr/>
                    <a:lstStyle/>
                    <a:p>
                      <a:pPr indent="0" marL="0">
                        <a:lnSpc>
                          <a:spcPts val="1695"/>
                        </a:lnSpc>
                        <a:buNone/>
                      </a:pPr>
                      <a:r>
                        <a:rPr lang="en-US" sz="1211" dirty="0">
                          <a:solidFill>
                            <a:srgbClr val="14213D"/>
                          </a:solidFill>
                          <a:latin typeface="IBM Plex Sans" pitchFamily="34" charset="0"/>
                          <a:ea typeface="IBM Plex Sans" pitchFamily="34" charset="-122"/>
                          <a:cs typeface="IBM Plex Sans" pitchFamily="34" charset="-120"/>
                        </a:rPr>
                        <a:t>colonna singola</a:t>
                      </a:r>
                      <a:endParaRPr lang="en-US" sz="1211" dirty="0">
                        <a:latin typeface="IBM Plex Sans" charset="0"/>
                        <a:ea typeface="IBM Plex Sans" charset="0"/>
                        <a:cs typeface="IBM Plex Sans" charset="0"/>
                      </a:endParaRPr>
                    </a:p>
                  </a:txBody>
                  <a:tcPr marL="53812" marR="53812" marT="53812" marB="53812"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c>
                  <a:txBody>
                    <a:bodyPr/>
                    <a:lstStyle/>
                    <a:p>
                      <a:pPr indent="0" marL="0">
                        <a:lnSpc>
                          <a:spcPts val="1695"/>
                        </a:lnSpc>
                        <a:buNone/>
                      </a:pPr>
                      <a:r>
                        <a:rPr lang="en-US" sz="1211" dirty="0">
                          <a:solidFill>
                            <a:srgbClr val="14213D"/>
                          </a:solidFill>
                          <a:latin typeface="IBM Plex Sans" pitchFamily="34" charset="0"/>
                          <a:ea typeface="IBM Plex Sans" pitchFamily="34" charset="-122"/>
                          <a:cs typeface="IBM Plex Sans" pitchFamily="34" charset="-120"/>
                        </a:rPr>
                        <a:t>Un gruppo di caselle in cui solo una vale 1 e tutte le altre 0. Serve a dire «è questa» fra tante scelte.</a:t>
                      </a:r>
                      <a:endParaRPr lang="en-US" sz="1211" dirty="0">
                        <a:latin typeface="IBM Plex Sans" charset="0"/>
                        <a:ea typeface="IBM Plex Sans" charset="0"/>
                        <a:cs typeface="IBM Plex Sans" charset="0"/>
                      </a:endParaRPr>
                    </a:p>
                  </a:txBody>
                  <a:tcPr marL="53812" marR="53812" marT="53812" marB="53812"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r>
              <a:tr h="336616">
                <a:tc>
                  <a:txBody>
                    <a:bodyPr/>
                    <a:lstStyle/>
                    <a:p>
                      <a:pPr indent="0" marL="0">
                        <a:lnSpc>
                          <a:spcPts val="1695"/>
                        </a:lnSpc>
                        <a:buNone/>
                      </a:pPr>
                      <a:r>
                        <a:rPr lang="en-US" sz="1211" dirty="0">
                          <a:solidFill>
                            <a:srgbClr val="14213D"/>
                          </a:solidFill>
                          <a:latin typeface="IBM Plex Sans" pitchFamily="34" charset="0"/>
                          <a:ea typeface="IBM Plex Sans" pitchFamily="34" charset="-122"/>
                          <a:cs typeface="IBM Plex Sans" pitchFamily="34" charset="-120"/>
                        </a:rPr>
                        <a:t>baseline</a:t>
                      </a:r>
                      <a:endParaRPr lang="en-US" sz="1211" dirty="0">
                        <a:latin typeface="IBM Plex Sans" charset="0"/>
                        <a:ea typeface="IBM Plex Sans" charset="0"/>
                        <a:cs typeface="IBM Plex Sans" charset="0"/>
                      </a:endParaRPr>
                    </a:p>
                  </a:txBody>
                  <a:tcPr marL="53812" marR="53812" marT="53812" marB="53812"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EEF1F5"/>
                    </a:solidFill>
                  </a:tcPr>
                </a:tc>
                <a:tc>
                  <a:txBody>
                    <a:bodyPr/>
                    <a:lstStyle/>
                    <a:p>
                      <a:pPr indent="0" marL="0">
                        <a:lnSpc>
                          <a:spcPts val="1695"/>
                        </a:lnSpc>
                        <a:buNone/>
                      </a:pPr>
                      <a:r>
                        <a:rPr lang="en-US" sz="1211" dirty="0">
                          <a:solidFill>
                            <a:srgbClr val="14213D"/>
                          </a:solidFill>
                          <a:latin typeface="IBM Plex Sans" pitchFamily="34" charset="0"/>
                          <a:ea typeface="IBM Plex Sans" pitchFamily="34" charset="-122"/>
                          <a:cs typeface="IBM Plex Sans" pitchFamily="34" charset="-120"/>
                        </a:rPr>
                        <a:t>Il programma minimo: legge il pacchetto e lo rispedisce, senza rete neurale. &amp;Egrave; il metro di paragone.</a:t>
                      </a:r>
                      <a:endParaRPr lang="en-US" sz="1211" dirty="0">
                        <a:latin typeface="IBM Plex Sans" charset="0"/>
                        <a:ea typeface="IBM Plex Sans" charset="0"/>
                        <a:cs typeface="IBM Plex Sans" charset="0"/>
                      </a:endParaRPr>
                    </a:p>
                  </a:txBody>
                  <a:tcPr marL="53812" marR="53812" marT="53812" marB="53812"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EEF1F5"/>
                    </a:solidFill>
                  </a:tcPr>
                </a:tc>
              </a:tr>
              <a:tr h="336616">
                <a:tc>
                  <a:txBody>
                    <a:bodyPr/>
                    <a:lstStyle/>
                    <a:p>
                      <a:pPr indent="0" marL="0">
                        <a:lnSpc>
                          <a:spcPts val="1695"/>
                        </a:lnSpc>
                        <a:buNone/>
                      </a:pPr>
                      <a:r>
                        <a:rPr lang="en-US" sz="1211" dirty="0">
                          <a:solidFill>
                            <a:srgbClr val="14213D"/>
                          </a:solidFill>
                          <a:latin typeface="IBM Plex Sans" pitchFamily="34" charset="0"/>
                          <a:ea typeface="IBM Plex Sans" pitchFamily="34" charset="-122"/>
                          <a:cs typeface="IBM Plex Sans" pitchFamily="34" charset="-120"/>
                        </a:rPr>
                        <a:t>banco</a:t>
                      </a:r>
                      <a:endParaRPr lang="en-US" sz="1211" dirty="0">
                        <a:latin typeface="IBM Plex Sans" charset="0"/>
                        <a:ea typeface="IBM Plex Sans" charset="0"/>
                        <a:cs typeface="IBM Plex Sans" charset="0"/>
                      </a:endParaRPr>
                    </a:p>
                  </a:txBody>
                  <a:tcPr marL="53812" marR="53812" marT="53812" marB="53812"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c>
                  <a:txBody>
                    <a:bodyPr/>
                    <a:lstStyle/>
                    <a:p>
                      <a:pPr indent="0" marL="0">
                        <a:lnSpc>
                          <a:spcPts val="1695"/>
                        </a:lnSpc>
                        <a:buNone/>
                      </a:pPr>
                      <a:r>
                        <a:rPr lang="en-US" sz="1211" dirty="0">
                          <a:solidFill>
                            <a:srgbClr val="14213D"/>
                          </a:solidFill>
                          <a:latin typeface="IBM Plex Sans" pitchFamily="34" charset="0"/>
                          <a:ea typeface="IBM Plex Sans" pitchFamily="34" charset="-122"/>
                          <a:cs typeface="IBM Plex Sans" pitchFamily="34" charset="-120"/>
                        </a:rPr>
                        <a:t>Il modo in cui si misura. Ce ne sono tre, e misurano tre cose diverse.</a:t>
                      </a:r>
                      <a:endParaRPr lang="en-US" sz="1211" dirty="0">
                        <a:latin typeface="IBM Plex Sans" charset="0"/>
                        <a:ea typeface="IBM Plex Sans" charset="0"/>
                        <a:cs typeface="IBM Plex Sans" charset="0"/>
                      </a:endParaRPr>
                    </a:p>
                  </a:txBody>
                  <a:tcPr marL="53812" marR="53812" marT="53812" marB="53812"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r>
            </a:tbl>
          </a:graphicData>
        </a:graphic>
      </p:graphicFrame>
      <p:sp>
        <p:nvSpPr>
          <p:cNvPr id="5" name="Text 2"/>
          <p:cNvSpPr/>
          <p:nvPr/>
        </p:nvSpPr>
        <p:spPr>
          <a:xfrm>
            <a:off x="812800" y="6238280"/>
            <a:ext cx="68291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Il resto del deck usa queste parole e basta; dove ne serve una nuova, è spiegata sulla slide stessa</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IBM Plex Sans" pitchFamily="34" charset="0"/>
                <a:ea typeface="IBM Plex Sans" pitchFamily="34" charset="-122"/>
                <a:cs typeface="IBM Plex Sans" pitchFamily="34" charset="-120"/>
              </a:rPr>
              <a:t>Otto richieste, otto esperimenti</a:t>
            </a:r>
            <a:endParaRPr lang="en-US" sz="3200" dirty="0"/>
          </a:p>
        </p:txBody>
      </p:sp>
      <p:sp>
        <p:nvSpPr>
          <p:cNvPr id="3" name="Shape 1"/>
          <p:cNvSpPr/>
          <p:nvPr/>
        </p:nvSpPr>
        <p:spPr>
          <a:xfrm>
            <a:off x="812800" y="1463015"/>
            <a:ext cx="5194300" cy="795933"/>
          </a:xfrm>
          <a:prstGeom prst="roundRect">
            <a:avLst>
              <a:gd name="adj" fmla="val 11169"/>
            </a:avLst>
          </a:prstGeom>
          <a:solidFill>
            <a:srgbClr val="EEF1F5"/>
          </a:solidFill>
          <a:ln/>
        </p:spPr>
      </p:sp>
      <p:sp>
        <p:nvSpPr>
          <p:cNvPr id="4" name="Text 2"/>
          <p:cNvSpPr/>
          <p:nvPr/>
        </p:nvSpPr>
        <p:spPr>
          <a:xfrm>
            <a:off x="1003300" y="1628115"/>
            <a:ext cx="495769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1 · Versione intermedia</a:t>
            </a:r>
            <a:endParaRPr lang="en-US" sz="1400" dirty="0"/>
          </a:p>
        </p:txBody>
      </p:sp>
      <p:sp>
        <p:nvSpPr>
          <p:cNvPr id="5" name="Text 3"/>
          <p:cNvSpPr/>
          <p:nvPr/>
        </p:nvSpPr>
        <p:spPr>
          <a:xfrm>
            <a:off x="1003300" y="1879535"/>
            <a:ext cx="4957699" cy="239713"/>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4A5568"/>
                </a:solidFill>
                <a:latin typeface="IBM Plex Sans" pitchFamily="34" charset="0"/>
                <a:ea typeface="IBM Plex Sans" pitchFamily="34" charset="-122"/>
                <a:cs typeface="IBM Plex Sans" pitchFamily="34" charset="-120"/>
              </a:rPr>
              <a:t>Una versione ancora più specializzata: i gradini diventano quattro</a:t>
            </a:r>
            <a:endParaRPr lang="en-US" sz="1250" dirty="0"/>
          </a:p>
        </p:txBody>
      </p:sp>
      <p:sp>
        <p:nvSpPr>
          <p:cNvPr id="6" name="Shape 4"/>
          <p:cNvSpPr/>
          <p:nvPr/>
        </p:nvSpPr>
        <p:spPr>
          <a:xfrm>
            <a:off x="812800" y="2385947"/>
            <a:ext cx="5194300" cy="795933"/>
          </a:xfrm>
          <a:prstGeom prst="roundRect">
            <a:avLst>
              <a:gd name="adj" fmla="val 11169"/>
            </a:avLst>
          </a:prstGeom>
          <a:solidFill>
            <a:srgbClr val="EEF1F5"/>
          </a:solidFill>
          <a:ln/>
        </p:spPr>
      </p:sp>
      <p:sp>
        <p:nvSpPr>
          <p:cNvPr id="7" name="Text 5"/>
          <p:cNvSpPr/>
          <p:nvPr/>
        </p:nvSpPr>
        <p:spPr>
          <a:xfrm>
            <a:off x="1003300" y="2551047"/>
            <a:ext cx="495769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2 · Costo della flessibilità</a:t>
            </a:r>
            <a:endParaRPr lang="en-US" sz="1400" dirty="0"/>
          </a:p>
        </p:txBody>
      </p:sp>
      <p:sp>
        <p:nvSpPr>
          <p:cNvPr id="8" name="Text 6"/>
          <p:cNvSpPr/>
          <p:nvPr/>
        </p:nvSpPr>
        <p:spPr>
          <a:xfrm>
            <a:off x="1003300" y="2802468"/>
            <a:ext cx="4957699" cy="239713"/>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4A5568"/>
                </a:solidFill>
                <a:latin typeface="IBM Plex Sans" pitchFamily="34" charset="0"/>
                <a:ea typeface="IBM Plex Sans" pitchFamily="34" charset="-122"/>
                <a:cs typeface="IBM Plex Sans" pitchFamily="34" charset="-120"/>
              </a:rPr>
              <a:t>Da 29 a 240 ns fra la più rigida e la più flessibile, con il perché</a:t>
            </a:r>
            <a:endParaRPr lang="en-US" sz="1250" dirty="0"/>
          </a:p>
        </p:txBody>
      </p:sp>
      <p:sp>
        <p:nvSpPr>
          <p:cNvPr id="9" name="Shape 7"/>
          <p:cNvSpPr/>
          <p:nvPr/>
        </p:nvSpPr>
        <p:spPr>
          <a:xfrm>
            <a:off x="812800" y="3308880"/>
            <a:ext cx="5194300" cy="795933"/>
          </a:xfrm>
          <a:prstGeom prst="roundRect">
            <a:avLst>
              <a:gd name="adj" fmla="val 11169"/>
            </a:avLst>
          </a:prstGeom>
          <a:solidFill>
            <a:srgbClr val="EEF1F5"/>
          </a:solidFill>
          <a:ln/>
        </p:spPr>
      </p:sp>
      <p:sp>
        <p:nvSpPr>
          <p:cNvPr id="10" name="Text 8"/>
          <p:cNvSpPr/>
          <p:nvPr/>
        </p:nvSpPr>
        <p:spPr>
          <a:xfrm>
            <a:off x="1003300" y="3473980"/>
            <a:ext cx="495769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3 · Analisi parametrica</a:t>
            </a:r>
            <a:endParaRPr lang="en-US" sz="1400" dirty="0"/>
          </a:p>
        </p:txBody>
      </p:sp>
      <p:sp>
        <p:nvSpPr>
          <p:cNvPr id="11" name="Text 9"/>
          <p:cNvSpPr/>
          <p:nvPr/>
        </p:nvSpPr>
        <p:spPr>
          <a:xfrm>
            <a:off x="1003300" y="3725401"/>
            <a:ext cx="4957699" cy="239713"/>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4A5568"/>
                </a:solidFill>
                <a:latin typeface="IBM Plex Sans" pitchFamily="34" charset="0"/>
                <a:ea typeface="IBM Plex Sans" pitchFamily="34" charset="-122"/>
                <a:cs typeface="IBM Plex Sans" pitchFamily="34" charset="-120"/>
              </a:rPr>
              <a:t>Sette assi, un parametro alla volta</a:t>
            </a:r>
            <a:endParaRPr lang="en-US" sz="1250" dirty="0"/>
          </a:p>
        </p:txBody>
      </p:sp>
      <p:sp>
        <p:nvSpPr>
          <p:cNvPr id="12" name="Shape 10"/>
          <p:cNvSpPr/>
          <p:nvPr/>
        </p:nvSpPr>
        <p:spPr>
          <a:xfrm>
            <a:off x="812800" y="4231813"/>
            <a:ext cx="5194300" cy="795933"/>
          </a:xfrm>
          <a:prstGeom prst="roundRect">
            <a:avLst>
              <a:gd name="adj" fmla="val 11169"/>
            </a:avLst>
          </a:prstGeom>
          <a:solidFill>
            <a:srgbClr val="EEF1F5"/>
          </a:solidFill>
          <a:ln/>
        </p:spPr>
      </p:sp>
      <p:sp>
        <p:nvSpPr>
          <p:cNvPr id="13" name="Text 11"/>
          <p:cNvSpPr/>
          <p:nvPr/>
        </p:nvSpPr>
        <p:spPr>
          <a:xfrm>
            <a:off x="1003300" y="4396913"/>
            <a:ext cx="495769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4 · Larga contro profonda</a:t>
            </a:r>
            <a:endParaRPr lang="en-US" sz="1400" dirty="0"/>
          </a:p>
        </p:txBody>
      </p:sp>
      <p:sp>
        <p:nvSpPr>
          <p:cNvPr id="14" name="Text 12"/>
          <p:cNvSpPr/>
          <p:nvPr/>
        </p:nvSpPr>
        <p:spPr>
          <a:xfrm>
            <a:off x="1003300" y="4648333"/>
            <a:ext cx="4957699" cy="239713"/>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4A5568"/>
                </a:solidFill>
                <a:latin typeface="IBM Plex Sans" pitchFamily="34" charset="0"/>
                <a:ea typeface="IBM Plex Sans" pitchFamily="34" charset="-122"/>
                <a:cs typeface="IBM Plex Sans" pitchFamily="34" charset="-120"/>
              </a:rPr>
              <a:t>A parità di pesi: quale conviene, e perché</a:t>
            </a:r>
            <a:endParaRPr lang="en-US" sz="1250" dirty="0"/>
          </a:p>
        </p:txBody>
      </p:sp>
      <p:sp>
        <p:nvSpPr>
          <p:cNvPr id="15" name="Shape 13"/>
          <p:cNvSpPr/>
          <p:nvPr/>
        </p:nvSpPr>
        <p:spPr>
          <a:xfrm>
            <a:off x="6184900" y="1463015"/>
            <a:ext cx="5194300" cy="1010245"/>
          </a:xfrm>
          <a:prstGeom prst="roundRect">
            <a:avLst>
              <a:gd name="adj" fmla="val 8800"/>
            </a:avLst>
          </a:prstGeom>
          <a:solidFill>
            <a:srgbClr val="EEF1F5"/>
          </a:solidFill>
          <a:ln/>
        </p:spPr>
      </p:sp>
      <p:sp>
        <p:nvSpPr>
          <p:cNvPr id="16" name="Text 14"/>
          <p:cNvSpPr/>
          <p:nvPr/>
        </p:nvSpPr>
        <p:spPr>
          <a:xfrm>
            <a:off x="6375400" y="1628115"/>
            <a:ext cx="495769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5 · Un esperimento per affermazione</a:t>
            </a:r>
            <a:endParaRPr lang="en-US" sz="1400" dirty="0"/>
          </a:p>
        </p:txBody>
      </p:sp>
      <p:sp>
        <p:nvSpPr>
          <p:cNvPr id="17" name="Text 15"/>
          <p:cNvSpPr/>
          <p:nvPr/>
        </p:nvSpPr>
        <p:spPr>
          <a:xfrm>
            <a:off x="6375400" y="1879535"/>
            <a:ext cx="4957699" cy="454025"/>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4A5568"/>
                </a:solidFill>
                <a:latin typeface="IBM Plex Sans" pitchFamily="34" charset="0"/>
                <a:ea typeface="IBM Plex Sans" pitchFamily="34" charset="-122"/>
                <a:cs typeface="IBM Plex Sans" pitchFamily="34" charset="-120"/>
              </a:rPr>
              <a:t>Una scheda per affermazione: ipotesi, cosa cambia, come si misura, esito</a:t>
            </a:r>
            <a:endParaRPr lang="en-US" sz="1250" dirty="0"/>
          </a:p>
        </p:txBody>
      </p:sp>
      <p:sp>
        <p:nvSpPr>
          <p:cNvPr id="18" name="Shape 16"/>
          <p:cNvSpPr/>
          <p:nvPr/>
        </p:nvSpPr>
        <p:spPr>
          <a:xfrm>
            <a:off x="6184900" y="2600260"/>
            <a:ext cx="5194300" cy="795933"/>
          </a:xfrm>
          <a:prstGeom prst="roundRect">
            <a:avLst>
              <a:gd name="adj" fmla="val 11169"/>
            </a:avLst>
          </a:prstGeom>
          <a:solidFill>
            <a:srgbClr val="EEF1F5"/>
          </a:solidFill>
          <a:ln/>
        </p:spPr>
      </p:sp>
      <p:sp>
        <p:nvSpPr>
          <p:cNvPr id="19" name="Text 17"/>
          <p:cNvSpPr/>
          <p:nvPr/>
        </p:nvSpPr>
        <p:spPr>
          <a:xfrm>
            <a:off x="6375400" y="2765360"/>
            <a:ext cx="495769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6 · Modelli sintetici</a:t>
            </a:r>
            <a:endParaRPr lang="en-US" sz="1400" dirty="0"/>
          </a:p>
        </p:txBody>
      </p:sp>
      <p:sp>
        <p:nvSpPr>
          <p:cNvPr id="20" name="Text 18"/>
          <p:cNvSpPr/>
          <p:nvPr/>
        </p:nvSpPr>
        <p:spPr>
          <a:xfrm>
            <a:off x="6375400" y="3016780"/>
            <a:ext cx="4957699" cy="239713"/>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4A5568"/>
                </a:solidFill>
                <a:latin typeface="IBM Plex Sans" pitchFamily="34" charset="0"/>
                <a:ea typeface="IBM Plex Sans" pitchFamily="34" charset="-122"/>
                <a:cs typeface="IBM Plex Sans" pitchFamily="34" charset="-120"/>
              </a:rPr>
              <a:t>Sette modelli inventati, per non dipendere da quello ricevuto</a:t>
            </a:r>
            <a:endParaRPr lang="en-US" sz="1250" dirty="0"/>
          </a:p>
        </p:txBody>
      </p:sp>
      <p:sp>
        <p:nvSpPr>
          <p:cNvPr id="21" name="Shape 19"/>
          <p:cNvSpPr/>
          <p:nvPr/>
        </p:nvSpPr>
        <p:spPr>
          <a:xfrm>
            <a:off x="6184900" y="3523193"/>
            <a:ext cx="5194300" cy="795933"/>
          </a:xfrm>
          <a:prstGeom prst="roundRect">
            <a:avLst>
              <a:gd name="adj" fmla="val 11169"/>
            </a:avLst>
          </a:prstGeom>
          <a:solidFill>
            <a:srgbClr val="EEF1F5"/>
          </a:solidFill>
          <a:ln/>
        </p:spPr>
      </p:sp>
      <p:sp>
        <p:nvSpPr>
          <p:cNvPr id="22" name="Text 20"/>
          <p:cNvSpPr/>
          <p:nvPr/>
        </p:nvSpPr>
        <p:spPr>
          <a:xfrm>
            <a:off x="6375400" y="3688293"/>
            <a:ext cx="495769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7 · Float, int8, eBPF</a:t>
            </a:r>
            <a:endParaRPr lang="en-US" sz="1400" dirty="0"/>
          </a:p>
        </p:txBody>
      </p:sp>
      <p:sp>
        <p:nvSpPr>
          <p:cNvPr id="23" name="Text 21"/>
          <p:cNvSpPr/>
          <p:nvPr/>
        </p:nvSpPr>
        <p:spPr>
          <a:xfrm>
            <a:off x="6375400" y="3939713"/>
            <a:ext cx="4957699" cy="239713"/>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4A5568"/>
                </a:solidFill>
                <a:latin typeface="IBM Plex Sans" pitchFamily="34" charset="0"/>
                <a:ea typeface="IBM Plex Sans" pitchFamily="34" charset="-122"/>
                <a:cs typeface="IBM Plex Sans" pitchFamily="34" charset="-120"/>
              </a:rPr>
              <a:t>Quando i tre modi di calcolare non concordano, di chi è la colpa</a:t>
            </a:r>
            <a:endParaRPr lang="en-US" sz="1250" dirty="0"/>
          </a:p>
        </p:txBody>
      </p:sp>
      <p:sp>
        <p:nvSpPr>
          <p:cNvPr id="24" name="Shape 22"/>
          <p:cNvSpPr/>
          <p:nvPr/>
        </p:nvSpPr>
        <p:spPr>
          <a:xfrm>
            <a:off x="6184900" y="4446126"/>
            <a:ext cx="5194300" cy="795933"/>
          </a:xfrm>
          <a:prstGeom prst="roundRect">
            <a:avLst>
              <a:gd name="adj" fmla="val 11169"/>
            </a:avLst>
          </a:prstGeom>
          <a:solidFill>
            <a:srgbClr val="14213D"/>
          </a:solidFill>
          <a:ln/>
        </p:spPr>
      </p:sp>
      <p:sp>
        <p:nvSpPr>
          <p:cNvPr id="25" name="Text 23"/>
          <p:cNvSpPr/>
          <p:nvPr/>
        </p:nvSpPr>
        <p:spPr>
          <a:xfrm>
            <a:off x="6375400" y="4611226"/>
            <a:ext cx="495769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BFBF8"/>
                </a:solidFill>
                <a:latin typeface="IBM Plex Sans" pitchFamily="34" charset="0"/>
                <a:ea typeface="IBM Plex Sans" pitchFamily="34" charset="-122"/>
                <a:cs typeface="IBM Plex Sans" pitchFamily="34" charset="-120"/>
              </a:rPr>
              <a:t>8 · Traffico vero</a:t>
            </a:r>
            <a:endParaRPr lang="en-US" sz="1400" dirty="0"/>
          </a:p>
        </p:txBody>
      </p:sp>
      <p:sp>
        <p:nvSpPr>
          <p:cNvPr id="26" name="Text 24"/>
          <p:cNvSpPr/>
          <p:nvPr/>
        </p:nvSpPr>
        <p:spPr>
          <a:xfrm>
            <a:off x="6375400" y="4862646"/>
            <a:ext cx="4957699" cy="239713"/>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BFD8D5"/>
                </a:solidFill>
                <a:latin typeface="IBM Plex Sans" pitchFamily="34" charset="0"/>
                <a:ea typeface="IBM Plex Sans" pitchFamily="34" charset="-122"/>
                <a:cs typeface="IBM Plex Sans" pitchFamily="34" charset="-120"/>
              </a:rPr>
              <a:t>Pacchetti veri che attraversano il nodo</a:t>
            </a:r>
            <a:endParaRPr lang="en-US" sz="1250" dirty="0"/>
          </a:p>
        </p:txBody>
      </p:sp>
      <p:sp>
        <p:nvSpPr>
          <p:cNvPr id="27" name="Text 25"/>
          <p:cNvSpPr/>
          <p:nvPr/>
        </p:nvSpPr>
        <p:spPr>
          <a:xfrm>
            <a:off x="812800" y="6238280"/>
            <a:ext cx="61433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Ogni cifra del deck viene da un run registrato; dove una misura non regge, il deck lo dice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19273"/>
          </a:xfrm>
          <a:prstGeom prst="rect">
            <a:avLst/>
          </a:prstGeom>
          <a:noFill/>
          <a:ln/>
        </p:spPr>
        <p:txBody>
          <a:bodyPr wrap="square" lIns="0" tIns="0" rIns="0" bIns="0" rtlCol="0" anchor="t">
            <a:normAutofit/>
          </a:bodyPr>
          <a:lstStyle/>
          <a:p>
            <a:pPr algn="l" indent="0" marL="0">
              <a:lnSpc>
                <a:spcPts val="1570"/>
              </a:lnSpc>
              <a:buNone/>
            </a:pPr>
            <a:r>
              <a:rPr lang="en-US" sz="1121" spc="100" kern="0" dirty="0">
                <a:solidFill>
                  <a:srgbClr val="C2410C"/>
                </a:solidFill>
                <a:latin typeface="JetBrains Mono" pitchFamily="34" charset="0"/>
                <a:ea typeface="JetBrains Mono" pitchFamily="34" charset="-122"/>
                <a:cs typeface="JetBrains Mono" pitchFamily="34" charset="-120"/>
              </a:rPr>
              <a:t>LA VERSIONE INTERMEDIA</a:t>
            </a:r>
            <a:endParaRPr lang="en-US" sz="1121" dirty="0"/>
          </a:p>
        </p:txBody>
      </p:sp>
      <p:sp>
        <p:nvSpPr>
          <p:cNvPr id="3" name="Text 1"/>
          <p:cNvSpPr/>
          <p:nvPr/>
        </p:nvSpPr>
        <p:spPr>
          <a:xfrm>
            <a:off x="812800" y="1082873"/>
            <a:ext cx="10883392" cy="400447"/>
          </a:xfrm>
          <a:prstGeom prst="rect">
            <a:avLst/>
          </a:prstGeom>
          <a:noFill/>
          <a:ln/>
        </p:spPr>
        <p:txBody>
          <a:bodyPr wrap="square" lIns="0" tIns="0" rIns="0" bIns="0" rtlCol="0" anchor="t">
            <a:normAutofit/>
          </a:bodyPr>
          <a:lstStyle/>
          <a:p>
            <a:pPr algn="l" indent="0" marL="0">
              <a:lnSpc>
                <a:spcPts val="2970"/>
              </a:lnSpc>
              <a:buNone/>
            </a:pPr>
            <a:r>
              <a:rPr lang="en-US" sz="2700" b="1" dirty="0">
                <a:solidFill>
                  <a:srgbClr val="14213D"/>
                </a:solidFill>
                <a:latin typeface="IBM Plex Sans" pitchFamily="34" charset="0"/>
                <a:ea typeface="IBM Plex Sans" pitchFamily="34" charset="-122"/>
                <a:cs typeface="IBM Plex Sans" pitchFamily="34" charset="-120"/>
              </a:rPr>
              <a:t>La scala ha quattro gradini, non tre</a:t>
            </a:r>
            <a:endParaRPr lang="en-US" sz="2700" dirty="0"/>
          </a:p>
        </p:txBody>
      </p:sp>
      <p:sp>
        <p:nvSpPr>
          <p:cNvPr id="4" name="Text 2"/>
          <p:cNvSpPr/>
          <p:nvPr/>
        </p:nvSpPr>
        <p:spPr>
          <a:xfrm>
            <a:off x="812800" y="1661120"/>
            <a:ext cx="10464800" cy="686858"/>
          </a:xfrm>
          <a:prstGeom prst="rect">
            <a:avLst/>
          </a:prstGeom>
          <a:noFill/>
          <a:ln/>
        </p:spPr>
        <p:txBody>
          <a:bodyPr wrap="square" lIns="0" tIns="0" rIns="0" bIns="0" rtlCol="0" anchor="t">
            <a:normAutofit/>
          </a:bodyPr>
          <a:lstStyle/>
          <a:p>
            <a:pPr algn="l" indent="0" marL="0">
              <a:lnSpc>
                <a:spcPts val="1738"/>
              </a:lnSpc>
              <a:buNone/>
            </a:pPr>
            <a:r>
              <a:rPr lang="en-US" sz="1242" dirty="0">
                <a:solidFill>
                  <a:srgbClr val="4A5568"/>
                </a:solidFill>
                <a:latin typeface="IBM Plex Sans" pitchFamily="34" charset="0"/>
                <a:ea typeface="IBM Plex Sans" pitchFamily="34" charset="-122"/>
                <a:cs typeface="IBM Plex Sans" pitchFamily="34" charset="-120"/>
              </a:rPr>
              <a:t>La scala misura una cosa sola: </a:t>
            </a:r>
            <a:r>
              <a:rPr lang="en-US" sz="1242" b="1" dirty="0">
                <a:solidFill>
                  <a:srgbClr val="4A5568"/>
                </a:solidFill>
                <a:latin typeface="IBM Plex Sans" pitchFamily="34" charset="0"/>
                <a:ea typeface="IBM Plex Sans" pitchFamily="34" charset="-122"/>
                <a:cs typeface="IBM Plex Sans" pitchFamily="34" charset="-120"/>
              </a:rPr>
              <a:t>quante cose il programma sa già quando viene compilato</a:t>
            </a:r>
            <a:r>
              <a:rPr lang="en-US" sz="1242" dirty="0">
                <a:solidFill>
                  <a:srgbClr val="4A5568"/>
                </a:solidFill>
                <a:latin typeface="IBM Plex Sans" pitchFamily="34" charset="0"/>
                <a:ea typeface="IBM Plex Sans" pitchFamily="34" charset="-122"/>
                <a:cs typeface="IBM Plex Sans" pitchFamily="34" charset="-120"/>
              </a:rPr>
              <a:t>. In cima non sa quasi niente e legge tutto mentre gira; in fondo sa tutto e non deve leggere nulla. Ogni gradino sposta una decisione da un momento all’altro, e ogni casella verde in più è una ricompilazione in meno quando il modello cambia.</a:t>
            </a:r>
            <a:endParaRPr lang="en-US" sz="1242"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12800" y="2525779"/>
          <a:ext cx="10566400" cy="1707819"/>
        </p:xfrm>
        <a:graphic>
          <a:graphicData uri="http://schemas.openxmlformats.org/drawingml/2006/table">
            <a:tbl>
              <a:tblPr/>
              <a:tblGrid>
                <a:gridCol w="2113280"/>
                <a:gridCol w="1479296"/>
                <a:gridCol w="1479296"/>
                <a:gridCol w="2113280"/>
                <a:gridCol w="1901952"/>
                <a:gridCol w="1479296"/>
              </a:tblGrid>
              <a:tr h="341511">
                <a:tc>
                  <a:txBody>
                    <a:bodyPr/>
                    <a:lstStyle/>
                    <a:p>
                      <a:pPr indent="0" marL="0">
                        <a:lnSpc>
                          <a:spcPts val="1726"/>
                        </a:lnSpc>
                        <a:buNone/>
                      </a:pPr>
                      <a:r>
                        <a:rPr lang="en-US" sz="1233" b="1" dirty="0">
                          <a:solidFill>
                            <a:srgbClr val="FBFBF8"/>
                          </a:solidFill>
                          <a:latin typeface="IBM Plex Sans" pitchFamily="34" charset="0"/>
                          <a:ea typeface="IBM Plex Sans" pitchFamily="34" charset="-122"/>
                          <a:cs typeface="IBM Plex Sans" pitchFamily="34" charset="-120"/>
                        </a:rPr>
                        <a:t>Pipeline</a:t>
                      </a:r>
                      <a:endParaRPr lang="en-US" sz="1233" dirty="0">
                        <a:latin typeface="IBM Plex Sans" charset="0"/>
                        <a:ea typeface="IBM Plex Sans" charset="0"/>
                        <a:cs typeface="IBM Plex Sans" charset="0"/>
                      </a:endParaRPr>
                    </a:p>
                  </a:txBody>
                  <a:tcPr marL="54785" marR="54785" marT="54785" marB="54785"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14213D"/>
                    </a:solidFill>
                  </a:tcPr>
                </a:tc>
                <a:tc>
                  <a:txBody>
                    <a:bodyPr/>
                    <a:lstStyle/>
                    <a:p>
                      <a:pPr indent="0" marL="0">
                        <a:lnSpc>
                          <a:spcPts val="1726"/>
                        </a:lnSpc>
                        <a:buNone/>
                      </a:pPr>
                      <a:r>
                        <a:rPr lang="en-US" sz="1233" b="1" dirty="0">
                          <a:solidFill>
                            <a:srgbClr val="FBFBF8"/>
                          </a:solidFill>
                          <a:latin typeface="IBM Plex Sans" pitchFamily="34" charset="0"/>
                          <a:ea typeface="IBM Plex Sans" pitchFamily="34" charset="-122"/>
                          <a:cs typeface="IBM Plex Sans" pitchFamily="34" charset="-120"/>
                        </a:rPr>
                        <a:t>Pesi</a:t>
                      </a:r>
                      <a:endParaRPr lang="en-US" sz="1233" dirty="0">
                        <a:latin typeface="IBM Plex Sans" charset="0"/>
                        <a:ea typeface="IBM Plex Sans" charset="0"/>
                        <a:cs typeface="IBM Plex Sans" charset="0"/>
                      </a:endParaRPr>
                    </a:p>
                  </a:txBody>
                  <a:tcPr marL="54785" marR="54785" marT="54785" marB="54785"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14213D"/>
                    </a:solidFill>
                  </a:tcPr>
                </a:tc>
                <a:tc>
                  <a:txBody>
                    <a:bodyPr/>
                    <a:lstStyle/>
                    <a:p>
                      <a:pPr indent="0" marL="0">
                        <a:lnSpc>
                          <a:spcPts val="1726"/>
                        </a:lnSpc>
                        <a:buNone/>
                      </a:pPr>
                      <a:r>
                        <a:rPr lang="en-US" sz="1233" b="1" dirty="0">
                          <a:solidFill>
                            <a:srgbClr val="FBFBF8"/>
                          </a:solidFill>
                          <a:latin typeface="IBM Plex Sans" pitchFamily="34" charset="0"/>
                          <a:ea typeface="IBM Plex Sans" pitchFamily="34" charset="-122"/>
                          <a:cs typeface="IBM Plex Sans" pitchFamily="34" charset="-120"/>
                        </a:rPr>
                        <a:t>Nodo</a:t>
                      </a:r>
                      <a:endParaRPr lang="en-US" sz="1233" dirty="0">
                        <a:latin typeface="IBM Plex Sans" charset="0"/>
                        <a:ea typeface="IBM Plex Sans" charset="0"/>
                        <a:cs typeface="IBM Plex Sans" charset="0"/>
                      </a:endParaRPr>
                    </a:p>
                  </a:txBody>
                  <a:tcPr marL="54785" marR="54785" marT="54785" marB="54785"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14213D"/>
                    </a:solidFill>
                  </a:tcPr>
                </a:tc>
                <a:tc>
                  <a:txBody>
                    <a:bodyPr/>
                    <a:lstStyle/>
                    <a:p>
                      <a:pPr indent="0" marL="0">
                        <a:lnSpc>
                          <a:spcPts val="1726"/>
                        </a:lnSpc>
                        <a:buNone/>
                      </a:pPr>
                      <a:r>
                        <a:rPr lang="en-US" sz="1233" b="1" dirty="0">
                          <a:solidFill>
                            <a:srgbClr val="FBFBF8"/>
                          </a:solidFill>
                          <a:latin typeface="IBM Plex Sans" pitchFamily="34" charset="0"/>
                          <a:ea typeface="IBM Plex Sans" pitchFamily="34" charset="-122"/>
                          <a:cs typeface="IBM Plex Sans" pitchFamily="34" charset="-120"/>
                        </a:rPr>
                        <a:t>Porte del nodo</a:t>
                      </a:r>
                      <a:endParaRPr lang="en-US" sz="1233" dirty="0">
                        <a:latin typeface="IBM Plex Sans" charset="0"/>
                        <a:ea typeface="IBM Plex Sans" charset="0"/>
                        <a:cs typeface="IBM Plex Sans" charset="0"/>
                      </a:endParaRPr>
                    </a:p>
                  </a:txBody>
                  <a:tcPr marL="54785" marR="54785" marT="54785" marB="54785"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14213D"/>
                    </a:solidFill>
                  </a:tcPr>
                </a:tc>
                <a:tc>
                  <a:txBody>
                    <a:bodyPr/>
                    <a:lstStyle/>
                    <a:p>
                      <a:pPr indent="0" marL="0">
                        <a:lnSpc>
                          <a:spcPts val="1726"/>
                        </a:lnSpc>
                        <a:buNone/>
                      </a:pPr>
                      <a:r>
                        <a:rPr lang="en-US" sz="1233" b="1" dirty="0">
                          <a:solidFill>
                            <a:srgbClr val="FBFBF8"/>
                          </a:solidFill>
                          <a:latin typeface="IBM Plex Sans" pitchFamily="34" charset="0"/>
                          <a:ea typeface="IBM Plex Sans" pitchFamily="34" charset="-122"/>
                          <a:cs typeface="IBM Plex Sans" pitchFamily="34" charset="-120"/>
                        </a:rPr>
                        <a:t>Architettura</a:t>
                      </a:r>
                      <a:endParaRPr lang="en-US" sz="1233" dirty="0">
                        <a:latin typeface="IBM Plex Sans" charset="0"/>
                        <a:ea typeface="IBM Plex Sans" charset="0"/>
                        <a:cs typeface="IBM Plex Sans" charset="0"/>
                      </a:endParaRPr>
                    </a:p>
                  </a:txBody>
                  <a:tcPr marL="54785" marR="54785" marT="54785" marB="54785"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14213D"/>
                    </a:solidFill>
                  </a:tcPr>
                </a:tc>
                <a:tc>
                  <a:txBody>
                    <a:bodyPr/>
                    <a:lstStyle/>
                    <a:p>
                      <a:pPr indent="0" marL="0">
                        <a:lnSpc>
                          <a:spcPts val="1726"/>
                        </a:lnSpc>
                        <a:buNone/>
                      </a:pPr>
                      <a:r>
                        <a:rPr lang="en-US" sz="1233" b="1" dirty="0">
                          <a:solidFill>
                            <a:srgbClr val="FBFBF8"/>
                          </a:solidFill>
                          <a:latin typeface="IBM Plex Sans" pitchFamily="34" charset="0"/>
                          <a:ea typeface="IBM Plex Sans" pitchFamily="34" charset="-122"/>
                          <a:cs typeface="IBM Plex Sans" pitchFamily="34" charset="-120"/>
                        </a:rPr>
                        <a:t>Profondità</a:t>
                      </a:r>
                      <a:endParaRPr lang="en-US" sz="1233" dirty="0">
                        <a:latin typeface="IBM Plex Sans" charset="0"/>
                        <a:ea typeface="IBM Plex Sans" charset="0"/>
                        <a:cs typeface="IBM Plex Sans" charset="0"/>
                      </a:endParaRPr>
                    </a:p>
                  </a:txBody>
                  <a:tcPr marL="54785" marR="54785" marT="54785" marB="54785"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14213D"/>
                    </a:solidFill>
                  </a:tcPr>
                </a:tc>
              </a:tr>
              <a:tr h="341577">
                <a:tc>
                  <a:txBody>
                    <a:bodyPr/>
                    <a:lstStyle/>
                    <a:p>
                      <a:pPr indent="0" marL="0">
                        <a:lnSpc>
                          <a:spcPts val="1726"/>
                        </a:lnSpc>
                        <a:buNone/>
                      </a:pPr>
                      <a:r>
                        <a:rPr lang="en-US" sz="1233" dirty="0">
                          <a:solidFill>
                            <a:srgbClr val="14213D"/>
                          </a:solidFill>
                          <a:latin typeface="IBM Plex Sans" pitchFamily="34" charset="0"/>
                          <a:ea typeface="IBM Plex Sans" pitchFamily="34" charset="-122"/>
                          <a:cs typeface="IBM Plex Sans" pitchFamily="34" charset="-120"/>
                        </a:rPr>
                        <a:t>p1_static</a:t>
                      </a:r>
                      <a:endParaRPr lang="en-US" sz="1233" dirty="0">
                        <a:latin typeface="IBM Plex Sans" charset="0"/>
                        <a:ea typeface="IBM Plex Sans" charset="0"/>
                        <a:cs typeface="IBM Plex Sans" charset="0"/>
                      </a:endParaRPr>
                    </a:p>
                  </a:txBody>
                  <a:tcPr marL="54785" marR="54785" marT="54785" marB="54785"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c>
                  <a:txBody>
                    <a:bodyPr/>
                    <a:lstStyle/>
                    <a:p>
                      <a:pPr indent="0" marL="0">
                        <a:lnSpc>
                          <a:spcPts val="1726"/>
                        </a:lnSpc>
                        <a:buNone/>
                      </a:pPr>
                      <a:r>
                        <a:rPr lang="en-US" sz="1233" dirty="0">
                          <a:solidFill>
                            <a:srgbClr val="C2410C"/>
                          </a:solidFill>
                          <a:latin typeface="IBM Plex Sans" pitchFamily="34" charset="0"/>
                          <a:ea typeface="IBM Plex Sans" pitchFamily="34" charset="-122"/>
                          <a:cs typeface="IBM Plex Sans" pitchFamily="34" charset="-120"/>
                        </a:rPr>
                        <a:t>compilati</a:t>
                      </a:r>
                      <a:endParaRPr lang="en-US" sz="1233" dirty="0">
                        <a:latin typeface="IBM Plex Sans" charset="0"/>
                        <a:ea typeface="IBM Plex Sans" charset="0"/>
                        <a:cs typeface="IBM Plex Sans" charset="0"/>
                      </a:endParaRPr>
                    </a:p>
                  </a:txBody>
                  <a:tcPr marL="54785" marR="54785" marT="54785" marB="54785"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c>
                  <a:txBody>
                    <a:bodyPr/>
                    <a:lstStyle/>
                    <a:p>
                      <a:pPr indent="0" marL="0">
                        <a:lnSpc>
                          <a:spcPts val="1726"/>
                        </a:lnSpc>
                        <a:buNone/>
                      </a:pPr>
                      <a:r>
                        <a:rPr lang="en-US" sz="1233" dirty="0">
                          <a:solidFill>
                            <a:srgbClr val="C2410C"/>
                          </a:solidFill>
                          <a:latin typeface="IBM Plex Sans" pitchFamily="34" charset="0"/>
                          <a:ea typeface="IBM Plex Sans" pitchFamily="34" charset="-122"/>
                          <a:cs typeface="IBM Plex Sans" pitchFamily="34" charset="-120"/>
                        </a:rPr>
                        <a:t>compilato</a:t>
                      </a:r>
                      <a:endParaRPr lang="en-US" sz="1233" dirty="0">
                        <a:latin typeface="IBM Plex Sans" charset="0"/>
                        <a:ea typeface="IBM Plex Sans" charset="0"/>
                        <a:cs typeface="IBM Plex Sans" charset="0"/>
                      </a:endParaRPr>
                    </a:p>
                  </a:txBody>
                  <a:tcPr marL="54785" marR="54785" marT="54785" marB="54785"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c>
                  <a:txBody>
                    <a:bodyPr/>
                    <a:lstStyle/>
                    <a:p>
                      <a:pPr indent="0" marL="0">
                        <a:lnSpc>
                          <a:spcPts val="1726"/>
                        </a:lnSpc>
                        <a:buNone/>
                      </a:pPr>
                      <a:r>
                        <a:rPr lang="en-US" sz="1233" dirty="0">
                          <a:solidFill>
                            <a:srgbClr val="C2410C"/>
                          </a:solidFill>
                          <a:latin typeface="IBM Plex Sans" pitchFamily="34" charset="0"/>
                          <a:ea typeface="IBM Plex Sans" pitchFamily="34" charset="-122"/>
                          <a:cs typeface="IBM Plex Sans" pitchFamily="34" charset="-120"/>
                        </a:rPr>
                        <a:t>compilate</a:t>
                      </a:r>
                      <a:endParaRPr lang="en-US" sz="1233" dirty="0">
                        <a:latin typeface="IBM Plex Sans" charset="0"/>
                        <a:ea typeface="IBM Plex Sans" charset="0"/>
                        <a:cs typeface="IBM Plex Sans" charset="0"/>
                      </a:endParaRPr>
                    </a:p>
                  </a:txBody>
                  <a:tcPr marL="54785" marR="54785" marT="54785" marB="54785"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c>
                  <a:txBody>
                    <a:bodyPr/>
                    <a:lstStyle/>
                    <a:p>
                      <a:pPr indent="0" marL="0">
                        <a:lnSpc>
                          <a:spcPts val="1726"/>
                        </a:lnSpc>
                        <a:buNone/>
                      </a:pPr>
                      <a:r>
                        <a:rPr lang="en-US" sz="1233" dirty="0">
                          <a:solidFill>
                            <a:srgbClr val="C2410C"/>
                          </a:solidFill>
                          <a:latin typeface="IBM Plex Sans" pitchFamily="34" charset="0"/>
                          <a:ea typeface="IBM Plex Sans" pitchFamily="34" charset="-122"/>
                          <a:cs typeface="IBM Plex Sans" pitchFamily="34" charset="-120"/>
                        </a:rPr>
                        <a:t>compilata</a:t>
                      </a:r>
                      <a:endParaRPr lang="en-US" sz="1233" dirty="0">
                        <a:latin typeface="IBM Plex Sans" charset="0"/>
                        <a:ea typeface="IBM Plex Sans" charset="0"/>
                        <a:cs typeface="IBM Plex Sans" charset="0"/>
                      </a:endParaRPr>
                    </a:p>
                  </a:txBody>
                  <a:tcPr marL="54785" marR="54785" marT="54785" marB="54785"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c>
                  <a:txBody>
                    <a:bodyPr/>
                    <a:lstStyle/>
                    <a:p>
                      <a:pPr indent="0" marL="0">
                        <a:lnSpc>
                          <a:spcPts val="1726"/>
                        </a:lnSpc>
                        <a:buNone/>
                      </a:pPr>
                      <a:r>
                        <a:rPr lang="en-US" sz="1233" dirty="0">
                          <a:solidFill>
                            <a:srgbClr val="C2410C"/>
                          </a:solidFill>
                          <a:latin typeface="IBM Plex Sans" pitchFamily="34" charset="0"/>
                          <a:ea typeface="IBM Plex Sans" pitchFamily="34" charset="-122"/>
                          <a:cs typeface="IBM Plex Sans" pitchFamily="34" charset="-120"/>
                        </a:rPr>
                        <a:t>compilata</a:t>
                      </a:r>
                      <a:endParaRPr lang="en-US" sz="1233" dirty="0">
                        <a:latin typeface="IBM Plex Sans" charset="0"/>
                        <a:ea typeface="IBM Plex Sans" charset="0"/>
                        <a:cs typeface="IBM Plex Sans" charset="0"/>
                      </a:endParaRPr>
                    </a:p>
                  </a:txBody>
                  <a:tcPr marL="54785" marR="54785" marT="54785" marB="54785"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r>
              <a:tr h="341577">
                <a:tc>
                  <a:txBody>
                    <a:bodyPr/>
                    <a:lstStyle/>
                    <a:p>
                      <a:pPr indent="0" marL="0">
                        <a:lnSpc>
                          <a:spcPts val="1726"/>
                        </a:lnSpc>
                        <a:buNone/>
                      </a:pPr>
                      <a:r>
                        <a:rPr lang="en-US" sz="1233" dirty="0">
                          <a:solidFill>
                            <a:srgbClr val="14213D"/>
                          </a:solidFill>
                          <a:latin typeface="IBM Plex Sans" pitchFamily="34" charset="0"/>
                          <a:ea typeface="IBM Plex Sans" pitchFamily="34" charset="-122"/>
                          <a:cs typeface="IBM Plex Sans" pitchFamily="34" charset="-120"/>
                        </a:rPr>
                        <a:t>hardcoded (P1.5)</a:t>
                      </a:r>
                      <a:endParaRPr lang="en-US" sz="1233" dirty="0">
                        <a:latin typeface="IBM Plex Sans" charset="0"/>
                        <a:ea typeface="IBM Plex Sans" charset="0"/>
                        <a:cs typeface="IBM Plex Sans" charset="0"/>
                      </a:endParaRPr>
                    </a:p>
                  </a:txBody>
                  <a:tcPr marL="54785" marR="54785" marT="54785" marB="54785"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F4F6F9"/>
                    </a:solidFill>
                  </a:tcPr>
                </a:tc>
                <a:tc>
                  <a:txBody>
                    <a:bodyPr/>
                    <a:lstStyle/>
                    <a:p>
                      <a:pPr indent="0" marL="0">
                        <a:lnSpc>
                          <a:spcPts val="1726"/>
                        </a:lnSpc>
                        <a:buNone/>
                      </a:pPr>
                      <a:r>
                        <a:rPr lang="en-US" sz="1233" dirty="0">
                          <a:solidFill>
                            <a:srgbClr val="C2410C"/>
                          </a:solidFill>
                          <a:latin typeface="IBM Plex Sans" pitchFamily="34" charset="0"/>
                          <a:ea typeface="IBM Plex Sans" pitchFamily="34" charset="-122"/>
                          <a:cs typeface="IBM Plex Sans" pitchFamily="34" charset="-120"/>
                        </a:rPr>
                        <a:t>compilati</a:t>
                      </a:r>
                      <a:endParaRPr lang="en-US" sz="1233" dirty="0">
                        <a:latin typeface="IBM Plex Sans" charset="0"/>
                        <a:ea typeface="IBM Plex Sans" charset="0"/>
                        <a:cs typeface="IBM Plex Sans" charset="0"/>
                      </a:endParaRPr>
                    </a:p>
                  </a:txBody>
                  <a:tcPr marL="54785" marR="54785" marT="54785" marB="54785"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F4F6F9"/>
                    </a:solidFill>
                  </a:tcPr>
                </a:tc>
                <a:tc>
                  <a:txBody>
                    <a:bodyPr/>
                    <a:lstStyle/>
                    <a:p>
                      <a:pPr indent="0" marL="0">
                        <a:lnSpc>
                          <a:spcPts val="1726"/>
                        </a:lnSpc>
                        <a:buNone/>
                      </a:pPr>
                      <a:r>
                        <a:rPr lang="en-US" sz="1233" dirty="0">
                          <a:solidFill>
                            <a:srgbClr val="2E7D52"/>
                          </a:solidFill>
                          <a:latin typeface="IBM Plex Sans" pitchFamily="34" charset="0"/>
                          <a:ea typeface="IBM Plex Sans" pitchFamily="34" charset="-122"/>
                          <a:cs typeface="IBM Plex Sans" pitchFamily="34" charset="-120"/>
                        </a:rPr>
                        <a:t>da mappa</a:t>
                      </a:r>
                      <a:endParaRPr lang="en-US" sz="1233" dirty="0">
                        <a:latin typeface="IBM Plex Sans" charset="0"/>
                        <a:ea typeface="IBM Plex Sans" charset="0"/>
                        <a:cs typeface="IBM Plex Sans" charset="0"/>
                      </a:endParaRPr>
                    </a:p>
                  </a:txBody>
                  <a:tcPr marL="54785" marR="54785" marT="54785" marB="54785"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F4F6F9"/>
                    </a:solidFill>
                  </a:tcPr>
                </a:tc>
                <a:tc>
                  <a:txBody>
                    <a:bodyPr/>
                    <a:lstStyle/>
                    <a:p>
                      <a:pPr indent="0" marL="0">
                        <a:lnSpc>
                          <a:spcPts val="1726"/>
                        </a:lnSpc>
                        <a:buNone/>
                      </a:pPr>
                      <a:r>
                        <a:rPr lang="en-US" sz="1233" dirty="0">
                          <a:solidFill>
                            <a:srgbClr val="2E7D52"/>
                          </a:solidFill>
                          <a:latin typeface="IBM Plex Sans" pitchFamily="34" charset="0"/>
                          <a:ea typeface="IBM Plex Sans" pitchFamily="34" charset="-122"/>
                          <a:cs typeface="IBM Plex Sans" pitchFamily="34" charset="-120"/>
                        </a:rPr>
                        <a:t>tutte</a:t>
                      </a:r>
                      <a:endParaRPr lang="en-US" sz="1233" dirty="0">
                        <a:latin typeface="IBM Plex Sans" charset="0"/>
                        <a:ea typeface="IBM Plex Sans" charset="0"/>
                        <a:cs typeface="IBM Plex Sans" charset="0"/>
                      </a:endParaRPr>
                    </a:p>
                  </a:txBody>
                  <a:tcPr marL="54785" marR="54785" marT="54785" marB="54785"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F4F6F9"/>
                    </a:solidFill>
                  </a:tcPr>
                </a:tc>
                <a:tc>
                  <a:txBody>
                    <a:bodyPr/>
                    <a:lstStyle/>
                    <a:p>
                      <a:pPr indent="0" marL="0">
                        <a:lnSpc>
                          <a:spcPts val="1726"/>
                        </a:lnSpc>
                        <a:buNone/>
                      </a:pPr>
                      <a:r>
                        <a:rPr lang="en-US" sz="1233" dirty="0">
                          <a:solidFill>
                            <a:srgbClr val="C2410C"/>
                          </a:solidFill>
                          <a:latin typeface="IBM Plex Sans" pitchFamily="34" charset="0"/>
                          <a:ea typeface="IBM Plex Sans" pitchFamily="34" charset="-122"/>
                          <a:cs typeface="IBM Plex Sans" pitchFamily="34" charset="-120"/>
                        </a:rPr>
                        <a:t>compilata</a:t>
                      </a:r>
                      <a:endParaRPr lang="en-US" sz="1233" dirty="0">
                        <a:latin typeface="IBM Plex Sans" charset="0"/>
                        <a:ea typeface="IBM Plex Sans" charset="0"/>
                        <a:cs typeface="IBM Plex Sans" charset="0"/>
                      </a:endParaRPr>
                    </a:p>
                  </a:txBody>
                  <a:tcPr marL="54785" marR="54785" marT="54785" marB="54785"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F4F6F9"/>
                    </a:solidFill>
                  </a:tcPr>
                </a:tc>
                <a:tc>
                  <a:txBody>
                    <a:bodyPr/>
                    <a:lstStyle/>
                    <a:p>
                      <a:pPr indent="0" marL="0">
                        <a:lnSpc>
                          <a:spcPts val="1726"/>
                        </a:lnSpc>
                        <a:buNone/>
                      </a:pPr>
                      <a:r>
                        <a:rPr lang="en-US" sz="1233" dirty="0">
                          <a:solidFill>
                            <a:srgbClr val="C2410C"/>
                          </a:solidFill>
                          <a:latin typeface="IBM Plex Sans" pitchFamily="34" charset="0"/>
                          <a:ea typeface="IBM Plex Sans" pitchFamily="34" charset="-122"/>
                          <a:cs typeface="IBM Plex Sans" pitchFamily="34" charset="-120"/>
                        </a:rPr>
                        <a:t>compilata</a:t>
                      </a:r>
                      <a:endParaRPr lang="en-US" sz="1233" dirty="0">
                        <a:latin typeface="IBM Plex Sans" charset="0"/>
                        <a:ea typeface="IBM Plex Sans" charset="0"/>
                        <a:cs typeface="IBM Plex Sans" charset="0"/>
                      </a:endParaRPr>
                    </a:p>
                  </a:txBody>
                  <a:tcPr marL="54785" marR="54785" marT="54785" marB="54785"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F4F6F9"/>
                    </a:solidFill>
                  </a:tcPr>
                </a:tc>
              </a:tr>
              <a:tr h="341577">
                <a:tc>
                  <a:txBody>
                    <a:bodyPr/>
                    <a:lstStyle/>
                    <a:p>
                      <a:pPr indent="0" marL="0">
                        <a:lnSpc>
                          <a:spcPts val="1726"/>
                        </a:lnSpc>
                        <a:buNone/>
                      </a:pPr>
                      <a:r>
                        <a:rPr lang="en-US" sz="1233" dirty="0">
                          <a:solidFill>
                            <a:srgbClr val="14213D"/>
                          </a:solidFill>
                          <a:latin typeface="IBM Plex Sans" pitchFamily="34" charset="0"/>
                          <a:ea typeface="IBM Plex Sans" pitchFamily="34" charset="-122"/>
                          <a:cs typeface="IBM Plex Sans" pitchFamily="34" charset="-120"/>
                        </a:rPr>
                        <a:t>template (P2)</a:t>
                      </a:r>
                      <a:endParaRPr lang="en-US" sz="1233" dirty="0">
                        <a:latin typeface="IBM Plex Sans" charset="0"/>
                        <a:ea typeface="IBM Plex Sans" charset="0"/>
                        <a:cs typeface="IBM Plex Sans" charset="0"/>
                      </a:endParaRPr>
                    </a:p>
                  </a:txBody>
                  <a:tcPr marL="54785" marR="54785" marT="54785" marB="54785"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c>
                  <a:txBody>
                    <a:bodyPr/>
                    <a:lstStyle/>
                    <a:p>
                      <a:pPr indent="0" marL="0">
                        <a:lnSpc>
                          <a:spcPts val="1726"/>
                        </a:lnSpc>
                        <a:buNone/>
                      </a:pPr>
                      <a:r>
                        <a:rPr lang="en-US" sz="1233" dirty="0">
                          <a:solidFill>
                            <a:srgbClr val="2E7D52"/>
                          </a:solidFill>
                          <a:latin typeface="IBM Plex Sans" pitchFamily="34" charset="0"/>
                          <a:ea typeface="IBM Plex Sans" pitchFamily="34" charset="-122"/>
                          <a:cs typeface="IBM Plex Sans" pitchFamily="34" charset="-120"/>
                        </a:rPr>
                        <a:t>da mappa</a:t>
                      </a:r>
                      <a:endParaRPr lang="en-US" sz="1233" dirty="0">
                        <a:latin typeface="IBM Plex Sans" charset="0"/>
                        <a:ea typeface="IBM Plex Sans" charset="0"/>
                        <a:cs typeface="IBM Plex Sans" charset="0"/>
                      </a:endParaRPr>
                    </a:p>
                  </a:txBody>
                  <a:tcPr marL="54785" marR="54785" marT="54785" marB="54785"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c>
                  <a:txBody>
                    <a:bodyPr/>
                    <a:lstStyle/>
                    <a:p>
                      <a:pPr indent="0" marL="0">
                        <a:lnSpc>
                          <a:spcPts val="1726"/>
                        </a:lnSpc>
                        <a:buNone/>
                      </a:pPr>
                      <a:r>
                        <a:rPr lang="en-US" sz="1233" dirty="0">
                          <a:solidFill>
                            <a:srgbClr val="2E7D52"/>
                          </a:solidFill>
                          <a:latin typeface="IBM Plex Sans" pitchFamily="34" charset="0"/>
                          <a:ea typeface="IBM Plex Sans" pitchFamily="34" charset="-122"/>
                          <a:cs typeface="IBM Plex Sans" pitchFamily="34" charset="-120"/>
                        </a:rPr>
                        <a:t>da mappa</a:t>
                      </a:r>
                      <a:endParaRPr lang="en-US" sz="1233" dirty="0">
                        <a:latin typeface="IBM Plex Sans" charset="0"/>
                        <a:ea typeface="IBM Plex Sans" charset="0"/>
                        <a:cs typeface="IBM Plex Sans" charset="0"/>
                      </a:endParaRPr>
                    </a:p>
                  </a:txBody>
                  <a:tcPr marL="54785" marR="54785" marT="54785" marB="54785"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c>
                  <a:txBody>
                    <a:bodyPr/>
                    <a:lstStyle/>
                    <a:p>
                      <a:pPr indent="0" marL="0">
                        <a:lnSpc>
                          <a:spcPts val="1726"/>
                        </a:lnSpc>
                        <a:buNone/>
                      </a:pPr>
                      <a:r>
                        <a:rPr lang="en-US" sz="1233" dirty="0">
                          <a:solidFill>
                            <a:srgbClr val="2E7D52"/>
                          </a:solidFill>
                          <a:latin typeface="IBM Plex Sans" pitchFamily="34" charset="0"/>
                          <a:ea typeface="IBM Plex Sans" pitchFamily="34" charset="-122"/>
                          <a:cs typeface="IBM Plex Sans" pitchFamily="34" charset="-120"/>
                        </a:rPr>
                        <a:t>tutte</a:t>
                      </a:r>
                      <a:endParaRPr lang="en-US" sz="1233" dirty="0">
                        <a:latin typeface="IBM Plex Sans" charset="0"/>
                        <a:ea typeface="IBM Plex Sans" charset="0"/>
                        <a:cs typeface="IBM Plex Sans" charset="0"/>
                      </a:endParaRPr>
                    </a:p>
                  </a:txBody>
                  <a:tcPr marL="54785" marR="54785" marT="54785" marB="54785"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c>
                  <a:txBody>
                    <a:bodyPr/>
                    <a:lstStyle/>
                    <a:p>
                      <a:pPr indent="0" marL="0">
                        <a:lnSpc>
                          <a:spcPts val="1726"/>
                        </a:lnSpc>
                        <a:buNone/>
                      </a:pPr>
                      <a:r>
                        <a:rPr lang="en-US" sz="1233" dirty="0">
                          <a:solidFill>
                            <a:srgbClr val="2E7D52"/>
                          </a:solidFill>
                          <a:latin typeface="IBM Plex Sans" pitchFamily="34" charset="0"/>
                          <a:ea typeface="IBM Plex Sans" pitchFamily="34" charset="-122"/>
                          <a:cs typeface="IBM Plex Sans" pitchFamily="34" charset="-120"/>
                        </a:rPr>
                        <a:t>soffitti</a:t>
                      </a:r>
                      <a:endParaRPr lang="en-US" sz="1233" dirty="0">
                        <a:latin typeface="IBM Plex Sans" charset="0"/>
                        <a:ea typeface="IBM Plex Sans" charset="0"/>
                        <a:cs typeface="IBM Plex Sans" charset="0"/>
                      </a:endParaRPr>
                    </a:p>
                  </a:txBody>
                  <a:tcPr marL="54785" marR="54785" marT="54785" marB="54785"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c>
                  <a:txBody>
                    <a:bodyPr/>
                    <a:lstStyle/>
                    <a:p>
                      <a:pPr indent="0" marL="0">
                        <a:lnSpc>
                          <a:spcPts val="1726"/>
                        </a:lnSpc>
                        <a:buNone/>
                      </a:pPr>
                      <a:r>
                        <a:rPr lang="en-US" sz="1233" dirty="0">
                          <a:solidFill>
                            <a:srgbClr val="C2410C"/>
                          </a:solidFill>
                          <a:latin typeface="IBM Plex Sans" pitchFamily="34" charset="0"/>
                          <a:ea typeface="IBM Plex Sans" pitchFamily="34" charset="-122"/>
                          <a:cs typeface="IBM Plex Sans" pitchFamily="34" charset="-120"/>
                        </a:rPr>
                        <a:t>compilata</a:t>
                      </a:r>
                      <a:endParaRPr lang="en-US" sz="1233" dirty="0">
                        <a:latin typeface="IBM Plex Sans" charset="0"/>
                        <a:ea typeface="IBM Plex Sans" charset="0"/>
                        <a:cs typeface="IBM Plex Sans" charset="0"/>
                      </a:endParaRPr>
                    </a:p>
                  </a:txBody>
                  <a:tcPr marL="54785" marR="54785" marT="54785" marB="54785"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r>
              <a:tr h="341577">
                <a:tc>
                  <a:txBody>
                    <a:bodyPr/>
                    <a:lstStyle/>
                    <a:p>
                      <a:pPr indent="0" marL="0">
                        <a:lnSpc>
                          <a:spcPts val="1726"/>
                        </a:lnSpc>
                        <a:buNone/>
                      </a:pPr>
                      <a:r>
                        <a:rPr lang="en-US" sz="1233" dirty="0">
                          <a:solidFill>
                            <a:srgbClr val="14213D"/>
                          </a:solidFill>
                          <a:latin typeface="IBM Plex Sans" pitchFamily="34" charset="0"/>
                          <a:ea typeface="IBM Plex Sans" pitchFamily="34" charset="-122"/>
                          <a:cs typeface="IBM Plex Sans" pitchFamily="34" charset="-120"/>
                        </a:rPr>
                        <a:t>modular (P3)</a:t>
                      </a:r>
                      <a:endParaRPr lang="en-US" sz="1233" dirty="0">
                        <a:latin typeface="IBM Plex Sans" charset="0"/>
                        <a:ea typeface="IBM Plex Sans" charset="0"/>
                        <a:cs typeface="IBM Plex Sans" charset="0"/>
                      </a:endParaRPr>
                    </a:p>
                  </a:txBody>
                  <a:tcPr marL="54785" marR="54785" marT="54785" marB="54785"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F4F6F9"/>
                    </a:solidFill>
                  </a:tcPr>
                </a:tc>
                <a:tc>
                  <a:txBody>
                    <a:bodyPr/>
                    <a:lstStyle/>
                    <a:p>
                      <a:pPr indent="0" marL="0">
                        <a:lnSpc>
                          <a:spcPts val="1726"/>
                        </a:lnSpc>
                        <a:buNone/>
                      </a:pPr>
                      <a:r>
                        <a:rPr lang="en-US" sz="1233" dirty="0">
                          <a:solidFill>
                            <a:srgbClr val="2E7D52"/>
                          </a:solidFill>
                          <a:latin typeface="IBM Plex Sans" pitchFamily="34" charset="0"/>
                          <a:ea typeface="IBM Plex Sans" pitchFamily="34" charset="-122"/>
                          <a:cs typeface="IBM Plex Sans" pitchFamily="34" charset="-120"/>
                        </a:rPr>
                        <a:t>da mappa</a:t>
                      </a:r>
                      <a:endParaRPr lang="en-US" sz="1233" dirty="0">
                        <a:latin typeface="IBM Plex Sans" charset="0"/>
                        <a:ea typeface="IBM Plex Sans" charset="0"/>
                        <a:cs typeface="IBM Plex Sans" charset="0"/>
                      </a:endParaRPr>
                    </a:p>
                  </a:txBody>
                  <a:tcPr marL="54785" marR="54785" marT="54785" marB="54785"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F4F6F9"/>
                    </a:solidFill>
                  </a:tcPr>
                </a:tc>
                <a:tc>
                  <a:txBody>
                    <a:bodyPr/>
                    <a:lstStyle/>
                    <a:p>
                      <a:pPr indent="0" marL="0">
                        <a:lnSpc>
                          <a:spcPts val="1726"/>
                        </a:lnSpc>
                        <a:buNone/>
                      </a:pPr>
                      <a:r>
                        <a:rPr lang="en-US" sz="1233" dirty="0">
                          <a:solidFill>
                            <a:srgbClr val="2E7D52"/>
                          </a:solidFill>
                          <a:latin typeface="IBM Plex Sans" pitchFamily="34" charset="0"/>
                          <a:ea typeface="IBM Plex Sans" pitchFamily="34" charset="-122"/>
                          <a:cs typeface="IBM Plex Sans" pitchFamily="34" charset="-120"/>
                        </a:rPr>
                        <a:t>da mappa</a:t>
                      </a:r>
                      <a:endParaRPr lang="en-US" sz="1233" dirty="0">
                        <a:latin typeface="IBM Plex Sans" charset="0"/>
                        <a:ea typeface="IBM Plex Sans" charset="0"/>
                        <a:cs typeface="IBM Plex Sans" charset="0"/>
                      </a:endParaRPr>
                    </a:p>
                  </a:txBody>
                  <a:tcPr marL="54785" marR="54785" marT="54785" marB="54785"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F4F6F9"/>
                    </a:solidFill>
                  </a:tcPr>
                </a:tc>
                <a:tc>
                  <a:txBody>
                    <a:bodyPr/>
                    <a:lstStyle/>
                    <a:p>
                      <a:pPr indent="0" marL="0">
                        <a:lnSpc>
                          <a:spcPts val="1726"/>
                        </a:lnSpc>
                        <a:buNone/>
                      </a:pPr>
                      <a:r>
                        <a:rPr lang="en-US" sz="1233" dirty="0">
                          <a:solidFill>
                            <a:srgbClr val="2E7D52"/>
                          </a:solidFill>
                          <a:latin typeface="IBM Plex Sans" pitchFamily="34" charset="0"/>
                          <a:ea typeface="IBM Plex Sans" pitchFamily="34" charset="-122"/>
                          <a:cs typeface="IBM Plex Sans" pitchFamily="34" charset="-120"/>
                        </a:rPr>
                        <a:t>tutte</a:t>
                      </a:r>
                      <a:endParaRPr lang="en-US" sz="1233" dirty="0">
                        <a:latin typeface="IBM Plex Sans" charset="0"/>
                        <a:ea typeface="IBM Plex Sans" charset="0"/>
                        <a:cs typeface="IBM Plex Sans" charset="0"/>
                      </a:endParaRPr>
                    </a:p>
                  </a:txBody>
                  <a:tcPr marL="54785" marR="54785" marT="54785" marB="54785"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F4F6F9"/>
                    </a:solidFill>
                  </a:tcPr>
                </a:tc>
                <a:tc>
                  <a:txBody>
                    <a:bodyPr/>
                    <a:lstStyle/>
                    <a:p>
                      <a:pPr indent="0" marL="0">
                        <a:lnSpc>
                          <a:spcPts val="1726"/>
                        </a:lnSpc>
                        <a:buNone/>
                      </a:pPr>
                      <a:r>
                        <a:rPr lang="en-US" sz="1233" dirty="0">
                          <a:solidFill>
                            <a:srgbClr val="2E7D52"/>
                          </a:solidFill>
                          <a:latin typeface="IBM Plex Sans" pitchFamily="34" charset="0"/>
                          <a:ea typeface="IBM Plex Sans" pitchFamily="34" charset="-122"/>
                          <a:cs typeface="IBM Plex Sans" pitchFamily="34" charset="-120"/>
                        </a:rPr>
                        <a:t>da mappa</a:t>
                      </a:r>
                      <a:endParaRPr lang="en-US" sz="1233" dirty="0">
                        <a:latin typeface="IBM Plex Sans" charset="0"/>
                        <a:ea typeface="IBM Plex Sans" charset="0"/>
                        <a:cs typeface="IBM Plex Sans" charset="0"/>
                      </a:endParaRPr>
                    </a:p>
                  </a:txBody>
                  <a:tcPr marL="54785" marR="54785" marT="54785" marB="54785"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F4F6F9"/>
                    </a:solidFill>
                  </a:tcPr>
                </a:tc>
                <a:tc>
                  <a:txBody>
                    <a:bodyPr/>
                    <a:lstStyle/>
                    <a:p>
                      <a:pPr indent="0" marL="0">
                        <a:lnSpc>
                          <a:spcPts val="1726"/>
                        </a:lnSpc>
                        <a:buNone/>
                      </a:pPr>
                      <a:r>
                        <a:rPr lang="en-US" sz="1233" dirty="0">
                          <a:solidFill>
                            <a:srgbClr val="2E7D52"/>
                          </a:solidFill>
                          <a:latin typeface="IBM Plex Sans" pitchFamily="34" charset="0"/>
                          <a:ea typeface="IBM Plex Sans" pitchFamily="34" charset="-122"/>
                          <a:cs typeface="IBM Plex Sans" pitchFamily="34" charset="-120"/>
                        </a:rPr>
                        <a:t>da mappa</a:t>
                      </a:r>
                      <a:endParaRPr lang="en-US" sz="1233" dirty="0">
                        <a:latin typeface="IBM Plex Sans" charset="0"/>
                        <a:ea typeface="IBM Plex Sans" charset="0"/>
                        <a:cs typeface="IBM Plex Sans" charset="0"/>
                      </a:endParaRPr>
                    </a:p>
                  </a:txBody>
                  <a:tcPr marL="54785" marR="54785" marT="54785" marB="54785"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F4F6F9"/>
                    </a:solidFill>
                  </a:tcPr>
                </a:tc>
              </a:tr>
            </a:tbl>
          </a:graphicData>
        </a:graphic>
      </p:graphicFrame>
      <p:sp>
        <p:nvSpPr>
          <p:cNvPr id="6" name="Shape 3"/>
          <p:cNvSpPr/>
          <p:nvPr/>
        </p:nvSpPr>
        <p:spPr>
          <a:xfrm>
            <a:off x="812800" y="4652699"/>
            <a:ext cx="10566400" cy="1189302"/>
          </a:xfrm>
          <a:prstGeom prst="roundRect">
            <a:avLst>
              <a:gd name="adj" fmla="val 8543"/>
            </a:avLst>
          </a:prstGeom>
          <a:solidFill>
            <a:srgbClr val="EEF1F5"/>
          </a:solidFill>
          <a:ln/>
        </p:spPr>
      </p:sp>
      <p:sp>
        <p:nvSpPr>
          <p:cNvPr id="7" name="Text 4"/>
          <p:cNvSpPr/>
          <p:nvPr/>
        </p:nvSpPr>
        <p:spPr>
          <a:xfrm>
            <a:off x="1016000" y="4817799"/>
            <a:ext cx="10464800" cy="212196"/>
          </a:xfrm>
          <a:prstGeom prst="rect">
            <a:avLst/>
          </a:prstGeom>
          <a:noFill/>
          <a:ln/>
        </p:spPr>
        <p:txBody>
          <a:bodyPr wrap="square" lIns="0" tIns="0" rIns="0" bIns="0" rtlCol="0" anchor="t">
            <a:normAutofit/>
          </a:bodyPr>
          <a:lstStyle/>
          <a:p>
            <a:pPr algn="l" indent="0" marL="0">
              <a:lnSpc>
                <a:spcPts val="1474"/>
              </a:lnSpc>
              <a:buNone/>
            </a:pPr>
            <a:r>
              <a:rPr lang="en-US" sz="1228" b="1" dirty="0">
                <a:solidFill>
                  <a:srgbClr val="14213D"/>
                </a:solidFill>
                <a:latin typeface="IBM Plex Sans" pitchFamily="34" charset="0"/>
                <a:ea typeface="IBM Plex Sans" pitchFamily="34" charset="-122"/>
                <a:cs typeface="IBM Plex Sans" pitchFamily="34" charset="-120"/>
              </a:rPr>
              <a:t>“Porte del nodo” non è il valore della feature</a:t>
            </a:r>
            <a:endParaRPr lang="en-US" sz="1228" dirty="0"/>
          </a:p>
        </p:txBody>
      </p:sp>
      <p:sp>
        <p:nvSpPr>
          <p:cNvPr id="8" name="Text 5"/>
          <p:cNvSpPr/>
          <p:nvPr/>
        </p:nvSpPr>
        <p:spPr>
          <a:xfrm>
            <a:off x="1016000" y="5068094"/>
            <a:ext cx="10203180" cy="634206"/>
          </a:xfrm>
          <a:prstGeom prst="rect">
            <a:avLst/>
          </a:prstGeom>
          <a:noFill/>
          <a:ln/>
        </p:spPr>
        <p:txBody>
          <a:bodyPr wrap="square" lIns="0" tIns="0" rIns="0" bIns="0" rtlCol="0" anchor="t">
            <a:normAutofit/>
          </a:bodyPr>
          <a:lstStyle/>
          <a:p>
            <a:pPr algn="l" indent="0" marL="0">
              <a:lnSpc>
                <a:spcPts val="1607"/>
              </a:lnSpc>
              <a:buNone/>
            </a:pPr>
            <a:r>
              <a:rPr lang="en-US" sz="1148" dirty="0">
                <a:solidFill>
                  <a:srgbClr val="4A5568"/>
                </a:solidFill>
                <a:latin typeface="IBM Plex Sans" pitchFamily="34" charset="0"/>
                <a:ea typeface="IBM Plex Sans" pitchFamily="34" charset="-122"/>
                <a:cs typeface="IBM Plex Sans" pitchFamily="34" charset="-120"/>
              </a:rPr>
              <a:t>Un nodo con tre porte su sei previste ha tre caselle senza niente dietro: non sono collegamenti caduti, </a:t>
            </a:r>
            <a:r>
              <a:rPr lang="en-US" sz="1148" b="1" dirty="0">
                <a:solidFill>
                  <a:srgbClr val="4A5568"/>
                </a:solidFill>
                <a:latin typeface="IBM Plex Sans" pitchFamily="34" charset="0"/>
                <a:ea typeface="IBM Plex Sans" pitchFamily="34" charset="-122"/>
                <a:cs typeface="IBM Plex Sans" pitchFamily="34" charset="-120"/>
              </a:rPr>
              <a:t>non esistono</a:t>
            </a:r>
            <a:r>
              <a:rPr lang="en-US" sz="1148" dirty="0">
                <a:solidFill>
                  <a:srgbClr val="4A5568"/>
                </a:solidFill>
                <a:latin typeface="IBM Plex Sans" pitchFamily="34" charset="0"/>
                <a:ea typeface="IBM Plex Sans" pitchFamily="34" charset="-122"/>
                <a:cs typeface="IBM Plex Sans" pitchFamily="34" charset="-120"/>
              </a:rPr>
              <a:t>. La versione specializzata non le genera. </a:t>
            </a:r>
            <a:r>
              <a:rPr lang="en-US" sz="1148" b="1" dirty="0">
                <a:solidFill>
                  <a:srgbClr val="4A5568"/>
                </a:solidFill>
                <a:latin typeface="IBM Plex Sans" pitchFamily="34" charset="0"/>
                <a:ea typeface="IBM Plex Sans" pitchFamily="34" charset="-122"/>
                <a:cs typeface="IBM Plex Sans" pitchFamily="34" charset="-120"/>
              </a:rPr>
              <a:t>Se</a:t>
            </a:r>
            <a:r>
              <a:rPr lang="en-US" sz="1148" dirty="0">
                <a:solidFill>
                  <a:srgbClr val="4A5568"/>
                </a:solidFill>
                <a:latin typeface="IBM Plex Sans" pitchFamily="34" charset="0"/>
                <a:ea typeface="IBM Plex Sans" pitchFamily="34" charset="-122"/>
                <a:cs typeface="IBM Plex Sans" pitchFamily="34" charset="-120"/>
              </a:rPr>
              <a:t> un collegamento esista si sa quando si compila; </a:t>
            </a:r>
            <a:r>
              <a:rPr lang="en-US" sz="1148" b="1" dirty="0">
                <a:solidFill>
                  <a:srgbClr val="4A5568"/>
                </a:solidFill>
                <a:latin typeface="IBM Plex Sans" pitchFamily="34" charset="0"/>
                <a:ea typeface="IBM Plex Sans" pitchFamily="34" charset="-122"/>
                <a:cs typeface="IBM Plex Sans" pitchFamily="34" charset="-120"/>
              </a:rPr>
              <a:t>com’è messo</a:t>
            </a:r>
            <a:r>
              <a:rPr lang="en-US" sz="1148" dirty="0">
                <a:solidFill>
                  <a:srgbClr val="4A5568"/>
                </a:solidFill>
                <a:latin typeface="IBM Plex Sans" pitchFamily="34" charset="0"/>
                <a:ea typeface="IBM Plex Sans" pitchFamily="34" charset="-122"/>
                <a:cs typeface="IBM Plex Sans" pitchFamily="34" charset="-120"/>
              </a:rPr>
              <a:t> in questo momento resta una cosa che si legge mentre il nodo gira, come prima.</a:t>
            </a:r>
            <a:endParaRPr lang="en-US" sz="1148" dirty="0"/>
          </a:p>
        </p:txBody>
      </p:sp>
      <p:sp>
        <p:nvSpPr>
          <p:cNvPr id="9" name="Text 6"/>
          <p:cNvSpPr/>
          <p:nvPr/>
        </p:nvSpPr>
        <p:spPr>
          <a:xfrm>
            <a:off x="812800" y="6238280"/>
            <a:ext cx="527586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Arancione = già deciso quando si compila · verde = letto mentre il nodo gira</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F1F5"/>
        </a:solidFill>
      </p:bgPr>
    </p:bg>
    <p:spTree>
      <p:nvGrpSpPr>
        <p:cNvPr id="1" name=""/>
        <p:cNvGrpSpPr/>
        <p:nvPr/>
      </p:nvGrpSpPr>
      <p:grpSpPr>
        <a:xfrm>
          <a:off x="0" y="0"/>
          <a:ext cx="0" cy="0"/>
          <a:chOff x="0" y="0"/>
          <a:chExt cx="0" cy="0"/>
        </a:xfrm>
      </p:grpSpPr>
      <p:sp>
        <p:nvSpPr>
          <p:cNvPr id="2" name="Text 0"/>
          <p:cNvSpPr/>
          <p:nvPr/>
        </p:nvSpPr>
        <p:spPr>
          <a:xfrm>
            <a:off x="812800" y="812800"/>
            <a:ext cx="10883392" cy="470760"/>
          </a:xfrm>
          <a:prstGeom prst="rect">
            <a:avLst/>
          </a:prstGeom>
          <a:noFill/>
          <a:ln/>
        </p:spPr>
        <p:txBody>
          <a:bodyPr wrap="square" lIns="0" tIns="0" rIns="0" bIns="0" rtlCol="0" anchor="t">
            <a:normAutofit/>
          </a:bodyPr>
          <a:lstStyle/>
          <a:p>
            <a:pPr algn="l" indent="0" marL="0">
              <a:lnSpc>
                <a:spcPts val="3518"/>
              </a:lnSpc>
              <a:buNone/>
            </a:pPr>
            <a:r>
              <a:rPr lang="en-US" sz="3198" b="1" dirty="0">
                <a:solidFill>
                  <a:srgbClr val="14213D"/>
                </a:solidFill>
                <a:latin typeface="IBM Plex Sans" pitchFamily="34" charset="0"/>
                <a:ea typeface="IBM Plex Sans" pitchFamily="34" charset="-122"/>
                <a:cs typeface="IBM Plex Sans" pitchFamily="34" charset="-120"/>
              </a:rPr>
              <a:t>Che cosa cambia nel codice generato</a:t>
            </a:r>
            <a:endParaRPr lang="en-US" sz="3198" dirty="0"/>
          </a:p>
        </p:txBody>
      </p:sp>
      <p:sp>
        <p:nvSpPr>
          <p:cNvPr id="3" name="Text 1"/>
          <p:cNvSpPr/>
          <p:nvPr/>
        </p:nvSpPr>
        <p:spPr>
          <a:xfrm>
            <a:off x="812800" y="1486762"/>
            <a:ext cx="10203180" cy="284427"/>
          </a:xfrm>
          <a:prstGeom prst="rect">
            <a:avLst/>
          </a:prstGeom>
          <a:noFill/>
          <a:ln/>
        </p:spPr>
        <p:txBody>
          <a:bodyPr wrap="square" lIns="0" tIns="0" rIns="0" bIns="0" rtlCol="0" anchor="t">
            <a:normAutofit/>
          </a:bodyPr>
          <a:lstStyle/>
          <a:p>
            <a:pPr algn="l" indent="0" marL="0">
              <a:lnSpc>
                <a:spcPts val="2073"/>
              </a:lnSpc>
              <a:buNone/>
            </a:pPr>
            <a:r>
              <a:rPr lang="en-US" sz="1430" dirty="0">
                <a:solidFill>
                  <a:srgbClr val="4A5568"/>
                </a:solidFill>
                <a:latin typeface="IBM Plex Sans" pitchFamily="34" charset="0"/>
                <a:ea typeface="IBM Plex Sans" pitchFamily="34" charset="-122"/>
                <a:cs typeface="IBM Plex Sans" pitchFamily="34" charset="-120"/>
              </a:rPr>
              <a:t>La rete neurale è la stessa in tutte e quattro. Cambia solo </a:t>
            </a:r>
            <a:r>
              <a:rPr lang="en-US" sz="1430" b="1" dirty="0">
                <a:solidFill>
                  <a:srgbClr val="4A5568"/>
                </a:solidFill>
                <a:latin typeface="IBM Plex Sans" pitchFamily="34" charset="0"/>
                <a:ea typeface="IBM Plex Sans" pitchFamily="34" charset="-122"/>
                <a:cs typeface="IBM Plex Sans" pitchFamily="34" charset="-120"/>
              </a:rPr>
              <a:t>da dove arrivano i pesi</a:t>
            </a:r>
            <a:r>
              <a:rPr lang="en-US" sz="1430" dirty="0">
                <a:solidFill>
                  <a:srgbClr val="4A5568"/>
                </a:solidFill>
                <a:latin typeface="IBM Plex Sans" pitchFamily="34" charset="0"/>
                <a:ea typeface="IBM Plex Sans" pitchFamily="34" charset="-122"/>
                <a:cs typeface="IBM Plex Sans" pitchFamily="34" charset="-120"/>
              </a:rPr>
              <a:t> nel momento in cui si fa il conto.</a:t>
            </a:r>
            <a:endParaRPr lang="en-US" sz="1430" dirty="0"/>
          </a:p>
        </p:txBody>
      </p:sp>
      <p:sp>
        <p:nvSpPr>
          <p:cNvPr id="4" name="Shape 2"/>
          <p:cNvSpPr/>
          <p:nvPr/>
        </p:nvSpPr>
        <p:spPr>
          <a:xfrm>
            <a:off x="815975" y="1977563"/>
            <a:ext cx="5175250" cy="2414125"/>
          </a:xfrm>
          <a:prstGeom prst="roundRect">
            <a:avLst>
              <a:gd name="adj" fmla="val 4077"/>
            </a:avLst>
          </a:prstGeom>
          <a:solidFill>
            <a:srgbClr val="FBFBF8"/>
          </a:solidFill>
          <a:ln w="6350">
            <a:solidFill>
              <a:srgbClr val="D7DEE7"/>
            </a:solidFill>
            <a:prstDash val="solid"/>
          </a:ln>
        </p:spPr>
      </p:sp>
      <p:sp>
        <p:nvSpPr>
          <p:cNvPr id="5" name="Text 3"/>
          <p:cNvSpPr/>
          <p:nvPr/>
        </p:nvSpPr>
        <p:spPr>
          <a:xfrm>
            <a:off x="1045633" y="2207220"/>
            <a:ext cx="4857411" cy="248642"/>
          </a:xfrm>
          <a:prstGeom prst="rect">
            <a:avLst/>
          </a:prstGeom>
          <a:noFill/>
          <a:ln/>
        </p:spPr>
        <p:txBody>
          <a:bodyPr wrap="square" lIns="0" tIns="0" rIns="0" bIns="0" rtlCol="0" anchor="t">
            <a:normAutofit/>
          </a:bodyPr>
          <a:lstStyle/>
          <a:p>
            <a:pPr algn="l" indent="0" marL="0">
              <a:lnSpc>
                <a:spcPts val="1770"/>
              </a:lnSpc>
              <a:buNone/>
            </a:pPr>
            <a:r>
              <a:rPr lang="en-US" sz="1475" b="1" dirty="0">
                <a:solidFill>
                  <a:srgbClr val="C2410C"/>
                </a:solidFill>
                <a:latin typeface="IBM Plex Sans" pitchFamily="34" charset="0"/>
                <a:ea typeface="IBM Plex Sans" pitchFamily="34" charset="-122"/>
                <a:cs typeface="IBM Plex Sans" pitchFamily="34" charset="-120"/>
              </a:rPr>
              <a:t>Specializzata — p1_static</a:t>
            </a:r>
            <a:endParaRPr lang="en-US" sz="1475" dirty="0"/>
          </a:p>
        </p:txBody>
      </p:sp>
      <p:sp>
        <p:nvSpPr>
          <p:cNvPr id="6" name="Text 4"/>
          <p:cNvSpPr/>
          <p:nvPr/>
        </p:nvSpPr>
        <p:spPr>
          <a:xfrm>
            <a:off x="1045633" y="2532063"/>
            <a:ext cx="4857411" cy="918700"/>
          </a:xfrm>
          <a:prstGeom prst="rect">
            <a:avLst/>
          </a:prstGeom>
          <a:noFill/>
          <a:ln/>
        </p:spPr>
        <p:txBody>
          <a:bodyPr wrap="square" lIns="0" tIns="0" rIns="0" bIns="0" rtlCol="0" anchor="t">
            <a:normAutofit/>
          </a:bodyPr>
          <a:lstStyle/>
          <a:p>
            <a:pPr algn="l" indent="0" marL="0">
              <a:lnSpc>
                <a:spcPts val="1764"/>
              </a:lnSpc>
              <a:buNone/>
            </a:pPr>
            <a:r>
              <a:rPr lang="en-US" sz="1103" dirty="0">
                <a:solidFill>
                  <a:srgbClr val="14213D"/>
                </a:solidFill>
                <a:latin typeface="JetBrains Mono" pitchFamily="34" charset="0"/>
                <a:ea typeface="JetBrains Mono" pitchFamily="34" charset="-122"/>
                <a:cs typeface="JetBrains Mono" pitchFamily="34" charset="-120"/>
              </a:rPr>
              <a:t>h[j] += 37LL * x0;</a:t>
            </a:r>
            <a:endParaRPr lang="en-US" sz="1103" dirty="0"/>
          </a:p>
          <a:p>
            <a:pPr algn="l" indent="0" marL="0">
              <a:lnSpc>
                <a:spcPts val="1764"/>
              </a:lnSpc>
              <a:buNone/>
            </a:pPr>
            <a:r>
              <a:rPr lang="en-US" sz="1103" dirty="0">
                <a:solidFill>
                  <a:srgbClr val="14213D"/>
                </a:solidFill>
                <a:latin typeface="JetBrains Mono" pitchFamily="34" charset="0"/>
                <a:ea typeface="JetBrains Mono" pitchFamily="34" charset="-122"/>
                <a:cs typeface="JetBrains Mono" pitchFamily="34" charset="-120"/>
              </a:rPr>
              <a:t>h[j] += -12LL * x1;</a:t>
            </a:r>
            <a:endParaRPr lang="en-US" sz="1103" dirty="0"/>
          </a:p>
          <a:p>
            <a:pPr algn="l" indent="0" marL="0">
              <a:lnSpc>
                <a:spcPts val="1764"/>
              </a:lnSpc>
              <a:buNone/>
            </a:pPr>
            <a:r>
              <a:rPr lang="en-US" sz="1103" dirty="0">
                <a:solidFill>
                  <a:srgbClr val="14213D"/>
                </a:solidFill>
                <a:latin typeface="JetBrains Mono" pitchFamily="34" charset="0"/>
                <a:ea typeface="JetBrains Mono" pitchFamily="34" charset="-122"/>
                <a:cs typeface="JetBrains Mono" pitchFamily="34" charset="-120"/>
              </a:rPr>
              <a:t>…</a:t>
            </a:r>
            <a:endParaRPr lang="en-US" sz="1103" dirty="0"/>
          </a:p>
          <a:p>
            <a:pPr algn="l" indent="0" marL="0">
              <a:lnSpc>
                <a:spcPts val="1764"/>
              </a:lnSpc>
              <a:buNone/>
            </a:pPr>
            <a:r>
              <a:rPr lang="en-US" sz="1103" dirty="0">
                <a:solidFill>
                  <a:srgbClr val="14213D"/>
                </a:solidFill>
                <a:latin typeface="JetBrains Mono" pitchFamily="34" charset="0"/>
                <a:ea typeface="JetBrains Mono" pitchFamily="34" charset="-122"/>
                <a:cs typeface="JetBrains Mono" pitchFamily="34" charset="-120"/>
              </a:rPr>
              <a:t>/* 319 costanti nel sorgente */</a:t>
            </a:r>
            <a:endParaRPr lang="en-US" sz="1103" dirty="0"/>
          </a:p>
        </p:txBody>
      </p:sp>
      <p:sp>
        <p:nvSpPr>
          <p:cNvPr id="7" name="Text 5"/>
          <p:cNvSpPr/>
          <p:nvPr/>
        </p:nvSpPr>
        <p:spPr>
          <a:xfrm>
            <a:off x="1045633" y="3526963"/>
            <a:ext cx="4857411" cy="660466"/>
          </a:xfrm>
          <a:prstGeom prst="rect">
            <a:avLst/>
          </a:prstGeom>
          <a:noFill/>
          <a:ln/>
        </p:spPr>
        <p:txBody>
          <a:bodyPr wrap="square" lIns="0" tIns="0" rIns="0" bIns="0" rtlCol="0" anchor="t">
            <a:normAutofit/>
          </a:bodyPr>
          <a:lstStyle/>
          <a:p>
            <a:pPr algn="l" indent="0" marL="0">
              <a:lnSpc>
                <a:spcPts val="1672"/>
              </a:lnSpc>
              <a:buNone/>
            </a:pPr>
            <a:r>
              <a:rPr lang="en-US" sz="1194" dirty="0">
                <a:solidFill>
                  <a:srgbClr val="4A5568"/>
                </a:solidFill>
                <a:latin typeface="IBM Plex Sans" pitchFamily="34" charset="0"/>
                <a:ea typeface="IBM Plex Sans" pitchFamily="34" charset="-122"/>
                <a:cs typeface="IBM Plex Sans" pitchFamily="34" charset="-120"/>
              </a:rPr>
              <a:t>Il compilatore </a:t>
            </a:r>
            <a:r>
              <a:rPr lang="en-US" sz="1194" b="1" dirty="0">
                <a:solidFill>
                  <a:srgbClr val="4A5568"/>
                </a:solidFill>
                <a:latin typeface="IBM Plex Sans" pitchFamily="34" charset="0"/>
                <a:ea typeface="IBM Plex Sans" pitchFamily="34" charset="-122"/>
                <a:cs typeface="IBM Plex Sans" pitchFamily="34" charset="-120"/>
              </a:rPr>
              <a:t>vede</a:t>
            </a:r>
            <a:r>
              <a:rPr lang="en-US" sz="1194" dirty="0">
                <a:solidFill>
                  <a:srgbClr val="4A5568"/>
                </a:solidFill>
                <a:latin typeface="IBM Plex Sans" pitchFamily="34" charset="0"/>
                <a:ea typeface="IBM Plex Sans" pitchFamily="34" charset="-122"/>
                <a:cs typeface="IBM Plex Sans" pitchFamily="34" charset="-120"/>
              </a:rPr>
              <a:t> i numeri: cancella le moltiplicazioni per zero e semplifica le altre. Il programma diventa piccolo e veloce, ma vale per quel modello soltanto.</a:t>
            </a:r>
            <a:endParaRPr lang="en-US" sz="1194" dirty="0"/>
          </a:p>
        </p:txBody>
      </p:sp>
      <p:sp>
        <p:nvSpPr>
          <p:cNvPr id="8" name="Shape 6"/>
          <p:cNvSpPr/>
          <p:nvPr/>
        </p:nvSpPr>
        <p:spPr>
          <a:xfrm>
            <a:off x="6200775" y="1977563"/>
            <a:ext cx="5175250" cy="2414125"/>
          </a:xfrm>
          <a:prstGeom prst="roundRect">
            <a:avLst>
              <a:gd name="adj" fmla="val 4077"/>
            </a:avLst>
          </a:prstGeom>
          <a:solidFill>
            <a:srgbClr val="FBFBF8"/>
          </a:solidFill>
          <a:ln w="6350">
            <a:solidFill>
              <a:srgbClr val="D7DEE7"/>
            </a:solidFill>
            <a:prstDash val="solid"/>
          </a:ln>
        </p:spPr>
      </p:sp>
      <p:sp>
        <p:nvSpPr>
          <p:cNvPr id="9" name="Text 7"/>
          <p:cNvSpPr/>
          <p:nvPr/>
        </p:nvSpPr>
        <p:spPr>
          <a:xfrm>
            <a:off x="6430433" y="2207220"/>
            <a:ext cx="4857411"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E7D52"/>
                </a:solidFill>
                <a:latin typeface="IBM Plex Sans" pitchFamily="34" charset="0"/>
                <a:ea typeface="IBM Plex Sans" pitchFamily="34" charset="-122"/>
                <a:cs typeface="IBM Plex Sans" pitchFamily="34" charset="-120"/>
              </a:rPr>
              <a:t>Generica — template / modular</a:t>
            </a:r>
            <a:endParaRPr lang="en-US" sz="1600" dirty="0"/>
          </a:p>
        </p:txBody>
      </p:sp>
      <p:sp>
        <p:nvSpPr>
          <p:cNvPr id="10" name="Text 8"/>
          <p:cNvSpPr/>
          <p:nvPr/>
        </p:nvSpPr>
        <p:spPr>
          <a:xfrm>
            <a:off x="6430433" y="2552635"/>
            <a:ext cx="4857411" cy="756841"/>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14213D"/>
                </a:solidFill>
                <a:latin typeface="JetBrains Mono" pitchFamily="34" charset="0"/>
                <a:ea typeface="JetBrains Mono" pitchFamily="34" charset="-122"/>
                <a:cs typeface="JetBrains Mono" pitchFamily="34" charset="-120"/>
              </a:rPr>
              <a:t>for (j &lt; MAX_H1)</a:t>
            </a:r>
            <a:endParaRPr lang="en-US" sz="1200" dirty="0"/>
          </a:p>
          <a:p>
            <a:pPr algn="l" indent="0" marL="0">
              <a:lnSpc>
                <a:spcPts val="1920"/>
              </a:lnSpc>
              <a:buNone/>
            </a:pPr>
            <a:r>
              <a:rPr lang="en-US" sz="1200" dirty="0">
                <a:solidFill>
                  <a:srgbClr val="14213D"/>
                </a:solidFill>
                <a:latin typeface="JetBrains Mono" pitchFamily="34" charset="0"/>
                <a:ea typeface="JetBrains Mono" pitchFamily="34" charset="-122"/>
                <a:cs typeface="JetBrains Mono" pitchFamily="34" charset="-120"/>
              </a:rPr>
              <a:t>  for (i &lt; MAX_N_IN)</a:t>
            </a:r>
            <a:endParaRPr lang="en-US" sz="1200" dirty="0"/>
          </a:p>
          <a:p>
            <a:pPr algn="l" indent="0" marL="0">
              <a:lnSpc>
                <a:spcPts val="1920"/>
              </a:lnSpc>
              <a:buNone/>
            </a:pPr>
            <a:r>
              <a:rPr lang="en-US" sz="1200" dirty="0">
                <a:solidFill>
                  <a:srgbClr val="14213D"/>
                </a:solidFill>
                <a:latin typeface="JetBrains Mono" pitchFamily="34" charset="0"/>
                <a:ea typeface="JetBrains Mono" pitchFamily="34" charset="-122"/>
                <a:cs typeface="JetBrains Mono" pitchFamily="34" charset="-120"/>
              </a:rPr>
              <a:t>   h[j] += W[off+j*n+i] * x[i];</a:t>
            </a:r>
            <a:endParaRPr lang="en-US" sz="1200" dirty="0"/>
          </a:p>
        </p:txBody>
      </p:sp>
      <p:sp>
        <p:nvSpPr>
          <p:cNvPr id="11" name="Text 9"/>
          <p:cNvSpPr/>
          <p:nvPr/>
        </p:nvSpPr>
        <p:spPr>
          <a:xfrm>
            <a:off x="6430433" y="3385676"/>
            <a:ext cx="4857411"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I pesi stanno in una tabella, e il compilatore non li vede. Il ciclo è scritto per il </a:t>
            </a:r>
            <a:r>
              <a:rPr lang="en-US" sz="1300" b="1" dirty="0">
                <a:solidFill>
                  <a:srgbClr val="4A5568"/>
                </a:solidFill>
                <a:latin typeface="IBM Plex Sans" pitchFamily="34" charset="0"/>
                <a:ea typeface="IBM Plex Sans" pitchFamily="34" charset="-122"/>
                <a:cs typeface="IBM Plex Sans" pitchFamily="34" charset="-120"/>
              </a:rPr>
              <a:t>caso peggiore ammesso</a:t>
            </a:r>
            <a:r>
              <a:rPr lang="en-US" sz="1300" dirty="0">
                <a:solidFill>
                  <a:srgbClr val="4A5568"/>
                </a:solidFill>
                <a:latin typeface="IBM Plex Sans" pitchFamily="34" charset="0"/>
                <a:ea typeface="IBM Plex Sans" pitchFamily="34" charset="-122"/>
                <a:cs typeface="IBM Plex Sans" pitchFamily="34" charset="-120"/>
              </a:rPr>
              <a:t>, non per la forma vera del modello: un programma solo serve qualunque modello.</a:t>
            </a:r>
            <a:endParaRPr lang="en-US" sz="1300" dirty="0"/>
          </a:p>
        </p:txBody>
      </p:sp>
      <p:sp>
        <p:nvSpPr>
          <p:cNvPr id="12" name="Shape 10"/>
          <p:cNvSpPr/>
          <p:nvPr/>
        </p:nvSpPr>
        <p:spPr>
          <a:xfrm>
            <a:off x="812800" y="4623464"/>
            <a:ext cx="10566400" cy="1218539"/>
          </a:xfrm>
          <a:prstGeom prst="roundRect">
            <a:avLst>
              <a:gd name="adj" fmla="val 8338"/>
            </a:avLst>
          </a:prstGeom>
          <a:solidFill>
            <a:srgbClr val="14213D"/>
          </a:solidFill>
          <a:ln/>
        </p:spPr>
      </p:sp>
      <p:sp>
        <p:nvSpPr>
          <p:cNvPr id="13" name="Text 11"/>
          <p:cNvSpPr/>
          <p:nvPr/>
        </p:nvSpPr>
        <p:spPr>
          <a:xfrm>
            <a:off x="1041400" y="4826664"/>
            <a:ext cx="10412476" cy="240903"/>
          </a:xfrm>
          <a:prstGeom prst="rect">
            <a:avLst/>
          </a:prstGeom>
          <a:noFill/>
          <a:ln/>
        </p:spPr>
        <p:txBody>
          <a:bodyPr wrap="square" lIns="0" tIns="0" rIns="0" bIns="0" rtlCol="0" anchor="t">
            <a:normAutofit/>
          </a:bodyPr>
          <a:lstStyle/>
          <a:p>
            <a:pPr algn="l" indent="0" marL="0">
              <a:lnSpc>
                <a:spcPts val="1723"/>
              </a:lnSpc>
              <a:buNone/>
            </a:pPr>
            <a:r>
              <a:rPr lang="en-US" sz="1231" dirty="0">
                <a:solidFill>
                  <a:srgbClr val="BFD8D5"/>
                </a:solidFill>
                <a:latin typeface="IBM Plex Sans" pitchFamily="34" charset="0"/>
                <a:ea typeface="IBM Plex Sans" pitchFamily="34" charset="-122"/>
                <a:cs typeface="IBM Plex Sans" pitchFamily="34" charset="-120"/>
              </a:rPr>
              <a:t>La conseguenza, misurabile, e il motivo per cui le due colonne divergono:</a:t>
            </a:r>
            <a:endParaRPr lang="en-US" sz="1231" dirty="0"/>
          </a:p>
        </p:txBody>
      </p:sp>
      <p:sp>
        <p:nvSpPr>
          <p:cNvPr id="14" name="Text 12"/>
          <p:cNvSpPr/>
          <p:nvPr/>
        </p:nvSpPr>
        <p:spPr>
          <a:xfrm>
            <a:off x="1041400" y="5105667"/>
            <a:ext cx="10412476" cy="558535"/>
          </a:xfrm>
          <a:prstGeom prst="rect">
            <a:avLst/>
          </a:prstGeom>
          <a:noFill/>
          <a:ln/>
        </p:spPr>
        <p:txBody>
          <a:bodyPr wrap="square" lIns="0" tIns="0" rIns="0" bIns="0" rtlCol="0" anchor="t">
            <a:normAutofit/>
          </a:bodyPr>
          <a:lstStyle/>
          <a:p>
            <a:pPr algn="l" indent="0" marL="0">
              <a:lnSpc>
                <a:spcPts val="2109"/>
              </a:lnSpc>
              <a:buNone/>
            </a:pPr>
            <a:r>
              <a:rPr lang="en-US" sz="1406" dirty="0">
                <a:solidFill>
                  <a:srgbClr val="FBFBF8"/>
                </a:solidFill>
                <a:latin typeface="JetBrains Mono" pitchFamily="34" charset="0"/>
                <a:ea typeface="JetBrains Mono" pitchFamily="34" charset="-122"/>
                <a:cs typeface="JetBrains Mono" pitchFamily="34" charset="-120"/>
              </a:rPr>
              <a:t>dimensione(specializzata) dipende dai </a:t>
            </a:r>
            <a:r>
              <a:rPr lang="en-US" sz="1406" b="1" dirty="0">
                <a:solidFill>
                  <a:srgbClr val="FBFBF8"/>
                </a:solidFill>
                <a:latin typeface="JetBrains Mono" pitchFamily="34" charset="0"/>
                <a:ea typeface="JetBrains Mono" pitchFamily="34" charset="-122"/>
                <a:cs typeface="JetBrains Mono" pitchFamily="34" charset="-120"/>
              </a:rPr>
              <a:t>valori dei pesi</a:t>
            </a:r>
            <a:r>
              <a:rPr lang="en-US" sz="1406" dirty="0">
                <a:solidFill>
                  <a:srgbClr val="FBFBF8"/>
                </a:solidFill>
                <a:latin typeface="JetBrains Mono" pitchFamily="34" charset="0"/>
                <a:ea typeface="JetBrains Mono" pitchFamily="34" charset="-122"/>
                <a:cs typeface="JetBrains Mono" pitchFamily="34" charset="-120"/>
              </a:rPr>
              <a:t>    </a:t>
            </a:r>
            <a:endParaRPr lang="en-US" sz="1406" dirty="0"/>
          </a:p>
          <a:p>
            <a:pPr algn="l" indent="0" marL="0">
              <a:lnSpc>
                <a:spcPts val="2109"/>
              </a:lnSpc>
              <a:buNone/>
            </a:pPr>
            <a:r>
              <a:rPr lang="en-US" sz="1406" dirty="0">
                <a:solidFill>
                  <a:srgbClr val="FBFBF8"/>
                </a:solidFill>
                <a:latin typeface="JetBrains Mono" pitchFamily="34" charset="0"/>
                <a:ea typeface="JetBrains Mono" pitchFamily="34" charset="-122"/>
                <a:cs typeface="JetBrains Mono" pitchFamily="34" charset="-120"/>
              </a:rPr>
              <a:t>dimensione(generica) dipende dai </a:t>
            </a:r>
            <a:r>
              <a:rPr lang="en-US" sz="1406" b="1" dirty="0">
                <a:solidFill>
                  <a:srgbClr val="FBFBF8"/>
                </a:solidFill>
                <a:latin typeface="JetBrains Mono" pitchFamily="34" charset="0"/>
                <a:ea typeface="JetBrains Mono" pitchFamily="34" charset="-122"/>
                <a:cs typeface="JetBrains Mono" pitchFamily="34" charset="-120"/>
              </a:rPr>
              <a:t>limiti fissi</a:t>
            </a:r>
            <a:endParaRPr lang="en-US" sz="1406" dirty="0"/>
          </a:p>
        </p:txBody>
      </p:sp>
      <p:sp>
        <p:nvSpPr>
          <p:cNvPr id="15" name="Text 13"/>
          <p:cNvSpPr/>
          <p:nvPr/>
        </p:nvSpPr>
        <p:spPr>
          <a:xfrm>
            <a:off x="812800" y="6238280"/>
            <a:ext cx="464763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La differenza sta tutta qui, e spiega tre risultati piu' avanti nel deck</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25954"/>
          </a:xfrm>
          <a:prstGeom prst="rect">
            <a:avLst/>
          </a:prstGeom>
          <a:noFill/>
          <a:ln/>
        </p:spPr>
        <p:txBody>
          <a:bodyPr wrap="square" lIns="0" tIns="0" rIns="0" bIns="0" rtlCol="0" anchor="t">
            <a:normAutofit/>
          </a:bodyPr>
          <a:lstStyle/>
          <a:p>
            <a:pPr algn="l" indent="0" marL="0">
              <a:lnSpc>
                <a:spcPts val="1621"/>
              </a:lnSpc>
              <a:buNone/>
            </a:pPr>
            <a:r>
              <a:rPr lang="en-US" sz="1158" spc="100" kern="0" dirty="0">
                <a:solidFill>
                  <a:srgbClr val="C2410C"/>
                </a:solidFill>
                <a:latin typeface="JetBrains Mono" pitchFamily="34" charset="0"/>
                <a:ea typeface="JetBrains Mono" pitchFamily="34" charset="-122"/>
                <a:cs typeface="JetBrains Mono" pitchFamily="34" charset="-120"/>
              </a:rPr>
              <a:t>IPOTESI · PIÙ RUNTIME = PIÙ COSTO PER PACCHETTO</a:t>
            </a:r>
            <a:endParaRPr lang="en-US" sz="1158" dirty="0"/>
          </a:p>
        </p:txBody>
      </p:sp>
      <p:sp>
        <p:nvSpPr>
          <p:cNvPr id="3" name="Text 1"/>
          <p:cNvSpPr/>
          <p:nvPr/>
        </p:nvSpPr>
        <p:spPr>
          <a:xfrm>
            <a:off x="812800" y="1089555"/>
            <a:ext cx="10883392" cy="437555"/>
          </a:xfrm>
          <a:prstGeom prst="rect">
            <a:avLst/>
          </a:prstGeom>
          <a:noFill/>
          <a:ln/>
        </p:spPr>
        <p:txBody>
          <a:bodyPr wrap="square" lIns="0" tIns="0" rIns="0" bIns="0" rtlCol="0" anchor="t">
            <a:normAutofit/>
          </a:bodyPr>
          <a:lstStyle/>
          <a:p>
            <a:pPr algn="l" indent="0" marL="0">
              <a:lnSpc>
                <a:spcPts val="3273"/>
              </a:lnSpc>
              <a:buNone/>
            </a:pPr>
            <a:r>
              <a:rPr lang="en-US" sz="2975" b="1" dirty="0">
                <a:solidFill>
                  <a:srgbClr val="14213D"/>
                </a:solidFill>
                <a:latin typeface="IBM Plex Sans" pitchFamily="34" charset="0"/>
                <a:ea typeface="IBM Plex Sans" pitchFamily="34" charset="-122"/>
                <a:cs typeface="IBM Plex Sans" pitchFamily="34" charset="-120"/>
              </a:rPr>
              <a:t>Quanto costa rendere configurabile</a:t>
            </a:r>
            <a:endParaRPr lang="en-US" sz="2975"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1730310"/>
          <a:ext cx="10566400" cy="2118519"/>
        </p:xfrm>
        <a:graphic>
          <a:graphicData uri="http://schemas.openxmlformats.org/drawingml/2006/table">
            <a:tbl>
              <a:tblPr/>
              <a:tblGrid>
                <a:gridCol w="2747264"/>
                <a:gridCol w="2007616"/>
                <a:gridCol w="2007616"/>
                <a:gridCol w="1901952"/>
                <a:gridCol w="1901952"/>
              </a:tblGrid>
              <a:tr h="423664">
                <a:tc>
                  <a:txBody>
                    <a:bodyPr/>
                    <a:lstStyle/>
                    <a:p>
                      <a:pPr indent="0" marL="0">
                        <a:lnSpc>
                          <a:spcPts val="2000"/>
                        </a:lnSpc>
                        <a:buNone/>
                      </a:pPr>
                      <a:r>
                        <a:rPr lang="en-US" sz="1429" b="1" dirty="0">
                          <a:solidFill>
                            <a:srgbClr val="FBFBF8"/>
                          </a:solidFill>
                          <a:latin typeface="IBM Plex Sans" pitchFamily="34" charset="0"/>
                          <a:ea typeface="IBM Plex Sans" pitchFamily="34" charset="-122"/>
                          <a:cs typeface="IBM Plex Sans" pitchFamily="34" charset="-120"/>
                        </a:rPr>
                        <a:t>Pipeline</a:t>
                      </a:r>
                      <a:endParaRPr lang="en-US" sz="1429" dirty="0">
                        <a:latin typeface="IBM Plex Sans" charset="0"/>
                        <a:ea typeface="IBM Plex Sans" charset="0"/>
                        <a:cs typeface="IBM Plex Sans" charset="0"/>
                      </a:endParaRPr>
                    </a:p>
                  </a:txBody>
                  <a:tcPr marL="63515" marR="63515" marT="63515" marB="63515"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14213D"/>
                    </a:solidFill>
                  </a:tcPr>
                </a:tc>
                <a:tc>
                  <a:txBody>
                    <a:bodyPr/>
                    <a:lstStyle/>
                    <a:p>
                      <a:pPr algn="r" indent="0" marL="0">
                        <a:lnSpc>
                          <a:spcPts val="2000"/>
                        </a:lnSpc>
                        <a:buNone/>
                      </a:pPr>
                      <a:r>
                        <a:rPr lang="en-US" sz="1429" b="1" dirty="0">
                          <a:solidFill>
                            <a:srgbClr val="FBFBF8"/>
                          </a:solidFill>
                          <a:latin typeface="IBM Plex Sans" pitchFamily="34" charset="0"/>
                          <a:ea typeface="IBM Plex Sans" pitchFamily="34" charset="-122"/>
                          <a:cs typeface="IBM Plex Sans" pitchFamily="34" charset="-120"/>
                        </a:rPr>
                        <a:t>Istruzioni</a:t>
                      </a:r>
                      <a:endParaRPr lang="en-US" sz="1429" dirty="0">
                        <a:latin typeface="IBM Plex Sans" charset="0"/>
                        <a:ea typeface="IBM Plex Sans" charset="0"/>
                        <a:cs typeface="IBM Plex Sans" charset="0"/>
                      </a:endParaRPr>
                    </a:p>
                  </a:txBody>
                  <a:tcPr marL="63515" marR="63515" marT="63515" marB="63515"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14213D"/>
                    </a:solidFill>
                  </a:tcPr>
                </a:tc>
                <a:tc>
                  <a:txBody>
                    <a:bodyPr/>
                    <a:lstStyle/>
                    <a:p>
                      <a:pPr algn="r" indent="0" marL="0">
                        <a:lnSpc>
                          <a:spcPts val="2000"/>
                        </a:lnSpc>
                        <a:buNone/>
                      </a:pPr>
                      <a:r>
                        <a:rPr lang="en-US" sz="1429" b="1" dirty="0">
                          <a:solidFill>
                            <a:srgbClr val="FBFBF8"/>
                          </a:solidFill>
                          <a:latin typeface="IBM Plex Sans" pitchFamily="34" charset="0"/>
                          <a:ea typeface="IBM Plex Sans" pitchFamily="34" charset="-122"/>
                          <a:cs typeface="IBM Plex Sans" pitchFamily="34" charset="-120"/>
                        </a:rPr>
                        <a:t>Latenza</a:t>
                      </a:r>
                      <a:endParaRPr lang="en-US" sz="1429" dirty="0">
                        <a:latin typeface="IBM Plex Sans" charset="0"/>
                        <a:ea typeface="IBM Plex Sans" charset="0"/>
                        <a:cs typeface="IBM Plex Sans" charset="0"/>
                      </a:endParaRPr>
                    </a:p>
                  </a:txBody>
                  <a:tcPr marL="63515" marR="63515" marT="63515" marB="63515"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14213D"/>
                    </a:solidFill>
                  </a:tcPr>
                </a:tc>
                <a:tc>
                  <a:txBody>
                    <a:bodyPr/>
                    <a:lstStyle/>
                    <a:p>
                      <a:pPr algn="r" indent="0" marL="0">
                        <a:lnSpc>
                          <a:spcPts val="2000"/>
                        </a:lnSpc>
                        <a:buNone/>
                      </a:pPr>
                      <a:r>
                        <a:rPr lang="en-US" sz="1429" b="1" dirty="0">
                          <a:solidFill>
                            <a:srgbClr val="FBFBF8"/>
                          </a:solidFill>
                          <a:latin typeface="IBM Plex Sans" pitchFamily="34" charset="0"/>
                          <a:ea typeface="IBM Plex Sans" pitchFamily="34" charset="-122"/>
                          <a:cs typeface="IBM Plex Sans" pitchFamily="34" charset="-120"/>
                        </a:rPr>
                        <a:t>Salti fra programmi</a:t>
                      </a:r>
                      <a:endParaRPr lang="en-US" sz="1429" dirty="0">
                        <a:latin typeface="IBM Plex Sans" charset="0"/>
                        <a:ea typeface="IBM Plex Sans" charset="0"/>
                        <a:cs typeface="IBM Plex Sans" charset="0"/>
                      </a:endParaRPr>
                    </a:p>
                  </a:txBody>
                  <a:tcPr marL="63515" marR="63515" marT="63515" marB="63515"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14213D"/>
                    </a:solidFill>
                  </a:tcPr>
                </a:tc>
                <a:tc>
                  <a:txBody>
                    <a:bodyPr/>
                    <a:lstStyle/>
                    <a:p>
                      <a:pPr algn="r" indent="0" marL="0">
                        <a:lnSpc>
                          <a:spcPts val="2000"/>
                        </a:lnSpc>
                        <a:buNone/>
                      </a:pPr>
                      <a:r>
                        <a:rPr lang="en-US" sz="1429" b="1" dirty="0">
                          <a:solidFill>
                            <a:srgbClr val="FBFBF8"/>
                          </a:solidFill>
                          <a:latin typeface="IBM Plex Sans" pitchFamily="34" charset="0"/>
                          <a:ea typeface="IBM Plex Sans" pitchFamily="34" charset="-122"/>
                          <a:cs typeface="IBM Plex Sans" pitchFamily="34" charset="-120"/>
                        </a:rPr>
                        <a:t>Letture di tabella</a:t>
                      </a:r>
                      <a:endParaRPr lang="en-US" sz="1429" dirty="0">
                        <a:latin typeface="IBM Plex Sans" charset="0"/>
                        <a:ea typeface="IBM Plex Sans" charset="0"/>
                        <a:cs typeface="IBM Plex Sans" charset="0"/>
                      </a:endParaRPr>
                    </a:p>
                  </a:txBody>
                  <a:tcPr marL="63515" marR="63515" marT="63515" marB="63515"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14213D"/>
                    </a:solidFill>
                  </a:tcPr>
                </a:tc>
              </a:tr>
              <a:tr h="423664">
                <a:tc>
                  <a:txBody>
                    <a:bodyPr/>
                    <a:lstStyle/>
                    <a:p>
                      <a:pPr indent="0" marL="0">
                        <a:lnSpc>
                          <a:spcPts val="2000"/>
                        </a:lnSpc>
                        <a:buNone/>
                      </a:pPr>
                      <a:r>
                        <a:rPr lang="en-US" sz="1429" dirty="0">
                          <a:solidFill>
                            <a:srgbClr val="14213D"/>
                          </a:solidFill>
                          <a:latin typeface="IBM Plex Sans" pitchFamily="34" charset="0"/>
                          <a:ea typeface="IBM Plex Sans" pitchFamily="34" charset="-122"/>
                          <a:cs typeface="IBM Plex Sans" pitchFamily="34" charset="-120"/>
                        </a:rPr>
                        <a:t>p1_static</a:t>
                      </a:r>
                      <a:endParaRPr lang="en-US" sz="1429" dirty="0">
                        <a:latin typeface="IBM Plex Sans" charset="0"/>
                        <a:ea typeface="IBM Plex Sans" charset="0"/>
                        <a:cs typeface="IBM Plex Sans" charset="0"/>
                      </a:endParaRPr>
                    </a:p>
                  </a:txBody>
                  <a:tcPr marL="63515" marR="63515" marT="63515" marB="63515"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c>
                  <a:txBody>
                    <a:bodyPr/>
                    <a:lstStyle/>
                    <a:p>
                      <a:pPr algn="r" indent="0" marL="0">
                        <a:lnSpc>
                          <a:spcPts val="2000"/>
                        </a:lnSpc>
                        <a:buNone/>
                      </a:pPr>
                      <a:r>
                        <a:rPr lang="en-US" sz="1429" dirty="0">
                          <a:solidFill>
                            <a:srgbClr val="14213D"/>
                          </a:solidFill>
                          <a:latin typeface="IBM Plex Sans" pitchFamily="34" charset="0"/>
                          <a:ea typeface="IBM Plex Sans" pitchFamily="34" charset="-122"/>
                          <a:cs typeface="IBM Plex Sans" pitchFamily="34" charset="-120"/>
                        </a:rPr>
                        <a:t>614</a:t>
                      </a:r>
                      <a:endParaRPr lang="en-US" sz="1429" dirty="0">
                        <a:latin typeface="IBM Plex Sans" charset="0"/>
                        <a:ea typeface="IBM Plex Sans" charset="0"/>
                        <a:cs typeface="IBM Plex Sans" charset="0"/>
                      </a:endParaRPr>
                    </a:p>
                  </a:txBody>
                  <a:tcPr marL="63515" marR="63515" marT="63515" marB="63515"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c>
                  <a:txBody>
                    <a:bodyPr/>
                    <a:lstStyle/>
                    <a:p>
                      <a:pPr algn="r" indent="0" marL="0">
                        <a:lnSpc>
                          <a:spcPts val="2000"/>
                        </a:lnSpc>
                        <a:buNone/>
                      </a:pPr>
                      <a:r>
                        <a:rPr lang="en-US" sz="1429" dirty="0">
                          <a:solidFill>
                            <a:srgbClr val="14213D"/>
                          </a:solidFill>
                          <a:latin typeface="IBM Plex Sans" pitchFamily="34" charset="0"/>
                          <a:ea typeface="IBM Plex Sans" pitchFamily="34" charset="-122"/>
                          <a:cs typeface="IBM Plex Sans" pitchFamily="34" charset="-120"/>
                        </a:rPr>
                        <a:t>59 ns</a:t>
                      </a:r>
                      <a:endParaRPr lang="en-US" sz="1429" dirty="0">
                        <a:latin typeface="IBM Plex Sans" charset="0"/>
                        <a:ea typeface="IBM Plex Sans" charset="0"/>
                        <a:cs typeface="IBM Plex Sans" charset="0"/>
                      </a:endParaRPr>
                    </a:p>
                  </a:txBody>
                  <a:tcPr marL="63515" marR="63515" marT="63515" marB="63515"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c>
                  <a:txBody>
                    <a:bodyPr/>
                    <a:lstStyle/>
                    <a:p>
                      <a:pPr algn="r" indent="0" marL="0">
                        <a:lnSpc>
                          <a:spcPts val="2000"/>
                        </a:lnSpc>
                        <a:buNone/>
                      </a:pPr>
                      <a:r>
                        <a:rPr lang="en-US" sz="1429" dirty="0">
                          <a:solidFill>
                            <a:srgbClr val="14213D"/>
                          </a:solidFill>
                          <a:latin typeface="IBM Plex Sans" pitchFamily="34" charset="0"/>
                          <a:ea typeface="IBM Plex Sans" pitchFamily="34" charset="-122"/>
                          <a:cs typeface="IBM Plex Sans" pitchFamily="34" charset="-120"/>
                        </a:rPr>
                        <a:t>1</a:t>
                      </a:r>
                      <a:endParaRPr lang="en-US" sz="1429" dirty="0">
                        <a:latin typeface="IBM Plex Sans" charset="0"/>
                        <a:ea typeface="IBM Plex Sans" charset="0"/>
                        <a:cs typeface="IBM Plex Sans" charset="0"/>
                      </a:endParaRPr>
                    </a:p>
                  </a:txBody>
                  <a:tcPr marL="63515" marR="63515" marT="63515" marB="63515"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c>
                  <a:txBody>
                    <a:bodyPr/>
                    <a:lstStyle/>
                    <a:p>
                      <a:pPr algn="r" indent="0" marL="0">
                        <a:lnSpc>
                          <a:spcPts val="2000"/>
                        </a:lnSpc>
                        <a:buNone/>
                      </a:pPr>
                      <a:r>
                        <a:rPr lang="en-US" sz="1429" dirty="0">
                          <a:solidFill>
                            <a:srgbClr val="14213D"/>
                          </a:solidFill>
                          <a:latin typeface="IBM Plex Sans" pitchFamily="34" charset="0"/>
                          <a:ea typeface="IBM Plex Sans" pitchFamily="34" charset="-122"/>
                          <a:cs typeface="IBM Plex Sans" pitchFamily="34" charset="-120"/>
                        </a:rPr>
                        <a:t>—</a:t>
                      </a:r>
                      <a:endParaRPr lang="en-US" sz="1429" dirty="0">
                        <a:latin typeface="IBM Plex Sans" charset="0"/>
                        <a:ea typeface="IBM Plex Sans" charset="0"/>
                        <a:cs typeface="IBM Plex Sans" charset="0"/>
                      </a:endParaRPr>
                    </a:p>
                  </a:txBody>
                  <a:tcPr marL="63515" marR="63515" marT="63515" marB="63515"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r>
              <a:tr h="423730">
                <a:tc>
                  <a:txBody>
                    <a:bodyPr/>
                    <a:lstStyle/>
                    <a:p>
                      <a:pPr indent="0" marL="0">
                        <a:lnSpc>
                          <a:spcPts val="2000"/>
                        </a:lnSpc>
                        <a:buNone/>
                      </a:pPr>
                      <a:r>
                        <a:rPr lang="en-US" sz="1429" dirty="0">
                          <a:solidFill>
                            <a:srgbClr val="14213D"/>
                          </a:solidFill>
                          <a:latin typeface="IBM Plex Sans" pitchFamily="34" charset="0"/>
                          <a:ea typeface="IBM Plex Sans" pitchFamily="34" charset="-122"/>
                          <a:cs typeface="IBM Plex Sans" pitchFamily="34" charset="-120"/>
                        </a:rPr>
                        <a:t>hardcoded (P1.5)</a:t>
                      </a:r>
                      <a:endParaRPr lang="en-US" sz="1429" dirty="0">
                        <a:latin typeface="IBM Plex Sans" charset="0"/>
                        <a:ea typeface="IBM Plex Sans" charset="0"/>
                        <a:cs typeface="IBM Plex Sans" charset="0"/>
                      </a:endParaRPr>
                    </a:p>
                  </a:txBody>
                  <a:tcPr marL="63515" marR="63515" marT="63515" marB="63515"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F4F6F9"/>
                    </a:solidFill>
                  </a:tcPr>
                </a:tc>
                <a:tc>
                  <a:txBody>
                    <a:bodyPr/>
                    <a:lstStyle/>
                    <a:p>
                      <a:pPr algn="r" indent="0" marL="0">
                        <a:lnSpc>
                          <a:spcPts val="2000"/>
                        </a:lnSpc>
                        <a:buNone/>
                      </a:pPr>
                      <a:r>
                        <a:rPr lang="en-US" sz="1429" dirty="0">
                          <a:solidFill>
                            <a:srgbClr val="14213D"/>
                          </a:solidFill>
                          <a:latin typeface="IBM Plex Sans" pitchFamily="34" charset="0"/>
                          <a:ea typeface="IBM Plex Sans" pitchFamily="34" charset="-122"/>
                          <a:cs typeface="IBM Plex Sans" pitchFamily="34" charset="-120"/>
                        </a:rPr>
                        <a:t>1 071</a:t>
                      </a:r>
                      <a:endParaRPr lang="en-US" sz="1429" dirty="0">
                        <a:latin typeface="IBM Plex Sans" charset="0"/>
                        <a:ea typeface="IBM Plex Sans" charset="0"/>
                        <a:cs typeface="IBM Plex Sans" charset="0"/>
                      </a:endParaRPr>
                    </a:p>
                  </a:txBody>
                  <a:tcPr marL="63515" marR="63515" marT="63515" marB="63515"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F4F6F9"/>
                    </a:solidFill>
                  </a:tcPr>
                </a:tc>
                <a:tc>
                  <a:txBody>
                    <a:bodyPr/>
                    <a:lstStyle/>
                    <a:p>
                      <a:pPr algn="r" indent="0" marL="0">
                        <a:lnSpc>
                          <a:spcPts val="2000"/>
                        </a:lnSpc>
                        <a:buNone/>
                      </a:pPr>
                      <a:r>
                        <a:rPr lang="en-US" sz="1429" dirty="0">
                          <a:solidFill>
                            <a:srgbClr val="14213D"/>
                          </a:solidFill>
                          <a:latin typeface="IBM Plex Sans" pitchFamily="34" charset="0"/>
                          <a:ea typeface="IBM Plex Sans" pitchFamily="34" charset="-122"/>
                          <a:cs typeface="IBM Plex Sans" pitchFamily="34" charset="-120"/>
                        </a:rPr>
                        <a:t>79 ns</a:t>
                      </a:r>
                      <a:endParaRPr lang="en-US" sz="1429" dirty="0">
                        <a:latin typeface="IBM Plex Sans" charset="0"/>
                        <a:ea typeface="IBM Plex Sans" charset="0"/>
                        <a:cs typeface="IBM Plex Sans" charset="0"/>
                      </a:endParaRPr>
                    </a:p>
                  </a:txBody>
                  <a:tcPr marL="63515" marR="63515" marT="63515" marB="63515"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F4F6F9"/>
                    </a:solidFill>
                  </a:tcPr>
                </a:tc>
                <a:tc>
                  <a:txBody>
                    <a:bodyPr/>
                    <a:lstStyle/>
                    <a:p>
                      <a:pPr algn="r" indent="0" marL="0">
                        <a:lnSpc>
                          <a:spcPts val="2000"/>
                        </a:lnSpc>
                        <a:buNone/>
                      </a:pPr>
                      <a:r>
                        <a:rPr lang="en-US" sz="1429" dirty="0">
                          <a:solidFill>
                            <a:srgbClr val="14213D"/>
                          </a:solidFill>
                          <a:latin typeface="IBM Plex Sans" pitchFamily="34" charset="0"/>
                          <a:ea typeface="IBM Plex Sans" pitchFamily="34" charset="-122"/>
                          <a:cs typeface="IBM Plex Sans" pitchFamily="34" charset="-120"/>
                        </a:rPr>
                        <a:t>1</a:t>
                      </a:r>
                      <a:endParaRPr lang="en-US" sz="1429" dirty="0">
                        <a:latin typeface="IBM Plex Sans" charset="0"/>
                        <a:ea typeface="IBM Plex Sans" charset="0"/>
                        <a:cs typeface="IBM Plex Sans" charset="0"/>
                      </a:endParaRPr>
                    </a:p>
                  </a:txBody>
                  <a:tcPr marL="63515" marR="63515" marT="63515" marB="63515"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F4F6F9"/>
                    </a:solidFill>
                  </a:tcPr>
                </a:tc>
                <a:tc>
                  <a:txBody>
                    <a:bodyPr/>
                    <a:lstStyle/>
                    <a:p>
                      <a:pPr algn="r" indent="0" marL="0">
                        <a:lnSpc>
                          <a:spcPts val="2000"/>
                        </a:lnSpc>
                        <a:buNone/>
                      </a:pPr>
                      <a:r>
                        <a:rPr lang="en-US" sz="1429" dirty="0">
                          <a:solidFill>
                            <a:srgbClr val="14213D"/>
                          </a:solidFill>
                          <a:latin typeface="IBM Plex Sans" pitchFamily="34" charset="0"/>
                          <a:ea typeface="IBM Plex Sans" pitchFamily="34" charset="-122"/>
                          <a:cs typeface="IBM Plex Sans" pitchFamily="34" charset="-120"/>
                        </a:rPr>
                        <a:t>6</a:t>
                      </a:r>
                      <a:endParaRPr lang="en-US" sz="1429" dirty="0">
                        <a:latin typeface="IBM Plex Sans" charset="0"/>
                        <a:ea typeface="IBM Plex Sans" charset="0"/>
                        <a:cs typeface="IBM Plex Sans" charset="0"/>
                      </a:endParaRPr>
                    </a:p>
                  </a:txBody>
                  <a:tcPr marL="63515" marR="63515" marT="63515" marB="63515"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F4F6F9"/>
                    </a:solidFill>
                  </a:tcPr>
                </a:tc>
              </a:tr>
              <a:tr h="423730">
                <a:tc>
                  <a:txBody>
                    <a:bodyPr/>
                    <a:lstStyle/>
                    <a:p>
                      <a:pPr indent="0" marL="0">
                        <a:lnSpc>
                          <a:spcPts val="2000"/>
                        </a:lnSpc>
                        <a:buNone/>
                      </a:pPr>
                      <a:r>
                        <a:rPr lang="en-US" sz="1429" dirty="0">
                          <a:solidFill>
                            <a:srgbClr val="14213D"/>
                          </a:solidFill>
                          <a:latin typeface="IBM Plex Sans" pitchFamily="34" charset="0"/>
                          <a:ea typeface="IBM Plex Sans" pitchFamily="34" charset="-122"/>
                          <a:cs typeface="IBM Plex Sans" pitchFamily="34" charset="-120"/>
                        </a:rPr>
                        <a:t>template (P2)</a:t>
                      </a:r>
                      <a:endParaRPr lang="en-US" sz="1429" dirty="0">
                        <a:latin typeface="IBM Plex Sans" charset="0"/>
                        <a:ea typeface="IBM Plex Sans" charset="0"/>
                        <a:cs typeface="IBM Plex Sans" charset="0"/>
                      </a:endParaRPr>
                    </a:p>
                  </a:txBody>
                  <a:tcPr marL="63515" marR="63515" marT="63515" marB="63515"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c>
                  <a:txBody>
                    <a:bodyPr/>
                    <a:lstStyle/>
                    <a:p>
                      <a:pPr algn="r" indent="0" marL="0">
                        <a:lnSpc>
                          <a:spcPts val="2000"/>
                        </a:lnSpc>
                        <a:buNone/>
                      </a:pPr>
                      <a:r>
                        <a:rPr lang="en-US" sz="1429" dirty="0">
                          <a:solidFill>
                            <a:srgbClr val="14213D"/>
                          </a:solidFill>
                          <a:latin typeface="IBM Plex Sans" pitchFamily="34" charset="0"/>
                          <a:ea typeface="IBM Plex Sans" pitchFamily="34" charset="-122"/>
                          <a:cs typeface="IBM Plex Sans" pitchFamily="34" charset="-120"/>
                        </a:rPr>
                        <a:t>14 985</a:t>
                      </a:r>
                      <a:endParaRPr lang="en-US" sz="1429" dirty="0">
                        <a:latin typeface="IBM Plex Sans" charset="0"/>
                        <a:ea typeface="IBM Plex Sans" charset="0"/>
                        <a:cs typeface="IBM Plex Sans" charset="0"/>
                      </a:endParaRPr>
                    </a:p>
                  </a:txBody>
                  <a:tcPr marL="63515" marR="63515" marT="63515" marB="63515"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c>
                  <a:txBody>
                    <a:bodyPr/>
                    <a:lstStyle/>
                    <a:p>
                      <a:pPr algn="r" indent="0" marL="0">
                        <a:lnSpc>
                          <a:spcPts val="2000"/>
                        </a:lnSpc>
                        <a:buNone/>
                      </a:pPr>
                      <a:r>
                        <a:rPr lang="en-US" sz="1429" dirty="0">
                          <a:solidFill>
                            <a:srgbClr val="14213D"/>
                          </a:solidFill>
                          <a:latin typeface="IBM Plex Sans" pitchFamily="34" charset="0"/>
                          <a:ea typeface="IBM Plex Sans" pitchFamily="34" charset="-122"/>
                          <a:cs typeface="IBM Plex Sans" pitchFamily="34" charset="-120"/>
                        </a:rPr>
                        <a:t>271 ns</a:t>
                      </a:r>
                      <a:endParaRPr lang="en-US" sz="1429" dirty="0">
                        <a:latin typeface="IBM Plex Sans" charset="0"/>
                        <a:ea typeface="IBM Plex Sans" charset="0"/>
                        <a:cs typeface="IBM Plex Sans" charset="0"/>
                      </a:endParaRPr>
                    </a:p>
                  </a:txBody>
                  <a:tcPr marL="63515" marR="63515" marT="63515" marB="63515"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c>
                  <a:txBody>
                    <a:bodyPr/>
                    <a:lstStyle/>
                    <a:p>
                      <a:pPr algn="r" indent="0" marL="0">
                        <a:lnSpc>
                          <a:spcPts val="2000"/>
                        </a:lnSpc>
                        <a:buNone/>
                      </a:pPr>
                      <a:r>
                        <a:rPr lang="en-US" sz="1429" dirty="0">
                          <a:solidFill>
                            <a:srgbClr val="14213D"/>
                          </a:solidFill>
                          <a:latin typeface="IBM Plex Sans" pitchFamily="34" charset="0"/>
                          <a:ea typeface="IBM Plex Sans" pitchFamily="34" charset="-122"/>
                          <a:cs typeface="IBM Plex Sans" pitchFamily="34" charset="-120"/>
                        </a:rPr>
                        <a:t>1</a:t>
                      </a:r>
                      <a:endParaRPr lang="en-US" sz="1429" dirty="0">
                        <a:latin typeface="IBM Plex Sans" charset="0"/>
                        <a:ea typeface="IBM Plex Sans" charset="0"/>
                        <a:cs typeface="IBM Plex Sans" charset="0"/>
                      </a:endParaRPr>
                    </a:p>
                  </a:txBody>
                  <a:tcPr marL="63515" marR="63515" marT="63515" marB="63515"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c>
                  <a:txBody>
                    <a:bodyPr/>
                    <a:lstStyle/>
                    <a:p>
                      <a:pPr algn="r" indent="0" marL="0">
                        <a:lnSpc>
                          <a:spcPts val="2000"/>
                        </a:lnSpc>
                        <a:buNone/>
                      </a:pPr>
                      <a:r>
                        <a:rPr lang="en-US" sz="1429" dirty="0">
                          <a:solidFill>
                            <a:srgbClr val="14213D"/>
                          </a:solidFill>
                          <a:latin typeface="IBM Plex Sans" pitchFamily="34" charset="0"/>
                          <a:ea typeface="IBM Plex Sans" pitchFamily="34" charset="-122"/>
                          <a:cs typeface="IBM Plex Sans" pitchFamily="34" charset="-120"/>
                        </a:rPr>
                        <a:t>11</a:t>
                      </a:r>
                      <a:endParaRPr lang="en-US" sz="1429" dirty="0">
                        <a:latin typeface="IBM Plex Sans" charset="0"/>
                        <a:ea typeface="IBM Plex Sans" charset="0"/>
                        <a:cs typeface="IBM Plex Sans" charset="0"/>
                      </a:endParaRPr>
                    </a:p>
                  </a:txBody>
                  <a:tcPr marL="63515" marR="63515" marT="63515" marB="63515"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r>
              <a:tr h="423730">
                <a:tc>
                  <a:txBody>
                    <a:bodyPr/>
                    <a:lstStyle/>
                    <a:p>
                      <a:pPr indent="0" marL="0">
                        <a:lnSpc>
                          <a:spcPts val="2000"/>
                        </a:lnSpc>
                        <a:buNone/>
                      </a:pPr>
                      <a:r>
                        <a:rPr lang="en-US" sz="1429" dirty="0">
                          <a:solidFill>
                            <a:srgbClr val="14213D"/>
                          </a:solidFill>
                          <a:latin typeface="IBM Plex Sans" pitchFamily="34" charset="0"/>
                          <a:ea typeface="IBM Plex Sans" pitchFamily="34" charset="-122"/>
                          <a:cs typeface="IBM Plex Sans" pitchFamily="34" charset="-120"/>
                        </a:rPr>
                        <a:t>modular (P3)</a:t>
                      </a:r>
                      <a:endParaRPr lang="en-US" sz="1429" dirty="0">
                        <a:latin typeface="IBM Plex Sans" charset="0"/>
                        <a:ea typeface="IBM Plex Sans" charset="0"/>
                        <a:cs typeface="IBM Plex Sans" charset="0"/>
                      </a:endParaRPr>
                    </a:p>
                  </a:txBody>
                  <a:tcPr marL="63515" marR="63515" marT="63515" marB="63515"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F4F6F9"/>
                    </a:solidFill>
                  </a:tcPr>
                </a:tc>
                <a:tc>
                  <a:txBody>
                    <a:bodyPr/>
                    <a:lstStyle/>
                    <a:p>
                      <a:pPr algn="r" indent="0" marL="0">
                        <a:lnSpc>
                          <a:spcPts val="2000"/>
                        </a:lnSpc>
                        <a:buNone/>
                      </a:pPr>
                      <a:r>
                        <a:rPr lang="en-US" sz="1429" dirty="0">
                          <a:solidFill>
                            <a:srgbClr val="14213D"/>
                          </a:solidFill>
                          <a:latin typeface="IBM Plex Sans" pitchFamily="34" charset="0"/>
                          <a:ea typeface="IBM Plex Sans" pitchFamily="34" charset="-122"/>
                          <a:cs typeface="IBM Plex Sans" pitchFamily="34" charset="-120"/>
                        </a:rPr>
                        <a:t>12 349</a:t>
                      </a:r>
                      <a:endParaRPr lang="en-US" sz="1429" dirty="0">
                        <a:latin typeface="IBM Plex Sans" charset="0"/>
                        <a:ea typeface="IBM Plex Sans" charset="0"/>
                        <a:cs typeface="IBM Plex Sans" charset="0"/>
                      </a:endParaRPr>
                    </a:p>
                  </a:txBody>
                  <a:tcPr marL="63515" marR="63515" marT="63515" marB="63515"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F4F6F9"/>
                    </a:solidFill>
                  </a:tcPr>
                </a:tc>
                <a:tc>
                  <a:txBody>
                    <a:bodyPr/>
                    <a:lstStyle/>
                    <a:p>
                      <a:pPr algn="r" indent="0" marL="0">
                        <a:lnSpc>
                          <a:spcPts val="2000"/>
                        </a:lnSpc>
                        <a:buNone/>
                      </a:pPr>
                      <a:r>
                        <a:rPr lang="en-US" sz="1429" dirty="0">
                          <a:solidFill>
                            <a:srgbClr val="14213D"/>
                          </a:solidFill>
                          <a:latin typeface="IBM Plex Sans" pitchFamily="34" charset="0"/>
                          <a:ea typeface="IBM Plex Sans" pitchFamily="34" charset="-122"/>
                          <a:cs typeface="IBM Plex Sans" pitchFamily="34" charset="-120"/>
                        </a:rPr>
                        <a:t>428 ns</a:t>
                      </a:r>
                      <a:endParaRPr lang="en-US" sz="1429" dirty="0">
                        <a:latin typeface="IBM Plex Sans" charset="0"/>
                        <a:ea typeface="IBM Plex Sans" charset="0"/>
                        <a:cs typeface="IBM Plex Sans" charset="0"/>
                      </a:endParaRPr>
                    </a:p>
                  </a:txBody>
                  <a:tcPr marL="63515" marR="63515" marT="63515" marB="63515"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F4F6F9"/>
                    </a:solidFill>
                  </a:tcPr>
                </a:tc>
                <a:tc>
                  <a:txBody>
                    <a:bodyPr/>
                    <a:lstStyle/>
                    <a:p>
                      <a:pPr algn="r" indent="0" marL="0">
                        <a:lnSpc>
                          <a:spcPts val="2000"/>
                        </a:lnSpc>
                        <a:buNone/>
                      </a:pPr>
                      <a:r>
                        <a:rPr lang="en-US" sz="1429" dirty="0">
                          <a:solidFill>
                            <a:srgbClr val="14213D"/>
                          </a:solidFill>
                          <a:latin typeface="IBM Plex Sans" pitchFamily="34" charset="0"/>
                          <a:ea typeface="IBM Plex Sans" pitchFamily="34" charset="-122"/>
                          <a:cs typeface="IBM Plex Sans" pitchFamily="34" charset="-120"/>
                        </a:rPr>
                        <a:t>3</a:t>
                      </a:r>
                      <a:endParaRPr lang="en-US" sz="1429" dirty="0">
                        <a:latin typeface="IBM Plex Sans" charset="0"/>
                        <a:ea typeface="IBM Plex Sans" charset="0"/>
                        <a:cs typeface="IBM Plex Sans" charset="0"/>
                      </a:endParaRPr>
                    </a:p>
                  </a:txBody>
                  <a:tcPr marL="63515" marR="63515" marT="63515" marB="63515"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F4F6F9"/>
                    </a:solidFill>
                  </a:tcPr>
                </a:tc>
                <a:tc>
                  <a:txBody>
                    <a:bodyPr/>
                    <a:lstStyle/>
                    <a:p>
                      <a:pPr algn="r" indent="0" marL="0">
                        <a:lnSpc>
                          <a:spcPts val="2000"/>
                        </a:lnSpc>
                        <a:buNone/>
                      </a:pPr>
                      <a:r>
                        <a:rPr lang="en-US" sz="1429" dirty="0">
                          <a:solidFill>
                            <a:srgbClr val="14213D"/>
                          </a:solidFill>
                          <a:latin typeface="IBM Plex Sans" pitchFamily="34" charset="0"/>
                          <a:ea typeface="IBM Plex Sans" pitchFamily="34" charset="-122"/>
                          <a:cs typeface="IBM Plex Sans" pitchFamily="34" charset="-120"/>
                        </a:rPr>
                        <a:t>29</a:t>
                      </a:r>
                      <a:endParaRPr lang="en-US" sz="1429" dirty="0">
                        <a:latin typeface="IBM Plex Sans" charset="0"/>
                        <a:ea typeface="IBM Plex Sans" charset="0"/>
                        <a:cs typeface="IBM Plex Sans" charset="0"/>
                      </a:endParaRPr>
                    </a:p>
                  </a:txBody>
                  <a:tcPr marL="63515" marR="63515" marT="63515" marB="63515"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F4F6F9"/>
                    </a:solidFill>
                  </a:tcPr>
                </a:tc>
              </a:tr>
            </a:tbl>
          </a:graphicData>
        </a:graphic>
      </p:graphicFrame>
      <p:sp>
        <p:nvSpPr>
          <p:cNvPr id="5" name="Shape 2"/>
          <p:cNvSpPr/>
          <p:nvPr/>
        </p:nvSpPr>
        <p:spPr>
          <a:xfrm>
            <a:off x="812800" y="4318729"/>
            <a:ext cx="5181600" cy="1523272"/>
          </a:xfrm>
          <a:prstGeom prst="roundRect">
            <a:avLst>
              <a:gd name="adj" fmla="val 6670"/>
            </a:avLst>
          </a:prstGeom>
          <a:solidFill>
            <a:srgbClr val="EEF1F5"/>
          </a:solidFill>
          <a:ln/>
        </p:spPr>
      </p:sp>
      <p:sp>
        <p:nvSpPr>
          <p:cNvPr id="6" name="Text 3"/>
          <p:cNvSpPr/>
          <p:nvPr/>
        </p:nvSpPr>
        <p:spPr>
          <a:xfrm>
            <a:off x="1016000" y="4521929"/>
            <a:ext cx="4918456" cy="216561"/>
          </a:xfrm>
          <a:prstGeom prst="rect">
            <a:avLst/>
          </a:prstGeom>
          <a:noFill/>
          <a:ln/>
        </p:spPr>
        <p:txBody>
          <a:bodyPr wrap="square" lIns="0" tIns="0" rIns="0" bIns="0" rtlCol="0" anchor="t">
            <a:normAutofit/>
          </a:bodyPr>
          <a:lstStyle/>
          <a:p>
            <a:pPr algn="l" indent="0" marL="0">
              <a:lnSpc>
                <a:spcPts val="1524"/>
              </a:lnSpc>
              <a:buNone/>
            </a:pPr>
            <a:r>
              <a:rPr lang="en-US" sz="1270" b="1" dirty="0">
                <a:solidFill>
                  <a:srgbClr val="14213D"/>
                </a:solidFill>
                <a:latin typeface="IBM Plex Sans" pitchFamily="34" charset="0"/>
                <a:ea typeface="IBM Plex Sans" pitchFamily="34" charset="-122"/>
                <a:cs typeface="IBM Plex Sans" pitchFamily="34" charset="-120"/>
              </a:rPr>
              <a:t>Il compromesso, in due numeri</a:t>
            </a:r>
            <a:endParaRPr lang="en-US" sz="1270" dirty="0"/>
          </a:p>
        </p:txBody>
      </p:sp>
      <p:sp>
        <p:nvSpPr>
          <p:cNvPr id="7" name="Text 4"/>
          <p:cNvSpPr/>
          <p:nvPr/>
        </p:nvSpPr>
        <p:spPr>
          <a:xfrm>
            <a:off x="1016000" y="4776589"/>
            <a:ext cx="4918456" cy="887611"/>
          </a:xfrm>
          <a:prstGeom prst="rect">
            <a:avLst/>
          </a:prstGeom>
          <a:noFill/>
          <a:ln/>
        </p:spPr>
        <p:txBody>
          <a:bodyPr wrap="square" lIns="0" tIns="0" rIns="0" bIns="0" rtlCol="0" anchor="t">
            <a:normAutofit/>
          </a:bodyPr>
          <a:lstStyle/>
          <a:p>
            <a:pPr algn="l" indent="0" marL="0">
              <a:lnSpc>
                <a:spcPts val="1827"/>
              </a:lnSpc>
              <a:buNone/>
            </a:pPr>
            <a:r>
              <a:rPr lang="en-US" sz="1260" dirty="0">
                <a:solidFill>
                  <a:srgbClr val="4A5568"/>
                </a:solidFill>
                <a:latin typeface="IBM Plex Sans" pitchFamily="34" charset="0"/>
                <a:ea typeface="IBM Plex Sans" pitchFamily="34" charset="-122"/>
                <a:cs typeface="IBM Plex Sans" pitchFamily="34" charset="-120"/>
              </a:rPr>
              <a:t>La flessibilità costa </a:t>
            </a:r>
            <a:r>
              <a:rPr lang="en-US" sz="1260" b="1" dirty="0">
                <a:solidFill>
                  <a:srgbClr val="4A5568"/>
                </a:solidFill>
                <a:latin typeface="IBM Plex Sans" pitchFamily="34" charset="0"/>
                <a:ea typeface="IBM Plex Sans" pitchFamily="34" charset="-122"/>
                <a:cs typeface="IBM Plex Sans" pitchFamily="34" charset="-120"/>
              </a:rPr>
              <a:t>circa 7×</a:t>
            </a:r>
            <a:r>
              <a:rPr lang="en-US" sz="1260" dirty="0">
                <a:solidFill>
                  <a:srgbClr val="4A5568"/>
                </a:solidFill>
                <a:latin typeface="IBM Plex Sans" pitchFamily="34" charset="0"/>
                <a:ea typeface="IBM Plex Sans" pitchFamily="34" charset="-122"/>
                <a:cs typeface="IBM Plex Sans" pitchFamily="34" charset="-120"/>
              </a:rPr>
              <a:t> in latenza fra i due estremi. In cambio, cambiare modello passa da </a:t>
            </a:r>
            <a:r>
              <a:rPr lang="en-US" sz="1260" b="1" dirty="0">
                <a:solidFill>
                  <a:srgbClr val="4A5568"/>
                </a:solidFill>
                <a:latin typeface="IBM Plex Sans" pitchFamily="34" charset="0"/>
                <a:ea typeface="IBM Plex Sans" pitchFamily="34" charset="-122"/>
                <a:cs typeface="IBM Plex Sans" pitchFamily="34" charset="-120"/>
              </a:rPr>
              <a:t>~1 500 ms</a:t>
            </a:r>
            <a:r>
              <a:rPr lang="en-US" sz="1260" dirty="0">
                <a:solidFill>
                  <a:srgbClr val="4A5568"/>
                </a:solidFill>
                <a:latin typeface="IBM Plex Sans" pitchFamily="34" charset="0"/>
                <a:ea typeface="IBM Plex Sans" pitchFamily="34" charset="-122"/>
                <a:cs typeface="IBM Plex Sans" pitchFamily="34" charset="-120"/>
              </a:rPr>
              <a:t> (riscrive il programma e lo ricompila) a </a:t>
            </a:r>
            <a:r>
              <a:rPr lang="en-US" sz="1260" b="1" dirty="0">
                <a:solidFill>
                  <a:srgbClr val="4A5568"/>
                </a:solidFill>
                <a:latin typeface="IBM Plex Sans" pitchFamily="34" charset="0"/>
                <a:ea typeface="IBM Plex Sans" pitchFamily="34" charset="-122"/>
                <a:cs typeface="IBM Plex Sans" pitchFamily="34" charset="-120"/>
              </a:rPr>
              <a:t>~7 ms</a:t>
            </a:r>
            <a:r>
              <a:rPr lang="en-US" sz="1260" dirty="0">
                <a:solidFill>
                  <a:srgbClr val="4A5568"/>
                </a:solidFill>
                <a:latin typeface="IBM Plex Sans" pitchFamily="34" charset="0"/>
                <a:ea typeface="IBM Plex Sans" pitchFamily="34" charset="-122"/>
                <a:cs typeface="IBM Plex Sans" pitchFamily="34" charset="-120"/>
              </a:rPr>
              <a:t> (scritture in tabella): </a:t>
            </a:r>
            <a:r>
              <a:rPr lang="en-US" sz="1260" b="1" dirty="0">
                <a:solidFill>
                  <a:srgbClr val="4A5568"/>
                </a:solidFill>
                <a:latin typeface="IBM Plex Sans" pitchFamily="34" charset="0"/>
                <a:ea typeface="IBM Plex Sans" pitchFamily="34" charset="-122"/>
                <a:cs typeface="IBM Plex Sans" pitchFamily="34" charset="-120"/>
              </a:rPr>
              <a:t>oltre 200×</a:t>
            </a:r>
            <a:r>
              <a:rPr lang="en-US" sz="1260" dirty="0">
                <a:solidFill>
                  <a:srgbClr val="4A5568"/>
                </a:solidFill>
                <a:latin typeface="IBM Plex Sans" pitchFamily="34" charset="0"/>
                <a:ea typeface="IBM Plex Sans" pitchFamily="34" charset="-122"/>
                <a:cs typeface="IBM Plex Sans" pitchFamily="34" charset="-120"/>
              </a:rPr>
              <a:t>.</a:t>
            </a:r>
            <a:endParaRPr lang="en-US" sz="1260" dirty="0"/>
          </a:p>
        </p:txBody>
      </p:sp>
      <p:sp>
        <p:nvSpPr>
          <p:cNvPr id="8" name="Shape 5"/>
          <p:cNvSpPr/>
          <p:nvPr/>
        </p:nvSpPr>
        <p:spPr>
          <a:xfrm>
            <a:off x="6197600" y="4318729"/>
            <a:ext cx="5181600" cy="1523272"/>
          </a:xfrm>
          <a:prstGeom prst="roundRect">
            <a:avLst>
              <a:gd name="adj" fmla="val 6670"/>
            </a:avLst>
          </a:prstGeom>
          <a:solidFill>
            <a:srgbClr val="EEF1F5"/>
          </a:solidFill>
          <a:ln/>
        </p:spPr>
      </p:sp>
      <p:sp>
        <p:nvSpPr>
          <p:cNvPr id="9" name="Text 6"/>
          <p:cNvSpPr/>
          <p:nvPr/>
        </p:nvSpPr>
        <p:spPr>
          <a:xfrm>
            <a:off x="6400800" y="4521929"/>
            <a:ext cx="491845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Dove va il costo</a:t>
            </a:r>
            <a:endParaRPr lang="en-US" sz="1500" dirty="0"/>
          </a:p>
        </p:txBody>
      </p:sp>
      <p:sp>
        <p:nvSpPr>
          <p:cNvPr id="10" name="Text 7"/>
          <p:cNvSpPr/>
          <p:nvPr/>
        </p:nvSpPr>
        <p:spPr>
          <a:xfrm>
            <a:off x="6400800" y="4814029"/>
            <a:ext cx="4918456"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568"/>
                </a:solidFill>
                <a:latin typeface="IBM Plex Sans" pitchFamily="34" charset="0"/>
                <a:ea typeface="IBM Plex Sans" pitchFamily="34" charset="-122"/>
                <a:cs typeface="IBM Plex Sans" pitchFamily="34" charset="-120"/>
              </a:rPr>
              <a:t>Non è aritmetica: le moltiplicazioni sono le stesse. &amp;Egrave; nelle </a:t>
            </a:r>
            <a:r>
              <a:rPr lang="en-US" sz="1400" b="1" dirty="0">
                <a:solidFill>
                  <a:srgbClr val="4A5568"/>
                </a:solidFill>
                <a:latin typeface="IBM Plex Sans" pitchFamily="34" charset="0"/>
                <a:ea typeface="IBM Plex Sans" pitchFamily="34" charset="-122"/>
                <a:cs typeface="IBM Plex Sans" pitchFamily="34" charset="-120"/>
              </a:rPr>
              <a:t>letture di tabella</a:t>
            </a:r>
            <a:r>
              <a:rPr lang="en-US" sz="1400" dirty="0">
                <a:solidFill>
                  <a:srgbClr val="4A5568"/>
                </a:solidFill>
                <a:latin typeface="IBM Plex Sans" pitchFamily="34" charset="0"/>
                <a:ea typeface="IBM Plex Sans" pitchFamily="34" charset="-122"/>
                <a:cs typeface="IBM Plex Sans" pitchFamily="34" charset="-120"/>
              </a:rPr>
              <a:t> (6→29) e nei </a:t>
            </a:r>
            <a:r>
              <a:rPr lang="en-US" sz="1400" b="1" dirty="0">
                <a:solidFill>
                  <a:srgbClr val="4A5568"/>
                </a:solidFill>
                <a:latin typeface="IBM Plex Sans" pitchFamily="34" charset="0"/>
                <a:ea typeface="IBM Plex Sans" pitchFamily="34" charset="-122"/>
                <a:cs typeface="IBM Plex Sans" pitchFamily="34" charset="-120"/>
              </a:rPr>
              <a:t>salti fra programmi</a:t>
            </a:r>
            <a:r>
              <a:rPr lang="en-US" sz="1400" dirty="0">
                <a:solidFill>
                  <a:srgbClr val="4A5568"/>
                </a:solidFill>
                <a:latin typeface="IBM Plex Sans" pitchFamily="34" charset="0"/>
                <a:ea typeface="IBM Plex Sans" pitchFamily="34" charset="-122"/>
                <a:cs typeface="IBM Plex Sans" pitchFamily="34" charset="-120"/>
              </a:rPr>
              <a:t> (1→3).</a:t>
            </a:r>
            <a:endParaRPr lang="en-US" sz="1400" dirty="0"/>
          </a:p>
        </p:txBody>
      </p:sp>
      <p:sp>
        <p:nvSpPr>
          <p:cNvPr id="11" name="Text 8"/>
          <p:cNvSpPr/>
          <p:nvPr/>
        </p:nvSpPr>
        <p:spPr>
          <a:xfrm>
            <a:off x="812800" y="6238280"/>
            <a:ext cx="1154023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Modello 65-4-4-7, 319 pesi · minimo su 7 prove, stesso sweep di tutte le altre latenze del deck · le cifre </a:t>
            </a:r>
            <a:r>
              <a:rPr lang="en-US" sz="1200" b="1" dirty="0">
                <a:solidFill>
                  <a:srgbClr val="6A7179"/>
                </a:solidFill>
                <a:latin typeface="IBM Plex Sans" pitchFamily="34" charset="0"/>
                <a:ea typeface="IBM Plex Sans" pitchFamily="34" charset="-122"/>
                <a:cs typeface="IBM Plex Sans" pitchFamily="34" charset="-120"/>
              </a:rPr>
              <a:t>assolute</a:t>
            </a:r>
            <a:r>
              <a:rPr lang="en-US" sz="1200" dirty="0">
                <a:solidFill>
                  <a:srgbClr val="6A7179"/>
                </a:solidFill>
                <a:latin typeface="IBM Plex Sans" pitchFamily="34" charset="0"/>
                <a:ea typeface="IBM Plex Sans" pitchFamily="34" charset="-122"/>
                <a:cs typeface="IBM Plex Sans" pitchFamily="34" charset="-120"/>
              </a:rPr>
              <a:t> dipendono dallo stato della macchina, i </a:t>
            </a:r>
            <a:r>
              <a:rPr lang="en-US" sz="1200" b="1" dirty="0">
                <a:solidFill>
                  <a:srgbClr val="6A7179"/>
                </a:solidFill>
                <a:latin typeface="IBM Plex Sans" pitchFamily="34" charset="0"/>
                <a:ea typeface="IBM Plex Sans" pitchFamily="34" charset="-122"/>
                <a:cs typeface="IBM Plex Sans" pitchFamily="34" charset="-120"/>
              </a:rPr>
              <a:t>rapporti</a:t>
            </a:r>
            <a:r>
              <a:rPr lang="en-US" sz="1200" dirty="0">
                <a:solidFill>
                  <a:srgbClr val="6A7179"/>
                </a:solidFill>
                <a:latin typeface="IBM Plex Sans" pitchFamily="34" charset="0"/>
                <a:ea typeface="IBM Plex Sans" pitchFamily="34" charset="-122"/>
                <a:cs typeface="IBM Plex Sans" pitchFamily="34" charset="-120"/>
              </a:rPr>
              <a:t> no</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C2410C"/>
                </a:solidFill>
                <a:latin typeface="JetBrains Mono" pitchFamily="34" charset="0"/>
                <a:ea typeface="JetBrains Mono" pitchFamily="34" charset="-122"/>
                <a:cs typeface="JetBrains Mono" pitchFamily="34" charset="-120"/>
              </a:rPr>
              <a:t>LA SCOPERTA · DUE ORDINI DI GRANDEZZA</a:t>
            </a:r>
            <a:endParaRPr lang="en-US" sz="1300" dirty="0"/>
          </a:p>
        </p:txBody>
      </p:sp>
      <p:sp>
        <p:nvSpPr>
          <p:cNvPr id="3" name="Text 1"/>
          <p:cNvSpPr/>
          <p:nvPr/>
        </p:nvSpPr>
        <p:spPr>
          <a:xfrm>
            <a:off x="812800" y="1107415"/>
            <a:ext cx="10883392" cy="430477"/>
          </a:xfrm>
          <a:prstGeom prst="rect">
            <a:avLst/>
          </a:prstGeom>
          <a:noFill/>
          <a:ln/>
        </p:spPr>
        <p:txBody>
          <a:bodyPr wrap="square" lIns="0" tIns="0" rIns="0" bIns="0" rtlCol="0" anchor="t">
            <a:normAutofit/>
          </a:bodyPr>
          <a:lstStyle/>
          <a:p>
            <a:pPr algn="l" indent="0" marL="0">
              <a:lnSpc>
                <a:spcPts val="3190"/>
              </a:lnSpc>
              <a:buNone/>
            </a:pPr>
            <a:r>
              <a:rPr lang="en-US" sz="2900" b="1" dirty="0">
                <a:solidFill>
                  <a:srgbClr val="14213D"/>
                </a:solidFill>
                <a:latin typeface="IBM Plex Sans" pitchFamily="34" charset="0"/>
                <a:ea typeface="IBM Plex Sans" pitchFamily="34" charset="-122"/>
                <a:cs typeface="IBM Plex Sans" pitchFamily="34" charset="-120"/>
              </a:rPr>
              <a:t>Cambiare modello: 1,5 secondi oppure 8 millisecondi</a:t>
            </a:r>
            <a:endParaRPr lang="en-US" sz="2900" dirty="0"/>
          </a:p>
        </p:txBody>
      </p:sp>
      <p:sp>
        <p:nvSpPr>
          <p:cNvPr id="4" name="Shape 2"/>
          <p:cNvSpPr/>
          <p:nvPr/>
        </p:nvSpPr>
        <p:spPr>
          <a:xfrm>
            <a:off x="815975" y="1680766"/>
            <a:ext cx="5708650" cy="2961217"/>
          </a:xfrm>
          <a:prstGeom prst="roundRect">
            <a:avLst>
              <a:gd name="adj" fmla="val 3324"/>
            </a:avLst>
          </a:prstGeom>
          <a:solidFill>
            <a:srgbClr val="FFFFFF"/>
          </a:solidFill>
          <a:ln w="6350">
            <a:solidFill>
              <a:srgbClr val="D7DEE7"/>
            </a:solidFill>
            <a:prstDash val="solid"/>
          </a:ln>
        </p:spPr>
      </p:sp>
      <p:pic>
        <p:nvPicPr>
          <p:cNvPr id="5" name="Image 0" descr="Costo di installare un nuovo modello, in millisecondi, al variare del numero di strati: le due versioni specializzate stanno intorno a 1500 ms, le due generiche intorno a 8 ms">    </p:cNvPr>
          <p:cNvPicPr>
            <a:picLocks noChangeAspect="1"/>
          </p:cNvPicPr>
          <p:nvPr/>
        </p:nvPicPr>
        <p:blipFill>
          <a:blip r:embed="rId1"/>
          <a:srcRect l="-14585" r="-14585" t="0" b="0"/>
          <a:stretch/>
        </p:blipFill>
        <p:spPr>
          <a:xfrm>
            <a:off x="931333" y="1796126"/>
            <a:ext cx="5486400" cy="2730500"/>
          </a:xfrm>
          <a:prstGeom prst="rect">
            <a:avLst/>
          </a:prstGeom>
        </p:spPr>
      </p:pic>
      <p:sp>
        <p:nvSpPr>
          <p:cNvPr id="6" name="Shape 3"/>
          <p:cNvSpPr/>
          <p:nvPr/>
        </p:nvSpPr>
        <p:spPr>
          <a:xfrm>
            <a:off x="6705600" y="1908308"/>
            <a:ext cx="4673600" cy="1014611"/>
          </a:xfrm>
          <a:prstGeom prst="roundRect">
            <a:avLst>
              <a:gd name="adj" fmla="val 10014"/>
            </a:avLst>
          </a:prstGeom>
          <a:solidFill>
            <a:srgbClr val="EEF1F5"/>
          </a:solidFill>
          <a:ln/>
        </p:spPr>
      </p:sp>
      <p:sp>
        <p:nvSpPr>
          <p:cNvPr id="7" name="Text 4"/>
          <p:cNvSpPr/>
          <p:nvPr/>
        </p:nvSpPr>
        <p:spPr>
          <a:xfrm>
            <a:off x="6883400" y="2060708"/>
            <a:ext cx="444754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C2410C"/>
                </a:solidFill>
                <a:latin typeface="IBM Plex Sans" pitchFamily="34" charset="0"/>
                <a:ea typeface="IBM Plex Sans" pitchFamily="34" charset="-122"/>
                <a:cs typeface="IBM Plex Sans" pitchFamily="34" charset="-120"/>
              </a:rPr>
              <a:t>Specializzate</a:t>
            </a:r>
            <a:endParaRPr lang="en-US" sz="1400" dirty="0"/>
          </a:p>
        </p:txBody>
      </p:sp>
      <p:sp>
        <p:nvSpPr>
          <p:cNvPr id="8" name="Text 5"/>
          <p:cNvSpPr/>
          <p:nvPr/>
        </p:nvSpPr>
        <p:spPr>
          <a:xfrm>
            <a:off x="6883400" y="2324829"/>
            <a:ext cx="444754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568"/>
                </a:solidFill>
                <a:latin typeface="IBM Plex Sans" pitchFamily="34" charset="0"/>
                <a:ea typeface="IBM Plex Sans" pitchFamily="34" charset="-122"/>
                <a:cs typeface="IBM Plex Sans" pitchFamily="34" charset="-120"/>
              </a:rPr>
              <a:t>I pesi sono </a:t>
            </a:r>
            <a:r>
              <a:rPr lang="en-US" sz="1300" b="1" dirty="0">
                <a:solidFill>
                  <a:srgbClr val="4A5568"/>
                </a:solidFill>
                <a:latin typeface="IBM Plex Sans" pitchFamily="34" charset="0"/>
                <a:ea typeface="IBM Plex Sans" pitchFamily="34" charset="-122"/>
                <a:cs typeface="IBM Plex Sans" pitchFamily="34" charset="-120"/>
              </a:rPr>
              <a:t>scritti nel codice</a:t>
            </a:r>
            <a:r>
              <a:rPr lang="en-US" sz="1300" dirty="0">
                <a:solidFill>
                  <a:srgbClr val="4A5568"/>
                </a:solidFill>
                <a:latin typeface="IBM Plex Sans" pitchFamily="34" charset="0"/>
                <a:ea typeface="IBM Plex Sans" pitchFamily="34" charset="-122"/>
                <a:cs typeface="IBM Plex Sans" pitchFamily="34" charset="-120"/>
              </a:rPr>
              <a:t>. Un modello nuovo vuol dire riscrivere il programma e ricompilarlo: </a:t>
            </a:r>
            <a:r>
              <a:rPr lang="en-US" sz="1300" b="1" dirty="0">
                <a:solidFill>
                  <a:srgbClr val="4A5568"/>
                </a:solidFill>
                <a:latin typeface="IBM Plex Sans" pitchFamily="34" charset="0"/>
                <a:ea typeface="IBM Plex Sans" pitchFamily="34" charset="-122"/>
                <a:cs typeface="IBM Plex Sans" pitchFamily="34" charset="-120"/>
              </a:rPr>
              <a:t>~1,5 s</a:t>
            </a:r>
            <a:r>
              <a:rPr lang="en-US" sz="1300" dirty="0">
                <a:solidFill>
                  <a:srgbClr val="4A5568"/>
                </a:solidFill>
                <a:latin typeface="IBM Plex Sans" pitchFamily="34" charset="0"/>
                <a:ea typeface="IBM Plex Sans" pitchFamily="34" charset="-122"/>
                <a:cs typeface="IBM Plex Sans" pitchFamily="34" charset="-120"/>
              </a:rPr>
              <a:t>, ogni volta.</a:t>
            </a:r>
            <a:endParaRPr lang="en-US" sz="1300" dirty="0"/>
          </a:p>
        </p:txBody>
      </p:sp>
      <p:sp>
        <p:nvSpPr>
          <p:cNvPr id="9" name="Shape 6"/>
          <p:cNvSpPr/>
          <p:nvPr/>
        </p:nvSpPr>
        <p:spPr>
          <a:xfrm>
            <a:off x="6705600" y="3049919"/>
            <a:ext cx="4673600" cy="1014611"/>
          </a:xfrm>
          <a:prstGeom prst="roundRect">
            <a:avLst>
              <a:gd name="adj" fmla="val 10014"/>
            </a:avLst>
          </a:prstGeom>
          <a:solidFill>
            <a:srgbClr val="14213D"/>
          </a:solidFill>
          <a:ln/>
        </p:spPr>
      </p:sp>
      <p:sp>
        <p:nvSpPr>
          <p:cNvPr id="10" name="Text 7"/>
          <p:cNvSpPr/>
          <p:nvPr/>
        </p:nvSpPr>
        <p:spPr>
          <a:xfrm>
            <a:off x="6883400" y="3202319"/>
            <a:ext cx="444754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E8A87C"/>
                </a:solidFill>
                <a:latin typeface="IBM Plex Sans" pitchFamily="34" charset="0"/>
                <a:ea typeface="IBM Plex Sans" pitchFamily="34" charset="-122"/>
                <a:cs typeface="IBM Plex Sans" pitchFamily="34" charset="-120"/>
              </a:rPr>
              <a:t>Generiche</a:t>
            </a:r>
            <a:endParaRPr lang="en-US" sz="1400" dirty="0"/>
          </a:p>
        </p:txBody>
      </p:sp>
      <p:sp>
        <p:nvSpPr>
          <p:cNvPr id="11" name="Text 8"/>
          <p:cNvSpPr/>
          <p:nvPr/>
        </p:nvSpPr>
        <p:spPr>
          <a:xfrm>
            <a:off x="6883400" y="3466440"/>
            <a:ext cx="444754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FD8D5"/>
                </a:solidFill>
                <a:latin typeface="IBM Plex Sans" pitchFamily="34" charset="0"/>
                <a:ea typeface="IBM Plex Sans" pitchFamily="34" charset="-122"/>
                <a:cs typeface="IBM Plex Sans" pitchFamily="34" charset="-120"/>
              </a:rPr>
              <a:t>I pesi stanno in una tabella. Un modello nuovo è </a:t>
            </a:r>
            <a:r>
              <a:rPr lang="en-US" sz="1300" b="1" dirty="0">
                <a:solidFill>
                  <a:srgbClr val="BFD8D5"/>
                </a:solidFill>
                <a:latin typeface="IBM Plex Sans" pitchFamily="34" charset="0"/>
                <a:ea typeface="IBM Plex Sans" pitchFamily="34" charset="-122"/>
                <a:cs typeface="IBM Plex Sans" pitchFamily="34" charset="-120"/>
              </a:rPr>
              <a:t>riempire la tabella</a:t>
            </a:r>
            <a:r>
              <a:rPr lang="en-US" sz="1300" dirty="0">
                <a:solidFill>
                  <a:srgbClr val="BFD8D5"/>
                </a:solidFill>
                <a:latin typeface="IBM Plex Sans" pitchFamily="34" charset="0"/>
                <a:ea typeface="IBM Plex Sans" pitchFamily="34" charset="-122"/>
                <a:cs typeface="IBM Plex Sans" pitchFamily="34" charset="-120"/>
              </a:rPr>
              <a:t>: </a:t>
            </a:r>
            <a:r>
              <a:rPr lang="en-US" sz="1300" b="1" dirty="0">
                <a:solidFill>
                  <a:srgbClr val="BFD8D5"/>
                </a:solidFill>
                <a:latin typeface="IBM Plex Sans" pitchFamily="34" charset="0"/>
                <a:ea typeface="IBM Plex Sans" pitchFamily="34" charset="-122"/>
                <a:cs typeface="IBM Plex Sans" pitchFamily="34" charset="-120"/>
              </a:rPr>
              <a:t>~7 ms</a:t>
            </a:r>
            <a:r>
              <a:rPr lang="en-US" sz="1300" dirty="0">
                <a:solidFill>
                  <a:srgbClr val="BFD8D5"/>
                </a:solidFill>
                <a:latin typeface="IBM Plex Sans" pitchFamily="34" charset="0"/>
                <a:ea typeface="IBM Plex Sans" pitchFamily="34" charset="-122"/>
                <a:cs typeface="IBM Plex Sans" pitchFamily="34" charset="-120"/>
              </a:rPr>
              <a:t>. Nessun compilatore sul nodo.</a:t>
            </a:r>
            <a:endParaRPr lang="en-US" sz="1300" dirty="0"/>
          </a:p>
        </p:txBody>
      </p:sp>
      <p:sp>
        <p:nvSpPr>
          <p:cNvPr id="12" name="Text 9"/>
          <p:cNvSpPr/>
          <p:nvPr/>
        </p:nvSpPr>
        <p:spPr>
          <a:xfrm>
            <a:off x="6705600" y="4191530"/>
            <a:ext cx="4813808"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568"/>
                </a:solidFill>
                <a:latin typeface="IBM Plex Sans" pitchFamily="34" charset="0"/>
                <a:ea typeface="IBM Plex Sans" pitchFamily="34" charset="-122"/>
                <a:cs typeface="IBM Plex Sans" pitchFamily="34" charset="-120"/>
              </a:rPr>
              <a:t>Scala logaritmica: le due coppie distano </a:t>
            </a:r>
            <a:r>
              <a:rPr lang="en-US" sz="1300" b="1" dirty="0">
                <a:solidFill>
                  <a:srgbClr val="4A5568"/>
                </a:solidFill>
                <a:latin typeface="IBM Plex Sans" pitchFamily="34" charset="0"/>
                <a:ea typeface="IBM Plex Sans" pitchFamily="34" charset="-122"/>
                <a:cs typeface="IBM Plex Sans" pitchFamily="34" charset="-120"/>
              </a:rPr>
              <a:t>circa 200 volte</a:t>
            </a:r>
            <a:r>
              <a:rPr lang="en-US" sz="1300" dirty="0">
                <a:solidFill>
                  <a:srgbClr val="4A5568"/>
                </a:solidFill>
                <a:latin typeface="IBM Plex Sans" pitchFamily="34" charset="0"/>
                <a:ea typeface="IBM Plex Sans" pitchFamily="34" charset="-122"/>
                <a:cs typeface="IBM Plex Sans" pitchFamily="34" charset="-120"/>
              </a:rPr>
              <a:t>.</a:t>
            </a:r>
            <a:endParaRPr lang="en-US" sz="1300" dirty="0"/>
          </a:p>
        </p:txBody>
      </p:sp>
      <p:sp>
        <p:nvSpPr>
          <p:cNvPr id="13" name="Text 10"/>
          <p:cNvSpPr/>
          <p:nvPr/>
        </p:nvSpPr>
        <p:spPr>
          <a:xfrm>
            <a:off x="812800" y="6238280"/>
            <a:ext cx="93134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&amp;Egrave; l’altra metà del compromesso: le generiche sono ~7× più lente per pacchetto, ma oltre 200× più rapide a cambiare modello</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F1F5"/>
        </a:solidFill>
      </p:bgPr>
    </p:bg>
    <p:spTree>
      <p:nvGrpSpPr>
        <p:cNvPr id="1" name=""/>
        <p:cNvGrpSpPr/>
        <p:nvPr/>
      </p:nvGrpSpPr>
      <p:grpSpPr>
        <a:xfrm>
          <a:off x="0" y="0"/>
          <a:ext cx="0" cy="0"/>
          <a:chOff x="0" y="0"/>
          <a:chExt cx="0" cy="0"/>
        </a:xfrm>
      </p:grpSpPr>
      <p:sp>
        <p:nvSpPr>
          <p:cNvPr id="2" name="Text 0"/>
          <p:cNvSpPr/>
          <p:nvPr/>
        </p:nvSpPr>
        <p:spPr>
          <a:xfrm>
            <a:off x="812800" y="812800"/>
            <a:ext cx="10883392" cy="224301"/>
          </a:xfrm>
          <a:prstGeom prst="rect">
            <a:avLst/>
          </a:prstGeom>
          <a:noFill/>
          <a:ln/>
        </p:spPr>
        <p:txBody>
          <a:bodyPr wrap="square" lIns="0" tIns="0" rIns="0" bIns="0" rtlCol="0" anchor="t">
            <a:normAutofit/>
          </a:bodyPr>
          <a:lstStyle/>
          <a:p>
            <a:pPr algn="l" indent="0" marL="0">
              <a:lnSpc>
                <a:spcPts val="1570"/>
              </a:lnSpc>
              <a:buNone/>
            </a:pPr>
            <a:r>
              <a:rPr lang="en-US" sz="1121" spc="100" kern="0" dirty="0">
                <a:solidFill>
                  <a:srgbClr val="C2410C"/>
                </a:solidFill>
                <a:latin typeface="JetBrains Mono" pitchFamily="34" charset="0"/>
                <a:ea typeface="JetBrains Mono" pitchFamily="34" charset="-122"/>
                <a:cs typeface="JetBrains Mono" pitchFamily="34" charset="-120"/>
              </a:rPr>
              <a:t>SPECIALIZZAZIONE · LE PORTE CHE IL NODO HA DAVVERO</a:t>
            </a:r>
            <a:endParaRPr lang="en-US" sz="1121" dirty="0"/>
          </a:p>
        </p:txBody>
      </p:sp>
      <p:sp>
        <p:nvSpPr>
          <p:cNvPr id="3" name="Text 1"/>
          <p:cNvSpPr/>
          <p:nvPr/>
        </p:nvSpPr>
        <p:spPr>
          <a:xfrm>
            <a:off x="812800" y="1075203"/>
            <a:ext cx="10883392" cy="374055"/>
          </a:xfrm>
          <a:prstGeom prst="rect">
            <a:avLst/>
          </a:prstGeom>
          <a:noFill/>
          <a:ln/>
        </p:spPr>
        <p:txBody>
          <a:bodyPr wrap="square" lIns="0" tIns="0" rIns="0" bIns="0" rtlCol="0" anchor="t">
            <a:normAutofit/>
          </a:bodyPr>
          <a:lstStyle/>
          <a:p>
            <a:pPr algn="l" indent="0" marL="0">
              <a:lnSpc>
                <a:spcPts val="2771"/>
              </a:lnSpc>
              <a:buNone/>
            </a:pPr>
            <a:r>
              <a:rPr lang="en-US" sz="2519" b="1" dirty="0">
                <a:solidFill>
                  <a:srgbClr val="14213D"/>
                </a:solidFill>
                <a:latin typeface="IBM Plex Sans" pitchFamily="34" charset="0"/>
                <a:ea typeface="IBM Plex Sans" pitchFamily="34" charset="-122"/>
                <a:cs typeface="IBM Plex Sans" pitchFamily="34" charset="-120"/>
              </a:rPr>
              <a:t>Il modello prevede sei porte, il nodo ne ha tre</a:t>
            </a:r>
            <a:endParaRPr lang="en-US" sz="2519" dirty="0"/>
          </a:p>
        </p:txBody>
      </p:sp>
      <p:sp>
        <p:nvSpPr>
          <p:cNvPr id="4" name="Text 2"/>
          <p:cNvSpPr/>
          <p:nvPr/>
        </p:nvSpPr>
        <p:spPr>
          <a:xfrm>
            <a:off x="812800" y="1588957"/>
            <a:ext cx="10464800" cy="677532"/>
          </a:xfrm>
          <a:prstGeom prst="rect">
            <a:avLst/>
          </a:prstGeom>
          <a:noFill/>
          <a:ln/>
        </p:spPr>
        <p:txBody>
          <a:bodyPr wrap="square" lIns="0" tIns="0" rIns="0" bIns="0" rtlCol="0" anchor="t">
            <a:normAutofit/>
          </a:bodyPr>
          <a:lstStyle/>
          <a:p>
            <a:pPr algn="l" indent="0" marL="0">
              <a:lnSpc>
                <a:spcPts val="1929"/>
              </a:lnSpc>
              <a:buNone/>
            </a:pPr>
            <a:r>
              <a:rPr lang="en-US" sz="1378" dirty="0">
                <a:solidFill>
                  <a:srgbClr val="4A5568"/>
                </a:solidFill>
                <a:latin typeface="IBM Plex Sans" pitchFamily="34" charset="0"/>
                <a:ea typeface="IBM Plex Sans" pitchFamily="34" charset="-122"/>
                <a:cs typeface="IBM Plex Sans" pitchFamily="34" charset="-120"/>
              </a:rPr>
              <a:t>Il modello vale per tutta la rete, quindi prevede </a:t>
            </a:r>
            <a:r>
              <a:rPr lang="en-US" sz="1378" b="1" dirty="0">
                <a:solidFill>
                  <a:srgbClr val="4A5568"/>
                </a:solidFill>
                <a:latin typeface="IBM Plex Sans" pitchFamily="34" charset="0"/>
                <a:ea typeface="IBM Plex Sans" pitchFamily="34" charset="-122"/>
                <a:cs typeface="IBM Plex Sans" pitchFamily="34" charset="-120"/>
              </a:rPr>
              <a:t>tante caselle quante ne ha il nodo più collegato</a:t>
            </a:r>
            <a:r>
              <a:rPr lang="en-US" sz="1378" dirty="0">
                <a:solidFill>
                  <a:srgbClr val="4A5568"/>
                </a:solidFill>
                <a:latin typeface="IBM Plex Sans" pitchFamily="34" charset="0"/>
                <a:ea typeface="IBM Plex Sans" pitchFamily="34" charset="-122"/>
                <a:cs typeface="IBM Plex Sans" pitchFamily="34" charset="-120"/>
              </a:rPr>
              <a:t>. Un nodo con meno collegamenti si porta dietro caselle vuote: non sono collegamenti caduti, </a:t>
            </a:r>
            <a:r>
              <a:rPr lang="en-US" sz="1378" b="1" dirty="0">
                <a:solidFill>
                  <a:srgbClr val="4A5568"/>
                </a:solidFill>
                <a:latin typeface="IBM Plex Sans" pitchFamily="34" charset="0"/>
                <a:ea typeface="IBM Plex Sans" pitchFamily="34" charset="-122"/>
                <a:cs typeface="IBM Plex Sans" pitchFamily="34" charset="-120"/>
              </a:rPr>
              <a:t>non esistono proprio</a:t>
            </a:r>
            <a:r>
              <a:rPr lang="en-US" sz="1378" dirty="0">
                <a:solidFill>
                  <a:srgbClr val="4A5568"/>
                </a:solidFill>
                <a:latin typeface="IBM Plex Sans" pitchFamily="34" charset="0"/>
                <a:ea typeface="IBM Plex Sans" pitchFamily="34" charset="-122"/>
                <a:cs typeface="IBM Plex Sans" pitchFamily="34" charset="-120"/>
              </a:rPr>
              <a:t>. La versione specializzata non le genera.</a:t>
            </a:r>
            <a:endParaRPr lang="en-US" sz="1378"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12800" y="2406188"/>
          <a:ext cx="5207000" cy="2315766"/>
        </p:xfrm>
        <a:graphic>
          <a:graphicData uri="http://schemas.openxmlformats.org/drawingml/2006/table">
            <a:tbl>
              <a:tblPr/>
              <a:tblGrid>
                <a:gridCol w="1770380"/>
                <a:gridCol w="1718310"/>
                <a:gridCol w="1718310"/>
              </a:tblGrid>
              <a:tr h="385961">
                <a:tc>
                  <a:txBody>
                    <a:bodyPr/>
                    <a:lstStyle/>
                    <a:p>
                      <a:pPr indent="0" marL="0">
                        <a:lnSpc>
                          <a:spcPts val="1960"/>
                        </a:lnSpc>
                        <a:buNone/>
                      </a:pPr>
                      <a:r>
                        <a:rPr lang="en-US" sz="1400" b="1" dirty="0">
                          <a:solidFill>
                            <a:srgbClr val="FBFBF8"/>
                          </a:solidFill>
                          <a:latin typeface="IBM Plex Sans" pitchFamily="34" charset="0"/>
                          <a:ea typeface="IBM Plex Sans" pitchFamily="34" charset="-122"/>
                          <a:cs typeface="IBM Plex Sans" pitchFamily="34" charset="-120"/>
                        </a:rPr>
                        <a:t>Porte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14213D"/>
                    </a:solidFill>
                  </a:tcPr>
                </a:tc>
                <a:tc>
                  <a:txBody>
                    <a:bodyPr/>
                    <a:lstStyle/>
                    <a:p>
                      <a:pPr algn="r" indent="0" marL="0">
                        <a:lnSpc>
                          <a:spcPts val="1960"/>
                        </a:lnSpc>
                        <a:buNone/>
                      </a:pPr>
                      <a:r>
                        <a:rPr lang="en-US" sz="1400" b="1" dirty="0">
                          <a:solidFill>
                            <a:srgbClr val="FBFBF8"/>
                          </a:solidFill>
                          <a:latin typeface="IBM Plex Sans" pitchFamily="34" charset="0"/>
                          <a:ea typeface="IBM Plex Sans" pitchFamily="34" charset="-122"/>
                          <a:cs typeface="IBM Plex Sans" pitchFamily="34" charset="-120"/>
                        </a:rPr>
                        <a:t>Istruzioni</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14213D"/>
                    </a:solidFill>
                  </a:tcPr>
                </a:tc>
                <a:tc>
                  <a:txBody>
                    <a:bodyPr/>
                    <a:lstStyle/>
                    <a:p>
                      <a:pPr algn="r" indent="0" marL="0">
                        <a:lnSpc>
                          <a:spcPts val="1960"/>
                        </a:lnSpc>
                        <a:buNone/>
                      </a:pPr>
                      <a:r>
                        <a:rPr lang="en-US" sz="1400" b="1" dirty="0">
                          <a:solidFill>
                            <a:srgbClr val="FBFBF8"/>
                          </a:solidFill>
                          <a:latin typeface="IBM Plex Sans" pitchFamily="34" charset="0"/>
                          <a:ea typeface="IBM Plex Sans" pitchFamily="34" charset="-122"/>
                          <a:cs typeface="IBM Plex Sans" pitchFamily="34" charset="-120"/>
                        </a:rPr>
                        <a:t>Latenza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14213D"/>
                    </a:solidFill>
                  </a:tcPr>
                </a:tc>
              </a:tr>
              <a:tr h="38596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c>
                  <a:txBody>
                    <a:bodyPr/>
                    <a:lstStyle/>
                    <a:p>
                      <a:pPr algn="r" indent="0" marL="0">
                        <a:lnSpc>
                          <a:spcPts val="1960"/>
                        </a:lnSpc>
                        <a:buNone/>
                      </a:pPr>
                      <a:r>
                        <a:rPr lang="en-US" sz="1400" dirty="0">
                          <a:solidFill>
                            <a:srgbClr val="2E7D52"/>
                          </a:solidFill>
                          <a:latin typeface="IBM Plex Sans" pitchFamily="34" charset="0"/>
                          <a:ea typeface="IBM Plex Sans" pitchFamily="34" charset="-122"/>
                          <a:cs typeface="IBM Plex Sans" pitchFamily="34" charset="-120"/>
                        </a:rPr>
                        <a:t>546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51 ns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r>
              <a:tr h="38596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564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54 ns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582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53 ns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r>
              <a:tr h="38596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598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57 ns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614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58 ns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r>
            </a:tbl>
          </a:graphicData>
        </a:graphic>
      </p:graphicFrame>
      <p:sp>
        <p:nvSpPr>
          <p:cNvPr id="6" name="Shape 3"/>
          <p:cNvSpPr/>
          <p:nvPr/>
        </p:nvSpPr>
        <p:spPr>
          <a:xfrm>
            <a:off x="6248400" y="2406188"/>
            <a:ext cx="5130800" cy="866841"/>
          </a:xfrm>
          <a:prstGeom prst="roundRect">
            <a:avLst>
              <a:gd name="adj" fmla="val 11721"/>
            </a:avLst>
          </a:prstGeom>
          <a:solidFill>
            <a:srgbClr val="FBFBF8"/>
          </a:solidFill>
          <a:ln/>
        </p:spPr>
      </p:sp>
      <p:sp>
        <p:nvSpPr>
          <p:cNvPr id="7" name="Text 4"/>
          <p:cNvSpPr/>
          <p:nvPr/>
        </p:nvSpPr>
        <p:spPr>
          <a:xfrm>
            <a:off x="6413500" y="2545888"/>
            <a:ext cx="4944618" cy="199099"/>
          </a:xfrm>
          <a:prstGeom prst="rect">
            <a:avLst/>
          </a:prstGeom>
          <a:noFill/>
          <a:ln/>
        </p:spPr>
        <p:txBody>
          <a:bodyPr wrap="square" lIns="0" tIns="0" rIns="0" bIns="0" rtlCol="0" anchor="t">
            <a:normAutofit/>
          </a:bodyPr>
          <a:lstStyle/>
          <a:p>
            <a:pPr algn="l" indent="0" marL="0">
              <a:lnSpc>
                <a:spcPts val="1370"/>
              </a:lnSpc>
              <a:buNone/>
            </a:pPr>
            <a:r>
              <a:rPr lang="en-US" sz="1142" b="1" dirty="0">
                <a:solidFill>
                  <a:srgbClr val="2E7D52"/>
                </a:solidFill>
                <a:latin typeface="IBM Plex Sans" pitchFamily="34" charset="0"/>
                <a:ea typeface="IBM Plex Sans" pitchFamily="34" charset="-122"/>
                <a:cs typeface="IBM Plex Sans" pitchFamily="34" charset="-120"/>
              </a:rPr>
              <a:t>Le istruzioni scendono</a:t>
            </a:r>
            <a:endParaRPr lang="en-US" sz="1142" dirty="0"/>
          </a:p>
        </p:txBody>
      </p:sp>
      <p:sp>
        <p:nvSpPr>
          <p:cNvPr id="8" name="Text 5"/>
          <p:cNvSpPr/>
          <p:nvPr/>
        </p:nvSpPr>
        <p:spPr>
          <a:xfrm>
            <a:off x="6413500" y="2770386"/>
            <a:ext cx="4944618" cy="388342"/>
          </a:xfrm>
          <a:prstGeom prst="rect">
            <a:avLst/>
          </a:prstGeom>
          <a:noFill/>
          <a:ln/>
        </p:spPr>
        <p:txBody>
          <a:bodyPr wrap="square" lIns="0" tIns="0" rIns="0" bIns="0" rtlCol="0" anchor="t">
            <a:normAutofit/>
          </a:bodyPr>
          <a:lstStyle/>
          <a:p>
            <a:pPr algn="l" indent="0" marL="0">
              <a:lnSpc>
                <a:spcPts val="1437"/>
              </a:lnSpc>
              <a:buNone/>
            </a:pPr>
            <a:r>
              <a:rPr lang="en-US" sz="1064" b="1" dirty="0">
                <a:solidFill>
                  <a:srgbClr val="4A5568"/>
                </a:solidFill>
                <a:latin typeface="IBM Plex Sans" pitchFamily="34" charset="0"/>
                <a:ea typeface="IBM Plex Sans" pitchFamily="34" charset="-122"/>
                <a:cs typeface="IBM Plex Sans" pitchFamily="34" charset="-120"/>
              </a:rPr>
              <a:t>17 per porta</a:t>
            </a:r>
            <a:r>
              <a:rPr lang="en-US" sz="1064" dirty="0">
                <a:solidFill>
                  <a:srgbClr val="4A5568"/>
                </a:solidFill>
                <a:latin typeface="IBM Plex Sans" pitchFamily="34" charset="0"/>
                <a:ea typeface="IBM Plex Sans" pitchFamily="34" charset="-122"/>
                <a:cs typeface="IBM Plex Sans" pitchFamily="34" charset="-120"/>
              </a:rPr>
              <a:t>, in modo regolare (+18, +18, +16, +16). Due porte contro sei: </a:t>
            </a:r>
            <a:r>
              <a:rPr lang="en-US" sz="1064" b="1" dirty="0">
                <a:solidFill>
                  <a:srgbClr val="4A5568"/>
                </a:solidFill>
                <a:latin typeface="IBM Plex Sans" pitchFamily="34" charset="0"/>
                <a:ea typeface="IBM Plex Sans" pitchFamily="34" charset="-122"/>
                <a:cs typeface="IBM Plex Sans" pitchFamily="34" charset="-120"/>
              </a:rPr>
              <a:t>−11,1 %</a:t>
            </a:r>
            <a:r>
              <a:rPr lang="en-US" sz="1064" dirty="0">
                <a:solidFill>
                  <a:srgbClr val="4A5568"/>
                </a:solidFill>
                <a:latin typeface="IBM Plex Sans" pitchFamily="34" charset="0"/>
                <a:ea typeface="IBM Plex Sans" pitchFamily="34" charset="-122"/>
                <a:cs typeface="IBM Plex Sans" pitchFamily="34" charset="-120"/>
              </a:rPr>
              <a:t>.</a:t>
            </a:r>
            <a:endParaRPr lang="en-US" sz="1064" dirty="0"/>
          </a:p>
        </p:txBody>
      </p:sp>
      <p:sp>
        <p:nvSpPr>
          <p:cNvPr id="9" name="Shape 6"/>
          <p:cNvSpPr/>
          <p:nvPr/>
        </p:nvSpPr>
        <p:spPr>
          <a:xfrm>
            <a:off x="6248400" y="3387328"/>
            <a:ext cx="5130800" cy="1235736"/>
          </a:xfrm>
          <a:prstGeom prst="roundRect">
            <a:avLst>
              <a:gd name="adj" fmla="val 8222"/>
            </a:avLst>
          </a:prstGeom>
          <a:solidFill>
            <a:srgbClr val="FBFBF8"/>
          </a:solidFill>
          <a:ln/>
        </p:spPr>
      </p:sp>
      <p:sp>
        <p:nvSpPr>
          <p:cNvPr id="10" name="Text 7"/>
          <p:cNvSpPr/>
          <p:nvPr/>
        </p:nvSpPr>
        <p:spPr>
          <a:xfrm>
            <a:off x="6413500" y="3527028"/>
            <a:ext cx="4944618" cy="200290"/>
          </a:xfrm>
          <a:prstGeom prst="rect">
            <a:avLst/>
          </a:prstGeom>
          <a:noFill/>
          <a:ln/>
        </p:spPr>
        <p:txBody>
          <a:bodyPr wrap="square" lIns="0" tIns="0" rIns="0" bIns="0" rtlCol="0" anchor="t">
            <a:normAutofit/>
          </a:bodyPr>
          <a:lstStyle/>
          <a:p>
            <a:pPr algn="l" indent="0" marL="0">
              <a:lnSpc>
                <a:spcPts val="1423"/>
              </a:lnSpc>
              <a:buNone/>
            </a:pPr>
            <a:r>
              <a:rPr lang="en-US" sz="1186" b="1" dirty="0">
                <a:solidFill>
                  <a:srgbClr val="C2410C"/>
                </a:solidFill>
                <a:latin typeface="IBM Plex Sans" pitchFamily="34" charset="0"/>
                <a:ea typeface="IBM Plex Sans" pitchFamily="34" charset="-122"/>
                <a:cs typeface="IBM Plex Sans" pitchFamily="34" charset="-120"/>
              </a:rPr>
              <a:t>La latenza no</a:t>
            </a:r>
            <a:endParaRPr lang="en-US" sz="1186" dirty="0"/>
          </a:p>
        </p:txBody>
      </p:sp>
      <p:sp>
        <p:nvSpPr>
          <p:cNvPr id="11" name="Text 8"/>
          <p:cNvSpPr/>
          <p:nvPr/>
        </p:nvSpPr>
        <p:spPr>
          <a:xfrm>
            <a:off x="6413500" y="3752720"/>
            <a:ext cx="4944618" cy="756047"/>
          </a:xfrm>
          <a:prstGeom prst="rect">
            <a:avLst/>
          </a:prstGeom>
          <a:noFill/>
          <a:ln/>
        </p:spPr>
        <p:txBody>
          <a:bodyPr wrap="square" lIns="0" tIns="0" rIns="0" bIns="0" rtlCol="0" anchor="t">
            <a:normAutofit/>
          </a:bodyPr>
          <a:lstStyle/>
          <a:p>
            <a:pPr algn="l" indent="0" marL="0">
              <a:lnSpc>
                <a:spcPts val="1739"/>
              </a:lnSpc>
              <a:buNone/>
            </a:pPr>
            <a:r>
              <a:rPr lang="en-US" sz="1288" dirty="0">
                <a:solidFill>
                  <a:srgbClr val="4A5568"/>
                </a:solidFill>
                <a:latin typeface="IBM Plex Sans" pitchFamily="34" charset="0"/>
                <a:ea typeface="IBM Plex Sans" pitchFamily="34" charset="-122"/>
                <a:cs typeface="IBM Plex Sans" pitchFamily="34" charset="-120"/>
              </a:rPr>
              <a:t>Sale, se mai, invece di scendere: 51 → 58 ns fra due e sei porte. Le 16 moltiplicazioni che spariscono valgono </a:t>
            </a:r>
            <a:r>
              <a:rPr lang="en-US" sz="1288" b="1" dirty="0">
                <a:solidFill>
                  <a:srgbClr val="4A5568"/>
                </a:solidFill>
                <a:latin typeface="IBM Plex Sans" pitchFamily="34" charset="0"/>
                <a:ea typeface="IBM Plex Sans" pitchFamily="34" charset="-122"/>
                <a:cs typeface="IBM Plex Sans" pitchFamily="34" charset="-120"/>
              </a:rPr>
              <a:t>~5 ns</a:t>
            </a:r>
            <a:r>
              <a:rPr lang="en-US" sz="1288" dirty="0">
                <a:solidFill>
                  <a:srgbClr val="4A5568"/>
                </a:solidFill>
                <a:latin typeface="IBM Plex Sans" pitchFamily="34" charset="0"/>
                <a:ea typeface="IBM Plex Sans" pitchFamily="34" charset="-122"/>
                <a:cs typeface="IBM Plex Sans" pitchFamily="34" charset="-120"/>
              </a:rPr>
              <a:t>, cioè dentro la dispersione della misura. Il guadagno di tempo </a:t>
            </a:r>
            <a:r>
              <a:rPr lang="en-US" sz="1288" b="1" dirty="0">
                <a:solidFill>
                  <a:srgbClr val="4A5568"/>
                </a:solidFill>
                <a:latin typeface="IBM Plex Sans" pitchFamily="34" charset="0"/>
                <a:ea typeface="IBM Plex Sans" pitchFamily="34" charset="-122"/>
                <a:cs typeface="IBM Plex Sans" pitchFamily="34" charset="-120"/>
              </a:rPr>
              <a:t>non</a:t>
            </a:r>
            <a:r>
              <a:rPr lang="en-US" sz="1288" dirty="0">
                <a:solidFill>
                  <a:srgbClr val="4A5568"/>
                </a:solidFill>
                <a:latin typeface="IBM Plex Sans" pitchFamily="34" charset="0"/>
                <a:ea typeface="IBM Plex Sans" pitchFamily="34" charset="-122"/>
                <a:cs typeface="IBM Plex Sans" pitchFamily="34" charset="-120"/>
              </a:rPr>
              <a:t> è dimostrato.</a:t>
            </a:r>
            <a:endParaRPr lang="en-US" sz="1288" dirty="0"/>
          </a:p>
        </p:txBody>
      </p:sp>
      <p:sp>
        <p:nvSpPr>
          <p:cNvPr id="12" name="Shape 9"/>
          <p:cNvSpPr/>
          <p:nvPr/>
        </p:nvSpPr>
        <p:spPr>
          <a:xfrm>
            <a:off x="812800" y="4788167"/>
            <a:ext cx="10566400" cy="1053835"/>
          </a:xfrm>
          <a:prstGeom prst="roundRect">
            <a:avLst>
              <a:gd name="adj" fmla="val 9641"/>
            </a:avLst>
          </a:prstGeom>
          <a:solidFill>
            <a:srgbClr val="14213D"/>
          </a:solidFill>
          <a:ln/>
        </p:spPr>
      </p:sp>
      <p:sp>
        <p:nvSpPr>
          <p:cNvPr id="13" name="Text 10"/>
          <p:cNvSpPr/>
          <p:nvPr/>
        </p:nvSpPr>
        <p:spPr>
          <a:xfrm>
            <a:off x="1003300" y="4871709"/>
            <a:ext cx="5114671" cy="231114"/>
          </a:xfrm>
          <a:prstGeom prst="rect">
            <a:avLst/>
          </a:prstGeom>
          <a:noFill/>
          <a:ln/>
        </p:spPr>
        <p:txBody>
          <a:bodyPr wrap="square" lIns="0" tIns="0" rIns="0" bIns="0" rtlCol="0" anchor="t">
            <a:normAutofit/>
          </a:bodyPr>
          <a:lstStyle/>
          <a:p>
            <a:pPr algn="l" indent="0" marL="0">
              <a:lnSpc>
                <a:spcPts val="1620"/>
              </a:lnSpc>
              <a:buNone/>
            </a:pPr>
            <a:r>
              <a:rPr lang="en-US" sz="1350" b="1" dirty="0">
                <a:solidFill>
                  <a:srgbClr val="E8A87C"/>
                </a:solidFill>
                <a:latin typeface="IBM Plex Sans" pitchFamily="34" charset="0"/>
                <a:ea typeface="IBM Plex Sans" pitchFamily="34" charset="-122"/>
                <a:cs typeface="IBM Plex Sans" pitchFamily="34" charset="-120"/>
              </a:rPr>
              <a:t>Il controllo è riuscito</a:t>
            </a:r>
            <a:endParaRPr lang="en-US" sz="1350" dirty="0"/>
          </a:p>
        </p:txBody>
      </p:sp>
      <p:sp>
        <p:nvSpPr>
          <p:cNvPr id="14" name="Text 11"/>
          <p:cNvSpPr/>
          <p:nvPr/>
        </p:nvSpPr>
        <p:spPr>
          <a:xfrm>
            <a:off x="1003300" y="5115520"/>
            <a:ext cx="5114671" cy="668338"/>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BFD8D5"/>
                </a:solidFill>
                <a:latin typeface="IBM Plex Sans" pitchFamily="34" charset="0"/>
                <a:ea typeface="IBM Plex Sans" pitchFamily="34" charset="-122"/>
                <a:cs typeface="IBM Plex Sans" pitchFamily="34" charset="-120"/>
              </a:rPr>
              <a:t>Le altre tre pipeline restano </a:t>
            </a:r>
            <a:r>
              <a:rPr lang="en-US" sz="1250" b="1" dirty="0">
                <a:solidFill>
                  <a:srgbClr val="BFD8D5"/>
                </a:solidFill>
                <a:latin typeface="IBM Plex Sans" pitchFamily="34" charset="0"/>
                <a:ea typeface="IBM Plex Sans" pitchFamily="34" charset="-122"/>
                <a:cs typeface="IBM Plex Sans" pitchFamily="34" charset="-120"/>
              </a:rPr>
              <a:t>piatte</a:t>
            </a:r>
            <a:r>
              <a:rPr lang="en-US" sz="1250" dirty="0">
                <a:solidFill>
                  <a:srgbClr val="BFD8D5"/>
                </a:solidFill>
                <a:latin typeface="IBM Plex Sans" pitchFamily="34" charset="0"/>
                <a:ea typeface="IBM Plex Sans" pitchFamily="34" charset="-122"/>
                <a:cs typeface="IBM Plex Sans" pitchFamily="34" charset="-120"/>
              </a:rPr>
              <a:t> su tutti e cinque i punti — 1 071 / 14 985 / 12 349 istruzioni, 319 pesi ovunque. L’asse non costa nulla di suo.</a:t>
            </a:r>
            <a:endParaRPr lang="en-US" sz="1250" dirty="0"/>
          </a:p>
        </p:txBody>
      </p:sp>
      <p:sp>
        <p:nvSpPr>
          <p:cNvPr id="15" name="Text 12"/>
          <p:cNvSpPr/>
          <p:nvPr/>
        </p:nvSpPr>
        <p:spPr>
          <a:xfrm>
            <a:off x="6223000" y="4871709"/>
            <a:ext cx="5114671" cy="231114"/>
          </a:xfrm>
          <a:prstGeom prst="rect">
            <a:avLst/>
          </a:prstGeom>
          <a:noFill/>
          <a:ln/>
        </p:spPr>
        <p:txBody>
          <a:bodyPr wrap="square" lIns="0" tIns="0" rIns="0" bIns="0" rtlCol="0" anchor="t">
            <a:normAutofit/>
          </a:bodyPr>
          <a:lstStyle/>
          <a:p>
            <a:pPr algn="l" indent="0" marL="0">
              <a:lnSpc>
                <a:spcPts val="1620"/>
              </a:lnSpc>
              <a:buNone/>
            </a:pPr>
            <a:r>
              <a:rPr lang="en-US" sz="1350" b="1" dirty="0">
                <a:solidFill>
                  <a:srgbClr val="E8A87C"/>
                </a:solidFill>
                <a:latin typeface="IBM Plex Sans" pitchFamily="34" charset="0"/>
                <a:ea typeface="IBM Plex Sans" pitchFamily="34" charset="-122"/>
                <a:cs typeface="IBM Plex Sans" pitchFamily="34" charset="-120"/>
              </a:rPr>
              <a:t>Una previsione smentita</a:t>
            </a:r>
            <a:endParaRPr lang="en-US" sz="1350" dirty="0"/>
          </a:p>
        </p:txBody>
      </p:sp>
      <p:sp>
        <p:nvSpPr>
          <p:cNvPr id="16" name="Text 13"/>
          <p:cNvSpPr/>
          <p:nvPr/>
        </p:nvSpPr>
        <p:spPr>
          <a:xfrm>
            <a:off x="6223000" y="5115520"/>
            <a:ext cx="5114671" cy="668338"/>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BFD8D5"/>
                </a:solidFill>
                <a:latin typeface="IBM Plex Sans" pitchFamily="34" charset="0"/>
                <a:ea typeface="IBM Plex Sans" pitchFamily="34" charset="-122"/>
                <a:cs typeface="IBM Plex Sans" pitchFamily="34" charset="-120"/>
              </a:rPr>
              <a:t>Avevamo previsto che togliere quelle caselle facesse guadagnare tempo, perché sono caselle che vengono davvero moltiplicate. Con la precisione che abbiamo, no.</a:t>
            </a:r>
            <a:endParaRPr lang="en-US" sz="1250" dirty="0"/>
          </a:p>
        </p:txBody>
      </p:sp>
      <p:sp>
        <p:nvSpPr>
          <p:cNvPr id="17" name="Text 14"/>
          <p:cNvSpPr/>
          <p:nvPr/>
        </p:nvSpPr>
        <p:spPr>
          <a:xfrm>
            <a:off x="812800" y="6238280"/>
            <a:ext cx="1013825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bench_scaling.py --axis degree · correttezza: 80/80 casi identici, con controllo negativo che morde (29 divergenze accendendo uno slot assente)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F1F5"/>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C2410C"/>
                </a:solidFill>
                <a:latin typeface="JetBrains Mono" pitchFamily="34" charset="0"/>
                <a:ea typeface="JetBrains Mono" pitchFamily="34" charset="-122"/>
                <a:cs typeface="JetBrains Mono" pitchFamily="34" charset="-120"/>
              </a:rPr>
              <a:t>LA SCOPERTA · CONGELARE IL NODO PAGA IN SPAZIO, NON IN TEMPO</a:t>
            </a:r>
            <a:endParaRPr lang="en-US" sz="1300" dirty="0"/>
          </a:p>
        </p:txBody>
      </p:sp>
      <p:sp>
        <p:nvSpPr>
          <p:cNvPr id="3" name="Text 1"/>
          <p:cNvSpPr/>
          <p:nvPr/>
        </p:nvSpPr>
        <p:spPr>
          <a:xfrm>
            <a:off x="812800" y="1107418"/>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4213D"/>
                </a:solidFill>
                <a:latin typeface="IBM Plex Sans" pitchFamily="34" charset="0"/>
                <a:ea typeface="IBM Plex Sans" pitchFamily="34" charset="-122"/>
                <a:cs typeface="IBM Plex Sans" pitchFamily="34" charset="-120"/>
              </a:rPr>
              <a:t>Le due versioni specializzate, faccia a faccia</a:t>
            </a:r>
            <a:endParaRPr lang="en-US" sz="2800" dirty="0"/>
          </a:p>
        </p:txBody>
      </p:sp>
      <p:sp>
        <p:nvSpPr>
          <p:cNvPr id="4" name="Shape 2"/>
          <p:cNvSpPr/>
          <p:nvPr/>
        </p:nvSpPr>
        <p:spPr>
          <a:xfrm>
            <a:off x="815975" y="1641413"/>
            <a:ext cx="6851650" cy="3671888"/>
          </a:xfrm>
          <a:prstGeom prst="roundRect">
            <a:avLst>
              <a:gd name="adj" fmla="val 2681"/>
            </a:avLst>
          </a:prstGeom>
          <a:solidFill>
            <a:srgbClr val="FFFFFF"/>
          </a:solidFill>
          <a:ln w="6350">
            <a:solidFill>
              <a:srgbClr val="D7DEE7"/>
            </a:solidFill>
            <a:prstDash val="solid"/>
          </a:ln>
        </p:spPr>
      </p:sp>
      <p:pic>
        <p:nvPicPr>
          <p:cNvPr id="5" name="Image 0" descr="Quattro pannelli che confrontano P1 specializzata e P1.5: istruzioni e byte di codice nativo al crescere della rete, latenza al crescere della larghezza, istruzioni al crescere dei pesi a zero">    </p:cNvPr>
          <p:cNvPicPr>
            <a:picLocks noChangeAspect="1"/>
          </p:cNvPicPr>
          <p:nvPr/>
        </p:nvPicPr>
        <p:blipFill>
          <a:blip r:embed="rId1"/>
          <a:srcRect l="-24326" r="-24326" t="0" b="0"/>
          <a:stretch/>
        </p:blipFill>
        <p:spPr>
          <a:xfrm>
            <a:off x="918633" y="1744067"/>
            <a:ext cx="6654800" cy="2984500"/>
          </a:xfrm>
          <a:prstGeom prst="rect">
            <a:avLst/>
          </a:prstGeom>
        </p:spPr>
      </p:pic>
      <p:sp>
        <p:nvSpPr>
          <p:cNvPr id="6" name="Shape 3"/>
          <p:cNvSpPr/>
          <p:nvPr/>
        </p:nvSpPr>
        <p:spPr>
          <a:xfrm>
            <a:off x="7835900" y="1638238"/>
            <a:ext cx="3543300" cy="1111250"/>
          </a:xfrm>
          <a:prstGeom prst="roundRect">
            <a:avLst>
              <a:gd name="adj" fmla="val 8000"/>
            </a:avLst>
          </a:prstGeom>
          <a:solidFill>
            <a:srgbClr val="FBFBF8"/>
          </a:solidFill>
          <a:ln/>
        </p:spPr>
      </p:sp>
      <p:sp>
        <p:nvSpPr>
          <p:cNvPr id="7" name="Text 4"/>
          <p:cNvSpPr/>
          <p:nvPr/>
        </p:nvSpPr>
        <p:spPr>
          <a:xfrm>
            <a:off x="7988300" y="1765238"/>
            <a:ext cx="3335655" cy="882650"/>
          </a:xfrm>
          <a:prstGeom prst="rect">
            <a:avLst/>
          </a:prstGeom>
          <a:noFill/>
          <a:ln/>
        </p:spPr>
        <p:txBody>
          <a:bodyPr wrap="square" lIns="0" tIns="0" rIns="0" bIns="0" rtlCol="0" anchor="t">
            <a:normAutofit/>
          </a:bodyPr>
          <a:lstStyle/>
          <a:p>
            <a:pPr algn="l" indent="0" marL="0">
              <a:lnSpc>
                <a:spcPts val="1688"/>
              </a:lnSpc>
              <a:buNone/>
            </a:pPr>
            <a:r>
              <a:rPr lang="en-US" sz="1250" b="1" dirty="0">
                <a:solidFill>
                  <a:srgbClr val="4A5568"/>
                </a:solidFill>
                <a:latin typeface="IBM Plex Sans" pitchFamily="34" charset="0"/>
                <a:ea typeface="IBM Plex Sans" pitchFamily="34" charset="-122"/>
                <a:cs typeface="IBM Plex Sans" pitchFamily="34" charset="-120"/>
              </a:rPr>
              <a:t>Dimensione</a:t>
            </a:r>
            <a:r>
              <a:rPr lang="en-US" sz="1250" dirty="0">
                <a:solidFill>
                  <a:srgbClr val="4A5568"/>
                </a:solidFill>
                <a:latin typeface="IBM Plex Sans" pitchFamily="34" charset="0"/>
                <a:ea typeface="IBM Plex Sans" pitchFamily="34" charset="-122"/>
                <a:cs typeface="IBM Plex Sans" pitchFamily="34" charset="-120"/>
              </a:rPr>
              <a:t> — congelando anche l’identità del nodo, la dipendenza dalla taglia della rete </a:t>
            </a:r>
            <a:r>
              <a:rPr lang="en-US" sz="1250" b="1" dirty="0">
                <a:solidFill>
                  <a:srgbClr val="4A5568"/>
                </a:solidFill>
                <a:latin typeface="IBM Plex Sans" pitchFamily="34" charset="0"/>
                <a:ea typeface="IBM Plex Sans" pitchFamily="34" charset="-122"/>
                <a:cs typeface="IBM Plex Sans" pitchFamily="34" charset="-120"/>
              </a:rPr>
              <a:t>sparisce</a:t>
            </a:r>
            <a:r>
              <a:rPr lang="en-US" sz="1250" dirty="0">
                <a:solidFill>
                  <a:srgbClr val="4A5568"/>
                </a:solidFill>
                <a:latin typeface="IBM Plex Sans" pitchFamily="34" charset="0"/>
                <a:ea typeface="IBM Plex Sans" pitchFamily="34" charset="-122"/>
                <a:cs typeface="IBM Plex Sans" pitchFamily="34" charset="-120"/>
              </a:rPr>
              <a:t>: 614 istruzioni a 10 nodi come a 100.</a:t>
            </a:r>
            <a:endParaRPr lang="en-US" sz="1250" dirty="0"/>
          </a:p>
        </p:txBody>
      </p:sp>
      <p:sp>
        <p:nvSpPr>
          <p:cNvPr id="8" name="Shape 5"/>
          <p:cNvSpPr/>
          <p:nvPr/>
        </p:nvSpPr>
        <p:spPr>
          <a:xfrm>
            <a:off x="7835900" y="2851088"/>
            <a:ext cx="3543300" cy="682625"/>
          </a:xfrm>
          <a:prstGeom prst="roundRect">
            <a:avLst>
              <a:gd name="adj" fmla="val 13023"/>
            </a:avLst>
          </a:prstGeom>
          <a:solidFill>
            <a:srgbClr val="FBFBF8"/>
          </a:solidFill>
          <a:ln/>
        </p:spPr>
      </p:sp>
      <p:sp>
        <p:nvSpPr>
          <p:cNvPr id="9" name="Text 6"/>
          <p:cNvSpPr/>
          <p:nvPr/>
        </p:nvSpPr>
        <p:spPr>
          <a:xfrm>
            <a:off x="7988300" y="2978088"/>
            <a:ext cx="3335655" cy="454025"/>
          </a:xfrm>
          <a:prstGeom prst="rect">
            <a:avLst/>
          </a:prstGeom>
          <a:noFill/>
          <a:ln/>
        </p:spPr>
        <p:txBody>
          <a:bodyPr wrap="square" lIns="0" tIns="0" rIns="0" bIns="0" rtlCol="0" anchor="t">
            <a:normAutofit/>
          </a:bodyPr>
          <a:lstStyle/>
          <a:p>
            <a:pPr algn="l" indent="0" marL="0">
              <a:lnSpc>
                <a:spcPts val="1688"/>
              </a:lnSpc>
              <a:buNone/>
            </a:pPr>
            <a:r>
              <a:rPr lang="en-US" sz="1250" b="1" dirty="0">
                <a:solidFill>
                  <a:srgbClr val="4A5568"/>
                </a:solidFill>
                <a:latin typeface="IBM Plex Sans" pitchFamily="34" charset="0"/>
                <a:ea typeface="IBM Plex Sans" pitchFamily="34" charset="-122"/>
                <a:cs typeface="IBM Plex Sans" pitchFamily="34" charset="-120"/>
              </a:rPr>
              <a:t>Codice nativo</a:t>
            </a:r>
            <a:r>
              <a:rPr lang="en-US" sz="1250" dirty="0">
                <a:solidFill>
                  <a:srgbClr val="4A5568"/>
                </a:solidFill>
                <a:latin typeface="IBM Plex Sans" pitchFamily="34" charset="0"/>
                <a:ea typeface="IBM Plex Sans" pitchFamily="34" charset="-122"/>
                <a:cs typeface="IBM Plex Sans" pitchFamily="34" charset="-120"/>
              </a:rPr>
              <a:t> — il divario è ancora più largo di quello sulle istruzioni.</a:t>
            </a:r>
            <a:endParaRPr lang="en-US" sz="1250" dirty="0"/>
          </a:p>
        </p:txBody>
      </p:sp>
      <p:sp>
        <p:nvSpPr>
          <p:cNvPr id="10" name="Shape 7"/>
          <p:cNvSpPr/>
          <p:nvPr/>
        </p:nvSpPr>
        <p:spPr>
          <a:xfrm>
            <a:off x="7835900" y="3635313"/>
            <a:ext cx="3543300" cy="896938"/>
          </a:xfrm>
          <a:prstGeom prst="roundRect">
            <a:avLst>
              <a:gd name="adj" fmla="val 9911"/>
            </a:avLst>
          </a:prstGeom>
          <a:solidFill>
            <a:srgbClr val="FBFBF8"/>
          </a:solidFill>
          <a:ln/>
        </p:spPr>
      </p:sp>
      <p:sp>
        <p:nvSpPr>
          <p:cNvPr id="11" name="Text 8"/>
          <p:cNvSpPr/>
          <p:nvPr/>
        </p:nvSpPr>
        <p:spPr>
          <a:xfrm>
            <a:off x="7988300" y="3762313"/>
            <a:ext cx="3335655" cy="668338"/>
          </a:xfrm>
          <a:prstGeom prst="rect">
            <a:avLst/>
          </a:prstGeom>
          <a:noFill/>
          <a:ln/>
        </p:spPr>
        <p:txBody>
          <a:bodyPr wrap="square" lIns="0" tIns="0" rIns="0" bIns="0" rtlCol="0" anchor="t">
            <a:normAutofit/>
          </a:bodyPr>
          <a:lstStyle/>
          <a:p>
            <a:pPr algn="l" indent="0" marL="0">
              <a:lnSpc>
                <a:spcPts val="1688"/>
              </a:lnSpc>
              <a:buNone/>
            </a:pPr>
            <a:r>
              <a:rPr lang="en-US" sz="1250" b="1" dirty="0">
                <a:solidFill>
                  <a:srgbClr val="4A5568"/>
                </a:solidFill>
                <a:latin typeface="IBM Plex Sans" pitchFamily="34" charset="0"/>
                <a:ea typeface="IBM Plex Sans" pitchFamily="34" charset="-122"/>
                <a:cs typeface="IBM Plex Sans" pitchFamily="34" charset="-120"/>
              </a:rPr>
              <a:t>Velocità</a:t>
            </a:r>
            <a:r>
              <a:rPr lang="en-US" sz="1250" dirty="0">
                <a:solidFill>
                  <a:srgbClr val="4A5568"/>
                </a:solidFill>
                <a:latin typeface="IBM Plex Sans" pitchFamily="34" charset="0"/>
                <a:ea typeface="IBM Plex Sans" pitchFamily="34" charset="-122"/>
                <a:cs typeface="IBM Plex Sans" pitchFamily="34" charset="-120"/>
              </a:rPr>
              <a:t> — si muove appena. Quel lavoro in meno è uno </a:t>
            </a:r>
            <a:r>
              <a:rPr lang="en-US" sz="1250" i="1" dirty="0">
                <a:solidFill>
                  <a:srgbClr val="4A5568"/>
                </a:solidFill>
                <a:latin typeface="IBM Plex Sans" pitchFamily="34" charset="0"/>
                <a:ea typeface="IBM Plex Sans" pitchFamily="34" charset="-122"/>
                <a:cs typeface="IBM Plex Sans" pitchFamily="34" charset="-120"/>
              </a:rPr>
              <a:t>switch</a:t>
            </a:r>
            <a:r>
              <a:rPr lang="en-US" sz="1250" dirty="0">
                <a:solidFill>
                  <a:srgbClr val="4A5568"/>
                </a:solidFill>
                <a:latin typeface="IBM Plex Sans" pitchFamily="34" charset="0"/>
                <a:ea typeface="IBM Plex Sans" pitchFamily="34" charset="-122"/>
                <a:cs typeface="IBM Plex Sans" pitchFamily="34" charset="-120"/>
              </a:rPr>
              <a:t> di cui veniva eseguito un solo caso.</a:t>
            </a:r>
            <a:endParaRPr lang="en-US" sz="1250" dirty="0"/>
          </a:p>
        </p:txBody>
      </p:sp>
      <p:sp>
        <p:nvSpPr>
          <p:cNvPr id="12" name="Shape 9"/>
          <p:cNvSpPr/>
          <p:nvPr/>
        </p:nvSpPr>
        <p:spPr>
          <a:xfrm>
            <a:off x="7835900" y="4633850"/>
            <a:ext cx="3543300" cy="682625"/>
          </a:xfrm>
          <a:prstGeom prst="roundRect">
            <a:avLst>
              <a:gd name="adj" fmla="val 13023"/>
            </a:avLst>
          </a:prstGeom>
          <a:solidFill>
            <a:srgbClr val="FBFBF8"/>
          </a:solidFill>
          <a:ln/>
        </p:spPr>
      </p:sp>
      <p:sp>
        <p:nvSpPr>
          <p:cNvPr id="13" name="Text 10"/>
          <p:cNvSpPr/>
          <p:nvPr/>
        </p:nvSpPr>
        <p:spPr>
          <a:xfrm>
            <a:off x="7988300" y="4760850"/>
            <a:ext cx="3335655" cy="454025"/>
          </a:xfrm>
          <a:prstGeom prst="rect">
            <a:avLst/>
          </a:prstGeom>
          <a:noFill/>
          <a:ln/>
        </p:spPr>
        <p:txBody>
          <a:bodyPr wrap="square" lIns="0" tIns="0" rIns="0" bIns="0" rtlCol="0" anchor="t">
            <a:normAutofit/>
          </a:bodyPr>
          <a:lstStyle/>
          <a:p>
            <a:pPr algn="l" indent="0" marL="0">
              <a:lnSpc>
                <a:spcPts val="1688"/>
              </a:lnSpc>
              <a:buNone/>
            </a:pPr>
            <a:r>
              <a:rPr lang="en-US" sz="1250" b="1" dirty="0">
                <a:solidFill>
                  <a:srgbClr val="4A5568"/>
                </a:solidFill>
                <a:latin typeface="IBM Plex Sans" pitchFamily="34" charset="0"/>
                <a:ea typeface="IBM Plex Sans" pitchFamily="34" charset="-122"/>
                <a:cs typeface="IBM Plex Sans" pitchFamily="34" charset="-120"/>
              </a:rPr>
              <a:t>Pesi a zero</a:t>
            </a:r>
            <a:r>
              <a:rPr lang="en-US" sz="1250" dirty="0">
                <a:solidFill>
                  <a:srgbClr val="4A5568"/>
                </a:solidFill>
                <a:latin typeface="IBM Plex Sans" pitchFamily="34" charset="0"/>
                <a:ea typeface="IBM Plex Sans" pitchFamily="34" charset="-122"/>
                <a:cs typeface="IBM Plex Sans" pitchFamily="34" charset="-120"/>
              </a:rPr>
              <a:t> — con pesi molto sparsi il vantaggio </a:t>
            </a:r>
            <a:r>
              <a:rPr lang="en-US" sz="1250" b="1" dirty="0">
                <a:solidFill>
                  <a:srgbClr val="4A5568"/>
                </a:solidFill>
                <a:latin typeface="IBM Plex Sans" pitchFamily="34" charset="0"/>
                <a:ea typeface="IBM Plex Sans" pitchFamily="34" charset="-122"/>
                <a:cs typeface="IBM Plex Sans" pitchFamily="34" charset="-120"/>
              </a:rPr>
              <a:t>si annulla</a:t>
            </a:r>
            <a:r>
              <a:rPr lang="en-US" sz="1250" dirty="0">
                <a:solidFill>
                  <a:srgbClr val="4A5568"/>
                </a:solidFill>
                <a:latin typeface="IBM Plex Sans" pitchFamily="34" charset="0"/>
                <a:ea typeface="IBM Plex Sans" pitchFamily="34" charset="-122"/>
                <a:cs typeface="IBM Plex Sans" pitchFamily="34" charset="-120"/>
              </a:rPr>
              <a:t>: le due curve si toccano.</a:t>
            </a:r>
            <a:endParaRPr lang="en-US" sz="1250" dirty="0"/>
          </a:p>
        </p:txBody>
      </p:sp>
      <p:sp>
        <p:nvSpPr>
          <p:cNvPr id="14" name="Text 11"/>
          <p:cNvSpPr/>
          <p:nvPr/>
        </p:nvSpPr>
        <p:spPr>
          <a:xfrm>
            <a:off x="812800" y="6238280"/>
            <a:ext cx="658124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Quattro pannelli perché la risposta ha quattro parti, e non puntano tutte nella stessa direzione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C2410C"/>
                </a:solidFill>
                <a:latin typeface="JetBrains Mono" pitchFamily="34" charset="0"/>
                <a:ea typeface="JetBrains Mono" pitchFamily="34" charset="-122"/>
                <a:cs typeface="JetBrains Mono" pitchFamily="34" charset="-120"/>
              </a:rPr>
              <a:t>ANALISI PARAMETRICA · SETTE ASSI</a:t>
            </a:r>
            <a:endParaRPr lang="en-US" sz="1300" dirty="0"/>
          </a:p>
        </p:txBody>
      </p:sp>
      <p:sp>
        <p:nvSpPr>
          <p:cNvPr id="3" name="Text 1"/>
          <p:cNvSpPr/>
          <p:nvPr/>
        </p:nvSpPr>
        <p:spPr>
          <a:xfrm>
            <a:off x="812800" y="1107418"/>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213D"/>
                </a:solidFill>
                <a:latin typeface="IBM Plex Sans" pitchFamily="34" charset="0"/>
                <a:ea typeface="IBM Plex Sans" pitchFamily="34" charset="-122"/>
                <a:cs typeface="IBM Plex Sans" pitchFamily="34" charset="-120"/>
              </a:rPr>
              <a:t>Congelare il nodo toglie la rete dal programma</a:t>
            </a:r>
            <a:endParaRPr lang="en-US" sz="3000" dirty="0"/>
          </a:p>
        </p:txBody>
      </p:sp>
      <p:sp>
        <p:nvSpPr>
          <p:cNvPr id="4" name="Text 2"/>
          <p:cNvSpPr/>
          <p:nvPr/>
        </p:nvSpPr>
        <p:spPr>
          <a:xfrm>
            <a:off x="812800" y="1691618"/>
            <a:ext cx="654050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asse y</a:t>
            </a:r>
            <a:r>
              <a:rPr lang="en-US" sz="1300" dirty="0">
                <a:solidFill>
                  <a:srgbClr val="14213D"/>
                </a:solidFill>
                <a:latin typeface="IBM Plex Sans" pitchFamily="34" charset="0"/>
                <a:ea typeface="IBM Plex Sans" pitchFamily="34" charset="-122"/>
                <a:cs typeface="IBM Plex Sans" pitchFamily="34" charset="-120"/>
              </a:rPr>
              <a:t> — istruzioni eBPF (xlated)</a:t>
            </a:r>
            <a:endParaRPr lang="en-US" sz="1300" dirty="0"/>
          </a:p>
        </p:txBody>
      </p:sp>
      <p:pic>
        <p:nvPicPr>
          <p:cNvPr id="5" name="Image 0" descr="Istruzioni eBPF in funzione del numero di nodi: hardcoded sale da 746 a 1692 fra 10 e 100 nodi, p1_static resta piatta intorno a 625">    </p:cNvPr>
          <p:cNvPicPr>
            <a:picLocks noChangeAspect="1"/>
          </p:cNvPicPr>
          <p:nvPr/>
        </p:nvPicPr>
        <p:blipFill>
          <a:blip r:embed="rId1"/>
          <a:srcRect l="0" r="0" t="0" b="0"/>
          <a:stretch/>
        </p:blipFill>
        <p:spPr>
          <a:xfrm>
            <a:off x="1447800" y="1986229"/>
            <a:ext cx="5715000" cy="2286000"/>
          </a:xfrm>
          <a:prstGeom prst="rect">
            <a:avLst/>
          </a:prstGeom>
        </p:spPr>
      </p:pic>
      <p:sp>
        <p:nvSpPr>
          <p:cNvPr id="6" name="Text 3"/>
          <p:cNvSpPr/>
          <p:nvPr/>
        </p:nvSpPr>
        <p:spPr>
          <a:xfrm>
            <a:off x="762000" y="2144979"/>
            <a:ext cx="6096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1 750</a:t>
            </a:r>
            <a:endParaRPr lang="en-US" sz="1200" dirty="0"/>
          </a:p>
        </p:txBody>
      </p:sp>
      <p:sp>
        <p:nvSpPr>
          <p:cNvPr id="7" name="Text 4"/>
          <p:cNvSpPr/>
          <p:nvPr/>
        </p:nvSpPr>
        <p:spPr>
          <a:xfrm>
            <a:off x="762000" y="2500579"/>
            <a:ext cx="6096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1 500</a:t>
            </a:r>
            <a:endParaRPr lang="en-US" sz="1200" dirty="0"/>
          </a:p>
        </p:txBody>
      </p:sp>
      <p:sp>
        <p:nvSpPr>
          <p:cNvPr id="8" name="Text 5"/>
          <p:cNvSpPr/>
          <p:nvPr/>
        </p:nvSpPr>
        <p:spPr>
          <a:xfrm>
            <a:off x="762000" y="2856179"/>
            <a:ext cx="6096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1 250</a:t>
            </a:r>
            <a:endParaRPr lang="en-US" sz="1200" dirty="0"/>
          </a:p>
        </p:txBody>
      </p:sp>
      <p:sp>
        <p:nvSpPr>
          <p:cNvPr id="9" name="Text 6"/>
          <p:cNvSpPr/>
          <p:nvPr/>
        </p:nvSpPr>
        <p:spPr>
          <a:xfrm>
            <a:off x="762000" y="3205429"/>
            <a:ext cx="6096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1 000</a:t>
            </a:r>
            <a:endParaRPr lang="en-US" sz="1200" dirty="0"/>
          </a:p>
        </p:txBody>
      </p:sp>
      <p:sp>
        <p:nvSpPr>
          <p:cNvPr id="10" name="Text 7"/>
          <p:cNvSpPr/>
          <p:nvPr/>
        </p:nvSpPr>
        <p:spPr>
          <a:xfrm>
            <a:off x="762000" y="3561029"/>
            <a:ext cx="6096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750</a:t>
            </a:r>
            <a:endParaRPr lang="en-US" sz="1200" dirty="0"/>
          </a:p>
        </p:txBody>
      </p:sp>
      <p:sp>
        <p:nvSpPr>
          <p:cNvPr id="11" name="Text 8"/>
          <p:cNvSpPr/>
          <p:nvPr/>
        </p:nvSpPr>
        <p:spPr>
          <a:xfrm>
            <a:off x="762000" y="3916629"/>
            <a:ext cx="6096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500</a:t>
            </a:r>
            <a:endParaRPr lang="en-US" sz="1200" dirty="0"/>
          </a:p>
        </p:txBody>
      </p:sp>
      <p:sp>
        <p:nvSpPr>
          <p:cNvPr id="12" name="Text 9"/>
          <p:cNvSpPr/>
          <p:nvPr/>
        </p:nvSpPr>
        <p:spPr>
          <a:xfrm>
            <a:off x="1739900" y="4107129"/>
            <a:ext cx="431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10</a:t>
            </a:r>
            <a:endParaRPr lang="en-US" sz="1200" dirty="0"/>
          </a:p>
        </p:txBody>
      </p:sp>
      <p:sp>
        <p:nvSpPr>
          <p:cNvPr id="13" name="Text 10"/>
          <p:cNvSpPr/>
          <p:nvPr/>
        </p:nvSpPr>
        <p:spPr>
          <a:xfrm>
            <a:off x="3390900" y="4107129"/>
            <a:ext cx="431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40</a:t>
            </a:r>
            <a:endParaRPr lang="en-US" sz="1200" dirty="0"/>
          </a:p>
        </p:txBody>
      </p:sp>
      <p:sp>
        <p:nvSpPr>
          <p:cNvPr id="14" name="Text 11"/>
          <p:cNvSpPr/>
          <p:nvPr/>
        </p:nvSpPr>
        <p:spPr>
          <a:xfrm>
            <a:off x="5041900" y="4107129"/>
            <a:ext cx="431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70</a:t>
            </a:r>
            <a:endParaRPr lang="en-US" sz="1200" dirty="0"/>
          </a:p>
        </p:txBody>
      </p:sp>
      <p:sp>
        <p:nvSpPr>
          <p:cNvPr id="15" name="Text 12"/>
          <p:cNvSpPr/>
          <p:nvPr/>
        </p:nvSpPr>
        <p:spPr>
          <a:xfrm>
            <a:off x="6692900" y="4107129"/>
            <a:ext cx="431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100</a:t>
            </a:r>
            <a:endParaRPr lang="en-US" sz="1200" dirty="0"/>
          </a:p>
        </p:txBody>
      </p:sp>
      <p:sp>
        <p:nvSpPr>
          <p:cNvPr id="16" name="Text 13"/>
          <p:cNvSpPr/>
          <p:nvPr/>
        </p:nvSpPr>
        <p:spPr>
          <a:xfrm>
            <a:off x="1362075" y="4373829"/>
            <a:ext cx="5886450" cy="256514"/>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asse x</a:t>
            </a:r>
            <a:r>
              <a:rPr lang="en-US" sz="1300" dirty="0">
                <a:solidFill>
                  <a:srgbClr val="14213D"/>
                </a:solidFill>
                <a:latin typeface="IBM Plex Sans" pitchFamily="34" charset="0"/>
                <a:ea typeface="IBM Plex Sans" pitchFamily="34" charset="-122"/>
                <a:cs typeface="IBM Plex Sans" pitchFamily="34" charset="-120"/>
              </a:rPr>
              <a:t> — nodi della rete</a:t>
            </a:r>
            <a:endParaRPr lang="en-US" sz="1300" dirty="0"/>
          </a:p>
        </p:txBody>
      </p:sp>
      <p:sp>
        <p:nvSpPr>
          <p:cNvPr id="17" name="Shape 14"/>
          <p:cNvSpPr/>
          <p:nvPr/>
        </p:nvSpPr>
        <p:spPr>
          <a:xfrm>
            <a:off x="7416800" y="1754522"/>
            <a:ext cx="3962400" cy="1316302"/>
          </a:xfrm>
          <a:prstGeom prst="roundRect">
            <a:avLst>
              <a:gd name="adj" fmla="val 6754"/>
            </a:avLst>
          </a:prstGeom>
          <a:solidFill>
            <a:srgbClr val="EEF1F5"/>
          </a:solidFill>
          <a:ln/>
        </p:spPr>
      </p:sp>
      <p:sp>
        <p:nvSpPr>
          <p:cNvPr id="18" name="Text 15"/>
          <p:cNvSpPr/>
          <p:nvPr/>
        </p:nvSpPr>
        <p:spPr>
          <a:xfrm>
            <a:off x="7581900" y="1894222"/>
            <a:ext cx="3741166" cy="283170"/>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C2410C"/>
                </a:solidFill>
                <a:latin typeface="IBM Plex Sans" pitchFamily="34" charset="0"/>
                <a:ea typeface="IBM Plex Sans" pitchFamily="34" charset="-122"/>
                <a:cs typeface="IBM Plex Sans" pitchFamily="34" charset="-120"/>
              </a:rPr>
              <a:t>hardcoded</a:t>
            </a:r>
            <a:endParaRPr lang="en-US" sz="1450" dirty="0"/>
          </a:p>
        </p:txBody>
      </p:sp>
      <p:sp>
        <p:nvSpPr>
          <p:cNvPr id="19" name="Text 16"/>
          <p:cNvSpPr/>
          <p:nvPr/>
        </p:nvSpPr>
        <p:spPr>
          <a:xfrm>
            <a:off x="7581900" y="2202793"/>
            <a:ext cx="3741166"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746 → 1 692 istruzioni</a:t>
            </a:r>
            <a:endParaRPr lang="en-US" sz="1400" dirty="0"/>
          </a:p>
        </p:txBody>
      </p:sp>
      <p:sp>
        <p:nvSpPr>
          <p:cNvPr id="20" name="Text 17"/>
          <p:cNvSpPr/>
          <p:nvPr/>
        </p:nvSpPr>
        <p:spPr>
          <a:xfrm>
            <a:off x="7581900" y="2502495"/>
            <a:ext cx="3741166" cy="454025"/>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4A5568"/>
                </a:solidFill>
                <a:latin typeface="IBM Plex Sans" pitchFamily="34" charset="0"/>
                <a:ea typeface="IBM Plex Sans" pitchFamily="34" charset="-122"/>
                <a:cs typeface="IBM Plex Sans" pitchFamily="34" charset="-120"/>
              </a:rPr>
              <a:t>Lo switch sul one-hot del nodo è srotolato: un caso per nodo.</a:t>
            </a:r>
            <a:endParaRPr lang="en-US" sz="1250" dirty="0"/>
          </a:p>
        </p:txBody>
      </p:sp>
      <p:sp>
        <p:nvSpPr>
          <p:cNvPr id="21" name="Shape 18"/>
          <p:cNvSpPr/>
          <p:nvPr/>
        </p:nvSpPr>
        <p:spPr>
          <a:xfrm>
            <a:off x="7416800" y="3210520"/>
            <a:ext cx="3962400" cy="1316302"/>
          </a:xfrm>
          <a:prstGeom prst="roundRect">
            <a:avLst>
              <a:gd name="adj" fmla="val 6754"/>
            </a:avLst>
          </a:prstGeom>
          <a:solidFill>
            <a:srgbClr val="EEF1F5"/>
          </a:solidFill>
          <a:ln/>
        </p:spPr>
      </p:sp>
      <p:sp>
        <p:nvSpPr>
          <p:cNvPr id="22" name="Text 19"/>
          <p:cNvSpPr/>
          <p:nvPr/>
        </p:nvSpPr>
        <p:spPr>
          <a:xfrm>
            <a:off x="7581900" y="3350220"/>
            <a:ext cx="3741166" cy="283170"/>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2E7D52"/>
                </a:solidFill>
                <a:latin typeface="IBM Plex Sans" pitchFamily="34" charset="0"/>
                <a:ea typeface="IBM Plex Sans" pitchFamily="34" charset="-122"/>
                <a:cs typeface="IBM Plex Sans" pitchFamily="34" charset="-120"/>
              </a:rPr>
              <a:t>p1_static</a:t>
            </a:r>
            <a:endParaRPr lang="en-US" sz="1450" dirty="0"/>
          </a:p>
        </p:txBody>
      </p:sp>
      <p:sp>
        <p:nvSpPr>
          <p:cNvPr id="23" name="Text 20"/>
          <p:cNvSpPr/>
          <p:nvPr/>
        </p:nvSpPr>
        <p:spPr>
          <a:xfrm>
            <a:off x="7581900" y="3658791"/>
            <a:ext cx="3741166"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611 – 640 istruzioni</a:t>
            </a:r>
            <a:endParaRPr lang="en-US" sz="1400" dirty="0"/>
          </a:p>
        </p:txBody>
      </p:sp>
      <p:sp>
        <p:nvSpPr>
          <p:cNvPr id="24" name="Text 21"/>
          <p:cNvSpPr/>
          <p:nvPr/>
        </p:nvSpPr>
        <p:spPr>
          <a:xfrm>
            <a:off x="7581900" y="3958499"/>
            <a:ext cx="3741166" cy="454025"/>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4A5568"/>
                </a:solidFill>
                <a:latin typeface="IBM Plex Sans" pitchFamily="34" charset="0"/>
                <a:ea typeface="IBM Plex Sans" pitchFamily="34" charset="-122"/>
                <a:cs typeface="IBM Plex Sans" pitchFamily="34" charset="-120"/>
              </a:rPr>
              <a:t>Il nodo è noto a compile time: un caso solo, a ogni taglia.</a:t>
            </a:r>
            <a:endParaRPr lang="en-US" sz="1250" dirty="0"/>
          </a:p>
        </p:txBody>
      </p:sp>
      <p:sp>
        <p:nvSpPr>
          <p:cNvPr id="25" name="Text 22"/>
          <p:cNvSpPr/>
          <p:nvPr/>
        </p:nvSpPr>
        <p:spPr>
          <a:xfrm>
            <a:off x="812800" y="6238280"/>
            <a:ext cx="96054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Gli altri sei assi — profondità, larghezza, sparsità, parità di pesi, descrittore, grado del nodo — sono nello stesso sweep · bench_scaling.py</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C2410C"/>
                </a:solidFill>
                <a:latin typeface="JetBrains Mono" pitchFamily="34" charset="0"/>
                <a:ea typeface="JetBrains Mono" pitchFamily="34" charset="-122"/>
                <a:cs typeface="JetBrains Mono" pitchFamily="34" charset="-120"/>
              </a:rPr>
              <a:t>LA SCOPERTA · I VALORI DEI PESI, NON SOLO LA FORMA</a:t>
            </a:r>
            <a:endParaRPr lang="en-US" sz="1300" dirty="0"/>
          </a:p>
        </p:txBody>
      </p:sp>
      <p:sp>
        <p:nvSpPr>
          <p:cNvPr id="3" name="Text 1"/>
          <p:cNvSpPr/>
          <p:nvPr/>
        </p:nvSpPr>
        <p:spPr>
          <a:xfrm>
            <a:off x="812800" y="1107418"/>
            <a:ext cx="10883392" cy="430477"/>
          </a:xfrm>
          <a:prstGeom prst="rect">
            <a:avLst/>
          </a:prstGeom>
          <a:noFill/>
          <a:ln/>
        </p:spPr>
        <p:txBody>
          <a:bodyPr wrap="square" lIns="0" tIns="0" rIns="0" bIns="0" rtlCol="0" anchor="t">
            <a:normAutofit/>
          </a:bodyPr>
          <a:lstStyle/>
          <a:p>
            <a:pPr algn="l" indent="0" marL="0">
              <a:lnSpc>
                <a:spcPts val="3190"/>
              </a:lnSpc>
              <a:buNone/>
            </a:pPr>
            <a:r>
              <a:rPr lang="en-US" sz="2900" b="1" dirty="0">
                <a:solidFill>
                  <a:srgbClr val="14213D"/>
                </a:solidFill>
                <a:latin typeface="IBM Plex Sans" pitchFamily="34" charset="0"/>
                <a:ea typeface="IBM Plex Sans" pitchFamily="34" charset="-122"/>
                <a:cs typeface="IBM Plex Sans" pitchFamily="34" charset="-120"/>
              </a:rPr>
              <a:t>Pesi a zero: una versione dimagrisce, due non si accorgono</a:t>
            </a:r>
            <a:endParaRPr lang="en-US" sz="2900" dirty="0"/>
          </a:p>
        </p:txBody>
      </p:sp>
      <p:sp>
        <p:nvSpPr>
          <p:cNvPr id="4" name="Shape 2"/>
          <p:cNvSpPr/>
          <p:nvPr/>
        </p:nvSpPr>
        <p:spPr>
          <a:xfrm>
            <a:off x="815975" y="1851757"/>
            <a:ext cx="5708650" cy="2961217"/>
          </a:xfrm>
          <a:prstGeom prst="roundRect">
            <a:avLst>
              <a:gd name="adj" fmla="val 3324"/>
            </a:avLst>
          </a:prstGeom>
          <a:solidFill>
            <a:srgbClr val="FFFFFF"/>
          </a:solidFill>
          <a:ln w="6350">
            <a:solidFill>
              <a:srgbClr val="D7DEE7"/>
            </a:solidFill>
            <a:prstDash val="solid"/>
          </a:ln>
        </p:spPr>
      </p:sp>
      <p:pic>
        <p:nvPicPr>
          <p:cNvPr id="5" name="Image 0" descr="Istruzioni del programma, scala logaritmica, al crescere della frazione di pesi uguali a zero: le due curve specializzate scendono, le due generiche restano piatte">    </p:cNvPr>
          <p:cNvPicPr>
            <a:picLocks noChangeAspect="1"/>
          </p:cNvPicPr>
          <p:nvPr/>
        </p:nvPicPr>
        <p:blipFill>
          <a:blip r:embed="rId1"/>
          <a:srcRect l="-14585" r="-14585" t="0" b="0"/>
          <a:stretch/>
        </p:blipFill>
        <p:spPr>
          <a:xfrm>
            <a:off x="931333" y="1967111"/>
            <a:ext cx="5486400" cy="2730500"/>
          </a:xfrm>
          <a:prstGeom prst="rect">
            <a:avLst/>
          </a:prstGeom>
        </p:spPr>
      </p:pic>
      <p:sp>
        <p:nvSpPr>
          <p:cNvPr id="6" name="Shape 3"/>
          <p:cNvSpPr/>
          <p:nvPr/>
        </p:nvSpPr>
        <p:spPr>
          <a:xfrm>
            <a:off x="6705600" y="1677591"/>
            <a:ext cx="4673600" cy="972145"/>
          </a:xfrm>
          <a:prstGeom prst="roundRect">
            <a:avLst>
              <a:gd name="adj" fmla="val 10451"/>
            </a:avLst>
          </a:prstGeom>
          <a:solidFill>
            <a:srgbClr val="EEF1F5"/>
          </a:solidFill>
          <a:ln/>
        </p:spPr>
      </p:sp>
      <p:sp>
        <p:nvSpPr>
          <p:cNvPr id="7" name="Text 4"/>
          <p:cNvSpPr/>
          <p:nvPr/>
        </p:nvSpPr>
        <p:spPr>
          <a:xfrm>
            <a:off x="6870700" y="1817291"/>
            <a:ext cx="447370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E7D52"/>
                </a:solidFill>
                <a:latin typeface="IBM Plex Sans" pitchFamily="34" charset="0"/>
                <a:ea typeface="IBM Plex Sans" pitchFamily="34" charset="-122"/>
                <a:cs typeface="IBM Plex Sans" pitchFamily="34" charset="-120"/>
              </a:rPr>
              <a:t>Specializzate: crollano</a:t>
            </a:r>
            <a:endParaRPr lang="en-US" sz="1400" dirty="0"/>
          </a:p>
        </p:txBody>
      </p:sp>
      <p:sp>
        <p:nvSpPr>
          <p:cNvPr id="8" name="Text 5"/>
          <p:cNvSpPr/>
          <p:nvPr/>
        </p:nvSpPr>
        <p:spPr>
          <a:xfrm>
            <a:off x="6870700" y="2081411"/>
            <a:ext cx="4473702" cy="454025"/>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4A5568"/>
                </a:solidFill>
                <a:latin typeface="IBM Plex Sans" pitchFamily="34" charset="0"/>
                <a:ea typeface="IBM Plex Sans" pitchFamily="34" charset="-122"/>
                <a:cs typeface="IBM Plex Sans" pitchFamily="34" charset="-120"/>
              </a:rPr>
              <a:t>Da 0 a 90 % di pesi nulli: </a:t>
            </a:r>
            <a:r>
              <a:rPr lang="en-US" sz="1250" b="1" dirty="0">
                <a:solidFill>
                  <a:srgbClr val="4A5568"/>
                </a:solidFill>
                <a:latin typeface="IBM Plex Sans" pitchFamily="34" charset="0"/>
                <a:ea typeface="IBM Plex Sans" pitchFamily="34" charset="-122"/>
                <a:cs typeface="IBM Plex Sans" pitchFamily="34" charset="-120"/>
              </a:rPr>
              <a:t>1 071 → 224</a:t>
            </a:r>
            <a:r>
              <a:rPr lang="en-US" sz="1250" dirty="0">
                <a:solidFill>
                  <a:srgbClr val="4A5568"/>
                </a:solidFill>
                <a:latin typeface="IBM Plex Sans" pitchFamily="34" charset="0"/>
                <a:ea typeface="IBM Plex Sans" pitchFamily="34" charset="-122"/>
                <a:cs typeface="IBM Plex Sans" pitchFamily="34" charset="-120"/>
              </a:rPr>
              <a:t> istruzioni, cioè </a:t>
            </a:r>
            <a:r>
              <a:rPr lang="en-US" sz="1250" b="1" dirty="0">
                <a:solidFill>
                  <a:srgbClr val="4A5568"/>
                </a:solidFill>
                <a:latin typeface="IBM Plex Sans" pitchFamily="34" charset="0"/>
                <a:ea typeface="IBM Plex Sans" pitchFamily="34" charset="-122"/>
                <a:cs typeface="IBM Plex Sans" pitchFamily="34" charset="-120"/>
              </a:rPr>
              <a:t>4,8×</a:t>
            </a:r>
            <a:r>
              <a:rPr lang="en-US" sz="1250" dirty="0">
                <a:solidFill>
                  <a:srgbClr val="4A5568"/>
                </a:solidFill>
                <a:latin typeface="IBM Plex Sans" pitchFamily="34" charset="0"/>
                <a:ea typeface="IBM Plex Sans" pitchFamily="34" charset="-122"/>
                <a:cs typeface="IBM Plex Sans" pitchFamily="34" charset="-120"/>
              </a:rPr>
              <a:t> più piccolo. E qui il tempo </a:t>
            </a:r>
            <a:r>
              <a:rPr lang="en-US" sz="1250" b="1" dirty="0">
                <a:solidFill>
                  <a:srgbClr val="4A5568"/>
                </a:solidFill>
                <a:latin typeface="IBM Plex Sans" pitchFamily="34" charset="0"/>
                <a:ea typeface="IBM Plex Sans" pitchFamily="34" charset="-122"/>
                <a:cs typeface="IBM Plex Sans" pitchFamily="34" charset="-120"/>
              </a:rPr>
              <a:t>segue</a:t>
            </a:r>
            <a:r>
              <a:rPr lang="en-US" sz="1250" dirty="0">
                <a:solidFill>
                  <a:srgbClr val="4A5568"/>
                </a:solidFill>
                <a:latin typeface="IBM Plex Sans" pitchFamily="34" charset="0"/>
                <a:ea typeface="IBM Plex Sans" pitchFamily="34" charset="-122"/>
                <a:cs typeface="IBM Plex Sans" pitchFamily="34" charset="-120"/>
              </a:rPr>
              <a:t>: 68 → 40 ns.</a:t>
            </a:r>
            <a:endParaRPr lang="en-US" sz="1250" dirty="0"/>
          </a:p>
        </p:txBody>
      </p:sp>
      <p:sp>
        <p:nvSpPr>
          <p:cNvPr id="9" name="Shape 6"/>
          <p:cNvSpPr/>
          <p:nvPr/>
        </p:nvSpPr>
        <p:spPr>
          <a:xfrm>
            <a:off x="6705600" y="2764036"/>
            <a:ext cx="4673600" cy="1186458"/>
          </a:xfrm>
          <a:prstGeom prst="roundRect">
            <a:avLst>
              <a:gd name="adj" fmla="val 8563"/>
            </a:avLst>
          </a:prstGeom>
          <a:solidFill>
            <a:srgbClr val="EEF1F5"/>
          </a:solidFill>
          <a:ln/>
        </p:spPr>
      </p:sp>
      <p:sp>
        <p:nvSpPr>
          <p:cNvPr id="10" name="Text 7"/>
          <p:cNvSpPr/>
          <p:nvPr/>
        </p:nvSpPr>
        <p:spPr>
          <a:xfrm>
            <a:off x="6870700" y="2903736"/>
            <a:ext cx="447370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C2410C"/>
                </a:solidFill>
                <a:latin typeface="IBM Plex Sans" pitchFamily="34" charset="0"/>
                <a:ea typeface="IBM Plex Sans" pitchFamily="34" charset="-122"/>
                <a:cs typeface="IBM Plex Sans" pitchFamily="34" charset="-120"/>
              </a:rPr>
              <a:t>Generiche: immobili</a:t>
            </a:r>
            <a:endParaRPr lang="en-US" sz="1400" dirty="0"/>
          </a:p>
        </p:txBody>
      </p:sp>
      <p:sp>
        <p:nvSpPr>
          <p:cNvPr id="11" name="Text 8"/>
          <p:cNvSpPr/>
          <p:nvPr/>
        </p:nvSpPr>
        <p:spPr>
          <a:xfrm>
            <a:off x="6870700" y="3167856"/>
            <a:ext cx="4473702" cy="668338"/>
          </a:xfrm>
          <a:prstGeom prst="rect">
            <a:avLst/>
          </a:prstGeom>
          <a:noFill/>
          <a:ln/>
        </p:spPr>
        <p:txBody>
          <a:bodyPr wrap="square" lIns="0" tIns="0" rIns="0" bIns="0" rtlCol="0" anchor="t">
            <a:normAutofit/>
          </a:bodyPr>
          <a:lstStyle/>
          <a:p>
            <a:pPr algn="l" indent="0" marL="0">
              <a:lnSpc>
                <a:spcPts val="1688"/>
              </a:lnSpc>
              <a:buNone/>
            </a:pPr>
            <a:r>
              <a:rPr lang="en-US" sz="1250" b="1" dirty="0">
                <a:solidFill>
                  <a:srgbClr val="4A5568"/>
                </a:solidFill>
                <a:latin typeface="IBM Plex Sans" pitchFamily="34" charset="0"/>
                <a:ea typeface="IBM Plex Sans" pitchFamily="34" charset="-122"/>
                <a:cs typeface="IBM Plex Sans" pitchFamily="34" charset="-120"/>
              </a:rPr>
              <a:t>14 985</a:t>
            </a:r>
            <a:r>
              <a:rPr lang="en-US" sz="1250" dirty="0">
                <a:solidFill>
                  <a:srgbClr val="4A5568"/>
                </a:solidFill>
                <a:latin typeface="IBM Plex Sans" pitchFamily="34" charset="0"/>
                <a:ea typeface="IBM Plex Sans" pitchFamily="34" charset="-122"/>
                <a:cs typeface="IBM Plex Sans" pitchFamily="34" charset="-120"/>
              </a:rPr>
              <a:t> e </a:t>
            </a:r>
            <a:r>
              <a:rPr lang="en-US" sz="1250" b="1" dirty="0">
                <a:solidFill>
                  <a:srgbClr val="4A5568"/>
                </a:solidFill>
                <a:latin typeface="IBM Plex Sans" pitchFamily="34" charset="0"/>
                <a:ea typeface="IBM Plex Sans" pitchFamily="34" charset="-122"/>
                <a:cs typeface="IBM Plex Sans" pitchFamily="34" charset="-120"/>
              </a:rPr>
              <a:t>12 349</a:t>
            </a:r>
            <a:r>
              <a:rPr lang="en-US" sz="1250" dirty="0">
                <a:solidFill>
                  <a:srgbClr val="4A5568"/>
                </a:solidFill>
                <a:latin typeface="IBM Plex Sans" pitchFamily="34" charset="0"/>
                <a:ea typeface="IBM Plex Sans" pitchFamily="34" charset="-122"/>
                <a:cs typeface="IBM Plex Sans" pitchFamily="34" charset="-120"/>
              </a:rPr>
              <a:t> istruzioni a </a:t>
            </a:r>
            <a:r>
              <a:rPr lang="en-US" sz="1250" i="1" dirty="0">
                <a:solidFill>
                  <a:srgbClr val="4A5568"/>
                </a:solidFill>
                <a:latin typeface="IBM Plex Sans" pitchFamily="34" charset="0"/>
                <a:ea typeface="IBM Plex Sans" pitchFamily="34" charset="-122"/>
                <a:cs typeface="IBM Plex Sans" pitchFamily="34" charset="-120"/>
              </a:rPr>
              <a:t>ogni</a:t>
            </a:r>
            <a:r>
              <a:rPr lang="en-US" sz="1250" dirty="0">
                <a:solidFill>
                  <a:srgbClr val="4A5568"/>
                </a:solidFill>
                <a:latin typeface="IBM Plex Sans" pitchFamily="34" charset="0"/>
                <a:ea typeface="IBM Plex Sans" pitchFamily="34" charset="-122"/>
                <a:cs typeface="IBM Plex Sans" pitchFamily="34" charset="-120"/>
              </a:rPr>
              <a:t> livello di sparsità, e la latenza ferma (274→268 e 432→427 ns). Uno zero in tabella è un byte come un altro.</a:t>
            </a:r>
            <a:endParaRPr lang="en-US" sz="1250" dirty="0"/>
          </a:p>
        </p:txBody>
      </p:sp>
      <p:sp>
        <p:nvSpPr>
          <p:cNvPr id="12" name="Shape 9"/>
          <p:cNvSpPr/>
          <p:nvPr/>
        </p:nvSpPr>
        <p:spPr>
          <a:xfrm>
            <a:off x="6705600" y="4064794"/>
            <a:ext cx="4673600" cy="922338"/>
          </a:xfrm>
          <a:prstGeom prst="roundRect">
            <a:avLst>
              <a:gd name="adj" fmla="val 11015"/>
            </a:avLst>
          </a:prstGeom>
          <a:solidFill>
            <a:srgbClr val="14213D"/>
          </a:solidFill>
          <a:ln/>
        </p:spPr>
      </p:sp>
      <p:sp>
        <p:nvSpPr>
          <p:cNvPr id="13" name="Text 10"/>
          <p:cNvSpPr/>
          <p:nvPr/>
        </p:nvSpPr>
        <p:spPr>
          <a:xfrm>
            <a:off x="6870700" y="4204494"/>
            <a:ext cx="4473702" cy="668338"/>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BFD8D5"/>
                </a:solidFill>
                <a:latin typeface="IBM Plex Sans" pitchFamily="34" charset="0"/>
                <a:ea typeface="IBM Plex Sans" pitchFamily="34" charset="-122"/>
                <a:cs typeface="IBM Plex Sans" pitchFamily="34" charset="-120"/>
              </a:rPr>
              <a:t>Il motivo: nelle specializzate i pesi sono </a:t>
            </a:r>
            <a:r>
              <a:rPr lang="en-US" sz="1250" b="1" dirty="0">
                <a:solidFill>
                  <a:srgbClr val="BFD8D5"/>
                </a:solidFill>
                <a:latin typeface="IBM Plex Sans" pitchFamily="34" charset="0"/>
                <a:ea typeface="IBM Plex Sans" pitchFamily="34" charset="-122"/>
                <a:cs typeface="IBM Plex Sans" pitchFamily="34" charset="-120"/>
              </a:rPr>
              <a:t>scritti nel codice</a:t>
            </a:r>
            <a:r>
              <a:rPr lang="en-US" sz="1250" dirty="0">
                <a:solidFill>
                  <a:srgbClr val="BFD8D5"/>
                </a:solidFill>
                <a:latin typeface="IBM Plex Sans" pitchFamily="34" charset="0"/>
                <a:ea typeface="IBM Plex Sans" pitchFamily="34" charset="-122"/>
                <a:cs typeface="IBM Plex Sans" pitchFamily="34" charset="-120"/>
              </a:rPr>
              <a:t>, e il compilatore cancella le moltiplicazioni per zero. Nelle generiche non li vede nemmeno.</a:t>
            </a:r>
            <a:endParaRPr lang="en-US" sz="1250" dirty="0"/>
          </a:p>
        </p:txBody>
      </p:sp>
      <p:sp>
        <p:nvSpPr>
          <p:cNvPr id="14" name="Text 11"/>
          <p:cNvSpPr/>
          <p:nvPr/>
        </p:nvSpPr>
        <p:spPr>
          <a:xfrm>
            <a:off x="812800" y="6238280"/>
            <a:ext cx="623214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«I pesi sono dentro il programma» smette di essere una descrizione e diventa un numero</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EF1F5"/>
        </a:solidFill>
      </p:bgPr>
    </p:bg>
    <p:spTree>
      <p:nvGrpSpPr>
        <p:cNvPr id="1" name=""/>
        <p:cNvGrpSpPr/>
        <p:nvPr/>
      </p:nvGrpSpPr>
      <p:grpSpPr>
        <a:xfrm>
          <a:off x="0" y="0"/>
          <a:ext cx="0" cy="0"/>
          <a:chOff x="0" y="0"/>
          <a:chExt cx="0" cy="0"/>
        </a:xfrm>
      </p:grpSpPr>
      <p:sp>
        <p:nvSpPr>
          <p:cNvPr id="2" name="Text 0"/>
          <p:cNvSpPr/>
          <p:nvPr/>
        </p:nvSpPr>
        <p:spPr>
          <a:xfrm>
            <a:off x="812800" y="812800"/>
            <a:ext cx="10883392" cy="208822"/>
          </a:xfrm>
          <a:prstGeom prst="rect">
            <a:avLst/>
          </a:prstGeom>
          <a:noFill/>
          <a:ln/>
        </p:spPr>
        <p:txBody>
          <a:bodyPr wrap="square" lIns="0" tIns="0" rIns="0" bIns="0" rtlCol="0" anchor="t">
            <a:normAutofit/>
          </a:bodyPr>
          <a:lstStyle/>
          <a:p>
            <a:pPr algn="l" indent="0" marL="0">
              <a:lnSpc>
                <a:spcPts val="1473"/>
              </a:lnSpc>
              <a:buNone/>
            </a:pPr>
            <a:r>
              <a:rPr lang="en-US" sz="1052" spc="100" kern="0" dirty="0">
                <a:solidFill>
                  <a:srgbClr val="C2410C"/>
                </a:solidFill>
                <a:latin typeface="JetBrains Mono" pitchFamily="34" charset="0"/>
                <a:ea typeface="JetBrains Mono" pitchFamily="34" charset="-122"/>
                <a:cs typeface="JetBrains Mono" pitchFamily="34" charset="-120"/>
              </a:rPr>
              <a:t>LARGA CONTRO PROFONDA</a:t>
            </a:r>
            <a:endParaRPr lang="en-US" sz="1052" dirty="0"/>
          </a:p>
        </p:txBody>
      </p:sp>
      <p:sp>
        <p:nvSpPr>
          <p:cNvPr id="3" name="Text 1"/>
          <p:cNvSpPr/>
          <p:nvPr/>
        </p:nvSpPr>
        <p:spPr>
          <a:xfrm>
            <a:off x="812800" y="1059724"/>
            <a:ext cx="10883392" cy="358180"/>
          </a:xfrm>
          <a:prstGeom prst="rect">
            <a:avLst/>
          </a:prstGeom>
          <a:noFill/>
          <a:ln/>
        </p:spPr>
        <p:txBody>
          <a:bodyPr wrap="square" lIns="0" tIns="0" rIns="0" bIns="0" rtlCol="0" anchor="t">
            <a:normAutofit/>
          </a:bodyPr>
          <a:lstStyle/>
          <a:p>
            <a:pPr algn="l" indent="0" marL="0">
              <a:lnSpc>
                <a:spcPts val="2619"/>
              </a:lnSpc>
              <a:buNone/>
            </a:pPr>
            <a:r>
              <a:rPr lang="en-US" sz="2381" b="1" dirty="0">
                <a:solidFill>
                  <a:srgbClr val="14213D"/>
                </a:solidFill>
                <a:latin typeface="IBM Plex Sans" pitchFamily="34" charset="0"/>
                <a:ea typeface="IBM Plex Sans" pitchFamily="34" charset="-122"/>
                <a:cs typeface="IBM Plex Sans" pitchFamily="34" charset="-120"/>
              </a:rPr>
              <a:t>A parametri fermi, la profondità costa</a:t>
            </a:r>
            <a:endParaRPr lang="en-US" sz="2381" dirty="0"/>
          </a:p>
        </p:txBody>
      </p:sp>
      <p:sp>
        <p:nvSpPr>
          <p:cNvPr id="4" name="Shape 2"/>
          <p:cNvSpPr/>
          <p:nvPr/>
        </p:nvSpPr>
        <p:spPr>
          <a:xfrm>
            <a:off x="815975" y="1560779"/>
            <a:ext cx="10560050" cy="1612437"/>
          </a:xfrm>
          <a:prstGeom prst="roundRect">
            <a:avLst>
              <a:gd name="adj" fmla="val 6104"/>
            </a:avLst>
          </a:prstGeom>
          <a:solidFill>
            <a:srgbClr val="FBFBF8"/>
          </a:solidFill>
          <a:ln w="6350">
            <a:solidFill>
              <a:srgbClr val="D7DEE7"/>
            </a:solidFill>
            <a:prstDash val="solid"/>
          </a:ln>
        </p:spPr>
      </p:sp>
      <p:sp>
        <p:nvSpPr>
          <p:cNvPr id="5" name="Text 3"/>
          <p:cNvSpPr/>
          <p:nvPr/>
        </p:nvSpPr>
        <p:spPr>
          <a:xfrm>
            <a:off x="2353469" y="1726940"/>
            <a:ext cx="7709614" cy="215503"/>
          </a:xfrm>
          <a:prstGeom prst="rect">
            <a:avLst/>
          </a:prstGeom>
          <a:noFill/>
          <a:ln/>
        </p:spPr>
        <p:txBody>
          <a:bodyPr wrap="square" lIns="0" tIns="0" rIns="0" bIns="0" rtlCol="0" anchor="t">
            <a:normAutofit/>
          </a:bodyPr>
          <a:lstStyle/>
          <a:p>
            <a:pPr algn="l" indent="0" marL="0">
              <a:lnSpc>
                <a:spcPts val="1524"/>
              </a:lnSpc>
              <a:buNone/>
            </a:pPr>
            <a:r>
              <a:rPr lang="en-US" sz="1088" dirty="0">
                <a:solidFill>
                  <a:srgbClr val="4A5568"/>
                </a:solidFill>
                <a:latin typeface="IBM Plex Sans" pitchFamily="34" charset="0"/>
                <a:ea typeface="IBM Plex Sans" pitchFamily="34" charset="-122"/>
                <a:cs typeface="IBM Plex Sans" pitchFamily="34" charset="-120"/>
              </a:rPr>
              <a:t>Il confronto tiene fermo </a:t>
            </a:r>
            <a:r>
              <a:rPr lang="en-US" sz="1088" b="1" dirty="0">
                <a:solidFill>
                  <a:srgbClr val="4A5568"/>
                </a:solidFill>
                <a:latin typeface="IBM Plex Sans" pitchFamily="34" charset="0"/>
                <a:ea typeface="IBM Plex Sans" pitchFamily="34" charset="-122"/>
                <a:cs typeface="IBM Plex Sans" pitchFamily="34" charset="-120"/>
              </a:rPr>
              <a:t>il numero di pesi</a:t>
            </a:r>
            <a:r>
              <a:rPr lang="en-US" sz="1088" dirty="0">
                <a:solidFill>
                  <a:srgbClr val="4A5568"/>
                </a:solidFill>
                <a:latin typeface="IBM Plex Sans" pitchFamily="34" charset="0"/>
                <a:ea typeface="IBM Plex Sans" pitchFamily="34" charset="-122"/>
                <a:cs typeface="IBM Plex Sans" pitchFamily="34" charset="-120"/>
              </a:rPr>
              <a:t> e cambia solo come sono disposti: pochi strati larghi, oppure molti strati stretti.</a:t>
            </a:r>
            <a:endParaRPr lang="en-US" sz="1088" dirty="0"/>
          </a:p>
        </p:txBody>
      </p:sp>
      <p:pic>
        <p:nvPicPr>
          <p:cNvPr id="6" name="Image 0" descr="P uguale la sommatoria da elle uguale 1 a L di n elle meno uno per n elle piu' n elle, tenuto costante">    </p:cNvPr>
          <p:cNvPicPr>
            <a:picLocks noChangeAspect="1"/>
          </p:cNvPicPr>
          <p:nvPr/>
        </p:nvPicPr>
        <p:blipFill>
          <a:blip r:embed="rId1"/>
          <a:srcRect l="-13037" r="-13037" t="0" b="0"/>
          <a:stretch/>
        </p:blipFill>
        <p:spPr>
          <a:xfrm>
            <a:off x="2349500" y="1993243"/>
            <a:ext cx="7493000" cy="754526"/>
          </a:xfrm>
          <a:prstGeom prst="rect">
            <a:avLst/>
          </a:prstGeom>
        </p:spPr>
      </p:pic>
      <p:sp>
        <p:nvSpPr>
          <p:cNvPr id="7" name="Text 4"/>
          <p:cNvSpPr/>
          <p:nvPr/>
        </p:nvSpPr>
        <p:spPr>
          <a:xfrm>
            <a:off x="3962598" y="2823964"/>
            <a:ext cx="1668396" cy="20849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568"/>
                </a:solidFill>
                <a:latin typeface="IBM Plex Sans" pitchFamily="34" charset="0"/>
                <a:ea typeface="IBM Plex Sans" pitchFamily="34" charset="-122"/>
                <a:cs typeface="IBM Plex Sans" pitchFamily="34" charset="-120"/>
              </a:rPr>
              <a:t>larga</a:t>
            </a:r>
            <a:r>
              <a:rPr lang="en-US" sz="1300" dirty="0">
                <a:solidFill>
                  <a:srgbClr val="4A5568"/>
                </a:solidFill>
                <a:latin typeface="IBM Plex Sans" pitchFamily="34" charset="0"/>
                <a:ea typeface="IBM Plex Sans" pitchFamily="34" charset="-122"/>
                <a:cs typeface="IBM Plex Sans" pitchFamily="34" charset="-120"/>
              </a:rPr>
              <a:t>: n₁ grande, L = 2</a:t>
            </a:r>
            <a:endParaRPr lang="en-US" sz="1300" dirty="0"/>
          </a:p>
        </p:txBody>
      </p:sp>
      <p:sp>
        <p:nvSpPr>
          <p:cNvPr id="8" name="Text 5"/>
          <p:cNvSpPr/>
          <p:nvPr/>
        </p:nvSpPr>
        <p:spPr>
          <a:xfrm>
            <a:off x="5986595" y="2823964"/>
            <a:ext cx="2310023" cy="20849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568"/>
                </a:solidFill>
                <a:latin typeface="IBM Plex Sans" pitchFamily="34" charset="0"/>
                <a:ea typeface="IBM Plex Sans" pitchFamily="34" charset="-122"/>
                <a:cs typeface="IBM Plex Sans" pitchFamily="34" charset="-120"/>
              </a:rPr>
              <a:t>profonda</a:t>
            </a:r>
            <a:r>
              <a:rPr lang="en-US" sz="1300" dirty="0">
                <a:solidFill>
                  <a:srgbClr val="4A5568"/>
                </a:solidFill>
                <a:latin typeface="IBM Plex Sans" pitchFamily="34" charset="0"/>
                <a:ea typeface="IBM Plex Sans" pitchFamily="34" charset="-122"/>
                <a:cs typeface="IBM Plex Sans" pitchFamily="34" charset="-120"/>
              </a:rPr>
              <a:t>: nℓ piccolo, L grande</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12800" y="3341489"/>
          <a:ext cx="10566400" cy="1676334"/>
        </p:xfrm>
        <a:graphic>
          <a:graphicData uri="http://schemas.openxmlformats.org/drawingml/2006/table">
            <a:tbl>
              <a:tblPr/>
              <a:tblGrid>
                <a:gridCol w="3169920"/>
                <a:gridCol w="2324608"/>
                <a:gridCol w="2324608"/>
                <a:gridCol w="2747264"/>
              </a:tblGrid>
              <a:tr h="335227">
                <a:tc>
                  <a:txBody>
                    <a:bodyPr/>
                    <a:lstStyle/>
                    <a:p>
                      <a:pPr indent="0" marL="0">
                        <a:lnSpc>
                          <a:spcPts val="1693"/>
                        </a:lnSpc>
                        <a:buNone/>
                      </a:pPr>
                      <a:r>
                        <a:rPr lang="en-US" sz="1209" b="1" dirty="0">
                          <a:solidFill>
                            <a:srgbClr val="FBFBF8"/>
                          </a:solidFill>
                          <a:latin typeface="IBM Plex Sans" pitchFamily="34" charset="0"/>
                          <a:ea typeface="IBM Plex Sans" pitchFamily="34" charset="-122"/>
                          <a:cs typeface="IBM Plex Sans" pitchFamily="34" charset="-120"/>
                        </a:rPr>
                        <a:t>Metrica</a:t>
                      </a:r>
                      <a:endParaRPr lang="en-US" sz="1209" dirty="0">
                        <a:latin typeface="IBM Plex Sans" charset="0"/>
                        <a:ea typeface="IBM Plex Sans" charset="0"/>
                        <a:cs typeface="IBM Plex Sans" charset="0"/>
                      </a:endParaRPr>
                    </a:p>
                  </a:txBody>
                  <a:tcPr marL="53757" marR="53757" marT="53757" marB="53757"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14213D"/>
                    </a:solidFill>
                  </a:tcPr>
                </a:tc>
                <a:tc>
                  <a:txBody>
                    <a:bodyPr/>
                    <a:lstStyle/>
                    <a:p>
                      <a:pPr algn="r" indent="0" marL="0">
                        <a:lnSpc>
                          <a:spcPts val="1693"/>
                        </a:lnSpc>
                        <a:buNone/>
                      </a:pPr>
                      <a:r>
                        <a:rPr lang="en-US" sz="1209" b="1" dirty="0">
                          <a:solidFill>
                            <a:srgbClr val="FBFBF8"/>
                          </a:solidFill>
                          <a:latin typeface="IBM Plex Sans" pitchFamily="34" charset="0"/>
                          <a:ea typeface="IBM Plex Sans" pitchFamily="34" charset="-122"/>
                          <a:cs typeface="IBM Plex Sans" pitchFamily="34" charset="-120"/>
                        </a:rPr>
                        <a:t>P2 template</a:t>
                      </a:r>
                      <a:endParaRPr lang="en-US" sz="1209" dirty="0">
                        <a:latin typeface="IBM Plex Sans" charset="0"/>
                        <a:ea typeface="IBM Plex Sans" charset="0"/>
                        <a:cs typeface="IBM Plex Sans" charset="0"/>
                      </a:endParaRPr>
                    </a:p>
                  </a:txBody>
                  <a:tcPr marL="53757" marR="53757" marT="53757" marB="53757"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14213D"/>
                    </a:solidFill>
                  </a:tcPr>
                </a:tc>
                <a:tc>
                  <a:txBody>
                    <a:bodyPr/>
                    <a:lstStyle/>
                    <a:p>
                      <a:pPr algn="r" indent="0" marL="0">
                        <a:lnSpc>
                          <a:spcPts val="1693"/>
                        </a:lnSpc>
                        <a:buNone/>
                      </a:pPr>
                      <a:r>
                        <a:rPr lang="en-US" sz="1209" b="1" dirty="0">
                          <a:solidFill>
                            <a:srgbClr val="FBFBF8"/>
                          </a:solidFill>
                          <a:latin typeface="IBM Plex Sans" pitchFamily="34" charset="0"/>
                          <a:ea typeface="IBM Plex Sans" pitchFamily="34" charset="-122"/>
                          <a:cs typeface="IBM Plex Sans" pitchFamily="34" charset="-120"/>
                        </a:rPr>
                        <a:t>P3 modular</a:t>
                      </a:r>
                      <a:endParaRPr lang="en-US" sz="1209" dirty="0">
                        <a:latin typeface="IBM Plex Sans" charset="0"/>
                        <a:ea typeface="IBM Plex Sans" charset="0"/>
                        <a:cs typeface="IBM Plex Sans" charset="0"/>
                      </a:endParaRPr>
                    </a:p>
                  </a:txBody>
                  <a:tcPr marL="53757" marR="53757" marT="53757" marB="53757"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14213D"/>
                    </a:solidFill>
                  </a:tcPr>
                </a:tc>
                <a:tc>
                  <a:txBody>
                    <a:bodyPr/>
                    <a:lstStyle/>
                    <a:p>
                      <a:pPr algn="r" indent="0" marL="0">
                        <a:lnSpc>
                          <a:spcPts val="1693"/>
                        </a:lnSpc>
                        <a:buNone/>
                      </a:pPr>
                      <a:r>
                        <a:rPr lang="en-US" sz="1209" b="1" dirty="0">
                          <a:solidFill>
                            <a:srgbClr val="FBFBF8"/>
                          </a:solidFill>
                          <a:latin typeface="IBM Plex Sans" pitchFamily="34" charset="0"/>
                          <a:ea typeface="IBM Plex Sans" pitchFamily="34" charset="-122"/>
                          <a:cs typeface="IBM Plex Sans" pitchFamily="34" charset="-120"/>
                        </a:rPr>
                        <a:t>Differenza</a:t>
                      </a:r>
                      <a:endParaRPr lang="en-US" sz="1209" dirty="0">
                        <a:latin typeface="IBM Plex Sans" charset="0"/>
                        <a:ea typeface="IBM Plex Sans" charset="0"/>
                        <a:cs typeface="IBM Plex Sans" charset="0"/>
                      </a:endParaRPr>
                    </a:p>
                  </a:txBody>
                  <a:tcPr marL="53757" marR="53757" marT="53757" marB="53757"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14213D"/>
                    </a:solidFill>
                  </a:tcPr>
                </a:tc>
              </a:tr>
              <a:tr h="335227">
                <a:tc>
                  <a:txBody>
                    <a:bodyPr/>
                    <a:lstStyle/>
                    <a:p>
                      <a:pPr indent="0" marL="0">
                        <a:lnSpc>
                          <a:spcPts val="1693"/>
                        </a:lnSpc>
                        <a:buNone/>
                      </a:pPr>
                      <a:r>
                        <a:rPr lang="en-US" sz="1209" dirty="0">
                          <a:solidFill>
                            <a:srgbClr val="14213D"/>
                          </a:solidFill>
                          <a:latin typeface="IBM Plex Sans" pitchFamily="34" charset="0"/>
                          <a:ea typeface="IBM Plex Sans" pitchFamily="34" charset="-122"/>
                          <a:cs typeface="IBM Plex Sans" pitchFamily="34" charset="-120"/>
                        </a:rPr>
                        <a:t>Istruzioni del programma</a:t>
                      </a:r>
                      <a:endParaRPr lang="en-US" sz="1209" dirty="0">
                        <a:latin typeface="IBM Plex Sans" charset="0"/>
                        <a:ea typeface="IBM Plex Sans" charset="0"/>
                        <a:cs typeface="IBM Plex Sans" charset="0"/>
                      </a:endParaRPr>
                    </a:p>
                  </a:txBody>
                  <a:tcPr marL="53757" marR="53757" marT="53757" marB="53757"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c>
                  <a:txBody>
                    <a:bodyPr/>
                    <a:lstStyle/>
                    <a:p>
                      <a:pPr algn="r" indent="0" marL="0">
                        <a:lnSpc>
                          <a:spcPts val="1693"/>
                        </a:lnSpc>
                        <a:buNone/>
                      </a:pPr>
                      <a:r>
                        <a:rPr lang="en-US" sz="1209" dirty="0">
                          <a:solidFill>
                            <a:srgbClr val="14213D"/>
                          </a:solidFill>
                          <a:latin typeface="IBM Plex Sans" pitchFamily="34" charset="0"/>
                          <a:ea typeface="IBM Plex Sans" pitchFamily="34" charset="-122"/>
                          <a:cs typeface="IBM Plex Sans" pitchFamily="34" charset="-120"/>
                        </a:rPr>
                        <a:t>14 985</a:t>
                      </a:r>
                      <a:endParaRPr lang="en-US" sz="1209" dirty="0">
                        <a:latin typeface="IBM Plex Sans" charset="0"/>
                        <a:ea typeface="IBM Plex Sans" charset="0"/>
                        <a:cs typeface="IBM Plex Sans" charset="0"/>
                      </a:endParaRPr>
                    </a:p>
                  </a:txBody>
                  <a:tcPr marL="53757" marR="53757" marT="53757" marB="53757"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c>
                  <a:txBody>
                    <a:bodyPr/>
                    <a:lstStyle/>
                    <a:p>
                      <a:pPr algn="r" indent="0" marL="0">
                        <a:lnSpc>
                          <a:spcPts val="1693"/>
                        </a:lnSpc>
                        <a:buNone/>
                      </a:pPr>
                      <a:r>
                        <a:rPr lang="en-US" sz="1209" dirty="0">
                          <a:solidFill>
                            <a:srgbClr val="14213D"/>
                          </a:solidFill>
                          <a:latin typeface="IBM Plex Sans" pitchFamily="34" charset="0"/>
                          <a:ea typeface="IBM Plex Sans" pitchFamily="34" charset="-122"/>
                          <a:cs typeface="IBM Plex Sans" pitchFamily="34" charset="-120"/>
                        </a:rPr>
                        <a:t>12 349</a:t>
                      </a:r>
                      <a:endParaRPr lang="en-US" sz="1209" dirty="0">
                        <a:latin typeface="IBM Plex Sans" charset="0"/>
                        <a:ea typeface="IBM Plex Sans" charset="0"/>
                        <a:cs typeface="IBM Plex Sans" charset="0"/>
                      </a:endParaRPr>
                    </a:p>
                  </a:txBody>
                  <a:tcPr marL="53757" marR="53757" marT="53757" marB="53757"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c>
                  <a:txBody>
                    <a:bodyPr/>
                    <a:lstStyle/>
                    <a:p>
                      <a:pPr algn="r" indent="0" marL="0">
                        <a:lnSpc>
                          <a:spcPts val="1693"/>
                        </a:lnSpc>
                        <a:buNone/>
                      </a:pPr>
                      <a:r>
                        <a:rPr lang="en-US" sz="1209" dirty="0">
                          <a:solidFill>
                            <a:srgbClr val="2E7D52"/>
                          </a:solidFill>
                          <a:latin typeface="IBM Plex Sans" pitchFamily="34" charset="0"/>
                          <a:ea typeface="IBM Plex Sans" pitchFamily="34" charset="-122"/>
                          <a:cs typeface="IBM Plex Sans" pitchFamily="34" charset="-120"/>
                        </a:rPr>
                        <a:t>−18 %</a:t>
                      </a:r>
                      <a:endParaRPr lang="en-US" sz="1209" dirty="0">
                        <a:latin typeface="IBM Plex Sans" charset="0"/>
                        <a:ea typeface="IBM Plex Sans" charset="0"/>
                        <a:cs typeface="IBM Plex Sans" charset="0"/>
                      </a:endParaRPr>
                    </a:p>
                  </a:txBody>
                  <a:tcPr marL="53757" marR="53757" marT="53757" marB="53757"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r>
              <a:tr h="335293">
                <a:tc>
                  <a:txBody>
                    <a:bodyPr/>
                    <a:lstStyle/>
                    <a:p>
                      <a:pPr indent="0" marL="0">
                        <a:lnSpc>
                          <a:spcPts val="1693"/>
                        </a:lnSpc>
                        <a:buNone/>
                      </a:pPr>
                      <a:r>
                        <a:rPr lang="en-US" sz="1209" dirty="0">
                          <a:solidFill>
                            <a:srgbClr val="14213D"/>
                          </a:solidFill>
                          <a:latin typeface="IBM Plex Sans" pitchFamily="34" charset="0"/>
                          <a:ea typeface="IBM Plex Sans" pitchFamily="34" charset="-122"/>
                          <a:cs typeface="IBM Plex Sans" pitchFamily="34" charset="-120"/>
                        </a:rPr>
                        <a:t>Latenza</a:t>
                      </a:r>
                      <a:endParaRPr lang="en-US" sz="1209" dirty="0">
                        <a:latin typeface="IBM Plex Sans" charset="0"/>
                        <a:ea typeface="IBM Plex Sans" charset="0"/>
                        <a:cs typeface="IBM Plex Sans" charset="0"/>
                      </a:endParaRPr>
                    </a:p>
                  </a:txBody>
                  <a:tcPr marL="53757" marR="53757" marT="53757" marB="53757"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tcPr>
                </a:tc>
                <a:tc>
                  <a:txBody>
                    <a:bodyPr/>
                    <a:lstStyle/>
                    <a:p>
                      <a:pPr algn="r" indent="0" marL="0">
                        <a:lnSpc>
                          <a:spcPts val="1693"/>
                        </a:lnSpc>
                        <a:buNone/>
                      </a:pPr>
                      <a:r>
                        <a:rPr lang="en-US" sz="1209" dirty="0">
                          <a:solidFill>
                            <a:srgbClr val="14213D"/>
                          </a:solidFill>
                          <a:latin typeface="IBM Plex Sans" pitchFamily="34" charset="0"/>
                          <a:ea typeface="IBM Plex Sans" pitchFamily="34" charset="-122"/>
                          <a:cs typeface="IBM Plex Sans" pitchFamily="34" charset="-120"/>
                        </a:rPr>
                        <a:t>271 ns</a:t>
                      </a:r>
                      <a:endParaRPr lang="en-US" sz="1209" dirty="0">
                        <a:latin typeface="IBM Plex Sans" charset="0"/>
                        <a:ea typeface="IBM Plex Sans" charset="0"/>
                        <a:cs typeface="IBM Plex Sans" charset="0"/>
                      </a:endParaRPr>
                    </a:p>
                  </a:txBody>
                  <a:tcPr marL="53757" marR="53757" marT="53757" marB="53757"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tcPr>
                </a:tc>
                <a:tc>
                  <a:txBody>
                    <a:bodyPr/>
                    <a:lstStyle/>
                    <a:p>
                      <a:pPr algn="r" indent="0" marL="0">
                        <a:lnSpc>
                          <a:spcPts val="1693"/>
                        </a:lnSpc>
                        <a:buNone/>
                      </a:pPr>
                      <a:r>
                        <a:rPr lang="en-US" sz="1209" dirty="0">
                          <a:solidFill>
                            <a:srgbClr val="14213D"/>
                          </a:solidFill>
                          <a:latin typeface="IBM Plex Sans" pitchFamily="34" charset="0"/>
                          <a:ea typeface="IBM Plex Sans" pitchFamily="34" charset="-122"/>
                          <a:cs typeface="IBM Plex Sans" pitchFamily="34" charset="-120"/>
                        </a:rPr>
                        <a:t>448 ns</a:t>
                      </a:r>
                      <a:endParaRPr lang="en-US" sz="1209" dirty="0">
                        <a:latin typeface="IBM Plex Sans" charset="0"/>
                        <a:ea typeface="IBM Plex Sans" charset="0"/>
                        <a:cs typeface="IBM Plex Sans" charset="0"/>
                      </a:endParaRPr>
                    </a:p>
                  </a:txBody>
                  <a:tcPr marL="53757" marR="53757" marT="53757" marB="53757"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tcPr>
                </a:tc>
                <a:tc>
                  <a:txBody>
                    <a:bodyPr/>
                    <a:lstStyle/>
                    <a:p>
                      <a:pPr algn="r" indent="0" marL="0">
                        <a:lnSpc>
                          <a:spcPts val="1693"/>
                        </a:lnSpc>
                        <a:buNone/>
                      </a:pPr>
                      <a:r>
                        <a:rPr lang="en-US" sz="1209" dirty="0">
                          <a:solidFill>
                            <a:srgbClr val="C2410C"/>
                          </a:solidFill>
                          <a:latin typeface="IBM Plex Sans" pitchFamily="34" charset="0"/>
                          <a:ea typeface="IBM Plex Sans" pitchFamily="34" charset="-122"/>
                          <a:cs typeface="IBM Plex Sans" pitchFamily="34" charset="-120"/>
                        </a:rPr>
                        <a:t>+65 %</a:t>
                      </a:r>
                      <a:endParaRPr lang="en-US" sz="1209" dirty="0">
                        <a:latin typeface="IBM Plex Sans" charset="0"/>
                        <a:ea typeface="IBM Plex Sans" charset="0"/>
                        <a:cs typeface="IBM Plex Sans" charset="0"/>
                      </a:endParaRPr>
                    </a:p>
                  </a:txBody>
                  <a:tcPr marL="53757" marR="53757" marT="53757" marB="53757"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tcPr>
                </a:tc>
              </a:tr>
              <a:tr h="335293">
                <a:tc>
                  <a:txBody>
                    <a:bodyPr/>
                    <a:lstStyle/>
                    <a:p>
                      <a:pPr indent="0" marL="0">
                        <a:lnSpc>
                          <a:spcPts val="1693"/>
                        </a:lnSpc>
                        <a:buNone/>
                      </a:pPr>
                      <a:r>
                        <a:rPr lang="en-US" sz="1209" dirty="0">
                          <a:solidFill>
                            <a:srgbClr val="14213D"/>
                          </a:solidFill>
                          <a:latin typeface="IBM Plex Sans" pitchFamily="34" charset="0"/>
                          <a:ea typeface="IBM Plex Sans" pitchFamily="34" charset="-122"/>
                          <a:cs typeface="IBM Plex Sans" pitchFamily="34" charset="-120"/>
                        </a:rPr>
                        <a:t>Salti fra programmi / pacchetto</a:t>
                      </a:r>
                      <a:endParaRPr lang="en-US" sz="1209" dirty="0">
                        <a:latin typeface="IBM Plex Sans" charset="0"/>
                        <a:ea typeface="IBM Plex Sans" charset="0"/>
                        <a:cs typeface="IBM Plex Sans" charset="0"/>
                      </a:endParaRPr>
                    </a:p>
                  </a:txBody>
                  <a:tcPr marL="53757" marR="53757" marT="53757" marB="53757"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c>
                  <a:txBody>
                    <a:bodyPr/>
                    <a:lstStyle/>
                    <a:p>
                      <a:pPr algn="r" indent="0" marL="0">
                        <a:lnSpc>
                          <a:spcPts val="1693"/>
                        </a:lnSpc>
                        <a:buNone/>
                      </a:pPr>
                      <a:r>
                        <a:rPr lang="en-US" sz="1209" dirty="0">
                          <a:solidFill>
                            <a:srgbClr val="14213D"/>
                          </a:solidFill>
                          <a:latin typeface="IBM Plex Sans" pitchFamily="34" charset="0"/>
                          <a:ea typeface="IBM Plex Sans" pitchFamily="34" charset="-122"/>
                          <a:cs typeface="IBM Plex Sans" pitchFamily="34" charset="-120"/>
                        </a:rPr>
                        <a:t>1</a:t>
                      </a:r>
                      <a:endParaRPr lang="en-US" sz="1209" dirty="0">
                        <a:latin typeface="IBM Plex Sans" charset="0"/>
                        <a:ea typeface="IBM Plex Sans" charset="0"/>
                        <a:cs typeface="IBM Plex Sans" charset="0"/>
                      </a:endParaRPr>
                    </a:p>
                  </a:txBody>
                  <a:tcPr marL="53757" marR="53757" marT="53757" marB="53757"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c>
                  <a:txBody>
                    <a:bodyPr/>
                    <a:lstStyle/>
                    <a:p>
                      <a:pPr algn="r" indent="0" marL="0">
                        <a:lnSpc>
                          <a:spcPts val="1693"/>
                        </a:lnSpc>
                        <a:buNone/>
                      </a:pPr>
                      <a:r>
                        <a:rPr lang="en-US" sz="1209" dirty="0">
                          <a:solidFill>
                            <a:srgbClr val="14213D"/>
                          </a:solidFill>
                          <a:latin typeface="IBM Plex Sans" pitchFamily="34" charset="0"/>
                          <a:ea typeface="IBM Plex Sans" pitchFamily="34" charset="-122"/>
                          <a:cs typeface="IBM Plex Sans" pitchFamily="34" charset="-120"/>
                        </a:rPr>
                        <a:t>3</a:t>
                      </a:r>
                      <a:endParaRPr lang="en-US" sz="1209" dirty="0">
                        <a:latin typeface="IBM Plex Sans" charset="0"/>
                        <a:ea typeface="IBM Plex Sans" charset="0"/>
                        <a:cs typeface="IBM Plex Sans" charset="0"/>
                      </a:endParaRPr>
                    </a:p>
                  </a:txBody>
                  <a:tcPr marL="53757" marR="53757" marT="53757" marB="53757"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c>
                  <a:txBody>
                    <a:bodyPr/>
                    <a:lstStyle/>
                    <a:p>
                      <a:pPr algn="r" indent="0" marL="0">
                        <a:lnSpc>
                          <a:spcPts val="1693"/>
                        </a:lnSpc>
                        <a:buNone/>
                      </a:pPr>
                      <a:r>
                        <a:rPr lang="en-US" sz="1209" dirty="0">
                          <a:solidFill>
                            <a:srgbClr val="14213D"/>
                          </a:solidFill>
                          <a:latin typeface="IBM Plex Sans" pitchFamily="34" charset="0"/>
                          <a:ea typeface="IBM Plex Sans" pitchFamily="34" charset="-122"/>
                          <a:cs typeface="IBM Plex Sans" pitchFamily="34" charset="-120"/>
                        </a:rPr>
                        <a:t>× 3</a:t>
                      </a:r>
                      <a:endParaRPr lang="en-US" sz="1209" dirty="0">
                        <a:latin typeface="IBM Plex Sans" charset="0"/>
                        <a:ea typeface="IBM Plex Sans" charset="0"/>
                        <a:cs typeface="IBM Plex Sans" charset="0"/>
                      </a:endParaRPr>
                    </a:p>
                  </a:txBody>
                  <a:tcPr marL="53757" marR="53757" marT="53757" marB="53757"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r>
              <a:tr h="335293">
                <a:tc>
                  <a:txBody>
                    <a:bodyPr/>
                    <a:lstStyle/>
                    <a:p>
                      <a:pPr indent="0" marL="0">
                        <a:lnSpc>
                          <a:spcPts val="1693"/>
                        </a:lnSpc>
                        <a:buNone/>
                      </a:pPr>
                      <a:r>
                        <a:rPr lang="en-US" sz="1209" dirty="0">
                          <a:solidFill>
                            <a:srgbClr val="14213D"/>
                          </a:solidFill>
                          <a:latin typeface="IBM Plex Sans" pitchFamily="34" charset="0"/>
                          <a:ea typeface="IBM Plex Sans" pitchFamily="34" charset="-122"/>
                          <a:cs typeface="IBM Plex Sans" pitchFamily="34" charset="-120"/>
                        </a:rPr>
                        <a:t>Letture di tabella / pacchetto</a:t>
                      </a:r>
                      <a:endParaRPr lang="en-US" sz="1209" dirty="0">
                        <a:latin typeface="IBM Plex Sans" charset="0"/>
                        <a:ea typeface="IBM Plex Sans" charset="0"/>
                        <a:cs typeface="IBM Plex Sans" charset="0"/>
                      </a:endParaRPr>
                    </a:p>
                  </a:txBody>
                  <a:tcPr marL="53757" marR="53757" marT="53757" marB="53757"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tcPr>
                </a:tc>
                <a:tc>
                  <a:txBody>
                    <a:bodyPr/>
                    <a:lstStyle/>
                    <a:p>
                      <a:pPr algn="r" indent="0" marL="0">
                        <a:lnSpc>
                          <a:spcPts val="1693"/>
                        </a:lnSpc>
                        <a:buNone/>
                      </a:pPr>
                      <a:r>
                        <a:rPr lang="en-US" sz="1209" dirty="0">
                          <a:solidFill>
                            <a:srgbClr val="14213D"/>
                          </a:solidFill>
                          <a:latin typeface="IBM Plex Sans" pitchFamily="34" charset="0"/>
                          <a:ea typeface="IBM Plex Sans" pitchFamily="34" charset="-122"/>
                          <a:cs typeface="IBM Plex Sans" pitchFamily="34" charset="-120"/>
                        </a:rPr>
                        <a:t>11</a:t>
                      </a:r>
                      <a:endParaRPr lang="en-US" sz="1209" dirty="0">
                        <a:latin typeface="IBM Plex Sans" charset="0"/>
                        <a:ea typeface="IBM Plex Sans" charset="0"/>
                        <a:cs typeface="IBM Plex Sans" charset="0"/>
                      </a:endParaRPr>
                    </a:p>
                  </a:txBody>
                  <a:tcPr marL="53757" marR="53757" marT="53757" marB="53757"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tcPr>
                </a:tc>
                <a:tc>
                  <a:txBody>
                    <a:bodyPr/>
                    <a:lstStyle/>
                    <a:p>
                      <a:pPr algn="r" indent="0" marL="0">
                        <a:lnSpc>
                          <a:spcPts val="1693"/>
                        </a:lnSpc>
                        <a:buNone/>
                      </a:pPr>
                      <a:r>
                        <a:rPr lang="en-US" sz="1209" dirty="0">
                          <a:solidFill>
                            <a:srgbClr val="14213D"/>
                          </a:solidFill>
                          <a:latin typeface="IBM Plex Sans" pitchFamily="34" charset="0"/>
                          <a:ea typeface="IBM Plex Sans" pitchFamily="34" charset="-122"/>
                          <a:cs typeface="IBM Plex Sans" pitchFamily="34" charset="-120"/>
                        </a:rPr>
                        <a:t>29</a:t>
                      </a:r>
                      <a:endParaRPr lang="en-US" sz="1209" dirty="0">
                        <a:latin typeface="IBM Plex Sans" charset="0"/>
                        <a:ea typeface="IBM Plex Sans" charset="0"/>
                        <a:cs typeface="IBM Plex Sans" charset="0"/>
                      </a:endParaRPr>
                    </a:p>
                  </a:txBody>
                  <a:tcPr marL="53757" marR="53757" marT="53757" marB="53757"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tcPr>
                </a:tc>
                <a:tc>
                  <a:txBody>
                    <a:bodyPr/>
                    <a:lstStyle/>
                    <a:p>
                      <a:pPr algn="r" indent="0" marL="0">
                        <a:lnSpc>
                          <a:spcPts val="1693"/>
                        </a:lnSpc>
                        <a:buNone/>
                      </a:pPr>
                      <a:r>
                        <a:rPr lang="en-US" sz="1209" dirty="0">
                          <a:solidFill>
                            <a:srgbClr val="14213D"/>
                          </a:solidFill>
                          <a:latin typeface="IBM Plex Sans" pitchFamily="34" charset="0"/>
                          <a:ea typeface="IBM Plex Sans" pitchFamily="34" charset="-122"/>
                          <a:cs typeface="IBM Plex Sans" pitchFamily="34" charset="-120"/>
                        </a:rPr>
                        <a:t>× 2,6</a:t>
                      </a:r>
                      <a:endParaRPr lang="en-US" sz="1209" dirty="0">
                        <a:latin typeface="IBM Plex Sans" charset="0"/>
                        <a:ea typeface="IBM Plex Sans" charset="0"/>
                        <a:cs typeface="IBM Plex Sans" charset="0"/>
                      </a:endParaRPr>
                    </a:p>
                  </a:txBody>
                  <a:tcPr marL="53757" marR="53757" marT="53757" marB="53757"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tcPr>
                </a:tc>
              </a:tr>
            </a:tbl>
          </a:graphicData>
        </a:graphic>
      </p:graphicFrame>
      <p:sp>
        <p:nvSpPr>
          <p:cNvPr id="10" name="Text 6"/>
          <p:cNvSpPr/>
          <p:nvPr/>
        </p:nvSpPr>
        <p:spPr>
          <a:xfrm>
            <a:off x="812800" y="5424227"/>
            <a:ext cx="10203180" cy="443177"/>
          </a:xfrm>
          <a:prstGeom prst="rect">
            <a:avLst/>
          </a:prstGeom>
          <a:noFill/>
          <a:ln/>
        </p:spPr>
        <p:txBody>
          <a:bodyPr wrap="square" lIns="0" tIns="0" rIns="0" bIns="0" rtlCol="0" anchor="t">
            <a:normAutofit/>
          </a:bodyPr>
          <a:lstStyle/>
          <a:p>
            <a:pPr algn="l" indent="0" marL="0">
              <a:lnSpc>
                <a:spcPts val="1658"/>
              </a:lnSpc>
              <a:buNone/>
            </a:pPr>
            <a:r>
              <a:rPr lang="en-US" sz="1228" b="1" dirty="0">
                <a:solidFill>
                  <a:srgbClr val="14213D"/>
                </a:solidFill>
                <a:latin typeface="IBM Plex Sans" pitchFamily="34" charset="0"/>
                <a:ea typeface="IBM Plex Sans" pitchFamily="34" charset="-122"/>
                <a:cs typeface="IBM Plex Sans" pitchFamily="34" charset="-120"/>
              </a:rPr>
              <a:t>Meno istruzioni, e più lenta.</a:t>
            </a:r>
            <a:r>
              <a:rPr lang="en-US" sz="1228" dirty="0">
                <a:solidFill>
                  <a:srgbClr val="14213D"/>
                </a:solidFill>
                <a:latin typeface="IBM Plex Sans" pitchFamily="34" charset="0"/>
                <a:ea typeface="IBM Plex Sans" pitchFamily="34" charset="-122"/>
                <a:cs typeface="IBM Plex Sans" pitchFamily="34" charset="-120"/>
              </a:rPr>
              <a:t> Il numero di istruzioni dice quanto è grande il programma, non quanto lavoro fa su ogni pacchetto. Sono due cose diverse, e qui vanno in direzioni opposte.</a:t>
            </a:r>
            <a:endParaRPr lang="en-US" sz="1228" dirty="0"/>
          </a:p>
        </p:txBody>
      </p:sp>
      <p:sp>
        <p:nvSpPr>
          <p:cNvPr id="11" name="Text 7"/>
          <p:cNvSpPr/>
          <p:nvPr/>
        </p:nvSpPr>
        <p:spPr>
          <a:xfrm>
            <a:off x="812800" y="6238280"/>
            <a:ext cx="31449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Schede D1–D3 del registro degli esperimenti</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424458"/>
          </a:xfrm>
          <a:prstGeom prst="rect">
            <a:avLst/>
          </a:prstGeom>
          <a:noFill/>
          <a:ln/>
        </p:spPr>
        <p:txBody>
          <a:bodyPr wrap="square" lIns="0" tIns="0" rIns="0" bIns="0" rtlCol="0" anchor="t">
            <a:normAutofit/>
          </a:bodyPr>
          <a:lstStyle/>
          <a:p>
            <a:pPr algn="l" indent="0" marL="0">
              <a:lnSpc>
                <a:spcPts val="3166"/>
              </a:lnSpc>
              <a:buNone/>
            </a:pPr>
            <a:r>
              <a:rPr lang="en-US" sz="2878" b="1" dirty="0">
                <a:solidFill>
                  <a:srgbClr val="14213D"/>
                </a:solidFill>
                <a:latin typeface="IBM Plex Sans" pitchFamily="34" charset="0"/>
                <a:ea typeface="IBM Plex Sans" pitchFamily="34" charset="-122"/>
                <a:cs typeface="IBM Plex Sans" pitchFamily="34" charset="-120"/>
              </a:rPr>
              <a:t>Perché la profondità costa, quando costa</a:t>
            </a:r>
            <a:endParaRPr lang="en-US" sz="2878" dirty="0"/>
          </a:p>
        </p:txBody>
      </p:sp>
      <p:sp>
        <p:nvSpPr>
          <p:cNvPr id="3" name="Text 1"/>
          <p:cNvSpPr/>
          <p:nvPr/>
        </p:nvSpPr>
        <p:spPr>
          <a:xfrm>
            <a:off x="812800" y="1389658"/>
            <a:ext cx="10203180" cy="761735"/>
          </a:xfrm>
          <a:prstGeom prst="rect">
            <a:avLst/>
          </a:prstGeom>
          <a:noFill/>
          <a:ln/>
        </p:spPr>
        <p:txBody>
          <a:bodyPr wrap="square" lIns="0" tIns="0" rIns="0" bIns="0" rtlCol="0" anchor="t">
            <a:normAutofit/>
          </a:bodyPr>
          <a:lstStyle/>
          <a:p>
            <a:pPr algn="l" indent="0" marL="0">
              <a:lnSpc>
                <a:spcPts val="1941"/>
              </a:lnSpc>
              <a:buNone/>
            </a:pPr>
            <a:r>
              <a:rPr lang="en-US" sz="1387" dirty="0">
                <a:solidFill>
                  <a:srgbClr val="4A5568"/>
                </a:solidFill>
                <a:latin typeface="IBM Plex Sans" pitchFamily="34" charset="0"/>
                <a:ea typeface="IBM Plex Sans" pitchFamily="34" charset="-122"/>
                <a:cs typeface="IBM Plex Sans" pitchFamily="34" charset="-120"/>
              </a:rPr>
              <a:t>Nella versione più flessibile ogni strato della rete è un </a:t>
            </a:r>
            <a:r>
              <a:rPr lang="en-US" sz="1387" b="1" dirty="0">
                <a:solidFill>
                  <a:srgbClr val="4A5568"/>
                </a:solidFill>
                <a:latin typeface="IBM Plex Sans" pitchFamily="34" charset="0"/>
                <a:ea typeface="IBM Plex Sans" pitchFamily="34" charset="-122"/>
                <a:cs typeface="IBM Plex Sans" pitchFamily="34" charset="-120"/>
              </a:rPr>
              <a:t>programma a sé</a:t>
            </a:r>
            <a:r>
              <a:rPr lang="en-US" sz="1387" dirty="0">
                <a:solidFill>
                  <a:srgbClr val="4A5568"/>
                </a:solidFill>
                <a:latin typeface="IBM Plex Sans" pitchFamily="34" charset="0"/>
                <a:ea typeface="IBM Plex Sans" pitchFamily="34" charset="-122"/>
                <a:cs typeface="IBM Plex Sans" pitchFamily="34" charset="-120"/>
              </a:rPr>
              <a:t>. Allargare uno strato costa </a:t>
            </a:r>
            <a:r>
              <a:rPr lang="en-US" sz="1387" b="1" dirty="0">
                <a:solidFill>
                  <a:srgbClr val="4A5568"/>
                </a:solidFill>
                <a:latin typeface="IBM Plex Sans" pitchFamily="34" charset="0"/>
                <a:ea typeface="IBM Plex Sans" pitchFamily="34" charset="-122"/>
                <a:cs typeface="IBM Plex Sans" pitchFamily="34" charset="-120"/>
              </a:rPr>
              <a:t>dentro</a:t>
            </a:r>
            <a:r>
              <a:rPr lang="en-US" sz="1387" dirty="0">
                <a:solidFill>
                  <a:srgbClr val="4A5568"/>
                </a:solidFill>
                <a:latin typeface="IBM Plex Sans" pitchFamily="34" charset="0"/>
                <a:ea typeface="IBM Plex Sans" pitchFamily="34" charset="-122"/>
                <a:cs typeface="IBM Plex Sans" pitchFamily="34" charset="-120"/>
              </a:rPr>
              <a:t> il programma, dove il conto è solo aritmetica. Aggiungere uno strato costa </a:t>
            </a:r>
            <a:r>
              <a:rPr lang="en-US" sz="1387" b="1" dirty="0">
                <a:solidFill>
                  <a:srgbClr val="4A5568"/>
                </a:solidFill>
                <a:latin typeface="IBM Plex Sans" pitchFamily="34" charset="0"/>
                <a:ea typeface="IBM Plex Sans" pitchFamily="34" charset="-122"/>
                <a:cs typeface="IBM Plex Sans" pitchFamily="34" charset="-120"/>
              </a:rPr>
              <a:t>fra</a:t>
            </a:r>
            <a:r>
              <a:rPr lang="en-US" sz="1387" dirty="0">
                <a:solidFill>
                  <a:srgbClr val="4A5568"/>
                </a:solidFill>
                <a:latin typeface="IBM Plex Sans" pitchFamily="34" charset="0"/>
                <a:ea typeface="IBM Plex Sans" pitchFamily="34" charset="-122"/>
                <a:cs typeface="IBM Plex Sans" pitchFamily="34" charset="-120"/>
              </a:rPr>
              <a:t> un programma e l’altro — un salto e un gruppo di letture — e quel costo si paga ogni volta.</a:t>
            </a:r>
            <a:endParaRPr lang="en-US" sz="1387" dirty="0"/>
          </a:p>
        </p:txBody>
      </p:sp>
      <p:sp>
        <p:nvSpPr>
          <p:cNvPr id="4" name="Shape 2"/>
          <p:cNvSpPr/>
          <p:nvPr/>
        </p:nvSpPr>
        <p:spPr>
          <a:xfrm>
            <a:off x="812800" y="2303797"/>
            <a:ext cx="10566400" cy="1829594"/>
          </a:xfrm>
          <a:prstGeom prst="roundRect">
            <a:avLst>
              <a:gd name="adj" fmla="val 5553"/>
            </a:avLst>
          </a:prstGeom>
          <a:solidFill>
            <a:srgbClr val="14213D"/>
          </a:solidFill>
          <a:ln/>
        </p:spPr>
      </p:sp>
      <p:pic>
        <p:nvPicPr>
          <p:cNvPr id="5" name="Image 0" descr="t approssimativamente uguale a L per la somma di t salto fra programmi piu' k per t lookup, piu' la sommatoria su elle di n elle meno uno per n elle per t mac">    </p:cNvPr>
          <p:cNvPicPr>
            <a:picLocks noChangeAspect="1"/>
          </p:cNvPicPr>
          <p:nvPr/>
        </p:nvPicPr>
        <p:blipFill>
          <a:blip r:embed="rId1"/>
          <a:srcRect l="-2571" r="-2571" t="0" b="0"/>
          <a:stretch/>
        </p:blipFill>
        <p:spPr>
          <a:xfrm>
            <a:off x="1651000" y="2494297"/>
            <a:ext cx="8890000" cy="904147"/>
          </a:xfrm>
          <a:prstGeom prst="rect">
            <a:avLst/>
          </a:prstGeom>
        </p:spPr>
      </p:pic>
      <p:sp>
        <p:nvSpPr>
          <p:cNvPr id="6" name="Text 3"/>
          <p:cNvSpPr/>
          <p:nvPr/>
        </p:nvSpPr>
        <p:spPr>
          <a:xfrm>
            <a:off x="1844675" y="3487341"/>
            <a:ext cx="8502650" cy="480946"/>
          </a:xfrm>
          <a:prstGeom prst="rect">
            <a:avLst/>
          </a:prstGeom>
          <a:noFill/>
          <a:ln/>
        </p:spPr>
        <p:txBody>
          <a:bodyPr wrap="square" lIns="0" tIns="0" rIns="0" bIns="0" rtlCol="0" anchor="t">
            <a:normAutofit/>
          </a:bodyPr>
          <a:lstStyle/>
          <a:p>
            <a:pPr algn="ctr" indent="0" marL="0">
              <a:lnSpc>
                <a:spcPts val="1807"/>
              </a:lnSpc>
              <a:buNone/>
            </a:pPr>
            <a:r>
              <a:rPr lang="en-US" sz="1291" dirty="0">
                <a:solidFill>
                  <a:srgbClr val="BFD8D5"/>
                </a:solidFill>
                <a:latin typeface="IBM Plex Sans" pitchFamily="34" charset="0"/>
                <a:ea typeface="IBM Plex Sans" pitchFamily="34" charset="-122"/>
                <a:cs typeface="IBM Plex Sans" pitchFamily="34" charset="-120"/>
              </a:rPr>
              <a:t>Allargare fa crescere solo la parte verde, che è aritmetica pura. Aggiungere strati fa crescere quella arancione, dove il numero di strati moltiplica un salto più un gruppo di letture.</a:t>
            </a:r>
            <a:endParaRPr lang="en-US" sz="1291" dirty="0"/>
          </a:p>
        </p:txBody>
      </p:sp>
      <p:sp>
        <p:nvSpPr>
          <p:cNvPr id="7" name="Shape 4"/>
          <p:cNvSpPr/>
          <p:nvPr/>
        </p:nvSpPr>
        <p:spPr>
          <a:xfrm>
            <a:off x="812800" y="4311191"/>
            <a:ext cx="5181600" cy="1530813"/>
          </a:xfrm>
          <a:prstGeom prst="roundRect">
            <a:avLst>
              <a:gd name="adj" fmla="val 6637"/>
            </a:avLst>
          </a:prstGeom>
          <a:solidFill>
            <a:srgbClr val="EEF1F5"/>
          </a:solidFill>
          <a:ln/>
        </p:spPr>
      </p:sp>
      <p:sp>
        <p:nvSpPr>
          <p:cNvPr id="8" name="Text 5"/>
          <p:cNvSpPr/>
          <p:nvPr/>
        </p:nvSpPr>
        <p:spPr>
          <a:xfrm>
            <a:off x="1016000" y="4488991"/>
            <a:ext cx="4918456" cy="239249"/>
          </a:xfrm>
          <a:prstGeom prst="rect">
            <a:avLst/>
          </a:prstGeom>
          <a:noFill/>
          <a:ln/>
        </p:spPr>
        <p:txBody>
          <a:bodyPr wrap="square" lIns="0" tIns="0" rIns="0" bIns="0" rtlCol="0" anchor="t">
            <a:normAutofit/>
          </a:bodyPr>
          <a:lstStyle/>
          <a:p>
            <a:pPr algn="l" indent="0" marL="0">
              <a:lnSpc>
                <a:spcPts val="1721"/>
              </a:lnSpc>
              <a:buNone/>
            </a:pPr>
            <a:r>
              <a:rPr lang="en-US" sz="1434" b="1" dirty="0">
                <a:solidFill>
                  <a:srgbClr val="C2410C"/>
                </a:solidFill>
                <a:latin typeface="IBM Plex Sans" pitchFamily="34" charset="0"/>
                <a:ea typeface="IBM Plex Sans" pitchFamily="34" charset="-122"/>
                <a:cs typeface="IBM Plex Sans" pitchFamily="34" charset="-120"/>
              </a:rPr>
              <a:t>Il limite non è la dimensione</a:t>
            </a:r>
            <a:endParaRPr lang="en-US" sz="1434" dirty="0"/>
          </a:p>
        </p:txBody>
      </p:sp>
      <p:sp>
        <p:nvSpPr>
          <p:cNvPr id="9" name="Text 6"/>
          <p:cNvSpPr/>
          <p:nvPr/>
        </p:nvSpPr>
        <p:spPr>
          <a:xfrm>
            <a:off x="1016000" y="4766339"/>
            <a:ext cx="4918456" cy="923264"/>
          </a:xfrm>
          <a:prstGeom prst="rect">
            <a:avLst/>
          </a:prstGeom>
          <a:noFill/>
          <a:ln/>
        </p:spPr>
        <p:txBody>
          <a:bodyPr wrap="square" lIns="0" tIns="0" rIns="0" bIns="0" rtlCol="0" anchor="t">
            <a:normAutofit/>
          </a:bodyPr>
          <a:lstStyle/>
          <a:p>
            <a:pPr algn="l" indent="0" marL="0">
              <a:lnSpc>
                <a:spcPts val="1766"/>
              </a:lnSpc>
              <a:buNone/>
            </a:pPr>
            <a:r>
              <a:rPr lang="en-US" sz="1261" dirty="0">
                <a:solidFill>
                  <a:srgbClr val="4A5568"/>
                </a:solidFill>
                <a:latin typeface="IBM Plex Sans" pitchFamily="34" charset="0"/>
                <a:ea typeface="IBM Plex Sans" pitchFamily="34" charset="-122"/>
                <a:cs typeface="IBM Plex Sans" pitchFamily="34" charset="-120"/>
              </a:rPr>
              <a:t>Prima di accettare un programma, il kernel lo controlla riga per riga e ha un budget: un milione di passi. P2 con i limiti più larghi ne consuma </a:t>
            </a:r>
            <a:r>
              <a:rPr lang="en-US" sz="1261" b="1" dirty="0">
                <a:solidFill>
                  <a:srgbClr val="4A5568"/>
                </a:solidFill>
                <a:latin typeface="IBM Plex Sans" pitchFamily="34" charset="0"/>
                <a:ea typeface="IBM Plex Sans" pitchFamily="34" charset="-122"/>
                <a:cs typeface="IBM Plex Sans" pitchFamily="34" charset="-120"/>
              </a:rPr>
              <a:t>1 000 001</a:t>
            </a:r>
            <a:r>
              <a:rPr lang="en-US" sz="1261" dirty="0">
                <a:solidFill>
                  <a:srgbClr val="4A5568"/>
                </a:solidFill>
                <a:latin typeface="IBM Plex Sans" pitchFamily="34" charset="0"/>
                <a:ea typeface="IBM Plex Sans" pitchFamily="34" charset="-122"/>
                <a:cs typeface="IBM Plex Sans" pitchFamily="34" charset="-120"/>
              </a:rPr>
              <a:t>. Non è troppo </a:t>
            </a:r>
            <a:r>
              <a:rPr lang="en-US" sz="1261" b="1" dirty="0">
                <a:solidFill>
                  <a:srgbClr val="4A5568"/>
                </a:solidFill>
                <a:latin typeface="IBM Plex Sans" pitchFamily="34" charset="0"/>
                <a:ea typeface="IBM Plex Sans" pitchFamily="34" charset="-122"/>
                <a:cs typeface="IBM Plex Sans" pitchFamily="34" charset="-120"/>
              </a:rPr>
              <a:t>grande</a:t>
            </a:r>
            <a:r>
              <a:rPr lang="en-US" sz="1261" dirty="0">
                <a:solidFill>
                  <a:srgbClr val="4A5568"/>
                </a:solidFill>
                <a:latin typeface="IBM Plex Sans" pitchFamily="34" charset="0"/>
                <a:ea typeface="IBM Plex Sans" pitchFamily="34" charset="-122"/>
                <a:cs typeface="IBM Plex Sans" pitchFamily="34" charset="-120"/>
              </a:rPr>
              <a:t>: è troppo </a:t>
            </a:r>
            <a:r>
              <a:rPr lang="en-US" sz="1261" b="1" dirty="0">
                <a:solidFill>
                  <a:srgbClr val="4A5568"/>
                </a:solidFill>
                <a:latin typeface="IBM Plex Sans" pitchFamily="34" charset="0"/>
                <a:ea typeface="IBM Plex Sans" pitchFamily="34" charset="-122"/>
                <a:cs typeface="IBM Plex Sans" pitchFamily="34" charset="-120"/>
              </a:rPr>
              <a:t>faticoso da controllare</a:t>
            </a:r>
            <a:r>
              <a:rPr lang="en-US" sz="1261" dirty="0">
                <a:solidFill>
                  <a:srgbClr val="4A5568"/>
                </a:solidFill>
                <a:latin typeface="IBM Plex Sans" pitchFamily="34" charset="0"/>
                <a:ea typeface="IBM Plex Sans" pitchFamily="34" charset="-122"/>
                <a:cs typeface="IBM Plex Sans" pitchFamily="34" charset="-120"/>
              </a:rPr>
              <a:t>. Sono due limiti diversi.</a:t>
            </a:r>
            <a:endParaRPr lang="en-US" sz="1261" dirty="0"/>
          </a:p>
        </p:txBody>
      </p:sp>
      <p:sp>
        <p:nvSpPr>
          <p:cNvPr id="10" name="Shape 7"/>
          <p:cNvSpPr/>
          <p:nvPr/>
        </p:nvSpPr>
        <p:spPr>
          <a:xfrm>
            <a:off x="6197600" y="4311191"/>
            <a:ext cx="5181600" cy="1530813"/>
          </a:xfrm>
          <a:prstGeom prst="roundRect">
            <a:avLst>
              <a:gd name="adj" fmla="val 6637"/>
            </a:avLst>
          </a:prstGeom>
          <a:solidFill>
            <a:srgbClr val="EEF1F5"/>
          </a:solidFill>
          <a:ln/>
        </p:spPr>
      </p:sp>
      <p:sp>
        <p:nvSpPr>
          <p:cNvPr id="11" name="Text 8"/>
          <p:cNvSpPr/>
          <p:nvPr/>
        </p:nvSpPr>
        <p:spPr>
          <a:xfrm>
            <a:off x="6400800" y="4488991"/>
            <a:ext cx="4918456" cy="239249"/>
          </a:xfrm>
          <a:prstGeom prst="rect">
            <a:avLst/>
          </a:prstGeom>
          <a:noFill/>
          <a:ln/>
        </p:spPr>
        <p:txBody>
          <a:bodyPr wrap="square" lIns="0" tIns="0" rIns="0" bIns="0" rtlCol="0" anchor="t">
            <a:normAutofit/>
          </a:bodyPr>
          <a:lstStyle/>
          <a:p>
            <a:pPr algn="l" indent="0" marL="0">
              <a:lnSpc>
                <a:spcPts val="1721"/>
              </a:lnSpc>
              <a:buNone/>
            </a:pPr>
            <a:r>
              <a:rPr lang="en-US" sz="1434" b="1" dirty="0">
                <a:solidFill>
                  <a:srgbClr val="C2410C"/>
                </a:solidFill>
                <a:latin typeface="IBM Plex Sans" pitchFamily="34" charset="0"/>
                <a:ea typeface="IBM Plex Sans" pitchFamily="34" charset="-122"/>
                <a:cs typeface="IBM Plex Sans" pitchFamily="34" charset="-120"/>
              </a:rPr>
              <a:t>Due valute diverse</a:t>
            </a:r>
            <a:endParaRPr lang="en-US" sz="1434" dirty="0"/>
          </a:p>
        </p:txBody>
      </p:sp>
      <p:sp>
        <p:nvSpPr>
          <p:cNvPr id="12" name="Text 9"/>
          <p:cNvSpPr/>
          <p:nvPr/>
        </p:nvSpPr>
        <p:spPr>
          <a:xfrm>
            <a:off x="6400800" y="4766339"/>
            <a:ext cx="4918456" cy="923264"/>
          </a:xfrm>
          <a:prstGeom prst="rect">
            <a:avLst/>
          </a:prstGeom>
          <a:noFill/>
          <a:ln/>
        </p:spPr>
        <p:txBody>
          <a:bodyPr wrap="square" lIns="0" tIns="0" rIns="0" bIns="0" rtlCol="0" anchor="t">
            <a:normAutofit/>
          </a:bodyPr>
          <a:lstStyle/>
          <a:p>
            <a:pPr algn="l" indent="0" marL="0">
              <a:lnSpc>
                <a:spcPts val="1766"/>
              </a:lnSpc>
              <a:buNone/>
            </a:pPr>
            <a:r>
              <a:rPr lang="en-US" sz="1261" dirty="0">
                <a:solidFill>
                  <a:srgbClr val="4A5568"/>
                </a:solidFill>
                <a:latin typeface="IBM Plex Sans" pitchFamily="34" charset="0"/>
                <a:ea typeface="IBM Plex Sans" pitchFamily="34" charset="-122"/>
                <a:cs typeface="IBM Plex Sans" pitchFamily="34" charset="-120"/>
              </a:rPr>
              <a:t>Scambiando l’ordine di due cicli in P3, il programma è diventato </a:t>
            </a:r>
            <a:r>
              <a:rPr lang="en-US" sz="1261" b="1" dirty="0">
                <a:solidFill>
                  <a:srgbClr val="4A5568"/>
                </a:solidFill>
                <a:latin typeface="IBM Plex Sans" pitchFamily="34" charset="0"/>
                <a:ea typeface="IBM Plex Sans" pitchFamily="34" charset="-122"/>
                <a:cs typeface="IBM Plex Sans" pitchFamily="34" charset="-120"/>
              </a:rPr>
              <a:t>più grande</a:t>
            </a:r>
            <a:r>
              <a:rPr lang="en-US" sz="1261" dirty="0">
                <a:solidFill>
                  <a:srgbClr val="4A5568"/>
                </a:solidFill>
                <a:latin typeface="IBM Plex Sans" pitchFamily="34" charset="0"/>
                <a:ea typeface="IBM Plex Sans" pitchFamily="34" charset="-122"/>
                <a:cs typeface="IBM Plex Sans" pitchFamily="34" charset="-120"/>
              </a:rPr>
              <a:t> (+433 istruzioni) e insieme </a:t>
            </a:r>
            <a:r>
              <a:rPr lang="en-US" sz="1261" b="1" dirty="0">
                <a:solidFill>
                  <a:srgbClr val="4A5568"/>
                </a:solidFill>
                <a:latin typeface="IBM Plex Sans" pitchFamily="34" charset="0"/>
                <a:ea typeface="IBM Plex Sans" pitchFamily="34" charset="-122"/>
                <a:cs typeface="IBM Plex Sans" pitchFamily="34" charset="-120"/>
              </a:rPr>
              <a:t>molto più facile da controllare</a:t>
            </a:r>
            <a:r>
              <a:rPr lang="en-US" sz="1261" dirty="0">
                <a:solidFill>
                  <a:srgbClr val="4A5568"/>
                </a:solidFill>
                <a:latin typeface="IBM Plex Sans" pitchFamily="34" charset="0"/>
                <a:ea typeface="IBM Plex Sans" pitchFamily="34" charset="-122"/>
                <a:cs typeface="IBM Plex Sans" pitchFamily="34" charset="-120"/>
              </a:rPr>
              <a:t>. Grandezza e fatica di controllo non vanno nella stessa direzione.</a:t>
            </a:r>
            <a:endParaRPr lang="en-US" sz="1261" dirty="0"/>
          </a:p>
        </p:txBody>
      </p:sp>
      <p:sp>
        <p:nvSpPr>
          <p:cNvPr id="13" name="Text 10"/>
          <p:cNvSpPr/>
          <p:nvPr/>
        </p:nvSpPr>
        <p:spPr>
          <a:xfrm>
            <a:off x="812800" y="6238280"/>
            <a:ext cx="933492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Prova di rinforzo: cambiando un solo #define, 8 674 </a:t>
            </a:r>
            <a:r>
              <a:rPr lang="en-US" sz="1200" b="1" dirty="0">
                <a:solidFill>
                  <a:srgbClr val="6A7179"/>
                </a:solidFill>
                <a:latin typeface="IBM Plex Sans" pitchFamily="34" charset="0"/>
                <a:ea typeface="IBM Plex Sans" pitchFamily="34" charset="-122"/>
                <a:cs typeface="IBM Plex Sans" pitchFamily="34" charset="-120"/>
              </a:rPr>
              <a:t>o</a:t>
            </a:r>
            <a:r>
              <a:rPr lang="en-US" sz="1200" dirty="0">
                <a:solidFill>
                  <a:srgbClr val="6A7179"/>
                </a:solidFill>
                <a:latin typeface="IBM Plex Sans" pitchFamily="34" charset="0"/>
                <a:ea typeface="IBM Plex Sans" pitchFamily="34" charset="-122"/>
                <a:cs typeface="IBM Plex Sans" pitchFamily="34" charset="-120"/>
              </a:rPr>
              <a:t> 12 031 istruzioni — 39 % di differenza — a latenza identica (419 contro 421 ns)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EF1F5"/>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C2410C"/>
                </a:solidFill>
                <a:latin typeface="JetBrains Mono" pitchFamily="34" charset="0"/>
                <a:ea typeface="JetBrains Mono" pitchFamily="34" charset="-122"/>
                <a:cs typeface="JetBrains Mono" pitchFamily="34" charset="-120"/>
              </a:rPr>
              <a:t>LA SCOPERTA · NON C’È UNA RISPOSTA SOLA</a:t>
            </a:r>
            <a:endParaRPr lang="en-US" sz="1300" dirty="0"/>
          </a:p>
        </p:txBody>
      </p:sp>
      <p:sp>
        <p:nvSpPr>
          <p:cNvPr id="3" name="Text 1"/>
          <p:cNvSpPr/>
          <p:nvPr/>
        </p:nvSpPr>
        <p:spPr>
          <a:xfrm>
            <a:off x="812800" y="1107418"/>
            <a:ext cx="10883392" cy="430477"/>
          </a:xfrm>
          <a:prstGeom prst="rect">
            <a:avLst/>
          </a:prstGeom>
          <a:noFill/>
          <a:ln/>
        </p:spPr>
        <p:txBody>
          <a:bodyPr wrap="square" lIns="0" tIns="0" rIns="0" bIns="0" rtlCol="0" anchor="t">
            <a:normAutofit/>
          </a:bodyPr>
          <a:lstStyle/>
          <a:p>
            <a:pPr algn="l" indent="0" marL="0">
              <a:lnSpc>
                <a:spcPts val="3190"/>
              </a:lnSpc>
              <a:buNone/>
            </a:pPr>
            <a:r>
              <a:rPr lang="en-US" sz="2900" b="1" dirty="0">
                <a:solidFill>
                  <a:srgbClr val="14213D"/>
                </a:solidFill>
                <a:latin typeface="IBM Plex Sans" pitchFamily="34" charset="0"/>
                <a:ea typeface="IBM Plex Sans" pitchFamily="34" charset="-122"/>
                <a:cs typeface="IBM Plex Sans" pitchFamily="34" charset="-120"/>
              </a:rPr>
              <a:t>Stessi pesi, disposti diversamente</a:t>
            </a:r>
            <a:endParaRPr lang="en-US" sz="2900" dirty="0"/>
          </a:p>
        </p:txBody>
      </p:sp>
      <p:sp>
        <p:nvSpPr>
          <p:cNvPr id="4" name="Text 2"/>
          <p:cNvSpPr/>
          <p:nvPr/>
        </p:nvSpPr>
        <p:spPr>
          <a:xfrm>
            <a:off x="812800" y="1677591"/>
            <a:ext cx="10595610"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Cinque forme con lo </a:t>
            </a:r>
            <a:r>
              <a:rPr lang="en-US" sz="1400" b="1" dirty="0">
                <a:solidFill>
                  <a:srgbClr val="4A5568"/>
                </a:solidFill>
                <a:latin typeface="IBM Plex Sans" pitchFamily="34" charset="0"/>
                <a:ea typeface="IBM Plex Sans" pitchFamily="34" charset="-122"/>
                <a:cs typeface="IBM Plex Sans" pitchFamily="34" charset="-120"/>
              </a:rPr>
              <a:t>stesso numero di pesi</a:t>
            </a:r>
            <a:r>
              <a:rPr lang="en-US" sz="1400" dirty="0">
                <a:solidFill>
                  <a:srgbClr val="4A5568"/>
                </a:solidFill>
                <a:latin typeface="IBM Plex Sans" pitchFamily="34" charset="0"/>
                <a:ea typeface="IBM Plex Sans" pitchFamily="34" charset="-122"/>
                <a:cs typeface="IBM Plex Sans" pitchFamily="34" charset="-120"/>
              </a:rPr>
              <a:t> (~592): uno strato largo, oppure cinque stretti. Se il costo dipendesse solo dai pesi, le curve sarebbero piatte.</a:t>
            </a:r>
            <a:endParaRPr lang="en-US" sz="1400" dirty="0"/>
          </a:p>
        </p:txBody>
      </p:sp>
      <p:sp>
        <p:nvSpPr>
          <p:cNvPr id="5" name="Shape 3"/>
          <p:cNvSpPr/>
          <p:nvPr/>
        </p:nvSpPr>
        <p:spPr>
          <a:xfrm>
            <a:off x="815975" y="2343683"/>
            <a:ext cx="5581650" cy="2834217"/>
          </a:xfrm>
          <a:prstGeom prst="roundRect">
            <a:avLst>
              <a:gd name="adj" fmla="val 3473"/>
            </a:avLst>
          </a:prstGeom>
          <a:solidFill>
            <a:srgbClr val="FFFFFF"/>
          </a:solidFill>
          <a:ln w="6350">
            <a:solidFill>
              <a:srgbClr val="D7DEE7"/>
            </a:solidFill>
            <a:prstDash val="solid"/>
          </a:ln>
        </p:spPr>
      </p:sp>
      <p:pic>
        <p:nvPicPr>
          <p:cNvPr id="6" name="Image 0" descr="Latenza al crescere del numero di strati a parita' di pesi: le due versioni generiche salgono nettamente, le due specializzate restano intorno allo stesso valore">    </p:cNvPr>
          <p:cNvPicPr>
            <a:picLocks noChangeAspect="1"/>
          </p:cNvPicPr>
          <p:nvPr/>
        </p:nvPicPr>
        <p:blipFill>
          <a:blip r:embed="rId1"/>
          <a:srcRect l="-16167" r="-16167" t="0" b="0"/>
          <a:stretch/>
        </p:blipFill>
        <p:spPr>
          <a:xfrm>
            <a:off x="931333" y="2459038"/>
            <a:ext cx="5359400" cy="2603500"/>
          </a:xfrm>
          <a:prstGeom prst="rect">
            <a:avLst/>
          </a:prstGeom>
        </p:spPr>
      </p:pic>
      <p:sp>
        <p:nvSpPr>
          <p:cNvPr id="7" name="Shape 4"/>
          <p:cNvSpPr/>
          <p:nvPr/>
        </p:nvSpPr>
        <p:spPr>
          <a:xfrm>
            <a:off x="6578600" y="2624336"/>
            <a:ext cx="4800600" cy="972145"/>
          </a:xfrm>
          <a:prstGeom prst="roundRect">
            <a:avLst>
              <a:gd name="adj" fmla="val 10451"/>
            </a:avLst>
          </a:prstGeom>
          <a:solidFill>
            <a:srgbClr val="14213D"/>
          </a:solidFill>
          <a:ln/>
        </p:spPr>
      </p:sp>
      <p:sp>
        <p:nvSpPr>
          <p:cNvPr id="8" name="Text 5"/>
          <p:cNvSpPr/>
          <p:nvPr/>
        </p:nvSpPr>
        <p:spPr>
          <a:xfrm>
            <a:off x="6743700" y="2764036"/>
            <a:ext cx="460451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E8A87C"/>
                </a:solidFill>
                <a:latin typeface="IBM Plex Sans" pitchFamily="34" charset="0"/>
                <a:ea typeface="IBM Plex Sans" pitchFamily="34" charset="-122"/>
                <a:cs typeface="IBM Plex Sans" pitchFamily="34" charset="-120"/>
              </a:rPr>
              <a:t>Generiche: la profondità si paga</a:t>
            </a:r>
            <a:endParaRPr lang="en-US" sz="1400" dirty="0"/>
          </a:p>
        </p:txBody>
      </p:sp>
      <p:sp>
        <p:nvSpPr>
          <p:cNvPr id="9" name="Text 6"/>
          <p:cNvSpPr/>
          <p:nvPr/>
        </p:nvSpPr>
        <p:spPr>
          <a:xfrm>
            <a:off x="6743700" y="3028156"/>
            <a:ext cx="4604512" cy="454025"/>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BFD8D5"/>
                </a:solidFill>
                <a:latin typeface="IBM Plex Sans" pitchFamily="34" charset="0"/>
                <a:ea typeface="IBM Plex Sans" pitchFamily="34" charset="-122"/>
                <a:cs typeface="IBM Plex Sans" pitchFamily="34" charset="-120"/>
              </a:rPr>
              <a:t>Da 1 a 5 strati, a pesi fermi: </a:t>
            </a:r>
            <a:r>
              <a:rPr lang="en-US" sz="1250" b="1" dirty="0">
                <a:solidFill>
                  <a:srgbClr val="BFD8D5"/>
                </a:solidFill>
                <a:latin typeface="IBM Plex Sans" pitchFamily="34" charset="0"/>
                <a:ea typeface="IBM Plex Sans" pitchFamily="34" charset="-122"/>
                <a:cs typeface="IBM Plex Sans" pitchFamily="34" charset="-120"/>
              </a:rPr>
              <a:t>279 → 382 ns</a:t>
            </a:r>
            <a:r>
              <a:rPr lang="en-US" sz="1250" dirty="0">
                <a:solidFill>
                  <a:srgbClr val="BFD8D5"/>
                </a:solidFill>
                <a:latin typeface="IBM Plex Sans" pitchFamily="34" charset="0"/>
                <a:ea typeface="IBM Plex Sans" pitchFamily="34" charset="-122"/>
                <a:cs typeface="IBM Plex Sans" pitchFamily="34" charset="-120"/>
              </a:rPr>
              <a:t> e </a:t>
            </a:r>
            <a:r>
              <a:rPr lang="en-US" sz="1250" b="1" dirty="0">
                <a:solidFill>
                  <a:srgbClr val="BFD8D5"/>
                </a:solidFill>
                <a:latin typeface="IBM Plex Sans" pitchFamily="34" charset="0"/>
                <a:ea typeface="IBM Plex Sans" pitchFamily="34" charset="-122"/>
                <a:cs typeface="IBM Plex Sans" pitchFamily="34" charset="-120"/>
              </a:rPr>
              <a:t>392 → 661 ns</a:t>
            </a:r>
            <a:r>
              <a:rPr lang="en-US" sz="1250" dirty="0">
                <a:solidFill>
                  <a:srgbClr val="BFD8D5"/>
                </a:solidFill>
                <a:latin typeface="IBM Plex Sans" pitchFamily="34" charset="0"/>
                <a:ea typeface="IBM Plex Sans" pitchFamily="34" charset="-122"/>
                <a:cs typeface="IBM Plex Sans" pitchFamily="34" charset="-120"/>
              </a:rPr>
              <a:t>. Ogni strato in più è anche un salto e un gruppo di letture.</a:t>
            </a:r>
            <a:endParaRPr lang="en-US" sz="1250" dirty="0"/>
          </a:p>
        </p:txBody>
      </p:sp>
      <p:sp>
        <p:nvSpPr>
          <p:cNvPr id="10" name="Shape 7"/>
          <p:cNvSpPr/>
          <p:nvPr/>
        </p:nvSpPr>
        <p:spPr>
          <a:xfrm>
            <a:off x="6578600" y="3710781"/>
            <a:ext cx="4800600" cy="1186458"/>
          </a:xfrm>
          <a:prstGeom prst="roundRect">
            <a:avLst>
              <a:gd name="adj" fmla="val 8563"/>
            </a:avLst>
          </a:prstGeom>
          <a:solidFill>
            <a:srgbClr val="FBFBF8"/>
          </a:solidFill>
          <a:ln/>
        </p:spPr>
      </p:sp>
      <p:sp>
        <p:nvSpPr>
          <p:cNvPr id="11" name="Text 8"/>
          <p:cNvSpPr/>
          <p:nvPr/>
        </p:nvSpPr>
        <p:spPr>
          <a:xfrm>
            <a:off x="6743700" y="3850481"/>
            <a:ext cx="460451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E7D52"/>
                </a:solidFill>
                <a:latin typeface="IBM Plex Sans" pitchFamily="34" charset="0"/>
                <a:ea typeface="IBM Plex Sans" pitchFamily="34" charset="-122"/>
                <a:cs typeface="IBM Plex Sans" pitchFamily="34" charset="-120"/>
              </a:rPr>
              <a:t>Specializzate: indifferenti</a:t>
            </a:r>
            <a:endParaRPr lang="en-US" sz="1400" dirty="0"/>
          </a:p>
        </p:txBody>
      </p:sp>
      <p:sp>
        <p:nvSpPr>
          <p:cNvPr id="12" name="Text 9"/>
          <p:cNvSpPr/>
          <p:nvPr/>
        </p:nvSpPr>
        <p:spPr>
          <a:xfrm>
            <a:off x="6743700" y="4114602"/>
            <a:ext cx="4604512" cy="668338"/>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4A5568"/>
                </a:solidFill>
                <a:latin typeface="IBM Plex Sans" pitchFamily="34" charset="0"/>
                <a:ea typeface="IBM Plex Sans" pitchFamily="34" charset="-122"/>
                <a:cs typeface="IBM Plex Sans" pitchFamily="34" charset="-120"/>
              </a:rPr>
              <a:t>70–98 ns senza un andamento: srotolano tutto in una funzione sola, e per loro cinque strati stretti o uno largo sono lo stesso conto.</a:t>
            </a:r>
            <a:endParaRPr lang="en-US" sz="1250" dirty="0"/>
          </a:p>
        </p:txBody>
      </p:sp>
      <p:sp>
        <p:nvSpPr>
          <p:cNvPr id="13" name="Text 10"/>
          <p:cNvSpPr/>
          <p:nvPr/>
        </p:nvSpPr>
        <p:spPr>
          <a:xfrm>
            <a:off x="812800" y="6238280"/>
            <a:ext cx="58070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«Meglio larga o profonda?» non ha una risposta assoluta: </a:t>
            </a:r>
            <a:r>
              <a:rPr lang="en-US" sz="1200" b="1" dirty="0">
                <a:solidFill>
                  <a:srgbClr val="6A7179"/>
                </a:solidFill>
                <a:latin typeface="IBM Plex Sans" pitchFamily="34" charset="0"/>
                <a:ea typeface="IBM Plex Sans" pitchFamily="34" charset="-122"/>
                <a:cs typeface="IBM Plex Sans" pitchFamily="34" charset="-120"/>
              </a:rPr>
              <a:t>dipende da chi la esegue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177734"/>
          </a:xfrm>
          <a:prstGeom prst="rect">
            <a:avLst/>
          </a:prstGeom>
          <a:noFill/>
          <a:ln/>
        </p:spPr>
        <p:txBody>
          <a:bodyPr wrap="square" lIns="0" tIns="0" rIns="0" bIns="0" rtlCol="0" anchor="t">
            <a:normAutofit/>
          </a:bodyPr>
          <a:lstStyle/>
          <a:p>
            <a:pPr algn="l" indent="0" marL="0">
              <a:lnSpc>
                <a:spcPts val="1223"/>
              </a:lnSpc>
              <a:buNone/>
            </a:pPr>
            <a:r>
              <a:rPr lang="en-US" sz="873" spc="100" kern="0" dirty="0">
                <a:solidFill>
                  <a:srgbClr val="E8A87C"/>
                </a:solidFill>
                <a:latin typeface="JetBrains Mono" pitchFamily="34" charset="0"/>
                <a:ea typeface="JetBrains Mono" pitchFamily="34" charset="-122"/>
                <a:cs typeface="JetBrains Mono" pitchFamily="34" charset="-120"/>
              </a:rPr>
              <a:t>QUANTIZZAZIONE</a:t>
            </a:r>
            <a:endParaRPr lang="en-US" sz="873" dirty="0"/>
          </a:p>
        </p:txBody>
      </p:sp>
      <p:sp>
        <p:nvSpPr>
          <p:cNvPr id="3" name="Text 1"/>
          <p:cNvSpPr/>
          <p:nvPr/>
        </p:nvSpPr>
        <p:spPr>
          <a:xfrm>
            <a:off x="812800" y="1028638"/>
            <a:ext cx="10883392" cy="301757"/>
          </a:xfrm>
          <a:prstGeom prst="rect">
            <a:avLst/>
          </a:prstGeom>
          <a:noFill/>
          <a:ln/>
        </p:spPr>
        <p:txBody>
          <a:bodyPr wrap="square" lIns="0" tIns="0" rIns="0" bIns="0" rtlCol="0" anchor="t">
            <a:normAutofit/>
          </a:bodyPr>
          <a:lstStyle/>
          <a:p>
            <a:pPr algn="l" indent="0" marL="0">
              <a:lnSpc>
                <a:spcPts val="2217"/>
              </a:lnSpc>
              <a:buNone/>
            </a:pPr>
            <a:r>
              <a:rPr lang="en-US" sz="2016" b="1" dirty="0">
                <a:solidFill>
                  <a:srgbClr val="FBFBF8"/>
                </a:solidFill>
                <a:latin typeface="IBM Plex Sans" pitchFamily="34" charset="0"/>
                <a:ea typeface="IBM Plex Sans" pitchFamily="34" charset="-122"/>
                <a:cs typeface="IBM Plex Sans" pitchFamily="34" charset="-120"/>
              </a:rPr>
              <a:t>L’aritmetica che gira nel kernel</a:t>
            </a:r>
            <a:endParaRPr lang="en-US" sz="2016" dirty="0"/>
          </a:p>
        </p:txBody>
      </p:sp>
      <p:sp>
        <p:nvSpPr>
          <p:cNvPr id="4" name="Text 2"/>
          <p:cNvSpPr/>
          <p:nvPr/>
        </p:nvSpPr>
        <p:spPr>
          <a:xfrm>
            <a:off x="812800" y="1482793"/>
            <a:ext cx="10203180" cy="381000"/>
          </a:xfrm>
          <a:prstGeom prst="rect">
            <a:avLst/>
          </a:prstGeom>
          <a:noFill/>
          <a:ln/>
        </p:spPr>
        <p:txBody>
          <a:bodyPr wrap="square" lIns="0" tIns="0" rIns="0" bIns="0" rtlCol="0" anchor="t">
            <a:normAutofit/>
          </a:bodyPr>
          <a:lstStyle/>
          <a:p>
            <a:pPr algn="l" indent="0" marL="0">
              <a:lnSpc>
                <a:spcPts val="1789"/>
              </a:lnSpc>
              <a:buNone/>
            </a:pPr>
            <a:r>
              <a:rPr lang="en-US" sz="1278" dirty="0">
                <a:solidFill>
                  <a:srgbClr val="BFD8D5"/>
                </a:solidFill>
                <a:latin typeface="IBM Plex Sans" pitchFamily="34" charset="0"/>
                <a:ea typeface="IBM Plex Sans" pitchFamily="34" charset="-122"/>
                <a:cs typeface="IBM Plex Sans" pitchFamily="34" charset="-120"/>
              </a:rPr>
              <a:t>Dentro il kernel </a:t>
            </a:r>
            <a:r>
              <a:rPr lang="en-US" sz="1278" b="1" dirty="0">
                <a:solidFill>
                  <a:srgbClr val="BFD8D5"/>
                </a:solidFill>
                <a:latin typeface="IBM Plex Sans" pitchFamily="34" charset="0"/>
                <a:ea typeface="IBM Plex Sans" pitchFamily="34" charset="-122"/>
                <a:cs typeface="IBM Plex Sans" pitchFamily="34" charset="-120"/>
              </a:rPr>
              <a:t>non esistono i numeri con la virgola</a:t>
            </a:r>
            <a:r>
              <a:rPr lang="en-US" sz="1278" dirty="0">
                <a:solidFill>
                  <a:srgbClr val="BFD8D5"/>
                </a:solidFill>
                <a:latin typeface="IBM Plex Sans" pitchFamily="34" charset="0"/>
                <a:ea typeface="IBM Plex Sans" pitchFamily="34" charset="-122"/>
                <a:cs typeface="IBM Plex Sans" pitchFamily="34" charset="-120"/>
              </a:rPr>
              <a:t>. Tutti i pesi vanno riscritti come interi fra −128 e 127, in modo che lo zero resti zero.</a:t>
            </a:r>
            <a:endParaRPr lang="en-US" sz="1278" dirty="0"/>
          </a:p>
        </p:txBody>
      </p:sp>
      <p:sp>
        <p:nvSpPr>
          <p:cNvPr id="5" name="Shape 3"/>
          <p:cNvSpPr/>
          <p:nvPr/>
        </p:nvSpPr>
        <p:spPr>
          <a:xfrm>
            <a:off x="812800" y="2016193"/>
            <a:ext cx="10566400" cy="837340"/>
          </a:xfrm>
          <a:prstGeom prst="roundRect">
            <a:avLst>
              <a:gd name="adj" fmla="val 12134"/>
            </a:avLst>
          </a:prstGeom>
          <a:solidFill>
            <a:srgbClr val="1C2C4F"/>
          </a:solidFill>
          <a:ln/>
        </p:spPr>
      </p:sp>
      <p:pic>
        <p:nvPicPr>
          <p:cNvPr id="6" name="Image 0" descr="w segnato uguale round di w per s, con s uguale 127 diviso il massimo valore assoluto di w; w segnato appartiene all'intervallo da meno 128 a 127">    </p:cNvPr>
          <p:cNvPicPr>
            <a:picLocks noChangeAspect="1"/>
          </p:cNvPicPr>
          <p:nvPr/>
        </p:nvPicPr>
        <p:blipFill>
          <a:blip r:embed="rId1"/>
          <a:srcRect l="-22536" r="-22536" t="0" b="0"/>
          <a:stretch/>
        </p:blipFill>
        <p:spPr>
          <a:xfrm>
            <a:off x="1651000" y="2193993"/>
            <a:ext cx="8890000" cy="481740"/>
          </a:xfrm>
          <a:prstGeom prst="rect">
            <a:avLst/>
          </a:prstGeom>
        </p:spPr>
      </p:pic>
      <p:sp>
        <p:nvSpPr>
          <p:cNvPr id="7" name="Shape 4"/>
          <p:cNvSpPr/>
          <p:nvPr/>
        </p:nvSpPr>
        <p:spPr>
          <a:xfrm>
            <a:off x="812800" y="3031331"/>
            <a:ext cx="10566400" cy="1611643"/>
          </a:xfrm>
          <a:prstGeom prst="roundRect">
            <a:avLst>
              <a:gd name="adj" fmla="val 6304"/>
            </a:avLst>
          </a:prstGeom>
          <a:solidFill>
            <a:srgbClr val="1C2C4F"/>
          </a:solidFill>
          <a:ln/>
        </p:spPr>
      </p:sp>
      <p:pic>
        <p:nvPicPr>
          <p:cNvPr id="8" name="Image 1" descr="a indice elle di j uguale ReLU di b segnato di j per s elevato alla elle meno uno, piu' la sommatoria su i del troncamento di a indice elle meno uno di i per w segnato di j i, diviso c indice i">    </p:cNvPr>
          <p:cNvPicPr>
            <a:picLocks noChangeAspect="1"/>
          </p:cNvPicPr>
          <p:nvPr/>
        </p:nvPicPr>
        <p:blipFill>
          <a:blip r:embed="rId2"/>
          <a:srcRect l="-24075" r="-24075" t="0" b="0"/>
          <a:stretch/>
        </p:blipFill>
        <p:spPr>
          <a:xfrm>
            <a:off x="1270000" y="3209131"/>
            <a:ext cx="9652000" cy="855729"/>
          </a:xfrm>
          <a:prstGeom prst="rect">
            <a:avLst/>
          </a:prstGeom>
        </p:spPr>
      </p:pic>
      <p:sp>
        <p:nvSpPr>
          <p:cNvPr id="9" name="Text 5"/>
          <p:cNvSpPr/>
          <p:nvPr/>
        </p:nvSpPr>
        <p:spPr>
          <a:xfrm>
            <a:off x="1517650" y="4153762"/>
            <a:ext cx="9156700" cy="336815"/>
          </a:xfrm>
          <a:prstGeom prst="rect">
            <a:avLst/>
          </a:prstGeom>
          <a:noFill/>
          <a:ln/>
        </p:spPr>
        <p:txBody>
          <a:bodyPr wrap="square" lIns="0" tIns="0" rIns="0" bIns="0" rtlCol="0" anchor="t">
            <a:normAutofit/>
          </a:bodyPr>
          <a:lstStyle/>
          <a:p>
            <a:pPr algn="ctr" indent="0" marL="0">
              <a:lnSpc>
                <a:spcPts val="1422"/>
              </a:lnSpc>
              <a:buNone/>
            </a:pPr>
            <a:r>
              <a:rPr lang="en-US" sz="1016" dirty="0">
                <a:solidFill>
                  <a:srgbClr val="BFD8D5"/>
                </a:solidFill>
                <a:latin typeface="IBM Plex Sans" pitchFamily="34" charset="0"/>
                <a:ea typeface="IBM Plex Sans" pitchFamily="34" charset="-122"/>
                <a:cs typeface="IBM Plex Sans" pitchFamily="34" charset="-120"/>
              </a:rPr>
              <a:t>Si divide il </a:t>
            </a:r>
            <a:r>
              <a:rPr lang="en-US" sz="1016" b="1" dirty="0">
                <a:solidFill>
                  <a:srgbClr val="BFD8D5"/>
                </a:solidFill>
                <a:latin typeface="IBM Plex Sans" pitchFamily="34" charset="0"/>
                <a:ea typeface="IBM Plex Sans" pitchFamily="34" charset="-122"/>
                <a:cs typeface="IBM Plex Sans" pitchFamily="34" charset="-120"/>
              </a:rPr>
              <a:t>risultato della moltiplicazione</a:t>
            </a:r>
            <a:r>
              <a:rPr lang="en-US" sz="1016" dirty="0">
                <a:solidFill>
                  <a:srgbClr val="BFD8D5"/>
                </a:solidFill>
                <a:latin typeface="IBM Plex Sans" pitchFamily="34" charset="0"/>
                <a:ea typeface="IBM Plex Sans" pitchFamily="34" charset="-122"/>
                <a:cs typeface="IBM Plex Sans" pitchFamily="34" charset="-120"/>
              </a:rPr>
              <a:t>, non l’ingresso: dividere prima schiaccerebbe un TTL fra 10 e 30 tutto su 0 o 1, e l’informazione andrebbe persa.</a:t>
            </a:r>
            <a:endParaRPr lang="en-US" sz="1016" dirty="0"/>
          </a:p>
        </p:txBody>
      </p:sp>
      <p:sp>
        <p:nvSpPr>
          <p:cNvPr id="10" name="Shape 6"/>
          <p:cNvSpPr/>
          <p:nvPr/>
        </p:nvSpPr>
        <p:spPr>
          <a:xfrm>
            <a:off x="812800" y="4820779"/>
            <a:ext cx="5194300" cy="1021226"/>
          </a:xfrm>
          <a:prstGeom prst="roundRect">
            <a:avLst>
              <a:gd name="adj" fmla="val 9949"/>
            </a:avLst>
          </a:prstGeom>
          <a:solidFill>
            <a:srgbClr val="1C2C4F"/>
          </a:solidFill>
          <a:ln/>
        </p:spPr>
      </p:sp>
      <p:sp>
        <p:nvSpPr>
          <p:cNvPr id="11" name="Text 7"/>
          <p:cNvSpPr/>
          <p:nvPr/>
        </p:nvSpPr>
        <p:spPr>
          <a:xfrm>
            <a:off x="1003300" y="4973179"/>
            <a:ext cx="4957699" cy="152598"/>
          </a:xfrm>
          <a:prstGeom prst="rect">
            <a:avLst/>
          </a:prstGeom>
          <a:noFill/>
          <a:ln/>
        </p:spPr>
        <p:txBody>
          <a:bodyPr wrap="square" lIns="0" tIns="0" rIns="0" bIns="0" rtlCol="0" anchor="t">
            <a:normAutofit/>
          </a:bodyPr>
          <a:lstStyle/>
          <a:p>
            <a:pPr algn="l" indent="0" marL="0">
              <a:lnSpc>
                <a:spcPts val="1024"/>
              </a:lnSpc>
              <a:buNone/>
            </a:pPr>
            <a:r>
              <a:rPr lang="en-US" sz="853" b="1" dirty="0">
                <a:solidFill>
                  <a:srgbClr val="E8A87C"/>
                </a:solidFill>
                <a:latin typeface="IBM Plex Sans" pitchFamily="34" charset="0"/>
                <a:ea typeface="IBM Plex Sans" pitchFamily="34" charset="-122"/>
                <a:cs typeface="IBM Plex Sans" pitchFamily="34" charset="-120"/>
              </a:rPr>
              <a:t>Il fattore sⁿ⁻¹ (esponente ℓ−1)</a:t>
            </a:r>
            <a:endParaRPr lang="en-US" sz="853" dirty="0"/>
          </a:p>
        </p:txBody>
      </p:sp>
      <p:sp>
        <p:nvSpPr>
          <p:cNvPr id="12" name="Text 8"/>
          <p:cNvSpPr/>
          <p:nvPr/>
        </p:nvSpPr>
        <p:spPr>
          <a:xfrm>
            <a:off x="1003300" y="5138477"/>
            <a:ext cx="4957699" cy="576527"/>
          </a:xfrm>
          <a:prstGeom prst="rect">
            <a:avLst/>
          </a:prstGeom>
          <a:noFill/>
          <a:ln/>
        </p:spPr>
        <p:txBody>
          <a:bodyPr wrap="square" lIns="0" tIns="0" rIns="0" bIns="0" rtlCol="0" anchor="t">
            <a:normAutofit/>
          </a:bodyPr>
          <a:lstStyle/>
          <a:p>
            <a:pPr algn="l" indent="0" marL="0">
              <a:lnSpc>
                <a:spcPts val="1456"/>
              </a:lnSpc>
              <a:buNone/>
            </a:pPr>
            <a:r>
              <a:rPr lang="en-US" sz="1040" dirty="0">
                <a:solidFill>
                  <a:srgbClr val="BFD8D5"/>
                </a:solidFill>
                <a:latin typeface="IBM Plex Sans" pitchFamily="34" charset="0"/>
                <a:ea typeface="IBM Plex Sans" pitchFamily="34" charset="-122"/>
                <a:cs typeface="IBM Plex Sans" pitchFamily="34" charset="-120"/>
              </a:rPr>
              <a:t>Ogni strato attraversato moltiplica il totale per la scala un’altra volta; il termine aggiuntivo, salvato una volta sola, è rimasto indietro. Sommarli senza riallineare è come sommare metri e centimetri: </a:t>
            </a:r>
            <a:r>
              <a:rPr lang="en-US" sz="1040" b="1" dirty="0">
                <a:solidFill>
                  <a:srgbClr val="BFD8D5"/>
                </a:solidFill>
                <a:latin typeface="IBM Plex Sans" pitchFamily="34" charset="0"/>
                <a:ea typeface="IBM Plex Sans" pitchFamily="34" charset="-122"/>
                <a:cs typeface="IBM Plex Sans" pitchFamily="34" charset="-120"/>
              </a:rPr>
              <a:t>28 %</a:t>
            </a:r>
            <a:r>
              <a:rPr lang="en-US" sz="1040" dirty="0">
                <a:solidFill>
                  <a:srgbClr val="BFD8D5"/>
                </a:solidFill>
                <a:latin typeface="IBM Plex Sans" pitchFamily="34" charset="0"/>
                <a:ea typeface="IBM Plex Sans" pitchFamily="34" charset="-122"/>
                <a:cs typeface="IBM Plex Sans" pitchFamily="34" charset="-120"/>
              </a:rPr>
              <a:t> di decisioni sbagliate.</a:t>
            </a:r>
            <a:endParaRPr lang="en-US" sz="1040" dirty="0"/>
          </a:p>
        </p:txBody>
      </p:sp>
      <p:sp>
        <p:nvSpPr>
          <p:cNvPr id="13" name="Shape 9"/>
          <p:cNvSpPr/>
          <p:nvPr/>
        </p:nvSpPr>
        <p:spPr>
          <a:xfrm>
            <a:off x="6184900" y="4820779"/>
            <a:ext cx="5194300" cy="1021226"/>
          </a:xfrm>
          <a:prstGeom prst="roundRect">
            <a:avLst>
              <a:gd name="adj" fmla="val 9949"/>
            </a:avLst>
          </a:prstGeom>
          <a:solidFill>
            <a:srgbClr val="1C2C4F"/>
          </a:solidFill>
          <a:ln/>
        </p:spPr>
      </p:sp>
      <p:sp>
        <p:nvSpPr>
          <p:cNvPr id="14" name="Text 10"/>
          <p:cNvSpPr/>
          <p:nvPr/>
        </p:nvSpPr>
        <p:spPr>
          <a:xfrm>
            <a:off x="6375400" y="4973179"/>
            <a:ext cx="4957699" cy="152598"/>
          </a:xfrm>
          <a:prstGeom prst="rect">
            <a:avLst/>
          </a:prstGeom>
          <a:noFill/>
          <a:ln/>
        </p:spPr>
        <p:txBody>
          <a:bodyPr wrap="square" lIns="0" tIns="0" rIns="0" bIns="0" rtlCol="0" anchor="t">
            <a:normAutofit/>
          </a:bodyPr>
          <a:lstStyle/>
          <a:p>
            <a:pPr algn="l" indent="0" marL="0">
              <a:lnSpc>
                <a:spcPts val="1024"/>
              </a:lnSpc>
              <a:buNone/>
            </a:pPr>
            <a:r>
              <a:rPr lang="en-US" sz="853" b="1" dirty="0">
                <a:solidFill>
                  <a:srgbClr val="E8A87C"/>
                </a:solidFill>
                <a:latin typeface="IBM Plex Sans" pitchFamily="34" charset="0"/>
                <a:ea typeface="IBM Plex Sans" pitchFamily="34" charset="-122"/>
                <a:cs typeface="IBM Plex Sans" pitchFamily="34" charset="-120"/>
              </a:rPr>
              <a:t>Il troncamento</a:t>
            </a:r>
            <a:endParaRPr lang="en-US" sz="853" dirty="0"/>
          </a:p>
        </p:txBody>
      </p:sp>
      <p:sp>
        <p:nvSpPr>
          <p:cNvPr id="15" name="Text 11"/>
          <p:cNvSpPr/>
          <p:nvPr/>
        </p:nvSpPr>
        <p:spPr>
          <a:xfrm>
            <a:off x="6375400" y="5138477"/>
            <a:ext cx="4957699" cy="576527"/>
          </a:xfrm>
          <a:prstGeom prst="rect">
            <a:avLst/>
          </a:prstGeom>
          <a:noFill/>
          <a:ln/>
        </p:spPr>
        <p:txBody>
          <a:bodyPr wrap="square" lIns="0" tIns="0" rIns="0" bIns="0" rtlCol="0" anchor="t">
            <a:normAutofit/>
          </a:bodyPr>
          <a:lstStyle/>
          <a:p>
            <a:pPr algn="l" indent="0" marL="0">
              <a:lnSpc>
                <a:spcPts val="1456"/>
              </a:lnSpc>
              <a:buNone/>
            </a:pPr>
            <a:r>
              <a:rPr lang="en-US" sz="1040" dirty="0">
                <a:solidFill>
                  <a:srgbClr val="BFD8D5"/>
                </a:solidFill>
                <a:latin typeface="IBM Plex Sans" pitchFamily="34" charset="0"/>
                <a:ea typeface="IBM Plex Sans" pitchFamily="34" charset="-122"/>
                <a:cs typeface="IBM Plex Sans" pitchFamily="34" charset="-120"/>
              </a:rPr>
              <a:t>Il linguaggio del kernel arrotonda sempre verso lo zero. Il riferimento in Python deve fare lo stesso, altrimenti i due risultati divergono </a:t>
            </a:r>
            <a:r>
              <a:rPr lang="en-US" sz="1040" b="1" dirty="0">
                <a:solidFill>
                  <a:srgbClr val="BFD8D5"/>
                </a:solidFill>
                <a:latin typeface="IBM Plex Sans" pitchFamily="34" charset="0"/>
                <a:ea typeface="IBM Plex Sans" pitchFamily="34" charset="-122"/>
                <a:cs typeface="IBM Plex Sans" pitchFamily="34" charset="-120"/>
              </a:rPr>
              <a:t>solo quando i pesi sono negativi</a:t>
            </a:r>
            <a:r>
              <a:rPr lang="en-US" sz="1040" dirty="0">
                <a:solidFill>
                  <a:srgbClr val="BFD8D5"/>
                </a:solidFill>
                <a:latin typeface="IBM Plex Sans" pitchFamily="34" charset="0"/>
                <a:ea typeface="IBM Plex Sans" pitchFamily="34" charset="-122"/>
                <a:cs typeface="IBM Plex Sans" pitchFamily="34" charset="-120"/>
              </a:rPr>
              <a:t> — ed è il tipo di differenza che si nota tardi.</a:t>
            </a:r>
            <a:endParaRPr lang="en-US" sz="1040" dirty="0"/>
          </a:p>
        </p:txBody>
      </p:sp>
      <p:sp>
        <p:nvSpPr>
          <p:cNvPr id="16" name="Text 12"/>
          <p:cNvSpPr/>
          <p:nvPr/>
        </p:nvSpPr>
        <p:spPr>
          <a:xfrm>
            <a:off x="812800" y="6238280"/>
            <a:ext cx="77700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F"/>
                </a:solidFill>
                <a:latin typeface="IBM Plex Sans" pitchFamily="34" charset="0"/>
                <a:ea typeface="IBM Plex Sans" pitchFamily="34" charset="-122"/>
                <a:cs typeface="IBM Plex Sans" pitchFamily="34" charset="-120"/>
              </a:rPr>
              <a:t>cᵢ = la scala dell’ingresso che occupa la colonna i · s = il fattore con cui il modello è stato portato a numeri interi</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42755"/>
          </a:xfrm>
          <a:prstGeom prst="rect">
            <a:avLst/>
          </a:prstGeom>
          <a:noFill/>
          <a:ln/>
        </p:spPr>
        <p:txBody>
          <a:bodyPr wrap="square" lIns="0" tIns="0" rIns="0" bIns="0" rtlCol="0" anchor="t">
            <a:normAutofit/>
          </a:bodyPr>
          <a:lstStyle/>
          <a:p>
            <a:pPr algn="l" indent="0" marL="0">
              <a:lnSpc>
                <a:spcPts val="1723"/>
              </a:lnSpc>
              <a:buNone/>
            </a:pPr>
            <a:r>
              <a:rPr lang="en-US" sz="1231" spc="100" kern="0" dirty="0">
                <a:solidFill>
                  <a:srgbClr val="C2410C"/>
                </a:solidFill>
                <a:latin typeface="JetBrains Mono" pitchFamily="34" charset="0"/>
                <a:ea typeface="JetBrains Mono" pitchFamily="34" charset="-122"/>
                <a:cs typeface="JetBrains Mono" pitchFamily="34" charset="-120"/>
              </a:rPr>
              <a:t>PROBLEMA MATEMATICO · UNITÀ DI MISURA</a:t>
            </a:r>
            <a:endParaRPr lang="en-US" sz="1231" dirty="0"/>
          </a:p>
        </p:txBody>
      </p:sp>
      <p:sp>
        <p:nvSpPr>
          <p:cNvPr id="3" name="Text 1"/>
          <p:cNvSpPr/>
          <p:nvPr/>
        </p:nvSpPr>
        <p:spPr>
          <a:xfrm>
            <a:off x="812800" y="1093657"/>
            <a:ext cx="10883392" cy="419695"/>
          </a:xfrm>
          <a:prstGeom prst="rect">
            <a:avLst/>
          </a:prstGeom>
          <a:noFill/>
          <a:ln/>
        </p:spPr>
        <p:txBody>
          <a:bodyPr wrap="square" lIns="0" tIns="0" rIns="0" bIns="0" rtlCol="0" anchor="t">
            <a:normAutofit/>
          </a:bodyPr>
          <a:lstStyle/>
          <a:p>
            <a:pPr algn="l" indent="0" marL="0">
              <a:lnSpc>
                <a:spcPts val="3125"/>
              </a:lnSpc>
              <a:buNone/>
            </a:pPr>
            <a:r>
              <a:rPr lang="en-US" sz="2841" b="1" dirty="0">
                <a:solidFill>
                  <a:srgbClr val="14213D"/>
                </a:solidFill>
                <a:latin typeface="IBM Plex Sans" pitchFamily="34" charset="0"/>
                <a:ea typeface="IBM Plex Sans" pitchFamily="34" charset="-122"/>
                <a:cs typeface="IBM Plex Sans" pitchFamily="34" charset="-120"/>
              </a:rPr>
              <a:t>Il bias era in un’altra scala</a:t>
            </a:r>
            <a:endParaRPr lang="en-US" sz="2841" dirty="0"/>
          </a:p>
        </p:txBody>
      </p:sp>
      <p:sp>
        <p:nvSpPr>
          <p:cNvPr id="4" name="Text 2"/>
          <p:cNvSpPr/>
          <p:nvPr/>
        </p:nvSpPr>
        <p:spPr>
          <a:xfrm>
            <a:off x="812800" y="1665759"/>
            <a:ext cx="10464800" cy="513159"/>
          </a:xfrm>
          <a:prstGeom prst="rect">
            <a:avLst/>
          </a:prstGeom>
          <a:noFill/>
          <a:ln/>
        </p:spPr>
        <p:txBody>
          <a:bodyPr wrap="square" lIns="0" tIns="0" rIns="0" bIns="0" rtlCol="0" anchor="t">
            <a:normAutofit/>
          </a:bodyPr>
          <a:lstStyle/>
          <a:p>
            <a:pPr algn="l" indent="0" marL="0">
              <a:lnSpc>
                <a:spcPts val="1935"/>
              </a:lnSpc>
              <a:buNone/>
            </a:pPr>
            <a:r>
              <a:rPr lang="en-US" sz="1382" dirty="0">
                <a:solidFill>
                  <a:srgbClr val="4A5568"/>
                </a:solidFill>
                <a:latin typeface="IBM Plex Sans" pitchFamily="34" charset="0"/>
                <a:ea typeface="IBM Plex Sans" pitchFamily="34" charset="-122"/>
                <a:cs typeface="IBM Plex Sans" pitchFamily="34" charset="-120"/>
              </a:rPr>
              <a:t>Ogni moltiplicazione fra interi quantizzati aggiunge un fattore </a:t>
            </a:r>
            <a:r>
              <a:rPr lang="en-US" sz="1382" i="1" dirty="0">
                <a:solidFill>
                  <a:srgbClr val="4A5568"/>
                </a:solidFill>
                <a:latin typeface="IBM Plex Sans" pitchFamily="34" charset="0"/>
                <a:ea typeface="IBM Plex Sans" pitchFamily="34" charset="-122"/>
                <a:cs typeface="IBM Plex Sans" pitchFamily="34" charset="-120"/>
              </a:rPr>
              <a:t>s</a:t>
            </a:r>
            <a:r>
              <a:rPr lang="en-US" sz="1382" dirty="0">
                <a:solidFill>
                  <a:srgbClr val="4A5568"/>
                </a:solidFill>
                <a:latin typeface="IBM Plex Sans" pitchFamily="34" charset="0"/>
                <a:ea typeface="IBM Plex Sans" pitchFamily="34" charset="-122"/>
                <a:cs typeface="IBM Plex Sans" pitchFamily="34" charset="-120"/>
              </a:rPr>
              <a:t> all’accumulatore. Il bias, memorizzato una volta sola, ne porta sempre uno. Sommarli è sommare metri e centimetri.</a:t>
            </a:r>
            <a:endParaRPr lang="en-US" sz="1382" dirty="0"/>
          </a:p>
        </p:txBody>
      </p:sp>
      <p:sp>
        <p:nvSpPr>
          <p:cNvPr id="5" name="Shape 3"/>
          <p:cNvSpPr/>
          <p:nvPr/>
        </p:nvSpPr>
        <p:spPr>
          <a:xfrm>
            <a:off x="812800" y="2331318"/>
            <a:ext cx="10566400" cy="1665420"/>
          </a:xfrm>
          <a:prstGeom prst="roundRect">
            <a:avLst>
              <a:gd name="adj" fmla="val 6101"/>
            </a:avLst>
          </a:prstGeom>
          <a:solidFill>
            <a:srgbClr val="EEF1F5"/>
          </a:solidFill>
          <a:ln/>
        </p:spPr>
      </p:sp>
      <p:pic>
        <p:nvPicPr>
          <p:cNvPr id="6" name="Image 0" descr="L'accumulatore dopo elle strati e' proporzionale a s elevato a elle, il bias quantizzato e' proporzionale a s, quindi il bias va moltiplicato per s elevato a elle meno uno">    </p:cNvPr>
          <p:cNvPicPr>
            <a:picLocks noChangeAspect="1"/>
          </p:cNvPicPr>
          <p:nvPr/>
        </p:nvPicPr>
        <p:blipFill>
          <a:blip r:embed="rId1"/>
          <a:srcRect l="-3081" r="-3081" t="0" b="0"/>
          <a:stretch/>
        </p:blipFill>
        <p:spPr>
          <a:xfrm>
            <a:off x="2794000" y="2521818"/>
            <a:ext cx="6604000" cy="956800"/>
          </a:xfrm>
          <a:prstGeom prst="rect">
            <a:avLst/>
          </a:prstGeom>
        </p:spPr>
      </p:pic>
      <p:sp>
        <p:nvSpPr>
          <p:cNvPr id="7" name="Text 4"/>
          <p:cNvSpPr/>
          <p:nvPr/>
        </p:nvSpPr>
        <p:spPr>
          <a:xfrm>
            <a:off x="1190625" y="3580209"/>
            <a:ext cx="9810750" cy="251420"/>
          </a:xfrm>
          <a:prstGeom prst="rect">
            <a:avLst/>
          </a:prstGeom>
          <a:noFill/>
          <a:ln/>
        </p:spPr>
        <p:txBody>
          <a:bodyPr wrap="square" lIns="0" tIns="0" rIns="0" bIns="0" rtlCol="0" anchor="t">
            <a:normAutofit/>
          </a:bodyPr>
          <a:lstStyle/>
          <a:p>
            <a:pPr algn="ctr" indent="0" marL="0">
              <a:lnSpc>
                <a:spcPts val="1819"/>
              </a:lnSpc>
              <a:buNone/>
            </a:pPr>
            <a:r>
              <a:rPr lang="en-US" sz="1299" dirty="0">
                <a:solidFill>
                  <a:srgbClr val="4A5568"/>
                </a:solidFill>
                <a:latin typeface="IBM Plex Sans" pitchFamily="34" charset="0"/>
                <a:ea typeface="IBM Plex Sans" pitchFamily="34" charset="-122"/>
                <a:cs typeface="IBM Plex Sans" pitchFamily="34" charset="-120"/>
              </a:rPr>
              <a:t>Sul modello di riferimento </a:t>
            </a:r>
            <a:r>
              <a:rPr lang="en-US" sz="1299" b="1" dirty="0">
                <a:solidFill>
                  <a:srgbClr val="4A5568"/>
                </a:solidFill>
                <a:latin typeface="IBM Plex Sans" pitchFamily="34" charset="0"/>
                <a:ea typeface="IBM Plex Sans" pitchFamily="34" charset="-122"/>
                <a:cs typeface="IBM Plex Sans" pitchFamily="34" charset="-120"/>
              </a:rPr>
              <a:t>s = 24</a:t>
            </a:r>
            <a:r>
              <a:rPr lang="en-US" sz="1299" dirty="0">
                <a:solidFill>
                  <a:srgbClr val="4A5568"/>
                </a:solidFill>
                <a:latin typeface="IBM Plex Sans" pitchFamily="34" charset="0"/>
                <a:ea typeface="IBM Plex Sans" pitchFamily="34" charset="-122"/>
                <a:cs typeface="IBM Plex Sans" pitchFamily="34" charset="-120"/>
              </a:rPr>
              <a:t> e lo strato d’uscita è </a:t>
            </a:r>
            <a:r>
              <a:rPr lang="en-US" sz="1299" b="1" dirty="0">
                <a:solidFill>
                  <a:srgbClr val="4A5568"/>
                </a:solidFill>
                <a:latin typeface="IBM Plex Sans" pitchFamily="34" charset="0"/>
                <a:ea typeface="IBM Plex Sans" pitchFamily="34" charset="-122"/>
                <a:cs typeface="IBM Plex Sans" pitchFamily="34" charset="-120"/>
              </a:rPr>
              <a:t>ℓ = 3</a:t>
            </a:r>
            <a:r>
              <a:rPr lang="en-US" sz="1299" dirty="0">
                <a:solidFill>
                  <a:srgbClr val="4A5568"/>
                </a:solidFill>
                <a:latin typeface="IBM Plex Sans" pitchFamily="34" charset="0"/>
                <a:ea typeface="IBM Plex Sans" pitchFamily="34" charset="-122"/>
                <a:cs typeface="IBM Plex Sans" pitchFamily="34" charset="-120"/>
              </a:rPr>
              <a:t>: il suo bias va moltiplicato per </a:t>
            </a:r>
            <a:r>
              <a:rPr lang="en-US" sz="1299" b="1" dirty="0">
                <a:solidFill>
                  <a:srgbClr val="4A5568"/>
                </a:solidFill>
                <a:latin typeface="IBM Plex Sans" pitchFamily="34" charset="0"/>
                <a:ea typeface="IBM Plex Sans" pitchFamily="34" charset="-122"/>
                <a:cs typeface="IBM Plex Sans" pitchFamily="34" charset="-120"/>
              </a:rPr>
              <a:t>24² = 576</a:t>
            </a:r>
            <a:r>
              <a:rPr lang="en-US" sz="1299" dirty="0">
                <a:solidFill>
                  <a:srgbClr val="4A5568"/>
                </a:solidFill>
                <a:latin typeface="IBM Plex Sans" pitchFamily="34" charset="0"/>
                <a:ea typeface="IBM Plex Sans" pitchFamily="34" charset="-122"/>
                <a:cs typeface="IBM Plex Sans" pitchFamily="34" charset="-120"/>
              </a:rPr>
              <a:t>.</a:t>
            </a:r>
            <a:endParaRPr lang="en-US" sz="1299" dirty="0"/>
          </a:p>
        </p:txBody>
      </p:sp>
      <p:sp>
        <p:nvSpPr>
          <p:cNvPr id="8" name="Shape 5"/>
          <p:cNvSpPr/>
          <p:nvPr/>
        </p:nvSpPr>
        <p:spPr>
          <a:xfrm>
            <a:off x="812800" y="4174530"/>
            <a:ext cx="3403600" cy="1667470"/>
          </a:xfrm>
          <a:prstGeom prst="roundRect">
            <a:avLst>
              <a:gd name="adj" fmla="val 6093"/>
            </a:avLst>
          </a:prstGeom>
          <a:solidFill>
            <a:srgbClr val="EEF1F5"/>
          </a:solidFill>
          <a:ln/>
        </p:spPr>
      </p:sp>
      <p:sp>
        <p:nvSpPr>
          <p:cNvPr id="9" name="Text 6"/>
          <p:cNvSpPr/>
          <p:nvPr/>
        </p:nvSpPr>
        <p:spPr>
          <a:xfrm>
            <a:off x="1003300" y="4339630"/>
            <a:ext cx="311327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C2410C"/>
                </a:solidFill>
                <a:latin typeface="IBM Plex Sans" pitchFamily="34" charset="0"/>
                <a:ea typeface="IBM Plex Sans" pitchFamily="34" charset="-122"/>
                <a:cs typeface="IBM Plex Sans" pitchFamily="34" charset="-120"/>
              </a:rPr>
              <a:t>Dov’era il difetto</a:t>
            </a:r>
            <a:endParaRPr lang="en-US" sz="1400" dirty="0"/>
          </a:p>
        </p:txBody>
      </p:sp>
      <p:sp>
        <p:nvSpPr>
          <p:cNvPr id="10" name="Text 7"/>
          <p:cNvSpPr/>
          <p:nvPr/>
        </p:nvSpPr>
        <p:spPr>
          <a:xfrm>
            <a:off x="1003300" y="4616450"/>
            <a:ext cx="3113278" cy="94985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Non nel kernel: nel </a:t>
            </a:r>
            <a:r>
              <a:rPr lang="en-US" sz="1300" b="1" dirty="0">
                <a:solidFill>
                  <a:srgbClr val="4A5568"/>
                </a:solidFill>
                <a:latin typeface="IBM Plex Sans" pitchFamily="34" charset="0"/>
                <a:ea typeface="IBM Plex Sans" pitchFamily="34" charset="-122"/>
                <a:cs typeface="IBM Plex Sans" pitchFamily="34" charset="-120"/>
              </a:rPr>
              <a:t>riferimento Python</a:t>
            </a:r>
            <a:r>
              <a:rPr lang="en-US" sz="1300" dirty="0">
                <a:solidFill>
                  <a:srgbClr val="4A5568"/>
                </a:solidFill>
                <a:latin typeface="IBM Plex Sans" pitchFamily="34" charset="0"/>
                <a:ea typeface="IBM Plex Sans" pitchFamily="34" charset="-122"/>
                <a:cs typeface="IBM Plex Sans" pitchFamily="34" charset="-120"/>
              </a:rPr>
              <a:t>. ref_infer lasciava lo strato d’uscita a s⁰. Nello stesso file ref_infer_sparse era già corretto.</a:t>
            </a:r>
            <a:endParaRPr lang="en-US" sz="1300" dirty="0"/>
          </a:p>
        </p:txBody>
      </p:sp>
      <p:sp>
        <p:nvSpPr>
          <p:cNvPr id="11" name="Shape 8"/>
          <p:cNvSpPr/>
          <p:nvPr/>
        </p:nvSpPr>
        <p:spPr>
          <a:xfrm>
            <a:off x="4394200" y="4174530"/>
            <a:ext cx="3403600" cy="1667470"/>
          </a:xfrm>
          <a:prstGeom prst="roundRect">
            <a:avLst>
              <a:gd name="adj" fmla="val 6093"/>
            </a:avLst>
          </a:prstGeom>
          <a:solidFill>
            <a:srgbClr val="EEF1F5"/>
          </a:solidFill>
          <a:ln/>
        </p:spPr>
      </p:sp>
      <p:sp>
        <p:nvSpPr>
          <p:cNvPr id="12" name="Text 9"/>
          <p:cNvSpPr/>
          <p:nvPr/>
        </p:nvSpPr>
        <p:spPr>
          <a:xfrm>
            <a:off x="4584700" y="4339630"/>
            <a:ext cx="3113278" cy="223904"/>
          </a:xfrm>
          <a:prstGeom prst="rect">
            <a:avLst/>
          </a:prstGeom>
          <a:noFill/>
          <a:ln/>
        </p:spPr>
        <p:txBody>
          <a:bodyPr wrap="square" lIns="0" tIns="0" rIns="0" bIns="0" rtlCol="0" anchor="t">
            <a:normAutofit/>
          </a:bodyPr>
          <a:lstStyle/>
          <a:p>
            <a:pPr algn="l" indent="0" marL="0">
              <a:lnSpc>
                <a:spcPts val="1570"/>
              </a:lnSpc>
              <a:buNone/>
            </a:pPr>
            <a:r>
              <a:rPr lang="en-US" sz="1308" b="1" dirty="0">
                <a:solidFill>
                  <a:srgbClr val="C2410C"/>
                </a:solidFill>
                <a:latin typeface="IBM Plex Sans" pitchFamily="34" charset="0"/>
                <a:ea typeface="IBM Plex Sans" pitchFamily="34" charset="-122"/>
                <a:cs typeface="IBM Plex Sans" pitchFamily="34" charset="-120"/>
              </a:rPr>
              <a:t>Perché non si vedeva</a:t>
            </a:r>
            <a:endParaRPr lang="en-US" sz="1308" dirty="0"/>
          </a:p>
        </p:txBody>
      </p:sp>
      <p:sp>
        <p:nvSpPr>
          <p:cNvPr id="13" name="Text 10"/>
          <p:cNvSpPr/>
          <p:nvPr/>
        </p:nvSpPr>
        <p:spPr>
          <a:xfrm>
            <a:off x="4584700" y="4601642"/>
            <a:ext cx="3113278" cy="1100667"/>
          </a:xfrm>
          <a:prstGeom prst="rect">
            <a:avLst/>
          </a:prstGeom>
          <a:noFill/>
          <a:ln/>
        </p:spPr>
        <p:txBody>
          <a:bodyPr wrap="square" lIns="0" tIns="0" rIns="0" bIns="0" rtlCol="0" anchor="t">
            <a:normAutofit/>
          </a:bodyPr>
          <a:lstStyle/>
          <a:p>
            <a:pPr algn="l" indent="0" marL="0">
              <a:lnSpc>
                <a:spcPts val="1695"/>
              </a:lnSpc>
              <a:buNone/>
            </a:pPr>
            <a:r>
              <a:rPr lang="en-US" sz="1211" dirty="0">
                <a:solidFill>
                  <a:srgbClr val="4A5568"/>
                </a:solidFill>
                <a:latin typeface="IBM Plex Sans" pitchFamily="34" charset="0"/>
                <a:ea typeface="IBM Plex Sans" pitchFamily="34" charset="-122"/>
                <a:cs typeface="IBM Plex Sans" pitchFamily="34" charset="-120"/>
              </a:rPr>
              <a:t>Ogni prova nel kernel partiva con i </a:t>
            </a:r>
            <a:r>
              <a:rPr lang="en-US" sz="1211" b="1" dirty="0">
                <a:solidFill>
                  <a:srgbClr val="4A5568"/>
                </a:solidFill>
                <a:latin typeface="IBM Plex Sans" pitchFamily="34" charset="0"/>
                <a:ea typeface="IBM Plex Sans" pitchFamily="34" charset="-122"/>
                <a:cs typeface="IBM Plex Sans" pitchFamily="34" charset="-120"/>
              </a:rPr>
              <a:t>link tutti su</a:t>
            </a:r>
            <a:r>
              <a:rPr lang="en-US" sz="1211" dirty="0">
                <a:solidFill>
                  <a:srgbClr val="4A5568"/>
                </a:solidFill>
                <a:latin typeface="IBM Plex Sans" pitchFamily="34" charset="0"/>
                <a:ea typeface="IBM Plex Sans" pitchFamily="34" charset="-122"/>
                <a:cs typeface="IBM Plex Sans" pitchFamily="34" charset="-120"/>
              </a:rPr>
              <a:t>: accumulatori grandi, 576 non sposta l’argmax. Con link_state sparso diventano piccoli, e il riferimento ha smesso di concordare.</a:t>
            </a:r>
            <a:endParaRPr lang="en-US" sz="1211" dirty="0"/>
          </a:p>
        </p:txBody>
      </p:sp>
      <p:sp>
        <p:nvSpPr>
          <p:cNvPr id="14" name="Shape 11"/>
          <p:cNvSpPr/>
          <p:nvPr/>
        </p:nvSpPr>
        <p:spPr>
          <a:xfrm>
            <a:off x="7975600" y="4174530"/>
            <a:ext cx="3403600" cy="1667470"/>
          </a:xfrm>
          <a:prstGeom prst="roundRect">
            <a:avLst>
              <a:gd name="adj" fmla="val 6093"/>
            </a:avLst>
          </a:prstGeom>
          <a:solidFill>
            <a:srgbClr val="14213D"/>
          </a:solidFill>
          <a:ln/>
        </p:spPr>
      </p:sp>
      <p:sp>
        <p:nvSpPr>
          <p:cNvPr id="15" name="Text 12"/>
          <p:cNvSpPr/>
          <p:nvPr/>
        </p:nvSpPr>
        <p:spPr>
          <a:xfrm>
            <a:off x="8166100" y="4339630"/>
            <a:ext cx="311327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E8A87C"/>
                </a:solidFill>
                <a:latin typeface="IBM Plex Sans" pitchFamily="34" charset="0"/>
                <a:ea typeface="IBM Plex Sans" pitchFamily="34" charset="-122"/>
                <a:cs typeface="IBM Plex Sans" pitchFamily="34" charset="-120"/>
              </a:rPr>
              <a:t>La correzione</a:t>
            </a:r>
            <a:endParaRPr lang="en-US" sz="1400" dirty="0"/>
          </a:p>
        </p:txBody>
      </p:sp>
      <p:sp>
        <p:nvSpPr>
          <p:cNvPr id="16" name="Text 13"/>
          <p:cNvSpPr/>
          <p:nvPr/>
        </p:nvSpPr>
        <p:spPr>
          <a:xfrm>
            <a:off x="8166100" y="4616450"/>
            <a:ext cx="3113278" cy="94985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D8D5"/>
                </a:solidFill>
                <a:latin typeface="IBM Plex Sans" pitchFamily="34" charset="0"/>
                <a:ea typeface="IBM Plex Sans" pitchFamily="34" charset="-122"/>
                <a:cs typeface="IBM Plex Sans" pitchFamily="34" charset="-120"/>
              </a:rPr>
              <a:t>Una formula sola, </a:t>
            </a:r>
            <a:r>
              <a:rPr lang="en-US" sz="1300" b="1" dirty="0">
                <a:solidFill>
                  <a:srgbClr val="BFD8D5"/>
                </a:solidFill>
                <a:latin typeface="IBM Plex Sans" pitchFamily="34" charset="0"/>
                <a:ea typeface="IBM Plex Sans" pitchFamily="34" charset="-122"/>
                <a:cs typeface="IBM Plex Sans" pitchFamily="34" charset="-120"/>
              </a:rPr>
              <a:t>sℓ−¹</a:t>
            </a:r>
            <a:r>
              <a:rPr lang="en-US" sz="1300" dirty="0">
                <a:solidFill>
                  <a:srgbClr val="BFD8D5"/>
                </a:solidFill>
                <a:latin typeface="IBM Plex Sans" pitchFamily="34" charset="0"/>
                <a:ea typeface="IBM Plex Sans" pitchFamily="34" charset="-122"/>
                <a:cs typeface="IBM Plex Sans" pitchFamily="34" charset="-120"/>
              </a:rPr>
              <a:t>, in entrambi i riferimenti. Il test verificava che eBPF desse lo stesso risultato del riferimento — non che desse quello giusto.</a:t>
            </a:r>
            <a:endParaRPr lang="en-US" sz="1300" dirty="0"/>
          </a:p>
        </p:txBody>
      </p:sp>
      <p:sp>
        <p:nvSpPr>
          <p:cNvPr id="17" name="Text 14"/>
          <p:cNvSpPr/>
          <p:nvPr/>
        </p:nvSpPr>
        <p:spPr>
          <a:xfrm>
            <a:off x="812800" y="6238280"/>
            <a:ext cx="800700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Conseguenza dichiarata: ogni accordo argmax calcolato contro ref_infer precede questa correzione e va rimisurato</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EF1F5"/>
        </a:solidFill>
      </p:bgPr>
    </p:bg>
    <p:spTree>
      <p:nvGrpSpPr>
        <p:cNvPr id="1" name=""/>
        <p:cNvGrpSpPr/>
        <p:nvPr/>
      </p:nvGrpSpPr>
      <p:grpSpPr>
        <a:xfrm>
          <a:off x="0" y="0"/>
          <a:ext cx="0" cy="0"/>
          <a:chOff x="0" y="0"/>
          <a:chExt cx="0" cy="0"/>
        </a:xfrm>
      </p:grpSpPr>
      <p:sp>
        <p:nvSpPr>
          <p:cNvPr id="2" name="Text 0"/>
          <p:cNvSpPr/>
          <p:nvPr/>
        </p:nvSpPr>
        <p:spPr>
          <a:xfrm>
            <a:off x="812800" y="812800"/>
            <a:ext cx="10883392" cy="249701"/>
          </a:xfrm>
          <a:prstGeom prst="rect">
            <a:avLst/>
          </a:prstGeom>
          <a:noFill/>
          <a:ln/>
        </p:spPr>
        <p:txBody>
          <a:bodyPr wrap="square" lIns="0" tIns="0" rIns="0" bIns="0" rtlCol="0" anchor="t">
            <a:normAutofit/>
          </a:bodyPr>
          <a:lstStyle/>
          <a:p>
            <a:pPr algn="l" indent="0" marL="0">
              <a:lnSpc>
                <a:spcPts val="1774"/>
              </a:lnSpc>
              <a:buNone/>
            </a:pPr>
            <a:r>
              <a:rPr lang="en-US" sz="1268" spc="100" kern="0" dirty="0">
                <a:solidFill>
                  <a:srgbClr val="C2410C"/>
                </a:solidFill>
                <a:latin typeface="JetBrains Mono" pitchFamily="34" charset="0"/>
                <a:ea typeface="JetBrains Mono" pitchFamily="34" charset="-122"/>
                <a:cs typeface="JetBrains Mono" pitchFamily="34" charset="-120"/>
              </a:rPr>
              <a:t>PROBLEMA SEMANTICO · CHE COSA SIGNIFICA IL NUMERO</a:t>
            </a:r>
            <a:endParaRPr lang="en-US" sz="1268" dirty="0"/>
          </a:p>
        </p:txBody>
      </p:sp>
      <p:sp>
        <p:nvSpPr>
          <p:cNvPr id="3" name="Text 1"/>
          <p:cNvSpPr/>
          <p:nvPr/>
        </p:nvSpPr>
        <p:spPr>
          <a:xfrm>
            <a:off x="812800" y="1100609"/>
            <a:ext cx="10883392" cy="432329"/>
          </a:xfrm>
          <a:prstGeom prst="rect">
            <a:avLst/>
          </a:prstGeom>
          <a:noFill/>
          <a:ln/>
        </p:spPr>
        <p:txBody>
          <a:bodyPr wrap="square" lIns="0" tIns="0" rIns="0" bIns="0" rtlCol="0" anchor="t">
            <a:normAutofit/>
          </a:bodyPr>
          <a:lstStyle/>
          <a:p>
            <a:pPr algn="l" indent="0" marL="0">
              <a:lnSpc>
                <a:spcPts val="3218"/>
              </a:lnSpc>
              <a:buNone/>
            </a:pPr>
            <a:r>
              <a:rPr lang="en-US" sz="2925" b="1" dirty="0">
                <a:solidFill>
                  <a:srgbClr val="14213D"/>
                </a:solidFill>
                <a:latin typeface="IBM Plex Sans" pitchFamily="34" charset="0"/>
                <a:ea typeface="IBM Plex Sans" pitchFamily="34" charset="-122"/>
                <a:cs typeface="IBM Plex Sans" pitchFamily="34" charset="-120"/>
              </a:rPr>
              <a:t>Le classi non sono porte</a:t>
            </a:r>
            <a:endParaRPr lang="en-US" sz="2925" dirty="0"/>
          </a:p>
        </p:txBody>
      </p:sp>
      <p:sp>
        <p:nvSpPr>
          <p:cNvPr id="4" name="Text 2"/>
          <p:cNvSpPr/>
          <p:nvPr/>
        </p:nvSpPr>
        <p:spPr>
          <a:xfrm>
            <a:off x="812800" y="1685330"/>
            <a:ext cx="10464800" cy="527248"/>
          </a:xfrm>
          <a:prstGeom prst="rect">
            <a:avLst/>
          </a:prstGeom>
          <a:noFill/>
          <a:ln/>
        </p:spPr>
        <p:txBody>
          <a:bodyPr wrap="square" lIns="0" tIns="0" rIns="0" bIns="0" rtlCol="0" anchor="t">
            <a:normAutofit/>
          </a:bodyPr>
          <a:lstStyle/>
          <a:p>
            <a:pPr algn="l" indent="0" marL="0">
              <a:lnSpc>
                <a:spcPts val="1986"/>
              </a:lnSpc>
              <a:buNone/>
            </a:pPr>
            <a:r>
              <a:rPr lang="en-US" sz="1418" dirty="0">
                <a:solidFill>
                  <a:srgbClr val="4A5568"/>
                </a:solidFill>
                <a:latin typeface="IBM Plex Sans" pitchFamily="34" charset="0"/>
                <a:ea typeface="IBM Plex Sans" pitchFamily="34" charset="-122"/>
                <a:cs typeface="IBM Plex Sans" pitchFamily="34" charset="-120"/>
              </a:rPr>
              <a:t>La rete neurale produce un numero. </a:t>
            </a:r>
            <a:r>
              <a:rPr lang="en-US" sz="1418" b="1" dirty="0">
                <a:solidFill>
                  <a:srgbClr val="4A5568"/>
                </a:solidFill>
                <a:latin typeface="IBM Plex Sans" pitchFamily="34" charset="0"/>
                <a:ea typeface="IBM Plex Sans" pitchFamily="34" charset="-122"/>
                <a:cs typeface="IBM Plex Sans" pitchFamily="34" charset="-120"/>
              </a:rPr>
              <a:t>Che cosa voglia dire</a:t>
            </a:r>
            <a:r>
              <a:rPr lang="en-US" sz="1418" dirty="0">
                <a:solidFill>
                  <a:srgbClr val="4A5568"/>
                </a:solidFill>
                <a:latin typeface="IBM Plex Sans" pitchFamily="34" charset="0"/>
                <a:ea typeface="IBM Plex Sans" pitchFamily="34" charset="-122"/>
                <a:cs typeface="IBM Plex Sans" pitchFamily="34" charset="-120"/>
              </a:rPr>
              <a:t> quel numero non lo decide la rete: lo dichiara la scheda che accompagna il modello.</a:t>
            </a:r>
            <a:endParaRPr lang="en-US" sz="1418" dirty="0"/>
          </a:p>
        </p:txBody>
      </p:sp>
      <p:sp>
        <p:nvSpPr>
          <p:cNvPr id="5" name="Shape 3"/>
          <p:cNvSpPr/>
          <p:nvPr/>
        </p:nvSpPr>
        <p:spPr>
          <a:xfrm>
            <a:off x="819150" y="2364457"/>
            <a:ext cx="1251281" cy="506677"/>
          </a:xfrm>
          <a:prstGeom prst="roundRect">
            <a:avLst>
              <a:gd name="adj" fmla="val 16292"/>
            </a:avLst>
          </a:prstGeom>
          <a:solidFill>
            <a:srgbClr val="FBFBF8"/>
          </a:solidFill>
          <a:ln w="12700">
            <a:solidFill>
              <a:srgbClr val="14213D"/>
            </a:solidFill>
            <a:prstDash val="solid"/>
          </a:ln>
        </p:spPr>
      </p:sp>
      <p:sp>
        <p:nvSpPr>
          <p:cNvPr id="6" name="Text 4"/>
          <p:cNvSpPr/>
          <p:nvPr/>
        </p:nvSpPr>
        <p:spPr>
          <a:xfrm>
            <a:off x="977900" y="2497807"/>
            <a:ext cx="984581" cy="265377"/>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14213D"/>
                </a:solidFill>
                <a:latin typeface="IBM Plex Sans" pitchFamily="34" charset="0"/>
                <a:ea typeface="IBM Plex Sans" pitchFamily="34" charset="-122"/>
                <a:cs typeface="IBM Plex Sans" pitchFamily="34" charset="-120"/>
              </a:rPr>
              <a:t>rete neurale</a:t>
            </a:r>
            <a:endParaRPr lang="en-US" sz="1350" dirty="0"/>
          </a:p>
        </p:txBody>
      </p:sp>
      <p:pic>
        <p:nvPicPr>
          <p:cNvPr id="7" name="Image 0" descr="arrow-right">    </p:cNvPr>
          <p:cNvPicPr>
            <a:picLocks noChangeAspect="1"/>
          </p:cNvPicPr>
          <p:nvPr/>
        </p:nvPicPr>
        <p:blipFill>
          <a:blip r:embed="rId1"/>
          <a:srcRect l="0" r="0" t="0" b="0"/>
          <a:stretch/>
        </p:blipFill>
        <p:spPr>
          <a:xfrm>
            <a:off x="2191081" y="2547875"/>
            <a:ext cx="444500" cy="139700"/>
          </a:xfrm>
          <a:prstGeom prst="rect">
            <a:avLst/>
          </a:prstGeom>
        </p:spPr>
      </p:pic>
      <p:sp>
        <p:nvSpPr>
          <p:cNvPr id="8" name="Shape 5"/>
          <p:cNvSpPr/>
          <p:nvPr/>
        </p:nvSpPr>
        <p:spPr>
          <a:xfrm>
            <a:off x="2756231" y="2364457"/>
            <a:ext cx="802018" cy="506677"/>
          </a:xfrm>
          <a:prstGeom prst="roundRect">
            <a:avLst>
              <a:gd name="adj" fmla="val 16292"/>
            </a:avLst>
          </a:prstGeom>
          <a:solidFill>
            <a:srgbClr val="FBFBF8"/>
          </a:solidFill>
          <a:ln w="12700">
            <a:solidFill>
              <a:srgbClr val="14213D"/>
            </a:solidFill>
            <a:prstDash val="solid"/>
          </a:ln>
        </p:spPr>
      </p:sp>
      <p:sp>
        <p:nvSpPr>
          <p:cNvPr id="9" name="Text 6"/>
          <p:cNvSpPr/>
          <p:nvPr/>
        </p:nvSpPr>
        <p:spPr>
          <a:xfrm>
            <a:off x="2914981" y="2497807"/>
            <a:ext cx="535318" cy="265377"/>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14213D"/>
                </a:solidFill>
                <a:latin typeface="IBM Plex Sans" pitchFamily="34" charset="0"/>
                <a:ea typeface="IBM Plex Sans" pitchFamily="34" charset="-122"/>
                <a:cs typeface="IBM Plex Sans" pitchFamily="34" charset="-120"/>
              </a:rPr>
              <a:t>classe</a:t>
            </a:r>
            <a:endParaRPr lang="en-US" sz="1350" dirty="0"/>
          </a:p>
        </p:txBody>
      </p:sp>
      <p:pic>
        <p:nvPicPr>
          <p:cNvPr id="10" name="Image 1" descr="arrow-right">    </p:cNvPr>
          <p:cNvPicPr>
            <a:picLocks noChangeAspect="1"/>
          </p:cNvPicPr>
          <p:nvPr/>
        </p:nvPicPr>
        <p:blipFill>
          <a:blip r:embed="rId2"/>
          <a:srcRect l="0" r="0" t="0" b="0"/>
          <a:stretch/>
        </p:blipFill>
        <p:spPr>
          <a:xfrm>
            <a:off x="3678899" y="2547875"/>
            <a:ext cx="444500" cy="139700"/>
          </a:xfrm>
          <a:prstGeom prst="rect">
            <a:avLst/>
          </a:prstGeom>
        </p:spPr>
      </p:pic>
      <p:sp>
        <p:nvSpPr>
          <p:cNvPr id="11" name="Shape 7"/>
          <p:cNvSpPr/>
          <p:nvPr/>
        </p:nvSpPr>
        <p:spPr>
          <a:xfrm>
            <a:off x="4237699" y="2370733"/>
            <a:ext cx="1060252" cy="493977"/>
          </a:xfrm>
          <a:prstGeom prst="roundRect">
            <a:avLst>
              <a:gd name="adj" fmla="val 17997"/>
            </a:avLst>
          </a:prstGeom>
          <a:solidFill>
            <a:srgbClr val="C2410C"/>
          </a:solidFill>
          <a:ln/>
        </p:spPr>
      </p:sp>
      <p:sp>
        <p:nvSpPr>
          <p:cNvPr id="12" name="Text 8"/>
          <p:cNvSpPr/>
          <p:nvPr/>
        </p:nvSpPr>
        <p:spPr>
          <a:xfrm>
            <a:off x="4390099" y="2497733"/>
            <a:ext cx="806252" cy="265377"/>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FBFBF8"/>
                </a:solidFill>
                <a:latin typeface="IBM Plex Sans" pitchFamily="34" charset="0"/>
                <a:ea typeface="IBM Plex Sans" pitchFamily="34" charset="-122"/>
                <a:cs typeface="IBM Plex Sans" pitchFamily="34" charset="-120"/>
              </a:rPr>
              <a:t>la scheda</a:t>
            </a:r>
            <a:endParaRPr lang="en-US" sz="1350" dirty="0"/>
          </a:p>
        </p:txBody>
      </p:sp>
      <p:pic>
        <p:nvPicPr>
          <p:cNvPr id="13" name="Image 2" descr="arrow-right">    </p:cNvPr>
          <p:cNvPicPr>
            <a:picLocks noChangeAspect="1"/>
          </p:cNvPicPr>
          <p:nvPr/>
        </p:nvPicPr>
        <p:blipFill>
          <a:blip r:embed="rId3"/>
          <a:srcRect l="0" r="0" t="0" b="0"/>
          <a:stretch/>
        </p:blipFill>
        <p:spPr>
          <a:xfrm>
            <a:off x="5412251" y="2547875"/>
            <a:ext cx="444500" cy="139700"/>
          </a:xfrm>
          <a:prstGeom prst="rect">
            <a:avLst/>
          </a:prstGeom>
        </p:spPr>
      </p:pic>
      <p:sp>
        <p:nvSpPr>
          <p:cNvPr id="14" name="Shape 9"/>
          <p:cNvSpPr/>
          <p:nvPr/>
        </p:nvSpPr>
        <p:spPr>
          <a:xfrm>
            <a:off x="5977401" y="2364457"/>
            <a:ext cx="819018" cy="506677"/>
          </a:xfrm>
          <a:prstGeom prst="roundRect">
            <a:avLst>
              <a:gd name="adj" fmla="val 16292"/>
            </a:avLst>
          </a:prstGeom>
          <a:solidFill>
            <a:srgbClr val="FBFBF8"/>
          </a:solidFill>
          <a:ln w="12700">
            <a:solidFill>
              <a:srgbClr val="14213D"/>
            </a:solidFill>
            <a:prstDash val="solid"/>
          </a:ln>
        </p:spPr>
      </p:sp>
      <p:sp>
        <p:nvSpPr>
          <p:cNvPr id="15" name="Text 10"/>
          <p:cNvSpPr/>
          <p:nvPr/>
        </p:nvSpPr>
        <p:spPr>
          <a:xfrm>
            <a:off x="6136151" y="2497807"/>
            <a:ext cx="552318" cy="265377"/>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14213D"/>
                </a:solidFill>
                <a:latin typeface="IBM Plex Sans" pitchFamily="34" charset="0"/>
                <a:ea typeface="IBM Plex Sans" pitchFamily="34" charset="-122"/>
                <a:cs typeface="IBM Plex Sans" pitchFamily="34" charset="-120"/>
              </a:rPr>
              <a:t>azione</a:t>
            </a:r>
            <a:endParaRPr lang="en-US" sz="1350" dirty="0"/>
          </a:p>
        </p:txBody>
      </p:sp>
      <p:pic>
        <p:nvPicPr>
          <p:cNvPr id="16" name="Image 3" descr="arrow-right">    </p:cNvPr>
          <p:cNvPicPr>
            <a:picLocks noChangeAspect="1"/>
          </p:cNvPicPr>
          <p:nvPr/>
        </p:nvPicPr>
        <p:blipFill>
          <a:blip r:embed="rId4"/>
          <a:srcRect l="0" r="0" t="0" b="0"/>
          <a:stretch/>
        </p:blipFill>
        <p:spPr>
          <a:xfrm>
            <a:off x="6917068" y="2547875"/>
            <a:ext cx="444500" cy="139700"/>
          </a:xfrm>
          <a:prstGeom prst="rect">
            <a:avLst/>
          </a:prstGeom>
        </p:spPr>
      </p:pic>
      <p:sp>
        <p:nvSpPr>
          <p:cNvPr id="17" name="Shape 11"/>
          <p:cNvSpPr/>
          <p:nvPr/>
        </p:nvSpPr>
        <p:spPr>
          <a:xfrm>
            <a:off x="7482218" y="2364457"/>
            <a:ext cx="1222640" cy="506677"/>
          </a:xfrm>
          <a:prstGeom prst="roundRect">
            <a:avLst>
              <a:gd name="adj" fmla="val 16292"/>
            </a:avLst>
          </a:prstGeom>
          <a:solidFill>
            <a:srgbClr val="FBFBF8"/>
          </a:solidFill>
          <a:ln w="12700">
            <a:solidFill>
              <a:srgbClr val="14213D"/>
            </a:solidFill>
            <a:prstDash val="solid"/>
          </a:ln>
        </p:spPr>
      </p:sp>
      <p:sp>
        <p:nvSpPr>
          <p:cNvPr id="18" name="Text 12"/>
          <p:cNvSpPr/>
          <p:nvPr/>
        </p:nvSpPr>
        <p:spPr>
          <a:xfrm>
            <a:off x="7640968" y="2497807"/>
            <a:ext cx="955940" cy="265377"/>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14213D"/>
                </a:solidFill>
                <a:latin typeface="IBM Plex Sans" pitchFamily="34" charset="0"/>
                <a:ea typeface="IBM Plex Sans" pitchFamily="34" charset="-122"/>
                <a:cs typeface="IBM Plex Sans" pitchFamily="34" charset="-120"/>
              </a:rPr>
              <a:t>porta logica</a:t>
            </a:r>
            <a:endParaRPr lang="en-US" sz="1350" dirty="0"/>
          </a:p>
        </p:txBody>
      </p:sp>
      <p:sp>
        <p:nvSpPr>
          <p:cNvPr id="19" name="Text 13"/>
          <p:cNvSpPr/>
          <p:nvPr/>
        </p:nvSpPr>
        <p:spPr>
          <a:xfrm>
            <a:off x="812800" y="3048335"/>
            <a:ext cx="510159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Il modello di riferimento, dalla sua scheda</a:t>
            </a:r>
            <a:endParaRPr lang="en-US" sz="13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812800" y="3355653"/>
          <a:ext cx="4953000" cy="1597290"/>
        </p:xfrm>
        <a:graphic>
          <a:graphicData uri="http://schemas.openxmlformats.org/drawingml/2006/table">
            <a:tbl>
              <a:tblPr/>
              <a:tblGrid>
                <a:gridCol w="1386840"/>
                <a:gridCol w="1783080"/>
                <a:gridCol w="1783080"/>
              </a:tblGrid>
              <a:tr h="399322">
                <a:tc>
                  <a:txBody>
                    <a:bodyPr/>
                    <a:lstStyle/>
                    <a:p>
                      <a:pPr indent="0" marL="0">
                        <a:lnSpc>
                          <a:spcPts val="2030"/>
                        </a:lnSpc>
                        <a:buNone/>
                      </a:pPr>
                      <a:r>
                        <a:rPr lang="en-US" sz="1450" b="1" dirty="0">
                          <a:solidFill>
                            <a:srgbClr val="FBFBF8"/>
                          </a:solidFill>
                          <a:latin typeface="IBM Plex Sans" pitchFamily="34" charset="0"/>
                          <a:ea typeface="IBM Plex Sans" pitchFamily="34" charset="-122"/>
                          <a:cs typeface="IBM Plex Sans" pitchFamily="34" charset="-120"/>
                        </a:rPr>
                        <a:t>Classe</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14213D"/>
                    </a:solidFill>
                  </a:tcPr>
                </a:tc>
                <a:tc>
                  <a:txBody>
                    <a:bodyPr/>
                    <a:lstStyle/>
                    <a:p>
                      <a:pPr indent="0" marL="0">
                        <a:lnSpc>
                          <a:spcPts val="2030"/>
                        </a:lnSpc>
                        <a:buNone/>
                      </a:pPr>
                      <a:r>
                        <a:rPr lang="en-US" sz="1450" b="1" dirty="0">
                          <a:solidFill>
                            <a:srgbClr val="FBFBF8"/>
                          </a:solidFill>
                          <a:latin typeface="IBM Plex Sans" pitchFamily="34" charset="0"/>
                          <a:ea typeface="IBM Plex Sans" pitchFamily="34" charset="-122"/>
                          <a:cs typeface="IBM Plex Sans" pitchFamily="34" charset="-120"/>
                        </a:rPr>
                        <a:t>Azione</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14213D"/>
                    </a:solidFill>
                  </a:tcPr>
                </a:tc>
                <a:tc>
                  <a:txBody>
                    <a:bodyPr/>
                    <a:lstStyle/>
                    <a:p>
                      <a:pPr algn="r" indent="0" marL="0">
                        <a:lnSpc>
                          <a:spcPts val="2030"/>
                        </a:lnSpc>
                        <a:buNone/>
                      </a:pPr>
                      <a:r>
                        <a:rPr lang="en-US" sz="1450" b="1" dirty="0">
                          <a:solidFill>
                            <a:srgbClr val="FBFBF8"/>
                          </a:solidFill>
                          <a:latin typeface="IBM Plex Sans" pitchFamily="34" charset="0"/>
                          <a:ea typeface="IBM Plex Sans" pitchFamily="34" charset="-122"/>
                          <a:cs typeface="IBM Plex Sans" pitchFamily="34" charset="-120"/>
                        </a:rPr>
                        <a:t>Porta logica</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14213D"/>
                    </a:solidFill>
                  </a:tcPr>
                </a:tc>
              </a:tr>
              <a:tr h="399322">
                <a:tc>
                  <a:txBody>
                    <a:bodyPr/>
                    <a:lstStyle/>
                    <a:p>
                      <a:pPr indent="0" marL="0">
                        <a:lnSpc>
                          <a:spcPts val="2030"/>
                        </a:lnSpc>
                        <a:buNone/>
                      </a:pPr>
                      <a:r>
                        <a:rPr lang="en-US" sz="1450" dirty="0">
                          <a:solidFill>
                            <a:srgbClr val="14213D"/>
                          </a:solidFill>
                          <a:latin typeface="IBM Plex Sans" pitchFamily="34" charset="0"/>
                          <a:ea typeface="IBM Plex Sans" pitchFamily="34" charset="-122"/>
                          <a:cs typeface="IBM Plex Sans" pitchFamily="34" charset="-120"/>
                        </a:rPr>
                        <a:t>0 – 4</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c>
                  <a:txBody>
                    <a:bodyPr/>
                    <a:lstStyle/>
                    <a:p>
                      <a:pPr indent="0" marL="0">
                        <a:lnSpc>
                          <a:spcPts val="2030"/>
                        </a:lnSpc>
                        <a:buNone/>
                      </a:pPr>
                      <a:r>
                        <a:rPr lang="en-US" sz="1450" dirty="0">
                          <a:solidFill>
                            <a:srgbClr val="14213D"/>
                          </a:solidFill>
                          <a:latin typeface="IBM Plex Sans" pitchFamily="34" charset="0"/>
                          <a:ea typeface="IBM Plex Sans" pitchFamily="34" charset="-122"/>
                          <a:cs typeface="IBM Plex Sans" pitchFamily="34" charset="-120"/>
                        </a:rPr>
                        <a:t>FORWARD</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c>
                  <a:txBody>
                    <a:bodyPr/>
                    <a:lstStyle/>
                    <a:p>
                      <a:pPr algn="r" indent="0" marL="0">
                        <a:lnSpc>
                          <a:spcPts val="2030"/>
                        </a:lnSpc>
                        <a:buNone/>
                      </a:pPr>
                      <a:r>
                        <a:rPr lang="en-US" sz="1450" dirty="0">
                          <a:solidFill>
                            <a:srgbClr val="14213D"/>
                          </a:solidFill>
                          <a:latin typeface="IBM Plex Sans" pitchFamily="34" charset="0"/>
                          <a:ea typeface="IBM Plex Sans" pitchFamily="34" charset="-122"/>
                          <a:cs typeface="IBM Plex Sans" pitchFamily="34" charset="-120"/>
                        </a:rPr>
                        <a:t>0 – 4</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r>
              <a:tr h="399322">
                <a:tc>
                  <a:txBody>
                    <a:bodyPr/>
                    <a:lstStyle/>
                    <a:p>
                      <a:pPr indent="0" marL="0">
                        <a:lnSpc>
                          <a:spcPts val="2030"/>
                        </a:lnSpc>
                        <a:buNone/>
                      </a:pPr>
                      <a:r>
                        <a:rPr lang="en-US" sz="1450" dirty="0">
                          <a:solidFill>
                            <a:srgbClr val="14213D"/>
                          </a:solidFill>
                          <a:latin typeface="IBM Plex Sans" pitchFamily="34" charset="0"/>
                          <a:ea typeface="IBM Plex Sans" pitchFamily="34" charset="-122"/>
                          <a:cs typeface="IBM Plex Sans" pitchFamily="34" charset="-120"/>
                        </a:rPr>
                        <a:t>5</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tcPr>
                </a:tc>
                <a:tc>
                  <a:txBody>
                    <a:bodyPr/>
                    <a:lstStyle/>
                    <a:p>
                      <a:pPr indent="0" marL="0">
                        <a:lnSpc>
                          <a:spcPts val="2030"/>
                        </a:lnSpc>
                        <a:buNone/>
                      </a:pPr>
                      <a:r>
                        <a:rPr lang="en-US" sz="1450" dirty="0">
                          <a:solidFill>
                            <a:srgbClr val="14213D"/>
                          </a:solidFill>
                          <a:latin typeface="IBM Plex Sans" pitchFamily="34" charset="0"/>
                          <a:ea typeface="IBM Plex Sans" pitchFamily="34" charset="-122"/>
                          <a:cs typeface="IBM Plex Sans" pitchFamily="34" charset="-120"/>
                        </a:rPr>
                        <a:t>DROP</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tcPr>
                </a:tc>
                <a:tc>
                  <a:txBody>
                    <a:bodyPr/>
                    <a:lstStyle/>
                    <a:p>
                      <a:pPr algn="r" indent="0" marL="0">
                        <a:lnSpc>
                          <a:spcPts val="2030"/>
                        </a:lnSpc>
                        <a:buNone/>
                      </a:pPr>
                      <a:r>
                        <a:rPr lang="en-US" sz="1450" dirty="0">
                          <a:solidFill>
                            <a:srgbClr val="14213D"/>
                          </a:solidFill>
                          <a:latin typeface="IBM Plex Sans" pitchFamily="34" charset="0"/>
                          <a:ea typeface="IBM Plex Sans" pitchFamily="34" charset="-122"/>
                          <a:cs typeface="IBM Plex Sans" pitchFamily="34" charset="-120"/>
                        </a:rPr>
                        <a:t>—</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tcPr>
                </a:tc>
              </a:tr>
              <a:tr h="399322">
                <a:tc>
                  <a:txBody>
                    <a:bodyPr/>
                    <a:lstStyle/>
                    <a:p>
                      <a:pPr indent="0" marL="0">
                        <a:lnSpc>
                          <a:spcPts val="2030"/>
                        </a:lnSpc>
                        <a:buNone/>
                      </a:pPr>
                      <a:r>
                        <a:rPr lang="en-US" sz="1450" dirty="0">
                          <a:solidFill>
                            <a:srgbClr val="14213D"/>
                          </a:solidFill>
                          <a:latin typeface="IBM Plex Sans" pitchFamily="34" charset="0"/>
                          <a:ea typeface="IBM Plex Sans" pitchFamily="34" charset="-122"/>
                          <a:cs typeface="IBM Plex Sans" pitchFamily="34" charset="-120"/>
                        </a:rPr>
                        <a:t>6</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c>
                  <a:txBody>
                    <a:bodyPr/>
                    <a:lstStyle/>
                    <a:p>
                      <a:pPr indent="0" marL="0">
                        <a:lnSpc>
                          <a:spcPts val="2030"/>
                        </a:lnSpc>
                        <a:buNone/>
                      </a:pPr>
                      <a:r>
                        <a:rPr lang="en-US" sz="1450" dirty="0">
                          <a:solidFill>
                            <a:srgbClr val="14213D"/>
                          </a:solidFill>
                          <a:latin typeface="IBM Plex Sans" pitchFamily="34" charset="0"/>
                          <a:ea typeface="IBM Plex Sans" pitchFamily="34" charset="-122"/>
                          <a:cs typeface="IBM Plex Sans" pitchFamily="34" charset="-120"/>
                        </a:rPr>
                        <a:t>UNUSED</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c>
                  <a:txBody>
                    <a:bodyPr/>
                    <a:lstStyle/>
                    <a:p>
                      <a:pPr algn="r" indent="0" marL="0">
                        <a:lnSpc>
                          <a:spcPts val="2030"/>
                        </a:lnSpc>
                        <a:buNone/>
                      </a:pPr>
                      <a:r>
                        <a:rPr lang="en-US" sz="1450" dirty="0">
                          <a:solidFill>
                            <a:srgbClr val="14213D"/>
                          </a:solidFill>
                          <a:latin typeface="IBM Plex Sans" pitchFamily="34" charset="0"/>
                          <a:ea typeface="IBM Plex Sans" pitchFamily="34" charset="-122"/>
                          <a:cs typeface="IBM Plex Sans" pitchFamily="34" charset="-120"/>
                        </a:rPr>
                        <a:t>—</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r>
            </a:tbl>
          </a:graphicData>
        </a:graphic>
      </p:graphicFrame>
      <p:sp>
        <p:nvSpPr>
          <p:cNvPr id="21" name="Shape 14"/>
          <p:cNvSpPr/>
          <p:nvPr/>
        </p:nvSpPr>
        <p:spPr>
          <a:xfrm>
            <a:off x="5969000" y="3048335"/>
            <a:ext cx="5410200" cy="1451107"/>
          </a:xfrm>
          <a:prstGeom prst="roundRect">
            <a:avLst>
              <a:gd name="adj" fmla="val 7002"/>
            </a:avLst>
          </a:prstGeom>
          <a:solidFill>
            <a:srgbClr val="FBFBF8"/>
          </a:solidFill>
          <a:ln/>
        </p:spPr>
      </p:sp>
      <p:sp>
        <p:nvSpPr>
          <p:cNvPr id="22" name="Text 15"/>
          <p:cNvSpPr/>
          <p:nvPr/>
        </p:nvSpPr>
        <p:spPr>
          <a:xfrm>
            <a:off x="6146800" y="3200735"/>
            <a:ext cx="5206238" cy="230783"/>
          </a:xfrm>
          <a:prstGeom prst="rect">
            <a:avLst/>
          </a:prstGeom>
          <a:noFill/>
          <a:ln/>
        </p:spPr>
        <p:txBody>
          <a:bodyPr wrap="square" lIns="0" tIns="0" rIns="0" bIns="0" rtlCol="0" anchor="t">
            <a:normAutofit/>
          </a:bodyPr>
          <a:lstStyle/>
          <a:p>
            <a:pPr algn="l" indent="0" marL="0">
              <a:lnSpc>
                <a:spcPts val="1622"/>
              </a:lnSpc>
              <a:buNone/>
            </a:pPr>
            <a:r>
              <a:rPr lang="en-US" sz="1352" b="1" dirty="0">
                <a:solidFill>
                  <a:srgbClr val="C2410C"/>
                </a:solidFill>
                <a:latin typeface="IBM Plex Sans" pitchFamily="34" charset="0"/>
                <a:ea typeface="IBM Plex Sans" pitchFamily="34" charset="-122"/>
                <a:cs typeface="IBM Plex Sans" pitchFamily="34" charset="-120"/>
              </a:rPr>
              <a:t>L’assunzione che cade</a:t>
            </a:r>
            <a:endParaRPr lang="en-US" sz="1352" dirty="0"/>
          </a:p>
        </p:txBody>
      </p:sp>
      <p:sp>
        <p:nvSpPr>
          <p:cNvPr id="23" name="Text 16"/>
          <p:cNvSpPr/>
          <p:nvPr/>
        </p:nvSpPr>
        <p:spPr>
          <a:xfrm>
            <a:off x="6146800" y="3456918"/>
            <a:ext cx="5206238" cy="915525"/>
          </a:xfrm>
          <a:prstGeom prst="rect">
            <a:avLst/>
          </a:prstGeom>
          <a:noFill/>
          <a:ln/>
        </p:spPr>
        <p:txBody>
          <a:bodyPr wrap="square" lIns="0" tIns="0" rIns="0" bIns="0" rtlCol="0" anchor="t">
            <a:normAutofit/>
          </a:bodyPr>
          <a:lstStyle/>
          <a:p>
            <a:pPr algn="l" indent="0" marL="0">
              <a:lnSpc>
                <a:spcPts val="1752"/>
              </a:lnSpc>
              <a:buNone/>
            </a:pPr>
            <a:r>
              <a:rPr lang="en-US" sz="1251" dirty="0">
                <a:solidFill>
                  <a:srgbClr val="4A5568"/>
                </a:solidFill>
                <a:latin typeface="IBM Plex Sans" pitchFamily="34" charset="0"/>
                <a:ea typeface="IBM Plex Sans" pitchFamily="34" charset="-122"/>
                <a:cs typeface="IBM Plex Sans" pitchFamily="34" charset="-120"/>
              </a:rPr>
              <a:t>Il codice dava per scontato che «scarta il pacchetto» fosse </a:t>
            </a:r>
            <a:r>
              <a:rPr lang="en-US" sz="1251" b="1" dirty="0">
                <a:solidFill>
                  <a:srgbClr val="4A5568"/>
                </a:solidFill>
                <a:latin typeface="IBM Plex Sans" pitchFamily="34" charset="0"/>
                <a:ea typeface="IBM Plex Sans" pitchFamily="34" charset="-122"/>
                <a:cs typeface="IBM Plex Sans" pitchFamily="34" charset="-120"/>
              </a:rPr>
              <a:t>l’ultima</a:t>
            </a:r>
            <a:r>
              <a:rPr lang="en-US" sz="1251" dirty="0">
                <a:solidFill>
                  <a:srgbClr val="4A5568"/>
                </a:solidFill>
                <a:latin typeface="IBM Plex Sans" pitchFamily="34" charset="0"/>
                <a:ea typeface="IBM Plex Sans" pitchFamily="34" charset="-122"/>
                <a:cs typeface="IBM Plex Sans" pitchFamily="34" charset="-120"/>
              </a:rPr>
              <a:t> delle scelte possibili. Nel modello che ci è stato dato le scelte sono sette e quella giusta è la </a:t>
            </a:r>
            <a:r>
              <a:rPr lang="en-US" sz="1251" b="1" dirty="0">
                <a:solidFill>
                  <a:srgbClr val="4A5568"/>
                </a:solidFill>
                <a:latin typeface="IBM Plex Sans" pitchFamily="34" charset="0"/>
                <a:ea typeface="IBM Plex Sans" pitchFamily="34" charset="-122"/>
                <a:cs typeface="IBM Plex Sans" pitchFamily="34" charset="-120"/>
              </a:rPr>
              <a:t>sesta</a:t>
            </a:r>
            <a:r>
              <a:rPr lang="en-US" sz="1251" dirty="0">
                <a:solidFill>
                  <a:srgbClr val="4A5568"/>
                </a:solidFill>
                <a:latin typeface="IBM Plex Sans" pitchFamily="34" charset="0"/>
                <a:ea typeface="IBM Plex Sans" pitchFamily="34" charset="-122"/>
                <a:cs typeface="IBM Plex Sans" pitchFamily="34" charset="-120"/>
              </a:rPr>
              <a:t>: l’assunzione era falsa fin dal primo modello.</a:t>
            </a:r>
            <a:endParaRPr lang="en-US" sz="1251" dirty="0"/>
          </a:p>
        </p:txBody>
      </p:sp>
      <p:sp>
        <p:nvSpPr>
          <p:cNvPr id="24" name="Shape 17"/>
          <p:cNvSpPr/>
          <p:nvPr/>
        </p:nvSpPr>
        <p:spPr>
          <a:xfrm>
            <a:off x="5969000" y="4613746"/>
            <a:ext cx="5410200" cy="1228262"/>
          </a:xfrm>
          <a:prstGeom prst="roundRect">
            <a:avLst>
              <a:gd name="adj" fmla="val 8272"/>
            </a:avLst>
          </a:prstGeom>
          <a:solidFill>
            <a:srgbClr val="FBFBF8"/>
          </a:solidFill>
          <a:ln/>
        </p:spPr>
      </p:sp>
      <p:sp>
        <p:nvSpPr>
          <p:cNvPr id="25" name="Text 18"/>
          <p:cNvSpPr/>
          <p:nvPr/>
        </p:nvSpPr>
        <p:spPr>
          <a:xfrm>
            <a:off x="6146800" y="4766146"/>
            <a:ext cx="5206238" cy="230717"/>
          </a:xfrm>
          <a:prstGeom prst="rect">
            <a:avLst/>
          </a:prstGeom>
          <a:noFill/>
          <a:ln/>
        </p:spPr>
        <p:txBody>
          <a:bodyPr wrap="square" lIns="0" tIns="0" rIns="0" bIns="0" rtlCol="0" anchor="t">
            <a:normAutofit/>
          </a:bodyPr>
          <a:lstStyle/>
          <a:p>
            <a:pPr algn="l" indent="0" marL="0">
              <a:lnSpc>
                <a:spcPts val="1622"/>
              </a:lnSpc>
              <a:buNone/>
            </a:pPr>
            <a:r>
              <a:rPr lang="en-US" sz="1352" b="1" dirty="0">
                <a:solidFill>
                  <a:srgbClr val="C2410C"/>
                </a:solidFill>
                <a:latin typeface="IBM Plex Sans" pitchFamily="34" charset="0"/>
                <a:ea typeface="IBM Plex Sans" pitchFamily="34" charset="-122"/>
                <a:cs typeface="IBM Plex Sans" pitchFamily="34" charset="-120"/>
              </a:rPr>
              <a:t>Il contatore misurava altro</a:t>
            </a:r>
            <a:endParaRPr lang="en-US" sz="1352" dirty="0"/>
          </a:p>
        </p:txBody>
      </p:sp>
      <p:sp>
        <p:nvSpPr>
          <p:cNvPr id="26" name="Text 19"/>
          <p:cNvSpPr/>
          <p:nvPr/>
        </p:nvSpPr>
        <p:spPr>
          <a:xfrm>
            <a:off x="6146800" y="5022255"/>
            <a:ext cx="5206238" cy="692745"/>
          </a:xfrm>
          <a:prstGeom prst="rect">
            <a:avLst/>
          </a:prstGeom>
          <a:noFill/>
          <a:ln/>
        </p:spPr>
        <p:txBody>
          <a:bodyPr wrap="square" lIns="0" tIns="0" rIns="0" bIns="0" rtlCol="0" anchor="t">
            <a:normAutofit/>
          </a:bodyPr>
          <a:lstStyle/>
          <a:p>
            <a:pPr algn="l" indent="0" marL="0">
              <a:lnSpc>
                <a:spcPts val="1757"/>
              </a:lnSpc>
              <a:buNone/>
            </a:pPr>
            <a:r>
              <a:rPr lang="en-US" sz="1255" dirty="0">
                <a:solidFill>
                  <a:srgbClr val="4A5568"/>
                </a:solidFill>
                <a:latin typeface="IBM Plex Sans" pitchFamily="34" charset="0"/>
                <a:ea typeface="IBM Plex Sans" pitchFamily="34" charset="-122"/>
                <a:cs typeface="IBM Plex Sans" pitchFamily="34" charset="-120"/>
              </a:rPr>
              <a:t>Contava per </a:t>
            </a:r>
            <a:r>
              <a:rPr lang="en-US" sz="1255" b="1" dirty="0">
                <a:solidFill>
                  <a:srgbClr val="4A5568"/>
                </a:solidFill>
                <a:latin typeface="IBM Plex Sans" pitchFamily="34" charset="0"/>
                <a:ea typeface="IBM Plex Sans" pitchFamily="34" charset="-122"/>
                <a:cs typeface="IBM Plex Sans" pitchFamily="34" charset="-120"/>
              </a:rPr>
              <a:t>porta</a:t>
            </a:r>
            <a:r>
              <a:rPr lang="en-US" sz="1255" dirty="0">
                <a:solidFill>
                  <a:srgbClr val="4A5568"/>
                </a:solidFill>
                <a:latin typeface="IBM Plex Sans" pitchFamily="34" charset="0"/>
                <a:ea typeface="IBM Plex Sans" pitchFamily="34" charset="-122"/>
                <a:cs typeface="IBM Plex Sans" pitchFamily="34" charset="-120"/>
              </a:rPr>
              <a:t> invece che per </a:t>
            </a:r>
            <a:r>
              <a:rPr lang="en-US" sz="1255" b="1" dirty="0">
                <a:solidFill>
                  <a:srgbClr val="4A5568"/>
                </a:solidFill>
                <a:latin typeface="IBM Plex Sans" pitchFamily="34" charset="0"/>
                <a:ea typeface="IBM Plex Sans" pitchFamily="34" charset="-122"/>
                <a:cs typeface="IBM Plex Sans" pitchFamily="34" charset="-120"/>
              </a:rPr>
              <a:t>scelta</a:t>
            </a:r>
            <a:r>
              <a:rPr lang="en-US" sz="1255" dirty="0">
                <a:solidFill>
                  <a:srgbClr val="4A5568"/>
                </a:solidFill>
                <a:latin typeface="IBM Plex Sans" pitchFamily="34" charset="0"/>
                <a:ea typeface="IBM Plex Sans" pitchFamily="34" charset="-122"/>
                <a:cs typeface="IBM Plex Sans" pitchFamily="34" charset="-120"/>
              </a:rPr>
              <a:t>. Finché scelta e porta coincidevano sembrava giusto; appena smettono di coincidere, conta la riga sbagliata.</a:t>
            </a:r>
            <a:endParaRPr lang="en-US" sz="1255" dirty="0"/>
          </a:p>
        </p:txBody>
      </p:sp>
      <p:sp>
        <p:nvSpPr>
          <p:cNvPr id="27" name="Text 20"/>
          <p:cNvSpPr/>
          <p:nvPr/>
        </p:nvSpPr>
        <p:spPr>
          <a:xfrm>
            <a:off x="812800" y="6238280"/>
            <a:ext cx="767956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La mappa è validata nei due versi: ogni classe emettibile ha un’azione, e drop_class deve concordare con essa</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52545"/>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C2410C"/>
                </a:solidFill>
                <a:latin typeface="JetBrains Mono" pitchFamily="34" charset="0"/>
                <a:ea typeface="JetBrains Mono" pitchFamily="34" charset="-122"/>
                <a:cs typeface="JetBrains Mono" pitchFamily="34" charset="-120"/>
              </a:rPr>
              <a:t>INDIPENDENZA DALL’HARDWARE</a:t>
            </a:r>
            <a:endParaRPr lang="en-US" sz="1300" dirty="0"/>
          </a:p>
        </p:txBody>
      </p:sp>
      <p:sp>
        <p:nvSpPr>
          <p:cNvPr id="3" name="Text 1"/>
          <p:cNvSpPr/>
          <p:nvPr/>
        </p:nvSpPr>
        <p:spPr>
          <a:xfrm>
            <a:off x="812800" y="1103449"/>
            <a:ext cx="10883392" cy="437224"/>
          </a:xfrm>
          <a:prstGeom prst="rect">
            <a:avLst/>
          </a:prstGeom>
          <a:noFill/>
          <a:ln/>
        </p:spPr>
        <p:txBody>
          <a:bodyPr wrap="square" lIns="0" tIns="0" rIns="0" bIns="0" rtlCol="0" anchor="t">
            <a:normAutofit/>
          </a:bodyPr>
          <a:lstStyle/>
          <a:p>
            <a:pPr algn="l" indent="0" marL="0">
              <a:lnSpc>
                <a:spcPts val="3269"/>
              </a:lnSpc>
              <a:buNone/>
            </a:pPr>
            <a:r>
              <a:rPr lang="en-US" sz="2972" b="1" dirty="0">
                <a:solidFill>
                  <a:srgbClr val="14213D"/>
                </a:solidFill>
                <a:latin typeface="IBM Plex Sans" pitchFamily="34" charset="0"/>
                <a:ea typeface="IBM Plex Sans" pitchFamily="34" charset="-122"/>
                <a:cs typeface="IBM Plex Sans" pitchFamily="34" charset="-120"/>
              </a:rPr>
              <a:t>Il numero di porta non è il numero della scheda</a:t>
            </a:r>
            <a:endParaRPr lang="en-US" sz="2972" dirty="0"/>
          </a:p>
        </p:txBody>
      </p:sp>
      <p:sp>
        <p:nvSpPr>
          <p:cNvPr id="4" name="Shape 2"/>
          <p:cNvSpPr/>
          <p:nvPr/>
        </p:nvSpPr>
        <p:spPr>
          <a:xfrm>
            <a:off x="812800" y="1680369"/>
            <a:ext cx="10566400" cy="1554956"/>
          </a:xfrm>
          <a:prstGeom prst="roundRect">
            <a:avLst>
              <a:gd name="adj" fmla="val 6534"/>
            </a:avLst>
          </a:prstGeom>
          <a:solidFill>
            <a:srgbClr val="4A1D1D"/>
          </a:solidFill>
          <a:ln/>
        </p:spPr>
      </p:sp>
      <p:sp>
        <p:nvSpPr>
          <p:cNvPr id="5" name="Text 3"/>
          <p:cNvSpPr/>
          <p:nvPr/>
        </p:nvSpPr>
        <p:spPr>
          <a:xfrm>
            <a:off x="1016000" y="1845469"/>
            <a:ext cx="10464800" cy="242689"/>
          </a:xfrm>
          <a:prstGeom prst="rect">
            <a:avLst/>
          </a:prstGeom>
          <a:noFill/>
          <a:ln/>
        </p:spPr>
        <p:txBody>
          <a:bodyPr wrap="square" lIns="0" tIns="0" rIns="0" bIns="0" rtlCol="0" anchor="t">
            <a:normAutofit/>
          </a:bodyPr>
          <a:lstStyle/>
          <a:p>
            <a:pPr algn="l" indent="0" marL="0">
              <a:lnSpc>
                <a:spcPts val="1724"/>
              </a:lnSpc>
              <a:buNone/>
            </a:pPr>
            <a:r>
              <a:rPr lang="en-US" sz="1436" b="1" dirty="0">
                <a:solidFill>
                  <a:srgbClr val="F0A0A0"/>
                </a:solidFill>
                <a:latin typeface="IBM Plex Sans" pitchFamily="34" charset="0"/>
                <a:ea typeface="IBM Plex Sans" pitchFamily="34" charset="-122"/>
                <a:cs typeface="IBM Plex Sans" pitchFamily="34" charset="-120"/>
              </a:rPr>
              <a:t>Il difetto</a:t>
            </a:r>
            <a:endParaRPr lang="en-US" sz="1436" dirty="0"/>
          </a:p>
        </p:txBody>
      </p:sp>
      <p:sp>
        <p:nvSpPr>
          <p:cNvPr id="6" name="Text 4"/>
          <p:cNvSpPr/>
          <p:nvPr/>
        </p:nvSpPr>
        <p:spPr>
          <a:xfrm>
            <a:off x="1016000" y="2126258"/>
            <a:ext cx="10203180" cy="969367"/>
          </a:xfrm>
          <a:prstGeom prst="rect">
            <a:avLst/>
          </a:prstGeom>
          <a:noFill/>
          <a:ln/>
        </p:spPr>
        <p:txBody>
          <a:bodyPr wrap="square" lIns="0" tIns="0" rIns="0" bIns="0" rtlCol="0" anchor="t">
            <a:normAutofit/>
          </a:bodyPr>
          <a:lstStyle/>
          <a:p>
            <a:pPr algn="l" indent="0" marL="0">
              <a:lnSpc>
                <a:spcPts val="1866"/>
              </a:lnSpc>
              <a:buNone/>
            </a:pPr>
            <a:r>
              <a:rPr lang="en-US" sz="1333" dirty="0">
                <a:solidFill>
                  <a:srgbClr val="FBFBF8"/>
                </a:solidFill>
                <a:latin typeface="IBM Plex Sans" pitchFamily="34" charset="0"/>
                <a:ea typeface="IBM Plex Sans" pitchFamily="34" charset="-122"/>
                <a:cs typeface="IBM Plex Sans" pitchFamily="34" charset="-120"/>
              </a:rPr>
              <a:t>Il programma prendeva </a:t>
            </a:r>
            <a:r>
              <a:rPr lang="en-US" sz="1333" b="1" dirty="0">
                <a:solidFill>
                  <a:srgbClr val="FBFBF8"/>
                </a:solidFill>
                <a:latin typeface="IBM Plex Sans" pitchFamily="34" charset="0"/>
                <a:ea typeface="IBM Plex Sans" pitchFamily="34" charset="-122"/>
                <a:cs typeface="IBM Plex Sans" pitchFamily="34" charset="-120"/>
              </a:rPr>
              <a:t>il numero che il sistema operativo dà alla scheda di rete</a:t>
            </a:r>
            <a:r>
              <a:rPr lang="en-US" sz="1333" dirty="0">
                <a:solidFill>
                  <a:srgbClr val="FBFBF8"/>
                </a:solidFill>
                <a:latin typeface="IBM Plex Sans" pitchFamily="34" charset="0"/>
                <a:ea typeface="IBM Plex Sans" pitchFamily="34" charset="-122"/>
                <a:cs typeface="IBM Plex Sans" pitchFamily="34" charset="-120"/>
              </a:rPr>
              <a:t> e lo usava come se fosse il numero della porta nel modello. Ma quei numeri sono arbitrari — 205, 217, 229 — e cambiano da macchina a macchina. Su hardware vero quella informazione, che il modello aveva imparato a usare, </a:t>
            </a:r>
            <a:r>
              <a:rPr lang="en-US" sz="1333" b="1" dirty="0">
                <a:solidFill>
                  <a:srgbClr val="FBFBF8"/>
                </a:solidFill>
                <a:latin typeface="IBM Plex Sans" pitchFamily="34" charset="0"/>
                <a:ea typeface="IBM Plex Sans" pitchFamily="34" charset="-122"/>
                <a:cs typeface="IBM Plex Sans" pitchFamily="34" charset="-120"/>
              </a:rPr>
              <a:t>non arrivava affatto</a:t>
            </a:r>
            <a:r>
              <a:rPr lang="en-US" sz="1333" dirty="0">
                <a:solidFill>
                  <a:srgbClr val="FBFBF8"/>
                </a:solidFill>
                <a:latin typeface="IBM Plex Sans" pitchFamily="34" charset="0"/>
                <a:ea typeface="IBM Plex Sans" pitchFamily="34" charset="-122"/>
                <a:cs typeface="IBM Plex Sans" pitchFamily="34" charset="-120"/>
              </a:rPr>
              <a:t>. Una pipeline traduceva, le altre due no: per lo stesso pacchetto guardavano caselle diverse.</a:t>
            </a:r>
            <a:endParaRPr lang="en-US" sz="1333" dirty="0"/>
          </a:p>
        </p:txBody>
      </p:sp>
      <p:sp>
        <p:nvSpPr>
          <p:cNvPr id="7" name="Shape 5"/>
          <p:cNvSpPr/>
          <p:nvPr/>
        </p:nvSpPr>
        <p:spPr>
          <a:xfrm>
            <a:off x="812800" y="3400425"/>
            <a:ext cx="5715000" cy="2441575"/>
          </a:xfrm>
          <a:prstGeom prst="roundRect">
            <a:avLst>
              <a:gd name="adj" fmla="val 4161"/>
            </a:avLst>
          </a:prstGeom>
          <a:solidFill>
            <a:srgbClr val="EEF1F5"/>
          </a:solidFill>
          <a:ln/>
        </p:spPr>
      </p:sp>
      <p:sp>
        <p:nvSpPr>
          <p:cNvPr id="8" name="Text 6"/>
          <p:cNvSpPr/>
          <p:nvPr/>
        </p:nvSpPr>
        <p:spPr>
          <a:xfrm>
            <a:off x="1016000" y="3578225"/>
            <a:ext cx="5467858" cy="246327"/>
          </a:xfrm>
          <a:prstGeom prst="rect">
            <a:avLst/>
          </a:prstGeom>
          <a:noFill/>
          <a:ln/>
        </p:spPr>
        <p:txBody>
          <a:bodyPr wrap="square" lIns="0" tIns="0" rIns="0" bIns="0" rtlCol="0" anchor="t">
            <a:normAutofit/>
          </a:bodyPr>
          <a:lstStyle/>
          <a:p>
            <a:pPr algn="l" indent="0" marL="0">
              <a:lnSpc>
                <a:spcPts val="1740"/>
              </a:lnSpc>
              <a:buNone/>
            </a:pPr>
            <a:r>
              <a:rPr lang="en-US" sz="1450" b="1" dirty="0">
                <a:solidFill>
                  <a:srgbClr val="14213D"/>
                </a:solidFill>
                <a:latin typeface="IBM Plex Sans" pitchFamily="34" charset="0"/>
                <a:ea typeface="IBM Plex Sans" pitchFamily="34" charset="-122"/>
                <a:cs typeface="IBM Plex Sans" pitchFamily="34" charset="-120"/>
              </a:rPr>
              <a:t>Lo stesso modello, due nodi</a:t>
            </a:r>
            <a:endParaRPr lang="en-US" sz="1450" dirty="0"/>
          </a:p>
        </p:txBody>
      </p:sp>
      <p:sp>
        <p:nvSpPr>
          <p:cNvPr id="9" name="Shape 7"/>
          <p:cNvSpPr/>
          <p:nvPr/>
        </p:nvSpPr>
        <p:spPr>
          <a:xfrm>
            <a:off x="1022350" y="3940113"/>
            <a:ext cx="1574800" cy="447014"/>
          </a:xfrm>
          <a:prstGeom prst="roundRect">
            <a:avLst>
              <a:gd name="adj" fmla="val 15626"/>
            </a:avLst>
          </a:prstGeom>
          <a:solidFill>
            <a:srgbClr val="FBFBF8"/>
          </a:solidFill>
          <a:ln w="12700">
            <a:solidFill>
              <a:srgbClr val="14213D"/>
            </a:solidFill>
            <a:prstDash val="solid"/>
          </a:ln>
        </p:spPr>
      </p:sp>
      <p:sp>
        <p:nvSpPr>
          <p:cNvPr id="10" name="Text 8"/>
          <p:cNvSpPr/>
          <p:nvPr/>
        </p:nvSpPr>
        <p:spPr>
          <a:xfrm>
            <a:off x="1155700" y="4048063"/>
            <a:ext cx="135890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porta logica </a:t>
            </a:r>
            <a:r>
              <a:rPr lang="en-US" sz="1300" b="1" dirty="0">
                <a:solidFill>
                  <a:srgbClr val="14213D"/>
                </a:solidFill>
                <a:latin typeface="IBM Plex Sans" pitchFamily="34" charset="0"/>
                <a:ea typeface="IBM Plex Sans" pitchFamily="34" charset="-122"/>
                <a:cs typeface="IBM Plex Sans" pitchFamily="34" charset="-120"/>
              </a:rPr>
              <a:t>2</a:t>
            </a:r>
            <a:endParaRPr lang="en-US" sz="1300" dirty="0"/>
          </a:p>
        </p:txBody>
      </p:sp>
      <p:pic>
        <p:nvPicPr>
          <p:cNvPr id="11" name="Image 0" descr="arrow-right">    </p:cNvPr>
          <p:cNvPicPr>
            <a:picLocks noChangeAspect="1"/>
          </p:cNvPicPr>
          <p:nvPr/>
        </p:nvPicPr>
        <p:blipFill>
          <a:blip r:embed="rId1"/>
          <a:srcRect l="0" r="0" t="0" b="0"/>
          <a:stretch/>
        </p:blipFill>
        <p:spPr>
          <a:xfrm>
            <a:off x="2705100" y="4100116"/>
            <a:ext cx="381000" cy="127000"/>
          </a:xfrm>
          <a:prstGeom prst="rect">
            <a:avLst/>
          </a:prstGeom>
        </p:spPr>
      </p:pic>
      <p:sp>
        <p:nvSpPr>
          <p:cNvPr id="12" name="Text 9"/>
          <p:cNvSpPr/>
          <p:nvPr/>
        </p:nvSpPr>
        <p:spPr>
          <a:xfrm>
            <a:off x="3187700" y="3900760"/>
            <a:ext cx="3231007"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nodo A  →  </a:t>
            </a:r>
            <a:r>
              <a:rPr lang="en-US" sz="1300" dirty="0">
                <a:solidFill>
                  <a:srgbClr val="C2410C"/>
                </a:solidFill>
                <a:latin typeface="IBM Plex Sans" pitchFamily="34" charset="0"/>
                <a:ea typeface="IBM Plex Sans" pitchFamily="34" charset="-122"/>
                <a:cs typeface="IBM Plex Sans" pitchFamily="34" charset="-120"/>
              </a:rPr>
              <a:t>scheda n. 7</a:t>
            </a:r>
            <a:endParaRPr lang="en-US" sz="1300" dirty="0"/>
          </a:p>
        </p:txBody>
      </p:sp>
      <p:sp>
        <p:nvSpPr>
          <p:cNvPr id="13" name="Text 10"/>
          <p:cNvSpPr/>
          <p:nvPr/>
        </p:nvSpPr>
        <p:spPr>
          <a:xfrm>
            <a:off x="3187700" y="4195366"/>
            <a:ext cx="3231007"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nodo B  →  </a:t>
            </a:r>
            <a:r>
              <a:rPr lang="en-US" sz="1300" dirty="0">
                <a:solidFill>
                  <a:srgbClr val="C2410C"/>
                </a:solidFill>
                <a:latin typeface="IBM Plex Sans" pitchFamily="34" charset="0"/>
                <a:ea typeface="IBM Plex Sans" pitchFamily="34" charset="-122"/>
                <a:cs typeface="IBM Plex Sans" pitchFamily="34" charset="-120"/>
              </a:rPr>
              <a:t>scheda n. 12</a:t>
            </a:r>
            <a:endParaRPr lang="en-US" sz="1300" dirty="0"/>
          </a:p>
        </p:txBody>
      </p:sp>
      <p:sp>
        <p:nvSpPr>
          <p:cNvPr id="14" name="Text 11"/>
          <p:cNvSpPr/>
          <p:nvPr/>
        </p:nvSpPr>
        <p:spPr>
          <a:xfrm>
            <a:off x="1016000" y="4528083"/>
            <a:ext cx="5467858"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Quei numeri valgono solo su quella macchina. Il modello non deve conoscerli: li conosce il nodo.</a:t>
            </a:r>
            <a:endParaRPr lang="en-US" sz="1300" dirty="0"/>
          </a:p>
        </p:txBody>
      </p:sp>
      <p:sp>
        <p:nvSpPr>
          <p:cNvPr id="15" name="Shape 12"/>
          <p:cNvSpPr/>
          <p:nvPr/>
        </p:nvSpPr>
        <p:spPr>
          <a:xfrm>
            <a:off x="6731000" y="3400425"/>
            <a:ext cx="4648200" cy="2441575"/>
          </a:xfrm>
          <a:prstGeom prst="roundRect">
            <a:avLst>
              <a:gd name="adj" fmla="val 4161"/>
            </a:avLst>
          </a:prstGeom>
          <a:solidFill>
            <a:srgbClr val="14213D"/>
          </a:solidFill>
          <a:ln/>
        </p:spPr>
      </p:sp>
      <p:sp>
        <p:nvSpPr>
          <p:cNvPr id="16" name="Text 13"/>
          <p:cNvSpPr/>
          <p:nvPr/>
        </p:nvSpPr>
        <p:spPr>
          <a:xfrm>
            <a:off x="6934200" y="3578225"/>
            <a:ext cx="4369054" cy="241763"/>
          </a:xfrm>
          <a:prstGeom prst="rect">
            <a:avLst/>
          </a:prstGeom>
          <a:noFill/>
          <a:ln/>
        </p:spPr>
        <p:txBody>
          <a:bodyPr wrap="square" lIns="0" tIns="0" rIns="0" bIns="0" rtlCol="0" anchor="t">
            <a:normAutofit/>
          </a:bodyPr>
          <a:lstStyle/>
          <a:p>
            <a:pPr algn="l" indent="0" marL="0">
              <a:lnSpc>
                <a:spcPts val="1724"/>
              </a:lnSpc>
              <a:buNone/>
            </a:pPr>
            <a:r>
              <a:rPr lang="en-US" sz="1436" b="1" dirty="0">
                <a:solidFill>
                  <a:srgbClr val="E8A87C"/>
                </a:solidFill>
                <a:latin typeface="IBM Plex Sans" pitchFamily="34" charset="0"/>
                <a:ea typeface="IBM Plex Sans" pitchFamily="34" charset="-122"/>
                <a:cs typeface="IBM Plex Sans" pitchFamily="34" charset="-120"/>
              </a:rPr>
              <a:t>La correzione, simmetrica</a:t>
            </a:r>
            <a:endParaRPr lang="en-US" sz="1436" dirty="0"/>
          </a:p>
        </p:txBody>
      </p:sp>
      <p:sp>
        <p:nvSpPr>
          <p:cNvPr id="17" name="Text 14"/>
          <p:cNvSpPr/>
          <p:nvPr/>
        </p:nvSpPr>
        <p:spPr>
          <a:xfrm>
            <a:off x="6934200" y="3870796"/>
            <a:ext cx="4369054" cy="728729"/>
          </a:xfrm>
          <a:prstGeom prst="rect">
            <a:avLst/>
          </a:prstGeom>
          <a:noFill/>
          <a:ln/>
        </p:spPr>
        <p:txBody>
          <a:bodyPr wrap="square" lIns="0" tIns="0" rIns="0" bIns="0" rtlCol="0" anchor="t">
            <a:normAutofit/>
          </a:bodyPr>
          <a:lstStyle/>
          <a:p>
            <a:pPr algn="l" indent="0" marL="0">
              <a:lnSpc>
                <a:spcPts val="1856"/>
              </a:lnSpc>
              <a:buNone/>
            </a:pPr>
            <a:r>
              <a:rPr lang="en-US" sz="1280" b="1" dirty="0">
                <a:solidFill>
                  <a:srgbClr val="BFD8D5"/>
                </a:solidFill>
                <a:latin typeface="IBM Plex Sans" pitchFamily="34" charset="0"/>
                <a:ea typeface="IBM Plex Sans" pitchFamily="34" charset="-122"/>
                <a:cs typeface="IBM Plex Sans" pitchFamily="34" charset="-120"/>
              </a:rPr>
              <a:t>In ingresso</a:t>
            </a:r>
            <a:r>
              <a:rPr lang="en-US" sz="1280" dirty="0">
                <a:solidFill>
                  <a:srgbClr val="BFD8D5"/>
                </a:solidFill>
                <a:latin typeface="IBM Plex Sans" pitchFamily="34" charset="0"/>
                <a:ea typeface="IBM Plex Sans" pitchFamily="34" charset="-122"/>
                <a:cs typeface="IBM Plex Sans" pitchFamily="34" charset="-120"/>
              </a:rPr>
              <a:t>: una tabella che traduce il numero della scheda nel numero della porta, gemella di quella già usata in uscita.</a:t>
            </a:r>
            <a:endParaRPr lang="en-US" sz="1280" dirty="0"/>
          </a:p>
        </p:txBody>
      </p:sp>
      <p:sp>
        <p:nvSpPr>
          <p:cNvPr id="18" name="Text 15"/>
          <p:cNvSpPr/>
          <p:nvPr/>
        </p:nvSpPr>
        <p:spPr>
          <a:xfrm>
            <a:off x="6934200" y="4650321"/>
            <a:ext cx="4369054" cy="494242"/>
          </a:xfrm>
          <a:prstGeom prst="rect">
            <a:avLst/>
          </a:prstGeom>
          <a:noFill/>
          <a:ln/>
        </p:spPr>
        <p:txBody>
          <a:bodyPr wrap="square" lIns="0" tIns="0" rIns="0" bIns="0" rtlCol="0" anchor="t">
            <a:normAutofit/>
          </a:bodyPr>
          <a:lstStyle/>
          <a:p>
            <a:pPr algn="l" indent="0" marL="0">
              <a:lnSpc>
                <a:spcPts val="1861"/>
              </a:lnSpc>
              <a:buNone/>
            </a:pPr>
            <a:r>
              <a:rPr lang="en-US" sz="1284" b="1" dirty="0">
                <a:solidFill>
                  <a:srgbClr val="BFD8D5"/>
                </a:solidFill>
                <a:latin typeface="IBM Plex Sans" pitchFamily="34" charset="0"/>
                <a:ea typeface="IBM Plex Sans" pitchFamily="34" charset="-122"/>
                <a:cs typeface="IBM Plex Sans" pitchFamily="34" charset="-120"/>
              </a:rPr>
              <a:t>In uscita</a:t>
            </a:r>
            <a:r>
              <a:rPr lang="en-US" sz="1284" dirty="0">
                <a:solidFill>
                  <a:srgbClr val="BFD8D5"/>
                </a:solidFill>
                <a:latin typeface="IBM Plex Sans" pitchFamily="34" charset="0"/>
                <a:ea typeface="IBM Plex Sans" pitchFamily="34" charset="-122"/>
                <a:cs typeface="IBM Plex Sans" pitchFamily="34" charset="-120"/>
              </a:rPr>
              <a:t>: scelta della rete → azione → numero di porta → scheda vera di quel nodo.</a:t>
            </a:r>
            <a:endParaRPr lang="en-US" sz="1284" dirty="0"/>
          </a:p>
        </p:txBody>
      </p:sp>
      <p:sp>
        <p:nvSpPr>
          <p:cNvPr id="19" name="Text 16"/>
          <p:cNvSpPr/>
          <p:nvPr/>
        </p:nvSpPr>
        <p:spPr>
          <a:xfrm>
            <a:off x="6934200" y="5195367"/>
            <a:ext cx="4369054" cy="494242"/>
          </a:xfrm>
          <a:prstGeom prst="rect">
            <a:avLst/>
          </a:prstGeom>
          <a:noFill/>
          <a:ln/>
        </p:spPr>
        <p:txBody>
          <a:bodyPr wrap="square" lIns="0" tIns="0" rIns="0" bIns="0" rtlCol="0" anchor="t">
            <a:normAutofit/>
          </a:bodyPr>
          <a:lstStyle/>
          <a:p>
            <a:pPr algn="l" indent="0" marL="0">
              <a:lnSpc>
                <a:spcPts val="1861"/>
              </a:lnSpc>
              <a:buNone/>
            </a:pPr>
            <a:r>
              <a:rPr lang="en-US" sz="1284" dirty="0">
                <a:solidFill>
                  <a:srgbClr val="BFD8D5"/>
                </a:solidFill>
                <a:latin typeface="IBM Plex Sans" pitchFamily="34" charset="0"/>
                <a:ea typeface="IBM Plex Sans" pitchFamily="34" charset="-122"/>
                <a:cs typeface="IBM Plex Sans" pitchFamily="34" charset="-120"/>
              </a:rPr>
              <a:t>Dentro, il motore ragiona sempre in numeri di porta. La traduzione sta ai due estremi, in tutte e due le direzioni.</a:t>
            </a:r>
            <a:endParaRPr lang="en-US" sz="1284" dirty="0"/>
          </a:p>
        </p:txBody>
      </p:sp>
      <p:sp>
        <p:nvSpPr>
          <p:cNvPr id="20" name="Text 17"/>
          <p:cNvSpPr/>
          <p:nvPr/>
        </p:nvSpPr>
        <p:spPr>
          <a:xfrm>
            <a:off x="812800" y="6238280"/>
            <a:ext cx="1010984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Nota di misura: nel banco isolato il programma vede sempre la scheda numero 1 — la tabella va riempita per quel numero, non per uno a piacere</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EF1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0651"/>
          </a:xfrm>
          <a:prstGeom prst="rect">
            <a:avLst/>
          </a:prstGeom>
          <a:noFill/>
          <a:ln/>
        </p:spPr>
        <p:txBody>
          <a:bodyPr wrap="square" lIns="0" tIns="0" rIns="0" bIns="0" rtlCol="0" anchor="t">
            <a:normAutofit/>
          </a:bodyPr>
          <a:lstStyle/>
          <a:p>
            <a:pPr algn="l" indent="0" marL="0">
              <a:lnSpc>
                <a:spcPts val="1621"/>
              </a:lnSpc>
              <a:buNone/>
            </a:pPr>
            <a:r>
              <a:rPr lang="en-US" sz="1158" spc="100" kern="0" dirty="0">
                <a:solidFill>
                  <a:srgbClr val="C2410C"/>
                </a:solidFill>
                <a:latin typeface="JetBrains Mono" pitchFamily="34" charset="0"/>
                <a:ea typeface="JetBrains Mono" pitchFamily="34" charset="-122"/>
                <a:cs typeface="JetBrains Mono" pitchFamily="34" charset="-120"/>
              </a:rPr>
              <a:t>INDIPENDENZA DALLO SCENARIO</a:t>
            </a:r>
            <a:endParaRPr lang="en-US" sz="1158" dirty="0"/>
          </a:p>
        </p:txBody>
      </p:sp>
      <p:sp>
        <p:nvSpPr>
          <p:cNvPr id="3" name="Text 1"/>
          <p:cNvSpPr/>
          <p:nvPr/>
        </p:nvSpPr>
        <p:spPr>
          <a:xfrm>
            <a:off x="812800" y="1081559"/>
            <a:ext cx="10883392" cy="397669"/>
          </a:xfrm>
          <a:prstGeom prst="rect">
            <a:avLst/>
          </a:prstGeom>
          <a:noFill/>
          <a:ln/>
        </p:spPr>
        <p:txBody>
          <a:bodyPr wrap="square" lIns="0" tIns="0" rIns="0" bIns="0" rtlCol="0" anchor="t">
            <a:normAutofit/>
          </a:bodyPr>
          <a:lstStyle/>
          <a:p>
            <a:pPr algn="l" indent="0" marL="0">
              <a:lnSpc>
                <a:spcPts val="2970"/>
              </a:lnSpc>
              <a:buNone/>
            </a:pPr>
            <a:r>
              <a:rPr lang="en-US" sz="2700" b="1" dirty="0">
                <a:solidFill>
                  <a:srgbClr val="14213D"/>
                </a:solidFill>
                <a:latin typeface="IBM Plex Sans" pitchFamily="34" charset="0"/>
                <a:ea typeface="IBM Plex Sans" pitchFamily="34" charset="-122"/>
                <a:cs typeface="IBM Plex Sans" pitchFamily="34" charset="-120"/>
              </a:rPr>
              <a:t>Il motore non è legato a una rete</a:t>
            </a:r>
            <a:endParaRPr lang="en-US" sz="2700" dirty="0"/>
          </a:p>
        </p:txBody>
      </p:sp>
      <p:sp>
        <p:nvSpPr>
          <p:cNvPr id="4" name="Text 2"/>
          <p:cNvSpPr/>
          <p:nvPr/>
        </p:nvSpPr>
        <p:spPr>
          <a:xfrm>
            <a:off x="812800" y="1618928"/>
            <a:ext cx="10464800" cy="719931"/>
          </a:xfrm>
          <a:prstGeom prst="rect">
            <a:avLst/>
          </a:prstGeom>
          <a:noFill/>
          <a:ln/>
        </p:spPr>
        <p:txBody>
          <a:bodyPr wrap="square" lIns="0" tIns="0" rIns="0" bIns="0" rtlCol="0" anchor="t">
            <a:normAutofit/>
          </a:bodyPr>
          <a:lstStyle/>
          <a:p>
            <a:pPr algn="l" indent="0" marL="0">
              <a:lnSpc>
                <a:spcPts val="2005"/>
              </a:lnSpc>
              <a:buNone/>
            </a:pPr>
            <a:r>
              <a:rPr lang="en-US" sz="1432" dirty="0">
                <a:solidFill>
                  <a:srgbClr val="4A5568"/>
                </a:solidFill>
                <a:latin typeface="IBM Plex Sans" pitchFamily="34" charset="0"/>
                <a:ea typeface="IBM Plex Sans" pitchFamily="34" charset="-122"/>
                <a:cs typeface="IBM Plex Sans" pitchFamily="34" charset="-120"/>
              </a:rPr>
              <a:t>Quanti numeri entrano nella rete neurale dipende dalla rete di comunicazione su cui gira: quante porte ha un nodo, quanti nodi ci sono. Scrivere quel totale dentro il codice voleva dire avere un motore cucito su </a:t>
            </a:r>
            <a:r>
              <a:rPr lang="en-US" sz="1432" i="1" dirty="0">
                <a:solidFill>
                  <a:srgbClr val="4A5568"/>
                </a:solidFill>
                <a:latin typeface="IBM Plex Sans" pitchFamily="34" charset="0"/>
                <a:ea typeface="IBM Plex Sans" pitchFamily="34" charset="-122"/>
                <a:cs typeface="IBM Plex Sans" pitchFamily="34" charset="-120"/>
              </a:rPr>
              <a:t>una</a:t>
            </a:r>
            <a:r>
              <a:rPr lang="en-US" sz="1432" dirty="0">
                <a:solidFill>
                  <a:srgbClr val="4A5568"/>
                </a:solidFill>
                <a:latin typeface="IBM Plex Sans" pitchFamily="34" charset="0"/>
                <a:ea typeface="IBM Plex Sans" pitchFamily="34" charset="-122"/>
                <a:cs typeface="IBM Plex Sans" pitchFamily="34" charset="-120"/>
              </a:rPr>
              <a:t> rete, con l’aria di essere generico.</a:t>
            </a:r>
            <a:endParaRPr lang="en-US" sz="1432" dirty="0"/>
          </a:p>
        </p:txBody>
      </p:sp>
      <p:sp>
        <p:nvSpPr>
          <p:cNvPr id="5" name="Shape 3"/>
          <p:cNvSpPr/>
          <p:nvPr/>
        </p:nvSpPr>
        <p:spPr>
          <a:xfrm>
            <a:off x="812800" y="2478559"/>
            <a:ext cx="10566400" cy="852355"/>
          </a:xfrm>
          <a:prstGeom prst="roundRect">
            <a:avLst>
              <a:gd name="adj" fmla="val 11920"/>
            </a:avLst>
          </a:prstGeom>
          <a:solidFill>
            <a:srgbClr val="FBFBF8"/>
          </a:solidFill>
          <a:ln/>
        </p:spPr>
      </p:sp>
      <p:pic>
        <p:nvPicPr>
          <p:cNvPr id="6" name="Image 0" descr="n in uguale sei link piu' sei interfacce piu' uno ttl piu' cinquantadue nodi uguale sessantacinque">    </p:cNvPr>
          <p:cNvPicPr>
            <a:picLocks noChangeAspect="1"/>
          </p:cNvPicPr>
          <p:nvPr/>
        </p:nvPicPr>
        <p:blipFill>
          <a:blip r:embed="rId1"/>
          <a:srcRect l="-115" r="-115" t="0" b="0"/>
          <a:stretch/>
        </p:blipFill>
        <p:spPr>
          <a:xfrm>
            <a:off x="2349500" y="2630959"/>
            <a:ext cx="7493000" cy="609600"/>
          </a:xfrm>
          <a:prstGeom prst="rect">
            <a:avLst/>
          </a:prstGeom>
        </p:spPr>
      </p:pic>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12800" y="3496010"/>
          <a:ext cx="6350000" cy="2395934"/>
        </p:xfrm>
        <a:graphic>
          <a:graphicData uri="http://schemas.openxmlformats.org/drawingml/2006/table">
            <a:tbl>
              <a:tblPr/>
              <a:tblGrid>
                <a:gridCol w="1651000"/>
                <a:gridCol w="889000"/>
                <a:gridCol w="889000"/>
                <a:gridCol w="1524000"/>
                <a:gridCol w="1397000"/>
              </a:tblGrid>
              <a:tr h="399322">
                <a:tc>
                  <a:txBody>
                    <a:bodyPr/>
                    <a:lstStyle/>
                    <a:p>
                      <a:pPr indent="0" marL="0">
                        <a:lnSpc>
                          <a:spcPts val="2030"/>
                        </a:lnSpc>
                        <a:buNone/>
                      </a:pPr>
                      <a:r>
                        <a:rPr lang="en-US" sz="1450" b="1" dirty="0">
                          <a:solidFill>
                            <a:srgbClr val="FBFBF8"/>
                          </a:solidFill>
                          <a:latin typeface="IBM Plex Sans" pitchFamily="34" charset="0"/>
                          <a:ea typeface="IBM Plex Sans" pitchFamily="34" charset="-122"/>
                          <a:cs typeface="IBM Plex Sans" pitchFamily="34" charset="-120"/>
                        </a:rPr>
                        <a:t>Scenario</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14213D"/>
                    </a:solidFill>
                  </a:tcPr>
                </a:tc>
                <a:tc>
                  <a:txBody>
                    <a:bodyPr/>
                    <a:lstStyle/>
                    <a:p>
                      <a:pPr algn="r" indent="0" marL="0">
                        <a:lnSpc>
                          <a:spcPts val="2030"/>
                        </a:lnSpc>
                        <a:buNone/>
                      </a:pPr>
                      <a:r>
                        <a:rPr lang="en-US" sz="1450" b="1" dirty="0">
                          <a:solidFill>
                            <a:srgbClr val="FBFBF8"/>
                          </a:solidFill>
                          <a:latin typeface="IBM Plex Sans" pitchFamily="34" charset="0"/>
                          <a:ea typeface="IBM Plex Sans" pitchFamily="34" charset="-122"/>
                          <a:cs typeface="IBM Plex Sans" pitchFamily="34" charset="-120"/>
                        </a:rPr>
                        <a:t>iface</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14213D"/>
                    </a:solidFill>
                  </a:tcPr>
                </a:tc>
                <a:tc>
                  <a:txBody>
                    <a:bodyPr/>
                    <a:lstStyle/>
                    <a:p>
                      <a:pPr algn="r" indent="0" marL="0">
                        <a:lnSpc>
                          <a:spcPts val="2030"/>
                        </a:lnSpc>
                        <a:buNone/>
                      </a:pPr>
                      <a:r>
                        <a:rPr lang="en-US" sz="1450" b="1" dirty="0">
                          <a:solidFill>
                            <a:srgbClr val="FBFBF8"/>
                          </a:solidFill>
                          <a:latin typeface="IBM Plex Sans" pitchFamily="34" charset="0"/>
                          <a:ea typeface="IBM Plex Sans" pitchFamily="34" charset="-122"/>
                          <a:cs typeface="IBM Plex Sans" pitchFamily="34" charset="-120"/>
                        </a:rPr>
                        <a:t>nodi</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14213D"/>
                    </a:solidFill>
                  </a:tcPr>
                </a:tc>
                <a:tc>
                  <a:txBody>
                    <a:bodyPr/>
                    <a:lstStyle/>
                    <a:p>
                      <a:pPr indent="0" marL="0">
                        <a:lnSpc>
                          <a:spcPts val="2030"/>
                        </a:lnSpc>
                        <a:buNone/>
                      </a:pPr>
                      <a:r>
                        <a:rPr lang="en-US" sz="1450" b="1" dirty="0">
                          <a:solidFill>
                            <a:srgbClr val="FBFBF8"/>
                          </a:solidFill>
                          <a:latin typeface="IBM Plex Sans" pitchFamily="34" charset="0"/>
                          <a:ea typeface="IBM Plex Sans" pitchFamily="34" charset="-122"/>
                          <a:cs typeface="IBM Plex Sans" pitchFamily="34" charset="-120"/>
                        </a:rPr>
                        <a:t>rete</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14213D"/>
                    </a:solidFill>
                  </a:tcPr>
                </a:tc>
                <a:tc>
                  <a:txBody>
                    <a:bodyPr/>
                    <a:lstStyle/>
                    <a:p>
                      <a:pPr algn="r" indent="0" marL="0">
                        <a:lnSpc>
                          <a:spcPts val="2030"/>
                        </a:lnSpc>
                        <a:buNone/>
                      </a:pPr>
                      <a:r>
                        <a:rPr lang="en-US" sz="1450" b="1" dirty="0">
                          <a:solidFill>
                            <a:srgbClr val="FBFBF8"/>
                          </a:solidFill>
                          <a:latin typeface="IBM Plex Sans" pitchFamily="34" charset="0"/>
                          <a:ea typeface="IBM Plex Sans" pitchFamily="34" charset="-122"/>
                          <a:cs typeface="IBM Plex Sans" pitchFamily="34" charset="-120"/>
                        </a:rPr>
                        <a:t>nᵢₙ</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14213D"/>
                    </a:solidFill>
                  </a:tcPr>
                </a:tc>
              </a:tr>
              <a:tr h="399322">
                <a:tc>
                  <a:txBody>
                    <a:bodyPr/>
                    <a:lstStyle/>
                    <a:p>
                      <a:pPr indent="0" marL="0">
                        <a:lnSpc>
                          <a:spcPts val="2030"/>
                        </a:lnSpc>
                        <a:buNone/>
                      </a:pPr>
                      <a:r>
                        <a:rPr lang="en-US" sz="1450" dirty="0">
                          <a:solidFill>
                            <a:srgbClr val="14213D"/>
                          </a:solidFill>
                          <a:latin typeface="IBM Plex Sans" pitchFamily="34" charset="0"/>
                          <a:ea typeface="IBM Plex Sans" pitchFamily="34" charset="-122"/>
                          <a:cs typeface="IBM Plex Sans" pitchFamily="34" charset="-120"/>
                        </a:rPr>
                        <a:t>ones</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c>
                  <a:txBody>
                    <a:bodyPr/>
                    <a:lstStyle/>
                    <a:p>
                      <a:pPr algn="r" indent="0" marL="0">
                        <a:lnSpc>
                          <a:spcPts val="2030"/>
                        </a:lnSpc>
                        <a:buNone/>
                      </a:pPr>
                      <a:r>
                        <a:rPr lang="en-US" sz="1450" dirty="0">
                          <a:solidFill>
                            <a:srgbClr val="14213D"/>
                          </a:solidFill>
                          <a:latin typeface="IBM Plex Sans" pitchFamily="34" charset="0"/>
                          <a:ea typeface="IBM Plex Sans" pitchFamily="34" charset="-122"/>
                          <a:cs typeface="IBM Plex Sans" pitchFamily="34" charset="-120"/>
                        </a:rPr>
                        <a:t>3</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c>
                  <a:txBody>
                    <a:bodyPr/>
                    <a:lstStyle/>
                    <a:p>
                      <a:pPr algn="r" indent="0" marL="0">
                        <a:lnSpc>
                          <a:spcPts val="2030"/>
                        </a:lnSpc>
                        <a:buNone/>
                      </a:pPr>
                      <a:r>
                        <a:rPr lang="en-US" sz="1450" dirty="0">
                          <a:solidFill>
                            <a:srgbClr val="14213D"/>
                          </a:solidFill>
                          <a:latin typeface="IBM Plex Sans" pitchFamily="34" charset="0"/>
                          <a:ea typeface="IBM Plex Sans" pitchFamily="34" charset="-122"/>
                          <a:cs typeface="IBM Plex Sans" pitchFamily="34" charset="-120"/>
                        </a:rPr>
                        <a:t>4</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c>
                  <a:txBody>
                    <a:bodyPr/>
                    <a:lstStyle/>
                    <a:p>
                      <a:pPr indent="0" marL="0">
                        <a:lnSpc>
                          <a:spcPts val="2030"/>
                        </a:lnSpc>
                        <a:buNone/>
                      </a:pPr>
                      <a:r>
                        <a:rPr lang="en-US" sz="1450" dirty="0">
                          <a:solidFill>
                            <a:srgbClr val="14213D"/>
                          </a:solidFill>
                          <a:latin typeface="IBM Plex Sans" pitchFamily="34" charset="0"/>
                          <a:ea typeface="IBM Plex Sans" pitchFamily="34" charset="-122"/>
                          <a:cs typeface="IBM Plex Sans" pitchFamily="34" charset="-120"/>
                        </a:rPr>
                        <a:t>2</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c>
                  <a:txBody>
                    <a:bodyPr/>
                    <a:lstStyle/>
                    <a:p>
                      <a:pPr algn="r" indent="0" marL="0">
                        <a:lnSpc>
                          <a:spcPts val="2030"/>
                        </a:lnSpc>
                        <a:buNone/>
                      </a:pPr>
                      <a:r>
                        <a:rPr lang="en-US" sz="1450" dirty="0">
                          <a:solidFill>
                            <a:srgbClr val="14213D"/>
                          </a:solidFill>
                          <a:latin typeface="IBM Plex Sans" pitchFamily="34" charset="0"/>
                          <a:ea typeface="IBM Plex Sans" pitchFamily="34" charset="-122"/>
                          <a:cs typeface="IBM Plex Sans" pitchFamily="34" charset="-120"/>
                        </a:rPr>
                        <a:t>11</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r>
              <a:tr h="399322">
                <a:tc>
                  <a:txBody>
                    <a:bodyPr/>
                    <a:lstStyle/>
                    <a:p>
                      <a:pPr indent="0" marL="0">
                        <a:lnSpc>
                          <a:spcPts val="2030"/>
                        </a:lnSpc>
                        <a:buNone/>
                      </a:pPr>
                      <a:r>
                        <a:rPr lang="en-US" sz="1450" dirty="0">
                          <a:solidFill>
                            <a:srgbClr val="14213D"/>
                          </a:solidFill>
                          <a:latin typeface="IBM Plex Sans" pitchFamily="34" charset="0"/>
                          <a:ea typeface="IBM Plex Sans" pitchFamily="34" charset="-122"/>
                          <a:cs typeface="IBM Plex Sans" pitchFamily="34" charset="-120"/>
                        </a:rPr>
                        <a:t>small</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tcPr>
                </a:tc>
                <a:tc>
                  <a:txBody>
                    <a:bodyPr/>
                    <a:lstStyle/>
                    <a:p>
                      <a:pPr algn="r" indent="0" marL="0">
                        <a:lnSpc>
                          <a:spcPts val="2030"/>
                        </a:lnSpc>
                        <a:buNone/>
                      </a:pPr>
                      <a:r>
                        <a:rPr lang="en-US" sz="1450" dirty="0">
                          <a:solidFill>
                            <a:srgbClr val="14213D"/>
                          </a:solidFill>
                          <a:latin typeface="IBM Plex Sans" pitchFamily="34" charset="0"/>
                          <a:ea typeface="IBM Plex Sans" pitchFamily="34" charset="-122"/>
                          <a:cs typeface="IBM Plex Sans" pitchFamily="34" charset="-120"/>
                        </a:rPr>
                        <a:t>3</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tcPr>
                </a:tc>
                <a:tc>
                  <a:txBody>
                    <a:bodyPr/>
                    <a:lstStyle/>
                    <a:p>
                      <a:pPr algn="r" indent="0" marL="0">
                        <a:lnSpc>
                          <a:spcPts val="2030"/>
                        </a:lnSpc>
                        <a:buNone/>
                      </a:pPr>
                      <a:r>
                        <a:rPr lang="en-US" sz="1450" dirty="0">
                          <a:solidFill>
                            <a:srgbClr val="14213D"/>
                          </a:solidFill>
                          <a:latin typeface="IBM Plex Sans" pitchFamily="34" charset="0"/>
                          <a:ea typeface="IBM Plex Sans" pitchFamily="34" charset="-122"/>
                          <a:cs typeface="IBM Plex Sans" pitchFamily="34" charset="-120"/>
                        </a:rPr>
                        <a:t>8</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tcPr>
                </a:tc>
                <a:tc>
                  <a:txBody>
                    <a:bodyPr/>
                    <a:lstStyle/>
                    <a:p>
                      <a:pPr indent="0" marL="0">
                        <a:lnSpc>
                          <a:spcPts val="2030"/>
                        </a:lnSpc>
                        <a:buNone/>
                      </a:pPr>
                      <a:r>
                        <a:rPr lang="en-US" sz="1450" dirty="0">
                          <a:solidFill>
                            <a:srgbClr val="14213D"/>
                          </a:solidFill>
                          <a:latin typeface="IBM Plex Sans" pitchFamily="34" charset="0"/>
                          <a:ea typeface="IBM Plex Sans" pitchFamily="34" charset="-122"/>
                          <a:cs typeface="IBM Plex Sans" pitchFamily="34" charset="-120"/>
                        </a:rPr>
                        <a:t>4</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tcPr>
                </a:tc>
                <a:tc>
                  <a:txBody>
                    <a:bodyPr/>
                    <a:lstStyle/>
                    <a:p>
                      <a:pPr algn="r" indent="0" marL="0">
                        <a:lnSpc>
                          <a:spcPts val="2030"/>
                        </a:lnSpc>
                        <a:buNone/>
                      </a:pPr>
                      <a:r>
                        <a:rPr lang="en-US" sz="1450" dirty="0">
                          <a:solidFill>
                            <a:srgbClr val="14213D"/>
                          </a:solidFill>
                          <a:latin typeface="IBM Plex Sans" pitchFamily="34" charset="0"/>
                          <a:ea typeface="IBM Plex Sans" pitchFamily="34" charset="-122"/>
                          <a:cs typeface="IBM Plex Sans" pitchFamily="34" charset="-120"/>
                        </a:rPr>
                        <a:t>15</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tcPr>
                </a:tc>
              </a:tr>
              <a:tr h="399322">
                <a:tc>
                  <a:txBody>
                    <a:bodyPr/>
                    <a:lstStyle/>
                    <a:p>
                      <a:pPr indent="0" marL="0">
                        <a:lnSpc>
                          <a:spcPts val="2030"/>
                        </a:lnSpc>
                        <a:buNone/>
                      </a:pPr>
                      <a:r>
                        <a:rPr lang="en-US" sz="1450" dirty="0">
                          <a:solidFill>
                            <a:srgbClr val="14213D"/>
                          </a:solidFill>
                          <a:latin typeface="IBM Plex Sans" pitchFamily="34" charset="0"/>
                          <a:ea typeface="IBM Plex Sans" pitchFamily="34" charset="-122"/>
                          <a:cs typeface="IBM Plex Sans" pitchFamily="34" charset="-120"/>
                        </a:rPr>
                        <a:t>mixed</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c>
                  <a:txBody>
                    <a:bodyPr/>
                    <a:lstStyle/>
                    <a:p>
                      <a:pPr algn="r" indent="0" marL="0">
                        <a:lnSpc>
                          <a:spcPts val="2030"/>
                        </a:lnSpc>
                        <a:buNone/>
                      </a:pPr>
                      <a:r>
                        <a:rPr lang="en-US" sz="1450" dirty="0">
                          <a:solidFill>
                            <a:srgbClr val="14213D"/>
                          </a:solidFill>
                          <a:latin typeface="IBM Plex Sans" pitchFamily="34" charset="0"/>
                          <a:ea typeface="IBM Plex Sans" pitchFamily="34" charset="-122"/>
                          <a:cs typeface="IBM Plex Sans" pitchFamily="34" charset="-120"/>
                        </a:rPr>
                        <a:t>4</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c>
                  <a:txBody>
                    <a:bodyPr/>
                    <a:lstStyle/>
                    <a:p>
                      <a:pPr algn="r" indent="0" marL="0">
                        <a:lnSpc>
                          <a:spcPts val="2030"/>
                        </a:lnSpc>
                        <a:buNone/>
                      </a:pPr>
                      <a:r>
                        <a:rPr lang="en-US" sz="1450" dirty="0">
                          <a:solidFill>
                            <a:srgbClr val="14213D"/>
                          </a:solidFill>
                          <a:latin typeface="IBM Plex Sans" pitchFamily="34" charset="0"/>
                          <a:ea typeface="IBM Plex Sans" pitchFamily="34" charset="-122"/>
                          <a:cs typeface="IBM Plex Sans" pitchFamily="34" charset="-120"/>
                        </a:rPr>
                        <a:t>12</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c>
                  <a:txBody>
                    <a:bodyPr/>
                    <a:lstStyle/>
                    <a:p>
                      <a:pPr indent="0" marL="0">
                        <a:lnSpc>
                          <a:spcPts val="2030"/>
                        </a:lnSpc>
                        <a:buNone/>
                      </a:pPr>
                      <a:r>
                        <a:rPr lang="en-US" sz="1450" dirty="0">
                          <a:solidFill>
                            <a:srgbClr val="14213D"/>
                          </a:solidFill>
                          <a:latin typeface="IBM Plex Sans" pitchFamily="34" charset="0"/>
                          <a:ea typeface="IBM Plex Sans" pitchFamily="34" charset="-122"/>
                          <a:cs typeface="IBM Plex Sans" pitchFamily="34" charset="-120"/>
                        </a:rPr>
                        <a:t>6</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c>
                  <a:txBody>
                    <a:bodyPr/>
                    <a:lstStyle/>
                    <a:p>
                      <a:pPr algn="r" indent="0" marL="0">
                        <a:lnSpc>
                          <a:spcPts val="2030"/>
                        </a:lnSpc>
                        <a:buNone/>
                      </a:pPr>
                      <a:r>
                        <a:rPr lang="en-US" sz="1450" dirty="0">
                          <a:solidFill>
                            <a:srgbClr val="14213D"/>
                          </a:solidFill>
                          <a:latin typeface="IBM Plex Sans" pitchFamily="34" charset="0"/>
                          <a:ea typeface="IBM Plex Sans" pitchFamily="34" charset="-122"/>
                          <a:cs typeface="IBM Plex Sans" pitchFamily="34" charset="-120"/>
                        </a:rPr>
                        <a:t>18</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r>
              <a:tr h="399322">
                <a:tc>
                  <a:txBody>
                    <a:bodyPr/>
                    <a:lstStyle/>
                    <a:p>
                      <a:pPr indent="0" marL="0">
                        <a:lnSpc>
                          <a:spcPts val="2030"/>
                        </a:lnSpc>
                        <a:buNone/>
                      </a:pPr>
                      <a:r>
                        <a:rPr lang="en-US" sz="1450" dirty="0">
                          <a:solidFill>
                            <a:srgbClr val="14213D"/>
                          </a:solidFill>
                          <a:latin typeface="IBM Plex Sans" pitchFamily="34" charset="0"/>
                          <a:ea typeface="IBM Plex Sans" pitchFamily="34" charset="-122"/>
                          <a:cs typeface="IBM Plex Sans" pitchFamily="34" charset="-120"/>
                        </a:rPr>
                        <a:t>ipa_like</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tcPr>
                </a:tc>
                <a:tc>
                  <a:txBody>
                    <a:bodyPr/>
                    <a:lstStyle/>
                    <a:p>
                      <a:pPr algn="r" indent="0" marL="0">
                        <a:lnSpc>
                          <a:spcPts val="2030"/>
                        </a:lnSpc>
                        <a:buNone/>
                      </a:pPr>
                      <a:r>
                        <a:rPr lang="en-US" sz="1450" dirty="0">
                          <a:solidFill>
                            <a:srgbClr val="14213D"/>
                          </a:solidFill>
                          <a:latin typeface="IBM Plex Sans" pitchFamily="34" charset="0"/>
                          <a:ea typeface="IBM Plex Sans" pitchFamily="34" charset="-122"/>
                          <a:cs typeface="IBM Plex Sans" pitchFamily="34" charset="-120"/>
                        </a:rPr>
                        <a:t>6</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tcPr>
                </a:tc>
                <a:tc>
                  <a:txBody>
                    <a:bodyPr/>
                    <a:lstStyle/>
                    <a:p>
                      <a:pPr algn="r" indent="0" marL="0">
                        <a:lnSpc>
                          <a:spcPts val="2030"/>
                        </a:lnSpc>
                        <a:buNone/>
                      </a:pPr>
                      <a:r>
                        <a:rPr lang="en-US" sz="1450" dirty="0">
                          <a:solidFill>
                            <a:srgbClr val="14213D"/>
                          </a:solidFill>
                          <a:latin typeface="IBM Plex Sans" pitchFamily="34" charset="0"/>
                          <a:ea typeface="IBM Plex Sans" pitchFamily="34" charset="-122"/>
                          <a:cs typeface="IBM Plex Sans" pitchFamily="34" charset="-120"/>
                        </a:rPr>
                        <a:t>52</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tcPr>
                </a:tc>
                <a:tc>
                  <a:txBody>
                    <a:bodyPr/>
                    <a:lstStyle/>
                    <a:p>
                      <a:pPr indent="0" marL="0">
                        <a:lnSpc>
                          <a:spcPts val="2030"/>
                        </a:lnSpc>
                        <a:buNone/>
                      </a:pPr>
                      <a:r>
                        <a:rPr lang="en-US" sz="1450" dirty="0">
                          <a:solidFill>
                            <a:srgbClr val="14213D"/>
                          </a:solidFill>
                          <a:latin typeface="IBM Plex Sans" pitchFamily="34" charset="0"/>
                          <a:ea typeface="IBM Plex Sans" pitchFamily="34" charset="-122"/>
                          <a:cs typeface="IBM Plex Sans" pitchFamily="34" charset="-120"/>
                        </a:rPr>
                        <a:t>4-4</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tcPr>
                </a:tc>
                <a:tc>
                  <a:txBody>
                    <a:bodyPr/>
                    <a:lstStyle/>
                    <a:p>
                      <a:pPr algn="r" indent="0" marL="0">
                        <a:lnSpc>
                          <a:spcPts val="2030"/>
                        </a:lnSpc>
                        <a:buNone/>
                      </a:pPr>
                      <a:r>
                        <a:rPr lang="en-US" sz="1450" dirty="0">
                          <a:solidFill>
                            <a:srgbClr val="14213D"/>
                          </a:solidFill>
                          <a:latin typeface="IBM Plex Sans" pitchFamily="34" charset="0"/>
                          <a:ea typeface="IBM Plex Sans" pitchFamily="34" charset="-122"/>
                          <a:cs typeface="IBM Plex Sans" pitchFamily="34" charset="-120"/>
                        </a:rPr>
                        <a:t>65</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tcPr>
                </a:tc>
              </a:tr>
              <a:tr h="399322">
                <a:tc>
                  <a:txBody>
                    <a:bodyPr/>
                    <a:lstStyle/>
                    <a:p>
                      <a:pPr indent="0" marL="0">
                        <a:lnSpc>
                          <a:spcPts val="2030"/>
                        </a:lnSpc>
                        <a:buNone/>
                      </a:pPr>
                      <a:r>
                        <a:rPr lang="en-US" sz="1450" dirty="0">
                          <a:solidFill>
                            <a:srgbClr val="14213D"/>
                          </a:solidFill>
                          <a:latin typeface="IBM Plex Sans" pitchFamily="34" charset="0"/>
                          <a:ea typeface="IBM Plex Sans" pitchFamily="34" charset="-122"/>
                          <a:cs typeface="IBM Plex Sans" pitchFamily="34" charset="-120"/>
                        </a:rPr>
                        <a:t>large</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c>
                  <a:txBody>
                    <a:bodyPr/>
                    <a:lstStyle/>
                    <a:p>
                      <a:pPr algn="r" indent="0" marL="0">
                        <a:lnSpc>
                          <a:spcPts val="2030"/>
                        </a:lnSpc>
                        <a:buNone/>
                      </a:pPr>
                      <a:r>
                        <a:rPr lang="en-US" sz="1450" dirty="0">
                          <a:solidFill>
                            <a:srgbClr val="14213D"/>
                          </a:solidFill>
                          <a:latin typeface="IBM Plex Sans" pitchFamily="34" charset="0"/>
                          <a:ea typeface="IBM Plex Sans" pitchFamily="34" charset="-122"/>
                          <a:cs typeface="IBM Plex Sans" pitchFamily="34" charset="-120"/>
                        </a:rPr>
                        <a:t>8</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c>
                  <a:txBody>
                    <a:bodyPr/>
                    <a:lstStyle/>
                    <a:p>
                      <a:pPr algn="r" indent="0" marL="0">
                        <a:lnSpc>
                          <a:spcPts val="2030"/>
                        </a:lnSpc>
                        <a:buNone/>
                      </a:pPr>
                      <a:r>
                        <a:rPr lang="en-US" sz="1450" dirty="0">
                          <a:solidFill>
                            <a:srgbClr val="14213D"/>
                          </a:solidFill>
                          <a:latin typeface="IBM Plex Sans" pitchFamily="34" charset="0"/>
                          <a:ea typeface="IBM Plex Sans" pitchFamily="34" charset="-122"/>
                          <a:cs typeface="IBM Plex Sans" pitchFamily="34" charset="-120"/>
                        </a:rPr>
                        <a:t>100</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c>
                  <a:txBody>
                    <a:bodyPr/>
                    <a:lstStyle/>
                    <a:p>
                      <a:pPr indent="0" marL="0">
                        <a:lnSpc>
                          <a:spcPts val="2030"/>
                        </a:lnSpc>
                        <a:buNone/>
                      </a:pPr>
                      <a:r>
                        <a:rPr lang="en-US" sz="1450" dirty="0">
                          <a:solidFill>
                            <a:srgbClr val="14213D"/>
                          </a:solidFill>
                          <a:latin typeface="IBM Plex Sans" pitchFamily="34" charset="0"/>
                          <a:ea typeface="IBM Plex Sans" pitchFamily="34" charset="-122"/>
                          <a:cs typeface="IBM Plex Sans" pitchFamily="34" charset="-120"/>
                        </a:rPr>
                        <a:t>8-8</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c>
                  <a:txBody>
                    <a:bodyPr/>
                    <a:lstStyle/>
                    <a:p>
                      <a:pPr algn="r" indent="0" marL="0">
                        <a:lnSpc>
                          <a:spcPts val="2030"/>
                        </a:lnSpc>
                        <a:buNone/>
                      </a:pPr>
                      <a:r>
                        <a:rPr lang="en-US" sz="1450" dirty="0">
                          <a:solidFill>
                            <a:srgbClr val="14213D"/>
                          </a:solidFill>
                          <a:latin typeface="IBM Plex Sans" pitchFamily="34" charset="0"/>
                          <a:ea typeface="IBM Plex Sans" pitchFamily="34" charset="-122"/>
                          <a:cs typeface="IBM Plex Sans" pitchFamily="34" charset="-120"/>
                        </a:rPr>
                        <a:t>117</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r>
            </a:tbl>
          </a:graphicData>
        </a:graphic>
      </p:graphicFrame>
      <p:sp>
        <p:nvSpPr>
          <p:cNvPr id="8" name="Shape 4"/>
          <p:cNvSpPr/>
          <p:nvPr/>
        </p:nvSpPr>
        <p:spPr>
          <a:xfrm>
            <a:off x="7366000" y="3616858"/>
            <a:ext cx="4013200" cy="468577"/>
          </a:xfrm>
          <a:prstGeom prst="roundRect">
            <a:avLst>
              <a:gd name="adj" fmla="val 18972"/>
            </a:avLst>
          </a:prstGeom>
          <a:solidFill>
            <a:srgbClr val="FBFBF8"/>
          </a:solidFill>
          <a:ln/>
        </p:spPr>
      </p:sp>
      <p:sp>
        <p:nvSpPr>
          <p:cNvPr id="9" name="Text 5"/>
          <p:cNvSpPr/>
          <p:nvPr/>
        </p:nvSpPr>
        <p:spPr>
          <a:xfrm>
            <a:off x="7518400" y="3731158"/>
            <a:ext cx="3819652" cy="265377"/>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14213D"/>
                </a:solidFill>
                <a:latin typeface="IBM Plex Sans" pitchFamily="34" charset="0"/>
                <a:ea typeface="IBM Plex Sans" pitchFamily="34" charset="-122"/>
                <a:cs typeface="IBM Plex Sans" pitchFamily="34" charset="-120"/>
              </a:rPr>
              <a:t>Scenario</a:t>
            </a:r>
            <a:r>
              <a:rPr lang="en-US" sz="1350" dirty="0">
                <a:solidFill>
                  <a:srgbClr val="14213D"/>
                </a:solidFill>
                <a:latin typeface="IBM Plex Sans" pitchFamily="34" charset="0"/>
                <a:ea typeface="IBM Plex Sans" pitchFamily="34" charset="-122"/>
                <a:cs typeface="IBM Plex Sans" pitchFamily="34" charset="-120"/>
              </a:rPr>
              <a:t> — la rete concreta</a:t>
            </a:r>
            <a:endParaRPr lang="en-US" sz="1350" dirty="0"/>
          </a:p>
        </p:txBody>
      </p:sp>
      <p:sp>
        <p:nvSpPr>
          <p:cNvPr id="10" name="Text 6"/>
          <p:cNvSpPr/>
          <p:nvPr/>
        </p:nvSpPr>
        <p:spPr>
          <a:xfrm>
            <a:off x="7305802" y="4174331"/>
            <a:ext cx="4133596" cy="196850"/>
          </a:xfrm>
          <a:prstGeom prst="rect">
            <a:avLst/>
          </a:prstGeom>
          <a:noFill/>
          <a:ln/>
        </p:spPr>
        <p:txBody>
          <a:bodyPr wrap="square" lIns="0" tIns="0" rIns="0" bIns="0" rtlCol="0" anchor="t">
            <a:normAutofit/>
          </a:bodyPr>
          <a:lstStyle/>
          <a:p>
            <a:pPr algn="ctr" indent="0" marL="0">
              <a:lnSpc>
                <a:spcPts val="1350"/>
              </a:lnSpc>
              <a:buNone/>
            </a:pPr>
            <a:r>
              <a:rPr lang="en-US" sz="1500" dirty="0">
                <a:solidFill>
                  <a:srgbClr val="8FA3BF"/>
                </a:solidFill>
                <a:latin typeface="IBM Plex Sans" pitchFamily="34" charset="0"/>
                <a:ea typeface="IBM Plex Sans" pitchFamily="34" charset="-122"/>
                <a:cs typeface="IBM Plex Sans" pitchFamily="34" charset="-120"/>
              </a:rPr>
              <a:t>↓</a:t>
            </a:r>
            <a:endParaRPr lang="en-US" sz="1500" dirty="0"/>
          </a:p>
        </p:txBody>
      </p:sp>
      <p:sp>
        <p:nvSpPr>
          <p:cNvPr id="11" name="Shape 7"/>
          <p:cNvSpPr/>
          <p:nvPr/>
        </p:nvSpPr>
        <p:spPr>
          <a:xfrm>
            <a:off x="7366000" y="4434681"/>
            <a:ext cx="4013200" cy="468577"/>
          </a:xfrm>
          <a:prstGeom prst="roundRect">
            <a:avLst>
              <a:gd name="adj" fmla="val 18972"/>
            </a:avLst>
          </a:prstGeom>
          <a:solidFill>
            <a:srgbClr val="FBFBF8"/>
          </a:solidFill>
          <a:ln/>
        </p:spPr>
      </p:sp>
      <p:sp>
        <p:nvSpPr>
          <p:cNvPr id="12" name="Text 8"/>
          <p:cNvSpPr/>
          <p:nvPr/>
        </p:nvSpPr>
        <p:spPr>
          <a:xfrm>
            <a:off x="7518400" y="4548981"/>
            <a:ext cx="3819652" cy="265377"/>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14213D"/>
                </a:solidFill>
                <a:latin typeface="IBM Plex Sans" pitchFamily="34" charset="0"/>
                <a:ea typeface="IBM Plex Sans" pitchFamily="34" charset="-122"/>
                <a:cs typeface="IBM Plex Sans" pitchFamily="34" charset="-120"/>
              </a:rPr>
              <a:t>Configurazione</a:t>
            </a:r>
            <a:r>
              <a:rPr lang="en-US" sz="1350" dirty="0">
                <a:solidFill>
                  <a:srgbClr val="14213D"/>
                </a:solidFill>
                <a:latin typeface="IBM Plex Sans" pitchFamily="34" charset="0"/>
                <a:ea typeface="IBM Plex Sans" pitchFamily="34" charset="-122"/>
                <a:cs typeface="IBM Plex Sans" pitchFamily="34" charset="-120"/>
              </a:rPr>
              <a:t> — nodi, interfacce, modello</a:t>
            </a:r>
            <a:endParaRPr lang="en-US" sz="1350" dirty="0"/>
          </a:p>
        </p:txBody>
      </p:sp>
      <p:sp>
        <p:nvSpPr>
          <p:cNvPr id="13" name="Text 9"/>
          <p:cNvSpPr/>
          <p:nvPr/>
        </p:nvSpPr>
        <p:spPr>
          <a:xfrm>
            <a:off x="7305802" y="4992167"/>
            <a:ext cx="4133596" cy="196850"/>
          </a:xfrm>
          <a:prstGeom prst="rect">
            <a:avLst/>
          </a:prstGeom>
          <a:noFill/>
          <a:ln/>
        </p:spPr>
        <p:txBody>
          <a:bodyPr wrap="square" lIns="0" tIns="0" rIns="0" bIns="0" rtlCol="0" anchor="t">
            <a:normAutofit/>
          </a:bodyPr>
          <a:lstStyle/>
          <a:p>
            <a:pPr algn="ctr" indent="0" marL="0">
              <a:lnSpc>
                <a:spcPts val="1350"/>
              </a:lnSpc>
              <a:buNone/>
            </a:pPr>
            <a:r>
              <a:rPr lang="en-US" sz="1500" dirty="0">
                <a:solidFill>
                  <a:srgbClr val="8FA3BF"/>
                </a:solidFill>
                <a:latin typeface="IBM Plex Sans" pitchFamily="34" charset="0"/>
                <a:ea typeface="IBM Plex Sans" pitchFamily="34" charset="-122"/>
                <a:cs typeface="IBM Plex Sans" pitchFamily="34" charset="-120"/>
              </a:rPr>
              <a:t>↓</a:t>
            </a:r>
            <a:endParaRPr lang="en-US" sz="1500" dirty="0"/>
          </a:p>
        </p:txBody>
      </p:sp>
      <p:sp>
        <p:nvSpPr>
          <p:cNvPr id="14" name="Shape 10"/>
          <p:cNvSpPr/>
          <p:nvPr/>
        </p:nvSpPr>
        <p:spPr>
          <a:xfrm>
            <a:off x="7366000" y="5252517"/>
            <a:ext cx="4013200" cy="468577"/>
          </a:xfrm>
          <a:prstGeom prst="roundRect">
            <a:avLst>
              <a:gd name="adj" fmla="val 18972"/>
            </a:avLst>
          </a:prstGeom>
          <a:solidFill>
            <a:srgbClr val="14213D"/>
          </a:solidFill>
          <a:ln/>
        </p:spPr>
      </p:sp>
      <p:sp>
        <p:nvSpPr>
          <p:cNvPr id="15" name="Text 11"/>
          <p:cNvSpPr/>
          <p:nvPr/>
        </p:nvSpPr>
        <p:spPr>
          <a:xfrm>
            <a:off x="7518400" y="5366817"/>
            <a:ext cx="3819652" cy="265377"/>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FBFBF8"/>
                </a:solidFill>
                <a:latin typeface="IBM Plex Sans" pitchFamily="34" charset="0"/>
                <a:ea typeface="IBM Plex Sans" pitchFamily="34" charset="-122"/>
                <a:cs typeface="IBM Plex Sans" pitchFamily="34" charset="-120"/>
              </a:rPr>
              <a:t>Motore</a:t>
            </a:r>
            <a:r>
              <a:rPr lang="en-US" sz="1350" dirty="0">
                <a:solidFill>
                  <a:srgbClr val="FBFBF8"/>
                </a:solidFill>
                <a:latin typeface="IBM Plex Sans" pitchFamily="34" charset="0"/>
                <a:ea typeface="IBM Plex Sans" pitchFamily="34" charset="-122"/>
                <a:cs typeface="IBM Plex Sans" pitchFamily="34" charset="-120"/>
              </a:rPr>
              <a:t> — pipeline, inferenza, classi</a:t>
            </a:r>
            <a:endParaRPr lang="en-US" sz="1350" dirty="0"/>
          </a:p>
        </p:txBody>
      </p:sp>
      <p:sp>
        <p:nvSpPr>
          <p:cNvPr id="16" name="Text 12"/>
          <p:cNvSpPr/>
          <p:nvPr/>
        </p:nvSpPr>
        <p:spPr>
          <a:xfrm>
            <a:off x="812800" y="6238280"/>
            <a:ext cx="877414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Nessuna riga del motore nomina una rete in particolare · mixed non ha nemmeno la feature ingress_iface: 4 + 1 + 1 + 12 = 18</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09484"/>
          </a:xfrm>
          <a:prstGeom prst="rect">
            <a:avLst/>
          </a:prstGeom>
          <a:noFill/>
          <a:ln/>
        </p:spPr>
        <p:txBody>
          <a:bodyPr wrap="square" lIns="0" tIns="0" rIns="0" bIns="0" rtlCol="0" anchor="t">
            <a:normAutofit/>
          </a:bodyPr>
          <a:lstStyle/>
          <a:p>
            <a:pPr algn="l" indent="0" marL="0">
              <a:lnSpc>
                <a:spcPts val="1473"/>
              </a:lnSpc>
              <a:buNone/>
            </a:pPr>
            <a:r>
              <a:rPr lang="en-US" sz="1052" spc="100" kern="0" dirty="0">
                <a:solidFill>
                  <a:srgbClr val="C2410C"/>
                </a:solidFill>
                <a:latin typeface="JetBrains Mono" pitchFamily="34" charset="0"/>
                <a:ea typeface="JetBrains Mono" pitchFamily="34" charset="-122"/>
                <a:cs typeface="JetBrains Mono" pitchFamily="34" charset="-120"/>
              </a:rPr>
              <a:t>ACCORDO E DISACCORDO</a:t>
            </a:r>
            <a:endParaRPr lang="en-US" sz="1052" dirty="0"/>
          </a:p>
        </p:txBody>
      </p:sp>
      <p:sp>
        <p:nvSpPr>
          <p:cNvPr id="3" name="Text 1"/>
          <p:cNvSpPr/>
          <p:nvPr/>
        </p:nvSpPr>
        <p:spPr>
          <a:xfrm>
            <a:off x="812800" y="1060388"/>
            <a:ext cx="10883392" cy="359238"/>
          </a:xfrm>
          <a:prstGeom prst="rect">
            <a:avLst/>
          </a:prstGeom>
          <a:noFill/>
          <a:ln/>
        </p:spPr>
        <p:txBody>
          <a:bodyPr wrap="square" lIns="0" tIns="0" rIns="0" bIns="0" rtlCol="0" anchor="t">
            <a:normAutofit/>
          </a:bodyPr>
          <a:lstStyle/>
          <a:p>
            <a:pPr algn="l" indent="0" marL="0">
              <a:lnSpc>
                <a:spcPts val="2671"/>
              </a:lnSpc>
              <a:buNone/>
            </a:pPr>
            <a:r>
              <a:rPr lang="en-US" sz="2428" b="1" dirty="0">
                <a:solidFill>
                  <a:srgbClr val="14213D"/>
                </a:solidFill>
                <a:latin typeface="IBM Plex Sans" pitchFamily="34" charset="0"/>
                <a:ea typeface="IBM Plex Sans" pitchFamily="34" charset="-122"/>
                <a:cs typeface="IBM Plex Sans" pitchFamily="34" charset="-120"/>
              </a:rPr>
              <a:t>Quattro vie, perché due non bastano</a:t>
            </a:r>
            <a:endParaRPr lang="en-US" sz="2428" dirty="0"/>
          </a:p>
        </p:txBody>
      </p:sp>
      <p:sp>
        <p:nvSpPr>
          <p:cNvPr id="4" name="Shape 2"/>
          <p:cNvSpPr/>
          <p:nvPr/>
        </p:nvSpPr>
        <p:spPr>
          <a:xfrm>
            <a:off x="812800" y="1572022"/>
            <a:ext cx="10566400" cy="977371"/>
          </a:xfrm>
          <a:prstGeom prst="roundRect">
            <a:avLst>
              <a:gd name="adj" fmla="val 10395"/>
            </a:avLst>
          </a:prstGeom>
          <a:solidFill>
            <a:srgbClr val="EEF1F5"/>
          </a:solidFill>
          <a:ln/>
        </p:spPr>
      </p:sp>
      <p:pic>
        <p:nvPicPr>
          <p:cNvPr id="5" name="Image 0" descr="A di X e Y uguale la cardinalita' dell'insieme degli n per cui argmax di X n uguale argmax di Y n, diviso N; D uguale uno meno A">    </p:cNvPr>
          <p:cNvPicPr>
            <a:picLocks noChangeAspect="1"/>
          </p:cNvPicPr>
          <p:nvPr/>
        </p:nvPicPr>
        <p:blipFill>
          <a:blip r:embed="rId1"/>
          <a:srcRect l="-11208" r="-11208" t="0" b="0"/>
          <a:stretch/>
        </p:blipFill>
        <p:spPr>
          <a:xfrm>
            <a:off x="1587500" y="1724422"/>
            <a:ext cx="9017000" cy="672571"/>
          </a:xfrm>
          <a:prstGeom prst="rect">
            <a:avLst/>
          </a:prstGeom>
        </p:spPr>
      </p:pic>
      <p:sp>
        <p:nvSpPr>
          <p:cNvPr id="6" name="Text 3"/>
          <p:cNvSpPr/>
          <p:nvPr/>
        </p:nvSpPr>
        <p:spPr>
          <a:xfrm>
            <a:off x="812800" y="2727201"/>
            <a:ext cx="10203180" cy="430940"/>
          </a:xfrm>
          <a:prstGeom prst="rect">
            <a:avLst/>
          </a:prstGeom>
          <a:noFill/>
          <a:ln/>
        </p:spPr>
        <p:txBody>
          <a:bodyPr wrap="square" lIns="0" tIns="0" rIns="0" bIns="0" rtlCol="0" anchor="t">
            <a:normAutofit/>
          </a:bodyPr>
          <a:lstStyle/>
          <a:p>
            <a:pPr algn="l" indent="0" marL="0">
              <a:lnSpc>
                <a:spcPts val="1611"/>
              </a:lnSpc>
              <a:buNone/>
            </a:pPr>
            <a:r>
              <a:rPr lang="en-US" sz="1151" dirty="0">
                <a:solidFill>
                  <a:srgbClr val="4A5568"/>
                </a:solidFill>
                <a:latin typeface="IBM Plex Sans" pitchFamily="34" charset="0"/>
                <a:ea typeface="IBM Plex Sans" pitchFamily="34" charset="-122"/>
                <a:cs typeface="IBM Plex Sans" pitchFamily="34" charset="-120"/>
              </a:rPr>
              <a:t>Se due modi di calcolare non sono d’accordo, le cause possibili sono più di una — e ognuna si ripara in modo diverso. Confrontando a coppie, ogni coppia ne isola una sola.</a:t>
            </a:r>
            <a:endParaRPr lang="en-US" sz="1151"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12800" y="3310533"/>
          <a:ext cx="10566400" cy="1681758"/>
        </p:xfrm>
        <a:graphic>
          <a:graphicData uri="http://schemas.openxmlformats.org/drawingml/2006/table">
            <a:tbl>
              <a:tblPr/>
              <a:tblGrid>
                <a:gridCol w="3803904"/>
                <a:gridCol w="4226560"/>
                <a:gridCol w="2535936"/>
              </a:tblGrid>
              <a:tr h="336352">
                <a:tc>
                  <a:txBody>
                    <a:bodyPr/>
                    <a:lstStyle/>
                    <a:p>
                      <a:pPr indent="0" marL="0">
                        <a:lnSpc>
                          <a:spcPts val="1700"/>
                        </a:lnSpc>
                        <a:buNone/>
                      </a:pPr>
                      <a:r>
                        <a:rPr lang="en-US" sz="1214" b="1" dirty="0">
                          <a:solidFill>
                            <a:srgbClr val="FBFBF8"/>
                          </a:solidFill>
                          <a:latin typeface="IBM Plex Sans" pitchFamily="34" charset="0"/>
                          <a:ea typeface="IBM Plex Sans" pitchFamily="34" charset="-122"/>
                          <a:cs typeface="IBM Plex Sans" pitchFamily="34" charset="-120"/>
                        </a:rPr>
                        <a:t>Confronto</a:t>
                      </a:r>
                      <a:endParaRPr lang="en-US" sz="1214" dirty="0">
                        <a:latin typeface="IBM Plex Sans" charset="0"/>
                        <a:ea typeface="IBM Plex Sans" charset="0"/>
                        <a:cs typeface="IBM Plex Sans" charset="0"/>
                      </a:endParaRPr>
                    </a:p>
                  </a:txBody>
                  <a:tcPr marL="53965" marR="53965" marT="53965" marB="53965"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14213D"/>
                    </a:solidFill>
                  </a:tcPr>
                </a:tc>
                <a:tc>
                  <a:txBody>
                    <a:bodyPr/>
                    <a:lstStyle/>
                    <a:p>
                      <a:pPr indent="0" marL="0">
                        <a:lnSpc>
                          <a:spcPts val="1700"/>
                        </a:lnSpc>
                        <a:buNone/>
                      </a:pPr>
                      <a:r>
                        <a:rPr lang="en-US" sz="1214" b="1" dirty="0">
                          <a:solidFill>
                            <a:srgbClr val="FBFBF8"/>
                          </a:solidFill>
                          <a:latin typeface="IBM Plex Sans" pitchFamily="34" charset="0"/>
                          <a:ea typeface="IBM Plex Sans" pitchFamily="34" charset="-122"/>
                          <a:cs typeface="IBM Plex Sans" pitchFamily="34" charset="-120"/>
                        </a:rPr>
                        <a:t>Che cosa isola</a:t>
                      </a:r>
                      <a:endParaRPr lang="en-US" sz="1214" dirty="0">
                        <a:latin typeface="IBM Plex Sans" charset="0"/>
                        <a:ea typeface="IBM Plex Sans" charset="0"/>
                        <a:cs typeface="IBM Plex Sans" charset="0"/>
                      </a:endParaRPr>
                    </a:p>
                  </a:txBody>
                  <a:tcPr marL="53965" marR="53965" marT="53965" marB="53965"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14213D"/>
                    </a:solidFill>
                  </a:tcPr>
                </a:tc>
                <a:tc>
                  <a:txBody>
                    <a:bodyPr/>
                    <a:lstStyle/>
                    <a:p>
                      <a:pPr indent="0" marL="0">
                        <a:lnSpc>
                          <a:spcPts val="1700"/>
                        </a:lnSpc>
                        <a:buNone/>
                      </a:pPr>
                      <a:r>
                        <a:rPr lang="en-US" sz="1214" b="1" dirty="0">
                          <a:solidFill>
                            <a:srgbClr val="FBFBF8"/>
                          </a:solidFill>
                          <a:latin typeface="IBM Plex Sans" pitchFamily="34" charset="0"/>
                          <a:ea typeface="IBM Plex Sans" pitchFamily="34" charset="-122"/>
                          <a:cs typeface="IBM Plex Sans" pitchFamily="34" charset="-120"/>
                        </a:rPr>
                        <a:t>Atteso</a:t>
                      </a:r>
                      <a:endParaRPr lang="en-US" sz="1214" dirty="0">
                        <a:latin typeface="IBM Plex Sans" charset="0"/>
                        <a:ea typeface="IBM Plex Sans" charset="0"/>
                        <a:cs typeface="IBM Plex Sans" charset="0"/>
                      </a:endParaRPr>
                    </a:p>
                  </a:txBody>
                  <a:tcPr marL="53965" marR="53965" marT="53965" marB="53965"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14213D"/>
                    </a:solidFill>
                  </a:tcPr>
                </a:tc>
              </a:tr>
              <a:tr h="336352">
                <a:tc>
                  <a:txBody>
                    <a:bodyPr/>
                    <a:lstStyle/>
                    <a:p>
                      <a:pPr indent="0" marL="0">
                        <a:lnSpc>
                          <a:spcPts val="1700"/>
                        </a:lnSpc>
                        <a:buNone/>
                      </a:pPr>
                      <a:r>
                        <a:rPr lang="en-US" sz="1214" dirty="0">
                          <a:solidFill>
                            <a:srgbClr val="14213D"/>
                          </a:solidFill>
                          <a:latin typeface="IBM Plex Sans" pitchFamily="34" charset="0"/>
                          <a:ea typeface="IBM Plex Sans" pitchFamily="34" charset="-122"/>
                          <a:cs typeface="IBM Plex Sans" pitchFamily="34" charset="-120"/>
                        </a:rPr>
                        <a:t>float  vs  int8 Python</a:t>
                      </a:r>
                      <a:endParaRPr lang="en-US" sz="1214" dirty="0">
                        <a:latin typeface="IBM Plex Sans" charset="0"/>
                        <a:ea typeface="IBM Plex Sans" charset="0"/>
                        <a:cs typeface="IBM Plex Sans" charset="0"/>
                      </a:endParaRPr>
                    </a:p>
                  </a:txBody>
                  <a:tcPr marL="53965" marR="53965" marT="53965" marB="53965"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c>
                  <a:txBody>
                    <a:bodyPr/>
                    <a:lstStyle/>
                    <a:p>
                      <a:pPr indent="0" marL="0">
                        <a:lnSpc>
                          <a:spcPts val="1700"/>
                        </a:lnSpc>
                        <a:buNone/>
                      </a:pPr>
                      <a:r>
                        <a:rPr lang="en-US" sz="1214" dirty="0">
                          <a:solidFill>
                            <a:srgbClr val="14213D"/>
                          </a:solidFill>
                          <a:latin typeface="IBM Plex Sans" pitchFamily="34" charset="0"/>
                          <a:ea typeface="IBM Plex Sans" pitchFamily="34" charset="-122"/>
                          <a:cs typeface="IBM Plex Sans" pitchFamily="34" charset="-120"/>
                        </a:rPr>
                        <a:t>quantizzazione</a:t>
                      </a:r>
                      <a:endParaRPr lang="en-US" sz="1214" dirty="0">
                        <a:latin typeface="IBM Plex Sans" charset="0"/>
                        <a:ea typeface="IBM Plex Sans" charset="0"/>
                        <a:cs typeface="IBM Plex Sans" charset="0"/>
                      </a:endParaRPr>
                    </a:p>
                  </a:txBody>
                  <a:tcPr marL="53965" marR="53965" marT="53965" marB="53965"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c>
                  <a:txBody>
                    <a:bodyPr/>
                    <a:lstStyle/>
                    <a:p>
                      <a:pPr indent="0" marL="0">
                        <a:lnSpc>
                          <a:spcPts val="1700"/>
                        </a:lnSpc>
                        <a:buNone/>
                      </a:pPr>
                      <a:r>
                        <a:rPr lang="en-US" sz="1214" dirty="0">
                          <a:solidFill>
                            <a:srgbClr val="14213D"/>
                          </a:solidFill>
                          <a:latin typeface="IBM Plex Sans" pitchFamily="34" charset="0"/>
                          <a:ea typeface="IBM Plex Sans" pitchFamily="34" charset="-122"/>
                          <a:cs typeface="IBM Plex Sans" pitchFamily="34" charset="-120"/>
                        </a:rPr>
                        <a:t>può essere &lt; 100 %</a:t>
                      </a:r>
                      <a:endParaRPr lang="en-US" sz="1214" dirty="0">
                        <a:latin typeface="IBM Plex Sans" charset="0"/>
                        <a:ea typeface="IBM Plex Sans" charset="0"/>
                        <a:cs typeface="IBM Plex Sans" charset="0"/>
                      </a:endParaRPr>
                    </a:p>
                  </a:txBody>
                  <a:tcPr marL="53965" marR="53965" marT="53965" marB="53965"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r>
              <a:tr h="336352">
                <a:tc>
                  <a:txBody>
                    <a:bodyPr/>
                    <a:lstStyle/>
                    <a:p>
                      <a:pPr indent="0" marL="0">
                        <a:lnSpc>
                          <a:spcPts val="1700"/>
                        </a:lnSpc>
                        <a:buNone/>
                      </a:pPr>
                      <a:r>
                        <a:rPr lang="en-US" sz="1214" dirty="0">
                          <a:solidFill>
                            <a:srgbClr val="14213D"/>
                          </a:solidFill>
                          <a:latin typeface="IBM Plex Sans" pitchFamily="34" charset="0"/>
                          <a:ea typeface="IBM Plex Sans" pitchFamily="34" charset="-122"/>
                          <a:cs typeface="IBM Plex Sans" pitchFamily="34" charset="-120"/>
                        </a:rPr>
                        <a:t>int8 Python  vs  riferimento</a:t>
                      </a:r>
                      <a:endParaRPr lang="en-US" sz="1214" dirty="0">
                        <a:latin typeface="IBM Plex Sans" charset="0"/>
                        <a:ea typeface="IBM Plex Sans" charset="0"/>
                        <a:cs typeface="IBM Plex Sans" charset="0"/>
                      </a:endParaRPr>
                    </a:p>
                  </a:txBody>
                  <a:tcPr marL="53965" marR="53965" marT="53965" marB="53965"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EEF1F5"/>
                    </a:solidFill>
                  </a:tcPr>
                </a:tc>
                <a:tc>
                  <a:txBody>
                    <a:bodyPr/>
                    <a:lstStyle/>
                    <a:p>
                      <a:pPr indent="0" marL="0">
                        <a:lnSpc>
                          <a:spcPts val="1700"/>
                        </a:lnSpc>
                        <a:buNone/>
                      </a:pPr>
                      <a:r>
                        <a:rPr lang="en-US" sz="1214" dirty="0">
                          <a:solidFill>
                            <a:srgbClr val="14213D"/>
                          </a:solidFill>
                          <a:latin typeface="IBM Plex Sans" pitchFamily="34" charset="0"/>
                          <a:ea typeface="IBM Plex Sans" pitchFamily="34" charset="-122"/>
                          <a:cs typeface="IBM Plex Sans" pitchFamily="34" charset="-120"/>
                        </a:rPr>
                        <a:t>le due vie intere concordano?</a:t>
                      </a:r>
                      <a:endParaRPr lang="en-US" sz="1214" dirty="0">
                        <a:latin typeface="IBM Plex Sans" charset="0"/>
                        <a:ea typeface="IBM Plex Sans" charset="0"/>
                        <a:cs typeface="IBM Plex Sans" charset="0"/>
                      </a:endParaRPr>
                    </a:p>
                  </a:txBody>
                  <a:tcPr marL="53965" marR="53965" marT="53965" marB="53965"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EEF1F5"/>
                    </a:solidFill>
                  </a:tcPr>
                </a:tc>
                <a:tc>
                  <a:txBody>
                    <a:bodyPr/>
                    <a:lstStyle/>
                    <a:p>
                      <a:pPr indent="0" marL="0">
                        <a:lnSpc>
                          <a:spcPts val="1700"/>
                        </a:lnSpc>
                        <a:buNone/>
                      </a:pPr>
                      <a:r>
                        <a:rPr lang="en-US" sz="1214" dirty="0">
                          <a:solidFill>
                            <a:srgbClr val="14213D"/>
                          </a:solidFill>
                          <a:latin typeface="IBM Plex Sans" pitchFamily="34" charset="0"/>
                          <a:ea typeface="IBM Plex Sans" pitchFamily="34" charset="-122"/>
                          <a:cs typeface="IBM Plex Sans" pitchFamily="34" charset="-120"/>
                        </a:rPr>
                        <a:t>100 %</a:t>
                      </a:r>
                      <a:endParaRPr lang="en-US" sz="1214" dirty="0">
                        <a:latin typeface="IBM Plex Sans" charset="0"/>
                        <a:ea typeface="IBM Plex Sans" charset="0"/>
                        <a:cs typeface="IBM Plex Sans" charset="0"/>
                      </a:endParaRPr>
                    </a:p>
                  </a:txBody>
                  <a:tcPr marL="53965" marR="53965" marT="53965" marB="53965"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EEF1F5"/>
                    </a:solidFill>
                  </a:tcPr>
                </a:tc>
              </a:tr>
              <a:tr h="336352">
                <a:tc>
                  <a:txBody>
                    <a:bodyPr/>
                    <a:lstStyle/>
                    <a:p>
                      <a:pPr indent="0" marL="0">
                        <a:lnSpc>
                          <a:spcPts val="1700"/>
                        </a:lnSpc>
                        <a:buNone/>
                      </a:pPr>
                      <a:r>
                        <a:rPr lang="en-US" sz="1214" dirty="0">
                          <a:solidFill>
                            <a:srgbClr val="14213D"/>
                          </a:solidFill>
                          <a:latin typeface="IBM Plex Sans" pitchFamily="34" charset="0"/>
                          <a:ea typeface="IBM Plex Sans" pitchFamily="34" charset="-122"/>
                          <a:cs typeface="IBM Plex Sans" pitchFamily="34" charset="-120"/>
                        </a:rPr>
                        <a:t>riferimento  vs  eBPF</a:t>
                      </a:r>
                      <a:endParaRPr lang="en-US" sz="1214" dirty="0">
                        <a:latin typeface="IBM Plex Sans" charset="0"/>
                        <a:ea typeface="IBM Plex Sans" charset="0"/>
                        <a:cs typeface="IBM Plex Sans" charset="0"/>
                      </a:endParaRPr>
                    </a:p>
                  </a:txBody>
                  <a:tcPr marL="53965" marR="53965" marT="53965" marB="53965"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c>
                  <a:txBody>
                    <a:bodyPr/>
                    <a:lstStyle/>
                    <a:p>
                      <a:pPr indent="0" marL="0">
                        <a:lnSpc>
                          <a:spcPts val="1700"/>
                        </a:lnSpc>
                        <a:buNone/>
                      </a:pPr>
                      <a:r>
                        <a:rPr lang="en-US" sz="1214" dirty="0">
                          <a:solidFill>
                            <a:srgbClr val="14213D"/>
                          </a:solidFill>
                          <a:latin typeface="IBM Plex Sans" pitchFamily="34" charset="0"/>
                          <a:ea typeface="IBM Plex Sans" pitchFamily="34" charset="-122"/>
                          <a:cs typeface="IBM Plex Sans" pitchFamily="34" charset="-120"/>
                        </a:rPr>
                        <a:t>il programma nel kernel fa i conti giusti</a:t>
                      </a:r>
                      <a:endParaRPr lang="en-US" sz="1214" dirty="0">
                        <a:latin typeface="IBM Plex Sans" charset="0"/>
                        <a:ea typeface="IBM Plex Sans" charset="0"/>
                        <a:cs typeface="IBM Plex Sans" charset="0"/>
                      </a:endParaRPr>
                    </a:p>
                  </a:txBody>
                  <a:tcPr marL="53965" marR="53965" marT="53965" marB="53965"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c>
                  <a:txBody>
                    <a:bodyPr/>
                    <a:lstStyle/>
                    <a:p>
                      <a:pPr indent="0" marL="0">
                        <a:lnSpc>
                          <a:spcPts val="1700"/>
                        </a:lnSpc>
                        <a:buNone/>
                      </a:pPr>
                      <a:r>
                        <a:rPr lang="en-US" sz="1214" dirty="0">
                          <a:solidFill>
                            <a:srgbClr val="14213D"/>
                          </a:solidFill>
                          <a:latin typeface="IBM Plex Sans" pitchFamily="34" charset="0"/>
                          <a:ea typeface="IBM Plex Sans" pitchFamily="34" charset="-122"/>
                          <a:cs typeface="IBM Plex Sans" pitchFamily="34" charset="-120"/>
                        </a:rPr>
                        <a:t>100 %</a:t>
                      </a:r>
                      <a:endParaRPr lang="en-US" sz="1214" dirty="0">
                        <a:latin typeface="IBM Plex Sans" charset="0"/>
                        <a:ea typeface="IBM Plex Sans" charset="0"/>
                        <a:cs typeface="IBM Plex Sans" charset="0"/>
                      </a:endParaRPr>
                    </a:p>
                  </a:txBody>
                  <a:tcPr marL="53965" marR="53965" marT="53965" marB="53965"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r>
              <a:tr h="336352">
                <a:tc>
                  <a:txBody>
                    <a:bodyPr/>
                    <a:lstStyle/>
                    <a:p>
                      <a:pPr indent="0" marL="0">
                        <a:lnSpc>
                          <a:spcPts val="1700"/>
                        </a:lnSpc>
                        <a:buNone/>
                      </a:pPr>
                      <a:r>
                        <a:rPr lang="en-US" sz="1214" dirty="0">
                          <a:solidFill>
                            <a:srgbClr val="14213D"/>
                          </a:solidFill>
                          <a:latin typeface="IBM Plex Sans" pitchFamily="34" charset="0"/>
                          <a:ea typeface="IBM Plex Sans" pitchFamily="34" charset="-122"/>
                          <a:cs typeface="IBM Plex Sans" pitchFamily="34" charset="-120"/>
                        </a:rPr>
                        <a:t>int8 Python  vs  eBPF</a:t>
                      </a:r>
                      <a:endParaRPr lang="en-US" sz="1214" dirty="0">
                        <a:latin typeface="IBM Plex Sans" charset="0"/>
                        <a:ea typeface="IBM Plex Sans" charset="0"/>
                        <a:cs typeface="IBM Plex Sans" charset="0"/>
                      </a:endParaRPr>
                    </a:p>
                  </a:txBody>
                  <a:tcPr marL="53965" marR="53965" marT="53965" marB="53965"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EEF1F5"/>
                    </a:solidFill>
                  </a:tcPr>
                </a:tc>
                <a:tc>
                  <a:txBody>
                    <a:bodyPr/>
                    <a:lstStyle/>
                    <a:p>
                      <a:pPr indent="0" marL="0">
                        <a:lnSpc>
                          <a:spcPts val="1700"/>
                        </a:lnSpc>
                        <a:buNone/>
                      </a:pPr>
                      <a:r>
                        <a:rPr lang="en-US" sz="1214" dirty="0">
                          <a:solidFill>
                            <a:srgbClr val="14213D"/>
                          </a:solidFill>
                          <a:latin typeface="IBM Plex Sans" pitchFamily="34" charset="0"/>
                          <a:ea typeface="IBM Plex Sans" pitchFamily="34" charset="-122"/>
                          <a:cs typeface="IBM Plex Sans" pitchFamily="34" charset="-120"/>
                        </a:rPr>
                        <a:t>implementazione</a:t>
                      </a:r>
                      <a:endParaRPr lang="en-US" sz="1214" dirty="0">
                        <a:latin typeface="IBM Plex Sans" charset="0"/>
                        <a:ea typeface="IBM Plex Sans" charset="0"/>
                        <a:cs typeface="IBM Plex Sans" charset="0"/>
                      </a:endParaRPr>
                    </a:p>
                  </a:txBody>
                  <a:tcPr marL="53965" marR="53965" marT="53965" marB="53965"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EEF1F5"/>
                    </a:solidFill>
                  </a:tcPr>
                </a:tc>
                <a:tc>
                  <a:txBody>
                    <a:bodyPr/>
                    <a:lstStyle/>
                    <a:p>
                      <a:pPr indent="0" marL="0">
                        <a:lnSpc>
                          <a:spcPts val="1700"/>
                        </a:lnSpc>
                        <a:buNone/>
                      </a:pPr>
                      <a:r>
                        <a:rPr lang="en-US" sz="1214" dirty="0">
                          <a:solidFill>
                            <a:srgbClr val="14213D"/>
                          </a:solidFill>
                          <a:latin typeface="IBM Plex Sans" pitchFamily="34" charset="0"/>
                          <a:ea typeface="IBM Plex Sans" pitchFamily="34" charset="-122"/>
                          <a:cs typeface="IBM Plex Sans" pitchFamily="34" charset="-120"/>
                        </a:rPr>
                        <a:t>100 %, sempre</a:t>
                      </a:r>
                      <a:endParaRPr lang="en-US" sz="1214" dirty="0">
                        <a:latin typeface="IBM Plex Sans" charset="0"/>
                        <a:ea typeface="IBM Plex Sans" charset="0"/>
                        <a:cs typeface="IBM Plex Sans" charset="0"/>
                      </a:endParaRPr>
                    </a:p>
                  </a:txBody>
                  <a:tcPr marL="53965" marR="53965" marT="53965" marB="53965"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EEF1F5"/>
                    </a:solidFill>
                  </a:tcPr>
                </a:tc>
              </a:tr>
            </a:tbl>
          </a:graphicData>
        </a:graphic>
      </p:graphicFrame>
      <p:sp>
        <p:nvSpPr>
          <p:cNvPr id="8" name="Text 4"/>
          <p:cNvSpPr/>
          <p:nvPr/>
        </p:nvSpPr>
        <p:spPr>
          <a:xfrm>
            <a:off x="812800" y="5436468"/>
            <a:ext cx="10203180" cy="430940"/>
          </a:xfrm>
          <a:prstGeom prst="rect">
            <a:avLst/>
          </a:prstGeom>
          <a:noFill/>
          <a:ln/>
        </p:spPr>
        <p:txBody>
          <a:bodyPr wrap="square" lIns="0" tIns="0" rIns="0" bIns="0" rtlCol="0" anchor="t">
            <a:normAutofit/>
          </a:bodyPr>
          <a:lstStyle/>
          <a:p>
            <a:pPr algn="l" indent="0" marL="0">
              <a:lnSpc>
                <a:spcPts val="1611"/>
              </a:lnSpc>
              <a:buNone/>
            </a:pPr>
            <a:r>
              <a:rPr lang="en-US" sz="1151" dirty="0">
                <a:solidFill>
                  <a:srgbClr val="14213D"/>
                </a:solidFill>
                <a:latin typeface="IBM Plex Sans" pitchFamily="34" charset="0"/>
                <a:ea typeface="IBM Plex Sans" pitchFamily="34" charset="-122"/>
                <a:cs typeface="IBM Plex Sans" pitchFamily="34" charset="-120"/>
              </a:rPr>
              <a:t>Le ultime due righe insieme distinguono </a:t>
            </a:r>
            <a:r>
              <a:rPr lang="en-US" sz="1151" b="1" dirty="0">
                <a:solidFill>
                  <a:srgbClr val="14213D"/>
                </a:solidFill>
                <a:latin typeface="IBM Plex Sans" pitchFamily="34" charset="0"/>
                <a:ea typeface="IBM Plex Sans" pitchFamily="34" charset="-122"/>
                <a:cs typeface="IBM Plex Sans" pitchFamily="34" charset="-120"/>
              </a:rPr>
              <a:t>«il programma sbaglia un conto»</a:t>
            </a:r>
            <a:r>
              <a:rPr lang="en-US" sz="1151" dirty="0">
                <a:solidFill>
                  <a:srgbClr val="14213D"/>
                </a:solidFill>
                <a:latin typeface="IBM Plex Sans" pitchFamily="34" charset="0"/>
                <a:ea typeface="IBM Plex Sans" pitchFamily="34" charset="-122"/>
                <a:cs typeface="IBM Plex Sans" pitchFamily="34" charset="-120"/>
              </a:rPr>
              <a:t> da </a:t>
            </a:r>
            <a:r>
              <a:rPr lang="en-US" sz="1151" b="1" dirty="0">
                <a:solidFill>
                  <a:srgbClr val="14213D"/>
                </a:solidFill>
                <a:latin typeface="IBM Plex Sans" pitchFamily="34" charset="0"/>
                <a:ea typeface="IBM Plex Sans" pitchFamily="34" charset="-122"/>
                <a:cs typeface="IBM Plex Sans" pitchFamily="34" charset="-120"/>
              </a:rPr>
              <a:t>«il programma fa bene i conti, ma su impostazioni sbagliate»</a:t>
            </a:r>
            <a:r>
              <a:rPr lang="en-US" sz="1151" dirty="0">
                <a:solidFill>
                  <a:srgbClr val="14213D"/>
                </a:solidFill>
                <a:latin typeface="IBM Plex Sans" pitchFamily="34" charset="0"/>
                <a:ea typeface="IBM Plex Sans" pitchFamily="34" charset="-122"/>
                <a:cs typeface="IBM Plex Sans" pitchFamily="34" charset="-120"/>
              </a:rPr>
              <a:t>. Sono due guasti diversi.</a:t>
            </a:r>
            <a:endParaRPr lang="en-US" sz="1151" dirty="0"/>
          </a:p>
        </p:txBody>
      </p:sp>
      <p:sp>
        <p:nvSpPr>
          <p:cNvPr id="9" name="Text 5"/>
          <p:cNvSpPr/>
          <p:nvPr/>
        </p:nvSpPr>
        <p:spPr>
          <a:xfrm>
            <a:off x="812800" y="6238280"/>
            <a:ext cx="42666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300 ingressi per scenario, sempre gli stessi a ogni ripetizione</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EF1F5"/>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C2410C"/>
                </a:solidFill>
                <a:latin typeface="JetBrains Mono" pitchFamily="34" charset="0"/>
                <a:ea typeface="JetBrains Mono" pitchFamily="34" charset="-122"/>
                <a:cs typeface="JetBrains Mono" pitchFamily="34" charset="-120"/>
              </a:rPr>
              <a:t>NON DIPENDERE DA UN MODELLO SOLO</a:t>
            </a:r>
            <a:endParaRPr lang="en-US" sz="1300" dirty="0"/>
          </a:p>
        </p:txBody>
      </p:sp>
      <p:sp>
        <p:nvSpPr>
          <p:cNvPr id="3" name="Text 1"/>
          <p:cNvSpPr/>
          <p:nvPr/>
        </p:nvSpPr>
        <p:spPr>
          <a:xfrm>
            <a:off x="812800" y="1120118"/>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IBM Plex Sans" pitchFamily="34" charset="0"/>
                <a:ea typeface="IBM Plex Sans" pitchFamily="34" charset="-122"/>
                <a:cs typeface="IBM Plex Sans" pitchFamily="34" charset="-120"/>
              </a:rPr>
              <a:t>Sette modelli inventati apposta</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1770335"/>
          <a:ext cx="4826000" cy="3194579"/>
        </p:xfrm>
        <a:graphic>
          <a:graphicData uri="http://schemas.openxmlformats.org/drawingml/2006/table">
            <a:tbl>
              <a:tblPr/>
              <a:tblGrid>
                <a:gridCol w="1640840"/>
                <a:gridCol w="1833880"/>
                <a:gridCol w="1351280"/>
              </a:tblGrid>
              <a:tr h="399322">
                <a:tc>
                  <a:txBody>
                    <a:bodyPr/>
                    <a:lstStyle/>
                    <a:p>
                      <a:pPr indent="0" marL="0">
                        <a:lnSpc>
                          <a:spcPts val="2030"/>
                        </a:lnSpc>
                        <a:buNone/>
                      </a:pPr>
                      <a:r>
                        <a:rPr lang="en-US" sz="1450" b="1" dirty="0">
                          <a:solidFill>
                            <a:srgbClr val="FBFBF8"/>
                          </a:solidFill>
                          <a:latin typeface="IBM Plex Sans" pitchFamily="34" charset="0"/>
                          <a:ea typeface="IBM Plex Sans" pitchFamily="34" charset="-122"/>
                          <a:cs typeface="IBM Plex Sans" pitchFamily="34" charset="-120"/>
                        </a:rPr>
                        <a:t>Scenario</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14213D"/>
                    </a:solidFill>
                  </a:tcPr>
                </a:tc>
                <a:tc>
                  <a:txBody>
                    <a:bodyPr/>
                    <a:lstStyle/>
                    <a:p>
                      <a:pPr indent="0" marL="0">
                        <a:lnSpc>
                          <a:spcPts val="2030"/>
                        </a:lnSpc>
                        <a:buNone/>
                      </a:pPr>
                      <a:r>
                        <a:rPr lang="en-US" sz="1450" b="1" dirty="0">
                          <a:solidFill>
                            <a:srgbClr val="FBFBF8"/>
                          </a:solidFill>
                          <a:latin typeface="IBM Plex Sans" pitchFamily="34" charset="0"/>
                          <a:ea typeface="IBM Plex Sans" pitchFamily="34" charset="-122"/>
                          <a:cs typeface="IBM Plex Sans" pitchFamily="34" charset="-120"/>
                        </a:rPr>
                        <a:t>Forma</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14213D"/>
                    </a:solidFill>
                  </a:tcPr>
                </a:tc>
                <a:tc>
                  <a:txBody>
                    <a:bodyPr/>
                    <a:lstStyle/>
                    <a:p>
                      <a:pPr algn="r" indent="0" marL="0">
                        <a:lnSpc>
                          <a:spcPts val="2030"/>
                        </a:lnSpc>
                        <a:buNone/>
                      </a:pPr>
                      <a:r>
                        <a:rPr lang="en-US" sz="1450" b="1" dirty="0">
                          <a:solidFill>
                            <a:srgbClr val="FBFBF8"/>
                          </a:solidFill>
                          <a:latin typeface="IBM Plex Sans" pitchFamily="34" charset="0"/>
                          <a:ea typeface="IBM Plex Sans" pitchFamily="34" charset="-122"/>
                          <a:cs typeface="IBM Plex Sans" pitchFamily="34" charset="-120"/>
                        </a:rPr>
                        <a:t>Pesi</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14213D"/>
                    </a:solidFill>
                  </a:tcPr>
                </a:tc>
              </a:tr>
              <a:tr h="399322">
                <a:tc>
                  <a:txBody>
                    <a:bodyPr/>
                    <a:lstStyle/>
                    <a:p>
                      <a:pPr indent="0" marL="0">
                        <a:lnSpc>
                          <a:spcPts val="2030"/>
                        </a:lnSpc>
                        <a:buNone/>
                      </a:pPr>
                      <a:r>
                        <a:rPr lang="en-US" sz="1450" dirty="0">
                          <a:solidFill>
                            <a:srgbClr val="14213D"/>
                          </a:solidFill>
                          <a:latin typeface="IBM Plex Sans" pitchFamily="34" charset="0"/>
                          <a:ea typeface="IBM Plex Sans" pitchFamily="34" charset="-122"/>
                          <a:cs typeface="IBM Plex Sans" pitchFamily="34" charset="-120"/>
                        </a:rPr>
                        <a:t>ones</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c>
                  <a:txBody>
                    <a:bodyPr/>
                    <a:lstStyle/>
                    <a:p>
                      <a:pPr indent="0" marL="0">
                        <a:lnSpc>
                          <a:spcPts val="2030"/>
                        </a:lnSpc>
                        <a:buNone/>
                      </a:pPr>
                      <a:r>
                        <a:rPr lang="en-US" sz="1450" dirty="0">
                          <a:solidFill>
                            <a:srgbClr val="14213D"/>
                          </a:solidFill>
                          <a:latin typeface="IBM Plex Sans" pitchFamily="34" charset="0"/>
                          <a:ea typeface="IBM Plex Sans" pitchFamily="34" charset="-122"/>
                          <a:cs typeface="IBM Plex Sans" pitchFamily="34" charset="-120"/>
                        </a:rPr>
                        <a:t>11-2-3</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c>
                  <a:txBody>
                    <a:bodyPr/>
                    <a:lstStyle/>
                    <a:p>
                      <a:pPr algn="r" indent="0" marL="0">
                        <a:lnSpc>
                          <a:spcPts val="2030"/>
                        </a:lnSpc>
                        <a:buNone/>
                      </a:pPr>
                      <a:r>
                        <a:rPr lang="en-US" sz="1450" dirty="0">
                          <a:solidFill>
                            <a:srgbClr val="14213D"/>
                          </a:solidFill>
                          <a:latin typeface="IBM Plex Sans" pitchFamily="34" charset="0"/>
                          <a:ea typeface="IBM Plex Sans" pitchFamily="34" charset="-122"/>
                          <a:cs typeface="IBM Plex Sans" pitchFamily="34" charset="-120"/>
                        </a:rPr>
                        <a:t>33</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r>
              <a:tr h="399322">
                <a:tc>
                  <a:txBody>
                    <a:bodyPr/>
                    <a:lstStyle/>
                    <a:p>
                      <a:pPr indent="0" marL="0">
                        <a:lnSpc>
                          <a:spcPts val="2030"/>
                        </a:lnSpc>
                        <a:buNone/>
                      </a:pPr>
                      <a:r>
                        <a:rPr lang="en-US" sz="1450" dirty="0">
                          <a:solidFill>
                            <a:srgbClr val="14213D"/>
                          </a:solidFill>
                          <a:latin typeface="IBM Plex Sans" pitchFamily="34" charset="0"/>
                          <a:ea typeface="IBM Plex Sans" pitchFamily="34" charset="-122"/>
                          <a:cs typeface="IBM Plex Sans" pitchFamily="34" charset="-120"/>
                        </a:rPr>
                        <a:t>small</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tcPr>
                </a:tc>
                <a:tc>
                  <a:txBody>
                    <a:bodyPr/>
                    <a:lstStyle/>
                    <a:p>
                      <a:pPr indent="0" marL="0">
                        <a:lnSpc>
                          <a:spcPts val="2030"/>
                        </a:lnSpc>
                        <a:buNone/>
                      </a:pPr>
                      <a:r>
                        <a:rPr lang="en-US" sz="1450" dirty="0">
                          <a:solidFill>
                            <a:srgbClr val="14213D"/>
                          </a:solidFill>
                          <a:latin typeface="IBM Plex Sans" pitchFamily="34" charset="0"/>
                          <a:ea typeface="IBM Plex Sans" pitchFamily="34" charset="-122"/>
                          <a:cs typeface="IBM Plex Sans" pitchFamily="34" charset="-120"/>
                        </a:rPr>
                        <a:t>15-4-4</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tcPr>
                </a:tc>
                <a:tc>
                  <a:txBody>
                    <a:bodyPr/>
                    <a:lstStyle/>
                    <a:p>
                      <a:pPr algn="r" indent="0" marL="0">
                        <a:lnSpc>
                          <a:spcPts val="2030"/>
                        </a:lnSpc>
                        <a:buNone/>
                      </a:pPr>
                      <a:r>
                        <a:rPr lang="en-US" sz="1450" dirty="0">
                          <a:solidFill>
                            <a:srgbClr val="14213D"/>
                          </a:solidFill>
                          <a:latin typeface="IBM Plex Sans" pitchFamily="34" charset="0"/>
                          <a:ea typeface="IBM Plex Sans" pitchFamily="34" charset="-122"/>
                          <a:cs typeface="IBM Plex Sans" pitchFamily="34" charset="-120"/>
                        </a:rPr>
                        <a:t>84</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tcPr>
                </a:tc>
              </a:tr>
              <a:tr h="399322">
                <a:tc>
                  <a:txBody>
                    <a:bodyPr/>
                    <a:lstStyle/>
                    <a:p>
                      <a:pPr indent="0" marL="0">
                        <a:lnSpc>
                          <a:spcPts val="2030"/>
                        </a:lnSpc>
                        <a:buNone/>
                      </a:pPr>
                      <a:r>
                        <a:rPr lang="en-US" sz="1450" dirty="0">
                          <a:solidFill>
                            <a:srgbClr val="14213D"/>
                          </a:solidFill>
                          <a:latin typeface="IBM Plex Sans" pitchFamily="34" charset="0"/>
                          <a:ea typeface="IBM Plex Sans" pitchFamily="34" charset="-122"/>
                          <a:cs typeface="IBM Plex Sans" pitchFamily="34" charset="-120"/>
                        </a:rPr>
                        <a:t>mixed</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c>
                  <a:txBody>
                    <a:bodyPr/>
                    <a:lstStyle/>
                    <a:p>
                      <a:pPr indent="0" marL="0">
                        <a:lnSpc>
                          <a:spcPts val="2030"/>
                        </a:lnSpc>
                        <a:buNone/>
                      </a:pPr>
                      <a:r>
                        <a:rPr lang="en-US" sz="1450" dirty="0">
                          <a:solidFill>
                            <a:srgbClr val="14213D"/>
                          </a:solidFill>
                          <a:latin typeface="IBM Plex Sans" pitchFamily="34" charset="0"/>
                          <a:ea typeface="IBM Plex Sans" pitchFamily="34" charset="-122"/>
                          <a:cs typeface="IBM Plex Sans" pitchFamily="34" charset="-120"/>
                        </a:rPr>
                        <a:t>18-6-5</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c>
                  <a:txBody>
                    <a:bodyPr/>
                    <a:lstStyle/>
                    <a:p>
                      <a:pPr algn="r" indent="0" marL="0">
                        <a:lnSpc>
                          <a:spcPts val="2030"/>
                        </a:lnSpc>
                        <a:buNone/>
                      </a:pPr>
                      <a:r>
                        <a:rPr lang="en-US" sz="1450" dirty="0">
                          <a:solidFill>
                            <a:srgbClr val="14213D"/>
                          </a:solidFill>
                          <a:latin typeface="IBM Plex Sans" pitchFamily="34" charset="0"/>
                          <a:ea typeface="IBM Plex Sans" pitchFamily="34" charset="-122"/>
                          <a:cs typeface="IBM Plex Sans" pitchFamily="34" charset="-120"/>
                        </a:rPr>
                        <a:t>149</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r>
              <a:tr h="399322">
                <a:tc>
                  <a:txBody>
                    <a:bodyPr/>
                    <a:lstStyle/>
                    <a:p>
                      <a:pPr indent="0" marL="0">
                        <a:lnSpc>
                          <a:spcPts val="2030"/>
                        </a:lnSpc>
                        <a:buNone/>
                      </a:pPr>
                      <a:r>
                        <a:rPr lang="en-US" sz="1450" dirty="0">
                          <a:solidFill>
                            <a:srgbClr val="14213D"/>
                          </a:solidFill>
                          <a:latin typeface="IBM Plex Sans" pitchFamily="34" charset="0"/>
                          <a:ea typeface="IBM Plex Sans" pitchFamily="34" charset="-122"/>
                          <a:cs typeface="IBM Plex Sans" pitchFamily="34" charset="-120"/>
                        </a:rPr>
                        <a:t>ipa_like</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tcPr>
                </a:tc>
                <a:tc>
                  <a:txBody>
                    <a:bodyPr/>
                    <a:lstStyle/>
                    <a:p>
                      <a:pPr indent="0" marL="0">
                        <a:lnSpc>
                          <a:spcPts val="2030"/>
                        </a:lnSpc>
                        <a:buNone/>
                      </a:pPr>
                      <a:r>
                        <a:rPr lang="en-US" sz="1450" dirty="0">
                          <a:solidFill>
                            <a:srgbClr val="14213D"/>
                          </a:solidFill>
                          <a:latin typeface="IBM Plex Sans" pitchFamily="34" charset="0"/>
                          <a:ea typeface="IBM Plex Sans" pitchFamily="34" charset="-122"/>
                          <a:cs typeface="IBM Plex Sans" pitchFamily="34" charset="-120"/>
                        </a:rPr>
                        <a:t>65-4-4-7</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tcPr>
                </a:tc>
                <a:tc>
                  <a:txBody>
                    <a:bodyPr/>
                    <a:lstStyle/>
                    <a:p>
                      <a:pPr algn="r" indent="0" marL="0">
                        <a:lnSpc>
                          <a:spcPts val="2030"/>
                        </a:lnSpc>
                        <a:buNone/>
                      </a:pPr>
                      <a:r>
                        <a:rPr lang="en-US" sz="1450" dirty="0">
                          <a:solidFill>
                            <a:srgbClr val="14213D"/>
                          </a:solidFill>
                          <a:latin typeface="IBM Plex Sans" pitchFamily="34" charset="0"/>
                          <a:ea typeface="IBM Plex Sans" pitchFamily="34" charset="-122"/>
                          <a:cs typeface="IBM Plex Sans" pitchFamily="34" charset="-120"/>
                        </a:rPr>
                        <a:t>319</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tcPr>
                </a:tc>
              </a:tr>
              <a:tr h="399322">
                <a:tc>
                  <a:txBody>
                    <a:bodyPr/>
                    <a:lstStyle/>
                    <a:p>
                      <a:pPr indent="0" marL="0">
                        <a:lnSpc>
                          <a:spcPts val="2030"/>
                        </a:lnSpc>
                        <a:buNone/>
                      </a:pPr>
                      <a:r>
                        <a:rPr lang="en-US" sz="1450" dirty="0">
                          <a:solidFill>
                            <a:srgbClr val="14213D"/>
                          </a:solidFill>
                          <a:latin typeface="IBM Plex Sans" pitchFamily="34" charset="0"/>
                          <a:ea typeface="IBM Plex Sans" pitchFamily="34" charset="-122"/>
                          <a:cs typeface="IBM Plex Sans" pitchFamily="34" charset="-120"/>
                        </a:rPr>
                        <a:t>sparse</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c>
                  <a:txBody>
                    <a:bodyPr/>
                    <a:lstStyle/>
                    <a:p>
                      <a:pPr indent="0" marL="0">
                        <a:lnSpc>
                          <a:spcPts val="2030"/>
                        </a:lnSpc>
                        <a:buNone/>
                      </a:pPr>
                      <a:r>
                        <a:rPr lang="en-US" sz="1450" dirty="0">
                          <a:solidFill>
                            <a:srgbClr val="14213D"/>
                          </a:solidFill>
                          <a:latin typeface="IBM Plex Sans" pitchFamily="34" charset="0"/>
                          <a:ea typeface="IBM Plex Sans" pitchFamily="34" charset="-122"/>
                          <a:cs typeface="IBM Plex Sans" pitchFamily="34" charset="-120"/>
                        </a:rPr>
                        <a:t>65-4-4-7</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c>
                  <a:txBody>
                    <a:bodyPr/>
                    <a:lstStyle/>
                    <a:p>
                      <a:pPr algn="r" indent="0" marL="0">
                        <a:lnSpc>
                          <a:spcPts val="2030"/>
                        </a:lnSpc>
                        <a:buNone/>
                      </a:pPr>
                      <a:r>
                        <a:rPr lang="en-US" sz="1450" dirty="0">
                          <a:solidFill>
                            <a:srgbClr val="14213D"/>
                          </a:solidFill>
                          <a:latin typeface="IBM Plex Sans" pitchFamily="34" charset="0"/>
                          <a:ea typeface="IBM Plex Sans" pitchFamily="34" charset="-122"/>
                          <a:cs typeface="IBM Plex Sans" pitchFamily="34" charset="-120"/>
                        </a:rPr>
                        <a:t>319</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r>
              <a:tr h="399322">
                <a:tc>
                  <a:txBody>
                    <a:bodyPr/>
                    <a:lstStyle/>
                    <a:p>
                      <a:pPr indent="0" marL="0">
                        <a:lnSpc>
                          <a:spcPts val="2030"/>
                        </a:lnSpc>
                        <a:buNone/>
                      </a:pPr>
                      <a:r>
                        <a:rPr lang="en-US" sz="1450" dirty="0">
                          <a:solidFill>
                            <a:srgbClr val="14213D"/>
                          </a:solidFill>
                          <a:latin typeface="IBM Plex Sans" pitchFamily="34" charset="0"/>
                          <a:ea typeface="IBM Plex Sans" pitchFamily="34" charset="-122"/>
                          <a:cs typeface="IBM Plex Sans" pitchFamily="34" charset="-120"/>
                        </a:rPr>
                        <a:t>deep</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tcPr>
                </a:tc>
                <a:tc>
                  <a:txBody>
                    <a:bodyPr/>
                    <a:lstStyle/>
                    <a:p>
                      <a:pPr indent="0" marL="0">
                        <a:lnSpc>
                          <a:spcPts val="2030"/>
                        </a:lnSpc>
                        <a:buNone/>
                      </a:pPr>
                      <a:r>
                        <a:rPr lang="en-US" sz="1450" dirty="0">
                          <a:solidFill>
                            <a:srgbClr val="14213D"/>
                          </a:solidFill>
                          <a:latin typeface="IBM Plex Sans" pitchFamily="34" charset="0"/>
                          <a:ea typeface="IBM Plex Sans" pitchFamily="34" charset="-122"/>
                          <a:cs typeface="IBM Plex Sans" pitchFamily="34" charset="-120"/>
                        </a:rPr>
                        <a:t>65-4-4-4-7</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tcPr>
                </a:tc>
                <a:tc>
                  <a:txBody>
                    <a:bodyPr/>
                    <a:lstStyle/>
                    <a:p>
                      <a:pPr algn="r" indent="0" marL="0">
                        <a:lnSpc>
                          <a:spcPts val="2030"/>
                        </a:lnSpc>
                        <a:buNone/>
                      </a:pPr>
                      <a:r>
                        <a:rPr lang="en-US" sz="1450" dirty="0">
                          <a:solidFill>
                            <a:srgbClr val="14213D"/>
                          </a:solidFill>
                          <a:latin typeface="IBM Plex Sans" pitchFamily="34" charset="0"/>
                          <a:ea typeface="IBM Plex Sans" pitchFamily="34" charset="-122"/>
                          <a:cs typeface="IBM Plex Sans" pitchFamily="34" charset="-120"/>
                        </a:rPr>
                        <a:t>339</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tcPr>
                </a:tc>
              </a:tr>
              <a:tr h="399322">
                <a:tc>
                  <a:txBody>
                    <a:bodyPr/>
                    <a:lstStyle/>
                    <a:p>
                      <a:pPr indent="0" marL="0">
                        <a:lnSpc>
                          <a:spcPts val="2030"/>
                        </a:lnSpc>
                        <a:buNone/>
                      </a:pPr>
                      <a:r>
                        <a:rPr lang="en-US" sz="1450" dirty="0">
                          <a:solidFill>
                            <a:srgbClr val="14213D"/>
                          </a:solidFill>
                          <a:latin typeface="IBM Plex Sans" pitchFamily="34" charset="0"/>
                          <a:ea typeface="IBM Plex Sans" pitchFamily="34" charset="-122"/>
                          <a:cs typeface="IBM Plex Sans" pitchFamily="34" charset="-120"/>
                        </a:rPr>
                        <a:t>large</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c>
                  <a:txBody>
                    <a:bodyPr/>
                    <a:lstStyle/>
                    <a:p>
                      <a:pPr indent="0" marL="0">
                        <a:lnSpc>
                          <a:spcPts val="2030"/>
                        </a:lnSpc>
                        <a:buNone/>
                      </a:pPr>
                      <a:r>
                        <a:rPr lang="en-US" sz="1450" dirty="0">
                          <a:solidFill>
                            <a:srgbClr val="14213D"/>
                          </a:solidFill>
                          <a:latin typeface="IBM Plex Sans" pitchFamily="34" charset="0"/>
                          <a:ea typeface="IBM Plex Sans" pitchFamily="34" charset="-122"/>
                          <a:cs typeface="IBM Plex Sans" pitchFamily="34" charset="-120"/>
                        </a:rPr>
                        <a:t>117-8-8-9</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c>
                  <a:txBody>
                    <a:bodyPr/>
                    <a:lstStyle/>
                    <a:p>
                      <a:pPr algn="r" indent="0" marL="0">
                        <a:lnSpc>
                          <a:spcPts val="2030"/>
                        </a:lnSpc>
                        <a:buNone/>
                      </a:pPr>
                      <a:r>
                        <a:rPr lang="en-US" sz="1450" dirty="0">
                          <a:solidFill>
                            <a:srgbClr val="14213D"/>
                          </a:solidFill>
                          <a:latin typeface="IBM Plex Sans" pitchFamily="34" charset="0"/>
                          <a:ea typeface="IBM Plex Sans" pitchFamily="34" charset="-122"/>
                          <a:cs typeface="IBM Plex Sans" pitchFamily="34" charset="-120"/>
                        </a:rPr>
                        <a:t>1 097</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r>
            </a:tbl>
          </a:graphicData>
        </a:graphic>
      </p:graphicFrame>
      <p:sp>
        <p:nvSpPr>
          <p:cNvPr id="5" name="Shape 2"/>
          <p:cNvSpPr/>
          <p:nvPr/>
        </p:nvSpPr>
        <p:spPr>
          <a:xfrm>
            <a:off x="5892800" y="1770335"/>
            <a:ext cx="5486400" cy="1365845"/>
          </a:xfrm>
          <a:prstGeom prst="roundRect">
            <a:avLst>
              <a:gd name="adj" fmla="val 7439"/>
            </a:avLst>
          </a:prstGeom>
          <a:solidFill>
            <a:srgbClr val="FBFBF8"/>
          </a:solidFill>
          <a:ln/>
        </p:spPr>
      </p:sp>
      <p:sp>
        <p:nvSpPr>
          <p:cNvPr id="6" name="Text 3"/>
          <p:cNvSpPr/>
          <p:nvPr/>
        </p:nvSpPr>
        <p:spPr>
          <a:xfrm>
            <a:off x="6096000" y="1948135"/>
            <a:ext cx="52324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Quattro tipi di feature</a:t>
            </a:r>
            <a:endParaRPr lang="en-US" sz="1500" dirty="0"/>
          </a:p>
        </p:txBody>
      </p:sp>
      <p:sp>
        <p:nvSpPr>
          <p:cNvPr id="7" name="Text 4"/>
          <p:cNvSpPr/>
          <p:nvPr/>
        </p:nvSpPr>
        <p:spPr>
          <a:xfrm>
            <a:off x="6096000" y="2240235"/>
            <a:ext cx="5232400" cy="743545"/>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4A5568"/>
                </a:solidFill>
                <a:latin typeface="IBM Plex Sans" pitchFamily="34" charset="0"/>
                <a:ea typeface="IBM Plex Sans" pitchFamily="34" charset="-122"/>
                <a:cs typeface="IBM Plex Sans" pitchFamily="34" charset="-120"/>
              </a:rPr>
              <a:t>numero con la virgola</a:t>
            </a:r>
            <a:r>
              <a:rPr lang="en-US" sz="1300" dirty="0">
                <a:solidFill>
                  <a:srgbClr val="4A5568"/>
                </a:solidFill>
                <a:latin typeface="IBM Plex Sans" pitchFamily="34" charset="0"/>
                <a:ea typeface="IBM Plex Sans" pitchFamily="34" charset="-122"/>
                <a:cs typeface="IBM Plex Sans" pitchFamily="34" charset="-120"/>
              </a:rPr>
              <a:t> (portato a intero dividendo per una scala) · </a:t>
            </a:r>
            <a:r>
              <a:rPr lang="en-US" sz="1300" b="1" dirty="0">
                <a:solidFill>
                  <a:srgbClr val="4A5568"/>
                </a:solidFill>
                <a:latin typeface="IBM Plex Sans" pitchFamily="34" charset="0"/>
                <a:ea typeface="IBM Plex Sans" pitchFamily="34" charset="-122"/>
                <a:cs typeface="IBM Plex Sans" pitchFamily="34" charset="-120"/>
              </a:rPr>
              <a:t>numero intero</a:t>
            </a:r>
            <a:r>
              <a:rPr lang="en-US" sz="1300" dirty="0">
                <a:solidFill>
                  <a:srgbClr val="4A5568"/>
                </a:solidFill>
                <a:latin typeface="IBM Plex Sans" pitchFamily="34" charset="0"/>
                <a:ea typeface="IBM Plex Sans" pitchFamily="34" charset="-122"/>
                <a:cs typeface="IBM Plex Sans" pitchFamily="34" charset="-120"/>
              </a:rPr>
              <a:t> · </a:t>
            </a:r>
            <a:r>
              <a:rPr lang="en-US" sz="1300" b="1" dirty="0">
                <a:solidFill>
                  <a:srgbClr val="4A5568"/>
                </a:solidFill>
                <a:latin typeface="IBM Plex Sans" pitchFamily="34" charset="0"/>
                <a:ea typeface="IBM Plex Sans" pitchFamily="34" charset="-122"/>
                <a:cs typeface="IBM Plex Sans" pitchFamily="34" charset="-120"/>
              </a:rPr>
              <a:t>acceso/spento</a:t>
            </a:r>
            <a:r>
              <a:rPr lang="en-US" sz="1300" dirty="0">
                <a:solidFill>
                  <a:srgbClr val="4A5568"/>
                </a:solidFill>
                <a:latin typeface="IBM Plex Sans" pitchFamily="34" charset="0"/>
                <a:ea typeface="IBM Plex Sans" pitchFamily="34" charset="-122"/>
                <a:cs typeface="IBM Plex Sans" pitchFamily="34" charset="-120"/>
              </a:rPr>
              <a:t> (una fila di 0 e 1) · </a:t>
            </a:r>
            <a:r>
              <a:rPr lang="en-US" sz="1300" b="1" dirty="0">
                <a:solidFill>
                  <a:srgbClr val="4A5568"/>
                </a:solidFill>
                <a:latin typeface="IBM Plex Sans" pitchFamily="34" charset="0"/>
                <a:ea typeface="IBM Plex Sans" pitchFamily="34" charset="-122"/>
                <a:cs typeface="IBM Plex Sans" pitchFamily="34" charset="-120"/>
              </a:rPr>
              <a:t>colonna singola</a:t>
            </a:r>
            <a:r>
              <a:rPr lang="en-US" sz="1300" dirty="0">
                <a:solidFill>
                  <a:srgbClr val="4A5568"/>
                </a:solidFill>
                <a:latin typeface="IBM Plex Sans" pitchFamily="34" charset="0"/>
                <a:ea typeface="IBM Plex Sans" pitchFamily="34" charset="-122"/>
                <a:cs typeface="IBM Plex Sans" pitchFamily="34" charset="-120"/>
              </a:rPr>
              <a:t> (una sola casella a 1)</a:t>
            </a:r>
            <a:endParaRPr lang="en-US" sz="1300" dirty="0"/>
          </a:p>
        </p:txBody>
      </p:sp>
      <p:sp>
        <p:nvSpPr>
          <p:cNvPr id="8" name="Shape 5"/>
          <p:cNvSpPr/>
          <p:nvPr/>
        </p:nvSpPr>
        <p:spPr>
          <a:xfrm>
            <a:off x="5892800" y="3263181"/>
            <a:ext cx="5486400" cy="1126464"/>
          </a:xfrm>
          <a:prstGeom prst="roundRect">
            <a:avLst>
              <a:gd name="adj" fmla="val 9019"/>
            </a:avLst>
          </a:prstGeom>
          <a:solidFill>
            <a:srgbClr val="FBFBF8"/>
          </a:solidFill>
          <a:ln/>
        </p:spPr>
      </p:sp>
      <p:sp>
        <p:nvSpPr>
          <p:cNvPr id="9" name="Text 6"/>
          <p:cNvSpPr/>
          <p:nvPr/>
        </p:nvSpPr>
        <p:spPr>
          <a:xfrm>
            <a:off x="6096000" y="3440981"/>
            <a:ext cx="52324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Per ogni scenario</a:t>
            </a:r>
            <a:endParaRPr lang="en-US" sz="1500" dirty="0"/>
          </a:p>
        </p:txBody>
      </p:sp>
      <p:sp>
        <p:nvSpPr>
          <p:cNvPr id="10" name="Text 7"/>
          <p:cNvSpPr/>
          <p:nvPr/>
        </p:nvSpPr>
        <p:spPr>
          <a:xfrm>
            <a:off x="6096000" y="3733081"/>
            <a:ext cx="5232400" cy="504164"/>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4A5568"/>
                </a:solidFill>
                <a:latin typeface="IBM Plex Sans" pitchFamily="34" charset="0"/>
                <a:ea typeface="IBM Plex Sans" pitchFamily="34" charset="-122"/>
                <a:cs typeface="IBM Plex Sans" pitchFamily="34" charset="-120"/>
              </a:rPr>
              <a:t>1 000 ingressi</a:t>
            </a:r>
            <a:r>
              <a:rPr lang="en-US" sz="1300" dirty="0">
                <a:solidFill>
                  <a:srgbClr val="4A5568"/>
                </a:solidFill>
                <a:latin typeface="IBM Plex Sans" pitchFamily="34" charset="0"/>
                <a:ea typeface="IBM Plex Sans" pitchFamily="34" charset="-122"/>
                <a:cs typeface="IBM Plex Sans" pitchFamily="34" charset="-120"/>
              </a:rPr>
              <a:t> diversi, sia in numeri interi sia con la virgola, ognuno con la risposta che ci si aspetta. Si rigenerano identici ogni volta.</a:t>
            </a:r>
            <a:endParaRPr lang="en-US" sz="1300" dirty="0"/>
          </a:p>
        </p:txBody>
      </p:sp>
      <p:sp>
        <p:nvSpPr>
          <p:cNvPr id="11" name="Text 8"/>
          <p:cNvSpPr/>
          <p:nvPr/>
        </p:nvSpPr>
        <p:spPr>
          <a:xfrm>
            <a:off x="812800" y="6238280"/>
            <a:ext cx="49181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ipa/synth/ · pesi casuali, nessun rapporto con il modello di riferimento</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412287"/>
          </a:xfrm>
          <a:prstGeom prst="rect">
            <a:avLst/>
          </a:prstGeom>
          <a:noFill/>
          <a:ln/>
        </p:spPr>
        <p:txBody>
          <a:bodyPr wrap="square" lIns="0" tIns="0" rIns="0" bIns="0" rtlCol="0" anchor="t">
            <a:normAutofit/>
          </a:bodyPr>
          <a:lstStyle/>
          <a:p>
            <a:pPr algn="l" indent="0" marL="0">
              <a:lnSpc>
                <a:spcPts val="3069"/>
              </a:lnSpc>
              <a:buNone/>
            </a:pPr>
            <a:r>
              <a:rPr lang="en-US" sz="2790" b="1" dirty="0">
                <a:solidFill>
                  <a:srgbClr val="14213D"/>
                </a:solidFill>
                <a:latin typeface="IBM Plex Sans" pitchFamily="34" charset="0"/>
                <a:ea typeface="IBM Plex Sans" pitchFamily="34" charset="-122"/>
                <a:cs typeface="IBM Plex Sans" pitchFamily="34" charset="-120"/>
              </a:rPr>
              <a:t>Sette su sette, equivalenza esatta</a:t>
            </a:r>
            <a:endParaRPr lang="en-US" sz="279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12800" y="1402891"/>
          <a:ext cx="10566400" cy="2858095"/>
        </p:xfrm>
        <a:graphic>
          <a:graphicData uri="http://schemas.openxmlformats.org/drawingml/2006/table">
            <a:tbl>
              <a:tblPr/>
              <a:tblGrid>
                <a:gridCol w="2535936"/>
                <a:gridCol w="2747264"/>
                <a:gridCol w="2958592"/>
                <a:gridCol w="2324608"/>
              </a:tblGrid>
              <a:tr h="357254">
                <a:tc>
                  <a:txBody>
                    <a:bodyPr/>
                    <a:lstStyle/>
                    <a:p>
                      <a:pPr indent="0" marL="0">
                        <a:lnSpc>
                          <a:spcPts val="1805"/>
                        </a:lnSpc>
                        <a:buNone/>
                      </a:pPr>
                      <a:r>
                        <a:rPr lang="en-US" sz="1289" b="1" dirty="0">
                          <a:solidFill>
                            <a:srgbClr val="FBFBF8"/>
                          </a:solidFill>
                          <a:latin typeface="IBM Plex Sans" pitchFamily="34" charset="0"/>
                          <a:ea typeface="IBM Plex Sans" pitchFamily="34" charset="-122"/>
                          <a:cs typeface="IBM Plex Sans" pitchFamily="34" charset="-120"/>
                        </a:rPr>
                        <a:t>Scenario</a:t>
                      </a:r>
                      <a:endParaRPr lang="en-US" sz="1289" dirty="0">
                        <a:latin typeface="IBM Plex Sans" charset="0"/>
                        <a:ea typeface="IBM Plex Sans" charset="0"/>
                        <a:cs typeface="IBM Plex Sans" charset="0"/>
                      </a:endParaRPr>
                    </a:p>
                  </a:txBody>
                  <a:tcPr marL="57299" marR="57299" marT="57299" marB="57299"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14213D"/>
                    </a:solidFill>
                  </a:tcPr>
                </a:tc>
                <a:tc>
                  <a:txBody>
                    <a:bodyPr/>
                    <a:lstStyle/>
                    <a:p>
                      <a:pPr algn="r" indent="0" marL="0">
                        <a:lnSpc>
                          <a:spcPts val="1805"/>
                        </a:lnSpc>
                        <a:buNone/>
                      </a:pPr>
                      <a:r>
                        <a:rPr lang="en-US" sz="1289" b="1" dirty="0">
                          <a:solidFill>
                            <a:srgbClr val="FBFBF8"/>
                          </a:solidFill>
                          <a:latin typeface="IBM Plex Sans" pitchFamily="34" charset="0"/>
                          <a:ea typeface="IBM Plex Sans" pitchFamily="34" charset="-122"/>
                          <a:cs typeface="IBM Plex Sans" pitchFamily="34" charset="-120"/>
                        </a:rPr>
                        <a:t>float vs int8</a:t>
                      </a:r>
                      <a:endParaRPr lang="en-US" sz="1289" dirty="0">
                        <a:latin typeface="IBM Plex Sans" charset="0"/>
                        <a:ea typeface="IBM Plex Sans" charset="0"/>
                        <a:cs typeface="IBM Plex Sans" charset="0"/>
                      </a:endParaRPr>
                    </a:p>
                  </a:txBody>
                  <a:tcPr marL="57299" marR="57299" marT="57299" marB="57299"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14213D"/>
                    </a:solidFill>
                  </a:tcPr>
                </a:tc>
                <a:tc>
                  <a:txBody>
                    <a:bodyPr/>
                    <a:lstStyle/>
                    <a:p>
                      <a:pPr algn="r" indent="0" marL="0">
                        <a:lnSpc>
                          <a:spcPts val="1805"/>
                        </a:lnSpc>
                        <a:buNone/>
                      </a:pPr>
                      <a:r>
                        <a:rPr lang="en-US" sz="1289" b="1" dirty="0">
                          <a:solidFill>
                            <a:srgbClr val="FBFBF8"/>
                          </a:solidFill>
                          <a:latin typeface="IBM Plex Sans" pitchFamily="34" charset="0"/>
                          <a:ea typeface="IBM Plex Sans" pitchFamily="34" charset="-122"/>
                          <a:cs typeface="IBM Plex Sans" pitchFamily="34" charset="-120"/>
                        </a:rPr>
                        <a:t>int8 Python vs eBPF</a:t>
                      </a:r>
                      <a:endParaRPr lang="en-US" sz="1289" dirty="0">
                        <a:latin typeface="IBM Plex Sans" charset="0"/>
                        <a:ea typeface="IBM Plex Sans" charset="0"/>
                        <a:cs typeface="IBM Plex Sans" charset="0"/>
                      </a:endParaRPr>
                    </a:p>
                  </a:txBody>
                  <a:tcPr marL="57299" marR="57299" marT="57299" marB="57299"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14213D"/>
                    </a:solidFill>
                  </a:tcPr>
                </a:tc>
                <a:tc>
                  <a:txBody>
                    <a:bodyPr/>
                    <a:lstStyle/>
                    <a:p>
                      <a:pPr algn="r" indent="0" marL="0">
                        <a:lnSpc>
                          <a:spcPts val="1805"/>
                        </a:lnSpc>
                        <a:buNone/>
                      </a:pPr>
                      <a:r>
                        <a:rPr lang="en-US" sz="1289" b="1" dirty="0">
                          <a:solidFill>
                            <a:srgbClr val="FBFBF8"/>
                          </a:solidFill>
                          <a:latin typeface="IBM Plex Sans" pitchFamily="34" charset="0"/>
                          <a:ea typeface="IBM Plex Sans" pitchFamily="34" charset="-122"/>
                          <a:cs typeface="IBM Plex Sans" pitchFamily="34" charset="-120"/>
                        </a:rPr>
                        <a:t>Decisioni</a:t>
                      </a:r>
                      <a:endParaRPr lang="en-US" sz="1289" dirty="0">
                        <a:latin typeface="IBM Plex Sans" charset="0"/>
                        <a:ea typeface="IBM Plex Sans" charset="0"/>
                        <a:cs typeface="IBM Plex Sans" charset="0"/>
                      </a:endParaRPr>
                    </a:p>
                  </a:txBody>
                  <a:tcPr marL="57299" marR="57299" marT="57299" marB="57299"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14213D"/>
                    </a:solidFill>
                  </a:tcPr>
                </a:tc>
              </a:tr>
              <a:tr h="357254">
                <a:tc>
                  <a:txBody>
                    <a:bodyPr/>
                    <a:lstStyle/>
                    <a:p>
                      <a:pPr indent="0" marL="0">
                        <a:lnSpc>
                          <a:spcPts val="1805"/>
                        </a:lnSpc>
                        <a:buNone/>
                      </a:pPr>
                      <a:r>
                        <a:rPr lang="en-US" sz="1289" dirty="0">
                          <a:solidFill>
                            <a:srgbClr val="14213D"/>
                          </a:solidFill>
                          <a:latin typeface="IBM Plex Sans" pitchFamily="34" charset="0"/>
                          <a:ea typeface="IBM Plex Sans" pitchFamily="34" charset="-122"/>
                          <a:cs typeface="IBM Plex Sans" pitchFamily="34" charset="-120"/>
                        </a:rPr>
                        <a:t>ones</a:t>
                      </a:r>
                      <a:endParaRPr lang="en-US" sz="1289" dirty="0">
                        <a:latin typeface="IBM Plex Sans" charset="0"/>
                        <a:ea typeface="IBM Plex Sans" charset="0"/>
                        <a:cs typeface="IBM Plex Sans" charset="0"/>
                      </a:endParaRPr>
                    </a:p>
                  </a:txBody>
                  <a:tcPr marL="57299" marR="57299" marT="57299" marB="57299"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c>
                  <a:txBody>
                    <a:bodyPr/>
                    <a:lstStyle/>
                    <a:p>
                      <a:pPr algn="r" indent="0" marL="0">
                        <a:lnSpc>
                          <a:spcPts val="1805"/>
                        </a:lnSpc>
                        <a:buNone/>
                      </a:pPr>
                      <a:r>
                        <a:rPr lang="en-US" sz="1289" dirty="0">
                          <a:solidFill>
                            <a:srgbClr val="14213D"/>
                          </a:solidFill>
                          <a:latin typeface="IBM Plex Sans" pitchFamily="34" charset="0"/>
                          <a:ea typeface="IBM Plex Sans" pitchFamily="34" charset="-122"/>
                          <a:cs typeface="IBM Plex Sans" pitchFamily="34" charset="-120"/>
                        </a:rPr>
                        <a:t>100,00 %</a:t>
                      </a:r>
                      <a:endParaRPr lang="en-US" sz="1289" dirty="0">
                        <a:latin typeface="IBM Plex Sans" charset="0"/>
                        <a:ea typeface="IBM Plex Sans" charset="0"/>
                        <a:cs typeface="IBM Plex Sans" charset="0"/>
                      </a:endParaRPr>
                    </a:p>
                  </a:txBody>
                  <a:tcPr marL="57299" marR="57299" marT="57299" marB="57299"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c>
                  <a:txBody>
                    <a:bodyPr/>
                    <a:lstStyle/>
                    <a:p>
                      <a:pPr algn="r" indent="0" marL="0">
                        <a:lnSpc>
                          <a:spcPts val="1805"/>
                        </a:lnSpc>
                        <a:buNone/>
                      </a:pPr>
                      <a:r>
                        <a:rPr lang="en-US" sz="1289" dirty="0">
                          <a:solidFill>
                            <a:srgbClr val="2E7D52"/>
                          </a:solidFill>
                          <a:latin typeface="IBM Plex Sans" pitchFamily="34" charset="0"/>
                          <a:ea typeface="IBM Plex Sans" pitchFamily="34" charset="-122"/>
                          <a:cs typeface="IBM Plex Sans" pitchFamily="34" charset="-120"/>
                        </a:rPr>
                        <a:t>100,00 %</a:t>
                      </a:r>
                      <a:endParaRPr lang="en-US" sz="1289" dirty="0">
                        <a:latin typeface="IBM Plex Sans" charset="0"/>
                        <a:ea typeface="IBM Plex Sans" charset="0"/>
                        <a:cs typeface="IBM Plex Sans" charset="0"/>
                      </a:endParaRPr>
                    </a:p>
                  </a:txBody>
                  <a:tcPr marL="57299" marR="57299" marT="57299" marB="57299"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c>
                  <a:txBody>
                    <a:bodyPr/>
                    <a:lstStyle/>
                    <a:p>
                      <a:pPr algn="r" indent="0" marL="0">
                        <a:lnSpc>
                          <a:spcPts val="1805"/>
                        </a:lnSpc>
                        <a:buNone/>
                      </a:pPr>
                      <a:r>
                        <a:rPr lang="en-US" sz="1289" dirty="0">
                          <a:solidFill>
                            <a:srgbClr val="14213D"/>
                          </a:solidFill>
                          <a:latin typeface="IBM Plex Sans" pitchFamily="34" charset="0"/>
                          <a:ea typeface="IBM Plex Sans" pitchFamily="34" charset="-122"/>
                          <a:cs typeface="IBM Plex Sans" pitchFamily="34" charset="-120"/>
                        </a:rPr>
                        <a:t>300 / 300</a:t>
                      </a:r>
                      <a:endParaRPr lang="en-US" sz="1289" dirty="0">
                        <a:latin typeface="IBM Plex Sans" charset="0"/>
                        <a:ea typeface="IBM Plex Sans" charset="0"/>
                        <a:cs typeface="IBM Plex Sans" charset="0"/>
                      </a:endParaRPr>
                    </a:p>
                  </a:txBody>
                  <a:tcPr marL="57299" marR="57299" marT="57299" marB="57299"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r>
              <a:tr h="357254">
                <a:tc>
                  <a:txBody>
                    <a:bodyPr/>
                    <a:lstStyle/>
                    <a:p>
                      <a:pPr indent="0" marL="0">
                        <a:lnSpc>
                          <a:spcPts val="1805"/>
                        </a:lnSpc>
                        <a:buNone/>
                      </a:pPr>
                      <a:r>
                        <a:rPr lang="en-US" sz="1289" dirty="0">
                          <a:solidFill>
                            <a:srgbClr val="14213D"/>
                          </a:solidFill>
                          <a:latin typeface="IBM Plex Sans" pitchFamily="34" charset="0"/>
                          <a:ea typeface="IBM Plex Sans" pitchFamily="34" charset="-122"/>
                          <a:cs typeface="IBM Plex Sans" pitchFamily="34" charset="-120"/>
                        </a:rPr>
                        <a:t>small</a:t>
                      </a:r>
                      <a:endParaRPr lang="en-US" sz="1289" dirty="0">
                        <a:latin typeface="IBM Plex Sans" charset="0"/>
                        <a:ea typeface="IBM Plex Sans" charset="0"/>
                        <a:cs typeface="IBM Plex Sans" charset="0"/>
                      </a:endParaRPr>
                    </a:p>
                  </a:txBody>
                  <a:tcPr marL="57299" marR="57299" marT="57299" marB="57299"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F4F6F9"/>
                    </a:solidFill>
                  </a:tcPr>
                </a:tc>
                <a:tc>
                  <a:txBody>
                    <a:bodyPr/>
                    <a:lstStyle/>
                    <a:p>
                      <a:pPr algn="r" indent="0" marL="0">
                        <a:lnSpc>
                          <a:spcPts val="1805"/>
                        </a:lnSpc>
                        <a:buNone/>
                      </a:pPr>
                      <a:r>
                        <a:rPr lang="en-US" sz="1289" dirty="0">
                          <a:solidFill>
                            <a:srgbClr val="14213D"/>
                          </a:solidFill>
                          <a:latin typeface="IBM Plex Sans" pitchFamily="34" charset="0"/>
                          <a:ea typeface="IBM Plex Sans" pitchFamily="34" charset="-122"/>
                          <a:cs typeface="IBM Plex Sans" pitchFamily="34" charset="-120"/>
                        </a:rPr>
                        <a:t>98,00 %</a:t>
                      </a:r>
                      <a:endParaRPr lang="en-US" sz="1289" dirty="0">
                        <a:latin typeface="IBM Plex Sans" charset="0"/>
                        <a:ea typeface="IBM Plex Sans" charset="0"/>
                        <a:cs typeface="IBM Plex Sans" charset="0"/>
                      </a:endParaRPr>
                    </a:p>
                  </a:txBody>
                  <a:tcPr marL="57299" marR="57299" marT="57299" marB="57299"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F4F6F9"/>
                    </a:solidFill>
                  </a:tcPr>
                </a:tc>
                <a:tc>
                  <a:txBody>
                    <a:bodyPr/>
                    <a:lstStyle/>
                    <a:p>
                      <a:pPr algn="r" indent="0" marL="0">
                        <a:lnSpc>
                          <a:spcPts val="1805"/>
                        </a:lnSpc>
                        <a:buNone/>
                      </a:pPr>
                      <a:r>
                        <a:rPr lang="en-US" sz="1289" dirty="0">
                          <a:solidFill>
                            <a:srgbClr val="2E7D52"/>
                          </a:solidFill>
                          <a:latin typeface="IBM Plex Sans" pitchFamily="34" charset="0"/>
                          <a:ea typeface="IBM Plex Sans" pitchFamily="34" charset="-122"/>
                          <a:cs typeface="IBM Plex Sans" pitchFamily="34" charset="-120"/>
                        </a:rPr>
                        <a:t>100,00 %</a:t>
                      </a:r>
                      <a:endParaRPr lang="en-US" sz="1289" dirty="0">
                        <a:latin typeface="IBM Plex Sans" charset="0"/>
                        <a:ea typeface="IBM Plex Sans" charset="0"/>
                        <a:cs typeface="IBM Plex Sans" charset="0"/>
                      </a:endParaRPr>
                    </a:p>
                  </a:txBody>
                  <a:tcPr marL="57299" marR="57299" marT="57299" marB="57299"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F4F6F9"/>
                    </a:solidFill>
                  </a:tcPr>
                </a:tc>
                <a:tc>
                  <a:txBody>
                    <a:bodyPr/>
                    <a:lstStyle/>
                    <a:p>
                      <a:pPr algn="r" indent="0" marL="0">
                        <a:lnSpc>
                          <a:spcPts val="1805"/>
                        </a:lnSpc>
                        <a:buNone/>
                      </a:pPr>
                      <a:r>
                        <a:rPr lang="en-US" sz="1289" dirty="0">
                          <a:solidFill>
                            <a:srgbClr val="14213D"/>
                          </a:solidFill>
                          <a:latin typeface="IBM Plex Sans" pitchFamily="34" charset="0"/>
                          <a:ea typeface="IBM Plex Sans" pitchFamily="34" charset="-122"/>
                          <a:cs typeface="IBM Plex Sans" pitchFamily="34" charset="-120"/>
                        </a:rPr>
                        <a:t>300 / 300</a:t>
                      </a:r>
                      <a:endParaRPr lang="en-US" sz="1289" dirty="0">
                        <a:latin typeface="IBM Plex Sans" charset="0"/>
                        <a:ea typeface="IBM Plex Sans" charset="0"/>
                        <a:cs typeface="IBM Plex Sans" charset="0"/>
                      </a:endParaRPr>
                    </a:p>
                  </a:txBody>
                  <a:tcPr marL="57299" marR="57299" marT="57299" marB="57299"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F4F6F9"/>
                    </a:solidFill>
                  </a:tcPr>
                </a:tc>
              </a:tr>
              <a:tr h="357254">
                <a:tc>
                  <a:txBody>
                    <a:bodyPr/>
                    <a:lstStyle/>
                    <a:p>
                      <a:pPr indent="0" marL="0">
                        <a:lnSpc>
                          <a:spcPts val="1805"/>
                        </a:lnSpc>
                        <a:buNone/>
                      </a:pPr>
                      <a:r>
                        <a:rPr lang="en-US" sz="1289" dirty="0">
                          <a:solidFill>
                            <a:srgbClr val="14213D"/>
                          </a:solidFill>
                          <a:latin typeface="IBM Plex Sans" pitchFamily="34" charset="0"/>
                          <a:ea typeface="IBM Plex Sans" pitchFamily="34" charset="-122"/>
                          <a:cs typeface="IBM Plex Sans" pitchFamily="34" charset="-120"/>
                        </a:rPr>
                        <a:t>mixed</a:t>
                      </a:r>
                      <a:endParaRPr lang="en-US" sz="1289" dirty="0">
                        <a:latin typeface="IBM Plex Sans" charset="0"/>
                        <a:ea typeface="IBM Plex Sans" charset="0"/>
                        <a:cs typeface="IBM Plex Sans" charset="0"/>
                      </a:endParaRPr>
                    </a:p>
                  </a:txBody>
                  <a:tcPr marL="57299" marR="57299" marT="57299" marB="57299"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c>
                  <a:txBody>
                    <a:bodyPr/>
                    <a:lstStyle/>
                    <a:p>
                      <a:pPr algn="r" indent="0" marL="0">
                        <a:lnSpc>
                          <a:spcPts val="1805"/>
                        </a:lnSpc>
                        <a:buNone/>
                      </a:pPr>
                      <a:r>
                        <a:rPr lang="en-US" sz="1289" dirty="0">
                          <a:solidFill>
                            <a:srgbClr val="14213D"/>
                          </a:solidFill>
                          <a:latin typeface="IBM Plex Sans" pitchFamily="34" charset="0"/>
                          <a:ea typeface="IBM Plex Sans" pitchFamily="34" charset="-122"/>
                          <a:cs typeface="IBM Plex Sans" pitchFamily="34" charset="-120"/>
                        </a:rPr>
                        <a:t>100,00 %</a:t>
                      </a:r>
                      <a:endParaRPr lang="en-US" sz="1289" dirty="0">
                        <a:latin typeface="IBM Plex Sans" charset="0"/>
                        <a:ea typeface="IBM Plex Sans" charset="0"/>
                        <a:cs typeface="IBM Plex Sans" charset="0"/>
                      </a:endParaRPr>
                    </a:p>
                  </a:txBody>
                  <a:tcPr marL="57299" marR="57299" marT="57299" marB="57299"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c>
                  <a:txBody>
                    <a:bodyPr/>
                    <a:lstStyle/>
                    <a:p>
                      <a:pPr algn="r" indent="0" marL="0">
                        <a:lnSpc>
                          <a:spcPts val="1805"/>
                        </a:lnSpc>
                        <a:buNone/>
                      </a:pPr>
                      <a:r>
                        <a:rPr lang="en-US" sz="1289" dirty="0">
                          <a:solidFill>
                            <a:srgbClr val="2E7D52"/>
                          </a:solidFill>
                          <a:latin typeface="IBM Plex Sans" pitchFamily="34" charset="0"/>
                          <a:ea typeface="IBM Plex Sans" pitchFamily="34" charset="-122"/>
                          <a:cs typeface="IBM Plex Sans" pitchFamily="34" charset="-120"/>
                        </a:rPr>
                        <a:t>100,00 %</a:t>
                      </a:r>
                      <a:endParaRPr lang="en-US" sz="1289" dirty="0">
                        <a:latin typeface="IBM Plex Sans" charset="0"/>
                        <a:ea typeface="IBM Plex Sans" charset="0"/>
                        <a:cs typeface="IBM Plex Sans" charset="0"/>
                      </a:endParaRPr>
                    </a:p>
                  </a:txBody>
                  <a:tcPr marL="57299" marR="57299" marT="57299" marB="57299"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c>
                  <a:txBody>
                    <a:bodyPr/>
                    <a:lstStyle/>
                    <a:p>
                      <a:pPr algn="r" indent="0" marL="0">
                        <a:lnSpc>
                          <a:spcPts val="1805"/>
                        </a:lnSpc>
                        <a:buNone/>
                      </a:pPr>
                      <a:r>
                        <a:rPr lang="en-US" sz="1289" dirty="0">
                          <a:solidFill>
                            <a:srgbClr val="14213D"/>
                          </a:solidFill>
                          <a:latin typeface="IBM Plex Sans" pitchFamily="34" charset="0"/>
                          <a:ea typeface="IBM Plex Sans" pitchFamily="34" charset="-122"/>
                          <a:cs typeface="IBM Plex Sans" pitchFamily="34" charset="-120"/>
                        </a:rPr>
                        <a:t>300 / 300</a:t>
                      </a:r>
                      <a:endParaRPr lang="en-US" sz="1289" dirty="0">
                        <a:latin typeface="IBM Plex Sans" charset="0"/>
                        <a:ea typeface="IBM Plex Sans" charset="0"/>
                        <a:cs typeface="IBM Plex Sans" charset="0"/>
                      </a:endParaRPr>
                    </a:p>
                  </a:txBody>
                  <a:tcPr marL="57299" marR="57299" marT="57299" marB="57299"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r>
              <a:tr h="357254">
                <a:tc>
                  <a:txBody>
                    <a:bodyPr/>
                    <a:lstStyle/>
                    <a:p>
                      <a:pPr indent="0" marL="0">
                        <a:lnSpc>
                          <a:spcPts val="1805"/>
                        </a:lnSpc>
                        <a:buNone/>
                      </a:pPr>
                      <a:r>
                        <a:rPr lang="en-US" sz="1289" dirty="0">
                          <a:solidFill>
                            <a:srgbClr val="14213D"/>
                          </a:solidFill>
                          <a:latin typeface="IBM Plex Sans" pitchFamily="34" charset="0"/>
                          <a:ea typeface="IBM Plex Sans" pitchFamily="34" charset="-122"/>
                          <a:cs typeface="IBM Plex Sans" pitchFamily="34" charset="-120"/>
                        </a:rPr>
                        <a:t>ipa_like</a:t>
                      </a:r>
                      <a:endParaRPr lang="en-US" sz="1289" dirty="0">
                        <a:latin typeface="IBM Plex Sans" charset="0"/>
                        <a:ea typeface="IBM Plex Sans" charset="0"/>
                        <a:cs typeface="IBM Plex Sans" charset="0"/>
                      </a:endParaRPr>
                    </a:p>
                  </a:txBody>
                  <a:tcPr marL="57299" marR="57299" marT="57299" marB="57299"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F4F6F9"/>
                    </a:solidFill>
                  </a:tcPr>
                </a:tc>
                <a:tc>
                  <a:txBody>
                    <a:bodyPr/>
                    <a:lstStyle/>
                    <a:p>
                      <a:pPr algn="r" indent="0" marL="0">
                        <a:lnSpc>
                          <a:spcPts val="1805"/>
                        </a:lnSpc>
                        <a:buNone/>
                      </a:pPr>
                      <a:r>
                        <a:rPr lang="en-US" sz="1289" dirty="0">
                          <a:solidFill>
                            <a:srgbClr val="14213D"/>
                          </a:solidFill>
                          <a:latin typeface="IBM Plex Sans" pitchFamily="34" charset="0"/>
                          <a:ea typeface="IBM Plex Sans" pitchFamily="34" charset="-122"/>
                          <a:cs typeface="IBM Plex Sans" pitchFamily="34" charset="-120"/>
                        </a:rPr>
                        <a:t>97,67 %</a:t>
                      </a:r>
                      <a:endParaRPr lang="en-US" sz="1289" dirty="0">
                        <a:latin typeface="IBM Plex Sans" charset="0"/>
                        <a:ea typeface="IBM Plex Sans" charset="0"/>
                        <a:cs typeface="IBM Plex Sans" charset="0"/>
                      </a:endParaRPr>
                    </a:p>
                  </a:txBody>
                  <a:tcPr marL="57299" marR="57299" marT="57299" marB="57299"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F4F6F9"/>
                    </a:solidFill>
                  </a:tcPr>
                </a:tc>
                <a:tc>
                  <a:txBody>
                    <a:bodyPr/>
                    <a:lstStyle/>
                    <a:p>
                      <a:pPr algn="r" indent="0" marL="0">
                        <a:lnSpc>
                          <a:spcPts val="1805"/>
                        </a:lnSpc>
                        <a:buNone/>
                      </a:pPr>
                      <a:r>
                        <a:rPr lang="en-US" sz="1289" dirty="0">
                          <a:solidFill>
                            <a:srgbClr val="2E7D52"/>
                          </a:solidFill>
                          <a:latin typeface="IBM Plex Sans" pitchFamily="34" charset="0"/>
                          <a:ea typeface="IBM Plex Sans" pitchFamily="34" charset="-122"/>
                          <a:cs typeface="IBM Plex Sans" pitchFamily="34" charset="-120"/>
                        </a:rPr>
                        <a:t>100,00 %</a:t>
                      </a:r>
                      <a:endParaRPr lang="en-US" sz="1289" dirty="0">
                        <a:latin typeface="IBM Plex Sans" charset="0"/>
                        <a:ea typeface="IBM Plex Sans" charset="0"/>
                        <a:cs typeface="IBM Plex Sans" charset="0"/>
                      </a:endParaRPr>
                    </a:p>
                  </a:txBody>
                  <a:tcPr marL="57299" marR="57299" marT="57299" marB="57299"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F4F6F9"/>
                    </a:solidFill>
                  </a:tcPr>
                </a:tc>
                <a:tc>
                  <a:txBody>
                    <a:bodyPr/>
                    <a:lstStyle/>
                    <a:p>
                      <a:pPr algn="r" indent="0" marL="0">
                        <a:lnSpc>
                          <a:spcPts val="1805"/>
                        </a:lnSpc>
                        <a:buNone/>
                      </a:pPr>
                      <a:r>
                        <a:rPr lang="en-US" sz="1289" dirty="0">
                          <a:solidFill>
                            <a:srgbClr val="14213D"/>
                          </a:solidFill>
                          <a:latin typeface="IBM Plex Sans" pitchFamily="34" charset="0"/>
                          <a:ea typeface="IBM Plex Sans" pitchFamily="34" charset="-122"/>
                          <a:cs typeface="IBM Plex Sans" pitchFamily="34" charset="-120"/>
                        </a:rPr>
                        <a:t>300 / 300</a:t>
                      </a:r>
                      <a:endParaRPr lang="en-US" sz="1289" dirty="0">
                        <a:latin typeface="IBM Plex Sans" charset="0"/>
                        <a:ea typeface="IBM Plex Sans" charset="0"/>
                        <a:cs typeface="IBM Plex Sans" charset="0"/>
                      </a:endParaRPr>
                    </a:p>
                  </a:txBody>
                  <a:tcPr marL="57299" marR="57299" marT="57299" marB="57299"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F4F6F9"/>
                    </a:solidFill>
                  </a:tcPr>
                </a:tc>
              </a:tr>
              <a:tr h="357254">
                <a:tc>
                  <a:txBody>
                    <a:bodyPr/>
                    <a:lstStyle/>
                    <a:p>
                      <a:pPr indent="0" marL="0">
                        <a:lnSpc>
                          <a:spcPts val="1805"/>
                        </a:lnSpc>
                        <a:buNone/>
                      </a:pPr>
                      <a:r>
                        <a:rPr lang="en-US" sz="1289" dirty="0">
                          <a:solidFill>
                            <a:srgbClr val="14213D"/>
                          </a:solidFill>
                          <a:latin typeface="IBM Plex Sans" pitchFamily="34" charset="0"/>
                          <a:ea typeface="IBM Plex Sans" pitchFamily="34" charset="-122"/>
                          <a:cs typeface="IBM Plex Sans" pitchFamily="34" charset="-120"/>
                        </a:rPr>
                        <a:t>sparse</a:t>
                      </a:r>
                      <a:endParaRPr lang="en-US" sz="1289" dirty="0">
                        <a:latin typeface="IBM Plex Sans" charset="0"/>
                        <a:ea typeface="IBM Plex Sans" charset="0"/>
                        <a:cs typeface="IBM Plex Sans" charset="0"/>
                      </a:endParaRPr>
                    </a:p>
                  </a:txBody>
                  <a:tcPr marL="57299" marR="57299" marT="57299" marB="57299"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c>
                  <a:txBody>
                    <a:bodyPr/>
                    <a:lstStyle/>
                    <a:p>
                      <a:pPr algn="r" indent="0" marL="0">
                        <a:lnSpc>
                          <a:spcPts val="1805"/>
                        </a:lnSpc>
                        <a:buNone/>
                      </a:pPr>
                      <a:r>
                        <a:rPr lang="en-US" sz="1289" dirty="0">
                          <a:solidFill>
                            <a:srgbClr val="14213D"/>
                          </a:solidFill>
                          <a:latin typeface="IBM Plex Sans" pitchFamily="34" charset="0"/>
                          <a:ea typeface="IBM Plex Sans" pitchFamily="34" charset="-122"/>
                          <a:cs typeface="IBM Plex Sans" pitchFamily="34" charset="-120"/>
                        </a:rPr>
                        <a:t>99,33 %</a:t>
                      </a:r>
                      <a:endParaRPr lang="en-US" sz="1289" dirty="0">
                        <a:latin typeface="IBM Plex Sans" charset="0"/>
                        <a:ea typeface="IBM Plex Sans" charset="0"/>
                        <a:cs typeface="IBM Plex Sans" charset="0"/>
                      </a:endParaRPr>
                    </a:p>
                  </a:txBody>
                  <a:tcPr marL="57299" marR="57299" marT="57299" marB="57299"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c>
                  <a:txBody>
                    <a:bodyPr/>
                    <a:lstStyle/>
                    <a:p>
                      <a:pPr algn="r" indent="0" marL="0">
                        <a:lnSpc>
                          <a:spcPts val="1805"/>
                        </a:lnSpc>
                        <a:buNone/>
                      </a:pPr>
                      <a:r>
                        <a:rPr lang="en-US" sz="1289" dirty="0">
                          <a:solidFill>
                            <a:srgbClr val="2E7D52"/>
                          </a:solidFill>
                          <a:latin typeface="IBM Plex Sans" pitchFamily="34" charset="0"/>
                          <a:ea typeface="IBM Plex Sans" pitchFamily="34" charset="-122"/>
                          <a:cs typeface="IBM Plex Sans" pitchFamily="34" charset="-120"/>
                        </a:rPr>
                        <a:t>100,00 %</a:t>
                      </a:r>
                      <a:endParaRPr lang="en-US" sz="1289" dirty="0">
                        <a:latin typeface="IBM Plex Sans" charset="0"/>
                        <a:ea typeface="IBM Plex Sans" charset="0"/>
                        <a:cs typeface="IBM Plex Sans" charset="0"/>
                      </a:endParaRPr>
                    </a:p>
                  </a:txBody>
                  <a:tcPr marL="57299" marR="57299" marT="57299" marB="57299"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c>
                  <a:txBody>
                    <a:bodyPr/>
                    <a:lstStyle/>
                    <a:p>
                      <a:pPr algn="r" indent="0" marL="0">
                        <a:lnSpc>
                          <a:spcPts val="1805"/>
                        </a:lnSpc>
                        <a:buNone/>
                      </a:pPr>
                      <a:r>
                        <a:rPr lang="en-US" sz="1289" dirty="0">
                          <a:solidFill>
                            <a:srgbClr val="14213D"/>
                          </a:solidFill>
                          <a:latin typeface="IBM Plex Sans" pitchFamily="34" charset="0"/>
                          <a:ea typeface="IBM Plex Sans" pitchFamily="34" charset="-122"/>
                          <a:cs typeface="IBM Plex Sans" pitchFamily="34" charset="-120"/>
                        </a:rPr>
                        <a:t>300 / 300</a:t>
                      </a:r>
                      <a:endParaRPr lang="en-US" sz="1289" dirty="0">
                        <a:latin typeface="IBM Plex Sans" charset="0"/>
                        <a:ea typeface="IBM Plex Sans" charset="0"/>
                        <a:cs typeface="IBM Plex Sans" charset="0"/>
                      </a:endParaRPr>
                    </a:p>
                  </a:txBody>
                  <a:tcPr marL="57299" marR="57299" marT="57299" marB="57299"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r>
              <a:tr h="357254">
                <a:tc>
                  <a:txBody>
                    <a:bodyPr/>
                    <a:lstStyle/>
                    <a:p>
                      <a:pPr indent="0" marL="0">
                        <a:lnSpc>
                          <a:spcPts val="1805"/>
                        </a:lnSpc>
                        <a:buNone/>
                      </a:pPr>
                      <a:r>
                        <a:rPr lang="en-US" sz="1289" dirty="0">
                          <a:solidFill>
                            <a:srgbClr val="14213D"/>
                          </a:solidFill>
                          <a:latin typeface="IBM Plex Sans" pitchFamily="34" charset="0"/>
                          <a:ea typeface="IBM Plex Sans" pitchFamily="34" charset="-122"/>
                          <a:cs typeface="IBM Plex Sans" pitchFamily="34" charset="-120"/>
                        </a:rPr>
                        <a:t>deep</a:t>
                      </a:r>
                      <a:endParaRPr lang="en-US" sz="1289" dirty="0">
                        <a:latin typeface="IBM Plex Sans" charset="0"/>
                        <a:ea typeface="IBM Plex Sans" charset="0"/>
                        <a:cs typeface="IBM Plex Sans" charset="0"/>
                      </a:endParaRPr>
                    </a:p>
                  </a:txBody>
                  <a:tcPr marL="57299" marR="57299" marT="57299" marB="57299"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F4F6F9"/>
                    </a:solidFill>
                  </a:tcPr>
                </a:tc>
                <a:tc>
                  <a:txBody>
                    <a:bodyPr/>
                    <a:lstStyle/>
                    <a:p>
                      <a:pPr algn="r" indent="0" marL="0">
                        <a:lnSpc>
                          <a:spcPts val="1805"/>
                        </a:lnSpc>
                        <a:buNone/>
                      </a:pPr>
                      <a:r>
                        <a:rPr lang="en-US" sz="1289" dirty="0">
                          <a:solidFill>
                            <a:srgbClr val="14213D"/>
                          </a:solidFill>
                          <a:latin typeface="IBM Plex Sans" pitchFamily="34" charset="0"/>
                          <a:ea typeface="IBM Plex Sans" pitchFamily="34" charset="-122"/>
                          <a:cs typeface="IBM Plex Sans" pitchFamily="34" charset="-120"/>
                        </a:rPr>
                        <a:t>98,67 %</a:t>
                      </a:r>
                      <a:endParaRPr lang="en-US" sz="1289" dirty="0">
                        <a:latin typeface="IBM Plex Sans" charset="0"/>
                        <a:ea typeface="IBM Plex Sans" charset="0"/>
                        <a:cs typeface="IBM Plex Sans" charset="0"/>
                      </a:endParaRPr>
                    </a:p>
                  </a:txBody>
                  <a:tcPr marL="57299" marR="57299" marT="57299" marB="57299"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F4F6F9"/>
                    </a:solidFill>
                  </a:tcPr>
                </a:tc>
                <a:tc>
                  <a:txBody>
                    <a:bodyPr/>
                    <a:lstStyle/>
                    <a:p>
                      <a:pPr algn="r" indent="0" marL="0">
                        <a:lnSpc>
                          <a:spcPts val="1805"/>
                        </a:lnSpc>
                        <a:buNone/>
                      </a:pPr>
                      <a:r>
                        <a:rPr lang="en-US" sz="1289" dirty="0">
                          <a:solidFill>
                            <a:srgbClr val="2E7D52"/>
                          </a:solidFill>
                          <a:latin typeface="IBM Plex Sans" pitchFamily="34" charset="0"/>
                          <a:ea typeface="IBM Plex Sans" pitchFamily="34" charset="-122"/>
                          <a:cs typeface="IBM Plex Sans" pitchFamily="34" charset="-120"/>
                        </a:rPr>
                        <a:t>100,00 %</a:t>
                      </a:r>
                      <a:endParaRPr lang="en-US" sz="1289" dirty="0">
                        <a:latin typeface="IBM Plex Sans" charset="0"/>
                        <a:ea typeface="IBM Plex Sans" charset="0"/>
                        <a:cs typeface="IBM Plex Sans" charset="0"/>
                      </a:endParaRPr>
                    </a:p>
                  </a:txBody>
                  <a:tcPr marL="57299" marR="57299" marT="57299" marB="57299"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F4F6F9"/>
                    </a:solidFill>
                  </a:tcPr>
                </a:tc>
                <a:tc>
                  <a:txBody>
                    <a:bodyPr/>
                    <a:lstStyle/>
                    <a:p>
                      <a:pPr algn="r" indent="0" marL="0">
                        <a:lnSpc>
                          <a:spcPts val="1805"/>
                        </a:lnSpc>
                        <a:buNone/>
                      </a:pPr>
                      <a:r>
                        <a:rPr lang="en-US" sz="1289" dirty="0">
                          <a:solidFill>
                            <a:srgbClr val="14213D"/>
                          </a:solidFill>
                          <a:latin typeface="IBM Plex Sans" pitchFamily="34" charset="0"/>
                          <a:ea typeface="IBM Plex Sans" pitchFamily="34" charset="-122"/>
                          <a:cs typeface="IBM Plex Sans" pitchFamily="34" charset="-120"/>
                        </a:rPr>
                        <a:t>300 / 300</a:t>
                      </a:r>
                      <a:endParaRPr lang="en-US" sz="1289" dirty="0">
                        <a:latin typeface="IBM Plex Sans" charset="0"/>
                        <a:ea typeface="IBM Plex Sans" charset="0"/>
                        <a:cs typeface="IBM Plex Sans" charset="0"/>
                      </a:endParaRPr>
                    </a:p>
                  </a:txBody>
                  <a:tcPr marL="57299" marR="57299" marT="57299" marB="57299"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F4F6F9"/>
                    </a:solidFill>
                  </a:tcPr>
                </a:tc>
              </a:tr>
              <a:tr h="357320">
                <a:tc>
                  <a:txBody>
                    <a:bodyPr/>
                    <a:lstStyle/>
                    <a:p>
                      <a:pPr indent="0" marL="0">
                        <a:lnSpc>
                          <a:spcPts val="1805"/>
                        </a:lnSpc>
                        <a:buNone/>
                      </a:pPr>
                      <a:r>
                        <a:rPr lang="en-US" sz="1289" dirty="0">
                          <a:solidFill>
                            <a:srgbClr val="14213D"/>
                          </a:solidFill>
                          <a:latin typeface="IBM Plex Sans" pitchFamily="34" charset="0"/>
                          <a:ea typeface="IBM Plex Sans" pitchFamily="34" charset="-122"/>
                          <a:cs typeface="IBM Plex Sans" pitchFamily="34" charset="-120"/>
                        </a:rPr>
                        <a:t>large</a:t>
                      </a:r>
                      <a:endParaRPr lang="en-US" sz="1289" dirty="0">
                        <a:latin typeface="IBM Plex Sans" charset="0"/>
                        <a:ea typeface="IBM Plex Sans" charset="0"/>
                        <a:cs typeface="IBM Plex Sans" charset="0"/>
                      </a:endParaRPr>
                    </a:p>
                  </a:txBody>
                  <a:tcPr marL="57299" marR="57299" marT="57299" marB="57299"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c>
                  <a:txBody>
                    <a:bodyPr/>
                    <a:lstStyle/>
                    <a:p>
                      <a:pPr algn="r" indent="0" marL="0">
                        <a:lnSpc>
                          <a:spcPts val="1805"/>
                        </a:lnSpc>
                        <a:buNone/>
                      </a:pPr>
                      <a:r>
                        <a:rPr lang="en-US" sz="1289" dirty="0">
                          <a:solidFill>
                            <a:srgbClr val="14213D"/>
                          </a:solidFill>
                          <a:latin typeface="IBM Plex Sans" pitchFamily="34" charset="0"/>
                          <a:ea typeface="IBM Plex Sans" pitchFamily="34" charset="-122"/>
                          <a:cs typeface="IBM Plex Sans" pitchFamily="34" charset="-120"/>
                        </a:rPr>
                        <a:t>99,67 %</a:t>
                      </a:r>
                      <a:endParaRPr lang="en-US" sz="1289" dirty="0">
                        <a:latin typeface="IBM Plex Sans" charset="0"/>
                        <a:ea typeface="IBM Plex Sans" charset="0"/>
                        <a:cs typeface="IBM Plex Sans" charset="0"/>
                      </a:endParaRPr>
                    </a:p>
                  </a:txBody>
                  <a:tcPr marL="57299" marR="57299" marT="57299" marB="57299"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c>
                  <a:txBody>
                    <a:bodyPr/>
                    <a:lstStyle/>
                    <a:p>
                      <a:pPr algn="r" indent="0" marL="0">
                        <a:lnSpc>
                          <a:spcPts val="1805"/>
                        </a:lnSpc>
                        <a:buNone/>
                      </a:pPr>
                      <a:r>
                        <a:rPr lang="en-US" sz="1289" dirty="0">
                          <a:solidFill>
                            <a:srgbClr val="2E7D52"/>
                          </a:solidFill>
                          <a:latin typeface="IBM Plex Sans" pitchFamily="34" charset="0"/>
                          <a:ea typeface="IBM Plex Sans" pitchFamily="34" charset="-122"/>
                          <a:cs typeface="IBM Plex Sans" pitchFamily="34" charset="-120"/>
                        </a:rPr>
                        <a:t>100,00 %</a:t>
                      </a:r>
                      <a:endParaRPr lang="en-US" sz="1289" dirty="0">
                        <a:latin typeface="IBM Plex Sans" charset="0"/>
                        <a:ea typeface="IBM Plex Sans" charset="0"/>
                        <a:cs typeface="IBM Plex Sans" charset="0"/>
                      </a:endParaRPr>
                    </a:p>
                  </a:txBody>
                  <a:tcPr marL="57299" marR="57299" marT="57299" marB="57299"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c>
                  <a:txBody>
                    <a:bodyPr/>
                    <a:lstStyle/>
                    <a:p>
                      <a:pPr algn="r" indent="0" marL="0">
                        <a:lnSpc>
                          <a:spcPts val="1805"/>
                        </a:lnSpc>
                        <a:buNone/>
                      </a:pPr>
                      <a:r>
                        <a:rPr lang="en-US" sz="1289" dirty="0">
                          <a:solidFill>
                            <a:srgbClr val="14213D"/>
                          </a:solidFill>
                          <a:latin typeface="IBM Plex Sans" pitchFamily="34" charset="0"/>
                          <a:ea typeface="IBM Plex Sans" pitchFamily="34" charset="-122"/>
                          <a:cs typeface="IBM Plex Sans" pitchFamily="34" charset="-120"/>
                        </a:rPr>
                        <a:t>300 / 300</a:t>
                      </a:r>
                      <a:endParaRPr lang="en-US" sz="1289" dirty="0">
                        <a:latin typeface="IBM Plex Sans" charset="0"/>
                        <a:ea typeface="IBM Plex Sans" charset="0"/>
                        <a:cs typeface="IBM Plex Sans" charset="0"/>
                      </a:endParaRPr>
                    </a:p>
                  </a:txBody>
                  <a:tcPr marL="57299" marR="57299" marT="57299" marB="57299"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r>
            </a:tbl>
          </a:graphicData>
        </a:graphic>
      </p:graphicFrame>
      <p:sp>
        <p:nvSpPr>
          <p:cNvPr id="4" name="Shape 1"/>
          <p:cNvSpPr/>
          <p:nvPr/>
        </p:nvSpPr>
        <p:spPr>
          <a:xfrm>
            <a:off x="812800" y="4705486"/>
            <a:ext cx="5181600" cy="1136518"/>
          </a:xfrm>
          <a:prstGeom prst="roundRect">
            <a:avLst>
              <a:gd name="adj" fmla="val 8940"/>
            </a:avLst>
          </a:prstGeom>
          <a:solidFill>
            <a:srgbClr val="EEF1F5"/>
          </a:solidFill>
          <a:ln/>
        </p:spPr>
      </p:sp>
      <p:sp>
        <p:nvSpPr>
          <p:cNvPr id="5" name="Text 2"/>
          <p:cNvSpPr/>
          <p:nvPr/>
        </p:nvSpPr>
        <p:spPr>
          <a:xfrm>
            <a:off x="1016000" y="4883286"/>
            <a:ext cx="491845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E7D52"/>
                </a:solidFill>
                <a:latin typeface="IBM Plex Sans" pitchFamily="34" charset="0"/>
                <a:ea typeface="IBM Plex Sans" pitchFamily="34" charset="-122"/>
                <a:cs typeface="IBM Plex Sans" pitchFamily="34" charset="-120"/>
              </a:rPr>
              <a:t>La colonna che conta</a:t>
            </a:r>
            <a:endParaRPr lang="en-US" sz="1400" dirty="0"/>
          </a:p>
        </p:txBody>
      </p:sp>
      <p:sp>
        <p:nvSpPr>
          <p:cNvPr id="6" name="Text 3"/>
          <p:cNvSpPr/>
          <p:nvPr/>
        </p:nvSpPr>
        <p:spPr>
          <a:xfrm>
            <a:off x="1016000" y="5147407"/>
            <a:ext cx="4918456" cy="487627"/>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568"/>
                </a:solidFill>
                <a:latin typeface="IBM Plex Sans" pitchFamily="34" charset="0"/>
                <a:ea typeface="IBM Plex Sans" pitchFamily="34" charset="-122"/>
                <a:cs typeface="IBM Plex Sans" pitchFamily="34" charset="-120"/>
              </a:rPr>
              <a:t>2 100 decisioni</a:t>
            </a:r>
            <a:r>
              <a:rPr lang="en-US" sz="1300" dirty="0">
                <a:solidFill>
                  <a:srgbClr val="4A5568"/>
                </a:solidFill>
                <a:latin typeface="IBM Plex Sans" pitchFamily="34" charset="0"/>
                <a:ea typeface="IBM Plex Sans" pitchFamily="34" charset="-122"/>
                <a:cs typeface="IBM Plex Sans" pitchFamily="34" charset="-120"/>
              </a:rPr>
              <a:t> identiche fra il riferimento in Python e il programma nel kernel, su sette modelli e quattro forme diverse.</a:t>
            </a:r>
            <a:endParaRPr lang="en-US" sz="1300" dirty="0"/>
          </a:p>
        </p:txBody>
      </p:sp>
      <p:sp>
        <p:nvSpPr>
          <p:cNvPr id="7" name="Shape 4"/>
          <p:cNvSpPr/>
          <p:nvPr/>
        </p:nvSpPr>
        <p:spPr>
          <a:xfrm>
            <a:off x="6197600" y="4705486"/>
            <a:ext cx="5181600" cy="1136518"/>
          </a:xfrm>
          <a:prstGeom prst="roundRect">
            <a:avLst>
              <a:gd name="adj" fmla="val 8940"/>
            </a:avLst>
          </a:prstGeom>
          <a:solidFill>
            <a:srgbClr val="EEF1F5"/>
          </a:solidFill>
          <a:ln/>
        </p:spPr>
      </p:sp>
      <p:sp>
        <p:nvSpPr>
          <p:cNvPr id="8" name="Text 5"/>
          <p:cNvSpPr/>
          <p:nvPr/>
        </p:nvSpPr>
        <p:spPr>
          <a:xfrm>
            <a:off x="6400800" y="4883286"/>
            <a:ext cx="4918456" cy="197181"/>
          </a:xfrm>
          <a:prstGeom prst="rect">
            <a:avLst/>
          </a:prstGeom>
          <a:noFill/>
          <a:ln/>
        </p:spPr>
        <p:txBody>
          <a:bodyPr wrap="square" lIns="0" tIns="0" rIns="0" bIns="0" rtlCol="0" anchor="t">
            <a:normAutofit/>
          </a:bodyPr>
          <a:lstStyle/>
          <a:p>
            <a:pPr algn="l" indent="0" marL="0">
              <a:lnSpc>
                <a:spcPts val="1370"/>
              </a:lnSpc>
              <a:buNone/>
            </a:pPr>
            <a:r>
              <a:rPr lang="en-US" sz="1142" b="1" dirty="0">
                <a:solidFill>
                  <a:srgbClr val="14213D"/>
                </a:solidFill>
                <a:latin typeface="IBM Plex Sans" pitchFamily="34" charset="0"/>
                <a:ea typeface="IBM Plex Sans" pitchFamily="34" charset="-122"/>
                <a:cs typeface="IBM Plex Sans" pitchFamily="34" charset="-120"/>
              </a:rPr>
              <a:t>La colonna di sinistra</a:t>
            </a:r>
            <a:endParaRPr lang="en-US" sz="1142" dirty="0"/>
          </a:p>
        </p:txBody>
      </p:sp>
      <p:sp>
        <p:nvSpPr>
          <p:cNvPr id="9" name="Text 6"/>
          <p:cNvSpPr/>
          <p:nvPr/>
        </p:nvSpPr>
        <p:spPr>
          <a:xfrm>
            <a:off x="6400800" y="5105871"/>
            <a:ext cx="4918456" cy="583737"/>
          </a:xfrm>
          <a:prstGeom prst="rect">
            <a:avLst/>
          </a:prstGeom>
          <a:noFill/>
          <a:ln/>
        </p:spPr>
        <p:txBody>
          <a:bodyPr wrap="square" lIns="0" tIns="0" rIns="0" bIns="0" rtlCol="0" anchor="t">
            <a:normAutofit/>
          </a:bodyPr>
          <a:lstStyle/>
          <a:p>
            <a:pPr algn="l" indent="0" marL="0">
              <a:lnSpc>
                <a:spcPts val="1621"/>
              </a:lnSpc>
              <a:buNone/>
            </a:pPr>
            <a:r>
              <a:rPr lang="en-US" sz="1158" dirty="0">
                <a:solidFill>
                  <a:srgbClr val="4A5568"/>
                </a:solidFill>
                <a:latin typeface="IBM Plex Sans" pitchFamily="34" charset="0"/>
                <a:ea typeface="IBM Plex Sans" pitchFamily="34" charset="-122"/>
                <a:cs typeface="IBM Plex Sans" pitchFamily="34" charset="-120"/>
              </a:rPr>
              <a:t>Il 97,7–100 % è l’effetto di </a:t>
            </a:r>
            <a:r>
              <a:rPr lang="en-US" sz="1158" b="1" dirty="0">
                <a:solidFill>
                  <a:srgbClr val="4A5568"/>
                </a:solidFill>
                <a:latin typeface="IBM Plex Sans" pitchFamily="34" charset="0"/>
                <a:ea typeface="IBM Plex Sans" pitchFamily="34" charset="-122"/>
                <a:cs typeface="IBM Plex Sans" pitchFamily="34" charset="-120"/>
              </a:rPr>
              <a:t>passare dai numeri con la virgola agli interi</a:t>
            </a:r>
            <a:r>
              <a:rPr lang="en-US" sz="1158" dirty="0">
                <a:solidFill>
                  <a:srgbClr val="4A5568"/>
                </a:solidFill>
                <a:latin typeface="IBM Plex Sans" pitchFamily="34" charset="0"/>
                <a:ea typeface="IBM Plex Sans" pitchFamily="34" charset="-122"/>
                <a:cs typeface="IBM Plex Sans" pitchFamily="34" charset="-120"/>
              </a:rPr>
              <a:t>: dipende dal modello e dalla scala scelta, non è un difetto del codice.</a:t>
            </a:r>
            <a:endParaRPr lang="en-US" sz="1158" dirty="0"/>
          </a:p>
        </p:txBody>
      </p:sp>
      <p:sp>
        <p:nvSpPr>
          <p:cNvPr id="10" name="Text 7"/>
          <p:cNvSpPr/>
          <p:nvPr/>
        </p:nvSpPr>
        <p:spPr>
          <a:xfrm>
            <a:off x="812800" y="6238280"/>
            <a:ext cx="60365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Pipeline P1 · ingressi scelti fra quelli che il programma nel kernel può davvero ricevere</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E8A87C"/>
                </a:solidFill>
                <a:latin typeface="JetBrains Mono" pitchFamily="34" charset="0"/>
                <a:ea typeface="JetBrains Mono" pitchFamily="34" charset="-122"/>
                <a:cs typeface="JetBrains Mono" pitchFamily="34" charset="-120"/>
              </a:rPr>
              <a:t>IL DIFETTO CHE I MODELLI SINTETICI HANNO TROVATO</a:t>
            </a:r>
            <a:endParaRPr lang="en-US" sz="1300" dirty="0"/>
          </a:p>
        </p:txBody>
      </p:sp>
      <p:sp>
        <p:nvSpPr>
          <p:cNvPr id="3" name="Text 1"/>
          <p:cNvSpPr/>
          <p:nvPr/>
        </p:nvSpPr>
        <p:spPr>
          <a:xfrm>
            <a:off x="812800" y="1120118"/>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FBFBF8"/>
                </a:solidFill>
                <a:latin typeface="IBM Plex Sans" pitchFamily="34" charset="0"/>
                <a:ea typeface="IBM Plex Sans" pitchFamily="34" charset="-122"/>
                <a:cs typeface="IBM Plex Sans" pitchFamily="34" charset="-120"/>
              </a:rPr>
              <a:t>La scala era scritta nel sorgente</a:t>
            </a:r>
            <a:endParaRPr lang="en-US" sz="3200" dirty="0"/>
          </a:p>
        </p:txBody>
      </p:sp>
      <p:sp>
        <p:nvSpPr>
          <p:cNvPr id="4" name="Text 2"/>
          <p:cNvSpPr/>
          <p:nvPr/>
        </p:nvSpPr>
        <p:spPr>
          <a:xfrm>
            <a:off x="812800" y="1770335"/>
            <a:ext cx="10203180"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BFD8D5"/>
                </a:solidFill>
                <a:latin typeface="IBM Plex Sans" pitchFamily="34" charset="0"/>
                <a:ea typeface="IBM Plex Sans" pitchFamily="34" charset="-122"/>
                <a:cs typeface="IBM Plex Sans" pitchFamily="34" charset="-120"/>
              </a:rPr>
              <a:t>Tutte e tre le pipeline fissavano </a:t>
            </a:r>
            <a:r>
              <a:rPr lang="en-US" sz="1500" b="1" dirty="0">
                <a:solidFill>
                  <a:srgbClr val="BFD8D5"/>
                </a:solidFill>
                <a:latin typeface="IBM Plex Sans" pitchFamily="34" charset="0"/>
                <a:ea typeface="IBM Plex Sans" pitchFamily="34" charset="-122"/>
                <a:cs typeface="IBM Plex Sans" pitchFamily="34" charset="-120"/>
              </a:rPr>
              <a:t>nel codice</a:t>
            </a:r>
            <a:r>
              <a:rPr lang="en-US" sz="1500" dirty="0">
                <a:solidFill>
                  <a:srgbClr val="BFD8D5"/>
                </a:solidFill>
                <a:latin typeface="IBM Plex Sans" pitchFamily="34" charset="0"/>
                <a:ea typeface="IBM Plex Sans" pitchFamily="34" charset="-122"/>
                <a:cs typeface="IBM Plex Sans" pitchFamily="34" charset="-120"/>
              </a:rPr>
              <a:t> il numero per cui si divide il TTL, e la scheda del modello — che il programma legge mentre gira — non aveva un posto dove scriverlo.</a:t>
            </a:r>
            <a:endParaRPr lang="en-US" sz="1500" dirty="0"/>
          </a:p>
        </p:txBody>
      </p:sp>
      <p:sp>
        <p:nvSpPr>
          <p:cNvPr id="5" name="Shape 3"/>
          <p:cNvSpPr/>
          <p:nvPr/>
        </p:nvSpPr>
        <p:spPr>
          <a:xfrm>
            <a:off x="812800" y="2525985"/>
            <a:ext cx="2508250" cy="1082014"/>
          </a:xfrm>
          <a:prstGeom prst="roundRect">
            <a:avLst>
              <a:gd name="adj" fmla="val 9390"/>
            </a:avLst>
          </a:prstGeom>
          <a:solidFill>
            <a:srgbClr val="1C2C4F"/>
          </a:solidFill>
          <a:ln/>
        </p:spPr>
      </p:sp>
      <p:sp>
        <p:nvSpPr>
          <p:cNvPr id="6" name="Text 4"/>
          <p:cNvSpPr/>
          <p:nvPr/>
        </p:nvSpPr>
        <p:spPr>
          <a:xfrm>
            <a:off x="1003300" y="2703785"/>
            <a:ext cx="2191068" cy="231114"/>
          </a:xfrm>
          <a:prstGeom prst="rect">
            <a:avLst/>
          </a:prstGeom>
          <a:noFill/>
          <a:ln/>
        </p:spPr>
        <p:txBody>
          <a:bodyPr wrap="square" lIns="0" tIns="0" rIns="0" bIns="0" rtlCol="0" anchor="t">
            <a:normAutofit/>
          </a:bodyPr>
          <a:lstStyle/>
          <a:p>
            <a:pPr algn="l" indent="0" marL="0">
              <a:lnSpc>
                <a:spcPts val="1620"/>
              </a:lnSpc>
              <a:buNone/>
            </a:pPr>
            <a:r>
              <a:rPr lang="en-US" sz="1350" b="1" dirty="0">
                <a:solidFill>
                  <a:srgbClr val="E8A87C"/>
                </a:solidFill>
                <a:latin typeface="IBM Plex Sans" pitchFamily="34" charset="0"/>
                <a:ea typeface="IBM Plex Sans" pitchFamily="34" charset="-122"/>
                <a:cs typeface="IBM Plex Sans" pitchFamily="34" charset="-120"/>
              </a:rPr>
              <a:t>P1</a:t>
            </a:r>
            <a:endParaRPr lang="en-US" sz="1350" dirty="0"/>
          </a:p>
        </p:txBody>
      </p:sp>
      <p:sp>
        <p:nvSpPr>
          <p:cNvPr id="7" name="Text 5"/>
          <p:cNvSpPr/>
          <p:nvPr/>
        </p:nvSpPr>
        <p:spPr>
          <a:xfrm>
            <a:off x="1003300" y="2972991"/>
            <a:ext cx="2191068"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FBFBF8"/>
                </a:solidFill>
                <a:latin typeface="JetBrains Mono" pitchFamily="34" charset="0"/>
                <a:ea typeface="JetBrains Mono" pitchFamily="34" charset="-122"/>
                <a:cs typeface="JetBrains Mono" pitchFamily="34" charset="-120"/>
              </a:rPr>
              <a:t>feature_scale(tipo)</a:t>
            </a:r>
            <a:endParaRPr lang="en-US" sz="1200" dirty="0"/>
          </a:p>
          <a:p>
            <a:pPr algn="l" indent="0" marL="0">
              <a:lnSpc>
                <a:spcPts val="1800"/>
              </a:lnSpc>
              <a:buNone/>
            </a:pPr>
            <a:r>
              <a:rPr lang="en-US" sz="1200" dirty="0">
                <a:solidFill>
                  <a:srgbClr val="FBFBF8"/>
                </a:solidFill>
                <a:latin typeface="JetBrains Mono" pitchFamily="34" charset="0"/>
                <a:ea typeface="JetBrains Mono" pitchFamily="34" charset="-122"/>
                <a:cs typeface="JetBrains Mono" pitchFamily="34" charset="-120"/>
              </a:rPr>
              <a:t>→ catalogo, = 30</a:t>
            </a:r>
            <a:endParaRPr lang="en-US" sz="1200" dirty="0"/>
          </a:p>
        </p:txBody>
      </p:sp>
      <p:sp>
        <p:nvSpPr>
          <p:cNvPr id="8" name="Shape 6"/>
          <p:cNvSpPr/>
          <p:nvPr/>
        </p:nvSpPr>
        <p:spPr>
          <a:xfrm>
            <a:off x="3498850" y="2525985"/>
            <a:ext cx="2508250" cy="1082014"/>
          </a:xfrm>
          <a:prstGeom prst="roundRect">
            <a:avLst>
              <a:gd name="adj" fmla="val 9390"/>
            </a:avLst>
          </a:prstGeom>
          <a:solidFill>
            <a:srgbClr val="1C2C4F"/>
          </a:solidFill>
          <a:ln/>
        </p:spPr>
      </p:sp>
      <p:sp>
        <p:nvSpPr>
          <p:cNvPr id="9" name="Text 7"/>
          <p:cNvSpPr/>
          <p:nvPr/>
        </p:nvSpPr>
        <p:spPr>
          <a:xfrm>
            <a:off x="3689350" y="2703785"/>
            <a:ext cx="2191068" cy="231114"/>
          </a:xfrm>
          <a:prstGeom prst="rect">
            <a:avLst/>
          </a:prstGeom>
          <a:noFill/>
          <a:ln/>
        </p:spPr>
        <p:txBody>
          <a:bodyPr wrap="square" lIns="0" tIns="0" rIns="0" bIns="0" rtlCol="0" anchor="t">
            <a:normAutofit/>
          </a:bodyPr>
          <a:lstStyle/>
          <a:p>
            <a:pPr algn="l" indent="0" marL="0">
              <a:lnSpc>
                <a:spcPts val="1620"/>
              </a:lnSpc>
              <a:buNone/>
            </a:pPr>
            <a:r>
              <a:rPr lang="en-US" sz="1350" b="1" dirty="0">
                <a:solidFill>
                  <a:srgbClr val="E8A87C"/>
                </a:solidFill>
                <a:latin typeface="IBM Plex Sans" pitchFamily="34" charset="0"/>
                <a:ea typeface="IBM Plex Sans" pitchFamily="34" charset="-122"/>
                <a:cs typeface="IBM Plex Sans" pitchFamily="34" charset="-120"/>
              </a:rPr>
              <a:t>P2</a:t>
            </a:r>
            <a:endParaRPr lang="en-US" sz="1350" dirty="0"/>
          </a:p>
        </p:txBody>
      </p:sp>
      <p:sp>
        <p:nvSpPr>
          <p:cNvPr id="10" name="Text 8"/>
          <p:cNvSpPr/>
          <p:nvPr/>
        </p:nvSpPr>
        <p:spPr>
          <a:xfrm>
            <a:off x="3689350" y="2972991"/>
            <a:ext cx="2191068"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FBFBF8"/>
                </a:solidFill>
                <a:latin typeface="JetBrains Mono" pitchFamily="34" charset="0"/>
                <a:ea typeface="JetBrains Mono" pitchFamily="34" charset="-122"/>
                <a:cs typeface="JetBrains Mono" pitchFamily="34" charset="-120"/>
              </a:rPr>
              <a:t>#define</a:t>
            </a:r>
            <a:endParaRPr lang="en-US" sz="1200" dirty="0"/>
          </a:p>
          <a:p>
            <a:pPr algn="l" indent="0" marL="0">
              <a:lnSpc>
                <a:spcPts val="1800"/>
              </a:lnSpc>
              <a:buNone/>
            </a:pPr>
            <a:r>
              <a:rPr lang="en-US" sz="1200" dirty="0">
                <a:solidFill>
                  <a:srgbClr val="FBFBF8"/>
                </a:solidFill>
                <a:latin typeface="JetBrains Mono" pitchFamily="34" charset="0"/>
                <a:ea typeface="JetBrains Mono" pitchFamily="34" charset="-122"/>
                <a:cs typeface="JetBrains Mono" pitchFamily="34" charset="-120"/>
              </a:rPr>
              <a:t>T2_TTL_SCALE 30</a:t>
            </a:r>
            <a:endParaRPr lang="en-US" sz="1200" dirty="0"/>
          </a:p>
        </p:txBody>
      </p:sp>
      <p:sp>
        <p:nvSpPr>
          <p:cNvPr id="11" name="Shape 9"/>
          <p:cNvSpPr/>
          <p:nvPr/>
        </p:nvSpPr>
        <p:spPr>
          <a:xfrm>
            <a:off x="6184900" y="2525985"/>
            <a:ext cx="2508250" cy="1082014"/>
          </a:xfrm>
          <a:prstGeom prst="roundRect">
            <a:avLst>
              <a:gd name="adj" fmla="val 9390"/>
            </a:avLst>
          </a:prstGeom>
          <a:solidFill>
            <a:srgbClr val="1C2C4F"/>
          </a:solidFill>
          <a:ln/>
        </p:spPr>
      </p:sp>
      <p:sp>
        <p:nvSpPr>
          <p:cNvPr id="12" name="Text 10"/>
          <p:cNvSpPr/>
          <p:nvPr/>
        </p:nvSpPr>
        <p:spPr>
          <a:xfrm>
            <a:off x="6375400" y="2703785"/>
            <a:ext cx="2191068" cy="231114"/>
          </a:xfrm>
          <a:prstGeom prst="rect">
            <a:avLst/>
          </a:prstGeom>
          <a:noFill/>
          <a:ln/>
        </p:spPr>
        <p:txBody>
          <a:bodyPr wrap="square" lIns="0" tIns="0" rIns="0" bIns="0" rtlCol="0" anchor="t">
            <a:normAutofit/>
          </a:bodyPr>
          <a:lstStyle/>
          <a:p>
            <a:pPr algn="l" indent="0" marL="0">
              <a:lnSpc>
                <a:spcPts val="1620"/>
              </a:lnSpc>
              <a:buNone/>
            </a:pPr>
            <a:r>
              <a:rPr lang="en-US" sz="1350" b="1" dirty="0">
                <a:solidFill>
                  <a:srgbClr val="E8A87C"/>
                </a:solidFill>
                <a:latin typeface="IBM Plex Sans" pitchFamily="34" charset="0"/>
                <a:ea typeface="IBM Plex Sans" pitchFamily="34" charset="-122"/>
                <a:cs typeface="IBM Plex Sans" pitchFamily="34" charset="-120"/>
              </a:rPr>
              <a:t>P3</a:t>
            </a:r>
            <a:endParaRPr lang="en-US" sz="1350" dirty="0"/>
          </a:p>
        </p:txBody>
      </p:sp>
      <p:sp>
        <p:nvSpPr>
          <p:cNvPr id="13" name="Text 11"/>
          <p:cNvSpPr/>
          <p:nvPr/>
        </p:nvSpPr>
        <p:spPr>
          <a:xfrm>
            <a:off x="6375400" y="2972991"/>
            <a:ext cx="2191068"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FBFBF8"/>
                </a:solidFill>
                <a:latin typeface="JetBrains Mono" pitchFamily="34" charset="0"/>
                <a:ea typeface="JetBrains Mono" pitchFamily="34" charset="-122"/>
                <a:cs typeface="JetBrains Mono" pitchFamily="34" charset="-120"/>
              </a:rPr>
              <a:t>#define</a:t>
            </a:r>
            <a:endParaRPr lang="en-US" sz="1200" dirty="0"/>
          </a:p>
          <a:p>
            <a:pPr algn="l" indent="0" marL="0">
              <a:lnSpc>
                <a:spcPts val="1800"/>
              </a:lnSpc>
              <a:buNone/>
            </a:pPr>
            <a:r>
              <a:rPr lang="en-US" sz="1200" dirty="0">
                <a:solidFill>
                  <a:srgbClr val="FBFBF8"/>
                </a:solidFill>
                <a:latin typeface="JetBrains Mono" pitchFamily="34" charset="0"/>
                <a:ea typeface="JetBrains Mono" pitchFamily="34" charset="-122"/>
                <a:cs typeface="JetBrains Mono" pitchFamily="34" charset="-120"/>
              </a:rPr>
              <a:t>ML_TTL_SCALE 30</a:t>
            </a:r>
            <a:endParaRPr lang="en-US" sz="1200" dirty="0"/>
          </a:p>
        </p:txBody>
      </p:sp>
      <p:sp>
        <p:nvSpPr>
          <p:cNvPr id="14" name="Shape 12"/>
          <p:cNvSpPr/>
          <p:nvPr/>
        </p:nvSpPr>
        <p:spPr>
          <a:xfrm>
            <a:off x="8870950" y="2525985"/>
            <a:ext cx="2508250" cy="1082014"/>
          </a:xfrm>
          <a:prstGeom prst="roundRect">
            <a:avLst>
              <a:gd name="adj" fmla="val 9390"/>
            </a:avLst>
          </a:prstGeom>
          <a:solidFill>
            <a:srgbClr val="4A1D1D"/>
          </a:solidFill>
          <a:ln/>
        </p:spPr>
      </p:sp>
      <p:sp>
        <p:nvSpPr>
          <p:cNvPr id="15" name="Text 13"/>
          <p:cNvSpPr/>
          <p:nvPr/>
        </p:nvSpPr>
        <p:spPr>
          <a:xfrm>
            <a:off x="9061450" y="2703785"/>
            <a:ext cx="2191068" cy="231114"/>
          </a:xfrm>
          <a:prstGeom prst="rect">
            <a:avLst/>
          </a:prstGeom>
          <a:noFill/>
          <a:ln/>
        </p:spPr>
        <p:txBody>
          <a:bodyPr wrap="square" lIns="0" tIns="0" rIns="0" bIns="0" rtlCol="0" anchor="t">
            <a:normAutofit/>
          </a:bodyPr>
          <a:lstStyle/>
          <a:p>
            <a:pPr algn="l" indent="0" marL="0">
              <a:lnSpc>
                <a:spcPts val="1620"/>
              </a:lnSpc>
              <a:buNone/>
            </a:pPr>
            <a:r>
              <a:rPr lang="en-US" sz="1350" b="1" dirty="0">
                <a:solidFill>
                  <a:srgbClr val="F0A0A0"/>
                </a:solidFill>
                <a:latin typeface="IBM Plex Sans" pitchFamily="34" charset="0"/>
                <a:ea typeface="IBM Plex Sans" pitchFamily="34" charset="-122"/>
                <a:cs typeface="IBM Plex Sans" pitchFamily="34" charset="-120"/>
              </a:rPr>
              <a:t>La scheda</a:t>
            </a:r>
            <a:endParaRPr lang="en-US" sz="1350" dirty="0"/>
          </a:p>
        </p:txBody>
      </p:sp>
      <p:sp>
        <p:nvSpPr>
          <p:cNvPr id="16" name="Text 14"/>
          <p:cNvSpPr/>
          <p:nvPr/>
        </p:nvSpPr>
        <p:spPr>
          <a:xfrm>
            <a:off x="9061450" y="2972991"/>
            <a:ext cx="2191068"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FBFBF8"/>
                </a:solidFill>
                <a:latin typeface="JetBrains Mono" pitchFamily="34" charset="0"/>
                <a:ea typeface="JetBrains Mono" pitchFamily="34" charset="-122"/>
                <a:cs typeface="JetBrains Mono" pitchFamily="34" charset="-120"/>
              </a:rPr>
              <a:t>{code, size,</a:t>
            </a:r>
            <a:endParaRPr lang="en-US" sz="1200" dirty="0"/>
          </a:p>
          <a:p>
            <a:pPr algn="l" indent="0" marL="0">
              <a:lnSpc>
                <a:spcPts val="1800"/>
              </a:lnSpc>
              <a:buNone/>
            </a:pPr>
            <a:r>
              <a:rPr lang="en-US" sz="1200" dirty="0">
                <a:solidFill>
                  <a:srgbClr val="FBFBF8"/>
                </a:solidFill>
                <a:latin typeface="JetBrains Mono" pitchFamily="34" charset="0"/>
                <a:ea typeface="JetBrains Mono" pitchFamily="34" charset="-122"/>
                <a:cs typeface="JetBrains Mono" pitchFamily="34" charset="-120"/>
              </a:rPr>
              <a:t>col_off, </a:t>
            </a:r>
            <a:r>
              <a:rPr lang="en-US" sz="1200" b="1" dirty="0">
                <a:solidFill>
                  <a:srgbClr val="FBFBF8"/>
                </a:solidFill>
                <a:latin typeface="JetBrains Mono" pitchFamily="34" charset="0"/>
                <a:ea typeface="JetBrains Mono" pitchFamily="34" charset="-122"/>
                <a:cs typeface="JetBrains Mono" pitchFamily="34" charset="-120"/>
              </a:rPr>
              <a:t>_pad</a:t>
            </a:r>
            <a:r>
              <a:rPr lang="en-US" sz="1200" dirty="0">
                <a:solidFill>
                  <a:srgbClr val="FBFBF8"/>
                </a:solidFill>
                <a:latin typeface="JetBrains Mono" pitchFamily="34" charset="0"/>
                <a:ea typeface="JetBrains Mono" pitchFamily="34" charset="-122"/>
                <a:cs typeface="JetBrains Mono" pitchFamily="34" charset="-120"/>
              </a:rPr>
              <a:t>}</a:t>
            </a:r>
            <a:endParaRPr lang="en-US" sz="1200" dirty="0"/>
          </a:p>
        </p:txBody>
      </p:sp>
      <p:sp>
        <p:nvSpPr>
          <p:cNvPr id="17" name="Shape 15"/>
          <p:cNvSpPr/>
          <p:nvPr/>
        </p:nvSpPr>
        <p:spPr>
          <a:xfrm>
            <a:off x="812800" y="3811191"/>
            <a:ext cx="10566400" cy="1265105"/>
          </a:xfrm>
          <a:prstGeom prst="roundRect">
            <a:avLst>
              <a:gd name="adj" fmla="val 8031"/>
            </a:avLst>
          </a:prstGeom>
          <a:solidFill>
            <a:srgbClr val="1C2C4F"/>
          </a:solidFill>
          <a:ln/>
        </p:spPr>
      </p:sp>
      <p:sp>
        <p:nvSpPr>
          <p:cNvPr id="18" name="Text 16"/>
          <p:cNvSpPr/>
          <p:nvPr/>
        </p:nvSpPr>
        <p:spPr>
          <a:xfrm>
            <a:off x="1041400" y="4014391"/>
            <a:ext cx="10412476" cy="559329"/>
          </a:xfrm>
          <a:prstGeom prst="rect">
            <a:avLst/>
          </a:prstGeom>
          <a:noFill/>
          <a:ln/>
        </p:spPr>
        <p:txBody>
          <a:bodyPr wrap="square" lIns="0" tIns="0" rIns="0" bIns="0" rtlCol="0" anchor="t">
            <a:normAutofit/>
          </a:bodyPr>
          <a:lstStyle/>
          <a:p>
            <a:pPr algn="l" indent="0" marL="0">
              <a:lnSpc>
                <a:spcPts val="2103"/>
              </a:lnSpc>
              <a:buNone/>
            </a:pPr>
            <a:r>
              <a:rPr lang="en-US" sz="1450" dirty="0">
                <a:solidFill>
                  <a:srgbClr val="FBFBF8"/>
                </a:solidFill>
                <a:latin typeface="IBM Plex Sans" pitchFamily="34" charset="0"/>
                <a:ea typeface="IBM Plex Sans" pitchFamily="34" charset="-122"/>
                <a:cs typeface="IBM Plex Sans" pitchFamily="34" charset="-120"/>
              </a:rPr>
              <a:t>Un modello addestrato su </a:t>
            </a:r>
            <a:r>
              <a:rPr lang="en-US" sz="1450" b="1" dirty="0">
                <a:solidFill>
                  <a:srgbClr val="FBFBF8"/>
                </a:solidFill>
                <a:latin typeface="IBM Plex Sans" pitchFamily="34" charset="0"/>
                <a:ea typeface="IBM Plex Sans" pitchFamily="34" charset="-122"/>
                <a:cs typeface="IBM Plex Sans" pitchFamily="34" charset="-120"/>
              </a:rPr>
              <a:t>ttl/16</a:t>
            </a:r>
            <a:r>
              <a:rPr lang="en-US" sz="1450" dirty="0">
                <a:solidFill>
                  <a:srgbClr val="FBFBF8"/>
                </a:solidFill>
                <a:latin typeface="IBM Plex Sans" pitchFamily="34" charset="0"/>
                <a:ea typeface="IBM Plex Sans" pitchFamily="34" charset="-122"/>
                <a:cs typeface="IBM Plex Sans" pitchFamily="34" charset="-120"/>
              </a:rPr>
              <a:t> veniva eseguito con </a:t>
            </a:r>
            <a:r>
              <a:rPr lang="en-US" sz="1450" b="1" dirty="0">
                <a:solidFill>
                  <a:srgbClr val="FBFBF8"/>
                </a:solidFill>
                <a:latin typeface="IBM Plex Sans" pitchFamily="34" charset="0"/>
                <a:ea typeface="IBM Plex Sans" pitchFamily="34" charset="-122"/>
                <a:cs typeface="IBM Plex Sans" pitchFamily="34" charset="-120"/>
              </a:rPr>
              <a:t>ttl/30</a:t>
            </a:r>
            <a:r>
              <a:rPr lang="en-US" sz="1450" dirty="0">
                <a:solidFill>
                  <a:srgbClr val="FBFBF8"/>
                </a:solidFill>
                <a:latin typeface="IBM Plex Sans" pitchFamily="34" charset="0"/>
                <a:ea typeface="IBM Plex Sans" pitchFamily="34" charset="-122"/>
                <a:cs typeface="IBM Plex Sans" pitchFamily="34" charset="-120"/>
              </a:rPr>
              <a:t>. Gli scenari </a:t>
            </a:r>
            <a:r>
              <a:rPr lang="en-US" sz="1450" dirty="0">
                <a:solidFill>
                  <a:srgbClr val="E8A87C"/>
                </a:solidFill>
                <a:latin typeface="IBM Plex Sans" pitchFamily="34" charset="0"/>
                <a:ea typeface="IBM Plex Sans" pitchFamily="34" charset="-122"/>
                <a:cs typeface="IBM Plex Sans" pitchFamily="34" charset="-120"/>
              </a:rPr>
              <a:t>small</a:t>
            </a:r>
            <a:r>
              <a:rPr lang="en-US" sz="1450" dirty="0">
                <a:solidFill>
                  <a:srgbClr val="FBFBF8"/>
                </a:solidFill>
                <a:latin typeface="IBM Plex Sans" pitchFamily="34" charset="0"/>
                <a:ea typeface="IBM Plex Sans" pitchFamily="34" charset="-122"/>
                <a:cs typeface="IBM Plex Sans" pitchFamily="34" charset="-120"/>
              </a:rPr>
              <a:t> (16), </a:t>
            </a:r>
            <a:r>
              <a:rPr lang="en-US" sz="1450" dirty="0">
                <a:solidFill>
                  <a:srgbClr val="E8A87C"/>
                </a:solidFill>
                <a:latin typeface="IBM Plex Sans" pitchFamily="34" charset="0"/>
                <a:ea typeface="IBM Plex Sans" pitchFamily="34" charset="-122"/>
                <a:cs typeface="IBM Plex Sans" pitchFamily="34" charset="-120"/>
              </a:rPr>
              <a:t>large</a:t>
            </a:r>
            <a:r>
              <a:rPr lang="en-US" sz="1450" dirty="0">
                <a:solidFill>
                  <a:srgbClr val="FBFBF8"/>
                </a:solidFill>
                <a:latin typeface="IBM Plex Sans" pitchFamily="34" charset="0"/>
                <a:ea typeface="IBM Plex Sans" pitchFamily="34" charset="-122"/>
                <a:cs typeface="IBM Plex Sans" pitchFamily="34" charset="-120"/>
              </a:rPr>
              <a:t> (64) e </a:t>
            </a:r>
            <a:r>
              <a:rPr lang="en-US" sz="1450" dirty="0">
                <a:solidFill>
                  <a:srgbClr val="E8A87C"/>
                </a:solidFill>
                <a:latin typeface="IBM Plex Sans" pitchFamily="34" charset="0"/>
                <a:ea typeface="IBM Plex Sans" pitchFamily="34" charset="-122"/>
                <a:cs typeface="IBM Plex Sans" pitchFamily="34" charset="-120"/>
              </a:rPr>
              <a:t>ones</a:t>
            </a:r>
            <a:r>
              <a:rPr lang="en-US" sz="1450" dirty="0">
                <a:solidFill>
                  <a:srgbClr val="FBFBF8"/>
                </a:solidFill>
                <a:latin typeface="IBM Plex Sans" pitchFamily="34" charset="0"/>
                <a:ea typeface="IBM Plex Sans" pitchFamily="34" charset="-122"/>
                <a:cs typeface="IBM Plex Sans" pitchFamily="34" charset="-120"/>
              </a:rPr>
              <a:t> (8) sono esattamente quei modelli.</a:t>
            </a:r>
            <a:endParaRPr lang="en-US" sz="1450" dirty="0"/>
          </a:p>
        </p:txBody>
      </p:sp>
      <p:sp>
        <p:nvSpPr>
          <p:cNvPr id="19" name="Text 17"/>
          <p:cNvSpPr/>
          <p:nvPr/>
        </p:nvSpPr>
        <p:spPr>
          <a:xfrm>
            <a:off x="1041400" y="4624524"/>
            <a:ext cx="10412476" cy="273976"/>
          </a:xfrm>
          <a:prstGeom prst="rect">
            <a:avLst/>
          </a:prstGeom>
          <a:noFill/>
          <a:ln/>
        </p:spPr>
        <p:txBody>
          <a:bodyPr wrap="square" lIns="0" tIns="0" rIns="0" bIns="0" rtlCol="0" anchor="t">
            <a:normAutofit/>
          </a:bodyPr>
          <a:lstStyle/>
          <a:p>
            <a:pPr algn="l" indent="0" marL="0">
              <a:lnSpc>
                <a:spcPts val="1958"/>
              </a:lnSpc>
              <a:buNone/>
            </a:pPr>
            <a:r>
              <a:rPr lang="en-US" sz="1350" dirty="0">
                <a:solidFill>
                  <a:srgbClr val="BFD8D5"/>
                </a:solidFill>
                <a:latin typeface="IBM Plex Sans" pitchFamily="34" charset="0"/>
                <a:ea typeface="IBM Plex Sans" pitchFamily="34" charset="-122"/>
                <a:cs typeface="IBM Plex Sans" pitchFamily="34" charset="-120"/>
              </a:rPr>
              <a:t>Sul modello di riferimento, che usa proprio 30, il difetto è </a:t>
            </a:r>
            <a:r>
              <a:rPr lang="en-US" sz="1350" b="1" dirty="0">
                <a:solidFill>
                  <a:srgbClr val="BFD8D5"/>
                </a:solidFill>
                <a:latin typeface="IBM Plex Sans" pitchFamily="34" charset="0"/>
                <a:ea typeface="IBM Plex Sans" pitchFamily="34" charset="-122"/>
                <a:cs typeface="IBM Plex Sans" pitchFamily="34" charset="-120"/>
              </a:rPr>
              <a:t>invisibile</a:t>
            </a:r>
            <a:r>
              <a:rPr lang="en-US" sz="1350" dirty="0">
                <a:solidFill>
                  <a:srgbClr val="BFD8D5"/>
                </a:solidFill>
                <a:latin typeface="IBM Plex Sans" pitchFamily="34" charset="0"/>
                <a:ea typeface="IBM Plex Sans" pitchFamily="34" charset="-122"/>
                <a:cs typeface="IBM Plex Sans" pitchFamily="34" charset="-120"/>
              </a:rPr>
              <a:t>. &amp;Egrave; il motivo per cui i modelli inventati esistono.</a:t>
            </a:r>
            <a:endParaRPr lang="en-US" sz="1350" dirty="0"/>
          </a:p>
        </p:txBody>
      </p:sp>
      <p:sp>
        <p:nvSpPr>
          <p:cNvPr id="20" name="Text 18"/>
          <p:cNvSpPr/>
          <p:nvPr/>
        </p:nvSpPr>
        <p:spPr>
          <a:xfrm>
            <a:off x="812800" y="6238280"/>
            <a:ext cx="636009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F"/>
                </a:solidFill>
                <a:latin typeface="IBM Plex Sans" pitchFamily="34" charset="0"/>
                <a:ea typeface="IBM Plex Sans" pitchFamily="34" charset="-122"/>
                <a:cs typeface="IBM Plex Sans" pitchFamily="34" charset="-120"/>
              </a:rPr>
              <a:t>P2 e P3 erano davvero generiche su forma, numero di ingressi e posizioni — non sulla scala</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381794"/>
          </a:xfrm>
          <a:prstGeom prst="rect">
            <a:avLst/>
          </a:prstGeom>
          <a:noFill/>
          <a:ln/>
        </p:spPr>
        <p:txBody>
          <a:bodyPr wrap="square" lIns="0" tIns="0" rIns="0" bIns="0" rtlCol="0" anchor="t">
            <a:normAutofit/>
          </a:bodyPr>
          <a:lstStyle/>
          <a:p>
            <a:pPr algn="l" indent="0" marL="0">
              <a:lnSpc>
                <a:spcPts val="2815"/>
              </a:lnSpc>
              <a:buNone/>
            </a:pPr>
            <a:r>
              <a:rPr lang="en-US" sz="2559" b="1" dirty="0">
                <a:solidFill>
                  <a:srgbClr val="14213D"/>
                </a:solidFill>
                <a:latin typeface="IBM Plex Sans" pitchFamily="34" charset="0"/>
                <a:ea typeface="IBM Plex Sans" pitchFamily="34" charset="-122"/>
                <a:cs typeface="IBM Plex Sans" pitchFamily="34" charset="-120"/>
              </a:rPr>
              <a:t>La correzione, e che cosa è costata</a:t>
            </a:r>
            <a:endParaRPr lang="en-US" sz="2559" dirty="0"/>
          </a:p>
        </p:txBody>
      </p:sp>
      <p:sp>
        <p:nvSpPr>
          <p:cNvPr id="3" name="Shape 1"/>
          <p:cNvSpPr/>
          <p:nvPr/>
        </p:nvSpPr>
        <p:spPr>
          <a:xfrm>
            <a:off x="812800" y="1321594"/>
            <a:ext cx="5194300" cy="2371923"/>
          </a:xfrm>
          <a:prstGeom prst="roundRect">
            <a:avLst>
              <a:gd name="adj" fmla="val 4283"/>
            </a:avLst>
          </a:prstGeom>
          <a:solidFill>
            <a:srgbClr val="EEF1F5"/>
          </a:solidFill>
          <a:ln/>
        </p:spPr>
      </p:sp>
      <p:sp>
        <p:nvSpPr>
          <p:cNvPr id="4" name="Text 2"/>
          <p:cNvSpPr/>
          <p:nvPr/>
        </p:nvSpPr>
        <p:spPr>
          <a:xfrm>
            <a:off x="1003300" y="1486694"/>
            <a:ext cx="4957699" cy="246327"/>
          </a:xfrm>
          <a:prstGeom prst="rect">
            <a:avLst/>
          </a:prstGeom>
          <a:noFill/>
          <a:ln/>
        </p:spPr>
        <p:txBody>
          <a:bodyPr wrap="square" lIns="0" tIns="0" rIns="0" bIns="0" rtlCol="0" anchor="t">
            <a:normAutofit/>
          </a:bodyPr>
          <a:lstStyle/>
          <a:p>
            <a:pPr algn="l" indent="0" marL="0">
              <a:lnSpc>
                <a:spcPts val="1740"/>
              </a:lnSpc>
              <a:buNone/>
            </a:pPr>
            <a:r>
              <a:rPr lang="en-US" sz="1450" b="1" dirty="0">
                <a:solidFill>
                  <a:srgbClr val="14213D"/>
                </a:solidFill>
                <a:latin typeface="IBM Plex Sans" pitchFamily="34" charset="0"/>
                <a:ea typeface="IBM Plex Sans" pitchFamily="34" charset="-122"/>
                <a:cs typeface="IBM Plex Sans" pitchFamily="34" charset="-120"/>
              </a:rPr>
              <a:t>La scala viaggia nella scheda</a:t>
            </a:r>
            <a:endParaRPr lang="en-US" sz="1450" dirty="0"/>
          </a:p>
        </p:txBody>
      </p:sp>
      <p:sp>
        <p:nvSpPr>
          <p:cNvPr id="5" name="Text 3"/>
          <p:cNvSpPr/>
          <p:nvPr/>
        </p:nvSpPr>
        <p:spPr>
          <a:xfrm>
            <a:off x="1003300" y="1771129"/>
            <a:ext cx="4957699" cy="9398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4213D"/>
                </a:solidFill>
                <a:latin typeface="JetBrains Mono" pitchFamily="34" charset="0"/>
                <a:ea typeface="JetBrains Mono" pitchFamily="34" charset="-122"/>
                <a:cs typeface="JetBrains Mono" pitchFamily="34" charset="-120"/>
              </a:rPr>
              <a:t>struct feat_ent {</a:t>
            </a:r>
            <a:endParaRPr lang="en-US" sz="1200" dirty="0"/>
          </a:p>
          <a:p>
            <a:pPr algn="l" indent="0" marL="0">
              <a:lnSpc>
                <a:spcPts val="1800"/>
              </a:lnSpc>
              <a:buNone/>
            </a:pPr>
            <a:r>
              <a:rPr lang="en-US" sz="1200" dirty="0">
                <a:solidFill>
                  <a:srgbClr val="14213D"/>
                </a:solidFill>
                <a:latin typeface="JetBrains Mono" pitchFamily="34" charset="0"/>
                <a:ea typeface="JetBrains Mono" pitchFamily="34" charset="-122"/>
                <a:cs typeface="JetBrains Mono" pitchFamily="34" charset="-120"/>
              </a:rPr>
              <a:t>  __u8 code, size, col_off,</a:t>
            </a:r>
            <a:endParaRPr lang="en-US" sz="1200" dirty="0"/>
          </a:p>
          <a:p>
            <a:pPr algn="l" indent="0" marL="0">
              <a:lnSpc>
                <a:spcPts val="1800"/>
              </a:lnSpc>
              <a:buNone/>
            </a:pPr>
            <a:r>
              <a:rPr lang="en-US" sz="1200" dirty="0">
                <a:solidFill>
                  <a:srgbClr val="14213D"/>
                </a:solidFill>
                <a:latin typeface="JetBrains Mono" pitchFamily="34" charset="0"/>
                <a:ea typeface="JetBrains Mono" pitchFamily="34" charset="-122"/>
                <a:cs typeface="JetBrains Mono" pitchFamily="34" charset="-120"/>
              </a:rPr>
              <a:t> </a:t>
            </a:r>
            <a:r>
              <a:rPr lang="en-US" sz="1200" b="1" dirty="0">
                <a:solidFill>
                  <a:srgbClr val="14213D"/>
                </a:solidFill>
                <a:latin typeface="JetBrains Mono" pitchFamily="34" charset="0"/>
                <a:ea typeface="JetBrains Mono" pitchFamily="34" charset="-122"/>
                <a:cs typeface="JetBrains Mono" pitchFamily="34" charset="-120"/>
              </a:rPr>
              <a:t> __u8 scale;</a:t>
            </a:r>
            <a:r>
              <a:rPr lang="en-US" sz="1200" dirty="0">
                <a:solidFill>
                  <a:srgbClr val="14213D"/>
                </a:solidFill>
                <a:latin typeface="JetBrains Mono" pitchFamily="34" charset="0"/>
                <a:ea typeface="JetBrains Mono" pitchFamily="34" charset="-122"/>
                <a:cs typeface="JetBrains Mono" pitchFamily="34" charset="-120"/>
              </a:rPr>
              <a:t> /* era _pad */</a:t>
            </a:r>
            <a:endParaRPr lang="en-US" sz="1200" dirty="0"/>
          </a:p>
          <a:p>
            <a:pPr algn="l" indent="0" marL="0">
              <a:lnSpc>
                <a:spcPts val="1800"/>
              </a:lnSpc>
              <a:buNone/>
            </a:pPr>
            <a:r>
              <a:rPr lang="en-US" sz="1200" dirty="0">
                <a:solidFill>
                  <a:srgbClr val="14213D"/>
                </a:solidFill>
                <a:latin typeface="JetBrains Mono" pitchFamily="34" charset="0"/>
                <a:ea typeface="JetBrains Mono" pitchFamily="34" charset="-122"/>
                <a:cs typeface="JetBrains Mono" pitchFamily="34" charset="-120"/>
              </a:rPr>
              <a:t>}</a:t>
            </a:r>
            <a:endParaRPr lang="en-US" sz="1200" dirty="0"/>
          </a:p>
        </p:txBody>
      </p:sp>
      <p:sp>
        <p:nvSpPr>
          <p:cNvPr id="6" name="Text 4"/>
          <p:cNvSpPr/>
          <p:nvPr/>
        </p:nvSpPr>
        <p:spPr>
          <a:xfrm>
            <a:off x="1003300" y="2749029"/>
            <a:ext cx="4957699" cy="668338"/>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4A5568"/>
                </a:solidFill>
                <a:latin typeface="IBM Plex Sans" pitchFamily="34" charset="0"/>
                <a:ea typeface="IBM Plex Sans" pitchFamily="34" charset="-122"/>
                <a:cs typeface="IBM Plex Sans" pitchFamily="34" charset="-120"/>
              </a:rPr>
              <a:t>Lo spazio c’era già, inutilizzato: niente cambia di posto. Con </a:t>
            </a:r>
            <a:r>
              <a:rPr lang="en-US" sz="1250" b="1" dirty="0">
                <a:solidFill>
                  <a:srgbClr val="4A5568"/>
                </a:solidFill>
                <a:latin typeface="IBM Plex Sans" pitchFamily="34" charset="0"/>
                <a:ea typeface="IBM Plex Sans" pitchFamily="34" charset="-122"/>
                <a:cs typeface="IBM Plex Sans" pitchFamily="34" charset="-120"/>
              </a:rPr>
              <a:t>0</a:t>
            </a:r>
            <a:r>
              <a:rPr lang="en-US" sz="1250" dirty="0">
                <a:solidFill>
                  <a:srgbClr val="4A5568"/>
                </a:solidFill>
                <a:latin typeface="IBM Plex Sans" pitchFamily="34" charset="0"/>
                <a:ea typeface="IBM Plex Sans" pitchFamily="34" charset="-122"/>
                <a:cs typeface="IBM Plex Sans" pitchFamily="34" charset="-120"/>
              </a:rPr>
              <a:t> si torna al valore di prima, quindi le schede vecchie continuano a funzionare.</a:t>
            </a:r>
            <a:endParaRPr lang="en-US" sz="1250" dirty="0"/>
          </a:p>
        </p:txBody>
      </p:sp>
      <p:sp>
        <p:nvSpPr>
          <p:cNvPr id="7" name="Shape 5"/>
          <p:cNvSpPr/>
          <p:nvPr/>
        </p:nvSpPr>
        <p:spPr>
          <a:xfrm>
            <a:off x="6184900" y="1321594"/>
            <a:ext cx="5194300" cy="2371923"/>
          </a:xfrm>
          <a:prstGeom prst="roundRect">
            <a:avLst>
              <a:gd name="adj" fmla="val 4283"/>
            </a:avLst>
          </a:prstGeom>
          <a:solidFill>
            <a:srgbClr val="EEF1F5"/>
          </a:solidFill>
          <a:ln/>
        </p:spPr>
      </p:sp>
      <p:sp>
        <p:nvSpPr>
          <p:cNvPr id="8" name="Text 6"/>
          <p:cNvSpPr/>
          <p:nvPr/>
        </p:nvSpPr>
        <p:spPr>
          <a:xfrm>
            <a:off x="6375400" y="1486694"/>
            <a:ext cx="2859834" cy="205647"/>
          </a:xfrm>
          <a:prstGeom prst="rect">
            <a:avLst/>
          </a:prstGeom>
          <a:noFill/>
          <a:ln/>
        </p:spPr>
        <p:txBody>
          <a:bodyPr wrap="square" lIns="0" tIns="0" rIns="0" bIns="0" rtlCol="0" anchor="t">
            <a:normAutofit/>
          </a:bodyPr>
          <a:lstStyle/>
          <a:p>
            <a:pPr algn="l" indent="0" marL="0">
              <a:lnSpc>
                <a:spcPts val="1425"/>
              </a:lnSpc>
              <a:buNone/>
            </a:pPr>
            <a:r>
              <a:rPr lang="en-US" sz="1187" b="1" dirty="0">
                <a:solidFill>
                  <a:srgbClr val="14213D"/>
                </a:solidFill>
                <a:latin typeface="IBM Plex Sans" pitchFamily="34" charset="0"/>
                <a:ea typeface="IBM Plex Sans" pitchFamily="34" charset="-122"/>
                <a:cs typeface="IBM Plex Sans" pitchFamily="34" charset="-120"/>
              </a:rPr>
              <a:t>Un effetto che il compilatore ha fermato</a:t>
            </a:r>
            <a:endParaRPr lang="en-US" sz="1187" dirty="0"/>
          </a:p>
        </p:txBody>
      </p:sp>
      <p:sp>
        <p:nvSpPr>
          <p:cNvPr id="9" name="Text 7"/>
          <p:cNvSpPr/>
          <p:nvPr/>
        </p:nvSpPr>
        <p:spPr>
          <a:xfrm>
            <a:off x="6375400" y="1730449"/>
            <a:ext cx="4957699" cy="550003"/>
          </a:xfrm>
          <a:prstGeom prst="rect">
            <a:avLst/>
          </a:prstGeom>
          <a:noFill/>
          <a:ln/>
        </p:spPr>
        <p:txBody>
          <a:bodyPr wrap="square" lIns="0" tIns="0" rIns="0" bIns="0" rtlCol="0" anchor="t">
            <a:normAutofit/>
          </a:bodyPr>
          <a:lstStyle/>
          <a:p>
            <a:pPr algn="l" indent="0" marL="0">
              <a:lnSpc>
                <a:spcPts val="1387"/>
              </a:lnSpc>
              <a:buNone/>
            </a:pPr>
            <a:r>
              <a:rPr lang="en-US" sz="1027" dirty="0">
                <a:solidFill>
                  <a:srgbClr val="4A5568"/>
                </a:solidFill>
                <a:latin typeface="IBM Plex Sans" pitchFamily="34" charset="0"/>
                <a:ea typeface="IBM Plex Sans" pitchFamily="34" charset="-122"/>
                <a:cs typeface="IBM Plex Sans" pitchFamily="34" charset="-120"/>
              </a:rPr>
              <a:t>Finché il numero era fisso, il compilatore la divisione la faceva sparire. Diventato variabile, la divisione c’è davvero — e nel kernel </a:t>
            </a:r>
            <a:r>
              <a:rPr lang="en-US" sz="1027" b="1" dirty="0">
                <a:solidFill>
                  <a:srgbClr val="4A5568"/>
                </a:solidFill>
                <a:latin typeface="IBM Plex Sans" pitchFamily="34" charset="0"/>
                <a:ea typeface="IBM Plex Sans" pitchFamily="34" charset="-122"/>
                <a:cs typeface="IBM Plex Sans" pitchFamily="34" charset="-120"/>
              </a:rPr>
              <a:t>non esiste la divisione fra numeri con segno</a:t>
            </a:r>
            <a:r>
              <a:rPr lang="en-US" sz="1027" dirty="0">
                <a:solidFill>
                  <a:srgbClr val="4A5568"/>
                </a:solidFill>
                <a:latin typeface="IBM Plex Sans" pitchFamily="34" charset="0"/>
                <a:ea typeface="IBM Plex Sans" pitchFamily="34" charset="-122"/>
                <a:cs typeface="IBM Plex Sans" pitchFamily="34" charset="-120"/>
              </a:rPr>
              <a:t>.</a:t>
            </a:r>
            <a:endParaRPr lang="en-US" sz="1027" dirty="0"/>
          </a:p>
        </p:txBody>
      </p:sp>
      <p:pic>
        <p:nvPicPr>
          <p:cNvPr id="10" name="Image 0" descr="q uguale il segno di p moltiplicato per la parte intera inferiore del valore assoluto di p diviso d">    </p:cNvPr>
          <p:cNvPicPr>
            <a:picLocks noChangeAspect="1"/>
          </p:cNvPicPr>
          <p:nvPr/>
        </p:nvPicPr>
        <p:blipFill>
          <a:blip r:embed="rId1"/>
          <a:srcRect l="-11277" r="-11277" t="0" b="0"/>
          <a:stretch/>
        </p:blipFill>
        <p:spPr>
          <a:xfrm>
            <a:off x="7004050" y="2318544"/>
            <a:ext cx="3556000" cy="621771"/>
          </a:xfrm>
          <a:prstGeom prst="rect">
            <a:avLst/>
          </a:prstGeom>
        </p:spPr>
      </p:pic>
      <p:sp>
        <p:nvSpPr>
          <p:cNvPr id="11" name="Text 8"/>
          <p:cNvSpPr/>
          <p:nvPr/>
        </p:nvSpPr>
        <p:spPr>
          <a:xfrm>
            <a:off x="6375400" y="3003823"/>
            <a:ext cx="4957699" cy="550003"/>
          </a:xfrm>
          <a:prstGeom prst="rect">
            <a:avLst/>
          </a:prstGeom>
          <a:noFill/>
          <a:ln/>
        </p:spPr>
        <p:txBody>
          <a:bodyPr wrap="square" lIns="0" tIns="0" rIns="0" bIns="0" rtlCol="0" anchor="t">
            <a:normAutofit/>
          </a:bodyPr>
          <a:lstStyle/>
          <a:p>
            <a:pPr algn="l" indent="0" marL="0">
              <a:lnSpc>
                <a:spcPts val="1561"/>
              </a:lnSpc>
              <a:buNone/>
            </a:pPr>
            <a:r>
              <a:rPr lang="en-US" sz="1156" dirty="0">
                <a:solidFill>
                  <a:srgbClr val="4A5568"/>
                </a:solidFill>
                <a:latin typeface="IBM Plex Sans" pitchFamily="34" charset="0"/>
                <a:ea typeface="IBM Plex Sans" pitchFamily="34" charset="-122"/>
                <a:cs typeface="IBM Plex Sans" pitchFamily="34" charset="-120"/>
              </a:rPr>
              <a:t>Si divide il valore senza segno e il segno si rimette dopo: così si arrotonda sempre verso lo zero, esattamente come fa il riferimento in Python.</a:t>
            </a:r>
            <a:endParaRPr lang="en-US" sz="1156"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812800" y="3845917"/>
          <a:ext cx="10566400" cy="1754783"/>
        </p:xfrm>
        <a:graphic>
          <a:graphicData uri="http://schemas.openxmlformats.org/drawingml/2006/table">
            <a:tbl>
              <a:tblPr/>
              <a:tblGrid>
                <a:gridCol w="3592576"/>
                <a:gridCol w="2324608"/>
                <a:gridCol w="2324608"/>
                <a:gridCol w="2324608"/>
              </a:tblGrid>
              <a:tr h="350904">
                <a:tc>
                  <a:txBody>
                    <a:bodyPr/>
                    <a:lstStyle/>
                    <a:p>
                      <a:pPr indent="0" marL="0">
                        <a:lnSpc>
                          <a:spcPts val="1772"/>
                        </a:lnSpc>
                        <a:buNone/>
                      </a:pPr>
                      <a:r>
                        <a:rPr lang="en-US" sz="1266" b="1" dirty="0">
                          <a:solidFill>
                            <a:srgbClr val="FBFBF8"/>
                          </a:solidFill>
                          <a:latin typeface="IBM Plex Sans" pitchFamily="34" charset="0"/>
                          <a:ea typeface="IBM Plex Sans" pitchFamily="34" charset="-122"/>
                          <a:cs typeface="IBM Plex Sans" pitchFamily="34" charset="-120"/>
                        </a:rPr>
                        <a:t>Pipeline</a:t>
                      </a:r>
                      <a:endParaRPr lang="en-US" sz="1266" dirty="0">
                        <a:latin typeface="IBM Plex Sans" charset="0"/>
                        <a:ea typeface="IBM Plex Sans" charset="0"/>
                        <a:cs typeface="IBM Plex Sans" charset="0"/>
                      </a:endParaRPr>
                    </a:p>
                  </a:txBody>
                  <a:tcPr marL="56257" marR="56257" marT="56257" marB="56257"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14213D"/>
                    </a:solidFill>
                  </a:tcPr>
                </a:tc>
                <a:tc>
                  <a:txBody>
                    <a:bodyPr/>
                    <a:lstStyle/>
                    <a:p>
                      <a:pPr algn="r" indent="0" marL="0">
                        <a:lnSpc>
                          <a:spcPts val="1772"/>
                        </a:lnSpc>
                        <a:buNone/>
                      </a:pPr>
                      <a:r>
                        <a:rPr lang="en-US" sz="1266" b="1" dirty="0">
                          <a:solidFill>
                            <a:srgbClr val="FBFBF8"/>
                          </a:solidFill>
                          <a:latin typeface="IBM Plex Sans" pitchFamily="34" charset="0"/>
                          <a:ea typeface="IBM Plex Sans" pitchFamily="34" charset="-122"/>
                          <a:cs typeface="IBM Plex Sans" pitchFamily="34" charset="-120"/>
                        </a:rPr>
                        <a:t>istruzioni prima</a:t>
                      </a:r>
                      <a:endParaRPr lang="en-US" sz="1266" dirty="0">
                        <a:latin typeface="IBM Plex Sans" charset="0"/>
                        <a:ea typeface="IBM Plex Sans" charset="0"/>
                        <a:cs typeface="IBM Plex Sans" charset="0"/>
                      </a:endParaRPr>
                    </a:p>
                  </a:txBody>
                  <a:tcPr marL="56257" marR="56257" marT="56257" marB="56257"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14213D"/>
                    </a:solidFill>
                  </a:tcPr>
                </a:tc>
                <a:tc>
                  <a:txBody>
                    <a:bodyPr/>
                    <a:lstStyle/>
                    <a:p>
                      <a:pPr algn="r" indent="0" marL="0">
                        <a:lnSpc>
                          <a:spcPts val="1772"/>
                        </a:lnSpc>
                        <a:buNone/>
                      </a:pPr>
                      <a:r>
                        <a:rPr lang="en-US" sz="1266" b="1" dirty="0">
                          <a:solidFill>
                            <a:srgbClr val="FBFBF8"/>
                          </a:solidFill>
                          <a:latin typeface="IBM Plex Sans" pitchFamily="34" charset="0"/>
                          <a:ea typeface="IBM Plex Sans" pitchFamily="34" charset="-122"/>
                          <a:cs typeface="IBM Plex Sans" pitchFamily="34" charset="-120"/>
                        </a:rPr>
                        <a:t>dopo</a:t>
                      </a:r>
                      <a:endParaRPr lang="en-US" sz="1266" dirty="0">
                        <a:latin typeface="IBM Plex Sans" charset="0"/>
                        <a:ea typeface="IBM Plex Sans" charset="0"/>
                        <a:cs typeface="IBM Plex Sans" charset="0"/>
                      </a:endParaRPr>
                    </a:p>
                  </a:txBody>
                  <a:tcPr marL="56257" marR="56257" marT="56257" marB="56257"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14213D"/>
                    </a:solidFill>
                  </a:tcPr>
                </a:tc>
                <a:tc>
                  <a:txBody>
                    <a:bodyPr/>
                    <a:lstStyle/>
                    <a:p>
                      <a:pPr algn="r" indent="0" marL="0">
                        <a:lnSpc>
                          <a:spcPts val="1772"/>
                        </a:lnSpc>
                        <a:buNone/>
                      </a:pPr>
                      <a:r>
                        <a:rPr lang="en-US" sz="1266" b="1" dirty="0">
                          <a:solidFill>
                            <a:srgbClr val="FBFBF8"/>
                          </a:solidFill>
                          <a:latin typeface="IBM Plex Sans" pitchFamily="34" charset="0"/>
                          <a:ea typeface="IBM Plex Sans" pitchFamily="34" charset="-122"/>
                          <a:cs typeface="IBM Plex Sans" pitchFamily="34" charset="-120"/>
                        </a:rPr>
                        <a:t>differenza</a:t>
                      </a:r>
                      <a:endParaRPr lang="en-US" sz="1266" dirty="0">
                        <a:latin typeface="IBM Plex Sans" charset="0"/>
                        <a:ea typeface="IBM Plex Sans" charset="0"/>
                        <a:cs typeface="IBM Plex Sans" charset="0"/>
                      </a:endParaRPr>
                    </a:p>
                  </a:txBody>
                  <a:tcPr marL="56257" marR="56257" marT="56257" marB="56257"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14213D"/>
                    </a:solidFill>
                  </a:tcPr>
                </a:tc>
              </a:tr>
              <a:tr h="350970">
                <a:tc>
                  <a:txBody>
                    <a:bodyPr/>
                    <a:lstStyle/>
                    <a:p>
                      <a:pPr indent="0" marL="0">
                        <a:lnSpc>
                          <a:spcPts val="1772"/>
                        </a:lnSpc>
                        <a:buNone/>
                      </a:pPr>
                      <a:r>
                        <a:rPr lang="en-US" sz="1266" dirty="0">
                          <a:solidFill>
                            <a:srgbClr val="14213D"/>
                          </a:solidFill>
                          <a:latin typeface="IBM Plex Sans" pitchFamily="34" charset="0"/>
                          <a:ea typeface="IBM Plex Sans" pitchFamily="34" charset="-122"/>
                          <a:cs typeface="IBM Plex Sans" pitchFamily="34" charset="-120"/>
                        </a:rPr>
                        <a:t>baseline</a:t>
                      </a:r>
                      <a:endParaRPr lang="en-US" sz="1266" dirty="0">
                        <a:latin typeface="IBM Plex Sans" charset="0"/>
                        <a:ea typeface="IBM Plex Sans" charset="0"/>
                        <a:cs typeface="IBM Plex Sans" charset="0"/>
                      </a:endParaRPr>
                    </a:p>
                  </a:txBody>
                  <a:tcPr marL="56257" marR="56257" marT="56257" marB="56257"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c>
                  <a:txBody>
                    <a:bodyPr/>
                    <a:lstStyle/>
                    <a:p>
                      <a:pPr algn="r" indent="0" marL="0">
                        <a:lnSpc>
                          <a:spcPts val="1772"/>
                        </a:lnSpc>
                        <a:buNone/>
                      </a:pPr>
                      <a:r>
                        <a:rPr lang="en-US" sz="1266" dirty="0">
                          <a:solidFill>
                            <a:srgbClr val="14213D"/>
                          </a:solidFill>
                          <a:latin typeface="IBM Plex Sans" pitchFamily="34" charset="0"/>
                          <a:ea typeface="IBM Plex Sans" pitchFamily="34" charset="-122"/>
                          <a:cs typeface="IBM Plex Sans" pitchFamily="34" charset="-120"/>
                        </a:rPr>
                        <a:t>155</a:t>
                      </a:r>
                      <a:endParaRPr lang="en-US" sz="1266" dirty="0">
                        <a:latin typeface="IBM Plex Sans" charset="0"/>
                        <a:ea typeface="IBM Plex Sans" charset="0"/>
                        <a:cs typeface="IBM Plex Sans" charset="0"/>
                      </a:endParaRPr>
                    </a:p>
                  </a:txBody>
                  <a:tcPr marL="56257" marR="56257" marT="56257" marB="56257"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c>
                  <a:txBody>
                    <a:bodyPr/>
                    <a:lstStyle/>
                    <a:p>
                      <a:pPr algn="r" indent="0" marL="0">
                        <a:lnSpc>
                          <a:spcPts val="1772"/>
                        </a:lnSpc>
                        <a:buNone/>
                      </a:pPr>
                      <a:r>
                        <a:rPr lang="en-US" sz="1266" dirty="0">
                          <a:solidFill>
                            <a:srgbClr val="14213D"/>
                          </a:solidFill>
                          <a:latin typeface="IBM Plex Sans" pitchFamily="34" charset="0"/>
                          <a:ea typeface="IBM Plex Sans" pitchFamily="34" charset="-122"/>
                          <a:cs typeface="IBM Plex Sans" pitchFamily="34" charset="-120"/>
                        </a:rPr>
                        <a:t>155</a:t>
                      </a:r>
                      <a:endParaRPr lang="en-US" sz="1266" dirty="0">
                        <a:latin typeface="IBM Plex Sans" charset="0"/>
                        <a:ea typeface="IBM Plex Sans" charset="0"/>
                        <a:cs typeface="IBM Plex Sans" charset="0"/>
                      </a:endParaRPr>
                    </a:p>
                  </a:txBody>
                  <a:tcPr marL="56257" marR="56257" marT="56257" marB="56257"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c>
                  <a:txBody>
                    <a:bodyPr/>
                    <a:lstStyle/>
                    <a:p>
                      <a:pPr algn="r" indent="0" marL="0">
                        <a:lnSpc>
                          <a:spcPts val="1772"/>
                        </a:lnSpc>
                        <a:buNone/>
                      </a:pPr>
                      <a:r>
                        <a:rPr lang="en-US" sz="1266" dirty="0">
                          <a:solidFill>
                            <a:srgbClr val="2E7D52"/>
                          </a:solidFill>
                          <a:latin typeface="IBM Plex Sans" pitchFamily="34" charset="0"/>
                          <a:ea typeface="IBM Plex Sans" pitchFamily="34" charset="-122"/>
                          <a:cs typeface="IBM Plex Sans" pitchFamily="34" charset="-120"/>
                        </a:rPr>
                        <a:t>invariata</a:t>
                      </a:r>
                      <a:endParaRPr lang="en-US" sz="1266" dirty="0">
                        <a:latin typeface="IBM Plex Sans" charset="0"/>
                        <a:ea typeface="IBM Plex Sans" charset="0"/>
                        <a:cs typeface="IBM Plex Sans" charset="0"/>
                      </a:endParaRPr>
                    </a:p>
                  </a:txBody>
                  <a:tcPr marL="56257" marR="56257" marT="56257" marB="56257"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r>
              <a:tr h="350970">
                <a:tc>
                  <a:txBody>
                    <a:bodyPr/>
                    <a:lstStyle/>
                    <a:p>
                      <a:pPr indent="0" marL="0">
                        <a:lnSpc>
                          <a:spcPts val="1772"/>
                        </a:lnSpc>
                        <a:buNone/>
                      </a:pPr>
                      <a:r>
                        <a:rPr lang="en-US" sz="1266" dirty="0">
                          <a:solidFill>
                            <a:srgbClr val="14213D"/>
                          </a:solidFill>
                          <a:latin typeface="IBM Plex Sans" pitchFamily="34" charset="0"/>
                          <a:ea typeface="IBM Plex Sans" pitchFamily="34" charset="-122"/>
                          <a:cs typeface="IBM Plex Sans" pitchFamily="34" charset="-120"/>
                        </a:rPr>
                        <a:t>P1 hardcoded</a:t>
                      </a:r>
                      <a:endParaRPr lang="en-US" sz="1266" dirty="0">
                        <a:latin typeface="IBM Plex Sans" charset="0"/>
                        <a:ea typeface="IBM Plex Sans" charset="0"/>
                        <a:cs typeface="IBM Plex Sans" charset="0"/>
                      </a:endParaRPr>
                    </a:p>
                  </a:txBody>
                  <a:tcPr marL="56257" marR="56257" marT="56257" marB="56257"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EEF1F5"/>
                    </a:solidFill>
                  </a:tcPr>
                </a:tc>
                <a:tc>
                  <a:txBody>
                    <a:bodyPr/>
                    <a:lstStyle/>
                    <a:p>
                      <a:pPr algn="r" indent="0" marL="0">
                        <a:lnSpc>
                          <a:spcPts val="1772"/>
                        </a:lnSpc>
                        <a:buNone/>
                      </a:pPr>
                      <a:r>
                        <a:rPr lang="en-US" sz="1266" dirty="0">
                          <a:solidFill>
                            <a:srgbClr val="14213D"/>
                          </a:solidFill>
                          <a:latin typeface="IBM Plex Sans" pitchFamily="34" charset="0"/>
                          <a:ea typeface="IBM Plex Sans" pitchFamily="34" charset="-122"/>
                          <a:cs typeface="IBM Plex Sans" pitchFamily="34" charset="-120"/>
                        </a:rPr>
                        <a:t>1 026</a:t>
                      </a:r>
                      <a:endParaRPr lang="en-US" sz="1266" dirty="0">
                        <a:latin typeface="IBM Plex Sans" charset="0"/>
                        <a:ea typeface="IBM Plex Sans" charset="0"/>
                        <a:cs typeface="IBM Plex Sans" charset="0"/>
                      </a:endParaRPr>
                    </a:p>
                  </a:txBody>
                  <a:tcPr marL="56257" marR="56257" marT="56257" marB="56257"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EEF1F5"/>
                    </a:solidFill>
                  </a:tcPr>
                </a:tc>
                <a:tc>
                  <a:txBody>
                    <a:bodyPr/>
                    <a:lstStyle/>
                    <a:p>
                      <a:pPr algn="r" indent="0" marL="0">
                        <a:lnSpc>
                          <a:spcPts val="1772"/>
                        </a:lnSpc>
                        <a:buNone/>
                      </a:pPr>
                      <a:r>
                        <a:rPr lang="en-US" sz="1266" dirty="0">
                          <a:solidFill>
                            <a:srgbClr val="14213D"/>
                          </a:solidFill>
                          <a:latin typeface="IBM Plex Sans" pitchFamily="34" charset="0"/>
                          <a:ea typeface="IBM Plex Sans" pitchFamily="34" charset="-122"/>
                          <a:cs typeface="IBM Plex Sans" pitchFamily="34" charset="-120"/>
                        </a:rPr>
                        <a:t>1 026</a:t>
                      </a:r>
                      <a:endParaRPr lang="en-US" sz="1266" dirty="0">
                        <a:latin typeface="IBM Plex Sans" charset="0"/>
                        <a:ea typeface="IBM Plex Sans" charset="0"/>
                        <a:cs typeface="IBM Plex Sans" charset="0"/>
                      </a:endParaRPr>
                    </a:p>
                  </a:txBody>
                  <a:tcPr marL="56257" marR="56257" marT="56257" marB="56257"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EEF1F5"/>
                    </a:solidFill>
                  </a:tcPr>
                </a:tc>
                <a:tc>
                  <a:txBody>
                    <a:bodyPr/>
                    <a:lstStyle/>
                    <a:p>
                      <a:pPr algn="r" indent="0" marL="0">
                        <a:lnSpc>
                          <a:spcPts val="1772"/>
                        </a:lnSpc>
                        <a:buNone/>
                      </a:pPr>
                      <a:r>
                        <a:rPr lang="en-US" sz="1266" dirty="0">
                          <a:solidFill>
                            <a:srgbClr val="2E7D52"/>
                          </a:solidFill>
                          <a:latin typeface="IBM Plex Sans" pitchFamily="34" charset="0"/>
                          <a:ea typeface="IBM Plex Sans" pitchFamily="34" charset="-122"/>
                          <a:cs typeface="IBM Plex Sans" pitchFamily="34" charset="-120"/>
                        </a:rPr>
                        <a:t>invariata</a:t>
                      </a:r>
                      <a:endParaRPr lang="en-US" sz="1266" dirty="0">
                        <a:latin typeface="IBM Plex Sans" charset="0"/>
                        <a:ea typeface="IBM Plex Sans" charset="0"/>
                        <a:cs typeface="IBM Plex Sans" charset="0"/>
                      </a:endParaRPr>
                    </a:p>
                  </a:txBody>
                  <a:tcPr marL="56257" marR="56257" marT="56257" marB="56257"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EEF1F5"/>
                    </a:solidFill>
                  </a:tcPr>
                </a:tc>
              </a:tr>
              <a:tr h="350970">
                <a:tc>
                  <a:txBody>
                    <a:bodyPr/>
                    <a:lstStyle/>
                    <a:p>
                      <a:pPr indent="0" marL="0">
                        <a:lnSpc>
                          <a:spcPts val="1772"/>
                        </a:lnSpc>
                        <a:buNone/>
                      </a:pPr>
                      <a:r>
                        <a:rPr lang="en-US" sz="1266" dirty="0">
                          <a:solidFill>
                            <a:srgbClr val="14213D"/>
                          </a:solidFill>
                          <a:latin typeface="IBM Plex Sans" pitchFamily="34" charset="0"/>
                          <a:ea typeface="IBM Plex Sans" pitchFamily="34" charset="-122"/>
                          <a:cs typeface="IBM Plex Sans" pitchFamily="34" charset="-120"/>
                        </a:rPr>
                        <a:t>P2 template</a:t>
                      </a:r>
                      <a:endParaRPr lang="en-US" sz="1266" dirty="0">
                        <a:latin typeface="IBM Plex Sans" charset="0"/>
                        <a:ea typeface="IBM Plex Sans" charset="0"/>
                        <a:cs typeface="IBM Plex Sans" charset="0"/>
                      </a:endParaRPr>
                    </a:p>
                  </a:txBody>
                  <a:tcPr marL="56257" marR="56257" marT="56257" marB="56257"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c>
                  <a:txBody>
                    <a:bodyPr/>
                    <a:lstStyle/>
                    <a:p>
                      <a:pPr algn="r" indent="0" marL="0">
                        <a:lnSpc>
                          <a:spcPts val="1772"/>
                        </a:lnSpc>
                        <a:buNone/>
                      </a:pPr>
                      <a:r>
                        <a:rPr lang="en-US" sz="1266" dirty="0">
                          <a:solidFill>
                            <a:srgbClr val="14213D"/>
                          </a:solidFill>
                          <a:latin typeface="IBM Plex Sans" pitchFamily="34" charset="0"/>
                          <a:ea typeface="IBM Plex Sans" pitchFamily="34" charset="-122"/>
                          <a:cs typeface="IBM Plex Sans" pitchFamily="34" charset="-120"/>
                        </a:rPr>
                        <a:t>14 628</a:t>
                      </a:r>
                      <a:endParaRPr lang="en-US" sz="1266" dirty="0">
                        <a:latin typeface="IBM Plex Sans" charset="0"/>
                        <a:ea typeface="IBM Plex Sans" charset="0"/>
                        <a:cs typeface="IBM Plex Sans" charset="0"/>
                      </a:endParaRPr>
                    </a:p>
                  </a:txBody>
                  <a:tcPr marL="56257" marR="56257" marT="56257" marB="56257"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c>
                  <a:txBody>
                    <a:bodyPr/>
                    <a:lstStyle/>
                    <a:p>
                      <a:pPr algn="r" indent="0" marL="0">
                        <a:lnSpc>
                          <a:spcPts val="1772"/>
                        </a:lnSpc>
                        <a:buNone/>
                      </a:pPr>
                      <a:r>
                        <a:rPr lang="en-US" sz="1266" dirty="0">
                          <a:solidFill>
                            <a:srgbClr val="14213D"/>
                          </a:solidFill>
                          <a:latin typeface="IBM Plex Sans" pitchFamily="34" charset="0"/>
                          <a:ea typeface="IBM Plex Sans" pitchFamily="34" charset="-122"/>
                          <a:cs typeface="IBM Plex Sans" pitchFamily="34" charset="-120"/>
                        </a:rPr>
                        <a:t>14 985</a:t>
                      </a:r>
                      <a:endParaRPr lang="en-US" sz="1266" dirty="0">
                        <a:latin typeface="IBM Plex Sans" charset="0"/>
                        <a:ea typeface="IBM Plex Sans" charset="0"/>
                        <a:cs typeface="IBM Plex Sans" charset="0"/>
                      </a:endParaRPr>
                    </a:p>
                  </a:txBody>
                  <a:tcPr marL="56257" marR="56257" marT="56257" marB="56257"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c>
                  <a:txBody>
                    <a:bodyPr/>
                    <a:lstStyle/>
                    <a:p>
                      <a:pPr algn="r" indent="0" marL="0">
                        <a:lnSpc>
                          <a:spcPts val="1772"/>
                        </a:lnSpc>
                        <a:buNone/>
                      </a:pPr>
                      <a:r>
                        <a:rPr lang="en-US" sz="1266" dirty="0">
                          <a:solidFill>
                            <a:srgbClr val="14213D"/>
                          </a:solidFill>
                          <a:latin typeface="IBM Plex Sans" pitchFamily="34" charset="0"/>
                          <a:ea typeface="IBM Plex Sans" pitchFamily="34" charset="-122"/>
                          <a:cs typeface="IBM Plex Sans" pitchFamily="34" charset="-120"/>
                        </a:rPr>
                        <a:t>+357  (+2,4 %)</a:t>
                      </a:r>
                      <a:endParaRPr lang="en-US" sz="1266" dirty="0">
                        <a:latin typeface="IBM Plex Sans" charset="0"/>
                        <a:ea typeface="IBM Plex Sans" charset="0"/>
                        <a:cs typeface="IBM Plex Sans" charset="0"/>
                      </a:endParaRPr>
                    </a:p>
                  </a:txBody>
                  <a:tcPr marL="56257" marR="56257" marT="56257" marB="56257"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r>
              <a:tr h="350970">
                <a:tc>
                  <a:txBody>
                    <a:bodyPr/>
                    <a:lstStyle/>
                    <a:p>
                      <a:pPr indent="0" marL="0">
                        <a:lnSpc>
                          <a:spcPts val="1772"/>
                        </a:lnSpc>
                        <a:buNone/>
                      </a:pPr>
                      <a:r>
                        <a:rPr lang="en-US" sz="1266" dirty="0">
                          <a:solidFill>
                            <a:srgbClr val="14213D"/>
                          </a:solidFill>
                          <a:latin typeface="IBM Plex Sans" pitchFamily="34" charset="0"/>
                          <a:ea typeface="IBM Plex Sans" pitchFamily="34" charset="-122"/>
                          <a:cs typeface="IBM Plex Sans" pitchFamily="34" charset="-120"/>
                        </a:rPr>
                        <a:t>P3 modular</a:t>
                      </a:r>
                      <a:endParaRPr lang="en-US" sz="1266" dirty="0">
                        <a:latin typeface="IBM Plex Sans" charset="0"/>
                        <a:ea typeface="IBM Plex Sans" charset="0"/>
                        <a:cs typeface="IBM Plex Sans" charset="0"/>
                      </a:endParaRPr>
                    </a:p>
                  </a:txBody>
                  <a:tcPr marL="56257" marR="56257" marT="56257" marB="56257"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EEF1F5"/>
                    </a:solidFill>
                  </a:tcPr>
                </a:tc>
                <a:tc>
                  <a:txBody>
                    <a:bodyPr/>
                    <a:lstStyle/>
                    <a:p>
                      <a:pPr algn="r" indent="0" marL="0">
                        <a:lnSpc>
                          <a:spcPts val="1772"/>
                        </a:lnSpc>
                        <a:buNone/>
                      </a:pPr>
                      <a:r>
                        <a:rPr lang="en-US" sz="1266" dirty="0">
                          <a:solidFill>
                            <a:srgbClr val="14213D"/>
                          </a:solidFill>
                          <a:latin typeface="IBM Plex Sans" pitchFamily="34" charset="0"/>
                          <a:ea typeface="IBM Plex Sans" pitchFamily="34" charset="-122"/>
                          <a:cs typeface="IBM Plex Sans" pitchFamily="34" charset="-120"/>
                        </a:rPr>
                        <a:t>12 031</a:t>
                      </a:r>
                      <a:endParaRPr lang="en-US" sz="1266" dirty="0">
                        <a:latin typeface="IBM Plex Sans" charset="0"/>
                        <a:ea typeface="IBM Plex Sans" charset="0"/>
                        <a:cs typeface="IBM Plex Sans" charset="0"/>
                      </a:endParaRPr>
                    </a:p>
                  </a:txBody>
                  <a:tcPr marL="56257" marR="56257" marT="56257" marB="56257"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EEF1F5"/>
                    </a:solidFill>
                  </a:tcPr>
                </a:tc>
                <a:tc>
                  <a:txBody>
                    <a:bodyPr/>
                    <a:lstStyle/>
                    <a:p>
                      <a:pPr algn="r" indent="0" marL="0">
                        <a:lnSpc>
                          <a:spcPts val="1772"/>
                        </a:lnSpc>
                        <a:buNone/>
                      </a:pPr>
                      <a:r>
                        <a:rPr lang="en-US" sz="1266" dirty="0">
                          <a:solidFill>
                            <a:srgbClr val="14213D"/>
                          </a:solidFill>
                          <a:latin typeface="IBM Plex Sans" pitchFamily="34" charset="0"/>
                          <a:ea typeface="IBM Plex Sans" pitchFamily="34" charset="-122"/>
                          <a:cs typeface="IBM Plex Sans" pitchFamily="34" charset="-120"/>
                        </a:rPr>
                        <a:t>12 349</a:t>
                      </a:r>
                      <a:endParaRPr lang="en-US" sz="1266" dirty="0">
                        <a:latin typeface="IBM Plex Sans" charset="0"/>
                        <a:ea typeface="IBM Plex Sans" charset="0"/>
                        <a:cs typeface="IBM Plex Sans" charset="0"/>
                      </a:endParaRPr>
                    </a:p>
                  </a:txBody>
                  <a:tcPr marL="56257" marR="56257" marT="56257" marB="56257"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EEF1F5"/>
                    </a:solidFill>
                  </a:tcPr>
                </a:tc>
                <a:tc>
                  <a:txBody>
                    <a:bodyPr/>
                    <a:lstStyle/>
                    <a:p>
                      <a:pPr algn="r" indent="0" marL="0">
                        <a:lnSpc>
                          <a:spcPts val="1772"/>
                        </a:lnSpc>
                        <a:buNone/>
                      </a:pPr>
                      <a:r>
                        <a:rPr lang="en-US" sz="1266" dirty="0">
                          <a:solidFill>
                            <a:srgbClr val="14213D"/>
                          </a:solidFill>
                          <a:latin typeface="IBM Plex Sans" pitchFamily="34" charset="0"/>
                          <a:ea typeface="IBM Plex Sans" pitchFamily="34" charset="-122"/>
                          <a:cs typeface="IBM Plex Sans" pitchFamily="34" charset="-120"/>
                        </a:rPr>
                        <a:t>+318  (+2,6 %)</a:t>
                      </a:r>
                      <a:endParaRPr lang="en-US" sz="1266" dirty="0">
                        <a:latin typeface="IBM Plex Sans" charset="0"/>
                        <a:ea typeface="IBM Plex Sans" charset="0"/>
                        <a:cs typeface="IBM Plex Sans" charset="0"/>
                      </a:endParaRPr>
                    </a:p>
                  </a:txBody>
                  <a:tcPr marL="56257" marR="56257" marT="56257" marB="56257"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EEF1F5"/>
                    </a:solidFill>
                  </a:tcPr>
                </a:tc>
              </a:tr>
            </a:tbl>
          </a:graphicData>
        </a:graphic>
      </p:graphicFrame>
      <p:sp>
        <p:nvSpPr>
          <p:cNvPr id="13" name="Text 9"/>
          <p:cNvSpPr/>
          <p:nvPr/>
        </p:nvSpPr>
        <p:spPr>
          <a:xfrm>
            <a:off x="812800" y="6238280"/>
            <a:ext cx="81800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Esito funzionale: </a:t>
            </a:r>
            <a:r>
              <a:rPr lang="en-US" sz="1200" b="1" dirty="0">
                <a:solidFill>
                  <a:srgbClr val="6A7179"/>
                </a:solidFill>
                <a:latin typeface="IBM Plex Sans" pitchFamily="34" charset="0"/>
                <a:ea typeface="IBM Plex Sans" pitchFamily="34" charset="-122"/>
                <a:cs typeface="IBM Plex Sans" pitchFamily="34" charset="-120"/>
              </a:rPr>
              <a:t>kernel suite PASS</a:t>
            </a:r>
            <a:r>
              <a:rPr lang="en-US" sz="1200" dirty="0">
                <a:solidFill>
                  <a:srgbClr val="6A7179"/>
                </a:solidFill>
                <a:latin typeface="IBM Plex Sans" pitchFamily="34" charset="0"/>
                <a:ea typeface="IBM Plex Sans" pitchFamily="34" charset="-122"/>
                <a:cs typeface="IBM Plex Sans" pitchFamily="34" charset="-120"/>
              </a:rPr>
              <a:t> — quattro pipeline, TTL, reroute, architetture alternative, due modelli concorrenti</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EEF1F5"/>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C2410C"/>
                </a:solidFill>
                <a:latin typeface="JetBrains Mono" pitchFamily="34" charset="0"/>
                <a:ea typeface="JetBrains Mono" pitchFamily="34" charset="-122"/>
                <a:cs typeface="JetBrains Mono" pitchFamily="34" charset="-120"/>
              </a:rPr>
              <a:t>COME MISURIAMO · IL PROBLEMA DI MISURARE UNA COSA SOLA</a:t>
            </a:r>
            <a:endParaRPr lang="en-US" sz="1300" dirty="0"/>
          </a:p>
        </p:txBody>
      </p:sp>
      <p:sp>
        <p:nvSpPr>
          <p:cNvPr id="3" name="Text 1"/>
          <p:cNvSpPr/>
          <p:nvPr/>
        </p:nvSpPr>
        <p:spPr>
          <a:xfrm>
            <a:off x="812800" y="1107418"/>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213D"/>
                </a:solidFill>
                <a:latin typeface="IBM Plex Sans" pitchFamily="34" charset="0"/>
                <a:ea typeface="IBM Plex Sans" pitchFamily="34" charset="-122"/>
                <a:cs typeface="IBM Plex Sans" pitchFamily="34" charset="-120"/>
              </a:rPr>
              <a:t>Tre banchi, perché le domande sono tre</a:t>
            </a:r>
            <a:endParaRPr lang="en-US" sz="3000" dirty="0"/>
          </a:p>
        </p:txBody>
      </p:sp>
      <p:sp>
        <p:nvSpPr>
          <p:cNvPr id="4" name="Text 2"/>
          <p:cNvSpPr/>
          <p:nvPr/>
        </p:nvSpPr>
        <p:spPr>
          <a:xfrm>
            <a:off x="812800" y="1717018"/>
            <a:ext cx="10595610" cy="7721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«Quanto costa un pacchetto» e «quanti pacchetti al secondo regge il nodo» sembrano la stessa domanda. Non lo sono, e confonderle è l’errore che abbiamo commesso per primo: un banco solo dava un numero solo, e quel numero teneva insieme cose che chiedono rimedi diversi.</a:t>
            </a:r>
            <a:endParaRPr lang="en-US" sz="1400" dirty="0"/>
          </a:p>
        </p:txBody>
      </p:sp>
      <p:sp>
        <p:nvSpPr>
          <p:cNvPr id="5" name="Shape 3"/>
          <p:cNvSpPr/>
          <p:nvPr/>
        </p:nvSpPr>
        <p:spPr>
          <a:xfrm>
            <a:off x="815975" y="2657413"/>
            <a:ext cx="3408495" cy="2295393"/>
          </a:xfrm>
          <a:prstGeom prst="roundRect">
            <a:avLst>
              <a:gd name="adj" fmla="val 4288"/>
            </a:avLst>
          </a:prstGeom>
          <a:solidFill>
            <a:srgbClr val="FBFBF8"/>
          </a:solidFill>
          <a:ln w="6350">
            <a:solidFill>
              <a:srgbClr val="D7DEE7"/>
            </a:solidFill>
            <a:prstDash val="solid"/>
          </a:ln>
        </p:spPr>
      </p:sp>
      <p:sp>
        <p:nvSpPr>
          <p:cNvPr id="6" name="Text 4"/>
          <p:cNvSpPr/>
          <p:nvPr/>
        </p:nvSpPr>
        <p:spPr>
          <a:xfrm>
            <a:off x="994833" y="2836267"/>
            <a:ext cx="3142301" cy="229857"/>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C2410C"/>
                </a:solidFill>
                <a:latin typeface="JetBrains Mono" pitchFamily="34" charset="0"/>
                <a:ea typeface="JetBrains Mono" pitchFamily="34" charset="-122"/>
                <a:cs typeface="JetBrains Mono" pitchFamily="34" charset="-120"/>
              </a:rPr>
              <a:t>test_suite · BPF_PROG_TEST_RUN</a:t>
            </a:r>
            <a:endParaRPr lang="en-US" sz="1150" dirty="0"/>
          </a:p>
        </p:txBody>
      </p:sp>
      <p:sp>
        <p:nvSpPr>
          <p:cNvPr id="7" name="Text 5"/>
          <p:cNvSpPr/>
          <p:nvPr/>
        </p:nvSpPr>
        <p:spPr>
          <a:xfrm>
            <a:off x="994833" y="3116932"/>
            <a:ext cx="314230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Il programma, isolato</a:t>
            </a:r>
            <a:endParaRPr lang="en-US" sz="1500" dirty="0"/>
          </a:p>
        </p:txBody>
      </p:sp>
      <p:sp>
        <p:nvSpPr>
          <p:cNvPr id="8" name="Text 6"/>
          <p:cNvSpPr/>
          <p:nvPr/>
        </p:nvSpPr>
        <p:spPr>
          <a:xfrm>
            <a:off x="994833" y="3421732"/>
            <a:ext cx="3142301" cy="668338"/>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4A5568"/>
                </a:solidFill>
                <a:latin typeface="IBM Plex Sans" pitchFamily="34" charset="0"/>
                <a:ea typeface="IBM Plex Sans" pitchFamily="34" charset="-122"/>
                <a:cs typeface="IBM Plex Sans" pitchFamily="34" charset="-120"/>
              </a:rPr>
              <a:t>Il kernel esegue solo il programma eBPF, in un ciclo. Nessuna scheda, nessuna coda, nessun NAPI.</a:t>
            </a:r>
            <a:endParaRPr lang="en-US" sz="1250" dirty="0"/>
          </a:p>
        </p:txBody>
      </p:sp>
      <p:sp>
        <p:nvSpPr>
          <p:cNvPr id="9" name="Text 7"/>
          <p:cNvSpPr/>
          <p:nvPr/>
        </p:nvSpPr>
        <p:spPr>
          <a:xfrm>
            <a:off x="994833" y="4140870"/>
            <a:ext cx="3142301" cy="454025"/>
          </a:xfrm>
          <a:prstGeom prst="rect">
            <a:avLst/>
          </a:prstGeom>
          <a:noFill/>
          <a:ln/>
        </p:spPr>
        <p:txBody>
          <a:bodyPr wrap="square" lIns="0" tIns="0" rIns="0" bIns="0" rtlCol="0" anchor="t">
            <a:normAutofit/>
          </a:bodyPr>
          <a:lstStyle/>
          <a:p>
            <a:pPr algn="l" indent="0" marL="0">
              <a:lnSpc>
                <a:spcPts val="1688"/>
              </a:lnSpc>
              <a:buNone/>
            </a:pPr>
            <a:r>
              <a:rPr lang="en-US" sz="1250" b="1" dirty="0">
                <a:solidFill>
                  <a:srgbClr val="2E7D52"/>
                </a:solidFill>
                <a:latin typeface="IBM Plex Sans" pitchFamily="34" charset="0"/>
                <a:ea typeface="IBM Plex Sans" pitchFamily="34" charset="-122"/>
                <a:cs typeface="IBM Plex Sans" pitchFamily="34" charset="-120"/>
              </a:rPr>
              <a:t>Risponde:</a:t>
            </a:r>
            <a:r>
              <a:rPr lang="en-US" sz="1250" dirty="0">
                <a:solidFill>
                  <a:srgbClr val="2E7D52"/>
                </a:solidFill>
                <a:latin typeface="IBM Plex Sans" pitchFamily="34" charset="0"/>
                <a:ea typeface="IBM Plex Sans" pitchFamily="34" charset="-122"/>
                <a:cs typeface="IBM Plex Sans" pitchFamily="34" charset="-120"/>
              </a:rPr>
              <a:t> quanto costa l’inferenza nel modo più pulito possibile.</a:t>
            </a:r>
            <a:endParaRPr lang="en-US" sz="1250" dirty="0"/>
          </a:p>
        </p:txBody>
      </p:sp>
      <p:sp>
        <p:nvSpPr>
          <p:cNvPr id="10" name="Shape 8"/>
          <p:cNvSpPr/>
          <p:nvPr/>
        </p:nvSpPr>
        <p:spPr>
          <a:xfrm>
            <a:off x="4392745" y="2654238"/>
            <a:ext cx="3406444" cy="2301743"/>
          </a:xfrm>
          <a:prstGeom prst="roundRect">
            <a:avLst>
              <a:gd name="adj" fmla="val 4414"/>
            </a:avLst>
          </a:prstGeom>
          <a:solidFill>
            <a:srgbClr val="14213D"/>
          </a:solidFill>
          <a:ln/>
        </p:spPr>
      </p:sp>
      <p:sp>
        <p:nvSpPr>
          <p:cNvPr id="11" name="Text 9"/>
          <p:cNvSpPr/>
          <p:nvPr/>
        </p:nvSpPr>
        <p:spPr>
          <a:xfrm>
            <a:off x="4570545" y="2832038"/>
            <a:ext cx="3142370" cy="434314"/>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E8A87C"/>
                </a:solidFill>
                <a:latin typeface="JetBrains Mono" pitchFamily="34" charset="0"/>
                <a:ea typeface="JetBrains Mono" pitchFamily="34" charset="-122"/>
                <a:cs typeface="JetBrains Mono" pitchFamily="34" charset="-120"/>
              </a:rPr>
              <a:t>bench_pacchetti al secondo · --mode rates</a:t>
            </a:r>
            <a:endParaRPr lang="en-US" sz="1150" dirty="0"/>
          </a:p>
        </p:txBody>
      </p:sp>
      <p:sp>
        <p:nvSpPr>
          <p:cNvPr id="12" name="Text 10"/>
          <p:cNvSpPr/>
          <p:nvPr/>
        </p:nvSpPr>
        <p:spPr>
          <a:xfrm>
            <a:off x="4570545" y="3317156"/>
            <a:ext cx="314237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BFBF8"/>
                </a:solidFill>
                <a:latin typeface="IBM Plex Sans" pitchFamily="34" charset="0"/>
                <a:ea typeface="IBM Plex Sans" pitchFamily="34" charset="-122"/>
                <a:cs typeface="IBM Plex Sans" pitchFamily="34" charset="-120"/>
              </a:rPr>
              <a:t>Il percorso vero</a:t>
            </a:r>
            <a:endParaRPr lang="en-US" sz="1500" dirty="0"/>
          </a:p>
        </p:txBody>
      </p:sp>
      <p:sp>
        <p:nvSpPr>
          <p:cNvPr id="13" name="Text 11"/>
          <p:cNvSpPr/>
          <p:nvPr/>
        </p:nvSpPr>
        <p:spPr>
          <a:xfrm>
            <a:off x="4570545" y="3621956"/>
            <a:ext cx="3142370" cy="454025"/>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BFD8D5"/>
                </a:solidFill>
                <a:latin typeface="IBM Plex Sans" pitchFamily="34" charset="0"/>
                <a:ea typeface="IBM Plex Sans" pitchFamily="34" charset="-122"/>
                <a:cs typeface="IBM Plex Sans" pitchFamily="34" charset="-120"/>
              </a:rPr>
              <a:t>pktgen → veth → XDP nativo → inferenza → bpf_redirect → veth → NAPI.</a:t>
            </a:r>
            <a:endParaRPr lang="en-US" sz="1250" dirty="0"/>
          </a:p>
        </p:txBody>
      </p:sp>
      <p:sp>
        <p:nvSpPr>
          <p:cNvPr id="14" name="Text 12"/>
          <p:cNvSpPr/>
          <p:nvPr/>
        </p:nvSpPr>
        <p:spPr>
          <a:xfrm>
            <a:off x="4570545" y="4126781"/>
            <a:ext cx="3142370" cy="454025"/>
          </a:xfrm>
          <a:prstGeom prst="rect">
            <a:avLst/>
          </a:prstGeom>
          <a:noFill/>
          <a:ln/>
        </p:spPr>
        <p:txBody>
          <a:bodyPr wrap="square" lIns="0" tIns="0" rIns="0" bIns="0" rtlCol="0" anchor="t">
            <a:normAutofit/>
          </a:bodyPr>
          <a:lstStyle/>
          <a:p>
            <a:pPr algn="l" indent="0" marL="0">
              <a:lnSpc>
                <a:spcPts val="1688"/>
              </a:lnSpc>
              <a:buNone/>
            </a:pPr>
            <a:r>
              <a:rPr lang="en-US" sz="1250" b="1" dirty="0">
                <a:solidFill>
                  <a:srgbClr val="7FD1A4"/>
                </a:solidFill>
                <a:latin typeface="IBM Plex Sans" pitchFamily="34" charset="0"/>
                <a:ea typeface="IBM Plex Sans" pitchFamily="34" charset="-122"/>
                <a:cs typeface="IBM Plex Sans" pitchFamily="34" charset="-120"/>
              </a:rPr>
              <a:t>Risponde:</a:t>
            </a:r>
            <a:r>
              <a:rPr lang="en-US" sz="1250" dirty="0">
                <a:solidFill>
                  <a:srgbClr val="7FD1A4"/>
                </a:solidFill>
                <a:latin typeface="IBM Plex Sans" pitchFamily="34" charset="0"/>
                <a:ea typeface="IBM Plex Sans" pitchFamily="34" charset="-122"/>
                <a:cs typeface="IBM Plex Sans" pitchFamily="34" charset="-120"/>
              </a:rPr>
              <a:t> quanto costa sotto traffico, e quanto di quel costo è la pipeline.</a:t>
            </a:r>
            <a:endParaRPr lang="en-US" sz="1250" dirty="0"/>
          </a:p>
        </p:txBody>
      </p:sp>
      <p:sp>
        <p:nvSpPr>
          <p:cNvPr id="15" name="Shape 13"/>
          <p:cNvSpPr/>
          <p:nvPr/>
        </p:nvSpPr>
        <p:spPr>
          <a:xfrm>
            <a:off x="7967464" y="2657413"/>
            <a:ext cx="3408561" cy="2295393"/>
          </a:xfrm>
          <a:prstGeom prst="roundRect">
            <a:avLst>
              <a:gd name="adj" fmla="val 4288"/>
            </a:avLst>
          </a:prstGeom>
          <a:solidFill>
            <a:srgbClr val="FBFBF8"/>
          </a:solidFill>
          <a:ln w="6350">
            <a:solidFill>
              <a:srgbClr val="D7DEE7"/>
            </a:solidFill>
            <a:prstDash val="solid"/>
          </a:ln>
        </p:spPr>
      </p:sp>
      <p:sp>
        <p:nvSpPr>
          <p:cNvPr id="16" name="Text 14"/>
          <p:cNvSpPr/>
          <p:nvPr/>
        </p:nvSpPr>
        <p:spPr>
          <a:xfrm>
            <a:off x="8146323" y="2836267"/>
            <a:ext cx="3142370" cy="434314"/>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C2410C"/>
                </a:solidFill>
                <a:latin typeface="JetBrains Mono" pitchFamily="34" charset="0"/>
                <a:ea typeface="JetBrains Mono" pitchFamily="34" charset="-122"/>
                <a:cs typeface="JetBrains Mono" pitchFamily="34" charset="-120"/>
              </a:rPr>
              <a:t>bench_pacchetti al secondo · --mode generator</a:t>
            </a:r>
            <a:endParaRPr lang="en-US" sz="1150" dirty="0"/>
          </a:p>
        </p:txBody>
      </p:sp>
      <p:sp>
        <p:nvSpPr>
          <p:cNvPr id="17" name="Text 15"/>
          <p:cNvSpPr/>
          <p:nvPr/>
        </p:nvSpPr>
        <p:spPr>
          <a:xfrm>
            <a:off x="8146323" y="3321385"/>
            <a:ext cx="314237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Lo stesso, senza pipeline</a:t>
            </a:r>
            <a:endParaRPr lang="en-US" sz="1500" dirty="0"/>
          </a:p>
        </p:txBody>
      </p:sp>
      <p:sp>
        <p:nvSpPr>
          <p:cNvPr id="18" name="Text 16"/>
          <p:cNvSpPr/>
          <p:nvPr/>
        </p:nvSpPr>
        <p:spPr>
          <a:xfrm>
            <a:off x="8146323" y="3626185"/>
            <a:ext cx="3142370" cy="668338"/>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4A5568"/>
                </a:solidFill>
                <a:latin typeface="IBM Plex Sans" pitchFamily="34" charset="0"/>
                <a:ea typeface="IBM Plex Sans" pitchFamily="34" charset="-122"/>
                <a:cs typeface="IBM Plex Sans" pitchFamily="34" charset="-120"/>
              </a:rPr>
              <a:t>Identico percorso, ma al posto dell’inferenza solo un contatore che scarta.</a:t>
            </a:r>
            <a:endParaRPr lang="en-US" sz="1250" dirty="0"/>
          </a:p>
        </p:txBody>
      </p:sp>
      <p:sp>
        <p:nvSpPr>
          <p:cNvPr id="19" name="Text 17"/>
          <p:cNvSpPr/>
          <p:nvPr/>
        </p:nvSpPr>
        <p:spPr>
          <a:xfrm>
            <a:off x="8146323" y="4345322"/>
            <a:ext cx="3142370" cy="454025"/>
          </a:xfrm>
          <a:prstGeom prst="rect">
            <a:avLst/>
          </a:prstGeom>
          <a:noFill/>
          <a:ln/>
        </p:spPr>
        <p:txBody>
          <a:bodyPr wrap="square" lIns="0" tIns="0" rIns="0" bIns="0" rtlCol="0" anchor="t">
            <a:normAutofit/>
          </a:bodyPr>
          <a:lstStyle/>
          <a:p>
            <a:pPr algn="l" indent="0" marL="0">
              <a:lnSpc>
                <a:spcPts val="1688"/>
              </a:lnSpc>
              <a:buNone/>
            </a:pPr>
            <a:r>
              <a:rPr lang="en-US" sz="1250" b="1" dirty="0">
                <a:solidFill>
                  <a:srgbClr val="2E7D52"/>
                </a:solidFill>
                <a:latin typeface="IBM Plex Sans" pitchFamily="34" charset="0"/>
                <a:ea typeface="IBM Plex Sans" pitchFamily="34" charset="-122"/>
                <a:cs typeface="IBM Plex Sans" pitchFamily="34" charset="-120"/>
              </a:rPr>
              <a:t>Risponde:</a:t>
            </a:r>
            <a:r>
              <a:rPr lang="en-US" sz="1250" dirty="0">
                <a:solidFill>
                  <a:srgbClr val="2E7D52"/>
                </a:solidFill>
                <a:latin typeface="IBM Plex Sans" pitchFamily="34" charset="0"/>
                <a:ea typeface="IBM Plex Sans" pitchFamily="34" charset="-122"/>
                <a:cs typeface="IBM Plex Sans" pitchFamily="34" charset="-120"/>
              </a:rPr>
              <a:t> qual è il tetto del banco anche se l’inferenza costasse zero.</a:t>
            </a:r>
            <a:endParaRPr lang="en-US" sz="1250" dirty="0"/>
          </a:p>
        </p:txBody>
      </p:sp>
      <p:sp>
        <p:nvSpPr>
          <p:cNvPr id="20" name="Text 18"/>
          <p:cNvSpPr/>
          <p:nvPr/>
        </p:nvSpPr>
        <p:spPr>
          <a:xfrm>
            <a:off x="812800" y="6238280"/>
            <a:ext cx="67048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I tre risultati restano separati: latenza × pacchetti al secondo </a:t>
            </a:r>
            <a:r>
              <a:rPr lang="en-US" sz="1200" b="1" dirty="0">
                <a:solidFill>
                  <a:srgbClr val="6A7179"/>
                </a:solidFill>
                <a:latin typeface="IBM Plex Sans" pitchFamily="34" charset="0"/>
                <a:ea typeface="IBM Plex Sans" pitchFamily="34" charset="-122"/>
                <a:cs typeface="IBM Plex Sans" pitchFamily="34" charset="-120"/>
              </a:rPr>
              <a:t>non</a:t>
            </a:r>
            <a:r>
              <a:rPr lang="en-US" sz="1200" dirty="0">
                <a:solidFill>
                  <a:srgbClr val="6A7179"/>
                </a:solidFill>
                <a:latin typeface="IBM Plex Sans" pitchFamily="34" charset="0"/>
                <a:ea typeface="IBM Plex Sans" pitchFamily="34" charset="-122"/>
                <a:cs typeface="IBM Plex Sans" pitchFamily="34" charset="-120"/>
              </a:rPr>
              <a:t> è il pacchetti al secondo reale</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0452"/>
          </a:xfrm>
          <a:prstGeom prst="rect">
            <a:avLst/>
          </a:prstGeom>
          <a:noFill/>
          <a:ln/>
        </p:spPr>
        <p:txBody>
          <a:bodyPr wrap="square" lIns="0" tIns="0" rIns="0" bIns="0" rtlCol="0" anchor="t">
            <a:normAutofit/>
          </a:bodyPr>
          <a:lstStyle/>
          <a:p>
            <a:pPr algn="l" indent="0" marL="0">
              <a:lnSpc>
                <a:spcPts val="1621"/>
              </a:lnSpc>
              <a:buNone/>
            </a:pPr>
            <a:r>
              <a:rPr lang="en-US" sz="1158" spc="100" kern="0" dirty="0">
                <a:solidFill>
                  <a:srgbClr val="C2410C"/>
                </a:solidFill>
                <a:latin typeface="JetBrains Mono" pitchFamily="34" charset="0"/>
                <a:ea typeface="JetBrains Mono" pitchFamily="34" charset="-122"/>
                <a:cs typeface="JetBrains Mono" pitchFamily="34" charset="-120"/>
              </a:rPr>
              <a:t>PROBLEMA DI MISURA · DUE COSTI IN UN NUMERO</a:t>
            </a:r>
            <a:endParaRPr lang="en-US" sz="1158" dirty="0"/>
          </a:p>
        </p:txBody>
      </p:sp>
      <p:sp>
        <p:nvSpPr>
          <p:cNvPr id="3" name="Text 1"/>
          <p:cNvSpPr/>
          <p:nvPr/>
        </p:nvSpPr>
        <p:spPr>
          <a:xfrm>
            <a:off x="812800" y="1081360"/>
            <a:ext cx="10883392" cy="384969"/>
          </a:xfrm>
          <a:prstGeom prst="rect">
            <a:avLst/>
          </a:prstGeom>
          <a:noFill/>
          <a:ln/>
        </p:spPr>
        <p:txBody>
          <a:bodyPr wrap="square" lIns="0" tIns="0" rIns="0" bIns="0" rtlCol="0" anchor="t">
            <a:normAutofit/>
          </a:bodyPr>
          <a:lstStyle/>
          <a:p>
            <a:pPr algn="l" indent="0" marL="0">
              <a:lnSpc>
                <a:spcPts val="2871"/>
              </a:lnSpc>
              <a:buNone/>
            </a:pPr>
            <a:r>
              <a:rPr lang="en-US" sz="2610" b="1" dirty="0">
                <a:solidFill>
                  <a:srgbClr val="14213D"/>
                </a:solidFill>
                <a:latin typeface="IBM Plex Sans" pitchFamily="34" charset="0"/>
                <a:ea typeface="IBM Plex Sans" pitchFamily="34" charset="-122"/>
                <a:cs typeface="IBM Plex Sans" pitchFamily="34" charset="-120"/>
              </a:rPr>
              <a:t>La baseline non costava 202 ns. Ne costa 27.</a:t>
            </a:r>
            <a:endParaRPr lang="en-US" sz="2610" dirty="0"/>
          </a:p>
        </p:txBody>
      </p:sp>
      <p:sp>
        <p:nvSpPr>
          <p:cNvPr id="4" name="Text 2"/>
          <p:cNvSpPr/>
          <p:nvPr/>
        </p:nvSpPr>
        <p:spPr>
          <a:xfrm>
            <a:off x="812800" y="1593329"/>
            <a:ext cx="10595610" cy="695788"/>
          </a:xfrm>
          <a:prstGeom prst="rect">
            <a:avLst/>
          </a:prstGeom>
          <a:noFill/>
          <a:ln/>
        </p:spPr>
        <p:txBody>
          <a:bodyPr wrap="square" lIns="0" tIns="0" rIns="0" bIns="0" rtlCol="0" anchor="t">
            <a:normAutofit/>
          </a:bodyPr>
          <a:lstStyle/>
          <a:p>
            <a:pPr algn="l" indent="0" marL="0">
              <a:lnSpc>
                <a:spcPts val="1770"/>
              </a:lnSpc>
              <a:buNone/>
            </a:pPr>
            <a:r>
              <a:rPr lang="en-US" sz="1264" dirty="0">
                <a:solidFill>
                  <a:srgbClr val="4A5568"/>
                </a:solidFill>
                <a:latin typeface="IBM Plex Sans" pitchFamily="34" charset="0"/>
                <a:ea typeface="IBM Plex Sans" pitchFamily="34" charset="-122"/>
                <a:cs typeface="IBM Plex Sans" pitchFamily="34" charset="-120"/>
              </a:rPr>
              <a:t>La prima versione del banco misurava il tempo fra ingresso e uscita del programma e lo chiamava «latenza della pipeline». Dentro c’erano due costi: l’inferenza, e il </a:t>
            </a:r>
            <a:r>
              <a:rPr lang="en-US" sz="1264" b="1" dirty="0">
                <a:solidFill>
                  <a:srgbClr val="4A5568"/>
                </a:solidFill>
                <a:latin typeface="IBM Plex Sans" pitchFamily="34" charset="0"/>
                <a:ea typeface="IBM Plex Sans" pitchFamily="34" charset="-122"/>
                <a:cs typeface="IBM Plex Sans" pitchFamily="34" charset="-120"/>
              </a:rPr>
              <a:t>trasporto</a:t>
            </a:r>
            <a:r>
              <a:rPr lang="en-US" sz="1264" dirty="0">
                <a:solidFill>
                  <a:srgbClr val="4A5568"/>
                </a:solidFill>
                <a:latin typeface="IBM Plex Sans" pitchFamily="34" charset="0"/>
                <a:ea typeface="IBM Plex Sans" pitchFamily="34" charset="-122"/>
                <a:cs typeface="IBM Plex Sans" pitchFamily="34" charset="-120"/>
              </a:rPr>
              <a:t> — redirect, veth, risveglio di NAPI. Il secondo vale circa 200 ns ed è uguale per tutte, quindi copriva quasi del tutto una baseline da 27.</a:t>
            </a:r>
            <a:endParaRPr lang="en-US" sz="1264" dirty="0"/>
          </a:p>
        </p:txBody>
      </p:sp>
      <p:sp>
        <p:nvSpPr>
          <p:cNvPr id="5" name="Shape 3"/>
          <p:cNvSpPr/>
          <p:nvPr/>
        </p:nvSpPr>
        <p:spPr>
          <a:xfrm>
            <a:off x="812800" y="2392164"/>
            <a:ext cx="1186656" cy="468577"/>
          </a:xfrm>
          <a:prstGeom prst="roundRect">
            <a:avLst>
              <a:gd name="adj" fmla="val 18972"/>
            </a:avLst>
          </a:prstGeom>
          <a:solidFill>
            <a:srgbClr val="14213D"/>
          </a:solidFill>
          <a:ln/>
        </p:spPr>
      </p:sp>
      <p:sp>
        <p:nvSpPr>
          <p:cNvPr id="6" name="Text 4"/>
          <p:cNvSpPr/>
          <p:nvPr/>
        </p:nvSpPr>
        <p:spPr>
          <a:xfrm>
            <a:off x="977900" y="2506464"/>
            <a:ext cx="907256" cy="265377"/>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FBFBF8"/>
                </a:solidFill>
                <a:latin typeface="IBM Plex Sans" pitchFamily="34" charset="0"/>
                <a:ea typeface="IBM Plex Sans" pitchFamily="34" charset="-122"/>
                <a:cs typeface="IBM Plex Sans" pitchFamily="34" charset="-120"/>
              </a:rPr>
              <a:t>T₁</a:t>
            </a:r>
            <a:r>
              <a:rPr lang="en-US" sz="1350" dirty="0">
                <a:solidFill>
                  <a:srgbClr val="FBFBF8"/>
                </a:solidFill>
                <a:latin typeface="IBM Plex Sans" pitchFamily="34" charset="0"/>
                <a:ea typeface="IBM Plex Sans" pitchFamily="34" charset="-122"/>
                <a:cs typeface="IBM Plex Sans" pitchFamily="34" charset="-120"/>
              </a:rPr>
              <a:t> ingresso</a:t>
            </a:r>
            <a:endParaRPr lang="en-US" sz="1350" dirty="0"/>
          </a:p>
        </p:txBody>
      </p:sp>
      <p:sp>
        <p:nvSpPr>
          <p:cNvPr id="7" name="Text 5"/>
          <p:cNvSpPr/>
          <p:nvPr/>
        </p:nvSpPr>
        <p:spPr>
          <a:xfrm>
            <a:off x="3060965" y="2432782"/>
            <a:ext cx="1395016"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C2410C"/>
                </a:solidFill>
                <a:latin typeface="IBM Plex Sans" pitchFamily="34" charset="0"/>
                <a:ea typeface="IBM Plex Sans" pitchFamily="34" charset="-122"/>
                <a:cs typeface="IBM Plex Sans" pitchFamily="34" charset="-120"/>
              </a:rPr>
              <a:t>T₂−T₁ = la pipeline</a:t>
            </a:r>
            <a:endParaRPr lang="en-US" sz="1250" dirty="0"/>
          </a:p>
        </p:txBody>
      </p:sp>
      <p:pic>
        <p:nvPicPr>
          <p:cNvPr id="8" name="Image 0" descr="arrow-right">    </p:cNvPr>
          <p:cNvPicPr>
            <a:picLocks noChangeAspect="1"/>
          </p:cNvPicPr>
          <p:nvPr/>
        </p:nvPicPr>
        <p:blipFill>
          <a:blip r:embed="rId1"/>
          <a:srcRect l="0" r="0" t="0" b="0"/>
          <a:stretch/>
        </p:blipFill>
        <p:spPr>
          <a:xfrm>
            <a:off x="2971073" y="2680432"/>
            <a:ext cx="1524000" cy="139700"/>
          </a:xfrm>
          <a:prstGeom prst="rect">
            <a:avLst/>
          </a:prstGeom>
        </p:spPr>
      </p:pic>
      <p:sp>
        <p:nvSpPr>
          <p:cNvPr id="9" name="Shape 6"/>
          <p:cNvSpPr/>
          <p:nvPr/>
        </p:nvSpPr>
        <p:spPr>
          <a:xfrm>
            <a:off x="5466755" y="2392164"/>
            <a:ext cx="1466387" cy="468577"/>
          </a:xfrm>
          <a:prstGeom prst="roundRect">
            <a:avLst>
              <a:gd name="adj" fmla="val 18972"/>
            </a:avLst>
          </a:prstGeom>
          <a:solidFill>
            <a:srgbClr val="14213D"/>
          </a:solidFill>
          <a:ln/>
        </p:spPr>
      </p:sp>
      <p:sp>
        <p:nvSpPr>
          <p:cNvPr id="10" name="Text 7"/>
          <p:cNvSpPr/>
          <p:nvPr/>
        </p:nvSpPr>
        <p:spPr>
          <a:xfrm>
            <a:off x="5631855" y="2506464"/>
            <a:ext cx="1186987" cy="265377"/>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FBFBF8"/>
                </a:solidFill>
                <a:latin typeface="IBM Plex Sans" pitchFamily="34" charset="0"/>
                <a:ea typeface="IBM Plex Sans" pitchFamily="34" charset="-122"/>
                <a:cs typeface="IBM Plex Sans" pitchFamily="34" charset="-120"/>
              </a:rPr>
              <a:t>T₂</a:t>
            </a:r>
            <a:r>
              <a:rPr lang="en-US" sz="1350" dirty="0">
                <a:solidFill>
                  <a:srgbClr val="FBFBF8"/>
                </a:solidFill>
                <a:latin typeface="IBM Plex Sans" pitchFamily="34" charset="0"/>
                <a:ea typeface="IBM Plex Sans" pitchFamily="34" charset="-122"/>
                <a:cs typeface="IBM Plex Sans" pitchFamily="34" charset="-120"/>
              </a:rPr>
              <a:t> pre-redirect</a:t>
            </a:r>
            <a:endParaRPr lang="en-US" sz="1350" dirty="0"/>
          </a:p>
        </p:txBody>
      </p:sp>
      <p:sp>
        <p:nvSpPr>
          <p:cNvPr id="11" name="Text 8"/>
          <p:cNvSpPr/>
          <p:nvPr/>
        </p:nvSpPr>
        <p:spPr>
          <a:xfrm>
            <a:off x="7972028" y="2432782"/>
            <a:ext cx="1440326"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6A7179"/>
                </a:solidFill>
                <a:latin typeface="IBM Plex Sans" pitchFamily="34" charset="0"/>
                <a:ea typeface="IBM Plex Sans" pitchFamily="34" charset="-122"/>
                <a:cs typeface="IBM Plex Sans" pitchFamily="34" charset="-120"/>
              </a:rPr>
              <a:t>T₃−T₂ = il trasporto</a:t>
            </a:r>
            <a:endParaRPr lang="en-US" sz="1250" dirty="0"/>
          </a:p>
        </p:txBody>
      </p:sp>
      <p:pic>
        <p:nvPicPr>
          <p:cNvPr id="12" name="Image 1" descr="arrow-right">    </p:cNvPr>
          <p:cNvPicPr>
            <a:picLocks noChangeAspect="1"/>
          </p:cNvPicPr>
          <p:nvPr/>
        </p:nvPicPr>
        <p:blipFill>
          <a:blip r:embed="rId2"/>
          <a:srcRect l="0" r="0" t="0" b="0"/>
          <a:stretch/>
        </p:blipFill>
        <p:spPr>
          <a:xfrm>
            <a:off x="7904758" y="2680432"/>
            <a:ext cx="1524000" cy="139700"/>
          </a:xfrm>
          <a:prstGeom prst="rect">
            <a:avLst/>
          </a:prstGeom>
        </p:spPr>
      </p:pic>
      <p:sp>
        <p:nvSpPr>
          <p:cNvPr id="13" name="Shape 9"/>
          <p:cNvSpPr/>
          <p:nvPr/>
        </p:nvSpPr>
        <p:spPr>
          <a:xfrm>
            <a:off x="10400440" y="2392164"/>
            <a:ext cx="978760" cy="468577"/>
          </a:xfrm>
          <a:prstGeom prst="roundRect">
            <a:avLst>
              <a:gd name="adj" fmla="val 18972"/>
            </a:avLst>
          </a:prstGeom>
          <a:solidFill>
            <a:srgbClr val="14213D"/>
          </a:solidFill>
          <a:ln/>
        </p:spPr>
      </p:sp>
      <p:sp>
        <p:nvSpPr>
          <p:cNvPr id="14" name="Text 10"/>
          <p:cNvSpPr/>
          <p:nvPr/>
        </p:nvSpPr>
        <p:spPr>
          <a:xfrm>
            <a:off x="10565540" y="2506464"/>
            <a:ext cx="699360" cy="265377"/>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FBFBF8"/>
                </a:solidFill>
                <a:latin typeface="IBM Plex Sans" pitchFamily="34" charset="0"/>
                <a:ea typeface="IBM Plex Sans" pitchFamily="34" charset="-122"/>
                <a:cs typeface="IBM Plex Sans" pitchFamily="34" charset="-120"/>
              </a:rPr>
              <a:t>T₃</a:t>
            </a:r>
            <a:r>
              <a:rPr lang="en-US" sz="1350" dirty="0">
                <a:solidFill>
                  <a:srgbClr val="FBFBF8"/>
                </a:solidFill>
                <a:latin typeface="IBM Plex Sans" pitchFamily="34" charset="0"/>
                <a:ea typeface="IBM Plex Sans" pitchFamily="34" charset="-122"/>
                <a:cs typeface="IBM Plex Sans" pitchFamily="34" charset="-120"/>
              </a:rPr>
              <a:t> arrivo</a:t>
            </a:r>
            <a:endParaRPr lang="en-US" sz="13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812800" y="2989200"/>
          <a:ext cx="10566400" cy="2079096"/>
        </p:xfrm>
        <a:graphic>
          <a:graphicData uri="http://schemas.openxmlformats.org/drawingml/2006/table">
            <a:tbl>
              <a:tblPr/>
              <a:tblGrid>
                <a:gridCol w="2747264"/>
                <a:gridCol w="2007616"/>
                <a:gridCol w="2007616"/>
                <a:gridCol w="1901952"/>
                <a:gridCol w="1901952"/>
              </a:tblGrid>
              <a:tr h="346472">
                <a:tc>
                  <a:txBody>
                    <a:bodyPr/>
                    <a:lstStyle/>
                    <a:p>
                      <a:pPr indent="0" marL="0">
                        <a:lnSpc>
                          <a:spcPts val="1752"/>
                        </a:lnSpc>
                        <a:buNone/>
                      </a:pPr>
                      <a:r>
                        <a:rPr lang="en-US" sz="1251" b="1" dirty="0">
                          <a:solidFill>
                            <a:srgbClr val="FBFBF8"/>
                          </a:solidFill>
                          <a:latin typeface="IBM Plex Sans" pitchFamily="34" charset="0"/>
                          <a:ea typeface="IBM Plex Sans" pitchFamily="34" charset="-122"/>
                          <a:cs typeface="IBM Plex Sans" pitchFamily="34" charset="-120"/>
                        </a:rPr>
                        <a:t>Pipeline</a:t>
                      </a:r>
                      <a:endParaRPr lang="en-US" sz="1251" dirty="0">
                        <a:latin typeface="IBM Plex Sans" charset="0"/>
                        <a:ea typeface="IBM Plex Sans" charset="0"/>
                        <a:cs typeface="IBM Plex Sans" charset="0"/>
                      </a:endParaRPr>
                    </a:p>
                  </a:txBody>
                  <a:tcPr marL="55618" marR="55618" marT="55618" marB="55618"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14213D"/>
                    </a:solidFill>
                  </a:tcPr>
                </a:tc>
                <a:tc>
                  <a:txBody>
                    <a:bodyPr/>
                    <a:lstStyle/>
                    <a:p>
                      <a:pPr algn="r" indent="0" marL="0">
                        <a:lnSpc>
                          <a:spcPts val="1752"/>
                        </a:lnSpc>
                        <a:buNone/>
                      </a:pPr>
                      <a:r>
                        <a:rPr lang="en-US" sz="1251" b="1" dirty="0">
                          <a:solidFill>
                            <a:srgbClr val="FBFBF8"/>
                          </a:solidFill>
                          <a:latin typeface="IBM Plex Sans" pitchFamily="34" charset="0"/>
                          <a:ea typeface="IBM Plex Sans" pitchFamily="34" charset="-122"/>
                          <a:cs typeface="IBM Plex Sans" pitchFamily="34" charset="-120"/>
                        </a:rPr>
                        <a:t>T₂−T₁</a:t>
                      </a:r>
                      <a:endParaRPr lang="en-US" sz="1251" dirty="0">
                        <a:latin typeface="IBM Plex Sans" charset="0"/>
                        <a:ea typeface="IBM Plex Sans" charset="0"/>
                        <a:cs typeface="IBM Plex Sans" charset="0"/>
                      </a:endParaRPr>
                    </a:p>
                  </a:txBody>
                  <a:tcPr marL="55618" marR="55618" marT="55618" marB="55618"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14213D"/>
                    </a:solidFill>
                  </a:tcPr>
                </a:tc>
                <a:tc>
                  <a:txBody>
                    <a:bodyPr/>
                    <a:lstStyle/>
                    <a:p>
                      <a:pPr algn="r" indent="0" marL="0">
                        <a:lnSpc>
                          <a:spcPts val="1752"/>
                        </a:lnSpc>
                        <a:buNone/>
                      </a:pPr>
                      <a:r>
                        <a:rPr lang="en-US" sz="1251" b="1" dirty="0">
                          <a:solidFill>
                            <a:srgbClr val="FBFBF8"/>
                          </a:solidFill>
                          <a:latin typeface="IBM Plex Sans" pitchFamily="34" charset="0"/>
                          <a:ea typeface="IBM Plex Sans" pitchFamily="34" charset="-122"/>
                          <a:cs typeface="IBM Plex Sans" pitchFamily="34" charset="-120"/>
                        </a:rPr>
                        <a:t>sopra baseline</a:t>
                      </a:r>
                      <a:endParaRPr lang="en-US" sz="1251" dirty="0">
                        <a:latin typeface="IBM Plex Sans" charset="0"/>
                        <a:ea typeface="IBM Plex Sans" charset="0"/>
                        <a:cs typeface="IBM Plex Sans" charset="0"/>
                      </a:endParaRPr>
                    </a:p>
                  </a:txBody>
                  <a:tcPr marL="55618" marR="55618" marT="55618" marB="55618"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14213D"/>
                    </a:solidFill>
                  </a:tcPr>
                </a:tc>
                <a:tc>
                  <a:txBody>
                    <a:bodyPr/>
                    <a:lstStyle/>
                    <a:p>
                      <a:pPr algn="r" indent="0" marL="0">
                        <a:lnSpc>
                          <a:spcPts val="1752"/>
                        </a:lnSpc>
                        <a:buNone/>
                      </a:pPr>
                      <a:r>
                        <a:rPr lang="en-US" sz="1251" b="1" dirty="0">
                          <a:solidFill>
                            <a:srgbClr val="FBFBF8"/>
                          </a:solidFill>
                          <a:latin typeface="IBM Plex Sans" pitchFamily="34" charset="0"/>
                          <a:ea typeface="IBM Plex Sans" pitchFamily="34" charset="-122"/>
                          <a:cs typeface="IBM Plex Sans" pitchFamily="34" charset="-120"/>
                        </a:rPr>
                        <a:t>T₃−T₂</a:t>
                      </a:r>
                      <a:endParaRPr lang="en-US" sz="1251" dirty="0">
                        <a:latin typeface="IBM Plex Sans" charset="0"/>
                        <a:ea typeface="IBM Plex Sans" charset="0"/>
                        <a:cs typeface="IBM Plex Sans" charset="0"/>
                      </a:endParaRPr>
                    </a:p>
                  </a:txBody>
                  <a:tcPr marL="55618" marR="55618" marT="55618" marB="55618"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14213D"/>
                    </a:solidFill>
                  </a:tcPr>
                </a:tc>
                <a:tc>
                  <a:txBody>
                    <a:bodyPr/>
                    <a:lstStyle/>
                    <a:p>
                      <a:pPr algn="r" indent="0" marL="0">
                        <a:lnSpc>
                          <a:spcPts val="1752"/>
                        </a:lnSpc>
                        <a:buNone/>
                      </a:pPr>
                      <a:r>
                        <a:rPr lang="en-US" sz="1251" b="1" dirty="0">
                          <a:solidFill>
                            <a:srgbClr val="FBFBF8"/>
                          </a:solidFill>
                          <a:latin typeface="IBM Plex Sans" pitchFamily="34" charset="0"/>
                          <a:ea typeface="IBM Plex Sans" pitchFamily="34" charset="-122"/>
                          <a:cs typeface="IBM Plex Sans" pitchFamily="34" charset="-120"/>
                        </a:rPr>
                        <a:t>T₃−T₁</a:t>
                      </a:r>
                      <a:endParaRPr lang="en-US" sz="1251" dirty="0">
                        <a:latin typeface="IBM Plex Sans" charset="0"/>
                        <a:ea typeface="IBM Plex Sans" charset="0"/>
                        <a:cs typeface="IBM Plex Sans" charset="0"/>
                      </a:endParaRPr>
                    </a:p>
                  </a:txBody>
                  <a:tcPr marL="55618" marR="55618" marT="55618" marB="55618"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14213D"/>
                    </a:solidFill>
                  </a:tcPr>
                </a:tc>
              </a:tr>
              <a:tr h="346472">
                <a:tc>
                  <a:txBody>
                    <a:bodyPr/>
                    <a:lstStyle/>
                    <a:p>
                      <a:pPr indent="0" marL="0">
                        <a:lnSpc>
                          <a:spcPts val="1752"/>
                        </a:lnSpc>
                        <a:buNone/>
                      </a:pPr>
                      <a:r>
                        <a:rPr lang="en-US" sz="1251" dirty="0">
                          <a:solidFill>
                            <a:srgbClr val="14213D"/>
                          </a:solidFill>
                          <a:latin typeface="IBM Plex Sans" pitchFamily="34" charset="0"/>
                          <a:ea typeface="IBM Plex Sans" pitchFamily="34" charset="-122"/>
                          <a:cs typeface="IBM Plex Sans" pitchFamily="34" charset="-120"/>
                        </a:rPr>
                        <a:t>baseline</a:t>
                      </a:r>
                      <a:endParaRPr lang="en-US" sz="1251" dirty="0">
                        <a:latin typeface="IBM Plex Sans" charset="0"/>
                        <a:ea typeface="IBM Plex Sans" charset="0"/>
                        <a:cs typeface="IBM Plex Sans" charset="0"/>
                      </a:endParaRPr>
                    </a:p>
                  </a:txBody>
                  <a:tcPr marL="55618" marR="55618" marT="55618" marB="55618"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EEF1F5"/>
                    </a:solidFill>
                  </a:tcPr>
                </a:tc>
                <a:tc>
                  <a:txBody>
                    <a:bodyPr/>
                    <a:lstStyle/>
                    <a:p>
                      <a:pPr algn="r" indent="0" marL="0">
                        <a:lnSpc>
                          <a:spcPts val="1752"/>
                        </a:lnSpc>
                        <a:buNone/>
                      </a:pPr>
                      <a:r>
                        <a:rPr lang="en-US" sz="1251" dirty="0">
                          <a:solidFill>
                            <a:srgbClr val="14213D"/>
                          </a:solidFill>
                          <a:latin typeface="IBM Plex Sans" pitchFamily="34" charset="0"/>
                          <a:ea typeface="IBM Plex Sans" pitchFamily="34" charset="-122"/>
                          <a:cs typeface="IBM Plex Sans" pitchFamily="34" charset="-120"/>
                        </a:rPr>
                        <a:t>27 ns</a:t>
                      </a:r>
                      <a:endParaRPr lang="en-US" sz="1251" dirty="0">
                        <a:latin typeface="IBM Plex Sans" charset="0"/>
                        <a:ea typeface="IBM Plex Sans" charset="0"/>
                        <a:cs typeface="IBM Plex Sans" charset="0"/>
                      </a:endParaRPr>
                    </a:p>
                  </a:txBody>
                  <a:tcPr marL="55618" marR="55618" marT="55618" marB="55618"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EEF1F5"/>
                    </a:solidFill>
                  </a:tcPr>
                </a:tc>
                <a:tc>
                  <a:txBody>
                    <a:bodyPr/>
                    <a:lstStyle/>
                    <a:p>
                      <a:pPr algn="r" indent="0" marL="0">
                        <a:lnSpc>
                          <a:spcPts val="1752"/>
                        </a:lnSpc>
                        <a:buNone/>
                      </a:pPr>
                      <a:r>
                        <a:rPr lang="en-US" sz="1251" dirty="0">
                          <a:solidFill>
                            <a:srgbClr val="14213D"/>
                          </a:solidFill>
                          <a:latin typeface="IBM Plex Sans" pitchFamily="34" charset="0"/>
                          <a:ea typeface="IBM Plex Sans" pitchFamily="34" charset="-122"/>
                          <a:cs typeface="IBM Plex Sans" pitchFamily="34" charset="-120"/>
                        </a:rPr>
                        <a:t>—</a:t>
                      </a:r>
                      <a:endParaRPr lang="en-US" sz="1251" dirty="0">
                        <a:latin typeface="IBM Plex Sans" charset="0"/>
                        <a:ea typeface="IBM Plex Sans" charset="0"/>
                        <a:cs typeface="IBM Plex Sans" charset="0"/>
                      </a:endParaRPr>
                    </a:p>
                  </a:txBody>
                  <a:tcPr marL="55618" marR="55618" marT="55618" marB="55618"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EEF1F5"/>
                    </a:solidFill>
                  </a:tcPr>
                </a:tc>
                <a:tc>
                  <a:txBody>
                    <a:bodyPr/>
                    <a:lstStyle/>
                    <a:p>
                      <a:pPr algn="r" indent="0" marL="0">
                        <a:lnSpc>
                          <a:spcPts val="1752"/>
                        </a:lnSpc>
                        <a:buNone/>
                      </a:pPr>
                      <a:r>
                        <a:rPr lang="en-US" sz="1251" dirty="0">
                          <a:solidFill>
                            <a:srgbClr val="14213D"/>
                          </a:solidFill>
                          <a:latin typeface="IBM Plex Sans" pitchFamily="34" charset="0"/>
                          <a:ea typeface="IBM Plex Sans" pitchFamily="34" charset="-122"/>
                          <a:cs typeface="IBM Plex Sans" pitchFamily="34" charset="-120"/>
                        </a:rPr>
                        <a:t>195</a:t>
                      </a:r>
                      <a:endParaRPr lang="en-US" sz="1251" dirty="0">
                        <a:latin typeface="IBM Plex Sans" charset="0"/>
                        <a:ea typeface="IBM Plex Sans" charset="0"/>
                        <a:cs typeface="IBM Plex Sans" charset="0"/>
                      </a:endParaRPr>
                    </a:p>
                  </a:txBody>
                  <a:tcPr marL="55618" marR="55618" marT="55618" marB="55618"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EEF1F5"/>
                    </a:solidFill>
                  </a:tcPr>
                </a:tc>
                <a:tc>
                  <a:txBody>
                    <a:bodyPr/>
                    <a:lstStyle/>
                    <a:p>
                      <a:pPr algn="r" indent="0" marL="0">
                        <a:lnSpc>
                          <a:spcPts val="1752"/>
                        </a:lnSpc>
                        <a:buNone/>
                      </a:pPr>
                      <a:r>
                        <a:rPr lang="en-US" sz="1251" dirty="0">
                          <a:solidFill>
                            <a:srgbClr val="14213D"/>
                          </a:solidFill>
                          <a:latin typeface="IBM Plex Sans" pitchFamily="34" charset="0"/>
                          <a:ea typeface="IBM Plex Sans" pitchFamily="34" charset="-122"/>
                          <a:cs typeface="IBM Plex Sans" pitchFamily="34" charset="-120"/>
                        </a:rPr>
                        <a:t>224</a:t>
                      </a:r>
                      <a:endParaRPr lang="en-US" sz="1251" dirty="0">
                        <a:latin typeface="IBM Plex Sans" charset="0"/>
                        <a:ea typeface="IBM Plex Sans" charset="0"/>
                        <a:cs typeface="IBM Plex Sans" charset="0"/>
                      </a:endParaRPr>
                    </a:p>
                  </a:txBody>
                  <a:tcPr marL="55618" marR="55618" marT="55618" marB="55618"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EEF1F5"/>
                    </a:solidFill>
                  </a:tcPr>
                </a:tc>
              </a:tr>
              <a:tr h="346538">
                <a:tc>
                  <a:txBody>
                    <a:bodyPr/>
                    <a:lstStyle/>
                    <a:p>
                      <a:pPr indent="0" marL="0">
                        <a:lnSpc>
                          <a:spcPts val="1752"/>
                        </a:lnSpc>
                        <a:buNone/>
                      </a:pPr>
                      <a:r>
                        <a:rPr lang="en-US" sz="1251" dirty="0">
                          <a:solidFill>
                            <a:srgbClr val="14213D"/>
                          </a:solidFill>
                          <a:latin typeface="IBM Plex Sans" pitchFamily="34" charset="0"/>
                          <a:ea typeface="IBM Plex Sans" pitchFamily="34" charset="-122"/>
                          <a:cs typeface="IBM Plex Sans" pitchFamily="34" charset="-120"/>
                        </a:rPr>
                        <a:t>P1 specializzata</a:t>
                      </a:r>
                      <a:endParaRPr lang="en-US" sz="1251" dirty="0">
                        <a:latin typeface="IBM Plex Sans" charset="0"/>
                        <a:ea typeface="IBM Plex Sans" charset="0"/>
                        <a:cs typeface="IBM Plex Sans" charset="0"/>
                      </a:endParaRPr>
                    </a:p>
                  </a:txBody>
                  <a:tcPr marL="55618" marR="55618" marT="55618" marB="55618"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c>
                  <a:txBody>
                    <a:bodyPr/>
                    <a:lstStyle/>
                    <a:p>
                      <a:pPr algn="r" indent="0" marL="0">
                        <a:lnSpc>
                          <a:spcPts val="1752"/>
                        </a:lnSpc>
                        <a:buNone/>
                      </a:pPr>
                      <a:r>
                        <a:rPr lang="en-US" sz="1251" dirty="0">
                          <a:solidFill>
                            <a:srgbClr val="14213D"/>
                          </a:solidFill>
                          <a:latin typeface="IBM Plex Sans" pitchFamily="34" charset="0"/>
                          <a:ea typeface="IBM Plex Sans" pitchFamily="34" charset="-122"/>
                          <a:cs typeface="IBM Plex Sans" pitchFamily="34" charset="-120"/>
                        </a:rPr>
                        <a:t>50 ns</a:t>
                      </a:r>
                      <a:endParaRPr lang="en-US" sz="1251" dirty="0">
                        <a:latin typeface="IBM Plex Sans" charset="0"/>
                        <a:ea typeface="IBM Plex Sans" charset="0"/>
                        <a:cs typeface="IBM Plex Sans" charset="0"/>
                      </a:endParaRPr>
                    </a:p>
                  </a:txBody>
                  <a:tcPr marL="55618" marR="55618" marT="55618" marB="55618"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c>
                  <a:txBody>
                    <a:bodyPr/>
                    <a:lstStyle/>
                    <a:p>
                      <a:pPr algn="r" indent="0" marL="0">
                        <a:lnSpc>
                          <a:spcPts val="1752"/>
                        </a:lnSpc>
                        <a:buNone/>
                      </a:pPr>
                      <a:r>
                        <a:rPr lang="en-US" sz="1251" dirty="0">
                          <a:solidFill>
                            <a:srgbClr val="14213D"/>
                          </a:solidFill>
                          <a:latin typeface="IBM Plex Sans" pitchFamily="34" charset="0"/>
                          <a:ea typeface="IBM Plex Sans" pitchFamily="34" charset="-122"/>
                          <a:cs typeface="IBM Plex Sans" pitchFamily="34" charset="-120"/>
                        </a:rPr>
                        <a:t>+23</a:t>
                      </a:r>
                      <a:endParaRPr lang="en-US" sz="1251" dirty="0">
                        <a:latin typeface="IBM Plex Sans" charset="0"/>
                        <a:ea typeface="IBM Plex Sans" charset="0"/>
                        <a:cs typeface="IBM Plex Sans" charset="0"/>
                      </a:endParaRPr>
                    </a:p>
                  </a:txBody>
                  <a:tcPr marL="55618" marR="55618" marT="55618" marB="55618"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c>
                  <a:txBody>
                    <a:bodyPr/>
                    <a:lstStyle/>
                    <a:p>
                      <a:pPr algn="r" indent="0" marL="0">
                        <a:lnSpc>
                          <a:spcPts val="1752"/>
                        </a:lnSpc>
                        <a:buNone/>
                      </a:pPr>
                      <a:r>
                        <a:rPr lang="en-US" sz="1251" dirty="0">
                          <a:solidFill>
                            <a:srgbClr val="14213D"/>
                          </a:solidFill>
                          <a:latin typeface="IBM Plex Sans" pitchFamily="34" charset="0"/>
                          <a:ea typeface="IBM Plex Sans" pitchFamily="34" charset="-122"/>
                          <a:cs typeface="IBM Plex Sans" pitchFamily="34" charset="-120"/>
                        </a:rPr>
                        <a:t>213</a:t>
                      </a:r>
                      <a:endParaRPr lang="en-US" sz="1251" dirty="0">
                        <a:latin typeface="IBM Plex Sans" charset="0"/>
                        <a:ea typeface="IBM Plex Sans" charset="0"/>
                        <a:cs typeface="IBM Plex Sans" charset="0"/>
                      </a:endParaRPr>
                    </a:p>
                  </a:txBody>
                  <a:tcPr marL="55618" marR="55618" marT="55618" marB="55618"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c>
                  <a:txBody>
                    <a:bodyPr/>
                    <a:lstStyle/>
                    <a:p>
                      <a:pPr algn="r" indent="0" marL="0">
                        <a:lnSpc>
                          <a:spcPts val="1752"/>
                        </a:lnSpc>
                        <a:buNone/>
                      </a:pPr>
                      <a:r>
                        <a:rPr lang="en-US" sz="1251" dirty="0">
                          <a:solidFill>
                            <a:srgbClr val="14213D"/>
                          </a:solidFill>
                          <a:latin typeface="IBM Plex Sans" pitchFamily="34" charset="0"/>
                          <a:ea typeface="IBM Plex Sans" pitchFamily="34" charset="-122"/>
                          <a:cs typeface="IBM Plex Sans" pitchFamily="34" charset="-120"/>
                        </a:rPr>
                        <a:t>268</a:t>
                      </a:r>
                      <a:endParaRPr lang="en-US" sz="1251" dirty="0">
                        <a:latin typeface="IBM Plex Sans" charset="0"/>
                        <a:ea typeface="IBM Plex Sans" charset="0"/>
                        <a:cs typeface="IBM Plex Sans" charset="0"/>
                      </a:endParaRPr>
                    </a:p>
                  </a:txBody>
                  <a:tcPr marL="55618" marR="55618" marT="55618" marB="55618"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r>
              <a:tr h="346538">
                <a:tc>
                  <a:txBody>
                    <a:bodyPr/>
                    <a:lstStyle/>
                    <a:p>
                      <a:pPr indent="0" marL="0">
                        <a:lnSpc>
                          <a:spcPts val="1752"/>
                        </a:lnSpc>
                        <a:buNone/>
                      </a:pPr>
                      <a:r>
                        <a:rPr lang="en-US" sz="1251" dirty="0">
                          <a:solidFill>
                            <a:srgbClr val="14213D"/>
                          </a:solidFill>
                          <a:latin typeface="IBM Plex Sans" pitchFamily="34" charset="0"/>
                          <a:ea typeface="IBM Plex Sans" pitchFamily="34" charset="-122"/>
                          <a:cs typeface="IBM Plex Sans" pitchFamily="34" charset="-120"/>
                        </a:rPr>
                        <a:t>P1.5 hardcoded</a:t>
                      </a:r>
                      <a:endParaRPr lang="en-US" sz="1251" dirty="0">
                        <a:latin typeface="IBM Plex Sans" charset="0"/>
                        <a:ea typeface="IBM Plex Sans" charset="0"/>
                        <a:cs typeface="IBM Plex Sans" charset="0"/>
                      </a:endParaRPr>
                    </a:p>
                  </a:txBody>
                  <a:tcPr marL="55618" marR="55618" marT="55618" marB="55618"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EEF1F5"/>
                    </a:solidFill>
                  </a:tcPr>
                </a:tc>
                <a:tc>
                  <a:txBody>
                    <a:bodyPr/>
                    <a:lstStyle/>
                    <a:p>
                      <a:pPr algn="r" indent="0" marL="0">
                        <a:lnSpc>
                          <a:spcPts val="1752"/>
                        </a:lnSpc>
                        <a:buNone/>
                      </a:pPr>
                      <a:r>
                        <a:rPr lang="en-US" sz="1251" dirty="0">
                          <a:solidFill>
                            <a:srgbClr val="14213D"/>
                          </a:solidFill>
                          <a:latin typeface="IBM Plex Sans" pitchFamily="34" charset="0"/>
                          <a:ea typeface="IBM Plex Sans" pitchFamily="34" charset="-122"/>
                          <a:cs typeface="IBM Plex Sans" pitchFamily="34" charset="-120"/>
                        </a:rPr>
                        <a:t>57 ns</a:t>
                      </a:r>
                      <a:endParaRPr lang="en-US" sz="1251" dirty="0">
                        <a:latin typeface="IBM Plex Sans" charset="0"/>
                        <a:ea typeface="IBM Plex Sans" charset="0"/>
                        <a:cs typeface="IBM Plex Sans" charset="0"/>
                      </a:endParaRPr>
                    </a:p>
                  </a:txBody>
                  <a:tcPr marL="55618" marR="55618" marT="55618" marB="55618"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EEF1F5"/>
                    </a:solidFill>
                  </a:tcPr>
                </a:tc>
                <a:tc>
                  <a:txBody>
                    <a:bodyPr/>
                    <a:lstStyle/>
                    <a:p>
                      <a:pPr algn="r" indent="0" marL="0">
                        <a:lnSpc>
                          <a:spcPts val="1752"/>
                        </a:lnSpc>
                        <a:buNone/>
                      </a:pPr>
                      <a:r>
                        <a:rPr lang="en-US" sz="1251" dirty="0">
                          <a:solidFill>
                            <a:srgbClr val="14213D"/>
                          </a:solidFill>
                          <a:latin typeface="IBM Plex Sans" pitchFamily="34" charset="0"/>
                          <a:ea typeface="IBM Plex Sans" pitchFamily="34" charset="-122"/>
                          <a:cs typeface="IBM Plex Sans" pitchFamily="34" charset="-120"/>
                        </a:rPr>
                        <a:t>+30</a:t>
                      </a:r>
                      <a:endParaRPr lang="en-US" sz="1251" dirty="0">
                        <a:latin typeface="IBM Plex Sans" charset="0"/>
                        <a:ea typeface="IBM Plex Sans" charset="0"/>
                        <a:cs typeface="IBM Plex Sans" charset="0"/>
                      </a:endParaRPr>
                    </a:p>
                  </a:txBody>
                  <a:tcPr marL="55618" marR="55618" marT="55618" marB="55618"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EEF1F5"/>
                    </a:solidFill>
                  </a:tcPr>
                </a:tc>
                <a:tc>
                  <a:txBody>
                    <a:bodyPr/>
                    <a:lstStyle/>
                    <a:p>
                      <a:pPr algn="r" indent="0" marL="0">
                        <a:lnSpc>
                          <a:spcPts val="1752"/>
                        </a:lnSpc>
                        <a:buNone/>
                      </a:pPr>
                      <a:r>
                        <a:rPr lang="en-US" sz="1251" dirty="0">
                          <a:solidFill>
                            <a:srgbClr val="14213D"/>
                          </a:solidFill>
                          <a:latin typeface="IBM Plex Sans" pitchFamily="34" charset="0"/>
                          <a:ea typeface="IBM Plex Sans" pitchFamily="34" charset="-122"/>
                          <a:cs typeface="IBM Plex Sans" pitchFamily="34" charset="-120"/>
                        </a:rPr>
                        <a:t>212</a:t>
                      </a:r>
                      <a:endParaRPr lang="en-US" sz="1251" dirty="0">
                        <a:latin typeface="IBM Plex Sans" charset="0"/>
                        <a:ea typeface="IBM Plex Sans" charset="0"/>
                        <a:cs typeface="IBM Plex Sans" charset="0"/>
                      </a:endParaRPr>
                    </a:p>
                  </a:txBody>
                  <a:tcPr marL="55618" marR="55618" marT="55618" marB="55618"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EEF1F5"/>
                    </a:solidFill>
                  </a:tcPr>
                </a:tc>
                <a:tc>
                  <a:txBody>
                    <a:bodyPr/>
                    <a:lstStyle/>
                    <a:p>
                      <a:pPr algn="r" indent="0" marL="0">
                        <a:lnSpc>
                          <a:spcPts val="1752"/>
                        </a:lnSpc>
                        <a:buNone/>
                      </a:pPr>
                      <a:r>
                        <a:rPr lang="en-US" sz="1251" dirty="0">
                          <a:solidFill>
                            <a:srgbClr val="14213D"/>
                          </a:solidFill>
                          <a:latin typeface="IBM Plex Sans" pitchFamily="34" charset="0"/>
                          <a:ea typeface="IBM Plex Sans" pitchFamily="34" charset="-122"/>
                          <a:cs typeface="IBM Plex Sans" pitchFamily="34" charset="-120"/>
                        </a:rPr>
                        <a:t>275</a:t>
                      </a:r>
                      <a:endParaRPr lang="en-US" sz="1251" dirty="0">
                        <a:latin typeface="IBM Plex Sans" charset="0"/>
                        <a:ea typeface="IBM Plex Sans" charset="0"/>
                        <a:cs typeface="IBM Plex Sans" charset="0"/>
                      </a:endParaRPr>
                    </a:p>
                  </a:txBody>
                  <a:tcPr marL="55618" marR="55618" marT="55618" marB="55618"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EEF1F5"/>
                    </a:solidFill>
                  </a:tcPr>
                </a:tc>
              </a:tr>
              <a:tr h="346538">
                <a:tc>
                  <a:txBody>
                    <a:bodyPr/>
                    <a:lstStyle/>
                    <a:p>
                      <a:pPr indent="0" marL="0">
                        <a:lnSpc>
                          <a:spcPts val="1752"/>
                        </a:lnSpc>
                        <a:buNone/>
                      </a:pPr>
                      <a:r>
                        <a:rPr lang="en-US" sz="1251" dirty="0">
                          <a:solidFill>
                            <a:srgbClr val="14213D"/>
                          </a:solidFill>
                          <a:latin typeface="IBM Plex Sans" pitchFamily="34" charset="0"/>
                          <a:ea typeface="IBM Plex Sans" pitchFamily="34" charset="-122"/>
                          <a:cs typeface="IBM Plex Sans" pitchFamily="34" charset="-120"/>
                        </a:rPr>
                        <a:t>P2 template</a:t>
                      </a:r>
                      <a:endParaRPr lang="en-US" sz="1251" dirty="0">
                        <a:latin typeface="IBM Plex Sans" charset="0"/>
                        <a:ea typeface="IBM Plex Sans" charset="0"/>
                        <a:cs typeface="IBM Plex Sans" charset="0"/>
                      </a:endParaRPr>
                    </a:p>
                  </a:txBody>
                  <a:tcPr marL="55618" marR="55618" marT="55618" marB="55618"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c>
                  <a:txBody>
                    <a:bodyPr/>
                    <a:lstStyle/>
                    <a:p>
                      <a:pPr algn="r" indent="0" marL="0">
                        <a:lnSpc>
                          <a:spcPts val="1752"/>
                        </a:lnSpc>
                        <a:buNone/>
                      </a:pPr>
                      <a:r>
                        <a:rPr lang="en-US" sz="1251" dirty="0">
                          <a:solidFill>
                            <a:srgbClr val="14213D"/>
                          </a:solidFill>
                          <a:latin typeface="IBM Plex Sans" pitchFamily="34" charset="0"/>
                          <a:ea typeface="IBM Plex Sans" pitchFamily="34" charset="-122"/>
                          <a:cs typeface="IBM Plex Sans" pitchFamily="34" charset="-120"/>
                        </a:rPr>
                        <a:t>183 ns</a:t>
                      </a:r>
                      <a:endParaRPr lang="en-US" sz="1251" dirty="0">
                        <a:latin typeface="IBM Plex Sans" charset="0"/>
                        <a:ea typeface="IBM Plex Sans" charset="0"/>
                        <a:cs typeface="IBM Plex Sans" charset="0"/>
                      </a:endParaRPr>
                    </a:p>
                  </a:txBody>
                  <a:tcPr marL="55618" marR="55618" marT="55618" marB="55618"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c>
                  <a:txBody>
                    <a:bodyPr/>
                    <a:lstStyle/>
                    <a:p>
                      <a:pPr algn="r" indent="0" marL="0">
                        <a:lnSpc>
                          <a:spcPts val="1752"/>
                        </a:lnSpc>
                        <a:buNone/>
                      </a:pPr>
                      <a:r>
                        <a:rPr lang="en-US" sz="1251" dirty="0">
                          <a:solidFill>
                            <a:srgbClr val="14213D"/>
                          </a:solidFill>
                          <a:latin typeface="IBM Plex Sans" pitchFamily="34" charset="0"/>
                          <a:ea typeface="IBM Plex Sans" pitchFamily="34" charset="-122"/>
                          <a:cs typeface="IBM Plex Sans" pitchFamily="34" charset="-120"/>
                        </a:rPr>
                        <a:t>+156</a:t>
                      </a:r>
                      <a:endParaRPr lang="en-US" sz="1251" dirty="0">
                        <a:latin typeface="IBM Plex Sans" charset="0"/>
                        <a:ea typeface="IBM Plex Sans" charset="0"/>
                        <a:cs typeface="IBM Plex Sans" charset="0"/>
                      </a:endParaRPr>
                    </a:p>
                  </a:txBody>
                  <a:tcPr marL="55618" marR="55618" marT="55618" marB="55618"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c>
                  <a:txBody>
                    <a:bodyPr/>
                    <a:lstStyle/>
                    <a:p>
                      <a:pPr algn="r" indent="0" marL="0">
                        <a:lnSpc>
                          <a:spcPts val="1752"/>
                        </a:lnSpc>
                        <a:buNone/>
                      </a:pPr>
                      <a:r>
                        <a:rPr lang="en-US" sz="1251" dirty="0">
                          <a:solidFill>
                            <a:srgbClr val="14213D"/>
                          </a:solidFill>
                          <a:latin typeface="IBM Plex Sans" pitchFamily="34" charset="0"/>
                          <a:ea typeface="IBM Plex Sans" pitchFamily="34" charset="-122"/>
                          <a:cs typeface="IBM Plex Sans" pitchFamily="34" charset="-120"/>
                        </a:rPr>
                        <a:t>210</a:t>
                      </a:r>
                      <a:endParaRPr lang="en-US" sz="1251" dirty="0">
                        <a:latin typeface="IBM Plex Sans" charset="0"/>
                        <a:ea typeface="IBM Plex Sans" charset="0"/>
                        <a:cs typeface="IBM Plex Sans" charset="0"/>
                      </a:endParaRPr>
                    </a:p>
                  </a:txBody>
                  <a:tcPr marL="55618" marR="55618" marT="55618" marB="55618"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c>
                  <a:txBody>
                    <a:bodyPr/>
                    <a:lstStyle/>
                    <a:p>
                      <a:pPr algn="r" indent="0" marL="0">
                        <a:lnSpc>
                          <a:spcPts val="1752"/>
                        </a:lnSpc>
                        <a:buNone/>
                      </a:pPr>
                      <a:r>
                        <a:rPr lang="en-US" sz="1251" dirty="0">
                          <a:solidFill>
                            <a:srgbClr val="14213D"/>
                          </a:solidFill>
                          <a:latin typeface="IBM Plex Sans" pitchFamily="34" charset="0"/>
                          <a:ea typeface="IBM Plex Sans" pitchFamily="34" charset="-122"/>
                          <a:cs typeface="IBM Plex Sans" pitchFamily="34" charset="-120"/>
                        </a:rPr>
                        <a:t>405</a:t>
                      </a:r>
                      <a:endParaRPr lang="en-US" sz="1251" dirty="0">
                        <a:latin typeface="IBM Plex Sans" charset="0"/>
                        <a:ea typeface="IBM Plex Sans" charset="0"/>
                        <a:cs typeface="IBM Plex Sans" charset="0"/>
                      </a:endParaRPr>
                    </a:p>
                  </a:txBody>
                  <a:tcPr marL="55618" marR="55618" marT="55618" marB="55618"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r>
              <a:tr h="346538">
                <a:tc>
                  <a:txBody>
                    <a:bodyPr/>
                    <a:lstStyle/>
                    <a:p>
                      <a:pPr indent="0" marL="0">
                        <a:lnSpc>
                          <a:spcPts val="1752"/>
                        </a:lnSpc>
                        <a:buNone/>
                      </a:pPr>
                      <a:r>
                        <a:rPr lang="en-US" sz="1251" dirty="0">
                          <a:solidFill>
                            <a:srgbClr val="14213D"/>
                          </a:solidFill>
                          <a:latin typeface="IBM Plex Sans" pitchFamily="34" charset="0"/>
                          <a:ea typeface="IBM Plex Sans" pitchFamily="34" charset="-122"/>
                          <a:cs typeface="IBM Plex Sans" pitchFamily="34" charset="-120"/>
                        </a:rPr>
                        <a:t>P3 modular</a:t>
                      </a:r>
                      <a:endParaRPr lang="en-US" sz="1251" dirty="0">
                        <a:latin typeface="IBM Plex Sans" charset="0"/>
                        <a:ea typeface="IBM Plex Sans" charset="0"/>
                        <a:cs typeface="IBM Plex Sans" charset="0"/>
                      </a:endParaRPr>
                    </a:p>
                  </a:txBody>
                  <a:tcPr marL="55618" marR="55618" marT="55618" marB="55618"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EEF1F5"/>
                    </a:solidFill>
                  </a:tcPr>
                </a:tc>
                <a:tc>
                  <a:txBody>
                    <a:bodyPr/>
                    <a:lstStyle/>
                    <a:p>
                      <a:pPr algn="r" indent="0" marL="0">
                        <a:lnSpc>
                          <a:spcPts val="1752"/>
                        </a:lnSpc>
                        <a:buNone/>
                      </a:pPr>
                      <a:r>
                        <a:rPr lang="en-US" sz="1251" dirty="0">
                          <a:solidFill>
                            <a:srgbClr val="14213D"/>
                          </a:solidFill>
                          <a:latin typeface="IBM Plex Sans" pitchFamily="34" charset="0"/>
                          <a:ea typeface="IBM Plex Sans" pitchFamily="34" charset="-122"/>
                          <a:cs typeface="IBM Plex Sans" pitchFamily="34" charset="-120"/>
                        </a:rPr>
                        <a:t>271 ns</a:t>
                      </a:r>
                      <a:endParaRPr lang="en-US" sz="1251" dirty="0">
                        <a:latin typeface="IBM Plex Sans" charset="0"/>
                        <a:ea typeface="IBM Plex Sans" charset="0"/>
                        <a:cs typeface="IBM Plex Sans" charset="0"/>
                      </a:endParaRPr>
                    </a:p>
                  </a:txBody>
                  <a:tcPr marL="55618" marR="55618" marT="55618" marB="55618"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EEF1F5"/>
                    </a:solidFill>
                  </a:tcPr>
                </a:tc>
                <a:tc>
                  <a:txBody>
                    <a:bodyPr/>
                    <a:lstStyle/>
                    <a:p>
                      <a:pPr algn="r" indent="0" marL="0">
                        <a:lnSpc>
                          <a:spcPts val="1752"/>
                        </a:lnSpc>
                        <a:buNone/>
                      </a:pPr>
                      <a:r>
                        <a:rPr lang="en-US" sz="1251" dirty="0">
                          <a:solidFill>
                            <a:srgbClr val="14213D"/>
                          </a:solidFill>
                          <a:latin typeface="IBM Plex Sans" pitchFamily="34" charset="0"/>
                          <a:ea typeface="IBM Plex Sans" pitchFamily="34" charset="-122"/>
                          <a:cs typeface="IBM Plex Sans" pitchFamily="34" charset="-120"/>
                        </a:rPr>
                        <a:t>+244</a:t>
                      </a:r>
                      <a:endParaRPr lang="en-US" sz="1251" dirty="0">
                        <a:latin typeface="IBM Plex Sans" charset="0"/>
                        <a:ea typeface="IBM Plex Sans" charset="0"/>
                        <a:cs typeface="IBM Plex Sans" charset="0"/>
                      </a:endParaRPr>
                    </a:p>
                  </a:txBody>
                  <a:tcPr marL="55618" marR="55618" marT="55618" marB="55618"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EEF1F5"/>
                    </a:solidFill>
                  </a:tcPr>
                </a:tc>
                <a:tc>
                  <a:txBody>
                    <a:bodyPr/>
                    <a:lstStyle/>
                    <a:p>
                      <a:pPr algn="r" indent="0" marL="0">
                        <a:lnSpc>
                          <a:spcPts val="1752"/>
                        </a:lnSpc>
                        <a:buNone/>
                      </a:pPr>
                      <a:r>
                        <a:rPr lang="en-US" sz="1251" dirty="0">
                          <a:solidFill>
                            <a:srgbClr val="14213D"/>
                          </a:solidFill>
                          <a:latin typeface="IBM Plex Sans" pitchFamily="34" charset="0"/>
                          <a:ea typeface="IBM Plex Sans" pitchFamily="34" charset="-122"/>
                          <a:cs typeface="IBM Plex Sans" pitchFamily="34" charset="-120"/>
                        </a:rPr>
                        <a:t>219</a:t>
                      </a:r>
                      <a:endParaRPr lang="en-US" sz="1251" dirty="0">
                        <a:latin typeface="IBM Plex Sans" charset="0"/>
                        <a:ea typeface="IBM Plex Sans" charset="0"/>
                        <a:cs typeface="IBM Plex Sans" charset="0"/>
                      </a:endParaRPr>
                    </a:p>
                  </a:txBody>
                  <a:tcPr marL="55618" marR="55618" marT="55618" marB="55618"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EEF1F5"/>
                    </a:solidFill>
                  </a:tcPr>
                </a:tc>
                <a:tc>
                  <a:txBody>
                    <a:bodyPr/>
                    <a:lstStyle/>
                    <a:p>
                      <a:pPr algn="r" indent="0" marL="0">
                        <a:lnSpc>
                          <a:spcPts val="1752"/>
                        </a:lnSpc>
                        <a:buNone/>
                      </a:pPr>
                      <a:r>
                        <a:rPr lang="en-US" sz="1251" dirty="0">
                          <a:solidFill>
                            <a:srgbClr val="14213D"/>
                          </a:solidFill>
                          <a:latin typeface="IBM Plex Sans" pitchFamily="34" charset="0"/>
                          <a:ea typeface="IBM Plex Sans" pitchFamily="34" charset="-122"/>
                          <a:cs typeface="IBM Plex Sans" pitchFamily="34" charset="-120"/>
                        </a:rPr>
                        <a:t>509</a:t>
                      </a:r>
                      <a:endParaRPr lang="en-US" sz="1251" dirty="0">
                        <a:latin typeface="IBM Plex Sans" charset="0"/>
                        <a:ea typeface="IBM Plex Sans" charset="0"/>
                        <a:cs typeface="IBM Plex Sans" charset="0"/>
                      </a:endParaRPr>
                    </a:p>
                  </a:txBody>
                  <a:tcPr marL="55618" marR="55618" marT="55618" marB="55618"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EEF1F5"/>
                    </a:solidFill>
                  </a:tcPr>
                </a:tc>
              </a:tr>
            </a:tbl>
          </a:graphicData>
        </a:graphic>
      </p:graphicFrame>
      <p:sp>
        <p:nvSpPr>
          <p:cNvPr id="16" name="Text 11"/>
          <p:cNvSpPr/>
          <p:nvPr/>
        </p:nvSpPr>
        <p:spPr>
          <a:xfrm>
            <a:off x="812800" y="5411192"/>
            <a:ext cx="10595610" cy="456208"/>
          </a:xfrm>
          <a:prstGeom prst="rect">
            <a:avLst/>
          </a:prstGeom>
          <a:noFill/>
          <a:ln/>
        </p:spPr>
        <p:txBody>
          <a:bodyPr wrap="square" lIns="0" tIns="0" rIns="0" bIns="0" rtlCol="0" anchor="t">
            <a:normAutofit/>
          </a:bodyPr>
          <a:lstStyle/>
          <a:p>
            <a:pPr algn="l" indent="0" marL="0">
              <a:lnSpc>
                <a:spcPts val="1707"/>
              </a:lnSpc>
              <a:buNone/>
            </a:pPr>
            <a:r>
              <a:rPr lang="en-US" sz="1219" b="1" dirty="0">
                <a:solidFill>
                  <a:srgbClr val="4A5568"/>
                </a:solidFill>
                <a:latin typeface="IBM Plex Sans" pitchFamily="34" charset="0"/>
                <a:ea typeface="IBM Plex Sans" pitchFamily="34" charset="-122"/>
                <a:cs typeface="IBM Plex Sans" pitchFamily="34" charset="-120"/>
              </a:rPr>
              <a:t>La prova che la separazione regge:</a:t>
            </a:r>
            <a:r>
              <a:rPr lang="en-US" sz="1219" dirty="0">
                <a:solidFill>
                  <a:srgbClr val="4A5568"/>
                </a:solidFill>
                <a:latin typeface="IBM Plex Sans" pitchFamily="34" charset="0"/>
                <a:ea typeface="IBM Plex Sans" pitchFamily="34" charset="-122"/>
                <a:cs typeface="IBM Plex Sans" pitchFamily="34" charset="-120"/>
              </a:rPr>
              <a:t> T₃−T₂ sta fra 195 e 219 ns per </a:t>
            </a:r>
            <a:r>
              <a:rPr lang="en-US" sz="1219" i="1" dirty="0">
                <a:solidFill>
                  <a:srgbClr val="4A5568"/>
                </a:solidFill>
                <a:latin typeface="IBM Plex Sans" pitchFamily="34" charset="0"/>
                <a:ea typeface="IBM Plex Sans" pitchFamily="34" charset="-122"/>
                <a:cs typeface="IBM Plex Sans" pitchFamily="34" charset="-120"/>
              </a:rPr>
              <a:t>tutte e cinque</a:t>
            </a:r>
            <a:r>
              <a:rPr lang="en-US" sz="1219" dirty="0">
                <a:solidFill>
                  <a:srgbClr val="4A5568"/>
                </a:solidFill>
                <a:latin typeface="IBM Plex Sans" pitchFamily="34" charset="0"/>
                <a:ea typeface="IBM Plex Sans" pitchFamily="34" charset="-122"/>
                <a:cs typeface="IBM Plex Sans" pitchFamily="34" charset="-120"/>
              </a:rPr>
              <a:t>, senza correlazione col lavoro svolto. Se fosse mal fatta, il costo dell’inferenza colerebbe nel trasporto.</a:t>
            </a:r>
            <a:endParaRPr lang="en-US" sz="1219" dirty="0"/>
          </a:p>
        </p:txBody>
      </p:sp>
      <p:sp>
        <p:nvSpPr>
          <p:cNvPr id="17" name="Text 12"/>
          <p:cNvSpPr/>
          <p:nvPr/>
        </p:nvSpPr>
        <p:spPr>
          <a:xfrm>
            <a:off x="812800" y="6238280"/>
            <a:ext cx="796040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Quattro campagne indipendenti, giorni diversi: scarti di 1–2 ns · piatte anche al variare del rate, da 0,5 a 3,0 Mpps</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EEF1F5"/>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C2410C"/>
                </a:solidFill>
                <a:latin typeface="JetBrains Mono" pitchFamily="34" charset="0"/>
                <a:ea typeface="JetBrains Mono" pitchFamily="34" charset="-122"/>
                <a:cs typeface="JetBrains Mono" pitchFamily="34" charset="-120"/>
              </a:rPr>
              <a:t>PROBLEMA · ZERO PERDITE, E UN NUMERO CHE NON SIGNIFICA NIENTE</a:t>
            </a:r>
            <a:endParaRPr lang="en-US" sz="1300" dirty="0"/>
          </a:p>
        </p:txBody>
      </p:sp>
      <p:sp>
        <p:nvSpPr>
          <p:cNvPr id="3" name="Text 1"/>
          <p:cNvSpPr/>
          <p:nvPr/>
        </p:nvSpPr>
        <p:spPr>
          <a:xfrm>
            <a:off x="812800" y="1107418"/>
            <a:ext cx="10883392" cy="430477"/>
          </a:xfrm>
          <a:prstGeom prst="rect">
            <a:avLst/>
          </a:prstGeom>
          <a:noFill/>
          <a:ln/>
        </p:spPr>
        <p:txBody>
          <a:bodyPr wrap="square" lIns="0" tIns="0" rIns="0" bIns="0" rtlCol="0" anchor="t">
            <a:normAutofit/>
          </a:bodyPr>
          <a:lstStyle/>
          <a:p>
            <a:pPr algn="l" indent="0" marL="0">
              <a:lnSpc>
                <a:spcPts val="3190"/>
              </a:lnSpc>
              <a:buNone/>
            </a:pPr>
            <a:r>
              <a:rPr lang="en-US" sz="2900" b="1" dirty="0">
                <a:solidFill>
                  <a:srgbClr val="14213D"/>
                </a:solidFill>
                <a:latin typeface="IBM Plex Sans" pitchFamily="34" charset="0"/>
                <a:ea typeface="IBM Plex Sans" pitchFamily="34" charset="-122"/>
                <a:cs typeface="IBM Plex Sans" pitchFamily="34" charset="-120"/>
              </a:rPr>
              <a:t>Perdita 0,000 %. E quindi?</a:t>
            </a:r>
            <a:endParaRPr lang="en-US" sz="2900" dirty="0"/>
          </a:p>
        </p:txBody>
      </p:sp>
      <p:sp>
        <p:nvSpPr>
          <p:cNvPr id="4" name="Text 2"/>
          <p:cNvSpPr/>
          <p:nvPr/>
        </p:nvSpPr>
        <p:spPr>
          <a:xfrm>
            <a:off x="812800" y="1677591"/>
            <a:ext cx="10595610"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Sei rate, cinque pipeline, tre giri: </a:t>
            </a:r>
            <a:r>
              <a:rPr lang="en-US" sz="1400" b="1" dirty="0">
                <a:solidFill>
                  <a:srgbClr val="4A5568"/>
                </a:solidFill>
                <a:latin typeface="IBM Plex Sans" pitchFamily="34" charset="0"/>
                <a:ea typeface="IBM Plex Sans" pitchFamily="34" charset="-122"/>
                <a:cs typeface="IBM Plex Sans" pitchFamily="34" charset="-120"/>
              </a:rPr>
              <a:t>nessuna pipeline ha perso un pacchetto</a:t>
            </a:r>
            <a:r>
              <a:rPr lang="en-US" sz="1400" dirty="0">
                <a:solidFill>
                  <a:srgbClr val="4A5568"/>
                </a:solidFill>
                <a:latin typeface="IBM Plex Sans" pitchFamily="34" charset="0"/>
                <a:ea typeface="IBM Plex Sans" pitchFamily="34" charset="-122"/>
                <a:cs typeface="IBM Plex Sans" pitchFamily="34" charset="-120"/>
              </a:rPr>
              <a:t>, nemmeno al rate più alto. Sembra un ottimo risultato. In realtà dice che non abbiamo mai messo il nodo sotto sforzo.</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12800" y="2340508"/>
          <a:ext cx="6337300" cy="1929805"/>
        </p:xfrm>
        <a:graphic>
          <a:graphicData uri="http://schemas.openxmlformats.org/drawingml/2006/table">
            <a:tbl>
              <a:tblPr/>
              <a:tblGrid>
                <a:gridCol w="1647698"/>
                <a:gridCol w="1774444"/>
                <a:gridCol w="1394206"/>
                <a:gridCol w="1520952"/>
              </a:tblGrid>
              <a:tr h="385961">
                <a:tc>
                  <a:txBody>
                    <a:bodyPr/>
                    <a:lstStyle/>
                    <a:p>
                      <a:pPr algn="r" indent="0" marL="0">
                        <a:lnSpc>
                          <a:spcPts val="1960"/>
                        </a:lnSpc>
                        <a:buNone/>
                      </a:pPr>
                      <a:r>
                        <a:rPr lang="en-US" sz="1400" b="1" dirty="0">
                          <a:solidFill>
                            <a:srgbClr val="FBFBF8"/>
                          </a:solidFill>
                          <a:latin typeface="IBM Plex Sans" pitchFamily="34" charset="0"/>
                          <a:ea typeface="IBM Plex Sans" pitchFamily="34" charset="-122"/>
                          <a:cs typeface="IBM Plex Sans" pitchFamily="34" charset="-120"/>
                        </a:rPr>
                        <a:t>chiesto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14213D"/>
                    </a:solidFill>
                  </a:tcPr>
                </a:tc>
                <a:tc>
                  <a:txBody>
                    <a:bodyPr/>
                    <a:lstStyle/>
                    <a:p>
                      <a:pPr algn="r" indent="0" marL="0">
                        <a:lnSpc>
                          <a:spcPts val="1960"/>
                        </a:lnSpc>
                        <a:buNone/>
                      </a:pPr>
                      <a:r>
                        <a:rPr lang="en-US" sz="1400" b="1" dirty="0">
                          <a:solidFill>
                            <a:srgbClr val="FBFBF8"/>
                          </a:solidFill>
                          <a:latin typeface="IBM Plex Sans" pitchFamily="34" charset="0"/>
                          <a:ea typeface="IBM Plex Sans" pitchFamily="34" charset="-122"/>
                          <a:cs typeface="IBM Plex Sans" pitchFamily="34" charset="-120"/>
                        </a:rPr>
                        <a:t>consegnato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14213D"/>
                    </a:solidFill>
                  </a:tcPr>
                </a:tc>
                <a:tc>
                  <a:txBody>
                    <a:bodyPr/>
                    <a:lstStyle/>
                    <a:p>
                      <a:pPr algn="r" indent="0" marL="0">
                        <a:lnSpc>
                          <a:spcPts val="1960"/>
                        </a:lnSpc>
                        <a:buNone/>
                      </a:pPr>
                      <a:r>
                        <a:rPr lang="en-US" sz="1400" b="1" dirty="0">
                          <a:solidFill>
                            <a:srgbClr val="FBFBF8"/>
                          </a:solidFill>
                          <a:latin typeface="IBM Plex Sans" pitchFamily="34" charset="0"/>
                          <a:ea typeface="IBM Plex Sans" pitchFamily="34" charset="-122"/>
                          <a:cs typeface="IBM Plex Sans" pitchFamily="34" charset="-120"/>
                        </a:rPr>
                        <a:t>resa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14213D"/>
                    </a:solidFill>
                  </a:tcPr>
                </a:tc>
                <a:tc>
                  <a:txBody>
                    <a:bodyPr/>
                    <a:lstStyle/>
                    <a:p>
                      <a:pPr algn="r" indent="0" marL="0">
                        <a:lnSpc>
                          <a:spcPts val="1960"/>
                        </a:lnSpc>
                        <a:buNone/>
                      </a:pPr>
                      <a:r>
                        <a:rPr lang="en-US" sz="1400" b="1" dirty="0">
                          <a:solidFill>
                            <a:srgbClr val="FBFBF8"/>
                          </a:solidFill>
                          <a:latin typeface="IBM Plex Sans" pitchFamily="34" charset="0"/>
                          <a:ea typeface="IBM Plex Sans" pitchFamily="34" charset="-122"/>
                          <a:cs typeface="IBM Plex Sans" pitchFamily="34" charset="-120"/>
                        </a:rPr>
                        <a:t>perdita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14213D"/>
                    </a:solidFill>
                  </a:tcPr>
                </a:tc>
              </a:tr>
              <a:tr h="385961">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0,50 Mpps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0,33 Mpps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65 %</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0,000 %</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r>
              <a:tr h="385961">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1,00 Mpps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0,64 Mpps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64 %</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0,000 %</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tcPr>
                </a:tc>
              </a:tr>
              <a:tr h="385961">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2,00 Mpps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1,00 Mpps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50 %</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0,000 %</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r>
              <a:tr h="385961">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3,00 Mpps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1,27 Mpps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42 %</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0,000 %</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tcPr>
                </a:tc>
              </a:tr>
            </a:tbl>
          </a:graphicData>
        </a:graphic>
      </p:graphicFrame>
      <p:sp>
        <p:nvSpPr>
          <p:cNvPr id="6" name="Shape 3"/>
          <p:cNvSpPr/>
          <p:nvPr/>
        </p:nvSpPr>
        <p:spPr>
          <a:xfrm>
            <a:off x="7318375" y="2343683"/>
            <a:ext cx="4057650" cy="999662"/>
          </a:xfrm>
          <a:prstGeom prst="roundRect">
            <a:avLst>
              <a:gd name="adj" fmla="val 9846"/>
            </a:avLst>
          </a:prstGeom>
          <a:solidFill>
            <a:srgbClr val="FBFBF8"/>
          </a:solidFill>
          <a:ln w="6350">
            <a:solidFill>
              <a:srgbClr val="D7DEE7"/>
            </a:solidFill>
            <a:prstDash val="solid"/>
          </a:ln>
        </p:spPr>
      </p:sp>
      <p:sp>
        <p:nvSpPr>
          <p:cNvPr id="7" name="Text 4"/>
          <p:cNvSpPr/>
          <p:nvPr/>
        </p:nvSpPr>
        <p:spPr>
          <a:xfrm>
            <a:off x="7497234" y="2497138"/>
            <a:ext cx="381093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C2410C"/>
                </a:solidFill>
                <a:latin typeface="IBM Plex Sans" pitchFamily="34" charset="0"/>
                <a:ea typeface="IBM Plex Sans" pitchFamily="34" charset="-122"/>
                <a:cs typeface="IBM Plex Sans" pitchFamily="34" charset="-120"/>
              </a:rPr>
              <a:t>Il sintomo</a:t>
            </a:r>
            <a:endParaRPr lang="en-US" sz="1400" dirty="0"/>
          </a:p>
        </p:txBody>
      </p:sp>
      <p:sp>
        <p:nvSpPr>
          <p:cNvPr id="8" name="Text 5"/>
          <p:cNvSpPr/>
          <p:nvPr/>
        </p:nvSpPr>
        <p:spPr>
          <a:xfrm>
            <a:off x="7497234" y="2761258"/>
            <a:ext cx="3810931" cy="454025"/>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4A5568"/>
                </a:solidFill>
                <a:latin typeface="IBM Plex Sans" pitchFamily="34" charset="0"/>
                <a:ea typeface="IBM Plex Sans" pitchFamily="34" charset="-122"/>
                <a:cs typeface="IBM Plex Sans" pitchFamily="34" charset="-120"/>
              </a:rPr>
              <a:t>La resa non arriva mai al 70 %, nemmeno al rate più basso. Il carico che manca </a:t>
            </a:r>
            <a:r>
              <a:rPr lang="en-US" sz="1250" b="1" dirty="0">
                <a:solidFill>
                  <a:srgbClr val="4A5568"/>
                </a:solidFill>
                <a:latin typeface="IBM Plex Sans" pitchFamily="34" charset="0"/>
                <a:ea typeface="IBM Plex Sans" pitchFamily="34" charset="-122"/>
                <a:cs typeface="IBM Plex Sans" pitchFamily="34" charset="-120"/>
              </a:rPr>
              <a:t>non è mai partito</a:t>
            </a:r>
            <a:r>
              <a:rPr lang="en-US" sz="1250" dirty="0">
                <a:solidFill>
                  <a:srgbClr val="4A5568"/>
                </a:solidFill>
                <a:latin typeface="IBM Plex Sans" pitchFamily="34" charset="0"/>
                <a:ea typeface="IBM Plex Sans" pitchFamily="34" charset="-122"/>
                <a:cs typeface="IBM Plex Sans" pitchFamily="34" charset="-120"/>
              </a:rPr>
              <a:t>.</a:t>
            </a:r>
            <a:endParaRPr lang="en-US" sz="1250" dirty="0"/>
          </a:p>
        </p:txBody>
      </p:sp>
      <p:sp>
        <p:nvSpPr>
          <p:cNvPr id="9" name="Shape 6"/>
          <p:cNvSpPr/>
          <p:nvPr/>
        </p:nvSpPr>
        <p:spPr>
          <a:xfrm>
            <a:off x="7315200" y="3473524"/>
            <a:ext cx="4064000" cy="997545"/>
          </a:xfrm>
          <a:prstGeom prst="roundRect">
            <a:avLst>
              <a:gd name="adj" fmla="val 10185"/>
            </a:avLst>
          </a:prstGeom>
          <a:solidFill>
            <a:srgbClr val="14213D"/>
          </a:solidFill>
          <a:ln/>
        </p:spPr>
      </p:sp>
      <p:sp>
        <p:nvSpPr>
          <p:cNvPr id="10" name="Text 7"/>
          <p:cNvSpPr/>
          <p:nvPr/>
        </p:nvSpPr>
        <p:spPr>
          <a:xfrm>
            <a:off x="7493000" y="3625924"/>
            <a:ext cx="381965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E8A87C"/>
                </a:solidFill>
                <a:latin typeface="IBM Plex Sans" pitchFamily="34" charset="0"/>
                <a:ea typeface="IBM Plex Sans" pitchFamily="34" charset="-122"/>
                <a:cs typeface="IBM Plex Sans" pitchFamily="34" charset="-120"/>
              </a:rPr>
              <a:t>La causa</a:t>
            </a:r>
            <a:endParaRPr lang="en-US" sz="1400" dirty="0"/>
          </a:p>
        </p:txBody>
      </p:sp>
      <p:sp>
        <p:nvSpPr>
          <p:cNvPr id="11" name="Text 8"/>
          <p:cNvSpPr/>
          <p:nvPr/>
        </p:nvSpPr>
        <p:spPr>
          <a:xfrm>
            <a:off x="7493000" y="3890045"/>
            <a:ext cx="3819652" cy="454025"/>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BFD8D5"/>
                </a:solidFill>
                <a:latin typeface="IBM Plex Sans" pitchFamily="34" charset="0"/>
                <a:ea typeface="IBM Plex Sans" pitchFamily="34" charset="-122"/>
                <a:cs typeface="IBM Plex Sans" pitchFamily="34" charset="-120"/>
              </a:rPr>
              <a:t>Il ring del veth è di 256 descrittori. A coda piena veth_xmit rifiuta, pktgen ritenta, il tempo si allunga.</a:t>
            </a:r>
            <a:endParaRPr lang="en-US" sz="1250" dirty="0"/>
          </a:p>
        </p:txBody>
      </p:sp>
      <p:sp>
        <p:nvSpPr>
          <p:cNvPr id="12" name="Shape 9"/>
          <p:cNvSpPr/>
          <p:nvPr/>
        </p:nvSpPr>
        <p:spPr>
          <a:xfrm>
            <a:off x="812800" y="4636170"/>
            <a:ext cx="10566400" cy="777214"/>
          </a:xfrm>
          <a:prstGeom prst="roundRect">
            <a:avLst>
              <a:gd name="adj" fmla="val 9804"/>
            </a:avLst>
          </a:prstGeom>
          <a:solidFill>
            <a:srgbClr val="FBFBF8"/>
          </a:solidFill>
          <a:ln/>
        </p:spPr>
      </p:sp>
      <p:sp>
        <p:nvSpPr>
          <p:cNvPr id="13" name="Shape 10"/>
          <p:cNvSpPr/>
          <p:nvPr/>
        </p:nvSpPr>
        <p:spPr>
          <a:xfrm>
            <a:off x="831850" y="4636170"/>
            <a:ext cx="0" cy="777214"/>
          </a:xfrm>
          <a:prstGeom prst="line">
            <a:avLst/>
          </a:prstGeom>
          <a:noFill/>
          <a:ln w="38100">
            <a:solidFill>
              <a:srgbClr val="C2410C"/>
            </a:solidFill>
            <a:prstDash val="solid"/>
          </a:ln>
        </p:spPr>
      </p:sp>
      <p:sp>
        <p:nvSpPr>
          <p:cNvPr id="14" name="Text 11"/>
          <p:cNvSpPr/>
          <p:nvPr/>
        </p:nvSpPr>
        <p:spPr>
          <a:xfrm>
            <a:off x="1041400" y="4775870"/>
            <a:ext cx="10451719"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Con perdita nulla ovunque, il «pacchetti al secondo sostenibile» </a:t>
            </a:r>
            <a:r>
              <a:rPr lang="en-US" sz="1400" b="1" dirty="0">
                <a:solidFill>
                  <a:srgbClr val="14213D"/>
                </a:solidFill>
                <a:latin typeface="IBM Plex Sans" pitchFamily="34" charset="0"/>
                <a:ea typeface="IBM Plex Sans" pitchFamily="34" charset="-122"/>
                <a:cs typeface="IBM Plex Sans" pitchFamily="34" charset="-120"/>
              </a:rPr>
              <a:t>non è una capacità del nodo</a:t>
            </a:r>
            <a:r>
              <a:rPr lang="en-US" sz="1400" dirty="0">
                <a:solidFill>
                  <a:srgbClr val="14213D"/>
                </a:solidFill>
                <a:latin typeface="IBM Plex Sans" pitchFamily="34" charset="0"/>
                <a:ea typeface="IBM Plex Sans" pitchFamily="34" charset="-122"/>
                <a:cs typeface="IBM Plex Sans" pitchFamily="34" charset="-120"/>
              </a:rPr>
              <a:t>: è un limite inferiore fissato dal generatore. Il banco ora lo stampa come tale, con due avvertimenti espliciti.</a:t>
            </a:r>
            <a:endParaRPr lang="en-US" sz="1400" dirty="0"/>
          </a:p>
        </p:txBody>
      </p:sp>
      <p:sp>
        <p:nvSpPr>
          <p:cNvPr id="15" name="Text 12"/>
          <p:cNvSpPr/>
          <p:nvPr/>
        </p:nvSpPr>
        <p:spPr>
          <a:xfrm>
            <a:off x="812800" y="6238280"/>
            <a:ext cx="749541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Riga baseline; le altre quattro hanno lo stesso andamento · frame 64 B, generatore e nodo su core disgiunti</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C2410C"/>
                </a:solidFill>
                <a:latin typeface="JetBrains Mono" pitchFamily="34" charset="0"/>
                <a:ea typeface="JetBrains Mono" pitchFamily="34" charset="-122"/>
                <a:cs typeface="JetBrains Mono" pitchFamily="34" charset="-120"/>
              </a:rPr>
              <a:t>LA SOLUZIONE · UN TEST DI CONTROLLO</a:t>
            </a:r>
            <a:endParaRPr lang="en-US" sz="1300" dirty="0"/>
          </a:p>
        </p:txBody>
      </p:sp>
      <p:sp>
        <p:nvSpPr>
          <p:cNvPr id="3" name="Text 1"/>
          <p:cNvSpPr/>
          <p:nvPr/>
        </p:nvSpPr>
        <p:spPr>
          <a:xfrm>
            <a:off x="812800" y="1107418"/>
            <a:ext cx="10883392" cy="430477"/>
          </a:xfrm>
          <a:prstGeom prst="rect">
            <a:avLst/>
          </a:prstGeom>
          <a:noFill/>
          <a:ln/>
        </p:spPr>
        <p:txBody>
          <a:bodyPr wrap="square" lIns="0" tIns="0" rIns="0" bIns="0" rtlCol="0" anchor="t">
            <a:normAutofit/>
          </a:bodyPr>
          <a:lstStyle/>
          <a:p>
            <a:pPr algn="l" indent="0" marL="0">
              <a:lnSpc>
                <a:spcPts val="3190"/>
              </a:lnSpc>
              <a:buNone/>
            </a:pPr>
            <a:r>
              <a:rPr lang="en-US" sz="2900" b="1" dirty="0">
                <a:solidFill>
                  <a:srgbClr val="14213D"/>
                </a:solidFill>
                <a:latin typeface="IBM Plex Sans" pitchFamily="34" charset="0"/>
                <a:ea typeface="IBM Plex Sans" pitchFamily="34" charset="-122"/>
                <a:cs typeface="IBM Plex Sans" pitchFamily="34" charset="-120"/>
              </a:rPr>
              <a:t>Togliere la pipeline, e rimisurare</a:t>
            </a:r>
            <a:endParaRPr lang="en-US" sz="2900" dirty="0"/>
          </a:p>
        </p:txBody>
      </p:sp>
      <p:sp>
        <p:nvSpPr>
          <p:cNvPr id="4" name="Text 2"/>
          <p:cNvSpPr/>
          <p:nvPr/>
        </p:nvSpPr>
        <p:spPr>
          <a:xfrm>
            <a:off x="812800" y="1690291"/>
            <a:ext cx="10595610"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Stesso generatore, stesse code, stesso veth, stessi core — ma </a:t>
            </a:r>
            <a:r>
              <a:rPr lang="en-US" sz="1400" b="1" dirty="0">
                <a:solidFill>
                  <a:srgbClr val="4A5568"/>
                </a:solidFill>
                <a:latin typeface="IBM Plex Sans" pitchFamily="34" charset="0"/>
                <a:ea typeface="IBM Plex Sans" pitchFamily="34" charset="-122"/>
                <a:cs typeface="IBM Plex Sans" pitchFamily="34" charset="-120"/>
              </a:rPr>
              <a:t>nessuna inferenza</a:t>
            </a:r>
            <a:r>
              <a:rPr lang="en-US" sz="1400" dirty="0">
                <a:solidFill>
                  <a:srgbClr val="4A5568"/>
                </a:solidFill>
                <a:latin typeface="IBM Plex Sans" pitchFamily="34" charset="0"/>
                <a:ea typeface="IBM Plex Sans" pitchFamily="34" charset="-122"/>
                <a:cs typeface="IBM Plex Sans" pitchFamily="34" charset="-120"/>
              </a:rPr>
              <a:t>: solo un programma XDP che conta e scarta. Se il tetto resta lo stesso, il tetto non era della pipeline.</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12800" y="2365908"/>
          <a:ext cx="6464300" cy="1929805"/>
        </p:xfrm>
        <a:graphic>
          <a:graphicData uri="http://schemas.openxmlformats.org/drawingml/2006/table">
            <a:tbl>
              <a:tblPr/>
              <a:tblGrid>
                <a:gridCol w="1551432"/>
                <a:gridCol w="1680718"/>
                <a:gridCol w="1680718"/>
                <a:gridCol w="1551432"/>
              </a:tblGrid>
              <a:tr h="385961">
                <a:tc>
                  <a:txBody>
                    <a:bodyPr/>
                    <a:lstStyle/>
                    <a:p>
                      <a:pPr algn="r" indent="0" marL="0">
                        <a:lnSpc>
                          <a:spcPts val="1960"/>
                        </a:lnSpc>
                        <a:buNone/>
                      </a:pPr>
                      <a:r>
                        <a:rPr lang="en-US" sz="1400" b="1" dirty="0">
                          <a:solidFill>
                            <a:srgbClr val="FBFBF8"/>
                          </a:solidFill>
                          <a:latin typeface="IBM Plex Sans" pitchFamily="34" charset="0"/>
                          <a:ea typeface="IBM Plex Sans" pitchFamily="34" charset="-122"/>
                          <a:cs typeface="IBM Plex Sans" pitchFamily="34" charset="-120"/>
                        </a:rPr>
                        <a:t>bersaglio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14213D"/>
                    </a:solidFill>
                  </a:tcPr>
                </a:tc>
                <a:tc>
                  <a:txBody>
                    <a:bodyPr/>
                    <a:lstStyle/>
                    <a:p>
                      <a:pPr algn="r" indent="0" marL="0">
                        <a:lnSpc>
                          <a:spcPts val="1960"/>
                        </a:lnSpc>
                        <a:buNone/>
                      </a:pPr>
                      <a:r>
                        <a:rPr lang="en-US" sz="1400" b="1" dirty="0">
                          <a:solidFill>
                            <a:srgbClr val="FBFBF8"/>
                          </a:solidFill>
                          <a:latin typeface="IBM Plex Sans" pitchFamily="34" charset="0"/>
                          <a:ea typeface="IBM Plex Sans" pitchFamily="34" charset="-122"/>
                          <a:cs typeface="IBM Plex Sans" pitchFamily="34" charset="-120"/>
                        </a:rPr>
                        <a:t>offerti</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14213D"/>
                    </a:solidFill>
                  </a:tcPr>
                </a:tc>
                <a:tc>
                  <a:txBody>
                    <a:bodyPr/>
                    <a:lstStyle/>
                    <a:p>
                      <a:pPr algn="r" indent="0" marL="0">
                        <a:lnSpc>
                          <a:spcPts val="1960"/>
                        </a:lnSpc>
                        <a:buNone/>
                      </a:pPr>
                      <a:r>
                        <a:rPr lang="en-US" sz="1400" b="1" dirty="0">
                          <a:solidFill>
                            <a:srgbClr val="FBFBF8"/>
                          </a:solidFill>
                          <a:latin typeface="IBM Plex Sans" pitchFamily="34" charset="0"/>
                          <a:ea typeface="IBM Plex Sans" pitchFamily="34" charset="-122"/>
                          <a:cs typeface="IBM Plex Sans" pitchFamily="34" charset="-120"/>
                        </a:rPr>
                        <a:t>accettati</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14213D"/>
                    </a:solidFill>
                  </a:tcPr>
                </a:tc>
                <a:tc>
                  <a:txBody>
                    <a:bodyPr/>
                    <a:lstStyle/>
                    <a:p>
                      <a:pPr algn="r" indent="0" marL="0">
                        <a:lnSpc>
                          <a:spcPts val="1960"/>
                        </a:lnSpc>
                        <a:buNone/>
                      </a:pPr>
                      <a:r>
                        <a:rPr lang="en-US" sz="1400" b="1" dirty="0">
                          <a:solidFill>
                            <a:srgbClr val="FBFBF8"/>
                          </a:solidFill>
                          <a:latin typeface="IBM Plex Sans" pitchFamily="34" charset="0"/>
                          <a:ea typeface="IBM Plex Sans" pitchFamily="34" charset="-122"/>
                          <a:cs typeface="IBM Plex Sans" pitchFamily="34" charset="-120"/>
                        </a:rPr>
                        <a:t>respinti</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14213D"/>
                    </a:solidFill>
                  </a:tcPr>
                </a:tc>
              </a:tr>
              <a:tr h="385961">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8 Mpps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EEF1F5"/>
                    </a:solidFill>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4,76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EEF1F5"/>
                    </a:solidFill>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3,15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EEF1F5"/>
                    </a:solidFill>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33 %</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EEF1F5"/>
                    </a:solidFill>
                  </a:tcPr>
                </a:tc>
              </a:tr>
              <a:tr h="385961">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12 Mpps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5,12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3,39</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34 %</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r>
              <a:tr h="385961">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20 Mpps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EEF1F5"/>
                    </a:solidFill>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5,25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EEF1F5"/>
                    </a:solidFill>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3,40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EEF1F5"/>
                    </a:solidFill>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35 %</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EEF1F5"/>
                    </a:solidFill>
                  </a:tcPr>
                </a:tc>
              </a:tr>
              <a:tr h="385961">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25 Mpps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5,46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3,74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33 %</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r>
            </a:tbl>
          </a:graphicData>
        </a:graphic>
      </p:graphicFrame>
      <p:sp>
        <p:nvSpPr>
          <p:cNvPr id="6" name="Shape 3"/>
          <p:cNvSpPr/>
          <p:nvPr/>
        </p:nvSpPr>
        <p:spPr>
          <a:xfrm>
            <a:off x="7442200" y="2365908"/>
            <a:ext cx="3937000" cy="2120305"/>
          </a:xfrm>
          <a:prstGeom prst="roundRect">
            <a:avLst>
              <a:gd name="adj" fmla="val 4792"/>
            </a:avLst>
          </a:prstGeom>
          <a:solidFill>
            <a:srgbClr val="14213D"/>
          </a:solidFill>
          <a:ln/>
        </p:spPr>
      </p:sp>
      <p:sp>
        <p:nvSpPr>
          <p:cNvPr id="7" name="Text 4"/>
          <p:cNvSpPr/>
          <p:nvPr/>
        </p:nvSpPr>
        <p:spPr>
          <a:xfrm>
            <a:off x="7658100" y="2724882"/>
            <a:ext cx="3610356" cy="719733"/>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BFD8D5"/>
                </a:solidFill>
                <a:latin typeface="IBM Plex Sans" pitchFamily="34" charset="0"/>
                <a:ea typeface="IBM Plex Sans" pitchFamily="34" charset="-122"/>
                <a:cs typeface="IBM Plex Sans" pitchFamily="34" charset="-120"/>
              </a:rPr>
              <a:t>Il generatore offre ~5 Mpps. Il veth ne accetta 3,4. Un terzo è rifiutato </a:t>
            </a:r>
            <a:r>
              <a:rPr lang="en-US" sz="1350" b="1" dirty="0">
                <a:solidFill>
                  <a:srgbClr val="BFD8D5"/>
                </a:solidFill>
                <a:latin typeface="IBM Plex Sans" pitchFamily="34" charset="0"/>
                <a:ea typeface="IBM Plex Sans" pitchFamily="34" charset="-122"/>
                <a:cs typeface="IBM Plex Sans" pitchFamily="34" charset="-120"/>
              </a:rPr>
              <a:t>all’ingresso</a:t>
            </a:r>
            <a:r>
              <a:rPr lang="en-US" sz="1350" dirty="0">
                <a:solidFill>
                  <a:srgbClr val="BFD8D5"/>
                </a:solidFill>
                <a:latin typeface="IBM Plex Sans" pitchFamily="34" charset="0"/>
                <a:ea typeface="IBM Plex Sans" pitchFamily="34" charset="-122"/>
                <a:cs typeface="IBM Plex Sans" pitchFamily="34" charset="-120"/>
              </a:rPr>
              <a:t>, e di ciò che entra non si perde niente.</a:t>
            </a:r>
            <a:endParaRPr lang="en-US" sz="1350" dirty="0"/>
          </a:p>
        </p:txBody>
      </p:sp>
      <p:sp>
        <p:nvSpPr>
          <p:cNvPr id="8" name="Text 5"/>
          <p:cNvSpPr/>
          <p:nvPr/>
        </p:nvSpPr>
        <p:spPr>
          <a:xfrm>
            <a:off x="7658100" y="3508115"/>
            <a:ext cx="3610356" cy="332714"/>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E8A87C"/>
                </a:solidFill>
                <a:latin typeface="IBM Plex Sans" pitchFamily="34" charset="0"/>
                <a:ea typeface="IBM Plex Sans" pitchFamily="34" charset="-122"/>
                <a:cs typeface="IBM Plex Sans" pitchFamily="34" charset="-120"/>
              </a:rPr>
              <a:t>Tetto: 3,7 Mpps</a:t>
            </a:r>
            <a:endParaRPr lang="en-US" sz="2200" dirty="0"/>
          </a:p>
        </p:txBody>
      </p:sp>
      <p:sp>
        <p:nvSpPr>
          <p:cNvPr id="9" name="Text 6"/>
          <p:cNvSpPr/>
          <p:nvPr/>
        </p:nvSpPr>
        <p:spPr>
          <a:xfrm>
            <a:off x="7658100" y="3904332"/>
            <a:ext cx="361035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7FD1A4"/>
                </a:solidFill>
                <a:latin typeface="IBM Plex Sans" pitchFamily="34" charset="0"/>
                <a:ea typeface="IBM Plex Sans" pitchFamily="34" charset="-122"/>
                <a:cs typeface="IBM Plex Sans" pitchFamily="34" charset="-120"/>
              </a:rPr>
              <a:t>&amp;Egrave; la </a:t>
            </a:r>
            <a:r>
              <a:rPr lang="en-US" sz="1300" b="1" dirty="0">
                <a:solidFill>
                  <a:srgbClr val="7FD1A4"/>
                </a:solidFill>
                <a:latin typeface="IBM Plex Sans" pitchFamily="34" charset="0"/>
                <a:ea typeface="IBM Plex Sans" pitchFamily="34" charset="-122"/>
                <a:cs typeface="IBM Plex Sans" pitchFamily="34" charset="-120"/>
              </a:rPr>
              <a:t>via di ricezione</a:t>
            </a:r>
            <a:r>
              <a:rPr lang="en-US" sz="1300" dirty="0">
                <a:solidFill>
                  <a:srgbClr val="7FD1A4"/>
                </a:solidFill>
                <a:latin typeface="IBM Plex Sans" pitchFamily="34" charset="0"/>
                <a:ea typeface="IBM Plex Sans" pitchFamily="34" charset="-122"/>
                <a:cs typeface="IBM Plex Sans" pitchFamily="34" charset="-120"/>
              </a:rPr>
              <a:t>, non l’inferenza.</a:t>
            </a:r>
            <a:endParaRPr lang="en-US" sz="1300" dirty="0"/>
          </a:p>
        </p:txBody>
      </p:sp>
      <p:sp>
        <p:nvSpPr>
          <p:cNvPr id="10" name="Shape 7"/>
          <p:cNvSpPr/>
          <p:nvPr/>
        </p:nvSpPr>
        <p:spPr>
          <a:xfrm>
            <a:off x="812800" y="4664013"/>
            <a:ext cx="5200650" cy="998141"/>
          </a:xfrm>
          <a:prstGeom prst="roundRect">
            <a:avLst>
              <a:gd name="adj" fmla="val 10179"/>
            </a:avLst>
          </a:prstGeom>
          <a:solidFill>
            <a:srgbClr val="EEF1F5"/>
          </a:solidFill>
          <a:ln/>
        </p:spPr>
      </p:sp>
      <p:sp>
        <p:nvSpPr>
          <p:cNvPr id="11" name="Text 8"/>
          <p:cNvSpPr/>
          <p:nvPr/>
        </p:nvSpPr>
        <p:spPr>
          <a:xfrm>
            <a:off x="990600" y="4816413"/>
            <a:ext cx="4990402" cy="718741"/>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568"/>
                </a:solidFill>
                <a:latin typeface="IBM Plex Sans" pitchFamily="34" charset="0"/>
                <a:ea typeface="IBM Plex Sans" pitchFamily="34" charset="-122"/>
                <a:cs typeface="IBM Plex Sans" pitchFamily="34" charset="-120"/>
              </a:rPr>
              <a:t>Conseguenza.</a:t>
            </a:r>
            <a:r>
              <a:rPr lang="en-US" sz="1300" dirty="0">
                <a:solidFill>
                  <a:srgbClr val="4A5568"/>
                </a:solidFill>
                <a:latin typeface="IBM Plex Sans" pitchFamily="34" charset="0"/>
                <a:ea typeface="IBM Plex Sans" pitchFamily="34" charset="-122"/>
                <a:cs typeface="IBM Plex Sans" pitchFamily="34" charset="-120"/>
              </a:rPr>
              <a:t> Le pipeline stavano fra 1,1 e 1,4 Mpps con perdita nulla: avevano ancora </a:t>
            </a:r>
            <a:r>
              <a:rPr lang="en-US" sz="1300" b="1" dirty="0">
                <a:solidFill>
                  <a:srgbClr val="4A5568"/>
                </a:solidFill>
                <a:latin typeface="IBM Plex Sans" pitchFamily="34" charset="0"/>
                <a:ea typeface="IBM Plex Sans" pitchFamily="34" charset="-122"/>
                <a:cs typeface="IBM Plex Sans" pitchFamily="34" charset="-120"/>
              </a:rPr>
              <a:t>~2× di margine</a:t>
            </a:r>
            <a:r>
              <a:rPr lang="en-US" sz="1300" dirty="0">
                <a:solidFill>
                  <a:srgbClr val="4A5568"/>
                </a:solidFill>
                <a:latin typeface="IBM Plex Sans" pitchFamily="34" charset="0"/>
                <a:ea typeface="IBM Plex Sans" pitchFamily="34" charset="-122"/>
                <a:cs typeface="IBM Plex Sans" pitchFamily="34" charset="-120"/>
              </a:rPr>
              <a:t>. Il loro ginocchio non è mai stato raggiunto.</a:t>
            </a:r>
            <a:endParaRPr lang="en-US" sz="1300" dirty="0"/>
          </a:p>
        </p:txBody>
      </p:sp>
      <p:sp>
        <p:nvSpPr>
          <p:cNvPr id="12" name="Shape 9"/>
          <p:cNvSpPr/>
          <p:nvPr/>
        </p:nvSpPr>
        <p:spPr>
          <a:xfrm>
            <a:off x="6178550" y="4664013"/>
            <a:ext cx="5200650" cy="998141"/>
          </a:xfrm>
          <a:prstGeom prst="roundRect">
            <a:avLst>
              <a:gd name="adj" fmla="val 10179"/>
            </a:avLst>
          </a:prstGeom>
          <a:solidFill>
            <a:srgbClr val="EEF1F5"/>
          </a:solidFill>
          <a:ln/>
        </p:spPr>
      </p:sp>
      <p:sp>
        <p:nvSpPr>
          <p:cNvPr id="13" name="Text 10"/>
          <p:cNvSpPr/>
          <p:nvPr/>
        </p:nvSpPr>
        <p:spPr>
          <a:xfrm>
            <a:off x="6356350" y="4816413"/>
            <a:ext cx="4990402" cy="487627"/>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568"/>
                </a:solidFill>
                <a:latin typeface="IBM Plex Sans" pitchFamily="34" charset="0"/>
                <a:ea typeface="IBM Plex Sans" pitchFamily="34" charset="-122"/>
                <a:cs typeface="IBM Plex Sans" pitchFamily="34" charset="-120"/>
              </a:rPr>
              <a:t>Una coda più grande non servirebbe.</a:t>
            </a:r>
            <a:r>
              <a:rPr lang="en-US" sz="1300" dirty="0">
                <a:solidFill>
                  <a:srgbClr val="4A5568"/>
                </a:solidFill>
                <a:latin typeface="IBM Plex Sans" pitchFamily="34" charset="0"/>
                <a:ea typeface="IBM Plex Sans" pitchFamily="34" charset="-122"/>
                <a:cs typeface="IBM Plex Sans" pitchFamily="34" charset="-120"/>
              </a:rPr>
              <a:t> Il disavanzo è stazionario, non un picco: la profondità compra latenza, non banda.</a:t>
            </a:r>
            <a:endParaRPr lang="en-US" sz="1300" dirty="0"/>
          </a:p>
        </p:txBody>
      </p:sp>
      <p:sp>
        <p:nvSpPr>
          <p:cNvPr id="14" name="Text 11"/>
          <p:cNvSpPr/>
          <p:nvPr/>
        </p:nvSpPr>
        <p:spPr>
          <a:xfrm>
            <a:off x="812800" y="6238280"/>
            <a:ext cx="958673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Controprova indipendente: il divario di budget fra tetto e baseline è 256 ns, contro i 224 ns di T₂−T₁ più T₃−T₂ — concordano entro il 14 %</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EEF1F5"/>
        </a:solidFill>
      </p:bgPr>
    </p:bg>
    <p:spTree>
      <p:nvGrpSpPr>
        <p:cNvPr id="1" name=""/>
        <p:cNvGrpSpPr/>
        <p:nvPr/>
      </p:nvGrpSpPr>
      <p:grpSpPr>
        <a:xfrm>
          <a:off x="0" y="0"/>
          <a:ext cx="0" cy="0"/>
          <a:chOff x="0" y="0"/>
          <a:chExt cx="0" cy="0"/>
        </a:xfrm>
      </p:grpSpPr>
      <p:sp>
        <p:nvSpPr>
          <p:cNvPr id="2" name="Text 0"/>
          <p:cNvSpPr/>
          <p:nvPr/>
        </p:nvSpPr>
        <p:spPr>
          <a:xfrm>
            <a:off x="812800" y="812800"/>
            <a:ext cx="10883392" cy="222581"/>
          </a:xfrm>
          <a:prstGeom prst="rect">
            <a:avLst/>
          </a:prstGeom>
          <a:noFill/>
          <a:ln/>
        </p:spPr>
        <p:txBody>
          <a:bodyPr wrap="square" lIns="0" tIns="0" rIns="0" bIns="0" rtlCol="0" anchor="t">
            <a:normAutofit/>
          </a:bodyPr>
          <a:lstStyle/>
          <a:p>
            <a:pPr algn="l" indent="0" marL="0">
              <a:lnSpc>
                <a:spcPts val="1570"/>
              </a:lnSpc>
              <a:buNone/>
            </a:pPr>
            <a:r>
              <a:rPr lang="en-US" sz="1121" spc="100" kern="0" dirty="0">
                <a:solidFill>
                  <a:srgbClr val="C2410C"/>
                </a:solidFill>
                <a:latin typeface="JetBrains Mono" pitchFamily="34" charset="0"/>
                <a:ea typeface="JetBrains Mono" pitchFamily="34" charset="-122"/>
                <a:cs typeface="JetBrains Mono" pitchFamily="34" charset="-120"/>
              </a:rPr>
              <a:t>IL SECONDO TIPO DI TEST · MOLTE ARCHITETTURE, NON UNA</a:t>
            </a:r>
            <a:endParaRPr lang="en-US" sz="1121" dirty="0"/>
          </a:p>
        </p:txBody>
      </p:sp>
      <p:sp>
        <p:nvSpPr>
          <p:cNvPr id="3" name="Text 1"/>
          <p:cNvSpPr/>
          <p:nvPr/>
        </p:nvSpPr>
        <p:spPr>
          <a:xfrm>
            <a:off x="812800" y="1073485"/>
            <a:ext cx="10883392" cy="371144"/>
          </a:xfrm>
          <a:prstGeom prst="rect">
            <a:avLst/>
          </a:prstGeom>
          <a:noFill/>
          <a:ln/>
        </p:spPr>
        <p:txBody>
          <a:bodyPr wrap="square" lIns="0" tIns="0" rIns="0" bIns="0" rtlCol="0" anchor="t">
            <a:normAutofit/>
          </a:bodyPr>
          <a:lstStyle/>
          <a:p>
            <a:pPr algn="l" indent="0" marL="0">
              <a:lnSpc>
                <a:spcPts val="2721"/>
              </a:lnSpc>
              <a:buNone/>
            </a:pPr>
            <a:r>
              <a:rPr lang="en-US" sz="2474" b="1" dirty="0">
                <a:solidFill>
                  <a:srgbClr val="14213D"/>
                </a:solidFill>
                <a:latin typeface="IBM Plex Sans" pitchFamily="34" charset="0"/>
                <a:ea typeface="IBM Plex Sans" pitchFamily="34" charset="-122"/>
                <a:cs typeface="IBM Plex Sans" pitchFamily="34" charset="-120"/>
              </a:rPr>
              <a:t>Come cresce il costo quando cresce il modello</a:t>
            </a:r>
            <a:endParaRPr lang="en-US" sz="2474" dirty="0"/>
          </a:p>
        </p:txBody>
      </p:sp>
      <p:sp>
        <p:nvSpPr>
          <p:cNvPr id="4" name="Text 2"/>
          <p:cNvSpPr/>
          <p:nvPr/>
        </p:nvSpPr>
        <p:spPr>
          <a:xfrm>
            <a:off x="812800" y="1597025"/>
            <a:ext cx="10595610" cy="456803"/>
          </a:xfrm>
          <a:prstGeom prst="rect">
            <a:avLst/>
          </a:prstGeom>
          <a:noFill/>
          <a:ln/>
        </p:spPr>
        <p:txBody>
          <a:bodyPr wrap="square" lIns="0" tIns="0" rIns="0" bIns="0" rtlCol="0" anchor="t">
            <a:normAutofit/>
          </a:bodyPr>
          <a:lstStyle/>
          <a:p>
            <a:pPr algn="l" indent="0" marL="0">
              <a:lnSpc>
                <a:spcPts val="1709"/>
              </a:lnSpc>
              <a:buNone/>
            </a:pPr>
            <a:r>
              <a:rPr lang="en-US" sz="1221" dirty="0">
                <a:solidFill>
                  <a:srgbClr val="4A5568"/>
                </a:solidFill>
                <a:latin typeface="IBM Plex Sans" pitchFamily="34" charset="0"/>
                <a:ea typeface="IBM Plex Sans" pitchFamily="34" charset="-122"/>
                <a:cs typeface="IBM Plex Sans" pitchFamily="34" charset="-120"/>
              </a:rPr>
              <a:t>I numeri fin qui riguardano </a:t>
            </a:r>
            <a:r>
              <a:rPr lang="en-US" sz="1221" i="1" dirty="0">
                <a:solidFill>
                  <a:srgbClr val="4A5568"/>
                </a:solidFill>
                <a:latin typeface="IBM Plex Sans" pitchFamily="34" charset="0"/>
                <a:ea typeface="IBM Plex Sans" pitchFamily="34" charset="-122"/>
                <a:cs typeface="IBM Plex Sans" pitchFamily="34" charset="-120"/>
              </a:rPr>
              <a:t>un</a:t>
            </a:r>
            <a:r>
              <a:rPr lang="en-US" sz="1221" dirty="0">
                <a:solidFill>
                  <a:srgbClr val="4A5568"/>
                </a:solidFill>
                <a:latin typeface="IBM Plex Sans" pitchFamily="34" charset="0"/>
                <a:ea typeface="IBM Plex Sans" pitchFamily="34" charset="-122"/>
                <a:cs typeface="IBM Plex Sans" pitchFamily="34" charset="-120"/>
              </a:rPr>
              <a:t> modello, il 65-4-4-7. Chi deve scegliere un’architettura ha bisogno d’altro: quattro assi, un solo parametro che si muove per asse, stessa metodologia di test_suite.</a:t>
            </a:r>
            <a:endParaRPr lang="en-US" sz="1221"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12800" y="2206228"/>
          <a:ext cx="10566400" cy="1615612"/>
        </p:xfrm>
        <a:graphic>
          <a:graphicData uri="http://schemas.openxmlformats.org/drawingml/2006/table">
            <a:tbl>
              <a:tblPr/>
              <a:tblGrid>
                <a:gridCol w="2324608"/>
                <a:gridCol w="2747264"/>
                <a:gridCol w="5494528"/>
              </a:tblGrid>
              <a:tr h="323122">
                <a:tc>
                  <a:txBody>
                    <a:bodyPr/>
                    <a:lstStyle/>
                    <a:p>
                      <a:pPr indent="0" marL="0">
                        <a:lnSpc>
                          <a:spcPts val="1630"/>
                        </a:lnSpc>
                        <a:buNone/>
                      </a:pPr>
                      <a:r>
                        <a:rPr lang="en-US" sz="1164" b="1" dirty="0">
                          <a:solidFill>
                            <a:srgbClr val="FBFBF8"/>
                          </a:solidFill>
                          <a:latin typeface="IBM Plex Sans" pitchFamily="34" charset="0"/>
                          <a:ea typeface="IBM Plex Sans" pitchFamily="34" charset="-122"/>
                          <a:cs typeface="IBM Plex Sans" pitchFamily="34" charset="-120"/>
                        </a:rPr>
                        <a:t>Asse</a:t>
                      </a:r>
                      <a:endParaRPr lang="en-US" sz="1164" dirty="0">
                        <a:latin typeface="IBM Plex Sans" charset="0"/>
                        <a:ea typeface="IBM Plex Sans" charset="0"/>
                        <a:cs typeface="IBM Plex Sans" charset="0"/>
                      </a:endParaRPr>
                    </a:p>
                  </a:txBody>
                  <a:tcPr marL="51756" marR="51756" marT="51756" marB="51756"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14213D"/>
                    </a:solidFill>
                  </a:tcPr>
                </a:tc>
                <a:tc>
                  <a:txBody>
                    <a:bodyPr/>
                    <a:lstStyle/>
                    <a:p>
                      <a:pPr indent="0" marL="0">
                        <a:lnSpc>
                          <a:spcPts val="1630"/>
                        </a:lnSpc>
                        <a:buNone/>
                      </a:pPr>
                      <a:r>
                        <a:rPr lang="en-US" sz="1164" b="1" dirty="0">
                          <a:solidFill>
                            <a:srgbClr val="FBFBF8"/>
                          </a:solidFill>
                          <a:latin typeface="IBM Plex Sans" pitchFamily="34" charset="0"/>
                          <a:ea typeface="IBM Plex Sans" pitchFamily="34" charset="-122"/>
                          <a:cs typeface="IBM Plex Sans" pitchFamily="34" charset="-120"/>
                        </a:rPr>
                        <a:t>Valori</a:t>
                      </a:r>
                      <a:endParaRPr lang="en-US" sz="1164" dirty="0">
                        <a:latin typeface="IBM Plex Sans" charset="0"/>
                        <a:ea typeface="IBM Plex Sans" charset="0"/>
                        <a:cs typeface="IBM Plex Sans" charset="0"/>
                      </a:endParaRPr>
                    </a:p>
                  </a:txBody>
                  <a:tcPr marL="51756" marR="51756" marT="51756" marB="51756"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14213D"/>
                    </a:solidFill>
                  </a:tcPr>
                </a:tc>
                <a:tc>
                  <a:txBody>
                    <a:bodyPr/>
                    <a:lstStyle/>
                    <a:p>
                      <a:pPr indent="0" marL="0">
                        <a:lnSpc>
                          <a:spcPts val="1630"/>
                        </a:lnSpc>
                        <a:buNone/>
                      </a:pPr>
                      <a:r>
                        <a:rPr lang="en-US" sz="1164" b="1" dirty="0">
                          <a:solidFill>
                            <a:srgbClr val="FBFBF8"/>
                          </a:solidFill>
                          <a:latin typeface="IBM Plex Sans" pitchFamily="34" charset="0"/>
                          <a:ea typeface="IBM Plex Sans" pitchFamily="34" charset="-122"/>
                          <a:cs typeface="IBM Plex Sans" pitchFamily="34" charset="-120"/>
                        </a:rPr>
                        <a:t>Che cosa muove</a:t>
                      </a:r>
                      <a:endParaRPr lang="en-US" sz="1164" dirty="0">
                        <a:latin typeface="IBM Plex Sans" charset="0"/>
                        <a:ea typeface="IBM Plex Sans" charset="0"/>
                        <a:cs typeface="IBM Plex Sans" charset="0"/>
                      </a:endParaRPr>
                    </a:p>
                  </a:txBody>
                  <a:tcPr marL="51756" marR="51756" marT="51756" marB="51756"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14213D"/>
                    </a:solidFill>
                  </a:tcPr>
                </a:tc>
              </a:tr>
              <a:tr h="323122">
                <a:tc>
                  <a:txBody>
                    <a:bodyPr/>
                    <a:lstStyle/>
                    <a:p>
                      <a:pPr indent="0" marL="0">
                        <a:lnSpc>
                          <a:spcPts val="1630"/>
                        </a:lnSpc>
                        <a:buNone/>
                      </a:pPr>
                      <a:r>
                        <a:rPr lang="en-US" sz="1164" dirty="0">
                          <a:solidFill>
                            <a:srgbClr val="14213D"/>
                          </a:solidFill>
                          <a:latin typeface="IBM Plex Sans" pitchFamily="34" charset="0"/>
                          <a:ea typeface="IBM Plex Sans" pitchFamily="34" charset="-122"/>
                          <a:cs typeface="IBM Plex Sans" pitchFamily="34" charset="-120"/>
                        </a:rPr>
                        <a:t>IV densa</a:t>
                      </a:r>
                      <a:endParaRPr lang="en-US" sz="1164" dirty="0">
                        <a:latin typeface="IBM Plex Sans" charset="0"/>
                        <a:ea typeface="IBM Plex Sans" charset="0"/>
                        <a:cs typeface="IBM Plex Sans" charset="0"/>
                      </a:endParaRPr>
                    </a:p>
                  </a:txBody>
                  <a:tcPr marL="51756" marR="51756" marT="51756" marB="51756"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c>
                  <a:txBody>
                    <a:bodyPr/>
                    <a:lstStyle/>
                    <a:p>
                      <a:pPr indent="0" marL="0">
                        <a:lnSpc>
                          <a:spcPts val="1630"/>
                        </a:lnSpc>
                        <a:buNone/>
                      </a:pPr>
                      <a:r>
                        <a:rPr lang="en-US" sz="1164" dirty="0">
                          <a:solidFill>
                            <a:srgbClr val="14213D"/>
                          </a:solidFill>
                          <a:latin typeface="IBM Plex Sans" pitchFamily="34" charset="0"/>
                          <a:ea typeface="IBM Plex Sans" pitchFamily="34" charset="-122"/>
                          <a:cs typeface="IBM Plex Sans" pitchFamily="34" charset="-120"/>
                        </a:rPr>
                        <a:t>n_in 5, 9, 13, 17</a:t>
                      </a:r>
                      <a:endParaRPr lang="en-US" sz="1164" dirty="0">
                        <a:latin typeface="IBM Plex Sans" charset="0"/>
                        <a:ea typeface="IBM Plex Sans" charset="0"/>
                        <a:cs typeface="IBM Plex Sans" charset="0"/>
                      </a:endParaRPr>
                    </a:p>
                  </a:txBody>
                  <a:tcPr marL="51756" marR="51756" marT="51756" marB="51756"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c>
                  <a:txBody>
                    <a:bodyPr/>
                    <a:lstStyle/>
                    <a:p>
                      <a:pPr indent="0" marL="0">
                        <a:lnSpc>
                          <a:spcPts val="1630"/>
                        </a:lnSpc>
                        <a:buNone/>
                      </a:pPr>
                      <a:r>
                        <a:rPr lang="en-US" sz="1164" dirty="0">
                          <a:solidFill>
                            <a:srgbClr val="14213D"/>
                          </a:solidFill>
                          <a:latin typeface="IBM Plex Sans" pitchFamily="34" charset="0"/>
                          <a:ea typeface="IBM Plex Sans" pitchFamily="34" charset="-122"/>
                          <a:cs typeface="IBM Plex Sans" pitchFamily="34" charset="-120"/>
                        </a:rPr>
                        <a:t>colonne d’ingresso lette da mappa: ognuna costa h₁ moltiplicazioni</a:t>
                      </a:r>
                      <a:endParaRPr lang="en-US" sz="1164" dirty="0">
                        <a:latin typeface="IBM Plex Sans" charset="0"/>
                        <a:ea typeface="IBM Plex Sans" charset="0"/>
                        <a:cs typeface="IBM Plex Sans" charset="0"/>
                      </a:endParaRPr>
                    </a:p>
                  </a:txBody>
                  <a:tcPr marL="51756" marR="51756" marT="51756" marB="51756"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r>
              <a:tr h="323122">
                <a:tc>
                  <a:txBody>
                    <a:bodyPr/>
                    <a:lstStyle/>
                    <a:p>
                      <a:pPr indent="0" marL="0">
                        <a:lnSpc>
                          <a:spcPts val="1630"/>
                        </a:lnSpc>
                        <a:buNone/>
                      </a:pPr>
                      <a:r>
                        <a:rPr lang="en-US" sz="1164" dirty="0">
                          <a:solidFill>
                            <a:srgbClr val="14213D"/>
                          </a:solidFill>
                          <a:latin typeface="IBM Plex Sans" pitchFamily="34" charset="0"/>
                          <a:ea typeface="IBM Plex Sans" pitchFamily="34" charset="-122"/>
                          <a:cs typeface="IBM Plex Sans" pitchFamily="34" charset="-120"/>
                        </a:rPr>
                        <a:t>IV one-hot</a:t>
                      </a:r>
                      <a:endParaRPr lang="en-US" sz="1164" dirty="0">
                        <a:latin typeface="IBM Plex Sans" charset="0"/>
                        <a:ea typeface="IBM Plex Sans" charset="0"/>
                        <a:cs typeface="IBM Plex Sans" charset="0"/>
                      </a:endParaRPr>
                    </a:p>
                  </a:txBody>
                  <a:tcPr marL="51756" marR="51756" marT="51756" marB="51756"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tcPr>
                </a:tc>
                <a:tc>
                  <a:txBody>
                    <a:bodyPr/>
                    <a:lstStyle/>
                    <a:p>
                      <a:pPr indent="0" marL="0">
                        <a:lnSpc>
                          <a:spcPts val="1630"/>
                        </a:lnSpc>
                        <a:buNone/>
                      </a:pPr>
                      <a:r>
                        <a:rPr lang="en-US" sz="1164" dirty="0">
                          <a:solidFill>
                            <a:srgbClr val="14213D"/>
                          </a:solidFill>
                          <a:latin typeface="IBM Plex Sans" pitchFamily="34" charset="0"/>
                          <a:ea typeface="IBM Plex Sans" pitchFamily="34" charset="-122"/>
                          <a:cs typeface="IBM Plex Sans" pitchFamily="34" charset="-120"/>
                        </a:rPr>
                        <a:t>n_in 16, 32, 65</a:t>
                      </a:r>
                      <a:endParaRPr lang="en-US" sz="1164" dirty="0">
                        <a:latin typeface="IBM Plex Sans" charset="0"/>
                        <a:ea typeface="IBM Plex Sans" charset="0"/>
                        <a:cs typeface="IBM Plex Sans" charset="0"/>
                      </a:endParaRPr>
                    </a:p>
                  </a:txBody>
                  <a:tcPr marL="51756" marR="51756" marT="51756" marB="51756"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tcPr>
                </a:tc>
                <a:tc>
                  <a:txBody>
                    <a:bodyPr/>
                    <a:lstStyle/>
                    <a:p>
                      <a:pPr indent="0" marL="0">
                        <a:lnSpc>
                          <a:spcPts val="1630"/>
                        </a:lnSpc>
                        <a:buNone/>
                      </a:pPr>
                      <a:r>
                        <a:rPr lang="en-US" sz="1164" dirty="0">
                          <a:solidFill>
                            <a:srgbClr val="14213D"/>
                          </a:solidFill>
                          <a:latin typeface="IBM Plex Sans" pitchFamily="34" charset="0"/>
                          <a:ea typeface="IBM Plex Sans" pitchFamily="34" charset="-122"/>
                          <a:cs typeface="IBM Plex Sans" pitchFamily="34" charset="-120"/>
                        </a:rPr>
                        <a:t>colonne d’ingresso dentro una one-hot</a:t>
                      </a:r>
                      <a:endParaRPr lang="en-US" sz="1164" dirty="0">
                        <a:latin typeface="IBM Plex Sans" charset="0"/>
                        <a:ea typeface="IBM Plex Sans" charset="0"/>
                        <a:cs typeface="IBM Plex Sans" charset="0"/>
                      </a:endParaRPr>
                    </a:p>
                  </a:txBody>
                  <a:tcPr marL="51756" marR="51756" marT="51756" marB="51756"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tcPr>
                </a:tc>
              </a:tr>
              <a:tr h="323122">
                <a:tc>
                  <a:txBody>
                    <a:bodyPr/>
                    <a:lstStyle/>
                    <a:p>
                      <a:pPr indent="0" marL="0">
                        <a:lnSpc>
                          <a:spcPts val="1630"/>
                        </a:lnSpc>
                        <a:buNone/>
                      </a:pPr>
                      <a:r>
                        <a:rPr lang="en-US" sz="1164" dirty="0">
                          <a:solidFill>
                            <a:srgbClr val="14213D"/>
                          </a:solidFill>
                          <a:latin typeface="IBM Plex Sans" pitchFamily="34" charset="0"/>
                          <a:ea typeface="IBM Plex Sans" pitchFamily="34" charset="-122"/>
                          <a:cs typeface="IBM Plex Sans" pitchFamily="34" charset="-120"/>
                        </a:rPr>
                        <a:t>larghezza</a:t>
                      </a:r>
                      <a:endParaRPr lang="en-US" sz="1164" dirty="0">
                        <a:latin typeface="IBM Plex Sans" charset="0"/>
                        <a:ea typeface="IBM Plex Sans" charset="0"/>
                        <a:cs typeface="IBM Plex Sans" charset="0"/>
                      </a:endParaRPr>
                    </a:p>
                  </a:txBody>
                  <a:tcPr marL="51756" marR="51756" marT="51756" marB="51756"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c>
                  <a:txBody>
                    <a:bodyPr/>
                    <a:lstStyle/>
                    <a:p>
                      <a:pPr indent="0" marL="0">
                        <a:lnSpc>
                          <a:spcPts val="1630"/>
                        </a:lnSpc>
                        <a:buNone/>
                      </a:pPr>
                      <a:r>
                        <a:rPr lang="en-US" sz="1164" dirty="0">
                          <a:solidFill>
                            <a:srgbClr val="14213D"/>
                          </a:solidFill>
                          <a:latin typeface="IBM Plex Sans" pitchFamily="34" charset="0"/>
                          <a:ea typeface="IBM Plex Sans" pitchFamily="34" charset="-122"/>
                          <a:cs typeface="IBM Plex Sans" pitchFamily="34" charset="-120"/>
                        </a:rPr>
                        <a:t>65-v-v-7, v = 4…32</a:t>
                      </a:r>
                      <a:endParaRPr lang="en-US" sz="1164" dirty="0">
                        <a:latin typeface="IBM Plex Sans" charset="0"/>
                        <a:ea typeface="IBM Plex Sans" charset="0"/>
                        <a:cs typeface="IBM Plex Sans" charset="0"/>
                      </a:endParaRPr>
                    </a:p>
                  </a:txBody>
                  <a:tcPr marL="51756" marR="51756" marT="51756" marB="51756"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c>
                  <a:txBody>
                    <a:bodyPr/>
                    <a:lstStyle/>
                    <a:p>
                      <a:pPr indent="0" marL="0">
                        <a:lnSpc>
                          <a:spcPts val="1630"/>
                        </a:lnSpc>
                        <a:buNone/>
                      </a:pPr>
                      <a:r>
                        <a:rPr lang="en-US" sz="1164" dirty="0">
                          <a:solidFill>
                            <a:srgbClr val="14213D"/>
                          </a:solidFill>
                          <a:latin typeface="IBM Plex Sans" pitchFamily="34" charset="0"/>
                          <a:ea typeface="IBM Plex Sans" pitchFamily="34" charset="-122"/>
                          <a:cs typeface="IBM Plex Sans" pitchFamily="34" charset="-120"/>
                        </a:rPr>
                        <a:t>neuroni per strato nascosto</a:t>
                      </a:r>
                      <a:endParaRPr lang="en-US" sz="1164" dirty="0">
                        <a:latin typeface="IBM Plex Sans" charset="0"/>
                        <a:ea typeface="IBM Plex Sans" charset="0"/>
                        <a:cs typeface="IBM Plex Sans" charset="0"/>
                      </a:endParaRPr>
                    </a:p>
                  </a:txBody>
                  <a:tcPr marL="51756" marR="51756" marT="51756" marB="51756"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r>
              <a:tr h="323122">
                <a:tc>
                  <a:txBody>
                    <a:bodyPr/>
                    <a:lstStyle/>
                    <a:p>
                      <a:pPr indent="0" marL="0">
                        <a:lnSpc>
                          <a:spcPts val="1630"/>
                        </a:lnSpc>
                        <a:buNone/>
                      </a:pPr>
                      <a:r>
                        <a:rPr lang="en-US" sz="1164" dirty="0">
                          <a:solidFill>
                            <a:srgbClr val="14213D"/>
                          </a:solidFill>
                          <a:latin typeface="IBM Plex Sans" pitchFamily="34" charset="0"/>
                          <a:ea typeface="IBM Plex Sans" pitchFamily="34" charset="-122"/>
                          <a:cs typeface="IBM Plex Sans" pitchFamily="34" charset="-120"/>
                        </a:rPr>
                        <a:t>profondità</a:t>
                      </a:r>
                      <a:endParaRPr lang="en-US" sz="1164" dirty="0">
                        <a:latin typeface="IBM Plex Sans" charset="0"/>
                        <a:ea typeface="IBM Plex Sans" charset="0"/>
                        <a:cs typeface="IBM Plex Sans" charset="0"/>
                      </a:endParaRPr>
                    </a:p>
                  </a:txBody>
                  <a:tcPr marL="51756" marR="51756" marT="51756" marB="51756"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tcPr>
                </a:tc>
                <a:tc>
                  <a:txBody>
                    <a:bodyPr/>
                    <a:lstStyle/>
                    <a:p>
                      <a:pPr indent="0" marL="0">
                        <a:lnSpc>
                          <a:spcPts val="1630"/>
                        </a:lnSpc>
                        <a:buNone/>
                      </a:pPr>
                      <a:r>
                        <a:rPr lang="en-US" sz="1164" dirty="0">
                          <a:solidFill>
                            <a:srgbClr val="14213D"/>
                          </a:solidFill>
                          <a:latin typeface="IBM Plex Sans" pitchFamily="34" charset="0"/>
                          <a:ea typeface="IBM Plex Sans" pitchFamily="34" charset="-122"/>
                          <a:cs typeface="IBM Plex Sans" pitchFamily="34" charset="-120"/>
                        </a:rPr>
                        <a:t>65-8…8-7, 1–4 strati</a:t>
                      </a:r>
                      <a:endParaRPr lang="en-US" sz="1164" dirty="0">
                        <a:latin typeface="IBM Plex Sans" charset="0"/>
                        <a:ea typeface="IBM Plex Sans" charset="0"/>
                        <a:cs typeface="IBM Plex Sans" charset="0"/>
                      </a:endParaRPr>
                    </a:p>
                  </a:txBody>
                  <a:tcPr marL="51756" marR="51756" marT="51756" marB="51756"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tcPr>
                </a:tc>
                <a:tc>
                  <a:txBody>
                    <a:bodyPr/>
                    <a:lstStyle/>
                    <a:p>
                      <a:pPr indent="0" marL="0">
                        <a:lnSpc>
                          <a:spcPts val="1630"/>
                        </a:lnSpc>
                        <a:buNone/>
                      </a:pPr>
                      <a:r>
                        <a:rPr lang="en-US" sz="1164" dirty="0">
                          <a:solidFill>
                            <a:srgbClr val="14213D"/>
                          </a:solidFill>
                          <a:latin typeface="IBM Plex Sans" pitchFamily="34" charset="0"/>
                          <a:ea typeface="IBM Plex Sans" pitchFamily="34" charset="-122"/>
                          <a:cs typeface="IBM Plex Sans" pitchFamily="34" charset="-120"/>
                        </a:rPr>
                        <a:t>numero di strati, a larghezza fissa 8</a:t>
                      </a:r>
                      <a:endParaRPr lang="en-US" sz="1164" dirty="0">
                        <a:latin typeface="IBM Plex Sans" charset="0"/>
                        <a:ea typeface="IBM Plex Sans" charset="0"/>
                        <a:cs typeface="IBM Plex Sans" charset="0"/>
                      </a:endParaRPr>
                    </a:p>
                  </a:txBody>
                  <a:tcPr marL="51756" marR="51756" marT="51756" marB="51756"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tcPr>
                </a:tc>
              </a:tr>
            </a:tbl>
          </a:graphicData>
        </a:graphic>
      </p:graphicFrame>
      <p:sp>
        <p:nvSpPr>
          <p:cNvPr id="6" name="Shape 3"/>
          <p:cNvSpPr/>
          <p:nvPr/>
        </p:nvSpPr>
        <p:spPr>
          <a:xfrm>
            <a:off x="815975" y="4192786"/>
            <a:ext cx="5194300" cy="1646039"/>
          </a:xfrm>
          <a:prstGeom prst="roundRect">
            <a:avLst>
              <a:gd name="adj" fmla="val 5980"/>
            </a:avLst>
          </a:prstGeom>
          <a:solidFill>
            <a:srgbClr val="FBFBF8"/>
          </a:solidFill>
          <a:ln w="6350">
            <a:solidFill>
              <a:srgbClr val="D7DEE7"/>
            </a:solidFill>
            <a:prstDash val="solid"/>
          </a:ln>
        </p:spPr>
      </p:sp>
      <p:sp>
        <p:nvSpPr>
          <p:cNvPr id="7" name="Text 4"/>
          <p:cNvSpPr/>
          <p:nvPr/>
        </p:nvSpPr>
        <p:spPr>
          <a:xfrm>
            <a:off x="994833" y="4346253"/>
            <a:ext cx="4981681" cy="196056"/>
          </a:xfrm>
          <a:prstGeom prst="rect">
            <a:avLst/>
          </a:prstGeom>
          <a:noFill/>
          <a:ln/>
        </p:spPr>
        <p:txBody>
          <a:bodyPr wrap="square" lIns="0" tIns="0" rIns="0" bIns="0" rtlCol="0" anchor="t">
            <a:normAutofit/>
          </a:bodyPr>
          <a:lstStyle/>
          <a:p>
            <a:pPr algn="l" indent="0" marL="0">
              <a:lnSpc>
                <a:spcPts val="1372"/>
              </a:lnSpc>
              <a:buNone/>
            </a:pPr>
            <a:r>
              <a:rPr lang="en-US" sz="1143" b="1" dirty="0">
                <a:solidFill>
                  <a:srgbClr val="C2410C"/>
                </a:solidFill>
                <a:latin typeface="IBM Plex Sans" pitchFamily="34" charset="0"/>
                <a:ea typeface="IBM Plex Sans" pitchFamily="34" charset="-122"/>
                <a:cs typeface="IBM Plex Sans" pitchFamily="34" charset="-120"/>
              </a:rPr>
              <a:t>Muro 1 — e la trappola dentro</a:t>
            </a:r>
            <a:endParaRPr lang="en-US" sz="1143" dirty="0"/>
          </a:p>
        </p:txBody>
      </p:sp>
      <p:sp>
        <p:nvSpPr>
          <p:cNvPr id="8" name="Text 5"/>
          <p:cNvSpPr/>
          <p:nvPr/>
        </p:nvSpPr>
        <p:spPr>
          <a:xfrm>
            <a:off x="994833" y="4567709"/>
            <a:ext cx="4981681" cy="736666"/>
          </a:xfrm>
          <a:prstGeom prst="rect">
            <a:avLst/>
          </a:prstGeom>
          <a:noFill/>
          <a:ln/>
        </p:spPr>
        <p:txBody>
          <a:bodyPr wrap="square" lIns="0" tIns="0" rIns="0" bIns="0" rtlCol="0" anchor="t">
            <a:normAutofit/>
          </a:bodyPr>
          <a:lstStyle/>
          <a:p>
            <a:pPr algn="l" indent="0" marL="0">
              <a:lnSpc>
                <a:spcPts val="1677"/>
              </a:lnSpc>
              <a:buNone/>
            </a:pPr>
            <a:r>
              <a:rPr lang="en-US" sz="1242" dirty="0">
                <a:solidFill>
                  <a:srgbClr val="4A5568"/>
                </a:solidFill>
                <a:latin typeface="IBM Plex Sans" pitchFamily="34" charset="0"/>
                <a:ea typeface="IBM Plex Sans" pitchFamily="34" charset="-122"/>
                <a:cs typeface="IBM Plex Sans" pitchFamily="34" charset="-120"/>
              </a:rPr>
              <a:t>Larghezza 16 e 32 sfondano i soffitti compilati di P2 e P3 (8). Ma </a:t>
            </a:r>
            <a:r>
              <a:rPr lang="en-US" sz="1242" b="1" dirty="0">
                <a:solidFill>
                  <a:srgbClr val="4A5568"/>
                </a:solidFill>
                <a:latin typeface="IBM Plex Sans" pitchFamily="34" charset="0"/>
                <a:ea typeface="IBM Plex Sans" pitchFamily="34" charset="-122"/>
                <a:cs typeface="IBM Plex Sans" pitchFamily="34" charset="-120"/>
              </a:rPr>
              <a:t>P3 non rifiuta il caricamento</a:t>
            </a:r>
            <a:r>
              <a:rPr lang="en-US" sz="1242" dirty="0">
                <a:solidFill>
                  <a:srgbClr val="4A5568"/>
                </a:solidFill>
                <a:latin typeface="IBM Plex Sans" pitchFamily="34" charset="0"/>
                <a:ea typeface="IBM Plex Sans" pitchFamily="34" charset="-122"/>
                <a:cs typeface="IBM Plex Sans" pitchFamily="34" charset="-120"/>
              </a:rPr>
              <a:t>: risponde XDP_PASS a runtime. Una misura lì sarebbe una latenza vera di un programma che non calcola.</a:t>
            </a:r>
            <a:endParaRPr lang="en-US" sz="1242" dirty="0"/>
          </a:p>
        </p:txBody>
      </p:sp>
      <p:sp>
        <p:nvSpPr>
          <p:cNvPr id="9" name="Text 6"/>
          <p:cNvSpPr/>
          <p:nvPr/>
        </p:nvSpPr>
        <p:spPr>
          <a:xfrm>
            <a:off x="994833" y="5329771"/>
            <a:ext cx="4981681" cy="381000"/>
          </a:xfrm>
          <a:prstGeom prst="rect">
            <a:avLst/>
          </a:prstGeom>
          <a:noFill/>
          <a:ln/>
        </p:spPr>
        <p:txBody>
          <a:bodyPr wrap="square" lIns="0" tIns="0" rIns="0" bIns="0" rtlCol="0" anchor="t">
            <a:normAutofit/>
          </a:bodyPr>
          <a:lstStyle/>
          <a:p>
            <a:pPr algn="l" indent="0" marL="0">
              <a:lnSpc>
                <a:spcPts val="1408"/>
              </a:lnSpc>
              <a:buNone/>
            </a:pPr>
            <a:r>
              <a:rPr lang="en-US" sz="1043" b="1" dirty="0">
                <a:solidFill>
                  <a:srgbClr val="2E7D52"/>
                </a:solidFill>
                <a:latin typeface="IBM Plex Sans" pitchFamily="34" charset="0"/>
                <a:ea typeface="IBM Plex Sans" pitchFamily="34" charset="-122"/>
                <a:cs typeface="IBM Plex Sans" pitchFamily="34" charset="-120"/>
              </a:rPr>
              <a:t>Rimedio:</a:t>
            </a:r>
            <a:r>
              <a:rPr lang="en-US" sz="1043" dirty="0">
                <a:solidFill>
                  <a:srgbClr val="2E7D52"/>
                </a:solidFill>
                <a:latin typeface="IBM Plex Sans" pitchFamily="34" charset="0"/>
                <a:ea typeface="IBM Plex Sans" pitchFamily="34" charset="-122"/>
                <a:cs typeface="IBM Plex Sans" pitchFamily="34" charset="-120"/>
              </a:rPr>
              <a:t> i soffitti si controllano </a:t>
            </a:r>
            <a:r>
              <a:rPr lang="en-US" sz="1043" i="1" dirty="0">
                <a:solidFill>
                  <a:srgbClr val="2E7D52"/>
                </a:solidFill>
                <a:latin typeface="IBM Plex Sans" pitchFamily="34" charset="0"/>
                <a:ea typeface="IBM Plex Sans" pitchFamily="34" charset="-122"/>
                <a:cs typeface="IBM Plex Sans" pitchFamily="34" charset="-120"/>
              </a:rPr>
              <a:t>prima</a:t>
            </a:r>
            <a:r>
              <a:rPr lang="en-US" sz="1043" dirty="0">
                <a:solidFill>
                  <a:srgbClr val="2E7D52"/>
                </a:solidFill>
                <a:latin typeface="IBM Plex Sans" pitchFamily="34" charset="0"/>
                <a:ea typeface="IBM Plex Sans" pitchFamily="34" charset="-122"/>
                <a:cs typeface="IBM Plex Sans" pitchFamily="34" charset="-120"/>
              </a:rPr>
              <a:t> di compilare, e la cella esce RIFIUTATO senza essere misurata.</a:t>
            </a:r>
            <a:endParaRPr lang="en-US" sz="1043" dirty="0"/>
          </a:p>
        </p:txBody>
      </p:sp>
      <p:sp>
        <p:nvSpPr>
          <p:cNvPr id="10" name="Shape 7"/>
          <p:cNvSpPr/>
          <p:nvPr/>
        </p:nvSpPr>
        <p:spPr>
          <a:xfrm>
            <a:off x="6181725" y="4192786"/>
            <a:ext cx="5194300" cy="1646039"/>
          </a:xfrm>
          <a:prstGeom prst="roundRect">
            <a:avLst>
              <a:gd name="adj" fmla="val 5980"/>
            </a:avLst>
          </a:prstGeom>
          <a:solidFill>
            <a:srgbClr val="FBFBF8"/>
          </a:solidFill>
          <a:ln w="6350">
            <a:solidFill>
              <a:srgbClr val="D7DEE7"/>
            </a:solidFill>
            <a:prstDash val="solid"/>
          </a:ln>
        </p:spPr>
      </p:sp>
      <p:sp>
        <p:nvSpPr>
          <p:cNvPr id="11" name="Text 8"/>
          <p:cNvSpPr/>
          <p:nvPr/>
        </p:nvSpPr>
        <p:spPr>
          <a:xfrm>
            <a:off x="6360583" y="4346253"/>
            <a:ext cx="4981681" cy="224631"/>
          </a:xfrm>
          <a:prstGeom prst="rect">
            <a:avLst/>
          </a:prstGeom>
          <a:noFill/>
          <a:ln/>
        </p:spPr>
        <p:txBody>
          <a:bodyPr wrap="square" lIns="0" tIns="0" rIns="0" bIns="0" rtlCol="0" anchor="t">
            <a:normAutofit/>
          </a:bodyPr>
          <a:lstStyle/>
          <a:p>
            <a:pPr algn="l" indent="0" marL="0">
              <a:lnSpc>
                <a:spcPts val="1574"/>
              </a:lnSpc>
              <a:buNone/>
            </a:pPr>
            <a:r>
              <a:rPr lang="en-US" sz="1312" b="1" dirty="0">
                <a:solidFill>
                  <a:srgbClr val="C2410C"/>
                </a:solidFill>
                <a:latin typeface="IBM Plex Sans" pitchFamily="34" charset="0"/>
                <a:ea typeface="IBM Plex Sans" pitchFamily="34" charset="-122"/>
                <a:cs typeface="IBM Plex Sans" pitchFamily="34" charset="-120"/>
              </a:rPr>
              <a:t>Muro 2 — lo stack</a:t>
            </a:r>
            <a:endParaRPr lang="en-US" sz="1312" dirty="0"/>
          </a:p>
        </p:txBody>
      </p:sp>
      <p:sp>
        <p:nvSpPr>
          <p:cNvPr id="12" name="Text 9"/>
          <p:cNvSpPr/>
          <p:nvPr/>
        </p:nvSpPr>
        <p:spPr>
          <a:xfrm>
            <a:off x="6360583" y="4596284"/>
            <a:ext cx="4981681" cy="440730"/>
          </a:xfrm>
          <a:prstGeom prst="rect">
            <a:avLst/>
          </a:prstGeom>
          <a:noFill/>
          <a:ln/>
        </p:spPr>
        <p:txBody>
          <a:bodyPr wrap="square" lIns="0" tIns="0" rIns="0" bIns="0" rtlCol="0" anchor="t">
            <a:normAutofit/>
          </a:bodyPr>
          <a:lstStyle/>
          <a:p>
            <a:pPr algn="l" indent="0" marL="0">
              <a:lnSpc>
                <a:spcPts val="1635"/>
              </a:lnSpc>
              <a:buNone/>
            </a:pPr>
            <a:r>
              <a:rPr lang="en-US" sz="1211" dirty="0">
                <a:solidFill>
                  <a:srgbClr val="4A5568"/>
                </a:solidFill>
                <a:latin typeface="IBM Plex Sans" pitchFamily="34" charset="0"/>
                <a:ea typeface="IBM Plex Sans" pitchFamily="34" charset="-122"/>
                <a:cs typeface="IBM Plex Sans" pitchFamily="34" charset="-120"/>
              </a:rPr>
              <a:t>Larghezza 32 su P1 srotola troppo e sfonda lo stack eBPF da 512 byte: LLVM aborta il </a:t>
            </a:r>
            <a:r>
              <a:rPr lang="en-US" sz="1211" b="1" dirty="0">
                <a:solidFill>
                  <a:srgbClr val="4A5568"/>
                </a:solidFill>
                <a:latin typeface="IBM Plex Sans" pitchFamily="34" charset="0"/>
                <a:ea typeface="IBM Plex Sans" pitchFamily="34" charset="-122"/>
                <a:cs typeface="IBM Plex Sans" pitchFamily="34" charset="-120"/>
              </a:rPr>
              <a:t>processo</a:t>
            </a:r>
            <a:r>
              <a:rPr lang="en-US" sz="1211" dirty="0">
                <a:solidFill>
                  <a:srgbClr val="4A5568"/>
                </a:solidFill>
                <a:latin typeface="IBM Plex Sans" pitchFamily="34" charset="0"/>
                <a:ea typeface="IBM Plex Sans" pitchFamily="34" charset="-122"/>
                <a:cs typeface="IBM Plex Sans" pitchFamily="34" charset="-120"/>
              </a:rPr>
              <a:t>, non solleva un’eccezione.</a:t>
            </a:r>
            <a:endParaRPr lang="en-US" sz="1211" dirty="0"/>
          </a:p>
        </p:txBody>
      </p:sp>
      <p:sp>
        <p:nvSpPr>
          <p:cNvPr id="13" name="Text 10"/>
          <p:cNvSpPr/>
          <p:nvPr/>
        </p:nvSpPr>
        <p:spPr>
          <a:xfrm>
            <a:off x="6360583" y="5062413"/>
            <a:ext cx="4981681" cy="648361"/>
          </a:xfrm>
          <a:prstGeom prst="rect">
            <a:avLst/>
          </a:prstGeom>
          <a:noFill/>
          <a:ln/>
        </p:spPr>
        <p:txBody>
          <a:bodyPr wrap="square" lIns="0" tIns="0" rIns="0" bIns="0" rtlCol="0" anchor="t">
            <a:normAutofit/>
          </a:bodyPr>
          <a:lstStyle/>
          <a:p>
            <a:pPr algn="l" indent="0" marL="0">
              <a:lnSpc>
                <a:spcPts val="1640"/>
              </a:lnSpc>
              <a:buNone/>
            </a:pPr>
            <a:r>
              <a:rPr lang="en-US" sz="1215" b="1" dirty="0">
                <a:solidFill>
                  <a:srgbClr val="2E7D52"/>
                </a:solidFill>
                <a:latin typeface="IBM Plex Sans" pitchFamily="34" charset="0"/>
                <a:ea typeface="IBM Plex Sans" pitchFamily="34" charset="-122"/>
                <a:cs typeface="IBM Plex Sans" pitchFamily="34" charset="-120"/>
              </a:rPr>
              <a:t>Rimedio:</a:t>
            </a:r>
            <a:r>
              <a:rPr lang="en-US" sz="1215" dirty="0">
                <a:solidFill>
                  <a:srgbClr val="2E7D52"/>
                </a:solidFill>
                <a:latin typeface="IBM Plex Sans" pitchFamily="34" charset="0"/>
                <a:ea typeface="IBM Plex Sans" pitchFamily="34" charset="-122"/>
                <a:cs typeface="IBM Plex Sans" pitchFamily="34" charset="-120"/>
              </a:rPr>
              <a:t> ogni cella in un sottoprocesso. Esce CRASH, lo sweep continua. Larghezza 16 invece si misura ed è un punto che P2 e P3 non possono avere.</a:t>
            </a:r>
            <a:endParaRPr lang="en-US" sz="1215" dirty="0"/>
          </a:p>
        </p:txBody>
      </p:sp>
      <p:sp>
        <p:nvSpPr>
          <p:cNvPr id="14" name="Text 11"/>
          <p:cNvSpPr/>
          <p:nvPr/>
        </p:nvSpPr>
        <p:spPr>
          <a:xfrm>
            <a:off x="812800" y="6238280"/>
            <a:ext cx="534147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11 architetture × 5 pipeline, un CSV solo · bench_scaling.py --axis campaign</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0651"/>
          </a:xfrm>
          <a:prstGeom prst="rect">
            <a:avLst/>
          </a:prstGeom>
          <a:noFill/>
          <a:ln/>
        </p:spPr>
        <p:txBody>
          <a:bodyPr wrap="square" lIns="0" tIns="0" rIns="0" bIns="0" rtlCol="0" anchor="t">
            <a:normAutofit/>
          </a:bodyPr>
          <a:lstStyle/>
          <a:p>
            <a:pPr algn="l" indent="0" marL="0">
              <a:lnSpc>
                <a:spcPts val="1621"/>
              </a:lnSpc>
              <a:buNone/>
            </a:pPr>
            <a:r>
              <a:rPr lang="en-US" sz="1158" spc="100" kern="0" dirty="0">
                <a:solidFill>
                  <a:srgbClr val="C2410C"/>
                </a:solidFill>
                <a:latin typeface="JetBrains Mono" pitchFamily="34" charset="0"/>
                <a:ea typeface="JetBrains Mono" pitchFamily="34" charset="-122"/>
                <a:cs typeface="JetBrains Mono" pitchFamily="34" charset="-120"/>
              </a:rPr>
              <a:t>IL RISULTATO · CONTARE LE MOLTIPLICAZIONI GIUSTE</a:t>
            </a:r>
            <a:endParaRPr lang="en-US" sz="1158" dirty="0"/>
          </a:p>
        </p:txBody>
      </p:sp>
      <p:sp>
        <p:nvSpPr>
          <p:cNvPr id="3" name="Text 1"/>
          <p:cNvSpPr/>
          <p:nvPr/>
        </p:nvSpPr>
        <p:spPr>
          <a:xfrm>
            <a:off x="812800" y="1081559"/>
            <a:ext cx="10883392" cy="385233"/>
          </a:xfrm>
          <a:prstGeom prst="rect">
            <a:avLst/>
          </a:prstGeom>
          <a:noFill/>
          <a:ln/>
        </p:spPr>
        <p:txBody>
          <a:bodyPr wrap="square" lIns="0" tIns="0" rIns="0" bIns="0" rtlCol="0" anchor="t">
            <a:normAutofit/>
          </a:bodyPr>
          <a:lstStyle/>
          <a:p>
            <a:pPr algn="l" indent="0" marL="0">
              <a:lnSpc>
                <a:spcPts val="2871"/>
              </a:lnSpc>
              <a:buNone/>
            </a:pPr>
            <a:r>
              <a:rPr lang="en-US" sz="2610" b="1" dirty="0">
                <a:solidFill>
                  <a:srgbClr val="14213D"/>
                </a:solidFill>
                <a:latin typeface="IBM Plex Sans" pitchFamily="34" charset="0"/>
                <a:ea typeface="IBM Plex Sans" pitchFamily="34" charset="-122"/>
                <a:cs typeface="IBM Plex Sans" pitchFamily="34" charset="-120"/>
              </a:rPr>
              <a:t>Una one-hot larga 60 costa quanto una larga 6</a:t>
            </a:r>
            <a:endParaRPr lang="en-US" sz="2610" dirty="0"/>
          </a:p>
        </p:txBody>
      </p:sp>
      <p:sp>
        <p:nvSpPr>
          <p:cNvPr id="4" name="Shape 2"/>
          <p:cNvSpPr/>
          <p:nvPr/>
        </p:nvSpPr>
        <p:spPr>
          <a:xfrm>
            <a:off x="812800" y="1593788"/>
            <a:ext cx="3412067" cy="1292688"/>
          </a:xfrm>
          <a:prstGeom prst="roundRect">
            <a:avLst>
              <a:gd name="adj" fmla="val 7860"/>
            </a:avLst>
          </a:prstGeom>
          <a:solidFill>
            <a:srgbClr val="EEF1F5"/>
          </a:solidFill>
          <a:ln/>
        </p:spPr>
      </p:sp>
      <p:sp>
        <p:nvSpPr>
          <p:cNvPr id="5" name="Text 3"/>
          <p:cNvSpPr/>
          <p:nvPr/>
        </p:nvSpPr>
        <p:spPr>
          <a:xfrm>
            <a:off x="990600" y="1746188"/>
            <a:ext cx="3148161" cy="209616"/>
          </a:xfrm>
          <a:prstGeom prst="rect">
            <a:avLst/>
          </a:prstGeom>
          <a:noFill/>
          <a:ln/>
        </p:spPr>
        <p:txBody>
          <a:bodyPr wrap="square" lIns="0" tIns="0" rIns="0" bIns="0" rtlCol="0" anchor="t">
            <a:normAutofit/>
          </a:bodyPr>
          <a:lstStyle/>
          <a:p>
            <a:pPr algn="l" indent="0" marL="0">
              <a:lnSpc>
                <a:spcPts val="1470"/>
              </a:lnSpc>
              <a:buNone/>
            </a:pPr>
            <a:r>
              <a:rPr lang="en-US" sz="1225" b="1" dirty="0">
                <a:solidFill>
                  <a:srgbClr val="C2410C"/>
                </a:solidFill>
                <a:latin typeface="IBM Plex Sans" pitchFamily="34" charset="0"/>
                <a:ea typeface="IBM Plex Sans" pitchFamily="34" charset="-122"/>
                <a:cs typeface="IBM Plex Sans" pitchFamily="34" charset="-120"/>
              </a:rPr>
              <a:t>Il problema</a:t>
            </a:r>
            <a:endParaRPr lang="en-US" sz="1225" dirty="0"/>
          </a:p>
        </p:txBody>
      </p:sp>
      <p:sp>
        <p:nvSpPr>
          <p:cNvPr id="6" name="Text 4"/>
          <p:cNvSpPr/>
          <p:nvPr/>
        </p:nvSpPr>
        <p:spPr>
          <a:xfrm>
            <a:off x="990600" y="1993900"/>
            <a:ext cx="3148161" cy="765572"/>
          </a:xfrm>
          <a:prstGeom prst="rect">
            <a:avLst/>
          </a:prstGeom>
          <a:noFill/>
          <a:ln/>
        </p:spPr>
        <p:txBody>
          <a:bodyPr wrap="square" lIns="0" tIns="0" rIns="0" bIns="0" rtlCol="0" anchor="t">
            <a:normAutofit/>
          </a:bodyPr>
          <a:lstStyle/>
          <a:p>
            <a:pPr algn="l" indent="0" marL="0">
              <a:lnSpc>
                <a:spcPts val="1466"/>
              </a:lnSpc>
              <a:buNone/>
            </a:pPr>
            <a:r>
              <a:rPr lang="en-US" sz="1086" dirty="0">
                <a:solidFill>
                  <a:srgbClr val="4A5568"/>
                </a:solidFill>
                <a:latin typeface="IBM Plex Sans" pitchFamily="34" charset="0"/>
                <a:ea typeface="IBM Plex Sans" pitchFamily="34" charset="-122"/>
                <a:cs typeface="IBM Plex Sans" pitchFamily="34" charset="-120"/>
              </a:rPr>
              <a:t>Contando le MAC dalla forma del modello, la latenza non si predice: per P3 il modello spiega il </a:t>
            </a:r>
            <a:r>
              <a:rPr lang="en-US" sz="1086" b="1" dirty="0">
                <a:solidFill>
                  <a:srgbClr val="4A5568"/>
                </a:solidFill>
                <a:latin typeface="IBM Plex Sans" pitchFamily="34" charset="0"/>
                <a:ea typeface="IBM Plex Sans" pitchFamily="34" charset="-122"/>
                <a:cs typeface="IBM Plex Sans" pitchFamily="34" charset="-120"/>
              </a:rPr>
              <a:t>9 %</a:t>
            </a:r>
            <a:r>
              <a:rPr lang="en-US" sz="1086" dirty="0">
                <a:solidFill>
                  <a:srgbClr val="4A5568"/>
                </a:solidFill>
                <a:latin typeface="IBM Plex Sans" pitchFamily="34" charset="0"/>
                <a:ea typeface="IBM Plex Sans" pitchFamily="34" charset="-122"/>
                <a:cs typeface="IBM Plex Sans" pitchFamily="34" charset="-120"/>
              </a:rPr>
              <a:t> della varianza. I quattro assi non stanno sulla stessa retta.</a:t>
            </a:r>
            <a:endParaRPr lang="en-US" sz="1086" dirty="0"/>
          </a:p>
        </p:txBody>
      </p:sp>
      <p:sp>
        <p:nvSpPr>
          <p:cNvPr id="7" name="Shape 5"/>
          <p:cNvSpPr/>
          <p:nvPr/>
        </p:nvSpPr>
        <p:spPr>
          <a:xfrm>
            <a:off x="4389967" y="1593788"/>
            <a:ext cx="3412067" cy="1292688"/>
          </a:xfrm>
          <a:prstGeom prst="roundRect">
            <a:avLst>
              <a:gd name="adj" fmla="val 7860"/>
            </a:avLst>
          </a:prstGeom>
          <a:solidFill>
            <a:srgbClr val="EEF1F5"/>
          </a:solidFill>
          <a:ln/>
        </p:spPr>
      </p:sp>
      <p:sp>
        <p:nvSpPr>
          <p:cNvPr id="8" name="Text 6"/>
          <p:cNvSpPr/>
          <p:nvPr/>
        </p:nvSpPr>
        <p:spPr>
          <a:xfrm>
            <a:off x="4567767" y="1746188"/>
            <a:ext cx="3148161" cy="209616"/>
          </a:xfrm>
          <a:prstGeom prst="rect">
            <a:avLst/>
          </a:prstGeom>
          <a:noFill/>
          <a:ln/>
        </p:spPr>
        <p:txBody>
          <a:bodyPr wrap="square" lIns="0" tIns="0" rIns="0" bIns="0" rtlCol="0" anchor="t">
            <a:normAutofit/>
          </a:bodyPr>
          <a:lstStyle/>
          <a:p>
            <a:pPr algn="l" indent="0" marL="0">
              <a:lnSpc>
                <a:spcPts val="1470"/>
              </a:lnSpc>
              <a:buNone/>
            </a:pPr>
            <a:r>
              <a:rPr lang="en-US" sz="1225" b="1" dirty="0">
                <a:solidFill>
                  <a:srgbClr val="C2410C"/>
                </a:solidFill>
                <a:latin typeface="IBM Plex Sans" pitchFamily="34" charset="0"/>
                <a:ea typeface="IBM Plex Sans" pitchFamily="34" charset="-122"/>
                <a:cs typeface="IBM Plex Sans" pitchFamily="34" charset="-120"/>
              </a:rPr>
              <a:t>Perché</a:t>
            </a:r>
            <a:endParaRPr lang="en-US" sz="1225" dirty="0"/>
          </a:p>
        </p:txBody>
      </p:sp>
      <p:sp>
        <p:nvSpPr>
          <p:cNvPr id="9" name="Text 7"/>
          <p:cNvSpPr/>
          <p:nvPr/>
        </p:nvSpPr>
        <p:spPr>
          <a:xfrm>
            <a:off x="4567767" y="1993900"/>
            <a:ext cx="3148161" cy="765572"/>
          </a:xfrm>
          <a:prstGeom prst="rect">
            <a:avLst/>
          </a:prstGeom>
          <a:noFill/>
          <a:ln/>
        </p:spPr>
        <p:txBody>
          <a:bodyPr wrap="square" lIns="0" tIns="0" rIns="0" bIns="0" rtlCol="0" anchor="t">
            <a:normAutofit/>
          </a:bodyPr>
          <a:lstStyle/>
          <a:p>
            <a:pPr algn="l" indent="0" marL="0">
              <a:lnSpc>
                <a:spcPts val="1519"/>
              </a:lnSpc>
              <a:buNone/>
            </a:pPr>
            <a:r>
              <a:rPr lang="en-US" sz="1125" dirty="0">
                <a:solidFill>
                  <a:srgbClr val="4A5568"/>
                </a:solidFill>
                <a:latin typeface="IBM Plex Sans" pitchFamily="34" charset="0"/>
                <a:ea typeface="IBM Plex Sans" pitchFamily="34" charset="-122"/>
                <a:cs typeface="IBM Plex Sans" pitchFamily="34" charset="-120"/>
              </a:rPr>
              <a:t>Una one-hot occupa </a:t>
            </a:r>
            <a:r>
              <a:rPr lang="en-US" sz="1125" i="1" dirty="0">
                <a:solidFill>
                  <a:srgbClr val="4A5568"/>
                </a:solidFill>
                <a:latin typeface="IBM Plex Sans" pitchFamily="34" charset="0"/>
                <a:ea typeface="IBM Plex Sans" pitchFamily="34" charset="-122"/>
                <a:cs typeface="IBM Plex Sans" pitchFamily="34" charset="-120"/>
              </a:rPr>
              <a:t>size</a:t>
            </a:r>
            <a:r>
              <a:rPr lang="en-US" sz="1125" dirty="0">
                <a:solidFill>
                  <a:srgbClr val="4A5568"/>
                </a:solidFill>
                <a:latin typeface="IBM Plex Sans" pitchFamily="34" charset="0"/>
                <a:ea typeface="IBM Plex Sans" pitchFamily="34" charset="-122"/>
                <a:cs typeface="IBM Plex Sans" pitchFamily="34" charset="-120"/>
              </a:rPr>
              <a:t> colonne nella matrice dei pesi ma nel percorso del pacchetto ne attiva </a:t>
            </a:r>
            <a:r>
              <a:rPr lang="en-US" sz="1125" b="1" dirty="0">
                <a:solidFill>
                  <a:srgbClr val="4A5568"/>
                </a:solidFill>
                <a:latin typeface="IBM Plex Sans" pitchFamily="34" charset="0"/>
                <a:ea typeface="IBM Plex Sans" pitchFamily="34" charset="-122"/>
                <a:cs typeface="IBM Plex Sans" pitchFamily="34" charset="-120"/>
              </a:rPr>
              <a:t>una</a:t>
            </a:r>
            <a:r>
              <a:rPr lang="en-US" sz="1125" dirty="0">
                <a:solidFill>
                  <a:srgbClr val="4A5568"/>
                </a:solidFill>
                <a:latin typeface="IBM Plex Sans" pitchFamily="34" charset="0"/>
                <a:ea typeface="IBM Plex Sans" pitchFamily="34" charset="-122"/>
                <a:cs typeface="IBM Plex Sans" pitchFamily="34" charset="-120"/>
              </a:rPr>
              <a:t>: h₁ addizioni, e il ramo non guarda </a:t>
            </a:r>
            <a:r>
              <a:rPr lang="en-US" sz="1125" i="1" dirty="0">
                <a:solidFill>
                  <a:srgbClr val="4A5568"/>
                </a:solidFill>
                <a:latin typeface="IBM Plex Sans" pitchFamily="34" charset="0"/>
                <a:ea typeface="IBM Plex Sans" pitchFamily="34" charset="-122"/>
                <a:cs typeface="IBM Plex Sans" pitchFamily="34" charset="-120"/>
              </a:rPr>
              <a:t>size</a:t>
            </a:r>
            <a:r>
              <a:rPr lang="en-US" sz="1125" dirty="0">
                <a:solidFill>
                  <a:srgbClr val="4A5568"/>
                </a:solidFill>
                <a:latin typeface="IBM Plex Sans" pitchFamily="34" charset="0"/>
                <a:ea typeface="IBM Plex Sans" pitchFamily="34" charset="-122"/>
                <a:cs typeface="IBM Plex Sans" pitchFamily="34" charset="-120"/>
              </a:rPr>
              <a:t>.</a:t>
            </a:r>
            <a:endParaRPr lang="en-US" sz="1125" dirty="0"/>
          </a:p>
        </p:txBody>
      </p:sp>
      <p:sp>
        <p:nvSpPr>
          <p:cNvPr id="10" name="Shape 8"/>
          <p:cNvSpPr/>
          <p:nvPr/>
        </p:nvSpPr>
        <p:spPr>
          <a:xfrm>
            <a:off x="7967134" y="1593788"/>
            <a:ext cx="3412067" cy="1292688"/>
          </a:xfrm>
          <a:prstGeom prst="roundRect">
            <a:avLst>
              <a:gd name="adj" fmla="val 7860"/>
            </a:avLst>
          </a:prstGeom>
          <a:solidFill>
            <a:srgbClr val="14213D"/>
          </a:solidFill>
          <a:ln/>
        </p:spPr>
      </p:sp>
      <p:sp>
        <p:nvSpPr>
          <p:cNvPr id="11" name="Text 9"/>
          <p:cNvSpPr/>
          <p:nvPr/>
        </p:nvSpPr>
        <p:spPr>
          <a:xfrm>
            <a:off x="8144934" y="1746188"/>
            <a:ext cx="3148161" cy="209616"/>
          </a:xfrm>
          <a:prstGeom prst="rect">
            <a:avLst/>
          </a:prstGeom>
          <a:noFill/>
          <a:ln/>
        </p:spPr>
        <p:txBody>
          <a:bodyPr wrap="square" lIns="0" tIns="0" rIns="0" bIns="0" rtlCol="0" anchor="t">
            <a:normAutofit/>
          </a:bodyPr>
          <a:lstStyle/>
          <a:p>
            <a:pPr algn="l" indent="0" marL="0">
              <a:lnSpc>
                <a:spcPts val="1470"/>
              </a:lnSpc>
              <a:buNone/>
            </a:pPr>
            <a:r>
              <a:rPr lang="en-US" sz="1225" b="1" dirty="0">
                <a:solidFill>
                  <a:srgbClr val="E8A87C"/>
                </a:solidFill>
                <a:latin typeface="IBM Plex Sans" pitchFamily="34" charset="0"/>
                <a:ea typeface="IBM Plex Sans" pitchFamily="34" charset="-122"/>
                <a:cs typeface="IBM Plex Sans" pitchFamily="34" charset="-120"/>
              </a:rPr>
              <a:t>La correzione</a:t>
            </a:r>
            <a:endParaRPr lang="en-US" sz="1225" dirty="0"/>
          </a:p>
        </p:txBody>
      </p:sp>
      <p:sp>
        <p:nvSpPr>
          <p:cNvPr id="12" name="Text 10"/>
          <p:cNvSpPr/>
          <p:nvPr/>
        </p:nvSpPr>
        <p:spPr>
          <a:xfrm>
            <a:off x="8144934" y="1993900"/>
            <a:ext cx="3148161" cy="765572"/>
          </a:xfrm>
          <a:prstGeom prst="rect">
            <a:avLst/>
          </a:prstGeom>
          <a:noFill/>
          <a:ln/>
        </p:spPr>
        <p:txBody>
          <a:bodyPr wrap="square" lIns="0" tIns="0" rIns="0" bIns="0" rtlCol="0" anchor="t">
            <a:normAutofit/>
          </a:bodyPr>
          <a:lstStyle/>
          <a:p>
            <a:pPr algn="l" indent="0" marL="0">
              <a:lnSpc>
                <a:spcPts val="1566"/>
              </a:lnSpc>
              <a:buNone/>
            </a:pPr>
            <a:r>
              <a:rPr lang="en-US" sz="1160" dirty="0">
                <a:solidFill>
                  <a:srgbClr val="BFD8D5"/>
                </a:solidFill>
                <a:latin typeface="IBM Plex Sans" pitchFamily="34" charset="0"/>
                <a:ea typeface="IBM Plex Sans" pitchFamily="34" charset="-122"/>
                <a:cs typeface="IBM Plex Sans" pitchFamily="34" charset="-120"/>
              </a:rPr>
              <a:t>Contare le MAC </a:t>
            </a:r>
            <a:r>
              <a:rPr lang="en-US" sz="1160" b="1" dirty="0">
                <a:solidFill>
                  <a:srgbClr val="BFD8D5"/>
                </a:solidFill>
                <a:latin typeface="IBM Plex Sans" pitchFamily="34" charset="0"/>
                <a:ea typeface="IBM Plex Sans" pitchFamily="34" charset="-122"/>
                <a:cs typeface="IBM Plex Sans" pitchFamily="34" charset="-120"/>
              </a:rPr>
              <a:t>eseguite</a:t>
            </a:r>
            <a:r>
              <a:rPr lang="en-US" sz="1160" dirty="0">
                <a:solidFill>
                  <a:srgbClr val="BFD8D5"/>
                </a:solidFill>
                <a:latin typeface="IBM Plex Sans" pitchFamily="34" charset="0"/>
                <a:ea typeface="IBM Plex Sans" pitchFamily="34" charset="-122"/>
                <a:cs typeface="IBM Plex Sans" pitchFamily="34" charset="-120"/>
              </a:rPr>
              <a:t>, non quelle nominali. Una colonna in più nel CSV, e i quattro assi collassano su una retta per pipeline.</a:t>
            </a:r>
            <a:endParaRPr lang="en-US" sz="116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812800" y="3038872"/>
          <a:ext cx="10566400" cy="1733682"/>
        </p:xfrm>
        <a:graphic>
          <a:graphicData uri="http://schemas.openxmlformats.org/drawingml/2006/table">
            <a:tbl>
              <a:tblPr/>
              <a:tblGrid>
                <a:gridCol w="3033917"/>
                <a:gridCol w="2092356"/>
                <a:gridCol w="1569267"/>
                <a:gridCol w="2301592"/>
                <a:gridCol w="1569267"/>
              </a:tblGrid>
              <a:tr h="346736">
                <a:tc>
                  <a:txBody>
                    <a:bodyPr/>
                    <a:lstStyle/>
                    <a:p>
                      <a:pPr indent="0" marL="0">
                        <a:lnSpc>
                          <a:spcPts val="1752"/>
                        </a:lnSpc>
                        <a:buNone/>
                      </a:pPr>
                      <a:r>
                        <a:rPr lang="en-US" sz="1251" b="1" dirty="0">
                          <a:solidFill>
                            <a:srgbClr val="FBFBF8"/>
                          </a:solidFill>
                          <a:latin typeface="IBM Plex Sans" pitchFamily="34" charset="0"/>
                          <a:ea typeface="IBM Plex Sans" pitchFamily="34" charset="-122"/>
                          <a:cs typeface="IBM Plex Sans" pitchFamily="34" charset="-120"/>
                        </a:rPr>
                        <a:t>Pipeline</a:t>
                      </a:r>
                      <a:endParaRPr lang="en-US" sz="1251" dirty="0">
                        <a:latin typeface="IBM Plex Sans" charset="0"/>
                        <a:ea typeface="IBM Plex Sans" charset="0"/>
                        <a:cs typeface="IBM Plex Sans" charset="0"/>
                      </a:endParaRPr>
                    </a:p>
                  </a:txBody>
                  <a:tcPr marL="55618" marR="55618" marT="55618" marB="55618"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14213D"/>
                    </a:solidFill>
                  </a:tcPr>
                </a:tc>
                <a:tc>
                  <a:txBody>
                    <a:bodyPr/>
                    <a:lstStyle/>
                    <a:p>
                      <a:pPr algn="r" indent="0" marL="0">
                        <a:lnSpc>
                          <a:spcPts val="1752"/>
                        </a:lnSpc>
                        <a:buNone/>
                      </a:pPr>
                      <a:r>
                        <a:rPr lang="en-US" sz="1251" b="1" dirty="0">
                          <a:solidFill>
                            <a:srgbClr val="FBFBF8"/>
                          </a:solidFill>
                          <a:latin typeface="IBM Plex Sans" pitchFamily="34" charset="0"/>
                          <a:ea typeface="IBM Plex Sans" pitchFamily="34" charset="-122"/>
                          <a:cs typeface="IBM Plex Sans" pitchFamily="34" charset="-120"/>
                        </a:rPr>
                        <a:t>ns / MAC eseguita</a:t>
                      </a:r>
                      <a:endParaRPr lang="en-US" sz="1251" dirty="0">
                        <a:latin typeface="IBM Plex Sans" charset="0"/>
                        <a:ea typeface="IBM Plex Sans" charset="0"/>
                        <a:cs typeface="IBM Plex Sans" charset="0"/>
                      </a:endParaRPr>
                    </a:p>
                  </a:txBody>
                  <a:tcPr marL="55618" marR="55618" marT="55618" marB="55618"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14213D"/>
                    </a:solidFill>
                  </a:tcPr>
                </a:tc>
                <a:tc>
                  <a:txBody>
                    <a:bodyPr/>
                    <a:lstStyle/>
                    <a:p>
                      <a:pPr algn="r" indent="0" marL="0">
                        <a:lnSpc>
                          <a:spcPts val="1752"/>
                        </a:lnSpc>
                        <a:buNone/>
                      </a:pPr>
                      <a:r>
                        <a:rPr lang="en-US" sz="1251" b="1" dirty="0">
                          <a:solidFill>
                            <a:srgbClr val="FBFBF8"/>
                          </a:solidFill>
                          <a:latin typeface="IBM Plex Sans" pitchFamily="34" charset="0"/>
                          <a:ea typeface="IBM Plex Sans" pitchFamily="34" charset="-122"/>
                          <a:cs typeface="IBM Plex Sans" pitchFamily="34" charset="-120"/>
                        </a:rPr>
                        <a:t>r²</a:t>
                      </a:r>
                      <a:endParaRPr lang="en-US" sz="1251" dirty="0">
                        <a:latin typeface="IBM Plex Sans" charset="0"/>
                        <a:ea typeface="IBM Plex Sans" charset="0"/>
                        <a:cs typeface="IBM Plex Sans" charset="0"/>
                      </a:endParaRPr>
                    </a:p>
                  </a:txBody>
                  <a:tcPr marL="55618" marR="55618" marT="55618" marB="55618"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14213D"/>
                    </a:solidFill>
                  </a:tcPr>
                </a:tc>
                <a:tc>
                  <a:txBody>
                    <a:bodyPr/>
                    <a:lstStyle/>
                    <a:p>
                      <a:pPr algn="r" indent="0" marL="0">
                        <a:lnSpc>
                          <a:spcPts val="1752"/>
                        </a:lnSpc>
                        <a:buNone/>
                      </a:pPr>
                      <a:r>
                        <a:rPr lang="en-US" sz="1251" b="1" dirty="0">
                          <a:solidFill>
                            <a:srgbClr val="FBFBF8"/>
                          </a:solidFill>
                          <a:latin typeface="IBM Plex Sans" pitchFamily="34" charset="0"/>
                          <a:ea typeface="IBM Plex Sans" pitchFamily="34" charset="-122"/>
                          <a:cs typeface="IBM Plex Sans" pitchFamily="34" charset="-120"/>
                        </a:rPr>
                        <a:t>ns / MAC nominale</a:t>
                      </a:r>
                      <a:endParaRPr lang="en-US" sz="1251" dirty="0">
                        <a:latin typeface="IBM Plex Sans" charset="0"/>
                        <a:ea typeface="IBM Plex Sans" charset="0"/>
                        <a:cs typeface="IBM Plex Sans" charset="0"/>
                      </a:endParaRPr>
                    </a:p>
                  </a:txBody>
                  <a:tcPr marL="55618" marR="55618" marT="55618" marB="55618"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14213D"/>
                    </a:solidFill>
                  </a:tcPr>
                </a:tc>
                <a:tc>
                  <a:txBody>
                    <a:bodyPr/>
                    <a:lstStyle/>
                    <a:p>
                      <a:pPr algn="r" indent="0" marL="0">
                        <a:lnSpc>
                          <a:spcPts val="1752"/>
                        </a:lnSpc>
                        <a:buNone/>
                      </a:pPr>
                      <a:r>
                        <a:rPr lang="en-US" sz="1251" b="1" dirty="0">
                          <a:solidFill>
                            <a:srgbClr val="FBFBF8"/>
                          </a:solidFill>
                          <a:latin typeface="IBM Plex Sans" pitchFamily="34" charset="0"/>
                          <a:ea typeface="IBM Plex Sans" pitchFamily="34" charset="-122"/>
                          <a:cs typeface="IBM Plex Sans" pitchFamily="34" charset="-120"/>
                        </a:rPr>
                        <a:t>r²</a:t>
                      </a:r>
                      <a:endParaRPr lang="en-US" sz="1251" dirty="0">
                        <a:latin typeface="IBM Plex Sans" charset="0"/>
                        <a:ea typeface="IBM Plex Sans" charset="0"/>
                        <a:cs typeface="IBM Plex Sans" charset="0"/>
                      </a:endParaRPr>
                    </a:p>
                  </a:txBody>
                  <a:tcPr marL="55618" marR="55618" marT="55618" marB="55618"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14213D"/>
                    </a:solidFill>
                  </a:tcPr>
                </a:tc>
              </a:tr>
              <a:tr h="346736">
                <a:tc>
                  <a:txBody>
                    <a:bodyPr/>
                    <a:lstStyle/>
                    <a:p>
                      <a:pPr indent="0" marL="0">
                        <a:lnSpc>
                          <a:spcPts val="1752"/>
                        </a:lnSpc>
                        <a:buNone/>
                      </a:pPr>
                      <a:r>
                        <a:rPr lang="en-US" sz="1251" dirty="0">
                          <a:solidFill>
                            <a:srgbClr val="14213D"/>
                          </a:solidFill>
                          <a:latin typeface="IBM Plex Sans" pitchFamily="34" charset="0"/>
                          <a:ea typeface="IBM Plex Sans" pitchFamily="34" charset="-122"/>
                          <a:cs typeface="IBM Plex Sans" pitchFamily="34" charset="-120"/>
                        </a:rPr>
                        <a:t>P1 specializzata</a:t>
                      </a:r>
                      <a:endParaRPr lang="en-US" sz="1251" dirty="0">
                        <a:latin typeface="IBM Plex Sans" charset="0"/>
                        <a:ea typeface="IBM Plex Sans" charset="0"/>
                        <a:cs typeface="IBM Plex Sans" charset="0"/>
                      </a:endParaRPr>
                    </a:p>
                  </a:txBody>
                  <a:tcPr marL="55618" marR="55618" marT="55618" marB="55618"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EEF1F5"/>
                    </a:solidFill>
                  </a:tcPr>
                </a:tc>
                <a:tc>
                  <a:txBody>
                    <a:bodyPr/>
                    <a:lstStyle/>
                    <a:p>
                      <a:pPr algn="r" indent="0" marL="0">
                        <a:lnSpc>
                          <a:spcPts val="1752"/>
                        </a:lnSpc>
                        <a:buNone/>
                      </a:pPr>
                      <a:r>
                        <a:rPr lang="en-US" sz="1251" dirty="0">
                          <a:solidFill>
                            <a:srgbClr val="14213D"/>
                          </a:solidFill>
                          <a:latin typeface="IBM Plex Sans" pitchFamily="34" charset="0"/>
                          <a:ea typeface="IBM Plex Sans" pitchFamily="34" charset="-122"/>
                          <a:cs typeface="IBM Plex Sans" pitchFamily="34" charset="-120"/>
                        </a:rPr>
                        <a:t>0,324</a:t>
                      </a:r>
                      <a:endParaRPr lang="en-US" sz="1251" dirty="0">
                        <a:latin typeface="IBM Plex Sans" charset="0"/>
                        <a:ea typeface="IBM Plex Sans" charset="0"/>
                        <a:cs typeface="IBM Plex Sans" charset="0"/>
                      </a:endParaRPr>
                    </a:p>
                  </a:txBody>
                  <a:tcPr marL="55618" marR="55618" marT="55618" marB="55618"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EEF1F5"/>
                    </a:solidFill>
                  </a:tcPr>
                </a:tc>
                <a:tc>
                  <a:txBody>
                    <a:bodyPr/>
                    <a:lstStyle/>
                    <a:p>
                      <a:pPr algn="r" indent="0" marL="0">
                        <a:lnSpc>
                          <a:spcPts val="1752"/>
                        </a:lnSpc>
                        <a:buNone/>
                      </a:pPr>
                      <a:r>
                        <a:rPr lang="en-US" sz="1251" dirty="0">
                          <a:solidFill>
                            <a:srgbClr val="14213D"/>
                          </a:solidFill>
                          <a:latin typeface="IBM Plex Sans" pitchFamily="34" charset="0"/>
                          <a:ea typeface="IBM Plex Sans" pitchFamily="34" charset="-122"/>
                          <a:cs typeface="IBM Plex Sans" pitchFamily="34" charset="-120"/>
                        </a:rPr>
                        <a:t>0,99</a:t>
                      </a:r>
                      <a:endParaRPr lang="en-US" sz="1251" dirty="0">
                        <a:latin typeface="IBM Plex Sans" charset="0"/>
                        <a:ea typeface="IBM Plex Sans" charset="0"/>
                        <a:cs typeface="IBM Plex Sans" charset="0"/>
                      </a:endParaRPr>
                    </a:p>
                  </a:txBody>
                  <a:tcPr marL="55618" marR="55618" marT="55618" marB="55618"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EEF1F5"/>
                    </a:solidFill>
                  </a:tcPr>
                </a:tc>
                <a:tc>
                  <a:txBody>
                    <a:bodyPr/>
                    <a:lstStyle/>
                    <a:p>
                      <a:pPr algn="r" indent="0" marL="0">
                        <a:lnSpc>
                          <a:spcPts val="1752"/>
                        </a:lnSpc>
                        <a:buNone/>
                      </a:pPr>
                      <a:r>
                        <a:rPr lang="en-US" sz="1251" dirty="0">
                          <a:solidFill>
                            <a:srgbClr val="14213D"/>
                          </a:solidFill>
                          <a:latin typeface="IBM Plex Sans" pitchFamily="34" charset="0"/>
                          <a:ea typeface="IBM Plex Sans" pitchFamily="34" charset="-122"/>
                          <a:cs typeface="IBM Plex Sans" pitchFamily="34" charset="-120"/>
                        </a:rPr>
                        <a:t>0,081</a:t>
                      </a:r>
                      <a:endParaRPr lang="en-US" sz="1251" dirty="0">
                        <a:latin typeface="IBM Plex Sans" charset="0"/>
                        <a:ea typeface="IBM Plex Sans" charset="0"/>
                        <a:cs typeface="IBM Plex Sans" charset="0"/>
                      </a:endParaRPr>
                    </a:p>
                  </a:txBody>
                  <a:tcPr marL="55618" marR="55618" marT="55618" marB="55618"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EEF1F5"/>
                    </a:solidFill>
                  </a:tcPr>
                </a:tc>
                <a:tc>
                  <a:txBody>
                    <a:bodyPr/>
                    <a:lstStyle/>
                    <a:p>
                      <a:pPr algn="r" indent="0" marL="0">
                        <a:lnSpc>
                          <a:spcPts val="1752"/>
                        </a:lnSpc>
                        <a:buNone/>
                      </a:pPr>
                      <a:r>
                        <a:rPr lang="en-US" sz="1251" dirty="0">
                          <a:solidFill>
                            <a:srgbClr val="14213D"/>
                          </a:solidFill>
                          <a:latin typeface="IBM Plex Sans" pitchFamily="34" charset="0"/>
                          <a:ea typeface="IBM Plex Sans" pitchFamily="34" charset="-122"/>
                          <a:cs typeface="IBM Plex Sans" pitchFamily="34" charset="-120"/>
                        </a:rPr>
                        <a:t>0,65</a:t>
                      </a:r>
                      <a:endParaRPr lang="en-US" sz="1251" dirty="0">
                        <a:latin typeface="IBM Plex Sans" charset="0"/>
                        <a:ea typeface="IBM Plex Sans" charset="0"/>
                        <a:cs typeface="IBM Plex Sans" charset="0"/>
                      </a:endParaRPr>
                    </a:p>
                  </a:txBody>
                  <a:tcPr marL="55618" marR="55618" marT="55618" marB="55618"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EEF1F5"/>
                    </a:solidFill>
                  </a:tcPr>
                </a:tc>
              </a:tr>
              <a:tr h="346736">
                <a:tc>
                  <a:txBody>
                    <a:bodyPr/>
                    <a:lstStyle/>
                    <a:p>
                      <a:pPr indent="0" marL="0">
                        <a:lnSpc>
                          <a:spcPts val="1752"/>
                        </a:lnSpc>
                        <a:buNone/>
                      </a:pPr>
                      <a:r>
                        <a:rPr lang="en-US" sz="1251" dirty="0">
                          <a:solidFill>
                            <a:srgbClr val="14213D"/>
                          </a:solidFill>
                          <a:latin typeface="IBM Plex Sans" pitchFamily="34" charset="0"/>
                          <a:ea typeface="IBM Plex Sans" pitchFamily="34" charset="-122"/>
                          <a:cs typeface="IBM Plex Sans" pitchFamily="34" charset="-120"/>
                        </a:rPr>
                        <a:t>P1.5 hardcoded</a:t>
                      </a:r>
                      <a:endParaRPr lang="en-US" sz="1251" dirty="0">
                        <a:latin typeface="IBM Plex Sans" charset="0"/>
                        <a:ea typeface="IBM Plex Sans" charset="0"/>
                        <a:cs typeface="IBM Plex Sans" charset="0"/>
                      </a:endParaRPr>
                    </a:p>
                  </a:txBody>
                  <a:tcPr marL="55618" marR="55618" marT="55618" marB="55618"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c>
                  <a:txBody>
                    <a:bodyPr/>
                    <a:lstStyle/>
                    <a:p>
                      <a:pPr algn="r" indent="0" marL="0">
                        <a:lnSpc>
                          <a:spcPts val="1752"/>
                        </a:lnSpc>
                        <a:buNone/>
                      </a:pPr>
                      <a:r>
                        <a:rPr lang="en-US" sz="1251" dirty="0">
                          <a:solidFill>
                            <a:srgbClr val="14213D"/>
                          </a:solidFill>
                          <a:latin typeface="IBM Plex Sans" pitchFamily="34" charset="0"/>
                          <a:ea typeface="IBM Plex Sans" pitchFamily="34" charset="-122"/>
                          <a:cs typeface="IBM Plex Sans" pitchFamily="34" charset="-120"/>
                        </a:rPr>
                        <a:t>0,349</a:t>
                      </a:r>
                      <a:endParaRPr lang="en-US" sz="1251" dirty="0">
                        <a:latin typeface="IBM Plex Sans" charset="0"/>
                        <a:ea typeface="IBM Plex Sans" charset="0"/>
                        <a:cs typeface="IBM Plex Sans" charset="0"/>
                      </a:endParaRPr>
                    </a:p>
                  </a:txBody>
                  <a:tcPr marL="55618" marR="55618" marT="55618" marB="55618"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c>
                  <a:txBody>
                    <a:bodyPr/>
                    <a:lstStyle/>
                    <a:p>
                      <a:pPr algn="r" indent="0" marL="0">
                        <a:lnSpc>
                          <a:spcPts val="1752"/>
                        </a:lnSpc>
                        <a:buNone/>
                      </a:pPr>
                      <a:r>
                        <a:rPr lang="en-US" sz="1251" dirty="0">
                          <a:solidFill>
                            <a:srgbClr val="14213D"/>
                          </a:solidFill>
                          <a:latin typeface="IBM Plex Sans" pitchFamily="34" charset="0"/>
                          <a:ea typeface="IBM Plex Sans" pitchFamily="34" charset="-122"/>
                          <a:cs typeface="IBM Plex Sans" pitchFamily="34" charset="-120"/>
                        </a:rPr>
                        <a:t>0,92</a:t>
                      </a:r>
                      <a:endParaRPr lang="en-US" sz="1251" dirty="0">
                        <a:latin typeface="IBM Plex Sans" charset="0"/>
                        <a:ea typeface="IBM Plex Sans" charset="0"/>
                        <a:cs typeface="IBM Plex Sans" charset="0"/>
                      </a:endParaRPr>
                    </a:p>
                  </a:txBody>
                  <a:tcPr marL="55618" marR="55618" marT="55618" marB="55618"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c>
                  <a:txBody>
                    <a:bodyPr/>
                    <a:lstStyle/>
                    <a:p>
                      <a:pPr algn="r" indent="0" marL="0">
                        <a:lnSpc>
                          <a:spcPts val="1752"/>
                        </a:lnSpc>
                        <a:buNone/>
                      </a:pPr>
                      <a:r>
                        <a:rPr lang="en-US" sz="1251" dirty="0">
                          <a:solidFill>
                            <a:srgbClr val="14213D"/>
                          </a:solidFill>
                          <a:latin typeface="IBM Plex Sans" pitchFamily="34" charset="0"/>
                          <a:ea typeface="IBM Plex Sans" pitchFamily="34" charset="-122"/>
                          <a:cs typeface="IBM Plex Sans" pitchFamily="34" charset="-120"/>
                        </a:rPr>
                        <a:t>0,100</a:t>
                      </a:r>
                      <a:endParaRPr lang="en-US" sz="1251" dirty="0">
                        <a:latin typeface="IBM Plex Sans" charset="0"/>
                        <a:ea typeface="IBM Plex Sans" charset="0"/>
                        <a:cs typeface="IBM Plex Sans" charset="0"/>
                      </a:endParaRPr>
                    </a:p>
                  </a:txBody>
                  <a:tcPr marL="55618" marR="55618" marT="55618" marB="55618"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c>
                  <a:txBody>
                    <a:bodyPr/>
                    <a:lstStyle/>
                    <a:p>
                      <a:pPr algn="r" indent="0" marL="0">
                        <a:lnSpc>
                          <a:spcPts val="1752"/>
                        </a:lnSpc>
                        <a:buNone/>
                      </a:pPr>
                      <a:r>
                        <a:rPr lang="en-US" sz="1251" dirty="0">
                          <a:solidFill>
                            <a:srgbClr val="14213D"/>
                          </a:solidFill>
                          <a:latin typeface="IBM Plex Sans" pitchFamily="34" charset="0"/>
                          <a:ea typeface="IBM Plex Sans" pitchFamily="34" charset="-122"/>
                          <a:cs typeface="IBM Plex Sans" pitchFamily="34" charset="-120"/>
                        </a:rPr>
                        <a:t>0,79</a:t>
                      </a:r>
                      <a:endParaRPr lang="en-US" sz="1251" dirty="0">
                        <a:latin typeface="IBM Plex Sans" charset="0"/>
                        <a:ea typeface="IBM Plex Sans" charset="0"/>
                        <a:cs typeface="IBM Plex Sans" charset="0"/>
                      </a:endParaRPr>
                    </a:p>
                  </a:txBody>
                  <a:tcPr marL="55618" marR="55618" marT="55618" marB="55618"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r>
              <a:tr h="346736">
                <a:tc>
                  <a:txBody>
                    <a:bodyPr/>
                    <a:lstStyle/>
                    <a:p>
                      <a:pPr indent="0" marL="0">
                        <a:lnSpc>
                          <a:spcPts val="1752"/>
                        </a:lnSpc>
                        <a:buNone/>
                      </a:pPr>
                      <a:r>
                        <a:rPr lang="en-US" sz="1251" dirty="0">
                          <a:solidFill>
                            <a:srgbClr val="14213D"/>
                          </a:solidFill>
                          <a:latin typeface="IBM Plex Sans" pitchFamily="34" charset="0"/>
                          <a:ea typeface="IBM Plex Sans" pitchFamily="34" charset="-122"/>
                          <a:cs typeface="IBM Plex Sans" pitchFamily="34" charset="-120"/>
                        </a:rPr>
                        <a:t>P2 template</a:t>
                      </a:r>
                      <a:endParaRPr lang="en-US" sz="1251" dirty="0">
                        <a:latin typeface="IBM Plex Sans" charset="0"/>
                        <a:ea typeface="IBM Plex Sans" charset="0"/>
                        <a:cs typeface="IBM Plex Sans" charset="0"/>
                      </a:endParaRPr>
                    </a:p>
                  </a:txBody>
                  <a:tcPr marL="55618" marR="55618" marT="55618" marB="55618"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EEF1F5"/>
                    </a:solidFill>
                  </a:tcPr>
                </a:tc>
                <a:tc>
                  <a:txBody>
                    <a:bodyPr/>
                    <a:lstStyle/>
                    <a:p>
                      <a:pPr algn="r" indent="0" marL="0">
                        <a:lnSpc>
                          <a:spcPts val="1752"/>
                        </a:lnSpc>
                        <a:buNone/>
                      </a:pPr>
                      <a:r>
                        <a:rPr lang="en-US" sz="1251" dirty="0">
                          <a:solidFill>
                            <a:srgbClr val="14213D"/>
                          </a:solidFill>
                          <a:latin typeface="IBM Plex Sans" pitchFamily="34" charset="0"/>
                          <a:ea typeface="IBM Plex Sans" pitchFamily="34" charset="-122"/>
                          <a:cs typeface="IBM Plex Sans" pitchFamily="34" charset="-120"/>
                        </a:rPr>
                        <a:t>0,812</a:t>
                      </a:r>
                      <a:endParaRPr lang="en-US" sz="1251" dirty="0">
                        <a:latin typeface="IBM Plex Sans" charset="0"/>
                        <a:ea typeface="IBM Plex Sans" charset="0"/>
                        <a:cs typeface="IBM Plex Sans" charset="0"/>
                      </a:endParaRPr>
                    </a:p>
                  </a:txBody>
                  <a:tcPr marL="55618" marR="55618" marT="55618" marB="55618"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EEF1F5"/>
                    </a:solidFill>
                  </a:tcPr>
                </a:tc>
                <a:tc>
                  <a:txBody>
                    <a:bodyPr/>
                    <a:lstStyle/>
                    <a:p>
                      <a:pPr algn="r" indent="0" marL="0">
                        <a:lnSpc>
                          <a:spcPts val="1752"/>
                        </a:lnSpc>
                        <a:buNone/>
                      </a:pPr>
                      <a:r>
                        <a:rPr lang="en-US" sz="1251" dirty="0">
                          <a:solidFill>
                            <a:srgbClr val="14213D"/>
                          </a:solidFill>
                          <a:latin typeface="IBM Plex Sans" pitchFamily="34" charset="0"/>
                          <a:ea typeface="IBM Plex Sans" pitchFamily="34" charset="-122"/>
                          <a:cs typeface="IBM Plex Sans" pitchFamily="34" charset="-120"/>
                        </a:rPr>
                        <a:t>0,71</a:t>
                      </a:r>
                      <a:endParaRPr lang="en-US" sz="1251" dirty="0">
                        <a:latin typeface="IBM Plex Sans" charset="0"/>
                        <a:ea typeface="IBM Plex Sans" charset="0"/>
                        <a:cs typeface="IBM Plex Sans" charset="0"/>
                      </a:endParaRPr>
                    </a:p>
                  </a:txBody>
                  <a:tcPr marL="55618" marR="55618" marT="55618" marB="55618"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EEF1F5"/>
                    </a:solidFill>
                  </a:tcPr>
                </a:tc>
                <a:tc>
                  <a:txBody>
                    <a:bodyPr/>
                    <a:lstStyle/>
                    <a:p>
                      <a:pPr algn="r" indent="0" marL="0">
                        <a:lnSpc>
                          <a:spcPts val="1752"/>
                        </a:lnSpc>
                        <a:buNone/>
                      </a:pPr>
                      <a:r>
                        <a:rPr lang="en-US" sz="1251" dirty="0">
                          <a:solidFill>
                            <a:srgbClr val="14213D"/>
                          </a:solidFill>
                          <a:latin typeface="IBM Plex Sans" pitchFamily="34" charset="0"/>
                          <a:ea typeface="IBM Plex Sans" pitchFamily="34" charset="-122"/>
                          <a:cs typeface="IBM Plex Sans" pitchFamily="34" charset="-120"/>
                        </a:rPr>
                        <a:t>0,153</a:t>
                      </a:r>
                      <a:endParaRPr lang="en-US" sz="1251" dirty="0">
                        <a:latin typeface="IBM Plex Sans" charset="0"/>
                        <a:ea typeface="IBM Plex Sans" charset="0"/>
                        <a:cs typeface="IBM Plex Sans" charset="0"/>
                      </a:endParaRPr>
                    </a:p>
                  </a:txBody>
                  <a:tcPr marL="55618" marR="55618" marT="55618" marB="55618"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EEF1F5"/>
                    </a:solidFill>
                  </a:tcPr>
                </a:tc>
                <a:tc>
                  <a:txBody>
                    <a:bodyPr/>
                    <a:lstStyle/>
                    <a:p>
                      <a:pPr algn="r" indent="0" marL="0">
                        <a:lnSpc>
                          <a:spcPts val="1752"/>
                        </a:lnSpc>
                        <a:buNone/>
                      </a:pPr>
                      <a:r>
                        <a:rPr lang="en-US" sz="1251" dirty="0">
                          <a:solidFill>
                            <a:srgbClr val="14213D"/>
                          </a:solidFill>
                          <a:latin typeface="IBM Plex Sans" pitchFamily="34" charset="0"/>
                          <a:ea typeface="IBM Plex Sans" pitchFamily="34" charset="-122"/>
                          <a:cs typeface="IBM Plex Sans" pitchFamily="34" charset="-120"/>
                        </a:rPr>
                        <a:t>0,34</a:t>
                      </a:r>
                      <a:endParaRPr lang="en-US" sz="1251" dirty="0">
                        <a:latin typeface="IBM Plex Sans" charset="0"/>
                        <a:ea typeface="IBM Plex Sans" charset="0"/>
                        <a:cs typeface="IBM Plex Sans" charset="0"/>
                      </a:endParaRPr>
                    </a:p>
                  </a:txBody>
                  <a:tcPr marL="55618" marR="55618" marT="55618" marB="55618"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solidFill>
                      <a:srgbClr val="EEF1F5"/>
                    </a:solidFill>
                  </a:tcPr>
                </a:tc>
              </a:tr>
              <a:tr h="346736">
                <a:tc>
                  <a:txBody>
                    <a:bodyPr/>
                    <a:lstStyle/>
                    <a:p>
                      <a:pPr indent="0" marL="0">
                        <a:lnSpc>
                          <a:spcPts val="1752"/>
                        </a:lnSpc>
                        <a:buNone/>
                      </a:pPr>
                      <a:r>
                        <a:rPr lang="en-US" sz="1251" dirty="0">
                          <a:solidFill>
                            <a:srgbClr val="14213D"/>
                          </a:solidFill>
                          <a:latin typeface="IBM Plex Sans" pitchFamily="34" charset="0"/>
                          <a:ea typeface="IBM Plex Sans" pitchFamily="34" charset="-122"/>
                          <a:cs typeface="IBM Plex Sans" pitchFamily="34" charset="-120"/>
                        </a:rPr>
                        <a:t>P3 modular</a:t>
                      </a:r>
                      <a:endParaRPr lang="en-US" sz="1251" dirty="0">
                        <a:latin typeface="IBM Plex Sans" charset="0"/>
                        <a:ea typeface="IBM Plex Sans" charset="0"/>
                        <a:cs typeface="IBM Plex Sans" charset="0"/>
                      </a:endParaRPr>
                    </a:p>
                  </a:txBody>
                  <a:tcPr marL="55618" marR="55618" marT="55618" marB="55618"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c>
                  <a:txBody>
                    <a:bodyPr/>
                    <a:lstStyle/>
                    <a:p>
                      <a:pPr algn="r" indent="0" marL="0">
                        <a:lnSpc>
                          <a:spcPts val="1752"/>
                        </a:lnSpc>
                        <a:buNone/>
                      </a:pPr>
                      <a:r>
                        <a:rPr lang="en-US" sz="1251" dirty="0">
                          <a:solidFill>
                            <a:srgbClr val="14213D"/>
                          </a:solidFill>
                          <a:latin typeface="IBM Plex Sans" pitchFamily="34" charset="0"/>
                          <a:ea typeface="IBM Plex Sans" pitchFamily="34" charset="-122"/>
                          <a:cs typeface="IBM Plex Sans" pitchFamily="34" charset="-120"/>
                        </a:rPr>
                        <a:t>1,462</a:t>
                      </a:r>
                      <a:endParaRPr lang="en-US" sz="1251" dirty="0">
                        <a:latin typeface="IBM Plex Sans" charset="0"/>
                        <a:ea typeface="IBM Plex Sans" charset="0"/>
                        <a:cs typeface="IBM Plex Sans" charset="0"/>
                      </a:endParaRPr>
                    </a:p>
                  </a:txBody>
                  <a:tcPr marL="55618" marR="55618" marT="55618" marB="55618"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c>
                  <a:txBody>
                    <a:bodyPr/>
                    <a:lstStyle/>
                    <a:p>
                      <a:pPr algn="r" indent="0" marL="0">
                        <a:lnSpc>
                          <a:spcPts val="1752"/>
                        </a:lnSpc>
                        <a:buNone/>
                      </a:pPr>
                      <a:r>
                        <a:rPr lang="en-US" sz="1251" dirty="0">
                          <a:solidFill>
                            <a:srgbClr val="14213D"/>
                          </a:solidFill>
                          <a:latin typeface="IBM Plex Sans" pitchFamily="34" charset="0"/>
                          <a:ea typeface="IBM Plex Sans" pitchFamily="34" charset="-122"/>
                          <a:cs typeface="IBM Plex Sans" pitchFamily="34" charset="-120"/>
                        </a:rPr>
                        <a:t>0,91</a:t>
                      </a:r>
                      <a:endParaRPr lang="en-US" sz="1251" dirty="0">
                        <a:latin typeface="IBM Plex Sans" charset="0"/>
                        <a:ea typeface="IBM Plex Sans" charset="0"/>
                        <a:cs typeface="IBM Plex Sans" charset="0"/>
                      </a:endParaRPr>
                    </a:p>
                  </a:txBody>
                  <a:tcPr marL="55618" marR="55618" marT="55618" marB="55618"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c>
                  <a:txBody>
                    <a:bodyPr/>
                    <a:lstStyle/>
                    <a:p>
                      <a:pPr algn="r" indent="0" marL="0">
                        <a:lnSpc>
                          <a:spcPts val="1752"/>
                        </a:lnSpc>
                        <a:buNone/>
                      </a:pPr>
                      <a:r>
                        <a:rPr lang="en-US" sz="1251" dirty="0">
                          <a:solidFill>
                            <a:srgbClr val="14213D"/>
                          </a:solidFill>
                          <a:latin typeface="IBM Plex Sans" pitchFamily="34" charset="0"/>
                          <a:ea typeface="IBM Plex Sans" pitchFamily="34" charset="-122"/>
                          <a:cs typeface="IBM Plex Sans" pitchFamily="34" charset="-120"/>
                        </a:rPr>
                        <a:t>0,123</a:t>
                      </a:r>
                      <a:endParaRPr lang="en-US" sz="1251" dirty="0">
                        <a:latin typeface="IBM Plex Sans" charset="0"/>
                        <a:ea typeface="IBM Plex Sans" charset="0"/>
                        <a:cs typeface="IBM Plex Sans" charset="0"/>
                      </a:endParaRPr>
                    </a:p>
                  </a:txBody>
                  <a:tcPr marL="55618" marR="55618" marT="55618" marB="55618"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c>
                  <a:txBody>
                    <a:bodyPr/>
                    <a:lstStyle/>
                    <a:p>
                      <a:pPr algn="r" indent="0" marL="0">
                        <a:lnSpc>
                          <a:spcPts val="1752"/>
                        </a:lnSpc>
                        <a:buNone/>
                      </a:pPr>
                      <a:r>
                        <a:rPr lang="en-US" sz="1251" dirty="0">
                          <a:solidFill>
                            <a:srgbClr val="14213D"/>
                          </a:solidFill>
                          <a:latin typeface="IBM Plex Sans" pitchFamily="34" charset="0"/>
                          <a:ea typeface="IBM Plex Sans" pitchFamily="34" charset="-122"/>
                          <a:cs typeface="IBM Plex Sans" pitchFamily="34" charset="-120"/>
                        </a:rPr>
                        <a:t>0,09</a:t>
                      </a:r>
                      <a:endParaRPr lang="en-US" sz="1251" dirty="0">
                        <a:latin typeface="IBM Plex Sans" charset="0"/>
                        <a:ea typeface="IBM Plex Sans" charset="0"/>
                        <a:cs typeface="IBM Plex Sans" charset="0"/>
                      </a:endParaRPr>
                    </a:p>
                  </a:txBody>
                  <a:tcPr marL="55618" marR="55618" marT="55618" marB="55618" anchor="t">
                    <a:lnL w="12700" cap="flat" cmpd="sng" algn="ctr">
                      <a:solidFill>
                        <a:srgbClr val="C8CBCF"/>
                      </a:solidFill>
                      <a:prstDash val="solid"/>
                      <a:round/>
                      <a:headEnd type="none" w="med" len="med"/>
                      <a:tailEnd type="none" w="med" len="med"/>
                    </a:lnL>
                    <a:lnR w="12700" cap="flat" cmpd="sng" algn="ctr">
                      <a:solidFill>
                        <a:srgbClr val="C8CBCF"/>
                      </a:solidFill>
                      <a:prstDash val="solid"/>
                      <a:round/>
                      <a:headEnd type="none" w="med" len="med"/>
                      <a:tailEnd type="none" w="med" len="med"/>
                    </a:lnR>
                    <a:lnT w="12700" cap="flat" cmpd="sng" algn="ctr">
                      <a:solidFill>
                        <a:srgbClr val="C8CBCF"/>
                      </a:solidFill>
                      <a:prstDash val="solid"/>
                      <a:round/>
                      <a:headEnd type="none" w="med" len="med"/>
                      <a:tailEnd type="none" w="med" len="med"/>
                    </a:lnT>
                    <a:lnB w="12700" cap="flat" cmpd="sng" algn="ctr">
                      <a:solidFill>
                        <a:srgbClr val="C8CBCF"/>
                      </a:solidFill>
                      <a:prstDash val="solid"/>
                      <a:round/>
                      <a:headEnd type="none" w="med" len="med"/>
                      <a:tailEnd type="none" w="med" len="med"/>
                    </a:lnB>
                  </a:tcPr>
                </a:tc>
              </a:tr>
            </a:tbl>
          </a:graphicData>
        </a:graphic>
      </p:graphicFrame>
      <p:sp>
        <p:nvSpPr>
          <p:cNvPr id="14" name="Shape 11"/>
          <p:cNvSpPr/>
          <p:nvPr/>
        </p:nvSpPr>
        <p:spPr>
          <a:xfrm>
            <a:off x="812800" y="5115458"/>
            <a:ext cx="10566400" cy="726546"/>
          </a:xfrm>
          <a:prstGeom prst="roundRect">
            <a:avLst>
              <a:gd name="adj" fmla="val 10488"/>
            </a:avLst>
          </a:prstGeom>
          <a:solidFill>
            <a:srgbClr val="EEF1F5"/>
          </a:solidFill>
          <a:ln/>
        </p:spPr>
      </p:sp>
      <p:sp>
        <p:nvSpPr>
          <p:cNvPr id="15" name="Shape 12"/>
          <p:cNvSpPr/>
          <p:nvPr/>
        </p:nvSpPr>
        <p:spPr>
          <a:xfrm>
            <a:off x="831850" y="5115458"/>
            <a:ext cx="0" cy="726546"/>
          </a:xfrm>
          <a:prstGeom prst="line">
            <a:avLst/>
          </a:prstGeom>
          <a:noFill/>
          <a:ln w="38100">
            <a:solidFill>
              <a:srgbClr val="2E7D52"/>
            </a:solidFill>
            <a:prstDash val="solid"/>
          </a:ln>
        </p:spPr>
      </p:sp>
      <p:sp>
        <p:nvSpPr>
          <p:cNvPr id="16" name="Text 13"/>
          <p:cNvSpPr/>
          <p:nvPr/>
        </p:nvSpPr>
        <p:spPr>
          <a:xfrm>
            <a:off x="1041400" y="5255158"/>
            <a:ext cx="10451719" cy="472546"/>
          </a:xfrm>
          <a:prstGeom prst="rect">
            <a:avLst/>
          </a:prstGeom>
          <a:noFill/>
          <a:ln/>
        </p:spPr>
        <p:txBody>
          <a:bodyPr wrap="square" lIns="0" tIns="0" rIns="0" bIns="0" rtlCol="0" anchor="t">
            <a:normAutofit/>
          </a:bodyPr>
          <a:lstStyle/>
          <a:p>
            <a:pPr algn="l" indent="0" marL="0">
              <a:lnSpc>
                <a:spcPts val="1758"/>
              </a:lnSpc>
              <a:buNone/>
            </a:pPr>
            <a:r>
              <a:rPr lang="en-US" sz="1256" dirty="0">
                <a:solidFill>
                  <a:srgbClr val="14213D"/>
                </a:solidFill>
                <a:latin typeface="IBM Plex Sans" pitchFamily="34" charset="0"/>
                <a:ea typeface="IBM Plex Sans" pitchFamily="34" charset="-122"/>
                <a:cs typeface="IBM Plex Sans" pitchFamily="34" charset="-120"/>
              </a:rPr>
              <a:t>Il costo per moltiplicazione eseguita è una </a:t>
            </a:r>
            <a:r>
              <a:rPr lang="en-US" sz="1256" b="1" dirty="0">
                <a:solidFill>
                  <a:srgbClr val="14213D"/>
                </a:solidFill>
                <a:latin typeface="IBM Plex Sans" pitchFamily="34" charset="0"/>
                <a:ea typeface="IBM Plex Sans" pitchFamily="34" charset="-122"/>
                <a:cs typeface="IBM Plex Sans" pitchFamily="34" charset="-120"/>
              </a:rPr>
              <a:t>costante misurabile</a:t>
            </a:r>
            <a:r>
              <a:rPr lang="en-US" sz="1256" dirty="0">
                <a:solidFill>
                  <a:srgbClr val="14213D"/>
                </a:solidFill>
                <a:latin typeface="IBM Plex Sans" pitchFamily="34" charset="0"/>
                <a:ea typeface="IBM Plex Sans" pitchFamily="34" charset="-122"/>
                <a:cs typeface="IBM Plex Sans" pitchFamily="34" charset="-120"/>
              </a:rPr>
              <a:t> della pipeline: </a:t>
            </a:r>
            <a:r>
              <a:rPr lang="en-US" sz="1256" b="1" dirty="0">
                <a:solidFill>
                  <a:srgbClr val="14213D"/>
                </a:solidFill>
                <a:latin typeface="IBM Plex Sans" pitchFamily="34" charset="0"/>
                <a:ea typeface="IBM Plex Sans" pitchFamily="34" charset="-122"/>
                <a:cs typeface="IBM Plex Sans" pitchFamily="34" charset="-120"/>
              </a:rPr>
              <a:t>0,32 ns</a:t>
            </a:r>
            <a:r>
              <a:rPr lang="en-US" sz="1256" dirty="0">
                <a:solidFill>
                  <a:srgbClr val="14213D"/>
                </a:solidFill>
                <a:latin typeface="IBM Plex Sans" pitchFamily="34" charset="0"/>
                <a:ea typeface="IBM Plex Sans" pitchFamily="34" charset="-122"/>
                <a:cs typeface="IBM Plex Sans" pitchFamily="34" charset="-120"/>
              </a:rPr>
              <a:t> con i pesi compilati, </a:t>
            </a:r>
            <a:r>
              <a:rPr lang="en-US" sz="1256" b="1" dirty="0">
                <a:solidFill>
                  <a:srgbClr val="14213D"/>
                </a:solidFill>
                <a:latin typeface="IBM Plex Sans" pitchFamily="34" charset="0"/>
                <a:ea typeface="IBM Plex Sans" pitchFamily="34" charset="-122"/>
                <a:cs typeface="IBM Plex Sans" pitchFamily="34" charset="-120"/>
              </a:rPr>
              <a:t>1,46 ns</a:t>
            </a:r>
            <a:r>
              <a:rPr lang="en-US" sz="1256" dirty="0">
                <a:solidFill>
                  <a:srgbClr val="14213D"/>
                </a:solidFill>
                <a:latin typeface="IBM Plex Sans" pitchFamily="34" charset="0"/>
                <a:ea typeface="IBM Plex Sans" pitchFamily="34" charset="-122"/>
                <a:cs typeface="IBM Plex Sans" pitchFamily="34" charset="-120"/>
              </a:rPr>
              <a:t> con i pesi letti da tabella. Un fattore </a:t>
            </a:r>
            <a:r>
              <a:rPr lang="en-US" sz="1256" b="1" dirty="0">
                <a:solidFill>
                  <a:srgbClr val="14213D"/>
                </a:solidFill>
                <a:latin typeface="IBM Plex Sans" pitchFamily="34" charset="0"/>
                <a:ea typeface="IBM Plex Sans" pitchFamily="34" charset="-122"/>
                <a:cs typeface="IBM Plex Sans" pitchFamily="34" charset="-120"/>
              </a:rPr>
              <a:t>4,5</a:t>
            </a:r>
            <a:r>
              <a:rPr lang="en-US" sz="1256" dirty="0">
                <a:solidFill>
                  <a:srgbClr val="14213D"/>
                </a:solidFill>
                <a:latin typeface="IBM Plex Sans" pitchFamily="34" charset="0"/>
                <a:ea typeface="IBM Plex Sans" pitchFamily="34" charset="-122"/>
                <a:cs typeface="IBM Plex Sans" pitchFamily="34" charset="-120"/>
              </a:rPr>
              <a:t> — il prezzo della genericità, in una costante invece che in un aneddoto.</a:t>
            </a:r>
            <a:endParaRPr lang="en-US" sz="1256" dirty="0"/>
          </a:p>
        </p:txBody>
      </p:sp>
      <p:sp>
        <p:nvSpPr>
          <p:cNvPr id="17" name="Text 14"/>
          <p:cNvSpPr/>
          <p:nvPr/>
        </p:nvSpPr>
        <p:spPr>
          <a:xfrm>
            <a:off x="812800" y="6238280"/>
            <a:ext cx="78451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Retta ai minimi quadrati sui quattro assi insieme · la baseline, che di moltiplicazioni ne fa zero, sta fra 16 e 30 ns</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C2410C"/>
                </a:solidFill>
                <a:latin typeface="JetBrains Mono" pitchFamily="34" charset="0"/>
                <a:ea typeface="JetBrains Mono" pitchFamily="34" charset="-122"/>
                <a:cs typeface="JetBrains Mono" pitchFamily="34" charset="-120"/>
              </a:rPr>
              <a:t>LA SCOPERTA, IN DUE GRAFICI · STESSI PUNTI, ASSE ORIZZONTALE DIVERSO</a:t>
            </a:r>
            <a:endParaRPr lang="en-US" sz="1300" dirty="0"/>
          </a:p>
        </p:txBody>
      </p:sp>
      <p:sp>
        <p:nvSpPr>
          <p:cNvPr id="3" name="Text 1"/>
          <p:cNvSpPr/>
          <p:nvPr/>
        </p:nvSpPr>
        <p:spPr>
          <a:xfrm>
            <a:off x="812800" y="1107418"/>
            <a:ext cx="10883392" cy="430477"/>
          </a:xfrm>
          <a:prstGeom prst="rect">
            <a:avLst/>
          </a:prstGeom>
          <a:noFill/>
          <a:ln/>
        </p:spPr>
        <p:txBody>
          <a:bodyPr wrap="square" lIns="0" tIns="0" rIns="0" bIns="0" rtlCol="0" anchor="t">
            <a:normAutofit/>
          </a:bodyPr>
          <a:lstStyle/>
          <a:p>
            <a:pPr algn="l" indent="0" marL="0">
              <a:lnSpc>
                <a:spcPts val="3190"/>
              </a:lnSpc>
              <a:buNone/>
            </a:pPr>
            <a:r>
              <a:rPr lang="en-US" sz="2900" b="1" dirty="0">
                <a:solidFill>
                  <a:srgbClr val="14213D"/>
                </a:solidFill>
                <a:latin typeface="IBM Plex Sans" pitchFamily="34" charset="0"/>
                <a:ea typeface="IBM Plex Sans" pitchFamily="34" charset="-122"/>
                <a:cs typeface="IBM Plex Sans" pitchFamily="34" charset="-120"/>
              </a:rPr>
              <a:t>Contare le moltiplicazioni giuste cambia tutto</a:t>
            </a:r>
            <a:endParaRPr lang="en-US" sz="2900" dirty="0"/>
          </a:p>
        </p:txBody>
      </p:sp>
      <p:sp>
        <p:nvSpPr>
          <p:cNvPr id="4" name="Shape 2"/>
          <p:cNvSpPr/>
          <p:nvPr/>
        </p:nvSpPr>
        <p:spPr>
          <a:xfrm>
            <a:off x="815975" y="1668066"/>
            <a:ext cx="5194300" cy="2656417"/>
          </a:xfrm>
          <a:prstGeom prst="roundRect">
            <a:avLst>
              <a:gd name="adj" fmla="val 3705"/>
            </a:avLst>
          </a:prstGeom>
          <a:solidFill>
            <a:srgbClr val="FFFFFF"/>
          </a:solidFill>
          <a:ln w="6350">
            <a:solidFill>
              <a:srgbClr val="D7DEE7"/>
            </a:solidFill>
            <a:prstDash val="solid"/>
          </a:ln>
        </p:spPr>
      </p:sp>
      <p:pic>
        <p:nvPicPr>
          <p:cNvPr id="5" name="Image 0" descr="Latenza in funzione delle moltiplicazioni contate dalla forma del modello: i punti sono sparsi, le rette non li seguono">    </p:cNvPr>
          <p:cNvPicPr>
            <a:picLocks noChangeAspect="1"/>
          </p:cNvPicPr>
          <p:nvPr/>
        </p:nvPicPr>
        <p:blipFill>
          <a:blip r:embed="rId1"/>
          <a:srcRect l="-11859" r="-11859" t="0" b="0"/>
          <a:stretch/>
        </p:blipFill>
        <p:spPr>
          <a:xfrm>
            <a:off x="905933" y="1758032"/>
            <a:ext cx="4902200" cy="2476500"/>
          </a:xfrm>
          <a:prstGeom prst="rect">
            <a:avLst/>
          </a:prstGeom>
        </p:spPr>
      </p:pic>
      <p:sp>
        <p:nvSpPr>
          <p:cNvPr id="6" name="Shape 3"/>
          <p:cNvSpPr/>
          <p:nvPr/>
        </p:nvSpPr>
        <p:spPr>
          <a:xfrm>
            <a:off x="812800" y="4403874"/>
            <a:ext cx="5200650" cy="674291"/>
          </a:xfrm>
          <a:prstGeom prst="roundRect">
            <a:avLst>
              <a:gd name="adj" fmla="val 11301"/>
            </a:avLst>
          </a:prstGeom>
          <a:solidFill>
            <a:srgbClr val="EEF1F5"/>
          </a:solidFill>
          <a:ln/>
        </p:spPr>
      </p:sp>
      <p:sp>
        <p:nvSpPr>
          <p:cNvPr id="7" name="Shape 4"/>
          <p:cNvSpPr/>
          <p:nvPr/>
        </p:nvSpPr>
        <p:spPr>
          <a:xfrm>
            <a:off x="831850" y="4403874"/>
            <a:ext cx="0" cy="674291"/>
          </a:xfrm>
          <a:prstGeom prst="line">
            <a:avLst/>
          </a:prstGeom>
          <a:noFill/>
          <a:ln w="38100">
            <a:solidFill>
              <a:srgbClr val="C2410C"/>
            </a:solidFill>
            <a:prstDash val="solid"/>
          </a:ln>
        </p:spPr>
      </p:sp>
      <p:sp>
        <p:nvSpPr>
          <p:cNvPr id="8" name="Text 5"/>
          <p:cNvSpPr/>
          <p:nvPr/>
        </p:nvSpPr>
        <p:spPr>
          <a:xfrm>
            <a:off x="1003300" y="4518174"/>
            <a:ext cx="5003483"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4213D"/>
                </a:solidFill>
                <a:latin typeface="IBM Plex Sans" pitchFamily="34" charset="0"/>
                <a:ea typeface="IBM Plex Sans" pitchFamily="34" charset="-122"/>
                <a:cs typeface="IBM Plex Sans" pitchFamily="34" charset="-120"/>
              </a:rPr>
              <a:t>Contate </a:t>
            </a:r>
            <a:r>
              <a:rPr lang="en-US" sz="1300" b="1" dirty="0">
                <a:solidFill>
                  <a:srgbClr val="14213D"/>
                </a:solidFill>
                <a:latin typeface="IBM Plex Sans" pitchFamily="34" charset="0"/>
                <a:ea typeface="IBM Plex Sans" pitchFamily="34" charset="-122"/>
                <a:cs typeface="IBM Plex Sans" pitchFamily="34" charset="-120"/>
              </a:rPr>
              <a:t>dalla forma</a:t>
            </a:r>
            <a:r>
              <a:rPr lang="en-US" sz="1300" dirty="0">
                <a:solidFill>
                  <a:srgbClr val="14213D"/>
                </a:solidFill>
                <a:latin typeface="IBM Plex Sans" pitchFamily="34" charset="0"/>
                <a:ea typeface="IBM Plex Sans" pitchFamily="34" charset="-122"/>
                <a:cs typeface="IBM Plex Sans" pitchFamily="34" charset="-120"/>
              </a:rPr>
              <a:t> del modello. I punti sono una nuvola: per la versione più flessibile la retta spiega il </a:t>
            </a:r>
            <a:r>
              <a:rPr lang="en-US" sz="1300" b="1" dirty="0">
                <a:solidFill>
                  <a:srgbClr val="14213D"/>
                </a:solidFill>
                <a:latin typeface="IBM Plex Sans" pitchFamily="34" charset="0"/>
                <a:ea typeface="IBM Plex Sans" pitchFamily="34" charset="-122"/>
                <a:cs typeface="IBM Plex Sans" pitchFamily="34" charset="-120"/>
              </a:rPr>
              <a:t>9 %</a:t>
            </a:r>
            <a:r>
              <a:rPr lang="en-US" sz="1300" dirty="0">
                <a:solidFill>
                  <a:srgbClr val="14213D"/>
                </a:solidFill>
                <a:latin typeface="IBM Plex Sans" pitchFamily="34" charset="0"/>
                <a:ea typeface="IBM Plex Sans" pitchFamily="34" charset="-122"/>
                <a:cs typeface="IBM Plex Sans" pitchFamily="34" charset="-120"/>
              </a:rPr>
              <a:t>.</a:t>
            </a:r>
            <a:endParaRPr lang="en-US" sz="1300" dirty="0"/>
          </a:p>
        </p:txBody>
      </p:sp>
      <p:sp>
        <p:nvSpPr>
          <p:cNvPr id="9" name="Shape 6"/>
          <p:cNvSpPr/>
          <p:nvPr/>
        </p:nvSpPr>
        <p:spPr>
          <a:xfrm>
            <a:off x="6181725" y="1668066"/>
            <a:ext cx="5194300" cy="2656417"/>
          </a:xfrm>
          <a:prstGeom prst="roundRect">
            <a:avLst>
              <a:gd name="adj" fmla="val 3705"/>
            </a:avLst>
          </a:prstGeom>
          <a:solidFill>
            <a:srgbClr val="FFFFFF"/>
          </a:solidFill>
          <a:ln w="6350">
            <a:solidFill>
              <a:srgbClr val="D7DEE7"/>
            </a:solidFill>
            <a:prstDash val="solid"/>
          </a:ln>
        </p:spPr>
      </p:sp>
      <p:pic>
        <p:nvPicPr>
          <p:cNvPr id="10" name="Image 1" descr="Latenza in funzione delle moltiplicazioni davvero eseguite: i punti dei quattro assi cadono su una retta per ciascuna versione">    </p:cNvPr>
          <p:cNvPicPr>
            <a:picLocks noChangeAspect="1"/>
          </p:cNvPicPr>
          <p:nvPr/>
        </p:nvPicPr>
        <p:blipFill>
          <a:blip r:embed="rId2"/>
          <a:srcRect l="-11859" r="-11859" t="0" b="0"/>
          <a:stretch/>
        </p:blipFill>
        <p:spPr>
          <a:xfrm>
            <a:off x="6271683" y="1758032"/>
            <a:ext cx="4902200" cy="2476500"/>
          </a:xfrm>
          <a:prstGeom prst="rect">
            <a:avLst/>
          </a:prstGeom>
        </p:spPr>
      </p:pic>
      <p:sp>
        <p:nvSpPr>
          <p:cNvPr id="11" name="Shape 7"/>
          <p:cNvSpPr/>
          <p:nvPr/>
        </p:nvSpPr>
        <p:spPr>
          <a:xfrm>
            <a:off x="6178550" y="4403874"/>
            <a:ext cx="5200650" cy="674291"/>
          </a:xfrm>
          <a:prstGeom prst="roundRect">
            <a:avLst>
              <a:gd name="adj" fmla="val 11301"/>
            </a:avLst>
          </a:prstGeom>
          <a:solidFill>
            <a:srgbClr val="EEF1F5"/>
          </a:solidFill>
          <a:ln/>
        </p:spPr>
      </p:sp>
      <p:sp>
        <p:nvSpPr>
          <p:cNvPr id="12" name="Shape 8"/>
          <p:cNvSpPr/>
          <p:nvPr/>
        </p:nvSpPr>
        <p:spPr>
          <a:xfrm>
            <a:off x="6197600" y="4403874"/>
            <a:ext cx="0" cy="674291"/>
          </a:xfrm>
          <a:prstGeom prst="line">
            <a:avLst/>
          </a:prstGeom>
          <a:noFill/>
          <a:ln w="38100">
            <a:solidFill>
              <a:srgbClr val="2E7D52"/>
            </a:solidFill>
            <a:prstDash val="solid"/>
          </a:ln>
        </p:spPr>
      </p:sp>
      <p:sp>
        <p:nvSpPr>
          <p:cNvPr id="13" name="Text 9"/>
          <p:cNvSpPr/>
          <p:nvPr/>
        </p:nvSpPr>
        <p:spPr>
          <a:xfrm>
            <a:off x="6369050" y="4518174"/>
            <a:ext cx="5003483"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4213D"/>
                </a:solidFill>
                <a:latin typeface="IBM Plex Sans" pitchFamily="34" charset="0"/>
                <a:ea typeface="IBM Plex Sans" pitchFamily="34" charset="-122"/>
                <a:cs typeface="IBM Plex Sans" pitchFamily="34" charset="-120"/>
              </a:rPr>
              <a:t>Contate </a:t>
            </a:r>
            <a:r>
              <a:rPr lang="en-US" sz="1300" b="1" dirty="0">
                <a:solidFill>
                  <a:srgbClr val="14213D"/>
                </a:solidFill>
                <a:latin typeface="IBM Plex Sans" pitchFamily="34" charset="0"/>
                <a:ea typeface="IBM Plex Sans" pitchFamily="34" charset="-122"/>
                <a:cs typeface="IBM Plex Sans" pitchFamily="34" charset="-120"/>
              </a:rPr>
              <a:t>davvero eseguite</a:t>
            </a:r>
            <a:r>
              <a:rPr lang="en-US" sz="1300" dirty="0">
                <a:solidFill>
                  <a:srgbClr val="14213D"/>
                </a:solidFill>
                <a:latin typeface="IBM Plex Sans" pitchFamily="34" charset="0"/>
                <a:ea typeface="IBM Plex Sans" pitchFamily="34" charset="-122"/>
                <a:cs typeface="IBM Plex Sans" pitchFamily="34" charset="-120"/>
              </a:rPr>
              <a:t>. Quattro assi diversi cadono sulla stessa retta: </a:t>
            </a:r>
            <a:r>
              <a:rPr lang="en-US" sz="1300" b="1" dirty="0">
                <a:solidFill>
                  <a:srgbClr val="14213D"/>
                </a:solidFill>
                <a:latin typeface="IBM Plex Sans" pitchFamily="34" charset="0"/>
                <a:ea typeface="IBM Plex Sans" pitchFamily="34" charset="-122"/>
                <a:cs typeface="IBM Plex Sans" pitchFamily="34" charset="-120"/>
              </a:rPr>
              <a:t>91 %</a:t>
            </a:r>
            <a:r>
              <a:rPr lang="en-US" sz="1300" dirty="0">
                <a:solidFill>
                  <a:srgbClr val="14213D"/>
                </a:solidFill>
                <a:latin typeface="IBM Plex Sans" pitchFamily="34" charset="0"/>
                <a:ea typeface="IBM Plex Sans" pitchFamily="34" charset="-122"/>
                <a:cs typeface="IBM Plex Sans" pitchFamily="34" charset="-120"/>
              </a:rPr>
              <a:t>, e 99 % sulla più specializzata.</a:t>
            </a:r>
            <a:endParaRPr lang="en-US" sz="1300" dirty="0"/>
          </a:p>
        </p:txBody>
      </p:sp>
      <p:sp>
        <p:nvSpPr>
          <p:cNvPr id="14" name="Text 10"/>
          <p:cNvSpPr/>
          <p:nvPr/>
        </p:nvSpPr>
        <p:spPr>
          <a:xfrm>
            <a:off x="812800" y="6238280"/>
            <a:ext cx="104151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Una casella che fa parte di un gruppo «una sola accesa» occupa spazio nella tabella dei pesi, ma viene sommata una volta e basta — non moltiplicata</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EEF1F5"/>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C2410C"/>
                </a:solidFill>
                <a:latin typeface="JetBrains Mono" pitchFamily="34" charset="0"/>
                <a:ea typeface="JetBrains Mono" pitchFamily="34" charset="-122"/>
                <a:cs typeface="JetBrains Mono" pitchFamily="34" charset="-120"/>
              </a:rPr>
              <a:t>UNA PREVISIONE NOSTRA, SMENTITA DA UNA MISURA NOSTRA</a:t>
            </a:r>
            <a:endParaRPr lang="en-US" sz="1300" dirty="0"/>
          </a:p>
        </p:txBody>
      </p:sp>
      <p:sp>
        <p:nvSpPr>
          <p:cNvPr id="3" name="Text 1"/>
          <p:cNvSpPr/>
          <p:nvPr/>
        </p:nvSpPr>
        <p:spPr>
          <a:xfrm>
            <a:off x="812800" y="1107430"/>
            <a:ext cx="10883392" cy="430477"/>
          </a:xfrm>
          <a:prstGeom prst="rect">
            <a:avLst/>
          </a:prstGeom>
          <a:noFill/>
          <a:ln/>
        </p:spPr>
        <p:txBody>
          <a:bodyPr wrap="square" lIns="0" tIns="0" rIns="0" bIns="0" rtlCol="0" anchor="t">
            <a:normAutofit/>
          </a:bodyPr>
          <a:lstStyle/>
          <a:p>
            <a:pPr algn="l" indent="0" marL="0">
              <a:lnSpc>
                <a:spcPts val="3190"/>
              </a:lnSpc>
              <a:buNone/>
            </a:pPr>
            <a:r>
              <a:rPr lang="en-US" sz="2900" b="1" dirty="0">
                <a:solidFill>
                  <a:srgbClr val="14213D"/>
                </a:solidFill>
                <a:latin typeface="IBM Plex Sans" pitchFamily="34" charset="0"/>
                <a:ea typeface="IBM Plex Sans" pitchFamily="34" charset="-122"/>
                <a:cs typeface="IBM Plex Sans" pitchFamily="34" charset="-120"/>
              </a:rPr>
              <a:t>«Fra i due banchi c’è un addendo costante»</a:t>
            </a:r>
            <a:endParaRPr lang="en-US" sz="2900" dirty="0"/>
          </a:p>
        </p:txBody>
      </p:sp>
      <p:sp>
        <p:nvSpPr>
          <p:cNvPr id="4" name="Text 2"/>
          <p:cNvSpPr/>
          <p:nvPr/>
        </p:nvSpPr>
        <p:spPr>
          <a:xfrm>
            <a:off x="812800" y="1677591"/>
            <a:ext cx="10595610"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Avevamo concluso che lo scarto fra laboratorio e traffico vero fosse un </a:t>
            </a:r>
            <a:r>
              <a:rPr lang="en-US" sz="1400" b="1" dirty="0">
                <a:solidFill>
                  <a:srgbClr val="4A5568"/>
                </a:solidFill>
                <a:latin typeface="IBM Plex Sans" pitchFamily="34" charset="0"/>
                <a:ea typeface="IBM Plex Sans" pitchFamily="34" charset="-122"/>
                <a:cs typeface="IBM Plex Sans" pitchFamily="34" charset="-120"/>
              </a:rPr>
              <a:t>addendo comune</a:t>
            </a:r>
            <a:r>
              <a:rPr lang="en-US" sz="1400" dirty="0">
                <a:solidFill>
                  <a:srgbClr val="4A5568"/>
                </a:solidFill>
                <a:latin typeface="IBM Plex Sans" pitchFamily="34" charset="0"/>
                <a:ea typeface="IBM Plex Sans" pitchFamily="34" charset="-122"/>
                <a:cs typeface="IBM Plex Sans" pitchFamily="34" charset="-120"/>
              </a:rPr>
              <a:t> — allocazione, copia dell’headroom — e che quindi sottraendo la baseline si eliminasse il banco. La calibrazione sullo stesso 65-4-4-7 dice di no.</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12800" y="2340521"/>
          <a:ext cx="6591300" cy="1929805"/>
        </p:xfrm>
        <a:graphic>
          <a:graphicData uri="http://schemas.openxmlformats.org/drawingml/2006/table">
            <a:tbl>
              <a:tblPr/>
              <a:tblGrid>
                <a:gridCol w="1977390"/>
                <a:gridCol w="1581912"/>
                <a:gridCol w="1450086"/>
                <a:gridCol w="1581912"/>
              </a:tblGrid>
              <a:tr h="385961">
                <a:tc>
                  <a:txBody>
                    <a:bodyPr/>
                    <a:lstStyle/>
                    <a:p>
                      <a:pPr indent="0" marL="0">
                        <a:lnSpc>
                          <a:spcPts val="1960"/>
                        </a:lnSpc>
                        <a:buNone/>
                      </a:pPr>
                      <a:r>
                        <a:rPr lang="en-US" sz="1400" b="1" dirty="0">
                          <a:solidFill>
                            <a:srgbClr val="FBFBF8"/>
                          </a:solidFill>
                          <a:latin typeface="IBM Plex Sans" pitchFamily="34" charset="0"/>
                          <a:ea typeface="IBM Plex Sans" pitchFamily="34" charset="-122"/>
                          <a:cs typeface="IBM Plex Sans" pitchFamily="34" charset="-120"/>
                        </a:rPr>
                        <a:t>Pipeline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14213D"/>
                    </a:solidFill>
                  </a:tcPr>
                </a:tc>
                <a:tc>
                  <a:txBody>
                    <a:bodyPr/>
                    <a:lstStyle/>
                    <a:p>
                      <a:pPr algn="r" indent="0" marL="0">
                        <a:lnSpc>
                          <a:spcPts val="1960"/>
                        </a:lnSpc>
                        <a:buNone/>
                      </a:pPr>
                      <a:r>
                        <a:rPr lang="en-US" sz="1400" b="1" dirty="0">
                          <a:solidFill>
                            <a:srgbClr val="FBFBF8"/>
                          </a:solidFill>
                          <a:latin typeface="IBM Plex Sans" pitchFamily="34" charset="0"/>
                          <a:ea typeface="IBM Plex Sans" pitchFamily="34" charset="-122"/>
                          <a:cs typeface="IBM Plex Sans" pitchFamily="34" charset="-120"/>
                        </a:rPr>
                        <a:t>test_suite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14213D"/>
                    </a:solidFill>
                  </a:tcPr>
                </a:tc>
                <a:tc>
                  <a:txBody>
                    <a:bodyPr/>
                    <a:lstStyle/>
                    <a:p>
                      <a:pPr algn="r" indent="0" marL="0">
                        <a:lnSpc>
                          <a:spcPts val="1960"/>
                        </a:lnSpc>
                        <a:buNone/>
                      </a:pPr>
                      <a:r>
                        <a:rPr lang="en-US" sz="1400" b="1" dirty="0">
                          <a:solidFill>
                            <a:srgbClr val="FBFBF8"/>
                          </a:solidFill>
                          <a:latin typeface="IBM Plex Sans" pitchFamily="34" charset="0"/>
                          <a:ea typeface="IBM Plex Sans" pitchFamily="34" charset="-122"/>
                          <a:cs typeface="IBM Plex Sans" pitchFamily="34" charset="-120"/>
                        </a:rPr>
                        <a:t>campagna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14213D"/>
                    </a:solidFill>
                  </a:tcPr>
                </a:tc>
                <a:tc>
                  <a:txBody>
                    <a:bodyPr/>
                    <a:lstStyle/>
                    <a:p>
                      <a:pPr algn="r" indent="0" marL="0">
                        <a:lnSpc>
                          <a:spcPts val="1960"/>
                        </a:lnSpc>
                        <a:buNone/>
                      </a:pPr>
                      <a:r>
                        <a:rPr lang="en-US" sz="1400" b="1" dirty="0">
                          <a:solidFill>
                            <a:srgbClr val="FBFBF8"/>
                          </a:solidFill>
                          <a:latin typeface="IBM Plex Sans" pitchFamily="34" charset="0"/>
                          <a:ea typeface="IBM Plex Sans" pitchFamily="34" charset="-122"/>
                          <a:cs typeface="IBM Plex Sans" pitchFamily="34" charset="-120"/>
                        </a:rPr>
                        <a:t>scarto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14213D"/>
                    </a:solidFill>
                  </a:tcPr>
                </a:tc>
              </a:tr>
              <a:tr h="38596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baseline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23 ns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9 ns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−61 %</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r>
              <a:tr h="38596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P1.5 hardcoded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49 ns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37 ns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−24 %</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P2 template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177 ns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149 ns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−16 %</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solidFill>
                      <a:srgbClr val="FBFBF8"/>
                    </a:solidFill>
                  </a:tcPr>
                </a:tc>
              </a:tr>
              <a:tr h="38596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P3 modular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278 ns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240 ns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tcPr>
                </a:tc>
                <a:tc>
                  <a:txBody>
                    <a:bodyPr/>
                    <a:lstStyle/>
                    <a:p>
                      <a:pPr algn="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−14 %</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3CD"/>
                      </a:solidFill>
                      <a:prstDash val="solid"/>
                      <a:round/>
                      <a:headEnd type="none" w="med" len="med"/>
                      <a:tailEnd type="none" w="med" len="med"/>
                    </a:lnL>
                    <a:lnR w="12700" cap="flat" cmpd="sng" algn="ctr">
                      <a:solidFill>
                        <a:srgbClr val="BEC3CD"/>
                      </a:solidFill>
                      <a:prstDash val="solid"/>
                      <a:round/>
                      <a:headEnd type="none" w="med" len="med"/>
                      <a:tailEnd type="none" w="med" len="med"/>
                    </a:lnR>
                    <a:lnT w="12700" cap="flat" cmpd="sng" algn="ctr">
                      <a:solidFill>
                        <a:srgbClr val="BEC3CD"/>
                      </a:solidFill>
                      <a:prstDash val="solid"/>
                      <a:round/>
                      <a:headEnd type="none" w="med" len="med"/>
                      <a:tailEnd type="none" w="med" len="med"/>
                    </a:lnT>
                    <a:lnB w="12700" cap="flat" cmpd="sng" algn="ctr">
                      <a:solidFill>
                        <a:srgbClr val="BEC3CD"/>
                      </a:solidFill>
                      <a:prstDash val="solid"/>
                      <a:round/>
                      <a:headEnd type="none" w="med" len="med"/>
                      <a:tailEnd type="none" w="med" len="med"/>
                    </a:lnB>
                  </a:tcPr>
                </a:tc>
              </a:tr>
            </a:tbl>
          </a:graphicData>
        </a:graphic>
      </p:graphicFrame>
      <p:sp>
        <p:nvSpPr>
          <p:cNvPr id="6" name="Shape 3"/>
          <p:cNvSpPr/>
          <p:nvPr/>
        </p:nvSpPr>
        <p:spPr>
          <a:xfrm>
            <a:off x="7569200" y="2340521"/>
            <a:ext cx="3810000" cy="2120305"/>
          </a:xfrm>
          <a:prstGeom prst="roundRect">
            <a:avLst>
              <a:gd name="adj" fmla="val 4792"/>
            </a:avLst>
          </a:prstGeom>
          <a:solidFill>
            <a:srgbClr val="14213D"/>
          </a:solidFill>
          <a:ln/>
        </p:spPr>
      </p:sp>
      <p:sp>
        <p:nvSpPr>
          <p:cNvPr id="7" name="Text 4"/>
          <p:cNvSpPr/>
          <p:nvPr/>
        </p:nvSpPr>
        <p:spPr>
          <a:xfrm>
            <a:off x="7759700" y="2574875"/>
            <a:ext cx="353187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E8A87C"/>
                </a:solidFill>
                <a:latin typeface="IBM Plex Sans" pitchFamily="34" charset="0"/>
                <a:ea typeface="IBM Plex Sans" pitchFamily="34" charset="-122"/>
                <a:cs typeface="IBM Plex Sans" pitchFamily="34" charset="-120"/>
              </a:rPr>
              <a:t>La causa, trovata</a:t>
            </a:r>
            <a:endParaRPr lang="en-US" sz="1400" dirty="0"/>
          </a:p>
        </p:txBody>
      </p:sp>
      <p:sp>
        <p:nvSpPr>
          <p:cNvPr id="8" name="Text 5"/>
          <p:cNvSpPr/>
          <p:nvPr/>
        </p:nvSpPr>
        <p:spPr>
          <a:xfrm>
            <a:off x="7759700" y="2864396"/>
            <a:ext cx="3531870" cy="882650"/>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BFD8D5"/>
                </a:solidFill>
                <a:latin typeface="IBM Plex Sans" pitchFamily="34" charset="0"/>
                <a:ea typeface="IBM Plex Sans" pitchFamily="34" charset="-122"/>
                <a:cs typeface="IBM Plex Sans" pitchFamily="34" charset="-120"/>
              </a:rPr>
              <a:t>La campagna riusa un frame per 100 000 ripetizioni. Il TTL si inchioda a 1 e ogni esecuzione successiva prende ttl &lt;= 1 → XDP_PASS.</a:t>
            </a:r>
            <a:endParaRPr lang="en-US" sz="1250" dirty="0"/>
          </a:p>
        </p:txBody>
      </p:sp>
      <p:sp>
        <p:nvSpPr>
          <p:cNvPr id="9" name="Text 6"/>
          <p:cNvSpPr/>
          <p:nvPr/>
        </p:nvSpPr>
        <p:spPr>
          <a:xfrm>
            <a:off x="7759700" y="3797846"/>
            <a:ext cx="3531870" cy="454025"/>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BFD8D5"/>
                </a:solidFill>
                <a:latin typeface="IBM Plex Sans" pitchFamily="34" charset="0"/>
                <a:ea typeface="IBM Plex Sans" pitchFamily="34" charset="-122"/>
                <a:cs typeface="IBM Plex Sans" pitchFamily="34" charset="-120"/>
              </a:rPr>
              <a:t>Quel ramo sta </a:t>
            </a:r>
            <a:r>
              <a:rPr lang="en-US" sz="1250" b="1" dirty="0">
                <a:solidFill>
                  <a:srgbClr val="BFD8D5"/>
                </a:solidFill>
                <a:latin typeface="IBM Plex Sans" pitchFamily="34" charset="0"/>
                <a:ea typeface="IBM Plex Sans" pitchFamily="34" charset="-122"/>
                <a:cs typeface="IBM Plex Sans" pitchFamily="34" charset="-120"/>
              </a:rPr>
              <a:t>dopo</a:t>
            </a:r>
            <a:r>
              <a:rPr lang="en-US" sz="1250" dirty="0">
                <a:solidFill>
                  <a:srgbClr val="BFD8D5"/>
                </a:solidFill>
                <a:latin typeface="IBM Plex Sans" pitchFamily="34" charset="0"/>
                <a:ea typeface="IBM Plex Sans" pitchFamily="34" charset="-122"/>
                <a:cs typeface="IBM Plex Sans" pitchFamily="34" charset="-120"/>
              </a:rPr>
              <a:t> l’inferenza — il modello gira — ma salta la coda di inoltro.</a:t>
            </a:r>
            <a:endParaRPr lang="en-US" sz="1250" dirty="0"/>
          </a:p>
        </p:txBody>
      </p:sp>
      <p:sp>
        <p:nvSpPr>
          <p:cNvPr id="10" name="Shape 7"/>
          <p:cNvSpPr/>
          <p:nvPr/>
        </p:nvSpPr>
        <p:spPr>
          <a:xfrm>
            <a:off x="812800" y="4625925"/>
            <a:ext cx="10566400" cy="777214"/>
          </a:xfrm>
          <a:prstGeom prst="roundRect">
            <a:avLst>
              <a:gd name="adj" fmla="val 9804"/>
            </a:avLst>
          </a:prstGeom>
          <a:solidFill>
            <a:srgbClr val="FBFBF8"/>
          </a:solidFill>
          <a:ln/>
        </p:spPr>
      </p:sp>
      <p:sp>
        <p:nvSpPr>
          <p:cNvPr id="11" name="Shape 8"/>
          <p:cNvSpPr/>
          <p:nvPr/>
        </p:nvSpPr>
        <p:spPr>
          <a:xfrm>
            <a:off x="831850" y="4625925"/>
            <a:ext cx="0" cy="777214"/>
          </a:xfrm>
          <a:prstGeom prst="line">
            <a:avLst/>
          </a:prstGeom>
          <a:noFill/>
          <a:ln w="38100">
            <a:solidFill>
              <a:srgbClr val="C2410C"/>
            </a:solidFill>
            <a:prstDash val="solid"/>
          </a:ln>
        </p:spPr>
      </p:sp>
      <p:sp>
        <p:nvSpPr>
          <p:cNvPr id="12" name="Text 9"/>
          <p:cNvSpPr/>
          <p:nvPr/>
        </p:nvSpPr>
        <p:spPr>
          <a:xfrm>
            <a:off x="1041400" y="4765625"/>
            <a:ext cx="10451719"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Non è la stessa grandezza con uno scostamento: </a:t>
            </a:r>
            <a:r>
              <a:rPr lang="en-US" sz="1400" b="1" dirty="0">
                <a:solidFill>
                  <a:srgbClr val="14213D"/>
                </a:solidFill>
                <a:latin typeface="IBM Plex Sans" pitchFamily="34" charset="0"/>
                <a:ea typeface="IBM Plex Sans" pitchFamily="34" charset="-122"/>
                <a:cs typeface="IBM Plex Sans" pitchFamily="34" charset="-120"/>
              </a:rPr>
              <a:t>la campagna misura l’inferenza, test_suite misura inferenza più inoltro</a:t>
            </a:r>
            <a:r>
              <a:rPr lang="en-US" sz="1400" dirty="0">
                <a:solidFill>
                  <a:srgbClr val="14213D"/>
                </a:solidFill>
                <a:latin typeface="IBM Plex Sans" pitchFamily="34" charset="0"/>
                <a:ea typeface="IBM Plex Sans" pitchFamily="34" charset="-122"/>
                <a:cs typeface="IBM Plex Sans" pitchFamily="34" charset="-120"/>
              </a:rPr>
              <a:t>. Lo scarto è massimo sulla baseline perché per lei l’inoltro </a:t>
            </a:r>
            <a:r>
              <a:rPr lang="en-US" sz="1400" i="1" dirty="0">
                <a:solidFill>
                  <a:srgbClr val="14213D"/>
                </a:solidFill>
                <a:latin typeface="IBM Plex Sans" pitchFamily="34" charset="0"/>
                <a:ea typeface="IBM Plex Sans" pitchFamily="34" charset="-122"/>
                <a:cs typeface="IBM Plex Sans" pitchFamily="34" charset="-120"/>
              </a:rPr>
              <a:t>è</a:t>
            </a:r>
            <a:r>
              <a:rPr lang="en-US" sz="1400" dirty="0">
                <a:solidFill>
                  <a:srgbClr val="14213D"/>
                </a:solidFill>
                <a:latin typeface="IBM Plex Sans" pitchFamily="34" charset="0"/>
                <a:ea typeface="IBM Plex Sans" pitchFamily="34" charset="-122"/>
                <a:cs typeface="IBM Plex Sans" pitchFamily="34" charset="-120"/>
              </a:rPr>
              <a:t> quasi tutto il programma. Non vanno messe sulla stessa curva.</a:t>
            </a:r>
            <a:endParaRPr lang="en-US" sz="1400" dirty="0"/>
          </a:p>
        </p:txBody>
      </p:sp>
      <p:sp>
        <p:nvSpPr>
          <p:cNvPr id="13" name="Text 10"/>
          <p:cNvSpPr/>
          <p:nvPr/>
        </p:nvSpPr>
        <p:spPr>
          <a:xfrm>
            <a:off x="812800" y="6238280"/>
            <a:ext cx="112444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Validazione incrociata: istruzioni identiche fra i due banchi (155, 14 985, 12 349) tranne hardcoded, 1026 contro 1071 — i pesi veri hanno zeri che clang cancella</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425318"/>
          </a:xfrm>
          <a:prstGeom prst="rect">
            <a:avLst/>
          </a:prstGeom>
          <a:noFill/>
          <a:ln/>
        </p:spPr>
        <p:txBody>
          <a:bodyPr wrap="square" lIns="0" tIns="0" rIns="0" bIns="0" rtlCol="0" anchor="t">
            <a:normAutofit/>
          </a:bodyPr>
          <a:lstStyle/>
          <a:p>
            <a:pPr algn="l" indent="0" marL="0">
              <a:lnSpc>
                <a:spcPts val="3166"/>
              </a:lnSpc>
              <a:buNone/>
            </a:pPr>
            <a:r>
              <a:rPr lang="en-US" sz="2878" b="1" dirty="0">
                <a:solidFill>
                  <a:srgbClr val="FBFBF8"/>
                </a:solidFill>
                <a:latin typeface="IBM Plex Sans" pitchFamily="34" charset="0"/>
                <a:ea typeface="IBM Plex Sans" pitchFamily="34" charset="-122"/>
                <a:cs typeface="IBM Plex Sans" pitchFamily="34" charset="-120"/>
              </a:rPr>
              <a:t>Che cosa regge, e che cosa no</a:t>
            </a:r>
            <a:endParaRPr lang="en-US" sz="2878" dirty="0"/>
          </a:p>
        </p:txBody>
      </p:sp>
      <p:sp>
        <p:nvSpPr>
          <p:cNvPr id="3" name="Shape 1"/>
          <p:cNvSpPr/>
          <p:nvPr/>
        </p:nvSpPr>
        <p:spPr>
          <a:xfrm>
            <a:off x="812800" y="1390526"/>
            <a:ext cx="5181600" cy="2729376"/>
          </a:xfrm>
          <a:prstGeom prst="roundRect">
            <a:avLst>
              <a:gd name="adj" fmla="val 3722"/>
            </a:avLst>
          </a:prstGeom>
          <a:solidFill>
            <a:srgbClr val="1C2C4F"/>
          </a:solidFill>
          <a:ln/>
        </p:spPr>
      </p:sp>
      <p:sp>
        <p:nvSpPr>
          <p:cNvPr id="4" name="Text 2"/>
          <p:cNvSpPr/>
          <p:nvPr/>
        </p:nvSpPr>
        <p:spPr>
          <a:xfrm>
            <a:off x="1003300" y="1581026"/>
            <a:ext cx="4944618" cy="248576"/>
          </a:xfrm>
          <a:prstGeom prst="rect">
            <a:avLst/>
          </a:prstGeom>
          <a:noFill/>
          <a:ln/>
        </p:spPr>
        <p:txBody>
          <a:bodyPr wrap="square" lIns="0" tIns="0" rIns="0" bIns="0" rtlCol="0" anchor="t">
            <a:normAutofit/>
          </a:bodyPr>
          <a:lstStyle/>
          <a:p>
            <a:pPr algn="l" indent="0" marL="0">
              <a:lnSpc>
                <a:spcPts val="1773"/>
              </a:lnSpc>
              <a:buNone/>
            </a:pPr>
            <a:r>
              <a:rPr lang="en-US" sz="1477" b="1" dirty="0">
                <a:solidFill>
                  <a:srgbClr val="7FD1A4"/>
                </a:solidFill>
                <a:latin typeface="IBM Plex Sans" pitchFamily="34" charset="0"/>
                <a:ea typeface="IBM Plex Sans" pitchFamily="34" charset="-122"/>
                <a:cs typeface="IBM Plex Sans" pitchFamily="34" charset="-120"/>
              </a:rPr>
              <a:t>Regge</a:t>
            </a:r>
            <a:endParaRPr lang="en-US" sz="1477" dirty="0"/>
          </a:p>
        </p:txBody>
      </p:sp>
      <p:sp>
        <p:nvSpPr>
          <p:cNvPr id="5" name="Text 3"/>
          <p:cNvSpPr/>
          <p:nvPr/>
        </p:nvSpPr>
        <p:spPr>
          <a:xfrm>
            <a:off x="1003300" y="1893094"/>
            <a:ext cx="4944618" cy="2061700"/>
          </a:xfrm>
          <a:prstGeom prst="rect">
            <a:avLst/>
          </a:prstGeom>
          <a:noFill/>
          <a:ln/>
        </p:spPr>
        <p:txBody>
          <a:bodyPr wrap="square" lIns="0" tIns="0" rIns="0" bIns="0" rtlCol="0" anchor="t">
            <a:normAutofit/>
          </a:bodyPr>
          <a:lstStyle/>
          <a:p>
            <a:pPr algn="l" marL="342900" indent="-342900">
              <a:lnSpc>
                <a:spcPts val="1785"/>
              </a:lnSpc>
              <a:buSzPct val="100000"/>
              <a:buChar char="•"/>
            </a:pPr>
            <a:r>
              <a:rPr lang="en-US" sz="1231" dirty="0">
                <a:solidFill>
                  <a:srgbClr val="FBFBF8"/>
                </a:solidFill>
                <a:latin typeface="IBM Plex Sans" pitchFamily="34" charset="0"/>
                <a:ea typeface="IBM Plex Sans" pitchFamily="34" charset="-122"/>
                <a:cs typeface="IBM Plex Sans" pitchFamily="34" charset="-120"/>
              </a:rPr>
              <a:t>L’ordine P1 ≈ P1.5 &lt; P2 &lt; P3, in ogni run e a ogni taglia</a:t>
            </a:r>
            <a:endParaRPr lang="en-US" sz="1231" dirty="0"/>
          </a:p>
          <a:p>
            <a:pPr algn="l" marL="342900" indent="-342900">
              <a:lnSpc>
                <a:spcPts val="1785"/>
              </a:lnSpc>
              <a:buSzPct val="100000"/>
              <a:buChar char="•"/>
            </a:pPr>
            <a:r>
              <a:rPr lang="en-US" sz="1231" dirty="0">
                <a:solidFill>
                  <a:srgbClr val="FBFBF8"/>
                </a:solidFill>
                <a:latin typeface="IBM Plex Sans" pitchFamily="34" charset="0"/>
                <a:ea typeface="IBM Plex Sans" pitchFamily="34" charset="-122"/>
                <a:cs typeface="IBM Plex Sans" pitchFamily="34" charset="-120"/>
              </a:rPr>
              <a:t>Che i conti siano giusti: 2 100 decisioni verificate, sette modelli diversi</a:t>
            </a:r>
            <a:endParaRPr lang="en-US" sz="1231" dirty="0"/>
          </a:p>
          <a:p>
            <a:pPr algn="l" marL="342900" indent="-342900">
              <a:lnSpc>
                <a:spcPts val="1785"/>
              </a:lnSpc>
              <a:buSzPct val="100000"/>
              <a:buChar char="•"/>
            </a:pPr>
            <a:r>
              <a:rPr lang="en-US" sz="1231" dirty="0">
                <a:solidFill>
                  <a:srgbClr val="FBFBF8"/>
                </a:solidFill>
                <a:latin typeface="IBM Plex Sans" pitchFamily="34" charset="0"/>
                <a:ea typeface="IBM Plex Sans" pitchFamily="34" charset="-122"/>
                <a:cs typeface="IBM Plex Sans" pitchFamily="34" charset="-120"/>
              </a:rPr>
              <a:t>Le </a:t>
            </a:r>
            <a:r>
              <a:rPr lang="en-US" sz="1231" b="1" dirty="0">
                <a:solidFill>
                  <a:srgbClr val="FBFBF8"/>
                </a:solidFill>
                <a:latin typeface="IBM Plex Sans" pitchFamily="34" charset="0"/>
                <a:ea typeface="IBM Plex Sans" pitchFamily="34" charset="-122"/>
                <a:cs typeface="IBM Plex Sans" pitchFamily="34" charset="-120"/>
              </a:rPr>
              <a:t>dimensioni dei programmi</a:t>
            </a:r>
            <a:r>
              <a:rPr lang="en-US" sz="1231" dirty="0">
                <a:solidFill>
                  <a:srgbClr val="FBFBF8"/>
                </a:solidFill>
                <a:latin typeface="IBM Plex Sans" pitchFamily="34" charset="0"/>
                <a:ea typeface="IBM Plex Sans" pitchFamily="34" charset="-122"/>
                <a:cs typeface="IBM Plex Sans" pitchFamily="34" charset="-120"/>
              </a:rPr>
              <a:t>: sempre identiche, non risentono del carico</a:t>
            </a:r>
            <a:endParaRPr lang="en-US" sz="1231" dirty="0"/>
          </a:p>
          <a:p>
            <a:pPr algn="l" marL="342900" indent="-342900">
              <a:lnSpc>
                <a:spcPts val="1785"/>
              </a:lnSpc>
              <a:buSzPct val="100000"/>
              <a:buChar char="•"/>
            </a:pPr>
            <a:r>
              <a:rPr lang="en-US" sz="1231" dirty="0">
                <a:solidFill>
                  <a:srgbClr val="FBFBF8"/>
                </a:solidFill>
                <a:latin typeface="IBM Plex Sans" pitchFamily="34" charset="0"/>
                <a:ea typeface="IBM Plex Sans" pitchFamily="34" charset="-122"/>
                <a:cs typeface="IBM Plex Sans" pitchFamily="34" charset="-120"/>
              </a:rPr>
              <a:t>Il costo della rete neurale come </a:t>
            </a:r>
            <a:r>
              <a:rPr lang="en-US" sz="1231" b="1" dirty="0">
                <a:solidFill>
                  <a:srgbClr val="FBFBF8"/>
                </a:solidFill>
                <a:latin typeface="IBM Plex Sans" pitchFamily="34" charset="0"/>
                <a:ea typeface="IBM Plex Sans" pitchFamily="34" charset="-122"/>
                <a:cs typeface="IBM Plex Sans" pitchFamily="34" charset="-120"/>
              </a:rPr>
              <a:t>differenza</a:t>
            </a:r>
            <a:r>
              <a:rPr lang="en-US" sz="1231" dirty="0">
                <a:solidFill>
                  <a:srgbClr val="FBFBF8"/>
                </a:solidFill>
                <a:latin typeface="IBM Plex Sans" pitchFamily="34" charset="0"/>
                <a:ea typeface="IBM Plex Sans" pitchFamily="34" charset="-122"/>
                <a:cs typeface="IBM Plex Sans" pitchFamily="34" charset="-120"/>
              </a:rPr>
              <a:t> dal programma minimo</a:t>
            </a:r>
            <a:endParaRPr lang="en-US" sz="1231" dirty="0"/>
          </a:p>
          <a:p>
            <a:pPr algn="l" marL="342900" indent="-342900">
              <a:lnSpc>
                <a:spcPts val="1785"/>
              </a:lnSpc>
              <a:buSzPct val="100000"/>
              <a:buChar char="•"/>
            </a:pPr>
            <a:r>
              <a:rPr lang="en-US" sz="1231" dirty="0">
                <a:solidFill>
                  <a:srgbClr val="FBFBF8"/>
                </a:solidFill>
                <a:latin typeface="IBM Plex Sans" pitchFamily="34" charset="0"/>
                <a:ea typeface="IBM Plex Sans" pitchFamily="34" charset="-122"/>
                <a:cs typeface="IBM Plex Sans" pitchFamily="34" charset="-120"/>
              </a:rPr>
              <a:t>Chi perde i pacchetti: non il programma, ma il tubo che glieli porta</a:t>
            </a:r>
            <a:endParaRPr lang="en-US" sz="1231" dirty="0"/>
          </a:p>
        </p:txBody>
      </p:sp>
      <p:sp>
        <p:nvSpPr>
          <p:cNvPr id="6" name="Shape 4"/>
          <p:cNvSpPr/>
          <p:nvPr/>
        </p:nvSpPr>
        <p:spPr>
          <a:xfrm>
            <a:off x="6197600" y="1390526"/>
            <a:ext cx="5181600" cy="2729376"/>
          </a:xfrm>
          <a:prstGeom prst="roundRect">
            <a:avLst>
              <a:gd name="adj" fmla="val 3722"/>
            </a:avLst>
          </a:prstGeom>
          <a:solidFill>
            <a:srgbClr val="1C2C4F"/>
          </a:solidFill>
          <a:ln/>
        </p:spPr>
      </p:sp>
      <p:sp>
        <p:nvSpPr>
          <p:cNvPr id="7" name="Text 5"/>
          <p:cNvSpPr/>
          <p:nvPr/>
        </p:nvSpPr>
        <p:spPr>
          <a:xfrm>
            <a:off x="6388100" y="1581026"/>
            <a:ext cx="4944618" cy="248576"/>
          </a:xfrm>
          <a:prstGeom prst="rect">
            <a:avLst/>
          </a:prstGeom>
          <a:noFill/>
          <a:ln/>
        </p:spPr>
        <p:txBody>
          <a:bodyPr wrap="square" lIns="0" tIns="0" rIns="0" bIns="0" rtlCol="0" anchor="t">
            <a:normAutofit/>
          </a:bodyPr>
          <a:lstStyle/>
          <a:p>
            <a:pPr algn="l" indent="0" marL="0">
              <a:lnSpc>
                <a:spcPts val="1773"/>
              </a:lnSpc>
              <a:buNone/>
            </a:pPr>
            <a:r>
              <a:rPr lang="en-US" sz="1477" b="1" dirty="0">
                <a:solidFill>
                  <a:srgbClr val="F0A0A0"/>
                </a:solidFill>
                <a:latin typeface="IBM Plex Sans" pitchFamily="34" charset="0"/>
                <a:ea typeface="IBM Plex Sans" pitchFamily="34" charset="-122"/>
                <a:cs typeface="IBM Plex Sans" pitchFamily="34" charset="-120"/>
              </a:rPr>
              <a:t>Non regge</a:t>
            </a:r>
            <a:endParaRPr lang="en-US" sz="1477" dirty="0"/>
          </a:p>
        </p:txBody>
      </p:sp>
      <p:sp>
        <p:nvSpPr>
          <p:cNvPr id="8" name="Text 6"/>
          <p:cNvSpPr/>
          <p:nvPr/>
        </p:nvSpPr>
        <p:spPr>
          <a:xfrm>
            <a:off x="6388100" y="1893094"/>
            <a:ext cx="4944618" cy="2061700"/>
          </a:xfrm>
          <a:prstGeom prst="rect">
            <a:avLst/>
          </a:prstGeom>
          <a:noFill/>
          <a:ln/>
        </p:spPr>
        <p:txBody>
          <a:bodyPr wrap="square" lIns="0" tIns="0" rIns="0" bIns="0" rtlCol="0" anchor="t">
            <a:normAutofit/>
          </a:bodyPr>
          <a:lstStyle/>
          <a:p>
            <a:pPr algn="l" marL="342900" indent="-342900">
              <a:lnSpc>
                <a:spcPts val="1785"/>
              </a:lnSpc>
              <a:buSzPct val="100000"/>
              <a:buChar char="•"/>
            </a:pPr>
            <a:r>
              <a:rPr lang="en-US" sz="1231" dirty="0">
                <a:solidFill>
                  <a:srgbClr val="FBFBF8"/>
                </a:solidFill>
                <a:latin typeface="IBM Plex Sans" pitchFamily="34" charset="0"/>
                <a:ea typeface="IBM Plex Sans" pitchFamily="34" charset="-122"/>
                <a:cs typeface="IBM Plex Sans" pitchFamily="34" charset="-120"/>
              </a:rPr>
              <a:t>Il numero di </a:t>
            </a:r>
            <a:r>
              <a:rPr lang="en-US" sz="1231" b="1" dirty="0">
                <a:solidFill>
                  <a:srgbClr val="FBFBF8"/>
                </a:solidFill>
                <a:latin typeface="IBM Plex Sans" pitchFamily="34" charset="0"/>
                <a:ea typeface="IBM Plex Sans" pitchFamily="34" charset="-122"/>
                <a:cs typeface="IBM Plex Sans" pitchFamily="34" charset="-120"/>
              </a:rPr>
              <a:t>pacchetti al secondo</a:t>
            </a:r>
            <a:r>
              <a:rPr lang="en-US" sz="1231" dirty="0">
                <a:solidFill>
                  <a:srgbClr val="FBFBF8"/>
                </a:solidFill>
                <a:latin typeface="IBM Plex Sans" pitchFamily="34" charset="0"/>
                <a:ea typeface="IBM Plex Sans" pitchFamily="34" charset="-122"/>
                <a:cs typeface="IBM Plex Sans" pitchFamily="34" charset="-120"/>
              </a:rPr>
              <a:t> in assoluto: il nodo non arriva mai al limite, a fermarsi è il banco</a:t>
            </a:r>
            <a:endParaRPr lang="en-US" sz="1231" dirty="0"/>
          </a:p>
          <a:p>
            <a:pPr algn="l" marL="342900" indent="-342900">
              <a:lnSpc>
                <a:spcPts val="1785"/>
              </a:lnSpc>
              <a:buSzPct val="100000"/>
              <a:buChar char="•"/>
            </a:pPr>
            <a:r>
              <a:rPr lang="en-US" sz="1231" dirty="0">
                <a:solidFill>
                  <a:srgbClr val="FBFBF8"/>
                </a:solidFill>
                <a:latin typeface="IBM Plex Sans" pitchFamily="34" charset="0"/>
                <a:ea typeface="IBM Plex Sans" pitchFamily="34" charset="-122"/>
                <a:cs typeface="IBM Plex Sans" pitchFamily="34" charset="-120"/>
              </a:rPr>
              <a:t>P1 contro P1.5: variano fra run più di quanto distino</a:t>
            </a:r>
            <a:endParaRPr lang="en-US" sz="1231" dirty="0"/>
          </a:p>
          <a:p>
            <a:pPr algn="l" marL="342900" indent="-342900">
              <a:lnSpc>
                <a:spcPts val="1785"/>
              </a:lnSpc>
              <a:buSzPct val="100000"/>
              <a:buChar char="•"/>
            </a:pPr>
            <a:r>
              <a:rPr lang="en-US" sz="1231" b="1" dirty="0">
                <a:solidFill>
                  <a:srgbClr val="FBFBF8"/>
                </a:solidFill>
                <a:latin typeface="IBM Plex Sans" pitchFamily="34" charset="0"/>
                <a:ea typeface="IBM Plex Sans" pitchFamily="34" charset="-122"/>
                <a:cs typeface="IBM Plex Sans" pitchFamily="34" charset="-120"/>
              </a:rPr>
              <a:t>I nanosecondi assoluti</a:t>
            </a:r>
            <a:r>
              <a:rPr lang="en-US" sz="1231" dirty="0">
                <a:solidFill>
                  <a:srgbClr val="FBFBF8"/>
                </a:solidFill>
                <a:latin typeface="IBM Plex Sans" pitchFamily="34" charset="0"/>
                <a:ea typeface="IBM Plex Sans" pitchFamily="34" charset="-122"/>
                <a:cs typeface="IBM Plex Sans" pitchFamily="34" charset="-120"/>
              </a:rPr>
              <a:t>: dipendono dallo stato della macchina, si citano i rapporti</a:t>
            </a:r>
            <a:endParaRPr lang="en-US" sz="1231" dirty="0"/>
          </a:p>
          <a:p>
            <a:pPr algn="l" marL="342900" indent="-342900">
              <a:lnSpc>
                <a:spcPts val="1785"/>
              </a:lnSpc>
              <a:buSzPct val="100000"/>
              <a:buChar char="•"/>
            </a:pPr>
            <a:r>
              <a:rPr lang="en-US" sz="1231" dirty="0">
                <a:solidFill>
                  <a:srgbClr val="FBFBF8"/>
                </a:solidFill>
                <a:latin typeface="IBM Plex Sans" pitchFamily="34" charset="0"/>
                <a:ea typeface="IBM Plex Sans" pitchFamily="34" charset="-122"/>
                <a:cs typeface="IBM Plex Sans" pitchFamily="34" charset="-120"/>
              </a:rPr>
              <a:t>I valori tipici e di coda: li misuriamo con una precisione di un fattore due</a:t>
            </a:r>
            <a:endParaRPr lang="en-US" sz="1231" dirty="0"/>
          </a:p>
          <a:p>
            <a:pPr algn="l" marL="342900" indent="-342900">
              <a:lnSpc>
                <a:spcPts val="1785"/>
              </a:lnSpc>
              <a:buSzPct val="100000"/>
              <a:buChar char="•"/>
            </a:pPr>
            <a:r>
              <a:rPr lang="en-US" sz="1231" dirty="0">
                <a:solidFill>
                  <a:srgbClr val="FBFBF8"/>
                </a:solidFill>
                <a:latin typeface="IBM Plex Sans" pitchFamily="34" charset="0"/>
                <a:ea typeface="IBM Plex Sans" pitchFamily="34" charset="-122"/>
                <a:cs typeface="IBM Plex Sans" pitchFamily="34" charset="-120"/>
              </a:rPr>
              <a:t>I numeri assoluti: la macchina virtuale ha 4 processori e non vede a che velocità vanno</a:t>
            </a:r>
            <a:endParaRPr lang="en-US" sz="1231" dirty="0"/>
          </a:p>
        </p:txBody>
      </p:sp>
      <p:sp>
        <p:nvSpPr>
          <p:cNvPr id="9" name="Shape 7"/>
          <p:cNvSpPr/>
          <p:nvPr/>
        </p:nvSpPr>
        <p:spPr>
          <a:xfrm>
            <a:off x="812800" y="4297710"/>
            <a:ext cx="10566400" cy="1544307"/>
          </a:xfrm>
          <a:prstGeom prst="roundRect">
            <a:avLst>
              <a:gd name="adj" fmla="val 6579"/>
            </a:avLst>
          </a:prstGeom>
          <a:solidFill>
            <a:srgbClr val="1C2C4F"/>
          </a:solidFill>
          <a:ln/>
        </p:spPr>
      </p:sp>
      <p:sp>
        <p:nvSpPr>
          <p:cNvPr id="10" name="Text 8"/>
          <p:cNvSpPr/>
          <p:nvPr/>
        </p:nvSpPr>
        <p:spPr>
          <a:xfrm>
            <a:off x="1016000" y="4462810"/>
            <a:ext cx="10464800" cy="235082"/>
          </a:xfrm>
          <a:prstGeom prst="rect">
            <a:avLst/>
          </a:prstGeom>
          <a:noFill/>
          <a:ln/>
        </p:spPr>
        <p:txBody>
          <a:bodyPr wrap="square" lIns="0" tIns="0" rIns="0" bIns="0" rtlCol="0" anchor="t">
            <a:normAutofit/>
          </a:bodyPr>
          <a:lstStyle/>
          <a:p>
            <a:pPr algn="l" indent="0" marL="0">
              <a:lnSpc>
                <a:spcPts val="1669"/>
              </a:lnSpc>
              <a:buNone/>
            </a:pPr>
            <a:r>
              <a:rPr lang="en-US" sz="1391" b="1" dirty="0">
                <a:solidFill>
                  <a:srgbClr val="E8A87C"/>
                </a:solidFill>
                <a:latin typeface="IBM Plex Sans" pitchFamily="34" charset="0"/>
                <a:ea typeface="IBM Plex Sans" pitchFamily="34" charset="-122"/>
                <a:cs typeface="IBM Plex Sans" pitchFamily="34" charset="-120"/>
              </a:rPr>
              <a:t>La lezione di metodo</a:t>
            </a:r>
            <a:endParaRPr lang="en-US" sz="1391" dirty="0"/>
          </a:p>
        </p:txBody>
      </p:sp>
      <p:sp>
        <p:nvSpPr>
          <p:cNvPr id="11" name="Text 9"/>
          <p:cNvSpPr/>
          <p:nvPr/>
        </p:nvSpPr>
        <p:spPr>
          <a:xfrm>
            <a:off x="1016000" y="4735984"/>
            <a:ext cx="10464800" cy="464145"/>
          </a:xfrm>
          <a:prstGeom prst="rect">
            <a:avLst/>
          </a:prstGeom>
          <a:noFill/>
          <a:ln/>
        </p:spPr>
        <p:txBody>
          <a:bodyPr wrap="square" lIns="0" tIns="0" rIns="0" bIns="0" rtlCol="0" anchor="t">
            <a:normAutofit/>
          </a:bodyPr>
          <a:lstStyle/>
          <a:p>
            <a:pPr algn="l" indent="0" marL="0">
              <a:lnSpc>
                <a:spcPts val="1735"/>
              </a:lnSpc>
              <a:buNone/>
            </a:pPr>
            <a:r>
              <a:rPr lang="en-US" sz="1239" dirty="0">
                <a:solidFill>
                  <a:srgbClr val="FBFBF8"/>
                </a:solidFill>
                <a:latin typeface="IBM Plex Sans" pitchFamily="34" charset="0"/>
                <a:ea typeface="IBM Plex Sans" pitchFamily="34" charset="-122"/>
                <a:cs typeface="IBM Plex Sans" pitchFamily="34" charset="-120"/>
              </a:rPr>
              <a:t>Per settimane lo stesso identico programma, misurato in due sweep diversi, dava numeri a </a:t>
            </a:r>
            <a:r>
              <a:rPr lang="en-US" sz="1239" b="1" dirty="0">
                <a:solidFill>
                  <a:srgbClr val="FBFBF8"/>
                </a:solidFill>
                <a:latin typeface="IBM Plex Sans" pitchFamily="34" charset="0"/>
                <a:ea typeface="IBM Plex Sans" pitchFamily="34" charset="-122"/>
                <a:cs typeface="IBM Plex Sans" pitchFamily="34" charset="-120"/>
              </a:rPr>
              <a:t>1,8×</a:t>
            </a:r>
            <a:r>
              <a:rPr lang="en-US" sz="1239" dirty="0">
                <a:solidFill>
                  <a:srgbClr val="FBFBF8"/>
                </a:solidFill>
                <a:latin typeface="IBM Plex Sans" pitchFamily="34" charset="0"/>
                <a:ea typeface="IBM Plex Sans" pitchFamily="34" charset="-122"/>
                <a:cs typeface="IBM Plex Sans" pitchFamily="34" charset="-120"/>
              </a:rPr>
              <a:t> di distanza. Sembrava rumore della macchina. Era un </a:t>
            </a:r>
            <a:r>
              <a:rPr lang="en-US" sz="1239" b="1" dirty="0">
                <a:solidFill>
                  <a:srgbClr val="FBFBF8"/>
                </a:solidFill>
                <a:latin typeface="IBM Plex Sans" pitchFamily="34" charset="0"/>
                <a:ea typeface="IBM Plex Sans" pitchFamily="34" charset="-122"/>
                <a:cs typeface="IBM Plex Sans" pitchFamily="34" charset="-120"/>
              </a:rPr>
              <a:t>difetto del banco</a:t>
            </a:r>
            <a:r>
              <a:rPr lang="en-US" sz="1239" dirty="0">
                <a:solidFill>
                  <a:srgbClr val="FBFBF8"/>
                </a:solidFill>
                <a:latin typeface="IBM Plex Sans" pitchFamily="34" charset="0"/>
                <a:ea typeface="IBM Plex Sans" pitchFamily="34" charset="-122"/>
                <a:cs typeface="IBM Plex Sans" pitchFamily="34" charset="-120"/>
              </a:rPr>
              <a:t>: riusava un pacchetto solo, il TTL si esauriva e le ripetizioni successive saltavano metà del lavoro.</a:t>
            </a:r>
            <a:endParaRPr lang="en-US" sz="1239" dirty="0"/>
          </a:p>
        </p:txBody>
      </p:sp>
      <p:sp>
        <p:nvSpPr>
          <p:cNvPr id="12" name="Text 10"/>
          <p:cNvSpPr/>
          <p:nvPr/>
        </p:nvSpPr>
        <p:spPr>
          <a:xfrm>
            <a:off x="1016000" y="5238229"/>
            <a:ext cx="10464800" cy="464079"/>
          </a:xfrm>
          <a:prstGeom prst="rect">
            <a:avLst/>
          </a:prstGeom>
          <a:noFill/>
          <a:ln/>
        </p:spPr>
        <p:txBody>
          <a:bodyPr wrap="square" lIns="0" tIns="0" rIns="0" bIns="0" rtlCol="0" anchor="t">
            <a:normAutofit/>
          </a:bodyPr>
          <a:lstStyle/>
          <a:p>
            <a:pPr algn="l" indent="0" marL="0">
              <a:lnSpc>
                <a:spcPts val="1735"/>
              </a:lnSpc>
              <a:buNone/>
            </a:pPr>
            <a:r>
              <a:rPr lang="en-US" sz="1239" dirty="0">
                <a:solidFill>
                  <a:srgbClr val="BFD8D5"/>
                </a:solidFill>
                <a:latin typeface="IBM Plex Sans" pitchFamily="34" charset="0"/>
                <a:ea typeface="IBM Plex Sans" pitchFamily="34" charset="-122"/>
                <a:cs typeface="IBM Plex Sans" pitchFamily="34" charset="-120"/>
              </a:rPr>
              <a:t>Corretto quello, i due sweep concordano entro il </a:t>
            </a:r>
            <a:r>
              <a:rPr lang="en-US" sz="1239" b="1" dirty="0">
                <a:solidFill>
                  <a:srgbClr val="BFD8D5"/>
                </a:solidFill>
                <a:latin typeface="IBM Plex Sans" pitchFamily="34" charset="0"/>
                <a:ea typeface="IBM Plex Sans" pitchFamily="34" charset="-122"/>
                <a:cs typeface="IBM Plex Sans" pitchFamily="34" charset="-120"/>
              </a:rPr>
              <a:t>2 %</a:t>
            </a:r>
            <a:r>
              <a:rPr lang="en-US" sz="1239" dirty="0">
                <a:solidFill>
                  <a:srgbClr val="BFD8D5"/>
                </a:solidFill>
                <a:latin typeface="IBM Plex Sans" pitchFamily="34" charset="0"/>
                <a:ea typeface="IBM Plex Sans" pitchFamily="34" charset="-122"/>
                <a:cs typeface="IBM Plex Sans" pitchFamily="34" charset="-120"/>
              </a:rPr>
              <a:t> e i due banchi indipendenti entro l’</a:t>
            </a:r>
            <a:r>
              <a:rPr lang="en-US" sz="1239" b="1" dirty="0">
                <a:solidFill>
                  <a:srgbClr val="BFD8D5"/>
                </a:solidFill>
                <a:latin typeface="IBM Plex Sans" pitchFamily="34" charset="0"/>
                <a:ea typeface="IBM Plex Sans" pitchFamily="34" charset="-122"/>
                <a:cs typeface="IBM Plex Sans" pitchFamily="34" charset="-120"/>
              </a:rPr>
              <a:t>11 %</a:t>
            </a:r>
            <a:r>
              <a:rPr lang="en-US" sz="1239" dirty="0">
                <a:solidFill>
                  <a:srgbClr val="BFD8D5"/>
                </a:solidFill>
                <a:latin typeface="IBM Plex Sans" pitchFamily="34" charset="0"/>
                <a:ea typeface="IBM Plex Sans" pitchFamily="34" charset="-122"/>
                <a:cs typeface="IBM Plex Sans" pitchFamily="34" charset="-120"/>
              </a:rPr>
              <a:t>. </a:t>
            </a:r>
            <a:r>
              <a:rPr lang="en-US" sz="1239" b="1" dirty="0">
                <a:solidFill>
                  <a:srgbClr val="BFD8D5"/>
                </a:solidFill>
                <a:latin typeface="IBM Plex Sans" pitchFamily="34" charset="0"/>
                <a:ea typeface="IBM Plex Sans" pitchFamily="34" charset="-122"/>
                <a:cs typeface="IBM Plex Sans" pitchFamily="34" charset="-120"/>
              </a:rPr>
              <a:t>Attribuire al rumore ciò che non si sa spiegare costa settimane</a:t>
            </a:r>
            <a:r>
              <a:rPr lang="en-US" sz="1239" dirty="0">
                <a:solidFill>
                  <a:srgbClr val="BFD8D5"/>
                </a:solidFill>
                <a:latin typeface="IBM Plex Sans" pitchFamily="34" charset="0"/>
                <a:ea typeface="IBM Plex Sans" pitchFamily="34" charset="-122"/>
                <a:cs typeface="IBM Plex Sans" pitchFamily="34" charset="-120"/>
              </a:rPr>
              <a:t>: la discrepanza era un sintomo, non un difetto della realtà.</a:t>
            </a:r>
            <a:endParaRPr lang="en-US" sz="1239" dirty="0"/>
          </a:p>
        </p:txBody>
      </p:sp>
      <p:sp>
        <p:nvSpPr>
          <p:cNvPr id="13" name="Text 11"/>
          <p:cNvSpPr/>
          <p:nvPr/>
        </p:nvSpPr>
        <p:spPr>
          <a:xfrm>
            <a:off x="812800" y="6238280"/>
            <a:ext cx="732890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F"/>
                </a:solidFill>
                <a:latin typeface="IBM Plex Sans" pitchFamily="34" charset="0"/>
                <a:ea typeface="IBM Plex Sans" pitchFamily="34" charset="-122"/>
                <a:cs typeface="IBM Plex Sans" pitchFamily="34" charset="-120"/>
              </a:rPr>
              <a:t>Un numero che non si riproduce non è per forza rumore: prima si cerca la causa, poi lo si dichiara rumore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IPA/eBPF — Implementazione e risultati</dc:title>
  <dc:subject>PptxGenJS Presentation</dc:subject>
  <dc:creator>PptxGenJS</dc:creator>
  <cp:lastModifiedBy>PptxGenJS</cp:lastModifiedBy>
  <cp:revision>1</cp:revision>
  <dcterms:created xsi:type="dcterms:W3CDTF">2026-09-22T16:15:44Z</dcterms:created>
  <dcterms:modified xsi:type="dcterms:W3CDTF">2026-09-22T16:15:44Z</dcterms:modified>
</cp:coreProperties>
</file>