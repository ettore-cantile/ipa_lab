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deck copre l'implementazione e i risultati, non la tesi. Ogni cifra viene da un run registrato; dove una misura non regge, il deck lo dice invece di nasconderlo.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e' la mappa: serve a mostrare che gli otto punti sono coperti e a dare al lettore l'ordine in cui arrivano.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punto della slide: la scala non e' una classifica di velocita', e' una scala di quanto si sa al momento di compilare. Ogni riga verde in piu' e' una ricompilazione in meno quando il modello cambia.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e' la slide che spiega perche' piu' avanti la sparsita' abbassa P1 di 4,8 volte e non tocca P2 e P3 di un'istruzione.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riga che il relatore chiedeva: il costo di rendere configurabili le feature. Qui si legge come 54 -&gt; 57 ns fra p1_static e hardcoded, cioe' quasi nulla, e poi il salto vero a 249 quando anche l'architettura diventa runtime.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figura nel repository e' in scala logaritmica, altrimenti le due curve P1 restano schiacciate contro le 14 628 istruzioni di P2 e il confronto fra loro, che e' il punto, non si vede.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risposta al perche' sta nelle due righe in fondo alla tabella, non nella prima. E' il tema della slide successiva.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Quella nota a pie' di pagina e' la prova piu' forte contro l'uso del conteggio istruzioni come metrica di costo.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fattore s^(l-1) e' quello che nel progetto ha portato l'accordo float/int8 dal 72% al 96%. E' l'unica parte non ovvia della formula e va spiegata a voce.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punto da dire a voce: un test verde non vuol dire codice corretto, vuol dire due implementazioni d'accordo. Qui erano d'accordo sull'errore. E' la ragione per cui il confronto e' diventato a quattro vie e non a due.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Funzionava per coincidenza: nel modello depositato classe k cadeva su porta k per le prime cinque. Separare i due spazi di indice non aggiunge funzionalita' - fa emergere gli errori che la coincidenza nascondeva, come il contatore.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nota di banco e' costata un giro a vuoto: scrivevo la mappa a una chiave arbitraria e le percentuali non si muovevano di un centesimo. Percentuali identiche al centesimo vogliono dire codice mai eseguito, non codice sbagliato: e' un sintomo diagnostico, non un dettaglio.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colonna n_in e' ricalcolabile a mano riga per riga, ed e' il punto: se il motore fosse ancora Germany50 dentro, queste cinque righe direbbero tutte 65. Sono i descrittori veri degli scenari, non un esempio costruito.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Senza la terza riga il secondo caso sembra il primo. Nel run reale e' esattamente quello che e' successo.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generatore non fa solo numeri a caso: rispetta la struttura delle feature, che e' la parte che un datapath puo' davvero sbagliare. Tipo, intervallo, vincoli, codifica, dimensione complessiva.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 metodologica: non si usano i 1000 vettori depositati perche' il datapath non accetta un vettore arbitrario, lo costruisce da mappe, TTL, porta e nodo. Confrontare su ingressi che una delle due implementazioni non potrebbe mai ricevere non direbbe nulla.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L'affermazione "il descrittore si legge a runtime, quindi qualunque modello va bene" andava verificata voce per voce, non in blocco. L'unico numero che deve seguire il modello era l'unico compilato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baseline e P1 restino identiche AL CONTEGGIO e' la verifica che il cambiamento non ha toccato percorsi che non doveva. La latenza invece si e' spostata su tutte e quattro le colonne, baseline compresa: quello e' rumore.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tutte le misure TX = HIT = RX e HIT - RX = 0: la pipeline non ha mai perso un pacchetto consegnatole. Tutto cio' che manca e' stato rifiutato dal veth, cioe' e' controspinta.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64 e 512 byte i pps quasi coincidono: il costo dell'inferenza non dipende dalla lunghezza del frame. A 1514 crolla, e li' paga la copia dell'headroom.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Sotto traffico l'inferenza costa circa il doppio che in laboratorio, e il rapporto scende al crescere del lavoro utile: chi fa gia' molto ammortizza meglio l'overhead fisso.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Chiudere sui limiti non e' modestia: e' cio' che rende citabili le righe della colonna di sinistra. Un banco saturo non e' inutile, e' un banco in cui si citano le differenze e non i valori.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E8A87C"/>
                </a:solidFill>
                <a:latin typeface="JetBrains Mono" pitchFamily="34" charset="0"/>
                <a:ea typeface="JetBrains Mono" pitchFamily="34" charset="-122"/>
                <a:cs typeface="JetBrains Mono" pitchFamily="34" charset="-120"/>
              </a:rPr>
              <a:t>INFERENZA DI RETE NEURALE DENTRO IL KERNEL LINUX</a:t>
            </a:r>
            <a:endParaRPr lang="en-US" sz="1400" dirty="0"/>
          </a:p>
        </p:txBody>
      </p:sp>
      <p:sp>
        <p:nvSpPr>
          <p:cNvPr id="3" name="Text 1"/>
          <p:cNvSpPr/>
          <p:nvPr/>
        </p:nvSpPr>
        <p:spPr>
          <a:xfrm>
            <a:off x="812800" y="2044766"/>
            <a:ext cx="10883392" cy="2265561"/>
          </a:xfrm>
          <a:prstGeom prst="rect">
            <a:avLst/>
          </a:prstGeom>
          <a:noFill/>
          <a:ln/>
        </p:spPr>
        <p:txBody>
          <a:bodyPr wrap="square" lIns="0" tIns="0" rIns="0" bIns="0" rtlCol="0" anchor="t">
            <a:normAutofit/>
          </a:bodyPr>
          <a:lstStyle/>
          <a:p>
            <a:pPr algn="l" indent="0" marL="0">
              <a:lnSpc>
                <a:spcPts val="5880"/>
              </a:lnSpc>
              <a:buNone/>
            </a:pPr>
            <a:r>
              <a:rPr lang="en-US" sz="5600" b="1" dirty="0">
                <a:solidFill>
                  <a:srgbClr val="FBFBF8"/>
                </a:solidFill>
                <a:latin typeface="IBM Plex Sans" pitchFamily="34" charset="0"/>
                <a:ea typeface="IBM Plex Sans" pitchFamily="34" charset="-122"/>
                <a:cs typeface="IBM Plex Sans" pitchFamily="34" charset="-120"/>
              </a:rPr>
              <a:t>Quattro pipeline eBPF,</a:t>
            </a:r>
            <a:endParaRPr lang="en-US" sz="5600" dirty="0"/>
          </a:p>
          <a:p>
            <a:pPr algn="l" indent="0" marL="0">
              <a:lnSpc>
                <a:spcPts val="5880"/>
              </a:lnSpc>
              <a:buNone/>
            </a:pPr>
            <a:r>
              <a:rPr lang="en-US" sz="5600" b="1" dirty="0">
                <a:solidFill>
                  <a:srgbClr val="FBFBF8"/>
                </a:solidFill>
                <a:latin typeface="IBM Plex Sans" pitchFamily="34" charset="0"/>
                <a:ea typeface="IBM Plex Sans" pitchFamily="34" charset="-122"/>
                <a:cs typeface="IBM Plex Sans" pitchFamily="34" charset="-120"/>
              </a:rPr>
              <a:t>otto esperimenti,</a:t>
            </a:r>
            <a:endParaRPr lang="en-US" sz="5600" dirty="0"/>
          </a:p>
          <a:p>
            <a:pPr algn="l" indent="0" marL="0">
              <a:lnSpc>
                <a:spcPts val="5880"/>
              </a:lnSpc>
              <a:buNone/>
            </a:pPr>
            <a:r>
              <a:rPr lang="en-US" sz="5600" b="1" dirty="0">
                <a:solidFill>
                  <a:srgbClr val="FBFBF8"/>
                </a:solidFill>
                <a:latin typeface="IBM Plex Sans" pitchFamily="34" charset="0"/>
                <a:ea typeface="IBM Plex Sans" pitchFamily="34" charset="-122"/>
                <a:cs typeface="IBM Plex Sans" pitchFamily="34" charset="-120"/>
              </a:rPr>
              <a:t>due difetti trovati</a:t>
            </a:r>
            <a:endParaRPr lang="en-US" sz="5600" dirty="0"/>
          </a:p>
        </p:txBody>
      </p:sp>
      <p:sp>
        <p:nvSpPr>
          <p:cNvPr id="4" name="Text 2"/>
          <p:cNvSpPr/>
          <p:nvPr/>
        </p:nvSpPr>
        <p:spPr>
          <a:xfrm>
            <a:off x="812800" y="4488127"/>
            <a:ext cx="9156700" cy="3683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BFD8D5"/>
                </a:solidFill>
                <a:latin typeface="IBM Plex Sans" pitchFamily="34" charset="0"/>
                <a:ea typeface="IBM Plex Sans" pitchFamily="34" charset="-122"/>
                <a:cs typeface="IBM Plex Sans" pitchFamily="34" charset="-120"/>
              </a:rPr>
              <a:t>Come sono stati implementati i cambiamenti e che cosa dicono i numeri</a:t>
            </a:r>
            <a:endParaRPr lang="en-US" sz="2000" dirty="0"/>
          </a:p>
        </p:txBody>
      </p:sp>
      <p:sp>
        <p:nvSpPr>
          <p:cNvPr id="5" name="Text 3"/>
          <p:cNvSpPr/>
          <p:nvPr/>
        </p:nvSpPr>
        <p:spPr>
          <a:xfrm>
            <a:off x="812800" y="5814087"/>
            <a:ext cx="397928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8FA3BF"/>
                </a:solidFill>
                <a:latin typeface="JetBrains Mono" pitchFamily="34" charset="0"/>
                <a:ea typeface="JetBrains Mono" pitchFamily="34" charset="-122"/>
                <a:cs typeface="JetBrains Mono" pitchFamily="34" charset="-120"/>
              </a:rPr>
              <a:t>XDP · BPF_PROG_TEST_RUN · pktgen + veth</a:t>
            </a:r>
            <a:endParaRPr lang="en-US" sz="1300" dirty="0"/>
          </a:p>
        </p:txBody>
      </p:sp>
      <p:sp>
        <p:nvSpPr>
          <p:cNvPr id="6" name="Text 4"/>
          <p:cNvSpPr/>
          <p:nvPr/>
        </p:nvSpPr>
        <p:spPr>
          <a:xfrm>
            <a:off x="5082580" y="5814087"/>
            <a:ext cx="1437680"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8FA3BF"/>
                </a:solidFill>
                <a:latin typeface="JetBrains Mono" pitchFamily="34" charset="0"/>
                <a:ea typeface="JetBrains Mono" pitchFamily="34" charset="-122"/>
                <a:cs typeface="JetBrains Mono" pitchFamily="34" charset="-120"/>
              </a:rPr>
              <a:t>settembre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213D"/>
                </a:solidFill>
                <a:latin typeface="IBM Plex Sans" pitchFamily="34" charset="0"/>
                <a:ea typeface="IBM Plex Sans" pitchFamily="34" charset="-122"/>
                <a:cs typeface="IBM Plex Sans" pitchFamily="34" charset="-120"/>
              </a:rPr>
              <a:t>Otto richieste, otto esperimenti</a:t>
            </a:r>
            <a:endParaRPr lang="en-US" sz="3200" dirty="0"/>
          </a:p>
        </p:txBody>
      </p:sp>
      <p:sp>
        <p:nvSpPr>
          <p:cNvPr id="3" name="Shape 1"/>
          <p:cNvSpPr/>
          <p:nvPr/>
        </p:nvSpPr>
        <p:spPr>
          <a:xfrm>
            <a:off x="812800" y="1463014"/>
            <a:ext cx="5194300" cy="795933"/>
          </a:xfrm>
          <a:prstGeom prst="roundRect">
            <a:avLst>
              <a:gd name="adj" fmla="val 11169"/>
            </a:avLst>
          </a:prstGeom>
          <a:solidFill>
            <a:srgbClr val="EEF1F5"/>
          </a:solidFill>
          <a:ln/>
        </p:spPr>
      </p:sp>
      <p:sp>
        <p:nvSpPr>
          <p:cNvPr id="4" name="Text 2"/>
          <p:cNvSpPr/>
          <p:nvPr/>
        </p:nvSpPr>
        <p:spPr>
          <a:xfrm>
            <a:off x="1003300" y="1628114"/>
            <a:ext cx="495769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1 · Versione intermedia</a:t>
            </a:r>
            <a:endParaRPr lang="en-US" sz="1400" dirty="0"/>
          </a:p>
        </p:txBody>
      </p:sp>
      <p:sp>
        <p:nvSpPr>
          <p:cNvPr id="5" name="Text 3"/>
          <p:cNvSpPr/>
          <p:nvPr/>
        </p:nvSpPr>
        <p:spPr>
          <a:xfrm>
            <a:off x="1003300" y="1879534"/>
            <a:ext cx="4957699" cy="239713"/>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Aggiunta </a:t>
            </a:r>
            <a:r>
              <a:rPr lang="en-US" sz="1250" b="1" dirty="0">
                <a:solidFill>
                  <a:srgbClr val="4A5568"/>
                </a:solidFill>
                <a:latin typeface="IBM Plex Sans" pitchFamily="34" charset="0"/>
                <a:ea typeface="IBM Plex Sans" pitchFamily="34" charset="-122"/>
                <a:cs typeface="IBM Plex Sans" pitchFamily="34" charset="-120"/>
              </a:rPr>
              <a:t>p1_static</a:t>
            </a:r>
            <a:r>
              <a:rPr lang="en-US" sz="1250" dirty="0">
                <a:solidFill>
                  <a:srgbClr val="4A5568"/>
                </a:solidFill>
                <a:latin typeface="IBM Plex Sans" pitchFamily="34" charset="0"/>
                <a:ea typeface="IBM Plex Sans" pitchFamily="34" charset="-122"/>
                <a:cs typeface="IBM Plex Sans" pitchFamily="34" charset="-120"/>
              </a:rPr>
              <a:t> sotto P1: la scala ha quattro gradini</a:t>
            </a:r>
            <a:endParaRPr lang="en-US" sz="1250" dirty="0"/>
          </a:p>
        </p:txBody>
      </p:sp>
      <p:sp>
        <p:nvSpPr>
          <p:cNvPr id="6" name="Shape 4"/>
          <p:cNvSpPr/>
          <p:nvPr/>
        </p:nvSpPr>
        <p:spPr>
          <a:xfrm>
            <a:off x="812800" y="2385947"/>
            <a:ext cx="5194300" cy="795933"/>
          </a:xfrm>
          <a:prstGeom prst="roundRect">
            <a:avLst>
              <a:gd name="adj" fmla="val 11169"/>
            </a:avLst>
          </a:prstGeom>
          <a:solidFill>
            <a:srgbClr val="EEF1F5"/>
          </a:solidFill>
          <a:ln/>
        </p:spPr>
      </p:sp>
      <p:sp>
        <p:nvSpPr>
          <p:cNvPr id="7" name="Text 5"/>
          <p:cNvSpPr/>
          <p:nvPr/>
        </p:nvSpPr>
        <p:spPr>
          <a:xfrm>
            <a:off x="1003300" y="2551047"/>
            <a:ext cx="495769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2 · Costo della flessibilità</a:t>
            </a:r>
            <a:endParaRPr lang="en-US" sz="1400" dirty="0"/>
          </a:p>
        </p:txBody>
      </p:sp>
      <p:sp>
        <p:nvSpPr>
          <p:cNvPr id="8" name="Text 6"/>
          <p:cNvSpPr/>
          <p:nvPr/>
        </p:nvSpPr>
        <p:spPr>
          <a:xfrm>
            <a:off x="1003300" y="2802467"/>
            <a:ext cx="4957699" cy="239713"/>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54 → 57 → 249 → 436 ns, con il perché</a:t>
            </a:r>
            <a:endParaRPr lang="en-US" sz="1250" dirty="0"/>
          </a:p>
        </p:txBody>
      </p:sp>
      <p:sp>
        <p:nvSpPr>
          <p:cNvPr id="9" name="Shape 7"/>
          <p:cNvSpPr/>
          <p:nvPr/>
        </p:nvSpPr>
        <p:spPr>
          <a:xfrm>
            <a:off x="812800" y="3308879"/>
            <a:ext cx="5194300" cy="795933"/>
          </a:xfrm>
          <a:prstGeom prst="roundRect">
            <a:avLst>
              <a:gd name="adj" fmla="val 11169"/>
            </a:avLst>
          </a:prstGeom>
          <a:solidFill>
            <a:srgbClr val="EEF1F5"/>
          </a:solidFill>
          <a:ln/>
        </p:spPr>
      </p:sp>
      <p:sp>
        <p:nvSpPr>
          <p:cNvPr id="10" name="Text 8"/>
          <p:cNvSpPr/>
          <p:nvPr/>
        </p:nvSpPr>
        <p:spPr>
          <a:xfrm>
            <a:off x="1003300" y="3473979"/>
            <a:ext cx="495769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3 · Analisi parametrica</a:t>
            </a:r>
            <a:endParaRPr lang="en-US" sz="1400" dirty="0"/>
          </a:p>
        </p:txBody>
      </p:sp>
      <p:sp>
        <p:nvSpPr>
          <p:cNvPr id="11" name="Text 9"/>
          <p:cNvSpPr/>
          <p:nvPr/>
        </p:nvSpPr>
        <p:spPr>
          <a:xfrm>
            <a:off x="1003300" y="3725400"/>
            <a:ext cx="4957699" cy="239713"/>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Sei assi, 13 figure x–y</a:t>
            </a:r>
            <a:endParaRPr lang="en-US" sz="1250" dirty="0"/>
          </a:p>
        </p:txBody>
      </p:sp>
      <p:sp>
        <p:nvSpPr>
          <p:cNvPr id="12" name="Shape 10"/>
          <p:cNvSpPr/>
          <p:nvPr/>
        </p:nvSpPr>
        <p:spPr>
          <a:xfrm>
            <a:off x="812800" y="4231812"/>
            <a:ext cx="5194300" cy="795933"/>
          </a:xfrm>
          <a:prstGeom prst="roundRect">
            <a:avLst>
              <a:gd name="adj" fmla="val 11169"/>
            </a:avLst>
          </a:prstGeom>
          <a:solidFill>
            <a:srgbClr val="EEF1F5"/>
          </a:solidFill>
          <a:ln/>
        </p:spPr>
      </p:sp>
      <p:sp>
        <p:nvSpPr>
          <p:cNvPr id="13" name="Text 11"/>
          <p:cNvSpPr/>
          <p:nvPr/>
        </p:nvSpPr>
        <p:spPr>
          <a:xfrm>
            <a:off x="1003300" y="4396912"/>
            <a:ext cx="495769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4 · Larga contro profonda</a:t>
            </a:r>
            <a:endParaRPr lang="en-US" sz="1400" dirty="0"/>
          </a:p>
        </p:txBody>
      </p:sp>
      <p:sp>
        <p:nvSpPr>
          <p:cNvPr id="14" name="Text 12"/>
          <p:cNvSpPr/>
          <p:nvPr/>
        </p:nvSpPr>
        <p:spPr>
          <a:xfrm>
            <a:off x="1003300" y="4648333"/>
            <a:ext cx="4957699" cy="239713"/>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A iso-parametri, e perché emerge</a:t>
            </a:r>
            <a:endParaRPr lang="en-US" sz="1250" dirty="0"/>
          </a:p>
        </p:txBody>
      </p:sp>
      <p:sp>
        <p:nvSpPr>
          <p:cNvPr id="15" name="Shape 13"/>
          <p:cNvSpPr/>
          <p:nvPr/>
        </p:nvSpPr>
        <p:spPr>
          <a:xfrm>
            <a:off x="6184900" y="1463014"/>
            <a:ext cx="5194300" cy="795933"/>
          </a:xfrm>
          <a:prstGeom prst="roundRect">
            <a:avLst>
              <a:gd name="adj" fmla="val 11169"/>
            </a:avLst>
          </a:prstGeom>
          <a:solidFill>
            <a:srgbClr val="EEF1F5"/>
          </a:solidFill>
          <a:ln/>
        </p:spPr>
      </p:sp>
      <p:sp>
        <p:nvSpPr>
          <p:cNvPr id="16" name="Text 14"/>
          <p:cNvSpPr/>
          <p:nvPr/>
        </p:nvSpPr>
        <p:spPr>
          <a:xfrm>
            <a:off x="6375400" y="1628114"/>
            <a:ext cx="495769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5 · Un esperimento per affermazione</a:t>
            </a:r>
            <a:endParaRPr lang="en-US" sz="1400" dirty="0"/>
          </a:p>
        </p:txBody>
      </p:sp>
      <p:sp>
        <p:nvSpPr>
          <p:cNvPr id="17" name="Text 15"/>
          <p:cNvSpPr/>
          <p:nvPr/>
        </p:nvSpPr>
        <p:spPr>
          <a:xfrm>
            <a:off x="6375400" y="1879534"/>
            <a:ext cx="4957699" cy="239713"/>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21 schede: ipotesi, variabile, metrica, risultato</a:t>
            </a:r>
            <a:endParaRPr lang="en-US" sz="1250" dirty="0"/>
          </a:p>
        </p:txBody>
      </p:sp>
      <p:sp>
        <p:nvSpPr>
          <p:cNvPr id="18" name="Shape 16"/>
          <p:cNvSpPr/>
          <p:nvPr/>
        </p:nvSpPr>
        <p:spPr>
          <a:xfrm>
            <a:off x="6184900" y="2385947"/>
            <a:ext cx="5194300" cy="795933"/>
          </a:xfrm>
          <a:prstGeom prst="roundRect">
            <a:avLst>
              <a:gd name="adj" fmla="val 11169"/>
            </a:avLst>
          </a:prstGeom>
          <a:solidFill>
            <a:srgbClr val="EEF1F5"/>
          </a:solidFill>
          <a:ln/>
        </p:spPr>
      </p:sp>
      <p:sp>
        <p:nvSpPr>
          <p:cNvPr id="19" name="Text 17"/>
          <p:cNvSpPr/>
          <p:nvPr/>
        </p:nvSpPr>
        <p:spPr>
          <a:xfrm>
            <a:off x="6375400" y="2551047"/>
            <a:ext cx="495769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6 · Modelli sintetici</a:t>
            </a:r>
            <a:endParaRPr lang="en-US" sz="1400" dirty="0"/>
          </a:p>
        </p:txBody>
      </p:sp>
      <p:sp>
        <p:nvSpPr>
          <p:cNvPr id="20" name="Text 18"/>
          <p:cNvSpPr/>
          <p:nvPr/>
        </p:nvSpPr>
        <p:spPr>
          <a:xfrm>
            <a:off x="6375400" y="2802467"/>
            <a:ext cx="4957699" cy="239713"/>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Sette scenari, 1 000 vettori, quattro tipi di feature</a:t>
            </a:r>
            <a:endParaRPr lang="en-US" sz="1250" dirty="0"/>
          </a:p>
        </p:txBody>
      </p:sp>
      <p:sp>
        <p:nvSpPr>
          <p:cNvPr id="21" name="Shape 19"/>
          <p:cNvSpPr/>
          <p:nvPr/>
        </p:nvSpPr>
        <p:spPr>
          <a:xfrm>
            <a:off x="6184900" y="3308879"/>
            <a:ext cx="5194300" cy="795933"/>
          </a:xfrm>
          <a:prstGeom prst="roundRect">
            <a:avLst>
              <a:gd name="adj" fmla="val 11169"/>
            </a:avLst>
          </a:prstGeom>
          <a:solidFill>
            <a:srgbClr val="EEF1F5"/>
          </a:solidFill>
          <a:ln/>
        </p:spPr>
      </p:sp>
      <p:sp>
        <p:nvSpPr>
          <p:cNvPr id="22" name="Text 20"/>
          <p:cNvSpPr/>
          <p:nvPr/>
        </p:nvSpPr>
        <p:spPr>
          <a:xfrm>
            <a:off x="6375400" y="3473979"/>
            <a:ext cx="495769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7 · Float, int8, eBPF</a:t>
            </a:r>
            <a:endParaRPr lang="en-US" sz="1400" dirty="0"/>
          </a:p>
        </p:txBody>
      </p:sp>
      <p:sp>
        <p:nvSpPr>
          <p:cNvPr id="23" name="Text 21"/>
          <p:cNvSpPr/>
          <p:nvPr/>
        </p:nvSpPr>
        <p:spPr>
          <a:xfrm>
            <a:off x="6375400" y="3725400"/>
            <a:ext cx="4957699" cy="239713"/>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Accordo e disaccordo, con le cause separate</a:t>
            </a:r>
            <a:endParaRPr lang="en-US" sz="1250" dirty="0"/>
          </a:p>
        </p:txBody>
      </p:sp>
      <p:sp>
        <p:nvSpPr>
          <p:cNvPr id="24" name="Shape 22"/>
          <p:cNvSpPr/>
          <p:nvPr/>
        </p:nvSpPr>
        <p:spPr>
          <a:xfrm>
            <a:off x="6184900" y="4231812"/>
            <a:ext cx="5194300" cy="795933"/>
          </a:xfrm>
          <a:prstGeom prst="roundRect">
            <a:avLst>
              <a:gd name="adj" fmla="val 11169"/>
            </a:avLst>
          </a:prstGeom>
          <a:solidFill>
            <a:srgbClr val="14213D"/>
          </a:solidFill>
          <a:ln/>
        </p:spPr>
      </p:sp>
      <p:sp>
        <p:nvSpPr>
          <p:cNvPr id="25" name="Text 23"/>
          <p:cNvSpPr/>
          <p:nvPr/>
        </p:nvSpPr>
        <p:spPr>
          <a:xfrm>
            <a:off x="6375400" y="4396912"/>
            <a:ext cx="495769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BFBF8"/>
                </a:solidFill>
                <a:latin typeface="IBM Plex Sans" pitchFamily="34" charset="0"/>
                <a:ea typeface="IBM Plex Sans" pitchFamily="34" charset="-122"/>
                <a:cs typeface="IBM Plex Sans" pitchFamily="34" charset="-120"/>
              </a:rPr>
              <a:t>8 · Throughput end-to-end</a:t>
            </a:r>
            <a:endParaRPr lang="en-US" sz="1400" dirty="0"/>
          </a:p>
        </p:txBody>
      </p:sp>
      <p:sp>
        <p:nvSpPr>
          <p:cNvPr id="26" name="Text 24"/>
          <p:cNvSpPr/>
          <p:nvPr/>
        </p:nvSpPr>
        <p:spPr>
          <a:xfrm>
            <a:off x="6375400" y="4648333"/>
            <a:ext cx="4957699" cy="239713"/>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BFD8D5"/>
                </a:solidFill>
                <a:latin typeface="IBM Plex Sans" pitchFamily="34" charset="0"/>
                <a:ea typeface="IBM Plex Sans" pitchFamily="34" charset="-122"/>
                <a:cs typeface="IBM Plex Sans" pitchFamily="34" charset="-120"/>
              </a:rPr>
              <a:t>TG e DUT che comunicano davvero</a:t>
            </a:r>
            <a:endParaRPr lang="en-US" sz="1250" dirty="0"/>
          </a:p>
        </p:txBody>
      </p:sp>
      <p:sp>
        <p:nvSpPr>
          <p:cNvPr id="27" name="Text 25"/>
          <p:cNvSpPr/>
          <p:nvPr/>
        </p:nvSpPr>
        <p:spPr>
          <a:xfrm>
            <a:off x="812800" y="6238280"/>
            <a:ext cx="614330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Ogni cifra del deck viene da un run registrato; dove una misura non regge, il deck lo dice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spc="100" kern="0" dirty="0">
                <a:solidFill>
                  <a:srgbClr val="C2410C"/>
                </a:solidFill>
                <a:latin typeface="JetBrains Mono" pitchFamily="34" charset="0"/>
                <a:ea typeface="JetBrains Mono" pitchFamily="34" charset="-122"/>
                <a:cs typeface="JetBrains Mono" pitchFamily="34" charset="-120"/>
              </a:rPr>
              <a:t>LA VERSIONE INTERMEDIA</a:t>
            </a:r>
            <a:endParaRPr lang="en-US" sz="1300" dirty="0"/>
          </a:p>
        </p:txBody>
      </p:sp>
      <p:sp>
        <p:nvSpPr>
          <p:cNvPr id="3" name="Text 1"/>
          <p:cNvSpPr/>
          <p:nvPr/>
        </p:nvSpPr>
        <p:spPr>
          <a:xfrm>
            <a:off x="812800" y="1120115"/>
            <a:ext cx="10883392" cy="500327"/>
          </a:xfrm>
          <a:prstGeom prst="rect">
            <a:avLst/>
          </a:prstGeom>
          <a:noFill/>
          <a:ln/>
        </p:spPr>
        <p:txBody>
          <a:bodyPr wrap="square" lIns="0" tIns="0" rIns="0" bIns="0" rtlCol="0" anchor="t">
            <a:normAutofit/>
          </a:bodyPr>
          <a:lstStyle/>
          <a:p>
            <a:pPr algn="l" indent="0" marL="0">
              <a:lnSpc>
                <a:spcPts val="3740"/>
              </a:lnSpc>
              <a:buNone/>
            </a:pPr>
            <a:r>
              <a:rPr lang="en-US" sz="3400" b="1" dirty="0">
                <a:solidFill>
                  <a:srgbClr val="14213D"/>
                </a:solidFill>
                <a:latin typeface="IBM Plex Sans" pitchFamily="34" charset="0"/>
                <a:ea typeface="IBM Plex Sans" pitchFamily="34" charset="-122"/>
                <a:cs typeface="IBM Plex Sans" pitchFamily="34" charset="-120"/>
              </a:rPr>
              <a:t>La scala ha quattro gradini, non tre</a:t>
            </a:r>
            <a:endParaRPr lang="en-US" sz="3400" dirty="0"/>
          </a:p>
        </p:txBody>
      </p:sp>
      <p:sp>
        <p:nvSpPr>
          <p:cNvPr id="4" name="Text 2"/>
          <p:cNvSpPr/>
          <p:nvPr/>
        </p:nvSpPr>
        <p:spPr>
          <a:xfrm>
            <a:off x="812800" y="1849041"/>
            <a:ext cx="10203180" cy="854075"/>
          </a:xfrm>
          <a:prstGeom prst="rect">
            <a:avLst/>
          </a:prstGeom>
          <a:noFill/>
          <a:ln/>
        </p:spPr>
        <p:txBody>
          <a:bodyPr wrap="square" lIns="0" tIns="0" rIns="0" bIns="0" rtlCol="0" anchor="t">
            <a:normAutofit/>
          </a:bodyPr>
          <a:lstStyle/>
          <a:p>
            <a:pPr algn="l" indent="0" marL="0">
              <a:lnSpc>
                <a:spcPts val="2175"/>
              </a:lnSpc>
              <a:buNone/>
            </a:pPr>
            <a:r>
              <a:rPr lang="en-US" sz="1500" dirty="0">
                <a:solidFill>
                  <a:srgbClr val="4A5568"/>
                </a:solidFill>
                <a:latin typeface="IBM Plex Sans" pitchFamily="34" charset="0"/>
                <a:ea typeface="IBM Plex Sans" pitchFamily="34" charset="-122"/>
                <a:cs typeface="IBM Plex Sans" pitchFamily="34" charset="-120"/>
              </a:rPr>
              <a:t>Il progetto chiamava </a:t>
            </a:r>
            <a:r>
              <a:rPr lang="en-US" sz="1500" b="1" dirty="0">
                <a:solidFill>
                  <a:srgbClr val="4A5568"/>
                </a:solidFill>
                <a:latin typeface="IBM Plex Sans" pitchFamily="34" charset="0"/>
                <a:ea typeface="IBM Plex Sans" pitchFamily="34" charset="-122"/>
                <a:cs typeface="IBM Plex Sans" pitchFamily="34" charset="-120"/>
              </a:rPr>
              <a:t>P1</a:t>
            </a:r>
            <a:r>
              <a:rPr lang="en-US" sz="1500" dirty="0">
                <a:solidFill>
                  <a:srgbClr val="4A5568"/>
                </a:solidFill>
                <a:latin typeface="IBM Plex Sans" pitchFamily="34" charset="0"/>
                <a:ea typeface="IBM Plex Sans" pitchFamily="34" charset="-122"/>
                <a:cs typeface="IBM Plex Sans" pitchFamily="34" charset="-120"/>
              </a:rPr>
              <a:t> una pipeline che compilava i pesi ma leggeva il nodo da una mappa. Abbiamo aggiunto sotto di essa </a:t>
            </a:r>
            <a:r>
              <a:rPr lang="en-US" sz="1500" b="1" dirty="0">
                <a:solidFill>
                  <a:srgbClr val="4A5568"/>
                </a:solidFill>
                <a:latin typeface="IBM Plex Sans" pitchFamily="34" charset="0"/>
                <a:ea typeface="IBM Plex Sans" pitchFamily="34" charset="-122"/>
                <a:cs typeface="IBM Plex Sans" pitchFamily="34" charset="-120"/>
              </a:rPr>
              <a:t>p1_static</a:t>
            </a:r>
            <a:r>
              <a:rPr lang="en-US" sz="1500" dirty="0">
                <a:solidFill>
                  <a:srgbClr val="4A5568"/>
                </a:solidFill>
                <a:latin typeface="IBM Plex Sans" pitchFamily="34" charset="0"/>
                <a:ea typeface="IBM Plex Sans" pitchFamily="34" charset="-122"/>
                <a:cs typeface="IBM Plex Sans" pitchFamily="34" charset="-120"/>
              </a:rPr>
              <a:t>, pienamente specializzata: un binario per nodo. Ogni gradino sposta una decisione dalla compilazione al runtime.</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2800" y="2931716"/>
          <a:ext cx="10566400" cy="2063750"/>
        </p:xfrm>
        <a:graphic>
          <a:graphicData uri="http://schemas.openxmlformats.org/drawingml/2006/table">
            <a:tbl>
              <a:tblPr/>
              <a:tblGrid>
                <a:gridCol w="2007616"/>
                <a:gridCol w="2324608"/>
                <a:gridCol w="2324608"/>
                <a:gridCol w="2007616"/>
                <a:gridCol w="1901952"/>
              </a:tblGrid>
              <a:tr h="412750">
                <a:tc>
                  <a:txBody>
                    <a:bodyPr/>
                    <a:lstStyle/>
                    <a:p>
                      <a:pPr indent="0" marL="0">
                        <a:lnSpc>
                          <a:spcPts val="2100"/>
                        </a:lnSpc>
                        <a:buNone/>
                      </a:pPr>
                      <a:r>
                        <a:rPr lang="en-US" sz="1500" b="1" dirty="0">
                          <a:solidFill>
                            <a:srgbClr val="FBFBF8"/>
                          </a:solidFill>
                          <a:latin typeface="IBM Plex Sans" pitchFamily="34" charset="0"/>
                          <a:ea typeface="IBM Plex Sans" pitchFamily="34" charset="-122"/>
                          <a:cs typeface="IBM Plex Sans" pitchFamily="34" charset="-120"/>
                        </a:rPr>
                        <a:t>Pipeline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indent="0" marL="0">
                        <a:lnSpc>
                          <a:spcPts val="2100"/>
                        </a:lnSpc>
                        <a:buNone/>
                      </a:pPr>
                      <a:r>
                        <a:rPr lang="en-US" sz="1500" b="1" dirty="0">
                          <a:solidFill>
                            <a:srgbClr val="FBFBF8"/>
                          </a:solidFill>
                          <a:latin typeface="IBM Plex Sans" pitchFamily="34" charset="0"/>
                          <a:ea typeface="IBM Plex Sans" pitchFamily="34" charset="-122"/>
                          <a:cs typeface="IBM Plex Sans" pitchFamily="34" charset="-120"/>
                        </a:rPr>
                        <a:t>Pesi</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indent="0" marL="0">
                        <a:lnSpc>
                          <a:spcPts val="2100"/>
                        </a:lnSpc>
                        <a:buNone/>
                      </a:pPr>
                      <a:r>
                        <a:rPr lang="en-US" sz="1500" b="1" dirty="0">
                          <a:solidFill>
                            <a:srgbClr val="FBFBF8"/>
                          </a:solidFill>
                          <a:latin typeface="IBM Plex Sans" pitchFamily="34" charset="0"/>
                          <a:ea typeface="IBM Plex Sans" pitchFamily="34" charset="-122"/>
                          <a:cs typeface="IBM Plex Sans" pitchFamily="34" charset="-120"/>
                        </a:rPr>
                        <a:t>Nodo / feature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indent="0" marL="0">
                        <a:lnSpc>
                          <a:spcPts val="2100"/>
                        </a:lnSpc>
                        <a:buNone/>
                      </a:pPr>
                      <a:r>
                        <a:rPr lang="en-US" sz="1500" b="1" dirty="0">
                          <a:solidFill>
                            <a:srgbClr val="FBFBF8"/>
                          </a:solidFill>
                          <a:latin typeface="IBM Plex Sans" pitchFamily="34" charset="0"/>
                          <a:ea typeface="IBM Plex Sans" pitchFamily="34" charset="-122"/>
                          <a:cs typeface="IBM Plex Sans" pitchFamily="34" charset="-120"/>
                        </a:rPr>
                        <a:t>Architettura</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indent="0" marL="0">
                        <a:lnSpc>
                          <a:spcPts val="2100"/>
                        </a:lnSpc>
                        <a:buNone/>
                      </a:pPr>
                      <a:r>
                        <a:rPr lang="en-US" sz="1500" b="1" dirty="0">
                          <a:solidFill>
                            <a:srgbClr val="FBFBF8"/>
                          </a:solidFill>
                          <a:latin typeface="IBM Plex Sans" pitchFamily="34" charset="0"/>
                          <a:ea typeface="IBM Plex Sans" pitchFamily="34" charset="-122"/>
                          <a:cs typeface="IBM Plex Sans" pitchFamily="34" charset="-120"/>
                        </a:rPr>
                        <a:t>Profondità</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r>
              <a:tr h="412750">
                <a:tc>
                  <a:txBody>
                    <a:bodyPr/>
                    <a:lstStyle/>
                    <a:p>
                      <a:pPr indent="0" marL="0">
                        <a:lnSpc>
                          <a:spcPts val="2100"/>
                        </a:lnSpc>
                        <a:buNone/>
                      </a:pPr>
                      <a:r>
                        <a:rPr lang="en-US" sz="1500" dirty="0">
                          <a:solidFill>
                            <a:srgbClr val="14213D"/>
                          </a:solidFill>
                          <a:latin typeface="IBM Plex Sans" pitchFamily="34" charset="0"/>
                          <a:ea typeface="IBM Plex Sans" pitchFamily="34" charset="-122"/>
                          <a:cs typeface="IBM Plex Sans" pitchFamily="34" charset="-120"/>
                        </a:rPr>
                        <a:t>p1_static</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2100"/>
                        </a:lnSpc>
                        <a:buNone/>
                      </a:pPr>
                      <a:r>
                        <a:rPr lang="en-US" sz="1500" dirty="0">
                          <a:solidFill>
                            <a:srgbClr val="C2410C"/>
                          </a:solidFill>
                          <a:latin typeface="IBM Plex Sans" pitchFamily="34" charset="0"/>
                          <a:ea typeface="IBM Plex Sans" pitchFamily="34" charset="-122"/>
                          <a:cs typeface="IBM Plex Sans" pitchFamily="34" charset="-120"/>
                        </a:rPr>
                        <a:t>compilati</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2100"/>
                        </a:lnSpc>
                        <a:buNone/>
                      </a:pPr>
                      <a:r>
                        <a:rPr lang="en-US" sz="1500" dirty="0">
                          <a:solidFill>
                            <a:srgbClr val="C2410C"/>
                          </a:solidFill>
                          <a:latin typeface="IBM Plex Sans" pitchFamily="34" charset="0"/>
                          <a:ea typeface="IBM Plex Sans" pitchFamily="34" charset="-122"/>
                          <a:cs typeface="IBM Plex Sans" pitchFamily="34" charset="-120"/>
                        </a:rPr>
                        <a:t>compilati</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2100"/>
                        </a:lnSpc>
                        <a:buNone/>
                      </a:pPr>
                      <a:r>
                        <a:rPr lang="en-US" sz="1500" dirty="0">
                          <a:solidFill>
                            <a:srgbClr val="C2410C"/>
                          </a:solidFill>
                          <a:latin typeface="IBM Plex Sans" pitchFamily="34" charset="0"/>
                          <a:ea typeface="IBM Plex Sans" pitchFamily="34" charset="-122"/>
                          <a:cs typeface="IBM Plex Sans" pitchFamily="34" charset="-120"/>
                        </a:rPr>
                        <a:t>compilata</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2100"/>
                        </a:lnSpc>
                        <a:buNone/>
                      </a:pPr>
                      <a:r>
                        <a:rPr lang="en-US" sz="1500" dirty="0">
                          <a:solidFill>
                            <a:srgbClr val="C2410C"/>
                          </a:solidFill>
                          <a:latin typeface="IBM Plex Sans" pitchFamily="34" charset="0"/>
                          <a:ea typeface="IBM Plex Sans" pitchFamily="34" charset="-122"/>
                          <a:cs typeface="IBM Plex Sans" pitchFamily="34" charset="-120"/>
                        </a:rPr>
                        <a:t>compilata</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4213D"/>
                          </a:solidFill>
                          <a:latin typeface="IBM Plex Sans" pitchFamily="34" charset="0"/>
                          <a:ea typeface="IBM Plex Sans" pitchFamily="34" charset="-122"/>
                          <a:cs typeface="IBM Plex Sans" pitchFamily="34" charset="-120"/>
                        </a:rPr>
                        <a:t>hardcoded (P1.5)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indent="0" marL="0">
                        <a:lnSpc>
                          <a:spcPts val="2100"/>
                        </a:lnSpc>
                        <a:buNone/>
                      </a:pPr>
                      <a:r>
                        <a:rPr lang="en-US" sz="1500" dirty="0">
                          <a:solidFill>
                            <a:srgbClr val="C2410C"/>
                          </a:solidFill>
                          <a:latin typeface="IBM Plex Sans" pitchFamily="34" charset="0"/>
                          <a:ea typeface="IBM Plex Sans" pitchFamily="34" charset="-122"/>
                          <a:cs typeface="IBM Plex Sans" pitchFamily="34" charset="-120"/>
                        </a:rPr>
                        <a:t>compilati</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indent="0" marL="0">
                        <a:lnSpc>
                          <a:spcPts val="2100"/>
                        </a:lnSpc>
                        <a:buNone/>
                      </a:pPr>
                      <a:r>
                        <a:rPr lang="en-US" sz="1500" dirty="0">
                          <a:solidFill>
                            <a:srgbClr val="2E7D52"/>
                          </a:solidFill>
                          <a:latin typeface="IBM Plex Sans" pitchFamily="34" charset="0"/>
                          <a:ea typeface="IBM Plex Sans" pitchFamily="34" charset="-122"/>
                          <a:cs typeface="IBM Plex Sans" pitchFamily="34" charset="-120"/>
                        </a:rPr>
                        <a:t>da mappa</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indent="0" marL="0">
                        <a:lnSpc>
                          <a:spcPts val="2100"/>
                        </a:lnSpc>
                        <a:buNone/>
                      </a:pPr>
                      <a:r>
                        <a:rPr lang="en-US" sz="1500" dirty="0">
                          <a:solidFill>
                            <a:srgbClr val="C2410C"/>
                          </a:solidFill>
                          <a:latin typeface="IBM Plex Sans" pitchFamily="34" charset="0"/>
                          <a:ea typeface="IBM Plex Sans" pitchFamily="34" charset="-122"/>
                          <a:cs typeface="IBM Plex Sans" pitchFamily="34" charset="-120"/>
                        </a:rPr>
                        <a:t>compilata</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indent="0" marL="0">
                        <a:lnSpc>
                          <a:spcPts val="2100"/>
                        </a:lnSpc>
                        <a:buNone/>
                      </a:pPr>
                      <a:r>
                        <a:rPr lang="en-US" sz="1500" dirty="0">
                          <a:solidFill>
                            <a:srgbClr val="C2410C"/>
                          </a:solidFill>
                          <a:latin typeface="IBM Plex Sans" pitchFamily="34" charset="0"/>
                          <a:ea typeface="IBM Plex Sans" pitchFamily="34" charset="-122"/>
                          <a:cs typeface="IBM Plex Sans" pitchFamily="34" charset="-120"/>
                        </a:rPr>
                        <a:t>compilata</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r>
              <a:tr h="412750">
                <a:tc>
                  <a:txBody>
                    <a:bodyPr/>
                    <a:lstStyle/>
                    <a:p>
                      <a:pPr indent="0" marL="0">
                        <a:lnSpc>
                          <a:spcPts val="2100"/>
                        </a:lnSpc>
                        <a:buNone/>
                      </a:pPr>
                      <a:r>
                        <a:rPr lang="en-US" sz="1500" dirty="0">
                          <a:solidFill>
                            <a:srgbClr val="14213D"/>
                          </a:solidFill>
                          <a:latin typeface="IBM Plex Sans" pitchFamily="34" charset="0"/>
                          <a:ea typeface="IBM Plex Sans" pitchFamily="34" charset="-122"/>
                          <a:cs typeface="IBM Plex Sans" pitchFamily="34" charset="-120"/>
                        </a:rPr>
                        <a:t>template (P2)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2100"/>
                        </a:lnSpc>
                        <a:buNone/>
                      </a:pPr>
                      <a:r>
                        <a:rPr lang="en-US" sz="1500" dirty="0">
                          <a:solidFill>
                            <a:srgbClr val="2E7D52"/>
                          </a:solidFill>
                          <a:latin typeface="IBM Plex Sans" pitchFamily="34" charset="0"/>
                          <a:ea typeface="IBM Plex Sans" pitchFamily="34" charset="-122"/>
                          <a:cs typeface="IBM Plex Sans" pitchFamily="34" charset="-120"/>
                        </a:rPr>
                        <a:t>da mappa</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2100"/>
                        </a:lnSpc>
                        <a:buNone/>
                      </a:pPr>
                      <a:r>
                        <a:rPr lang="en-US" sz="1500" dirty="0">
                          <a:solidFill>
                            <a:srgbClr val="2E7D52"/>
                          </a:solidFill>
                          <a:latin typeface="IBM Plex Sans" pitchFamily="34" charset="0"/>
                          <a:ea typeface="IBM Plex Sans" pitchFamily="34" charset="-122"/>
                          <a:cs typeface="IBM Plex Sans" pitchFamily="34" charset="-120"/>
                        </a:rPr>
                        <a:t>da mappa</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2100"/>
                        </a:lnSpc>
                        <a:buNone/>
                      </a:pPr>
                      <a:r>
                        <a:rPr lang="en-US" sz="1500" dirty="0">
                          <a:solidFill>
                            <a:srgbClr val="2E7D52"/>
                          </a:solidFill>
                          <a:latin typeface="IBM Plex Sans" pitchFamily="34" charset="0"/>
                          <a:ea typeface="IBM Plex Sans" pitchFamily="34" charset="-122"/>
                          <a:cs typeface="IBM Plex Sans" pitchFamily="34" charset="-120"/>
                        </a:rPr>
                        <a:t>soffitti compilati</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2100"/>
                        </a:lnSpc>
                        <a:buNone/>
                      </a:pPr>
                      <a:r>
                        <a:rPr lang="en-US" sz="1500" dirty="0">
                          <a:solidFill>
                            <a:srgbClr val="C2410C"/>
                          </a:solidFill>
                          <a:latin typeface="IBM Plex Sans" pitchFamily="34" charset="0"/>
                          <a:ea typeface="IBM Plex Sans" pitchFamily="34" charset="-122"/>
                          <a:cs typeface="IBM Plex Sans" pitchFamily="34" charset="-120"/>
                        </a:rPr>
                        <a:t>compilata</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4213D"/>
                          </a:solidFill>
                          <a:latin typeface="IBM Plex Sans" pitchFamily="34" charset="0"/>
                          <a:ea typeface="IBM Plex Sans" pitchFamily="34" charset="-122"/>
                          <a:cs typeface="IBM Plex Sans" pitchFamily="34" charset="-120"/>
                        </a:rPr>
                        <a:t>modular (P3)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indent="0" marL="0">
                        <a:lnSpc>
                          <a:spcPts val="2100"/>
                        </a:lnSpc>
                        <a:buNone/>
                      </a:pPr>
                      <a:r>
                        <a:rPr lang="en-US" sz="1500" dirty="0">
                          <a:solidFill>
                            <a:srgbClr val="2E7D52"/>
                          </a:solidFill>
                          <a:latin typeface="IBM Plex Sans" pitchFamily="34" charset="0"/>
                          <a:ea typeface="IBM Plex Sans" pitchFamily="34" charset="-122"/>
                          <a:cs typeface="IBM Plex Sans" pitchFamily="34" charset="-120"/>
                        </a:rPr>
                        <a:t>da mappa</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indent="0" marL="0">
                        <a:lnSpc>
                          <a:spcPts val="2100"/>
                        </a:lnSpc>
                        <a:buNone/>
                      </a:pPr>
                      <a:r>
                        <a:rPr lang="en-US" sz="1500" dirty="0">
                          <a:solidFill>
                            <a:srgbClr val="2E7D52"/>
                          </a:solidFill>
                          <a:latin typeface="IBM Plex Sans" pitchFamily="34" charset="0"/>
                          <a:ea typeface="IBM Plex Sans" pitchFamily="34" charset="-122"/>
                          <a:cs typeface="IBM Plex Sans" pitchFamily="34" charset="-120"/>
                        </a:rPr>
                        <a:t>da mappa</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indent="0" marL="0">
                        <a:lnSpc>
                          <a:spcPts val="2100"/>
                        </a:lnSpc>
                        <a:buNone/>
                      </a:pPr>
                      <a:r>
                        <a:rPr lang="en-US" sz="1500" dirty="0">
                          <a:solidFill>
                            <a:srgbClr val="2E7D52"/>
                          </a:solidFill>
                          <a:latin typeface="IBM Plex Sans" pitchFamily="34" charset="0"/>
                          <a:ea typeface="IBM Plex Sans" pitchFamily="34" charset="-122"/>
                          <a:cs typeface="IBM Plex Sans" pitchFamily="34" charset="-120"/>
                        </a:rPr>
                        <a:t>da mappa</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indent="0" marL="0">
                        <a:lnSpc>
                          <a:spcPts val="2100"/>
                        </a:lnSpc>
                        <a:buNone/>
                      </a:pPr>
                      <a:r>
                        <a:rPr lang="en-US" sz="1500" dirty="0">
                          <a:solidFill>
                            <a:srgbClr val="2E7D52"/>
                          </a:solidFill>
                          <a:latin typeface="IBM Plex Sans" pitchFamily="34" charset="0"/>
                          <a:ea typeface="IBM Plex Sans" pitchFamily="34" charset="-122"/>
                          <a:cs typeface="IBM Plex Sans" pitchFamily="34" charset="-120"/>
                        </a:rPr>
                        <a:t>da mappa</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r>
            </a:tbl>
          </a:graphicData>
        </a:graphic>
      </p:graphicFrame>
      <p:sp>
        <p:nvSpPr>
          <p:cNvPr id="6" name="Text 3"/>
          <p:cNvSpPr/>
          <p:nvPr/>
        </p:nvSpPr>
        <p:spPr>
          <a:xfrm>
            <a:off x="812800" y="6238280"/>
            <a:ext cx="446225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Arancione = deciso alla compilazione · verde = deciso a runtime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800" y="812800"/>
            <a:ext cx="10883392" cy="500327"/>
          </a:xfrm>
          <a:prstGeom prst="rect">
            <a:avLst/>
          </a:prstGeom>
          <a:noFill/>
          <a:ln/>
        </p:spPr>
        <p:txBody>
          <a:bodyPr wrap="square" lIns="0" tIns="0" rIns="0" bIns="0" rtlCol="0" anchor="t">
            <a:normAutofit/>
          </a:bodyPr>
          <a:lstStyle/>
          <a:p>
            <a:pPr algn="l" indent="0" marL="0">
              <a:lnSpc>
                <a:spcPts val="3740"/>
              </a:lnSpc>
              <a:buNone/>
            </a:pPr>
            <a:r>
              <a:rPr lang="en-US" sz="3400" b="1" dirty="0">
                <a:solidFill>
                  <a:srgbClr val="14213D"/>
                </a:solidFill>
                <a:latin typeface="IBM Plex Sans" pitchFamily="34" charset="0"/>
                <a:ea typeface="IBM Plex Sans" pitchFamily="34" charset="-122"/>
                <a:cs typeface="IBM Plex Sans" pitchFamily="34" charset="-120"/>
              </a:rPr>
              <a:t>Che cosa cambia nel codice generato</a:t>
            </a:r>
            <a:endParaRPr lang="en-US" sz="3400" dirty="0"/>
          </a:p>
        </p:txBody>
      </p:sp>
      <p:sp>
        <p:nvSpPr>
          <p:cNvPr id="3" name="Text 1"/>
          <p:cNvSpPr/>
          <p:nvPr/>
        </p:nvSpPr>
        <p:spPr>
          <a:xfrm>
            <a:off x="812800" y="1516328"/>
            <a:ext cx="10203180" cy="301625"/>
          </a:xfrm>
          <a:prstGeom prst="rect">
            <a:avLst/>
          </a:prstGeom>
          <a:noFill/>
          <a:ln/>
        </p:spPr>
        <p:txBody>
          <a:bodyPr wrap="square" lIns="0" tIns="0" rIns="0" bIns="0" rtlCol="0" anchor="t">
            <a:normAutofit/>
          </a:bodyPr>
          <a:lstStyle/>
          <a:p>
            <a:pPr algn="l" indent="0" marL="0">
              <a:lnSpc>
                <a:spcPts val="2175"/>
              </a:lnSpc>
              <a:buNone/>
            </a:pPr>
            <a:r>
              <a:rPr lang="en-US" sz="1500" dirty="0">
                <a:solidFill>
                  <a:srgbClr val="4A5568"/>
                </a:solidFill>
                <a:latin typeface="IBM Plex Sans" pitchFamily="34" charset="0"/>
                <a:ea typeface="IBM Plex Sans" pitchFamily="34" charset="-122"/>
                <a:cs typeface="IBM Plex Sans" pitchFamily="34" charset="-120"/>
              </a:rPr>
              <a:t>La rete è la stessa in tutte e quattro. Cambia solo da dove arrivano i termini della somma.</a:t>
            </a:r>
            <a:endParaRPr lang="en-US" sz="1500" dirty="0"/>
          </a:p>
        </p:txBody>
      </p:sp>
      <p:sp>
        <p:nvSpPr>
          <p:cNvPr id="4" name="Shape 2"/>
          <p:cNvSpPr/>
          <p:nvPr/>
        </p:nvSpPr>
        <p:spPr>
          <a:xfrm>
            <a:off x="815975" y="2024328"/>
            <a:ext cx="5175250" cy="2343812"/>
          </a:xfrm>
          <a:prstGeom prst="roundRect">
            <a:avLst>
              <a:gd name="adj" fmla="val 4199"/>
            </a:avLst>
          </a:prstGeom>
          <a:solidFill>
            <a:srgbClr val="FBFBF8"/>
          </a:solidFill>
          <a:ln w="6350">
            <a:solidFill>
              <a:srgbClr val="D7DEE7"/>
            </a:solidFill>
            <a:prstDash val="solid"/>
          </a:ln>
        </p:spPr>
      </p:sp>
      <p:sp>
        <p:nvSpPr>
          <p:cNvPr id="5" name="Text 3"/>
          <p:cNvSpPr/>
          <p:nvPr/>
        </p:nvSpPr>
        <p:spPr>
          <a:xfrm>
            <a:off x="1045633" y="2253986"/>
            <a:ext cx="4857411"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C2410C"/>
                </a:solidFill>
                <a:latin typeface="IBM Plex Sans" pitchFamily="34" charset="0"/>
                <a:ea typeface="IBM Plex Sans" pitchFamily="34" charset="-122"/>
                <a:cs typeface="IBM Plex Sans" pitchFamily="34" charset="-120"/>
              </a:rPr>
              <a:t>Specializzata — p1_static</a:t>
            </a:r>
            <a:endParaRPr lang="en-US" sz="1600" dirty="0"/>
          </a:p>
        </p:txBody>
      </p:sp>
      <p:sp>
        <p:nvSpPr>
          <p:cNvPr id="6" name="Text 4"/>
          <p:cNvSpPr/>
          <p:nvPr/>
        </p:nvSpPr>
        <p:spPr>
          <a:xfrm>
            <a:off x="1045633" y="2599399"/>
            <a:ext cx="4857411" cy="1000654"/>
          </a:xfrm>
          <a:prstGeom prst="rect">
            <a:avLst/>
          </a:prstGeom>
          <a:noFill/>
          <a:ln/>
        </p:spPr>
        <p:txBody>
          <a:bodyPr wrap="square" lIns="0" tIns="0" rIns="0" bIns="0" rtlCol="0" anchor="t">
            <a:normAutofit/>
          </a:bodyPr>
          <a:lstStyle/>
          <a:p>
            <a:pPr algn="l" indent="0" marL="0">
              <a:lnSpc>
                <a:spcPts val="1920"/>
              </a:lnSpc>
              <a:buNone/>
            </a:pPr>
            <a:r>
              <a:rPr lang="en-US" sz="1200" dirty="0">
                <a:solidFill>
                  <a:srgbClr val="14213D"/>
                </a:solidFill>
                <a:latin typeface="JetBrains Mono" pitchFamily="34" charset="0"/>
                <a:ea typeface="JetBrains Mono" pitchFamily="34" charset="-122"/>
                <a:cs typeface="JetBrains Mono" pitchFamily="34" charset="-120"/>
              </a:rPr>
              <a:t>h[j] += 37LL * x0;</a:t>
            </a:r>
            <a:endParaRPr lang="en-US" sz="1200" dirty="0"/>
          </a:p>
          <a:p>
            <a:pPr algn="l" indent="0" marL="0">
              <a:lnSpc>
                <a:spcPts val="1920"/>
              </a:lnSpc>
              <a:buNone/>
            </a:pPr>
            <a:r>
              <a:rPr lang="en-US" sz="1200" dirty="0">
                <a:solidFill>
                  <a:srgbClr val="14213D"/>
                </a:solidFill>
                <a:latin typeface="JetBrains Mono" pitchFamily="34" charset="0"/>
                <a:ea typeface="JetBrains Mono" pitchFamily="34" charset="-122"/>
                <a:cs typeface="JetBrains Mono" pitchFamily="34" charset="-120"/>
              </a:rPr>
              <a:t>h[j] += -12LL * x1;</a:t>
            </a:r>
            <a:endParaRPr lang="en-US" sz="1200" dirty="0"/>
          </a:p>
          <a:p>
            <a:pPr algn="l" indent="0" marL="0">
              <a:lnSpc>
                <a:spcPts val="1920"/>
              </a:lnSpc>
              <a:buNone/>
            </a:pPr>
            <a:r>
              <a:rPr lang="en-US" sz="1200" dirty="0">
                <a:solidFill>
                  <a:srgbClr val="14213D"/>
                </a:solidFill>
                <a:latin typeface="JetBrains Mono" pitchFamily="34" charset="0"/>
                <a:ea typeface="JetBrains Mono" pitchFamily="34" charset="-122"/>
                <a:cs typeface="JetBrains Mono" pitchFamily="34" charset="-120"/>
              </a:rPr>
              <a:t>…</a:t>
            </a:r>
            <a:endParaRPr lang="en-US" sz="1200" dirty="0"/>
          </a:p>
          <a:p>
            <a:pPr algn="l" indent="0" marL="0">
              <a:lnSpc>
                <a:spcPts val="1920"/>
              </a:lnSpc>
              <a:buNone/>
            </a:pPr>
            <a:r>
              <a:rPr lang="en-US" sz="1200" dirty="0">
                <a:solidFill>
                  <a:srgbClr val="14213D"/>
                </a:solidFill>
                <a:latin typeface="JetBrains Mono" pitchFamily="34" charset="0"/>
                <a:ea typeface="JetBrains Mono" pitchFamily="34" charset="-122"/>
                <a:cs typeface="JetBrains Mono" pitchFamily="34" charset="-120"/>
              </a:rPr>
              <a:t>/* 319 costanti nel sorgente */</a:t>
            </a:r>
            <a:endParaRPr lang="en-US" sz="1200" dirty="0"/>
          </a:p>
        </p:txBody>
      </p:sp>
      <p:sp>
        <p:nvSpPr>
          <p:cNvPr id="7" name="Text 5"/>
          <p:cNvSpPr/>
          <p:nvPr/>
        </p:nvSpPr>
        <p:spPr>
          <a:xfrm>
            <a:off x="1045633" y="3676253"/>
            <a:ext cx="4857411" cy="4876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clang vede i valori: cancella i prodotti per zero e trasforma le potenze di due in shift.</a:t>
            </a:r>
            <a:endParaRPr lang="en-US" sz="1300" dirty="0"/>
          </a:p>
        </p:txBody>
      </p:sp>
      <p:sp>
        <p:nvSpPr>
          <p:cNvPr id="8" name="Shape 6"/>
          <p:cNvSpPr/>
          <p:nvPr/>
        </p:nvSpPr>
        <p:spPr>
          <a:xfrm>
            <a:off x="6200775" y="2024328"/>
            <a:ext cx="5175250" cy="2343812"/>
          </a:xfrm>
          <a:prstGeom prst="roundRect">
            <a:avLst>
              <a:gd name="adj" fmla="val 4199"/>
            </a:avLst>
          </a:prstGeom>
          <a:solidFill>
            <a:srgbClr val="FBFBF8"/>
          </a:solidFill>
          <a:ln w="6350">
            <a:solidFill>
              <a:srgbClr val="D7DEE7"/>
            </a:solidFill>
            <a:prstDash val="solid"/>
          </a:ln>
        </p:spPr>
      </p:sp>
      <p:sp>
        <p:nvSpPr>
          <p:cNvPr id="9" name="Text 7"/>
          <p:cNvSpPr/>
          <p:nvPr/>
        </p:nvSpPr>
        <p:spPr>
          <a:xfrm>
            <a:off x="6430433" y="2253986"/>
            <a:ext cx="4857411"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E7D52"/>
                </a:solidFill>
                <a:latin typeface="IBM Plex Sans" pitchFamily="34" charset="0"/>
                <a:ea typeface="IBM Plex Sans" pitchFamily="34" charset="-122"/>
                <a:cs typeface="IBM Plex Sans" pitchFamily="34" charset="-120"/>
              </a:rPr>
              <a:t>Generica — template / modular</a:t>
            </a:r>
            <a:endParaRPr lang="en-US" sz="1600" dirty="0"/>
          </a:p>
        </p:txBody>
      </p:sp>
      <p:sp>
        <p:nvSpPr>
          <p:cNvPr id="10" name="Text 8"/>
          <p:cNvSpPr/>
          <p:nvPr/>
        </p:nvSpPr>
        <p:spPr>
          <a:xfrm>
            <a:off x="6430433" y="2599399"/>
            <a:ext cx="4857411" cy="756841"/>
          </a:xfrm>
          <a:prstGeom prst="rect">
            <a:avLst/>
          </a:prstGeom>
          <a:noFill/>
          <a:ln/>
        </p:spPr>
        <p:txBody>
          <a:bodyPr wrap="square" lIns="0" tIns="0" rIns="0" bIns="0" rtlCol="0" anchor="t">
            <a:normAutofit/>
          </a:bodyPr>
          <a:lstStyle/>
          <a:p>
            <a:pPr algn="l" indent="0" marL="0">
              <a:lnSpc>
                <a:spcPts val="1920"/>
              </a:lnSpc>
              <a:buNone/>
            </a:pPr>
            <a:r>
              <a:rPr lang="en-US" sz="1200" dirty="0">
                <a:solidFill>
                  <a:srgbClr val="14213D"/>
                </a:solidFill>
                <a:latin typeface="JetBrains Mono" pitchFamily="34" charset="0"/>
                <a:ea typeface="JetBrains Mono" pitchFamily="34" charset="-122"/>
                <a:cs typeface="JetBrains Mono" pitchFamily="34" charset="-120"/>
              </a:rPr>
              <a:t>for (j &lt; MAX_H1)</a:t>
            </a:r>
            <a:endParaRPr lang="en-US" sz="1200" dirty="0"/>
          </a:p>
          <a:p>
            <a:pPr algn="l" indent="0" marL="0">
              <a:lnSpc>
                <a:spcPts val="1920"/>
              </a:lnSpc>
              <a:buNone/>
            </a:pPr>
            <a:r>
              <a:rPr lang="en-US" sz="1200" dirty="0">
                <a:solidFill>
                  <a:srgbClr val="14213D"/>
                </a:solidFill>
                <a:latin typeface="JetBrains Mono" pitchFamily="34" charset="0"/>
                <a:ea typeface="JetBrains Mono" pitchFamily="34" charset="-122"/>
                <a:cs typeface="JetBrains Mono" pitchFamily="34" charset="-120"/>
              </a:rPr>
              <a:t>  for (i &lt; MAX_N_IN)</a:t>
            </a:r>
            <a:endParaRPr lang="en-US" sz="1200" dirty="0"/>
          </a:p>
          <a:p>
            <a:pPr algn="l" indent="0" marL="0">
              <a:lnSpc>
                <a:spcPts val="1920"/>
              </a:lnSpc>
              <a:buNone/>
            </a:pPr>
            <a:r>
              <a:rPr lang="en-US" sz="1200" dirty="0">
                <a:solidFill>
                  <a:srgbClr val="14213D"/>
                </a:solidFill>
                <a:latin typeface="JetBrains Mono" pitchFamily="34" charset="0"/>
                <a:ea typeface="JetBrains Mono" pitchFamily="34" charset="-122"/>
                <a:cs typeface="JetBrains Mono" pitchFamily="34" charset="-120"/>
              </a:rPr>
              <a:t>   h[j] += W[off+j*n+i] * x[i];</a:t>
            </a:r>
            <a:endParaRPr lang="en-US" sz="1200" dirty="0"/>
          </a:p>
        </p:txBody>
      </p:sp>
      <p:sp>
        <p:nvSpPr>
          <p:cNvPr id="11" name="Text 9"/>
          <p:cNvSpPr/>
          <p:nvPr/>
        </p:nvSpPr>
        <p:spPr>
          <a:xfrm>
            <a:off x="6430433" y="3432440"/>
            <a:ext cx="4857411" cy="4876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I pesi sono byte in una mappa. Il ciclo è srotolato fino ai </a:t>
            </a:r>
            <a:r>
              <a:rPr lang="en-US" sz="1300" b="1" dirty="0">
                <a:solidFill>
                  <a:srgbClr val="4A5568"/>
                </a:solidFill>
                <a:latin typeface="IBM Plex Sans" pitchFamily="34" charset="0"/>
                <a:ea typeface="IBM Plex Sans" pitchFamily="34" charset="-122"/>
                <a:cs typeface="IBM Plex Sans" pitchFamily="34" charset="-120"/>
              </a:rPr>
              <a:t>soffitti</a:t>
            </a:r>
            <a:r>
              <a:rPr lang="en-US" sz="1300" dirty="0">
                <a:solidFill>
                  <a:srgbClr val="4A5568"/>
                </a:solidFill>
                <a:latin typeface="IBM Plex Sans" pitchFamily="34" charset="0"/>
                <a:ea typeface="IBM Plex Sans" pitchFamily="34" charset="-122"/>
                <a:cs typeface="IBM Plex Sans" pitchFamily="34" charset="-120"/>
              </a:rPr>
              <a:t>, non fino alla forma vera.</a:t>
            </a:r>
            <a:endParaRPr lang="en-US" sz="1300" dirty="0"/>
          </a:p>
        </p:txBody>
      </p:sp>
      <p:sp>
        <p:nvSpPr>
          <p:cNvPr id="12" name="Shape 10"/>
          <p:cNvSpPr/>
          <p:nvPr/>
        </p:nvSpPr>
        <p:spPr>
          <a:xfrm>
            <a:off x="812800" y="4599915"/>
            <a:ext cx="10566400" cy="986764"/>
          </a:xfrm>
          <a:prstGeom prst="roundRect">
            <a:avLst>
              <a:gd name="adj" fmla="val 10296"/>
            </a:avLst>
          </a:prstGeom>
          <a:solidFill>
            <a:srgbClr val="14213D"/>
          </a:solidFill>
          <a:ln/>
        </p:spPr>
      </p:sp>
      <p:sp>
        <p:nvSpPr>
          <p:cNvPr id="13" name="Text 11"/>
          <p:cNvSpPr/>
          <p:nvPr/>
        </p:nvSpPr>
        <p:spPr>
          <a:xfrm>
            <a:off x="1041400" y="4803115"/>
            <a:ext cx="10412476"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D8D5"/>
                </a:solidFill>
                <a:latin typeface="IBM Plex Sans" pitchFamily="34" charset="0"/>
                <a:ea typeface="IBM Plex Sans" pitchFamily="34" charset="-122"/>
                <a:cs typeface="IBM Plex Sans" pitchFamily="34" charset="-120"/>
              </a:rPr>
              <a:t>La conseguenza misurabile, e il motivo per cui le due colonne divergono:</a:t>
            </a:r>
            <a:endParaRPr lang="en-US" sz="1300" dirty="0"/>
          </a:p>
        </p:txBody>
      </p:sp>
      <p:sp>
        <p:nvSpPr>
          <p:cNvPr id="14" name="Text 12"/>
          <p:cNvSpPr/>
          <p:nvPr/>
        </p:nvSpPr>
        <p:spPr>
          <a:xfrm>
            <a:off x="1041400" y="5097728"/>
            <a:ext cx="10412476" cy="3111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FBFBF8"/>
                </a:solidFill>
                <a:latin typeface="JetBrains Mono" pitchFamily="34" charset="0"/>
                <a:ea typeface="JetBrains Mono" pitchFamily="34" charset="-122"/>
                <a:cs typeface="JetBrains Mono" pitchFamily="34" charset="-120"/>
              </a:rPr>
              <a:t>istruzioni(specializzata) = f(</a:t>
            </a:r>
            <a:r>
              <a:rPr lang="en-US" sz="1500" b="1" dirty="0">
                <a:solidFill>
                  <a:srgbClr val="FBFBF8"/>
                </a:solidFill>
                <a:latin typeface="JetBrains Mono" pitchFamily="34" charset="0"/>
                <a:ea typeface="JetBrains Mono" pitchFamily="34" charset="-122"/>
                <a:cs typeface="JetBrains Mono" pitchFamily="34" charset="-120"/>
              </a:rPr>
              <a:t>valori dei pesi</a:t>
            </a:r>
            <a:r>
              <a:rPr lang="en-US" sz="1500" dirty="0">
                <a:solidFill>
                  <a:srgbClr val="FBFBF8"/>
                </a:solidFill>
                <a:latin typeface="JetBrains Mono" pitchFamily="34" charset="0"/>
                <a:ea typeface="JetBrains Mono" pitchFamily="34" charset="-122"/>
                <a:cs typeface="JetBrains Mono" pitchFamily="34" charset="-120"/>
              </a:rPr>
              <a:t>)     istruzioni(generica) = f(</a:t>
            </a:r>
            <a:r>
              <a:rPr lang="en-US" sz="1500" b="1" dirty="0">
                <a:solidFill>
                  <a:srgbClr val="FBFBF8"/>
                </a:solidFill>
                <a:latin typeface="JetBrains Mono" pitchFamily="34" charset="0"/>
                <a:ea typeface="JetBrains Mono" pitchFamily="34" charset="-122"/>
                <a:cs typeface="JetBrains Mono" pitchFamily="34" charset="-120"/>
              </a:rPr>
              <a:t>soffitti</a:t>
            </a:r>
            <a:r>
              <a:rPr lang="en-US" sz="1500" dirty="0">
                <a:solidFill>
                  <a:srgbClr val="FBFBF8"/>
                </a:solidFill>
                <a:latin typeface="JetBrains Mono" pitchFamily="34" charset="0"/>
                <a:ea typeface="JetBrains Mono" pitchFamily="34" charset="-122"/>
                <a:cs typeface="JetBrains Mono" pitchFamily="34" charset="-120"/>
              </a:rPr>
              <a:t>)</a:t>
            </a:r>
            <a:endParaRPr lang="en-US" sz="1500" dirty="0"/>
          </a:p>
        </p:txBody>
      </p:sp>
      <p:sp>
        <p:nvSpPr>
          <p:cNvPr id="15" name="Text 13"/>
          <p:cNvSpPr/>
          <p:nvPr/>
        </p:nvSpPr>
        <p:spPr>
          <a:xfrm>
            <a:off x="812800" y="6238280"/>
            <a:ext cx="675095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Sorgenti: ipa/ebpf_program.py (P1) · ipa/ebpf_template_arch.py (P2) · ipa/ebpf_modular.py (P3)</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9316"/>
          </a:xfrm>
          <a:prstGeom prst="rect">
            <a:avLst/>
          </a:prstGeom>
          <a:noFill/>
          <a:ln/>
        </p:spPr>
        <p:txBody>
          <a:bodyPr wrap="square" lIns="0" tIns="0" rIns="0" bIns="0" rtlCol="0" anchor="t">
            <a:normAutofit/>
          </a:bodyPr>
          <a:lstStyle/>
          <a:p>
            <a:pPr algn="l" indent="0" marL="0">
              <a:lnSpc>
                <a:spcPts val="1723"/>
              </a:lnSpc>
              <a:buNone/>
            </a:pPr>
            <a:r>
              <a:rPr lang="en-US" sz="1231" spc="100" kern="0" dirty="0">
                <a:solidFill>
                  <a:srgbClr val="C2410C"/>
                </a:solidFill>
                <a:latin typeface="JetBrains Mono" pitchFamily="34" charset="0"/>
                <a:ea typeface="JetBrains Mono" pitchFamily="34" charset="-122"/>
                <a:cs typeface="JetBrains Mono" pitchFamily="34" charset="-120"/>
              </a:rPr>
              <a:t>IPOTESI · PIÙ RUNTIME = PIÙ COSTO PER PACCHETTO</a:t>
            </a:r>
            <a:endParaRPr lang="en-US" sz="1231" dirty="0"/>
          </a:p>
        </p:txBody>
      </p:sp>
      <p:sp>
        <p:nvSpPr>
          <p:cNvPr id="3" name="Text 1"/>
          <p:cNvSpPr/>
          <p:nvPr/>
        </p:nvSpPr>
        <p:spPr>
          <a:xfrm>
            <a:off x="812800" y="1102916"/>
            <a:ext cx="10883392" cy="465071"/>
          </a:xfrm>
          <a:prstGeom prst="rect">
            <a:avLst/>
          </a:prstGeom>
          <a:noFill/>
          <a:ln/>
        </p:spPr>
        <p:txBody>
          <a:bodyPr wrap="square" lIns="0" tIns="0" rIns="0" bIns="0" rtlCol="0" anchor="t">
            <a:normAutofit/>
          </a:bodyPr>
          <a:lstStyle/>
          <a:p>
            <a:pPr algn="l" indent="0" marL="0">
              <a:lnSpc>
                <a:spcPts val="3471"/>
              </a:lnSpc>
              <a:buNone/>
            </a:pPr>
            <a:r>
              <a:rPr lang="en-US" sz="3156" b="1" dirty="0">
                <a:solidFill>
                  <a:srgbClr val="14213D"/>
                </a:solidFill>
                <a:latin typeface="IBM Plex Sans" pitchFamily="34" charset="0"/>
                <a:ea typeface="IBM Plex Sans" pitchFamily="34" charset="-122"/>
                <a:cs typeface="IBM Plex Sans" pitchFamily="34" charset="-120"/>
              </a:rPr>
              <a:t>Quanto costa rendere configurabile</a:t>
            </a:r>
            <a:endParaRPr lang="en-US" sz="3156"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2800" y="1771188"/>
          <a:ext cx="10566400" cy="1987352"/>
        </p:xfrm>
        <a:graphic>
          <a:graphicData uri="http://schemas.openxmlformats.org/drawingml/2006/table">
            <a:tbl>
              <a:tblPr/>
              <a:tblGrid>
                <a:gridCol w="2747264"/>
                <a:gridCol w="2007616"/>
                <a:gridCol w="2007616"/>
                <a:gridCol w="1901952"/>
                <a:gridCol w="1901952"/>
              </a:tblGrid>
              <a:tr h="397470">
                <a:tc>
                  <a:txBody>
                    <a:bodyPr/>
                    <a:lstStyle/>
                    <a:p>
                      <a:pPr indent="0" marL="0">
                        <a:lnSpc>
                          <a:spcPts val="2021"/>
                        </a:lnSpc>
                        <a:buNone/>
                      </a:pPr>
                      <a:r>
                        <a:rPr lang="en-US" sz="1443" b="1" dirty="0">
                          <a:solidFill>
                            <a:srgbClr val="FBFBF8"/>
                          </a:solidFill>
                          <a:latin typeface="IBM Plex Sans" pitchFamily="34" charset="0"/>
                          <a:ea typeface="IBM Plex Sans" pitchFamily="34" charset="-122"/>
                          <a:cs typeface="IBM Plex Sans" pitchFamily="34" charset="-120"/>
                        </a:rPr>
                        <a:t>Pipeline</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2021"/>
                        </a:lnSpc>
                        <a:buNone/>
                      </a:pPr>
                      <a:r>
                        <a:rPr lang="en-US" sz="1443" b="1" dirty="0">
                          <a:solidFill>
                            <a:srgbClr val="FBFBF8"/>
                          </a:solidFill>
                          <a:latin typeface="IBM Plex Sans" pitchFamily="34" charset="0"/>
                          <a:ea typeface="IBM Plex Sans" pitchFamily="34" charset="-122"/>
                          <a:cs typeface="IBM Plex Sans" pitchFamily="34" charset="-120"/>
                        </a:rPr>
                        <a:t>Istruzioni</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2021"/>
                        </a:lnSpc>
                        <a:buNone/>
                      </a:pPr>
                      <a:r>
                        <a:rPr lang="en-US" sz="1443" b="1" dirty="0">
                          <a:solidFill>
                            <a:srgbClr val="FBFBF8"/>
                          </a:solidFill>
                          <a:latin typeface="IBM Plex Sans" pitchFamily="34" charset="0"/>
                          <a:ea typeface="IBM Plex Sans" pitchFamily="34" charset="-122"/>
                          <a:cs typeface="IBM Plex Sans" pitchFamily="34" charset="-120"/>
                        </a:rPr>
                        <a:t>Latenza</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2021"/>
                        </a:lnSpc>
                        <a:buNone/>
                      </a:pPr>
                      <a:r>
                        <a:rPr lang="en-US" sz="1443" b="1" dirty="0">
                          <a:solidFill>
                            <a:srgbClr val="FBFBF8"/>
                          </a:solidFill>
                          <a:latin typeface="IBM Plex Sans" pitchFamily="34" charset="0"/>
                          <a:ea typeface="IBM Plex Sans" pitchFamily="34" charset="-122"/>
                          <a:cs typeface="IBM Plex Sans" pitchFamily="34" charset="-120"/>
                        </a:rPr>
                        <a:t>Tail call</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2021"/>
                        </a:lnSpc>
                        <a:buNone/>
                      </a:pPr>
                      <a:r>
                        <a:rPr lang="en-US" sz="1443" b="1" dirty="0">
                          <a:solidFill>
                            <a:srgbClr val="FBFBF8"/>
                          </a:solidFill>
                          <a:latin typeface="IBM Plex Sans" pitchFamily="34" charset="0"/>
                          <a:ea typeface="IBM Plex Sans" pitchFamily="34" charset="-122"/>
                          <a:cs typeface="IBM Plex Sans" pitchFamily="34" charset="-120"/>
                        </a:rPr>
                        <a:t>Map lookup</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r>
              <a:tr h="397470">
                <a:tc>
                  <a:txBody>
                    <a:bodyPr/>
                    <a:lstStyle/>
                    <a:p>
                      <a:pP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p1_static</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614</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54 ns</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1</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97470">
                <a:tc>
                  <a:txBody>
                    <a:bodyPr/>
                    <a:lstStyle/>
                    <a:p>
                      <a:pP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hardcoded (P1.5)</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1 071</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57 ns</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1</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6</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r>
              <a:tr h="397470">
                <a:tc>
                  <a:txBody>
                    <a:bodyPr/>
                    <a:lstStyle/>
                    <a:p>
                      <a:pP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template (P2)</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14 628</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249 ns</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1</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11</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97470">
                <a:tc>
                  <a:txBody>
                    <a:bodyPr/>
                    <a:lstStyle/>
                    <a:p>
                      <a:pP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modular (P3)</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12 031</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436 ns</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3</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29</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r>
            </a:tbl>
          </a:graphicData>
        </a:graphic>
      </p:graphicFrame>
      <p:sp>
        <p:nvSpPr>
          <p:cNvPr id="5" name="Shape 2"/>
          <p:cNvSpPr/>
          <p:nvPr/>
        </p:nvSpPr>
        <p:spPr>
          <a:xfrm>
            <a:off x="812800" y="4228306"/>
            <a:ext cx="5181600" cy="1613694"/>
          </a:xfrm>
          <a:prstGeom prst="roundRect">
            <a:avLst>
              <a:gd name="adj" fmla="val 6296"/>
            </a:avLst>
          </a:prstGeom>
          <a:solidFill>
            <a:srgbClr val="EEF1F5"/>
          </a:solidFill>
          <a:ln/>
        </p:spPr>
      </p:sp>
      <p:sp>
        <p:nvSpPr>
          <p:cNvPr id="6" name="Text 3"/>
          <p:cNvSpPr/>
          <p:nvPr/>
        </p:nvSpPr>
        <p:spPr>
          <a:xfrm>
            <a:off x="1016000" y="4431506"/>
            <a:ext cx="4918456" cy="232966"/>
          </a:xfrm>
          <a:prstGeom prst="rect">
            <a:avLst/>
          </a:prstGeom>
          <a:noFill/>
          <a:ln/>
        </p:spPr>
        <p:txBody>
          <a:bodyPr wrap="square" lIns="0" tIns="0" rIns="0" bIns="0" rtlCol="0" anchor="t">
            <a:normAutofit/>
          </a:bodyPr>
          <a:lstStyle/>
          <a:p>
            <a:pPr algn="l" indent="0" marL="0">
              <a:lnSpc>
                <a:spcPts val="1671"/>
              </a:lnSpc>
              <a:buNone/>
            </a:pPr>
            <a:r>
              <a:rPr lang="en-US" sz="1392" b="1" dirty="0">
                <a:solidFill>
                  <a:srgbClr val="14213D"/>
                </a:solidFill>
                <a:latin typeface="IBM Plex Sans" pitchFamily="34" charset="0"/>
                <a:ea typeface="IBM Plex Sans" pitchFamily="34" charset="-122"/>
                <a:cs typeface="IBM Plex Sans" pitchFamily="34" charset="-120"/>
              </a:rPr>
              <a:t>Il compromesso, in due numeri</a:t>
            </a:r>
            <a:endParaRPr lang="en-US" sz="1392" dirty="0"/>
          </a:p>
        </p:txBody>
      </p:sp>
      <p:sp>
        <p:nvSpPr>
          <p:cNvPr id="7" name="Text 4"/>
          <p:cNvSpPr/>
          <p:nvPr/>
        </p:nvSpPr>
        <p:spPr>
          <a:xfrm>
            <a:off x="1016000" y="4702572"/>
            <a:ext cx="4918456" cy="961628"/>
          </a:xfrm>
          <a:prstGeom prst="rect">
            <a:avLst/>
          </a:prstGeom>
          <a:noFill/>
          <a:ln/>
        </p:spPr>
        <p:txBody>
          <a:bodyPr wrap="square" lIns="0" tIns="0" rIns="0" bIns="0" rtlCol="0" anchor="t">
            <a:normAutofit/>
          </a:bodyPr>
          <a:lstStyle/>
          <a:p>
            <a:pPr algn="l" indent="0" marL="0">
              <a:lnSpc>
                <a:spcPts val="1986"/>
              </a:lnSpc>
              <a:buNone/>
            </a:pPr>
            <a:r>
              <a:rPr lang="en-US" sz="1369" dirty="0">
                <a:solidFill>
                  <a:srgbClr val="4A5568"/>
                </a:solidFill>
                <a:latin typeface="IBM Plex Sans" pitchFamily="34" charset="0"/>
                <a:ea typeface="IBM Plex Sans" pitchFamily="34" charset="-122"/>
                <a:cs typeface="IBM Plex Sans" pitchFamily="34" charset="-120"/>
              </a:rPr>
              <a:t>La flessibilità costa </a:t>
            </a:r>
            <a:r>
              <a:rPr lang="en-US" sz="1369" b="1" dirty="0">
                <a:solidFill>
                  <a:srgbClr val="4A5568"/>
                </a:solidFill>
                <a:latin typeface="IBM Plex Sans" pitchFamily="34" charset="0"/>
                <a:ea typeface="IBM Plex Sans" pitchFamily="34" charset="-122"/>
                <a:cs typeface="IBM Plex Sans" pitchFamily="34" charset="-120"/>
              </a:rPr>
              <a:t>circa 8×</a:t>
            </a:r>
            <a:r>
              <a:rPr lang="en-US" sz="1369" dirty="0">
                <a:solidFill>
                  <a:srgbClr val="4A5568"/>
                </a:solidFill>
                <a:latin typeface="IBM Plex Sans" pitchFamily="34" charset="0"/>
                <a:ea typeface="IBM Plex Sans" pitchFamily="34" charset="-122"/>
                <a:cs typeface="IBM Plex Sans" pitchFamily="34" charset="-120"/>
              </a:rPr>
              <a:t> in latenza fra i due estremi. In cambio, aggiornare un modello passa da </a:t>
            </a:r>
            <a:r>
              <a:rPr lang="en-US" sz="1369" b="1" dirty="0">
                <a:solidFill>
                  <a:srgbClr val="4A5568"/>
                </a:solidFill>
                <a:latin typeface="IBM Plex Sans" pitchFamily="34" charset="0"/>
                <a:ea typeface="IBM Plex Sans" pitchFamily="34" charset="-122"/>
                <a:cs typeface="IBM Plex Sans" pitchFamily="34" charset="-120"/>
              </a:rPr>
              <a:t>~1 600 ms</a:t>
            </a:r>
            <a:r>
              <a:rPr lang="en-US" sz="1369" dirty="0">
                <a:solidFill>
                  <a:srgbClr val="4A5568"/>
                </a:solidFill>
                <a:latin typeface="IBM Plex Sans" pitchFamily="34" charset="0"/>
                <a:ea typeface="IBM Plex Sans" pitchFamily="34" charset="-122"/>
                <a:cs typeface="IBM Plex Sans" pitchFamily="34" charset="-120"/>
              </a:rPr>
              <a:t> (rigenera C, chiama clang) a </a:t>
            </a:r>
            <a:r>
              <a:rPr lang="en-US" sz="1369" b="1" dirty="0">
                <a:solidFill>
                  <a:srgbClr val="4A5568"/>
                </a:solidFill>
                <a:latin typeface="IBM Plex Sans" pitchFamily="34" charset="0"/>
                <a:ea typeface="IBM Plex Sans" pitchFamily="34" charset="-122"/>
                <a:cs typeface="IBM Plex Sans" pitchFamily="34" charset="-120"/>
              </a:rPr>
              <a:t>5–14 ms</a:t>
            </a:r>
            <a:r>
              <a:rPr lang="en-US" sz="1369" dirty="0">
                <a:solidFill>
                  <a:srgbClr val="4A5568"/>
                </a:solidFill>
                <a:latin typeface="IBM Plex Sans" pitchFamily="34" charset="0"/>
                <a:ea typeface="IBM Plex Sans" pitchFamily="34" charset="-122"/>
                <a:cs typeface="IBM Plex Sans" pitchFamily="34" charset="-120"/>
              </a:rPr>
              <a:t> (scritture in mappa): </a:t>
            </a:r>
            <a:r>
              <a:rPr lang="en-US" sz="1369" b="1" dirty="0">
                <a:solidFill>
                  <a:srgbClr val="4A5568"/>
                </a:solidFill>
                <a:latin typeface="IBM Plex Sans" pitchFamily="34" charset="0"/>
                <a:ea typeface="IBM Plex Sans" pitchFamily="34" charset="-122"/>
                <a:cs typeface="IBM Plex Sans" pitchFamily="34" charset="-120"/>
              </a:rPr>
              <a:t>~200×</a:t>
            </a:r>
            <a:r>
              <a:rPr lang="en-US" sz="1369" dirty="0">
                <a:solidFill>
                  <a:srgbClr val="4A5568"/>
                </a:solidFill>
                <a:latin typeface="IBM Plex Sans" pitchFamily="34" charset="0"/>
                <a:ea typeface="IBM Plex Sans" pitchFamily="34" charset="-122"/>
                <a:cs typeface="IBM Plex Sans" pitchFamily="34" charset="-120"/>
              </a:rPr>
              <a:t>.</a:t>
            </a:r>
            <a:endParaRPr lang="en-US" sz="1369" dirty="0"/>
          </a:p>
        </p:txBody>
      </p:sp>
      <p:sp>
        <p:nvSpPr>
          <p:cNvPr id="8" name="Shape 5"/>
          <p:cNvSpPr/>
          <p:nvPr/>
        </p:nvSpPr>
        <p:spPr>
          <a:xfrm>
            <a:off x="6197600" y="4228306"/>
            <a:ext cx="5181600" cy="1613694"/>
          </a:xfrm>
          <a:prstGeom prst="roundRect">
            <a:avLst>
              <a:gd name="adj" fmla="val 6296"/>
            </a:avLst>
          </a:prstGeom>
          <a:solidFill>
            <a:srgbClr val="EEF1F5"/>
          </a:solidFill>
          <a:ln/>
        </p:spPr>
      </p:sp>
      <p:sp>
        <p:nvSpPr>
          <p:cNvPr id="9" name="Text 6"/>
          <p:cNvSpPr/>
          <p:nvPr/>
        </p:nvSpPr>
        <p:spPr>
          <a:xfrm>
            <a:off x="6400800" y="4431506"/>
            <a:ext cx="491845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Dove va il costo</a:t>
            </a:r>
            <a:endParaRPr lang="en-US" sz="1500" dirty="0"/>
          </a:p>
        </p:txBody>
      </p:sp>
      <p:sp>
        <p:nvSpPr>
          <p:cNvPr id="10" name="Text 7"/>
          <p:cNvSpPr/>
          <p:nvPr/>
        </p:nvSpPr>
        <p:spPr>
          <a:xfrm>
            <a:off x="6400800" y="4723606"/>
            <a:ext cx="4918456" cy="79871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IBM Plex Sans" pitchFamily="34" charset="0"/>
                <a:ea typeface="IBM Plex Sans" pitchFamily="34" charset="-122"/>
                <a:cs typeface="IBM Plex Sans" pitchFamily="34" charset="-120"/>
              </a:rPr>
              <a:t>Non è aritmetica: i moltiplicatori sono gli stessi. &amp;Egrave; nelle </a:t>
            </a:r>
            <a:r>
              <a:rPr lang="en-US" sz="1400" b="1" dirty="0">
                <a:solidFill>
                  <a:srgbClr val="4A5568"/>
                </a:solidFill>
                <a:latin typeface="IBM Plex Sans" pitchFamily="34" charset="0"/>
                <a:ea typeface="IBM Plex Sans" pitchFamily="34" charset="-122"/>
                <a:cs typeface="IBM Plex Sans" pitchFamily="34" charset="-120"/>
              </a:rPr>
              <a:t>letture di mappa</a:t>
            </a:r>
            <a:r>
              <a:rPr lang="en-US" sz="1400" dirty="0">
                <a:solidFill>
                  <a:srgbClr val="4A5568"/>
                </a:solidFill>
                <a:latin typeface="IBM Plex Sans" pitchFamily="34" charset="0"/>
                <a:ea typeface="IBM Plex Sans" pitchFamily="34" charset="-122"/>
                <a:cs typeface="IBM Plex Sans" pitchFamily="34" charset="-120"/>
              </a:rPr>
              <a:t> (6→29) e nei </a:t>
            </a:r>
            <a:r>
              <a:rPr lang="en-US" sz="1400" b="1" dirty="0">
                <a:solidFill>
                  <a:srgbClr val="4A5568"/>
                </a:solidFill>
                <a:latin typeface="IBM Plex Sans" pitchFamily="34" charset="0"/>
                <a:ea typeface="IBM Plex Sans" pitchFamily="34" charset="-122"/>
                <a:cs typeface="IBM Plex Sans" pitchFamily="34" charset="-120"/>
              </a:rPr>
              <a:t>salti fra programmi</a:t>
            </a:r>
            <a:r>
              <a:rPr lang="en-US" sz="1400" dirty="0">
                <a:solidFill>
                  <a:srgbClr val="4A5568"/>
                </a:solidFill>
                <a:latin typeface="IBM Plex Sans" pitchFamily="34" charset="0"/>
                <a:ea typeface="IBM Plex Sans" pitchFamily="34" charset="-122"/>
                <a:cs typeface="IBM Plex Sans" pitchFamily="34" charset="-120"/>
              </a:rPr>
              <a:t> (1→3).</a:t>
            </a:r>
            <a:endParaRPr lang="en-US" sz="1400" dirty="0"/>
          </a:p>
        </p:txBody>
      </p:sp>
      <p:sp>
        <p:nvSpPr>
          <p:cNvPr id="11" name="Text 8"/>
          <p:cNvSpPr/>
          <p:nvPr/>
        </p:nvSpPr>
        <p:spPr>
          <a:xfrm>
            <a:off x="812800" y="6238280"/>
            <a:ext cx="501404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test_suite --only kernel · minimo su 7 trial · modello 65-4-4-7, scale 24</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spc="100" kern="0" dirty="0">
                <a:solidFill>
                  <a:srgbClr val="C2410C"/>
                </a:solidFill>
                <a:latin typeface="JetBrains Mono" pitchFamily="34" charset="0"/>
                <a:ea typeface="JetBrains Mono" pitchFamily="34" charset="-122"/>
                <a:cs typeface="JetBrains Mono" pitchFamily="34" charset="-120"/>
              </a:rPr>
              <a:t>ANALISI PARAMETRICA · SEI ASSI</a:t>
            </a:r>
            <a:endParaRPr lang="en-US" sz="1300" dirty="0"/>
          </a:p>
        </p:txBody>
      </p:sp>
      <p:sp>
        <p:nvSpPr>
          <p:cNvPr id="3" name="Text 1"/>
          <p:cNvSpPr/>
          <p:nvPr/>
        </p:nvSpPr>
        <p:spPr>
          <a:xfrm>
            <a:off x="812800" y="1107415"/>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13D"/>
                </a:solidFill>
                <a:latin typeface="IBM Plex Sans" pitchFamily="34" charset="0"/>
                <a:ea typeface="IBM Plex Sans" pitchFamily="34" charset="-122"/>
                <a:cs typeface="IBM Plex Sans" pitchFamily="34" charset="-120"/>
              </a:rPr>
              <a:t>Congelare il nodo toglie la rete dal programma</a:t>
            </a:r>
            <a:endParaRPr lang="en-US" sz="3000" dirty="0"/>
          </a:p>
        </p:txBody>
      </p:sp>
      <p:sp>
        <p:nvSpPr>
          <p:cNvPr id="4" name="Text 2"/>
          <p:cNvSpPr/>
          <p:nvPr/>
        </p:nvSpPr>
        <p:spPr>
          <a:xfrm>
            <a:off x="812800" y="1691615"/>
            <a:ext cx="6540500"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asse y</a:t>
            </a:r>
            <a:r>
              <a:rPr lang="en-US" sz="1300" dirty="0">
                <a:solidFill>
                  <a:srgbClr val="14213D"/>
                </a:solidFill>
                <a:latin typeface="IBM Plex Sans" pitchFamily="34" charset="0"/>
                <a:ea typeface="IBM Plex Sans" pitchFamily="34" charset="-122"/>
                <a:cs typeface="IBM Plex Sans" pitchFamily="34" charset="-120"/>
              </a:rPr>
              <a:t> — istruzioni eBPF (xlated)</a:t>
            </a:r>
            <a:endParaRPr lang="en-US" sz="1300" dirty="0"/>
          </a:p>
        </p:txBody>
      </p:sp>
      <p:pic>
        <p:nvPicPr>
          <p:cNvPr id="5" name="Image 0" descr="Istruzioni eBPF in funzione del numero di nodi: hardcoded sale da 746 a 1692 fra 10 e 100 nodi, p1_static resta piatta intorno a 625">    </p:cNvPr>
          <p:cNvPicPr>
            <a:picLocks noChangeAspect="1"/>
          </p:cNvPicPr>
          <p:nvPr/>
        </p:nvPicPr>
        <p:blipFill>
          <a:blip r:embed="rId1"/>
          <a:srcRect l="0" r="0" t="0" b="0"/>
          <a:stretch/>
        </p:blipFill>
        <p:spPr>
          <a:xfrm>
            <a:off x="1447800" y="1986229"/>
            <a:ext cx="5715000" cy="2286000"/>
          </a:xfrm>
          <a:prstGeom prst="rect">
            <a:avLst/>
          </a:prstGeom>
        </p:spPr>
      </p:pic>
      <p:sp>
        <p:nvSpPr>
          <p:cNvPr id="6" name="Text 3"/>
          <p:cNvSpPr/>
          <p:nvPr/>
        </p:nvSpPr>
        <p:spPr>
          <a:xfrm>
            <a:off x="762000" y="2144979"/>
            <a:ext cx="6096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1 750</a:t>
            </a:r>
            <a:endParaRPr lang="en-US" sz="1200" dirty="0"/>
          </a:p>
        </p:txBody>
      </p:sp>
      <p:sp>
        <p:nvSpPr>
          <p:cNvPr id="7" name="Text 4"/>
          <p:cNvSpPr/>
          <p:nvPr/>
        </p:nvSpPr>
        <p:spPr>
          <a:xfrm>
            <a:off x="762000" y="2500579"/>
            <a:ext cx="6096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1 500</a:t>
            </a:r>
            <a:endParaRPr lang="en-US" sz="1200" dirty="0"/>
          </a:p>
        </p:txBody>
      </p:sp>
      <p:sp>
        <p:nvSpPr>
          <p:cNvPr id="8" name="Text 5"/>
          <p:cNvSpPr/>
          <p:nvPr/>
        </p:nvSpPr>
        <p:spPr>
          <a:xfrm>
            <a:off x="762000" y="2856179"/>
            <a:ext cx="6096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1 250</a:t>
            </a:r>
            <a:endParaRPr lang="en-US" sz="1200" dirty="0"/>
          </a:p>
        </p:txBody>
      </p:sp>
      <p:sp>
        <p:nvSpPr>
          <p:cNvPr id="9" name="Text 6"/>
          <p:cNvSpPr/>
          <p:nvPr/>
        </p:nvSpPr>
        <p:spPr>
          <a:xfrm>
            <a:off x="762000" y="3205429"/>
            <a:ext cx="6096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1 000</a:t>
            </a:r>
            <a:endParaRPr lang="en-US" sz="1200" dirty="0"/>
          </a:p>
        </p:txBody>
      </p:sp>
      <p:sp>
        <p:nvSpPr>
          <p:cNvPr id="10" name="Text 7"/>
          <p:cNvSpPr/>
          <p:nvPr/>
        </p:nvSpPr>
        <p:spPr>
          <a:xfrm>
            <a:off x="762000" y="3561029"/>
            <a:ext cx="6096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750</a:t>
            </a:r>
            <a:endParaRPr lang="en-US" sz="1200" dirty="0"/>
          </a:p>
        </p:txBody>
      </p:sp>
      <p:sp>
        <p:nvSpPr>
          <p:cNvPr id="11" name="Text 8"/>
          <p:cNvSpPr/>
          <p:nvPr/>
        </p:nvSpPr>
        <p:spPr>
          <a:xfrm>
            <a:off x="762000" y="3916629"/>
            <a:ext cx="6096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500</a:t>
            </a:r>
            <a:endParaRPr lang="en-US" sz="1200" dirty="0"/>
          </a:p>
        </p:txBody>
      </p:sp>
      <p:sp>
        <p:nvSpPr>
          <p:cNvPr id="12" name="Text 9"/>
          <p:cNvSpPr/>
          <p:nvPr/>
        </p:nvSpPr>
        <p:spPr>
          <a:xfrm>
            <a:off x="1739900" y="4107129"/>
            <a:ext cx="431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10</a:t>
            </a:r>
            <a:endParaRPr lang="en-US" sz="1200" dirty="0"/>
          </a:p>
        </p:txBody>
      </p:sp>
      <p:sp>
        <p:nvSpPr>
          <p:cNvPr id="13" name="Text 10"/>
          <p:cNvSpPr/>
          <p:nvPr/>
        </p:nvSpPr>
        <p:spPr>
          <a:xfrm>
            <a:off x="3390900" y="4107129"/>
            <a:ext cx="431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40</a:t>
            </a:r>
            <a:endParaRPr lang="en-US" sz="1200" dirty="0"/>
          </a:p>
        </p:txBody>
      </p:sp>
      <p:sp>
        <p:nvSpPr>
          <p:cNvPr id="14" name="Text 11"/>
          <p:cNvSpPr/>
          <p:nvPr/>
        </p:nvSpPr>
        <p:spPr>
          <a:xfrm>
            <a:off x="5041900" y="4107129"/>
            <a:ext cx="431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70</a:t>
            </a:r>
            <a:endParaRPr lang="en-US" sz="1200" dirty="0"/>
          </a:p>
        </p:txBody>
      </p:sp>
      <p:sp>
        <p:nvSpPr>
          <p:cNvPr id="15" name="Text 12"/>
          <p:cNvSpPr/>
          <p:nvPr/>
        </p:nvSpPr>
        <p:spPr>
          <a:xfrm>
            <a:off x="6692900" y="4107129"/>
            <a:ext cx="431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100</a:t>
            </a:r>
            <a:endParaRPr lang="en-US" sz="1200" dirty="0"/>
          </a:p>
        </p:txBody>
      </p:sp>
      <p:sp>
        <p:nvSpPr>
          <p:cNvPr id="16" name="Text 13"/>
          <p:cNvSpPr/>
          <p:nvPr/>
        </p:nvSpPr>
        <p:spPr>
          <a:xfrm>
            <a:off x="1362075" y="4373829"/>
            <a:ext cx="5886450" cy="256514"/>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asse x</a:t>
            </a:r>
            <a:r>
              <a:rPr lang="en-US" sz="1300" dirty="0">
                <a:solidFill>
                  <a:srgbClr val="14213D"/>
                </a:solidFill>
                <a:latin typeface="IBM Plex Sans" pitchFamily="34" charset="0"/>
                <a:ea typeface="IBM Plex Sans" pitchFamily="34" charset="-122"/>
                <a:cs typeface="IBM Plex Sans" pitchFamily="34" charset="-120"/>
              </a:rPr>
              <a:t> — nodi della rete</a:t>
            </a:r>
            <a:endParaRPr lang="en-US" sz="1300" dirty="0"/>
          </a:p>
        </p:txBody>
      </p:sp>
      <p:sp>
        <p:nvSpPr>
          <p:cNvPr id="17" name="Shape 14"/>
          <p:cNvSpPr/>
          <p:nvPr/>
        </p:nvSpPr>
        <p:spPr>
          <a:xfrm>
            <a:off x="7416800" y="1754519"/>
            <a:ext cx="3962400" cy="1316302"/>
          </a:xfrm>
          <a:prstGeom prst="roundRect">
            <a:avLst>
              <a:gd name="adj" fmla="val 6754"/>
            </a:avLst>
          </a:prstGeom>
          <a:solidFill>
            <a:srgbClr val="EEF1F5"/>
          </a:solidFill>
          <a:ln/>
        </p:spPr>
      </p:sp>
      <p:sp>
        <p:nvSpPr>
          <p:cNvPr id="18" name="Text 15"/>
          <p:cNvSpPr/>
          <p:nvPr/>
        </p:nvSpPr>
        <p:spPr>
          <a:xfrm>
            <a:off x="7581900" y="1894219"/>
            <a:ext cx="3741166" cy="283170"/>
          </a:xfrm>
          <a:prstGeom prst="rect">
            <a:avLst/>
          </a:prstGeom>
          <a:noFill/>
          <a:ln/>
        </p:spPr>
        <p:txBody>
          <a:bodyPr wrap="square" lIns="0" tIns="0" rIns="0" bIns="0" rtlCol="0" anchor="t">
            <a:normAutofit/>
          </a:bodyPr>
          <a:lstStyle/>
          <a:p>
            <a:pPr algn="l" indent="0" marL="0">
              <a:lnSpc>
                <a:spcPts val="2030"/>
              </a:lnSpc>
              <a:buNone/>
            </a:pPr>
            <a:r>
              <a:rPr lang="en-US" sz="1450" b="1" dirty="0">
                <a:solidFill>
                  <a:srgbClr val="C2410C"/>
                </a:solidFill>
                <a:latin typeface="IBM Plex Sans" pitchFamily="34" charset="0"/>
                <a:ea typeface="IBM Plex Sans" pitchFamily="34" charset="-122"/>
                <a:cs typeface="IBM Plex Sans" pitchFamily="34" charset="-120"/>
              </a:rPr>
              <a:t>hardcoded</a:t>
            </a:r>
            <a:endParaRPr lang="en-US" sz="1450" dirty="0"/>
          </a:p>
        </p:txBody>
      </p:sp>
      <p:sp>
        <p:nvSpPr>
          <p:cNvPr id="19" name="Text 16"/>
          <p:cNvSpPr/>
          <p:nvPr/>
        </p:nvSpPr>
        <p:spPr>
          <a:xfrm>
            <a:off x="7581900" y="2202790"/>
            <a:ext cx="3741166"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746 → 1 692 istruzioni</a:t>
            </a:r>
            <a:endParaRPr lang="en-US" sz="1400" dirty="0"/>
          </a:p>
        </p:txBody>
      </p:sp>
      <p:sp>
        <p:nvSpPr>
          <p:cNvPr id="20" name="Text 17"/>
          <p:cNvSpPr/>
          <p:nvPr/>
        </p:nvSpPr>
        <p:spPr>
          <a:xfrm>
            <a:off x="7581900" y="2502495"/>
            <a:ext cx="3741166" cy="454025"/>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Lo switch sul one-hot del nodo è srotolato: un caso per nodo.</a:t>
            </a:r>
            <a:endParaRPr lang="en-US" sz="1250" dirty="0"/>
          </a:p>
        </p:txBody>
      </p:sp>
      <p:sp>
        <p:nvSpPr>
          <p:cNvPr id="21" name="Shape 18"/>
          <p:cNvSpPr/>
          <p:nvPr/>
        </p:nvSpPr>
        <p:spPr>
          <a:xfrm>
            <a:off x="7416800" y="3210520"/>
            <a:ext cx="3962400" cy="1316302"/>
          </a:xfrm>
          <a:prstGeom prst="roundRect">
            <a:avLst>
              <a:gd name="adj" fmla="val 6754"/>
            </a:avLst>
          </a:prstGeom>
          <a:solidFill>
            <a:srgbClr val="EEF1F5"/>
          </a:solidFill>
          <a:ln/>
        </p:spPr>
      </p:sp>
      <p:sp>
        <p:nvSpPr>
          <p:cNvPr id="22" name="Text 19"/>
          <p:cNvSpPr/>
          <p:nvPr/>
        </p:nvSpPr>
        <p:spPr>
          <a:xfrm>
            <a:off x="7581900" y="3350220"/>
            <a:ext cx="3741166" cy="283170"/>
          </a:xfrm>
          <a:prstGeom prst="rect">
            <a:avLst/>
          </a:prstGeom>
          <a:noFill/>
          <a:ln/>
        </p:spPr>
        <p:txBody>
          <a:bodyPr wrap="square" lIns="0" tIns="0" rIns="0" bIns="0" rtlCol="0" anchor="t">
            <a:normAutofit/>
          </a:bodyPr>
          <a:lstStyle/>
          <a:p>
            <a:pPr algn="l" indent="0" marL="0">
              <a:lnSpc>
                <a:spcPts val="2030"/>
              </a:lnSpc>
              <a:buNone/>
            </a:pPr>
            <a:r>
              <a:rPr lang="en-US" sz="1450" b="1" dirty="0">
                <a:solidFill>
                  <a:srgbClr val="2E7D52"/>
                </a:solidFill>
                <a:latin typeface="IBM Plex Sans" pitchFamily="34" charset="0"/>
                <a:ea typeface="IBM Plex Sans" pitchFamily="34" charset="-122"/>
                <a:cs typeface="IBM Plex Sans" pitchFamily="34" charset="-120"/>
              </a:rPr>
              <a:t>p1_static</a:t>
            </a:r>
            <a:endParaRPr lang="en-US" sz="1450" dirty="0"/>
          </a:p>
        </p:txBody>
      </p:sp>
      <p:sp>
        <p:nvSpPr>
          <p:cNvPr id="23" name="Text 20"/>
          <p:cNvSpPr/>
          <p:nvPr/>
        </p:nvSpPr>
        <p:spPr>
          <a:xfrm>
            <a:off x="7581900" y="3658791"/>
            <a:ext cx="3741166"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611 – 640 istruzioni</a:t>
            </a:r>
            <a:endParaRPr lang="en-US" sz="1400" dirty="0"/>
          </a:p>
        </p:txBody>
      </p:sp>
      <p:sp>
        <p:nvSpPr>
          <p:cNvPr id="24" name="Text 21"/>
          <p:cNvSpPr/>
          <p:nvPr/>
        </p:nvSpPr>
        <p:spPr>
          <a:xfrm>
            <a:off x="7581900" y="3958499"/>
            <a:ext cx="3741166" cy="454025"/>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Il nodo è noto a compile time: un caso solo, a ogni taglia.</a:t>
            </a:r>
            <a:endParaRPr lang="en-US" sz="1250" dirty="0"/>
          </a:p>
        </p:txBody>
      </p:sp>
      <p:sp>
        <p:nvSpPr>
          <p:cNvPr id="25" name="Text 22"/>
          <p:cNvSpPr/>
          <p:nvPr/>
        </p:nvSpPr>
        <p:spPr>
          <a:xfrm>
            <a:off x="812800" y="6238280"/>
            <a:ext cx="951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Gli altri cinque assi — profondità, larghezza, sparsità, iso-parametri, descrittore — sono nello stesso sweep: 13 figure · bench_scaling.py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800" y="812800"/>
            <a:ext cx="10883392" cy="208822"/>
          </a:xfrm>
          <a:prstGeom prst="rect">
            <a:avLst/>
          </a:prstGeom>
          <a:noFill/>
          <a:ln/>
        </p:spPr>
        <p:txBody>
          <a:bodyPr wrap="square" lIns="0" tIns="0" rIns="0" bIns="0" rtlCol="0" anchor="t">
            <a:normAutofit/>
          </a:bodyPr>
          <a:lstStyle/>
          <a:p>
            <a:pPr algn="l" indent="0" marL="0">
              <a:lnSpc>
                <a:spcPts val="1473"/>
              </a:lnSpc>
              <a:buNone/>
            </a:pPr>
            <a:r>
              <a:rPr lang="en-US" sz="1052" spc="100" kern="0" dirty="0">
                <a:solidFill>
                  <a:srgbClr val="C2410C"/>
                </a:solidFill>
                <a:latin typeface="JetBrains Mono" pitchFamily="34" charset="0"/>
                <a:ea typeface="JetBrains Mono" pitchFamily="34" charset="-122"/>
                <a:cs typeface="JetBrains Mono" pitchFamily="34" charset="-120"/>
              </a:rPr>
              <a:t>LARGA CONTRO PROFONDA</a:t>
            </a:r>
            <a:endParaRPr lang="en-US" sz="1052" dirty="0"/>
          </a:p>
        </p:txBody>
      </p:sp>
      <p:sp>
        <p:nvSpPr>
          <p:cNvPr id="3" name="Text 1"/>
          <p:cNvSpPr/>
          <p:nvPr/>
        </p:nvSpPr>
        <p:spPr>
          <a:xfrm>
            <a:off x="812800" y="1059724"/>
            <a:ext cx="10883392" cy="358180"/>
          </a:xfrm>
          <a:prstGeom prst="rect">
            <a:avLst/>
          </a:prstGeom>
          <a:noFill/>
          <a:ln/>
        </p:spPr>
        <p:txBody>
          <a:bodyPr wrap="square" lIns="0" tIns="0" rIns="0" bIns="0" rtlCol="0" anchor="t">
            <a:normAutofit/>
          </a:bodyPr>
          <a:lstStyle/>
          <a:p>
            <a:pPr algn="l" indent="0" marL="0">
              <a:lnSpc>
                <a:spcPts val="2619"/>
              </a:lnSpc>
              <a:buNone/>
            </a:pPr>
            <a:r>
              <a:rPr lang="en-US" sz="2381" b="1" dirty="0">
                <a:solidFill>
                  <a:srgbClr val="14213D"/>
                </a:solidFill>
                <a:latin typeface="IBM Plex Sans" pitchFamily="34" charset="0"/>
                <a:ea typeface="IBM Plex Sans" pitchFamily="34" charset="-122"/>
                <a:cs typeface="IBM Plex Sans" pitchFamily="34" charset="-120"/>
              </a:rPr>
              <a:t>A parametri fermi, la profondità costa</a:t>
            </a:r>
            <a:endParaRPr lang="en-US" sz="2381" dirty="0"/>
          </a:p>
        </p:txBody>
      </p:sp>
      <p:sp>
        <p:nvSpPr>
          <p:cNvPr id="4" name="Shape 2"/>
          <p:cNvSpPr/>
          <p:nvPr/>
        </p:nvSpPr>
        <p:spPr>
          <a:xfrm>
            <a:off x="815975" y="1560779"/>
            <a:ext cx="10560050" cy="1612437"/>
          </a:xfrm>
          <a:prstGeom prst="roundRect">
            <a:avLst>
              <a:gd name="adj" fmla="val 6104"/>
            </a:avLst>
          </a:prstGeom>
          <a:solidFill>
            <a:srgbClr val="FBFBF8"/>
          </a:solidFill>
          <a:ln w="6350">
            <a:solidFill>
              <a:srgbClr val="D7DEE7"/>
            </a:solidFill>
            <a:prstDash val="solid"/>
          </a:ln>
        </p:spPr>
      </p:sp>
      <p:sp>
        <p:nvSpPr>
          <p:cNvPr id="5" name="Text 3"/>
          <p:cNvSpPr/>
          <p:nvPr/>
        </p:nvSpPr>
        <p:spPr>
          <a:xfrm>
            <a:off x="3546012" y="1726936"/>
            <a:ext cx="5252907" cy="215503"/>
          </a:xfrm>
          <a:prstGeom prst="rect">
            <a:avLst/>
          </a:prstGeom>
          <a:noFill/>
          <a:ln/>
        </p:spPr>
        <p:txBody>
          <a:bodyPr wrap="square" lIns="0" tIns="0" rIns="0" bIns="0" rtlCol="0" anchor="t">
            <a:normAutofit/>
          </a:bodyPr>
          <a:lstStyle/>
          <a:p>
            <a:pPr algn="l" indent="0" marL="0">
              <a:lnSpc>
                <a:spcPts val="1524"/>
              </a:lnSpc>
              <a:buNone/>
            </a:pPr>
            <a:r>
              <a:rPr lang="en-US" sz="1088" dirty="0">
                <a:solidFill>
                  <a:srgbClr val="4A5568"/>
                </a:solidFill>
                <a:latin typeface="IBM Plex Sans" pitchFamily="34" charset="0"/>
                <a:ea typeface="IBM Plex Sans" pitchFamily="34" charset="-122"/>
                <a:cs typeface="IBM Plex Sans" pitchFamily="34" charset="-120"/>
              </a:rPr>
              <a:t>Il confronto è a </a:t>
            </a:r>
            <a:r>
              <a:rPr lang="en-US" sz="1088" b="1" dirty="0">
                <a:solidFill>
                  <a:srgbClr val="4A5568"/>
                </a:solidFill>
                <a:latin typeface="IBM Plex Sans" pitchFamily="34" charset="0"/>
                <a:ea typeface="IBM Plex Sans" pitchFamily="34" charset="-122"/>
                <a:cs typeface="IBM Plex Sans" pitchFamily="34" charset="-120"/>
              </a:rPr>
              <a:t>iso-parametri</a:t>
            </a:r>
            <a:r>
              <a:rPr lang="en-US" sz="1088" dirty="0">
                <a:solidFill>
                  <a:srgbClr val="4A5568"/>
                </a:solidFill>
                <a:latin typeface="IBM Plex Sans" pitchFamily="34" charset="0"/>
                <a:ea typeface="IBM Plex Sans" pitchFamily="34" charset="-122"/>
                <a:cs typeface="IBM Plex Sans" pitchFamily="34" charset="-120"/>
              </a:rPr>
              <a:t>: si tiene fermo il numero di pesi e si sposta la forma.</a:t>
            </a:r>
            <a:endParaRPr lang="en-US" sz="1088" dirty="0"/>
          </a:p>
        </p:txBody>
      </p:sp>
      <p:pic>
        <p:nvPicPr>
          <p:cNvPr id="6" name="Image 0" descr="P uguale la sommatoria da elle uguale 1 a L di n elle meno uno per n elle piu' n elle, tenuto costante">    </p:cNvPr>
          <p:cNvPicPr>
            <a:picLocks noChangeAspect="1"/>
          </p:cNvPicPr>
          <p:nvPr/>
        </p:nvPicPr>
        <p:blipFill>
          <a:blip r:embed="rId1"/>
          <a:srcRect l="-13037" r="-13037" t="0" b="0"/>
          <a:stretch/>
        </p:blipFill>
        <p:spPr>
          <a:xfrm>
            <a:off x="2349500" y="1993240"/>
            <a:ext cx="7493000" cy="754526"/>
          </a:xfrm>
          <a:prstGeom prst="rect">
            <a:avLst/>
          </a:prstGeom>
        </p:spPr>
      </p:pic>
      <p:sp>
        <p:nvSpPr>
          <p:cNvPr id="7" name="Text 4"/>
          <p:cNvSpPr/>
          <p:nvPr/>
        </p:nvSpPr>
        <p:spPr>
          <a:xfrm>
            <a:off x="3962598" y="2823964"/>
            <a:ext cx="1668396" cy="20849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4A5568"/>
                </a:solidFill>
                <a:latin typeface="IBM Plex Sans" pitchFamily="34" charset="0"/>
                <a:ea typeface="IBM Plex Sans" pitchFamily="34" charset="-122"/>
                <a:cs typeface="IBM Plex Sans" pitchFamily="34" charset="-120"/>
              </a:rPr>
              <a:t>larga</a:t>
            </a:r>
            <a:r>
              <a:rPr lang="en-US" sz="1300" dirty="0">
                <a:solidFill>
                  <a:srgbClr val="4A5568"/>
                </a:solidFill>
                <a:latin typeface="IBM Plex Sans" pitchFamily="34" charset="0"/>
                <a:ea typeface="IBM Plex Sans" pitchFamily="34" charset="-122"/>
                <a:cs typeface="IBM Plex Sans" pitchFamily="34" charset="-120"/>
              </a:rPr>
              <a:t>: n₁ grande, L = 2</a:t>
            </a:r>
            <a:endParaRPr lang="en-US" sz="1300" dirty="0"/>
          </a:p>
        </p:txBody>
      </p:sp>
      <p:sp>
        <p:nvSpPr>
          <p:cNvPr id="8" name="Text 5"/>
          <p:cNvSpPr/>
          <p:nvPr/>
        </p:nvSpPr>
        <p:spPr>
          <a:xfrm>
            <a:off x="5986595" y="2823964"/>
            <a:ext cx="2310023" cy="20849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4A5568"/>
                </a:solidFill>
                <a:latin typeface="IBM Plex Sans" pitchFamily="34" charset="0"/>
                <a:ea typeface="IBM Plex Sans" pitchFamily="34" charset="-122"/>
                <a:cs typeface="IBM Plex Sans" pitchFamily="34" charset="-120"/>
              </a:rPr>
              <a:t>profonda</a:t>
            </a:r>
            <a:r>
              <a:rPr lang="en-US" sz="1300" dirty="0">
                <a:solidFill>
                  <a:srgbClr val="4A5568"/>
                </a:solidFill>
                <a:latin typeface="IBM Plex Sans" pitchFamily="34" charset="0"/>
                <a:ea typeface="IBM Plex Sans" pitchFamily="34" charset="-122"/>
                <a:cs typeface="IBM Plex Sans" pitchFamily="34" charset="-120"/>
              </a:rPr>
              <a:t>: nℓ piccolo, L grande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12800" y="3341489"/>
          <a:ext cx="10566400" cy="1676334"/>
        </p:xfrm>
        <a:graphic>
          <a:graphicData uri="http://schemas.openxmlformats.org/drawingml/2006/table">
            <a:tbl>
              <a:tblPr/>
              <a:tblGrid>
                <a:gridCol w="3169920"/>
                <a:gridCol w="2324608"/>
                <a:gridCol w="2324608"/>
                <a:gridCol w="2747264"/>
              </a:tblGrid>
              <a:tr h="335227">
                <a:tc>
                  <a:txBody>
                    <a:bodyPr/>
                    <a:lstStyle/>
                    <a:p>
                      <a:pPr indent="0" marL="0">
                        <a:lnSpc>
                          <a:spcPts val="1693"/>
                        </a:lnSpc>
                        <a:buNone/>
                      </a:pPr>
                      <a:r>
                        <a:rPr lang="en-US" sz="1209" b="1" dirty="0">
                          <a:solidFill>
                            <a:srgbClr val="FBFBF8"/>
                          </a:solidFill>
                          <a:latin typeface="IBM Plex Sans" pitchFamily="34" charset="0"/>
                          <a:ea typeface="IBM Plex Sans" pitchFamily="34" charset="-122"/>
                          <a:cs typeface="IBM Plex Sans" pitchFamily="34" charset="-120"/>
                        </a:rPr>
                        <a:t>Metrica</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1693"/>
                        </a:lnSpc>
                        <a:buNone/>
                      </a:pPr>
                      <a:r>
                        <a:rPr lang="en-US" sz="1209" b="1" dirty="0">
                          <a:solidFill>
                            <a:srgbClr val="FBFBF8"/>
                          </a:solidFill>
                          <a:latin typeface="IBM Plex Sans" pitchFamily="34" charset="0"/>
                          <a:ea typeface="IBM Plex Sans" pitchFamily="34" charset="-122"/>
                          <a:cs typeface="IBM Plex Sans" pitchFamily="34" charset="-120"/>
                        </a:rPr>
                        <a:t>P2 template</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1693"/>
                        </a:lnSpc>
                        <a:buNone/>
                      </a:pPr>
                      <a:r>
                        <a:rPr lang="en-US" sz="1209" b="1" dirty="0">
                          <a:solidFill>
                            <a:srgbClr val="FBFBF8"/>
                          </a:solidFill>
                          <a:latin typeface="IBM Plex Sans" pitchFamily="34" charset="0"/>
                          <a:ea typeface="IBM Plex Sans" pitchFamily="34" charset="-122"/>
                          <a:cs typeface="IBM Plex Sans" pitchFamily="34" charset="-120"/>
                        </a:rPr>
                        <a:t>P3 modular</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1693"/>
                        </a:lnSpc>
                        <a:buNone/>
                      </a:pPr>
                      <a:r>
                        <a:rPr lang="en-US" sz="1209" b="1" dirty="0">
                          <a:solidFill>
                            <a:srgbClr val="FBFBF8"/>
                          </a:solidFill>
                          <a:latin typeface="IBM Plex Sans" pitchFamily="34" charset="0"/>
                          <a:ea typeface="IBM Plex Sans" pitchFamily="34" charset="-122"/>
                          <a:cs typeface="IBM Plex Sans" pitchFamily="34" charset="-120"/>
                        </a:rPr>
                        <a:t>Differenza</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r>
              <a:tr h="335227">
                <a:tc>
                  <a:txBody>
                    <a:bodyPr/>
                    <a:lstStyle/>
                    <a:p>
                      <a:pP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Istruzioni eBPF</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14 628</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12 031</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93"/>
                        </a:lnSpc>
                        <a:buNone/>
                      </a:pPr>
                      <a:r>
                        <a:rPr lang="en-US" sz="1209" dirty="0">
                          <a:solidFill>
                            <a:srgbClr val="2E7D52"/>
                          </a:solidFill>
                          <a:latin typeface="IBM Plex Sans" pitchFamily="34" charset="0"/>
                          <a:ea typeface="IBM Plex Sans" pitchFamily="34" charset="-122"/>
                          <a:cs typeface="IBM Plex Sans" pitchFamily="34" charset="-120"/>
                        </a:rPr>
                        <a:t>−18 %</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35293">
                <a:tc>
                  <a:txBody>
                    <a:bodyPr/>
                    <a:lstStyle/>
                    <a:p>
                      <a:pP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Latenza</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249 ns</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436 ns</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93"/>
                        </a:lnSpc>
                        <a:buNone/>
                      </a:pPr>
                      <a:r>
                        <a:rPr lang="en-US" sz="1209" dirty="0">
                          <a:solidFill>
                            <a:srgbClr val="C2410C"/>
                          </a:solidFill>
                          <a:latin typeface="IBM Plex Sans" pitchFamily="34" charset="0"/>
                          <a:ea typeface="IBM Plex Sans" pitchFamily="34" charset="-122"/>
                          <a:cs typeface="IBM Plex Sans" pitchFamily="34" charset="-120"/>
                        </a:rPr>
                        <a:t>+61 %</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r h="335293">
                <a:tc>
                  <a:txBody>
                    <a:bodyPr/>
                    <a:lstStyle/>
                    <a:p>
                      <a:pP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Tail call / pacchetto</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1</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3</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 3</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35293">
                <a:tc>
                  <a:txBody>
                    <a:bodyPr/>
                    <a:lstStyle/>
                    <a:p>
                      <a:pP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Map lookup / pacchetto</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11</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29</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 2,6</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bl>
          </a:graphicData>
        </a:graphic>
      </p:graphicFrame>
      <p:sp>
        <p:nvSpPr>
          <p:cNvPr id="10" name="Text 6"/>
          <p:cNvSpPr/>
          <p:nvPr/>
        </p:nvSpPr>
        <p:spPr>
          <a:xfrm>
            <a:off x="812800" y="5424224"/>
            <a:ext cx="10203180" cy="443177"/>
          </a:xfrm>
          <a:prstGeom prst="rect">
            <a:avLst/>
          </a:prstGeom>
          <a:noFill/>
          <a:ln/>
        </p:spPr>
        <p:txBody>
          <a:bodyPr wrap="square" lIns="0" tIns="0" rIns="0" bIns="0" rtlCol="0" anchor="t">
            <a:normAutofit/>
          </a:bodyPr>
          <a:lstStyle/>
          <a:p>
            <a:pPr algn="l" indent="0" marL="0">
              <a:lnSpc>
                <a:spcPts val="1658"/>
              </a:lnSpc>
              <a:buNone/>
            </a:pPr>
            <a:r>
              <a:rPr lang="en-US" sz="1228" b="1" dirty="0">
                <a:solidFill>
                  <a:srgbClr val="14213D"/>
                </a:solidFill>
                <a:latin typeface="IBM Plex Sans" pitchFamily="34" charset="0"/>
                <a:ea typeface="IBM Plex Sans" pitchFamily="34" charset="-122"/>
                <a:cs typeface="IBM Plex Sans" pitchFamily="34" charset="-120"/>
              </a:rPr>
              <a:t>Meno istruzioni e più lenta.</a:t>
            </a:r>
            <a:r>
              <a:rPr lang="en-US" sz="1228" dirty="0">
                <a:solidFill>
                  <a:srgbClr val="14213D"/>
                </a:solidFill>
                <a:latin typeface="IBM Plex Sans" pitchFamily="34" charset="0"/>
                <a:ea typeface="IBM Plex Sans" pitchFamily="34" charset="-122"/>
                <a:cs typeface="IBM Plex Sans" pitchFamily="34" charset="-120"/>
              </a:rPr>
              <a:t> Il conteggio istruzioni non è una misura di costo: è la dimensione statica del programma, non il lavoro per pacchetto.</a:t>
            </a:r>
            <a:endParaRPr lang="en-US" sz="1228" dirty="0"/>
          </a:p>
        </p:txBody>
      </p:sp>
      <p:sp>
        <p:nvSpPr>
          <p:cNvPr id="11" name="Text 7"/>
          <p:cNvSpPr/>
          <p:nvPr/>
        </p:nvSpPr>
        <p:spPr>
          <a:xfrm>
            <a:off x="812800" y="6238280"/>
            <a:ext cx="509784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bench_depth_vs_width.py · schede D1–D3 del registro degli esperimenti</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13D"/>
                </a:solidFill>
                <a:latin typeface="IBM Plex Sans" pitchFamily="34" charset="0"/>
                <a:ea typeface="IBM Plex Sans" pitchFamily="34" charset="-122"/>
                <a:cs typeface="IBM Plex Sans" pitchFamily="34" charset="-120"/>
              </a:rPr>
              <a:t>Perché la profondità costa, quando costa</a:t>
            </a:r>
            <a:endParaRPr lang="en-US" sz="3000" dirty="0"/>
          </a:p>
        </p:txBody>
      </p:sp>
      <p:sp>
        <p:nvSpPr>
          <p:cNvPr id="3" name="Text 1"/>
          <p:cNvSpPr/>
          <p:nvPr/>
        </p:nvSpPr>
        <p:spPr>
          <a:xfrm>
            <a:off x="812800" y="1409700"/>
            <a:ext cx="10203180" cy="540941"/>
          </a:xfrm>
          <a:prstGeom prst="rect">
            <a:avLst/>
          </a:prstGeom>
          <a:noFill/>
          <a:ln/>
        </p:spPr>
        <p:txBody>
          <a:bodyPr wrap="square" lIns="0" tIns="0" rIns="0" bIns="0" rtlCol="0" anchor="t">
            <a:normAutofit/>
          </a:bodyPr>
          <a:lstStyle/>
          <a:p>
            <a:pPr algn="l" indent="0" marL="0">
              <a:lnSpc>
                <a:spcPts val="2030"/>
              </a:lnSpc>
              <a:buNone/>
            </a:pPr>
            <a:r>
              <a:rPr lang="en-US" sz="1450" dirty="0">
                <a:solidFill>
                  <a:srgbClr val="4A5568"/>
                </a:solidFill>
                <a:latin typeface="IBM Plex Sans" pitchFamily="34" charset="0"/>
                <a:ea typeface="IBM Plex Sans" pitchFamily="34" charset="-122"/>
                <a:cs typeface="IBM Plex Sans" pitchFamily="34" charset="-120"/>
              </a:rPr>
              <a:t>In una pipeline modulare ogni strato è un programma separato. La larghezza si paga </a:t>
            </a:r>
            <a:r>
              <a:rPr lang="en-US" sz="1450" b="1" dirty="0">
                <a:solidFill>
                  <a:srgbClr val="4A5568"/>
                </a:solidFill>
                <a:latin typeface="IBM Plex Sans" pitchFamily="34" charset="0"/>
                <a:ea typeface="IBM Plex Sans" pitchFamily="34" charset="-122"/>
                <a:cs typeface="IBM Plex Sans" pitchFamily="34" charset="-120"/>
              </a:rPr>
              <a:t>dentro</a:t>
            </a:r>
            <a:r>
              <a:rPr lang="en-US" sz="1450" dirty="0">
                <a:solidFill>
                  <a:srgbClr val="4A5568"/>
                </a:solidFill>
                <a:latin typeface="IBM Plex Sans" pitchFamily="34" charset="0"/>
                <a:ea typeface="IBM Plex Sans" pitchFamily="34" charset="-122"/>
                <a:cs typeface="IBM Plex Sans" pitchFamily="34" charset="-120"/>
              </a:rPr>
              <a:t> un ciclo srotolato; la profondità si paga </a:t>
            </a:r>
            <a:r>
              <a:rPr lang="en-US" sz="1450" b="1" dirty="0">
                <a:solidFill>
                  <a:srgbClr val="4A5568"/>
                </a:solidFill>
                <a:latin typeface="IBM Plex Sans" pitchFamily="34" charset="0"/>
                <a:ea typeface="IBM Plex Sans" pitchFamily="34" charset="-122"/>
                <a:cs typeface="IBM Plex Sans" pitchFamily="34" charset="-120"/>
              </a:rPr>
              <a:t>fra</a:t>
            </a:r>
            <a:r>
              <a:rPr lang="en-US" sz="1450" dirty="0">
                <a:solidFill>
                  <a:srgbClr val="4A5568"/>
                </a:solidFill>
                <a:latin typeface="IBM Plex Sans" pitchFamily="34" charset="0"/>
                <a:ea typeface="IBM Plex Sans" pitchFamily="34" charset="-122"/>
                <a:cs typeface="IBM Plex Sans" pitchFamily="34" charset="-120"/>
              </a:rPr>
              <a:t> i programmi, e quel costo non si ammortizza.</a:t>
            </a:r>
            <a:endParaRPr lang="en-US" sz="1450" dirty="0"/>
          </a:p>
        </p:txBody>
      </p:sp>
      <p:sp>
        <p:nvSpPr>
          <p:cNvPr id="4" name="Shape 2"/>
          <p:cNvSpPr/>
          <p:nvPr/>
        </p:nvSpPr>
        <p:spPr>
          <a:xfrm>
            <a:off x="812800" y="2103041"/>
            <a:ext cx="10566400" cy="1902354"/>
          </a:xfrm>
          <a:prstGeom prst="roundRect">
            <a:avLst>
              <a:gd name="adj" fmla="val 5341"/>
            </a:avLst>
          </a:prstGeom>
          <a:solidFill>
            <a:srgbClr val="14213D"/>
          </a:solidFill>
          <a:ln/>
        </p:spPr>
      </p:sp>
      <p:pic>
        <p:nvPicPr>
          <p:cNvPr id="5" name="Image 0" descr="t approssimativamente uguale a L per la somma di t tail call piu' k per t lookup, piu' la sommatoria su elle di n elle meno uno per n elle per t mac">    </p:cNvPr>
          <p:cNvPicPr>
            <a:picLocks noChangeAspect="1"/>
          </p:cNvPicPr>
          <p:nvPr/>
        </p:nvPicPr>
        <p:blipFill>
          <a:blip r:embed="rId1"/>
          <a:srcRect l="0" r="0" t="-98" b="-98"/>
          <a:stretch/>
        </p:blipFill>
        <p:spPr>
          <a:xfrm>
            <a:off x="1651000" y="2293541"/>
            <a:ext cx="8890000" cy="952500"/>
          </a:xfrm>
          <a:prstGeom prst="rect">
            <a:avLst/>
          </a:prstGeom>
        </p:spPr>
      </p:pic>
      <p:sp>
        <p:nvSpPr>
          <p:cNvPr id="6" name="Text 3"/>
          <p:cNvSpPr/>
          <p:nvPr/>
        </p:nvSpPr>
        <p:spPr>
          <a:xfrm>
            <a:off x="1844675" y="3334941"/>
            <a:ext cx="8502650" cy="505354"/>
          </a:xfrm>
          <a:prstGeom prst="rect">
            <a:avLst/>
          </a:prstGeom>
          <a:noFill/>
          <a:ln/>
        </p:spPr>
        <p:txBody>
          <a:bodyPr wrap="square" lIns="0" tIns="0" rIns="0" bIns="0" rtlCol="0" anchor="t">
            <a:normAutofit/>
          </a:bodyPr>
          <a:lstStyle/>
          <a:p>
            <a:pPr algn="ctr" indent="0" marL="0">
              <a:lnSpc>
                <a:spcPts val="1890"/>
              </a:lnSpc>
              <a:buNone/>
            </a:pPr>
            <a:r>
              <a:rPr lang="en-US" sz="1350" dirty="0">
                <a:solidFill>
                  <a:srgbClr val="BFD8D5"/>
                </a:solidFill>
                <a:latin typeface="IBM Plex Sans" pitchFamily="34" charset="0"/>
                <a:ea typeface="IBM Plex Sans" pitchFamily="34" charset="-122"/>
                <a:cs typeface="IBM Plex Sans" pitchFamily="34" charset="-120"/>
              </a:rPr>
              <a:t>Allargare fa crescere solo il termine verde, che è aritmetica in registro. Approfondire fa crescere quello arancione, dove </a:t>
            </a:r>
            <a:r>
              <a:rPr lang="en-US" sz="1350" i="1" dirty="0">
                <a:solidFill>
                  <a:srgbClr val="BFD8D5"/>
                </a:solidFill>
                <a:latin typeface="IBM Plex Sans" pitchFamily="34" charset="0"/>
                <a:ea typeface="IBM Plex Sans" pitchFamily="34" charset="-122"/>
                <a:cs typeface="IBM Plex Sans" pitchFamily="34" charset="-120"/>
              </a:rPr>
              <a:t>L</a:t>
            </a:r>
            <a:r>
              <a:rPr lang="en-US" sz="1350" dirty="0">
                <a:solidFill>
                  <a:srgbClr val="BFD8D5"/>
                </a:solidFill>
                <a:latin typeface="IBM Plex Sans" pitchFamily="34" charset="0"/>
                <a:ea typeface="IBM Plex Sans" pitchFamily="34" charset="-122"/>
                <a:cs typeface="IBM Plex Sans" pitchFamily="34" charset="-120"/>
              </a:rPr>
              <a:t> moltiplica un salto più un gruppo di letture di mappa.</a:t>
            </a:r>
            <a:endParaRPr lang="en-US" sz="1350" dirty="0"/>
          </a:p>
        </p:txBody>
      </p:sp>
      <p:sp>
        <p:nvSpPr>
          <p:cNvPr id="7" name="Shape 4"/>
          <p:cNvSpPr/>
          <p:nvPr/>
        </p:nvSpPr>
        <p:spPr>
          <a:xfrm>
            <a:off x="812800" y="4183199"/>
            <a:ext cx="5181600" cy="1607608"/>
          </a:xfrm>
          <a:prstGeom prst="roundRect">
            <a:avLst>
              <a:gd name="adj" fmla="val 6320"/>
            </a:avLst>
          </a:prstGeom>
          <a:solidFill>
            <a:srgbClr val="EEF1F5"/>
          </a:solidFill>
          <a:ln/>
        </p:spPr>
      </p:sp>
      <p:sp>
        <p:nvSpPr>
          <p:cNvPr id="8" name="Text 5"/>
          <p:cNvSpPr/>
          <p:nvPr/>
        </p:nvSpPr>
        <p:spPr>
          <a:xfrm>
            <a:off x="1016000" y="4360999"/>
            <a:ext cx="491845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C2410C"/>
                </a:solidFill>
                <a:latin typeface="IBM Plex Sans" pitchFamily="34" charset="0"/>
                <a:ea typeface="IBM Plex Sans" pitchFamily="34" charset="-122"/>
                <a:cs typeface="IBM Plex Sans" pitchFamily="34" charset="-120"/>
              </a:rPr>
              <a:t>Il limite non è la dimensione</a:t>
            </a:r>
            <a:endParaRPr lang="en-US" sz="1500" dirty="0"/>
          </a:p>
        </p:txBody>
      </p:sp>
      <p:sp>
        <p:nvSpPr>
          <p:cNvPr id="9" name="Text 6"/>
          <p:cNvSpPr/>
          <p:nvPr/>
        </p:nvSpPr>
        <p:spPr>
          <a:xfrm>
            <a:off x="1016000" y="4653099"/>
            <a:ext cx="4918456" cy="985308"/>
          </a:xfrm>
          <a:prstGeom prst="rect">
            <a:avLst/>
          </a:prstGeom>
          <a:noFill/>
          <a:ln/>
        </p:spPr>
        <p:txBody>
          <a:bodyPr wrap="square" lIns="0" tIns="0" rIns="0" bIns="0" rtlCol="0" anchor="t">
            <a:normAutofit/>
          </a:bodyPr>
          <a:lstStyle/>
          <a:p>
            <a:pPr algn="l" indent="0" marL="0">
              <a:lnSpc>
                <a:spcPts val="1890"/>
              </a:lnSpc>
              <a:buNone/>
            </a:pPr>
            <a:r>
              <a:rPr lang="en-US" sz="1350" dirty="0">
                <a:solidFill>
                  <a:srgbClr val="4A5568"/>
                </a:solidFill>
                <a:latin typeface="IBM Plex Sans" pitchFamily="34" charset="0"/>
                <a:ea typeface="IBM Plex Sans" pitchFamily="34" charset="-122"/>
                <a:cs typeface="IBM Plex Sans" pitchFamily="34" charset="-120"/>
              </a:rPr>
              <a:t>P2 con soffitti larghi non si carica: </a:t>
            </a:r>
            <a:r>
              <a:rPr lang="en-US" sz="1350" b="1" dirty="0">
                <a:solidFill>
                  <a:srgbClr val="4A5568"/>
                </a:solidFill>
                <a:latin typeface="IBM Plex Sans" pitchFamily="34" charset="0"/>
                <a:ea typeface="IBM Plex Sans" pitchFamily="34" charset="-122"/>
                <a:cs typeface="IBM Plex Sans" pitchFamily="34" charset="-120"/>
              </a:rPr>
              <a:t>1 000 001 istruzioni processate</a:t>
            </a:r>
            <a:r>
              <a:rPr lang="en-US" sz="1350" dirty="0">
                <a:solidFill>
                  <a:srgbClr val="4A5568"/>
                </a:solidFill>
                <a:latin typeface="IBM Plex Sans" pitchFamily="34" charset="0"/>
                <a:ea typeface="IBM Plex Sans" pitchFamily="34" charset="-122"/>
                <a:cs typeface="IBM Plex Sans" pitchFamily="34" charset="-120"/>
              </a:rPr>
              <a:t> contro un limite di 1 000 000. Il programma sta dentro il cap di dimensione; a finire è la </a:t>
            </a:r>
            <a:r>
              <a:rPr lang="en-US" sz="1350" b="1" dirty="0">
                <a:solidFill>
                  <a:srgbClr val="4A5568"/>
                </a:solidFill>
                <a:latin typeface="IBM Plex Sans" pitchFamily="34" charset="0"/>
                <a:ea typeface="IBM Plex Sans" pitchFamily="34" charset="-122"/>
                <a:cs typeface="IBM Plex Sans" pitchFamily="34" charset="-120"/>
              </a:rPr>
              <a:t>complessità di verifica</a:t>
            </a:r>
            <a:r>
              <a:rPr lang="en-US" sz="1350" dirty="0">
                <a:solidFill>
                  <a:srgbClr val="4A5568"/>
                </a:solidFill>
                <a:latin typeface="IBM Plex Sans" pitchFamily="34" charset="0"/>
                <a:ea typeface="IBM Plex Sans" pitchFamily="34" charset="-122"/>
                <a:cs typeface="IBM Plex Sans" pitchFamily="34" charset="-120"/>
              </a:rPr>
              <a:t>.</a:t>
            </a:r>
            <a:endParaRPr lang="en-US" sz="1350" dirty="0"/>
          </a:p>
        </p:txBody>
      </p:sp>
      <p:sp>
        <p:nvSpPr>
          <p:cNvPr id="10" name="Shape 7"/>
          <p:cNvSpPr/>
          <p:nvPr/>
        </p:nvSpPr>
        <p:spPr>
          <a:xfrm>
            <a:off x="6197600" y="4183199"/>
            <a:ext cx="5181600" cy="1607608"/>
          </a:xfrm>
          <a:prstGeom prst="roundRect">
            <a:avLst>
              <a:gd name="adj" fmla="val 6320"/>
            </a:avLst>
          </a:prstGeom>
          <a:solidFill>
            <a:srgbClr val="EEF1F5"/>
          </a:solidFill>
          <a:ln/>
        </p:spPr>
      </p:sp>
      <p:sp>
        <p:nvSpPr>
          <p:cNvPr id="11" name="Text 8"/>
          <p:cNvSpPr/>
          <p:nvPr/>
        </p:nvSpPr>
        <p:spPr>
          <a:xfrm>
            <a:off x="6400800" y="4360999"/>
            <a:ext cx="491845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C2410C"/>
                </a:solidFill>
                <a:latin typeface="IBM Plex Sans" pitchFamily="34" charset="0"/>
                <a:ea typeface="IBM Plex Sans" pitchFamily="34" charset="-122"/>
                <a:cs typeface="IBM Plex Sans" pitchFamily="34" charset="-120"/>
              </a:rPr>
              <a:t>Due valute diverse</a:t>
            </a:r>
            <a:endParaRPr lang="en-US" sz="1500" dirty="0"/>
          </a:p>
        </p:txBody>
      </p:sp>
      <p:sp>
        <p:nvSpPr>
          <p:cNvPr id="12" name="Text 9"/>
          <p:cNvSpPr/>
          <p:nvPr/>
        </p:nvSpPr>
        <p:spPr>
          <a:xfrm>
            <a:off x="6400800" y="4653099"/>
            <a:ext cx="4918456" cy="505354"/>
          </a:xfrm>
          <a:prstGeom prst="rect">
            <a:avLst/>
          </a:prstGeom>
          <a:noFill/>
          <a:ln/>
        </p:spPr>
        <p:txBody>
          <a:bodyPr wrap="square" lIns="0" tIns="0" rIns="0" bIns="0" rtlCol="0" anchor="t">
            <a:normAutofit/>
          </a:bodyPr>
          <a:lstStyle/>
          <a:p>
            <a:pPr algn="l" indent="0" marL="0">
              <a:lnSpc>
                <a:spcPts val="1890"/>
              </a:lnSpc>
              <a:buNone/>
            </a:pPr>
            <a:r>
              <a:rPr lang="en-US" sz="1350" dirty="0">
                <a:solidFill>
                  <a:srgbClr val="4A5568"/>
                </a:solidFill>
                <a:latin typeface="IBM Plex Sans" pitchFamily="34" charset="0"/>
                <a:ea typeface="IBM Plex Sans" pitchFamily="34" charset="-122"/>
                <a:cs typeface="IBM Plex Sans" pitchFamily="34" charset="-120"/>
              </a:rPr>
              <a:t>Invertire il nido di cicli in P3 ha reso il programma </a:t>
            </a:r>
            <a:r>
              <a:rPr lang="en-US" sz="1350" b="1" dirty="0">
                <a:solidFill>
                  <a:srgbClr val="4A5568"/>
                </a:solidFill>
                <a:latin typeface="IBM Plex Sans" pitchFamily="34" charset="0"/>
                <a:ea typeface="IBM Plex Sans" pitchFamily="34" charset="-122"/>
                <a:cs typeface="IBM Plex Sans" pitchFamily="34" charset="-120"/>
              </a:rPr>
              <a:t>più grande</a:t>
            </a:r>
            <a:r>
              <a:rPr lang="en-US" sz="1350" dirty="0">
                <a:solidFill>
                  <a:srgbClr val="4A5568"/>
                </a:solidFill>
                <a:latin typeface="IBM Plex Sans" pitchFamily="34" charset="0"/>
                <a:ea typeface="IBM Plex Sans" pitchFamily="34" charset="-122"/>
                <a:cs typeface="IBM Plex Sans" pitchFamily="34" charset="-120"/>
              </a:rPr>
              <a:t> (+433 istruzioni) e </a:t>
            </a:r>
            <a:r>
              <a:rPr lang="en-US" sz="1350" b="1" dirty="0">
                <a:solidFill>
                  <a:srgbClr val="4A5568"/>
                </a:solidFill>
                <a:latin typeface="IBM Plex Sans" pitchFamily="34" charset="0"/>
                <a:ea typeface="IBM Plex Sans" pitchFamily="34" charset="-122"/>
                <a:cs typeface="IBM Plex Sans" pitchFamily="34" charset="-120"/>
              </a:rPr>
              <a:t>molto più economico da verificare</a:t>
            </a:r>
            <a:r>
              <a:rPr lang="en-US" sz="1350" dirty="0">
                <a:solidFill>
                  <a:srgbClr val="4A5568"/>
                </a:solidFill>
                <a:latin typeface="IBM Plex Sans" pitchFamily="34" charset="0"/>
                <a:ea typeface="IBM Plex Sans" pitchFamily="34" charset="-122"/>
                <a:cs typeface="IBM Plex Sans" pitchFamily="34" charset="-120"/>
              </a:rPr>
              <a:t>.</a:t>
            </a:r>
            <a:endParaRPr lang="en-US" sz="1350" dirty="0"/>
          </a:p>
        </p:txBody>
      </p:sp>
      <p:sp>
        <p:nvSpPr>
          <p:cNvPr id="13" name="Text 10"/>
          <p:cNvSpPr/>
          <p:nvPr/>
        </p:nvSpPr>
        <p:spPr>
          <a:xfrm>
            <a:off x="812800" y="6238280"/>
            <a:ext cx="933492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Prova di rinforzo: cambiando un solo #define, 8 674 </a:t>
            </a:r>
            <a:r>
              <a:rPr lang="en-US" sz="1200" b="1" dirty="0">
                <a:solidFill>
                  <a:srgbClr val="6A7179"/>
                </a:solidFill>
                <a:latin typeface="IBM Plex Sans" pitchFamily="34" charset="0"/>
                <a:ea typeface="IBM Plex Sans" pitchFamily="34" charset="-122"/>
                <a:cs typeface="IBM Plex Sans" pitchFamily="34" charset="-120"/>
              </a:rPr>
              <a:t>o</a:t>
            </a:r>
            <a:r>
              <a:rPr lang="en-US" sz="1200" dirty="0">
                <a:solidFill>
                  <a:srgbClr val="6A7179"/>
                </a:solidFill>
                <a:latin typeface="IBM Plex Sans" pitchFamily="34" charset="0"/>
                <a:ea typeface="IBM Plex Sans" pitchFamily="34" charset="-122"/>
                <a:cs typeface="IBM Plex Sans" pitchFamily="34" charset="-120"/>
              </a:rPr>
              <a:t> 12 031 istruzioni — 39 % di differenza — a latenza identica (419 contro 421 ns)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16628"/>
          </a:xfrm>
          <a:prstGeom prst="rect">
            <a:avLst/>
          </a:prstGeom>
          <a:noFill/>
          <a:ln/>
        </p:spPr>
        <p:txBody>
          <a:bodyPr wrap="square" lIns="0" tIns="0" rIns="0" bIns="0" rtlCol="0" anchor="t">
            <a:normAutofit/>
          </a:bodyPr>
          <a:lstStyle/>
          <a:p>
            <a:pPr algn="l" indent="0" marL="0">
              <a:lnSpc>
                <a:spcPts val="1524"/>
              </a:lnSpc>
              <a:buNone/>
            </a:pPr>
            <a:r>
              <a:rPr lang="en-US" sz="1089" spc="100" kern="0" dirty="0">
                <a:solidFill>
                  <a:srgbClr val="E8A87C"/>
                </a:solidFill>
                <a:latin typeface="JetBrains Mono" pitchFamily="34" charset="0"/>
                <a:ea typeface="JetBrains Mono" pitchFamily="34" charset="-122"/>
                <a:cs typeface="JetBrains Mono" pitchFamily="34" charset="-120"/>
              </a:rPr>
              <a:t>QUANTIZZAZIONE</a:t>
            </a:r>
            <a:endParaRPr lang="en-US" sz="1089" dirty="0"/>
          </a:p>
        </p:txBody>
      </p:sp>
      <p:sp>
        <p:nvSpPr>
          <p:cNvPr id="3" name="Text 1"/>
          <p:cNvSpPr/>
          <p:nvPr/>
        </p:nvSpPr>
        <p:spPr>
          <a:xfrm>
            <a:off x="812800" y="1067532"/>
            <a:ext cx="10883392" cy="372335"/>
          </a:xfrm>
          <a:prstGeom prst="rect">
            <a:avLst/>
          </a:prstGeom>
          <a:noFill/>
          <a:ln/>
        </p:spPr>
        <p:txBody>
          <a:bodyPr wrap="square" lIns="0" tIns="0" rIns="0" bIns="0" rtlCol="0" anchor="t">
            <a:normAutofit/>
          </a:bodyPr>
          <a:lstStyle/>
          <a:p>
            <a:pPr algn="l" indent="0" marL="0">
              <a:lnSpc>
                <a:spcPts val="2774"/>
              </a:lnSpc>
              <a:buNone/>
            </a:pPr>
            <a:r>
              <a:rPr lang="en-US" sz="2522" b="1" dirty="0">
                <a:solidFill>
                  <a:srgbClr val="FBFBF8"/>
                </a:solidFill>
                <a:latin typeface="IBM Plex Sans" pitchFamily="34" charset="0"/>
                <a:ea typeface="IBM Plex Sans" pitchFamily="34" charset="-122"/>
                <a:cs typeface="IBM Plex Sans" pitchFamily="34" charset="-120"/>
              </a:rPr>
              <a:t>L’aritmetica che gira nel kernel</a:t>
            </a:r>
            <a:endParaRPr lang="en-US" sz="2522" dirty="0"/>
          </a:p>
        </p:txBody>
      </p:sp>
      <p:sp>
        <p:nvSpPr>
          <p:cNvPr id="4" name="Text 2"/>
          <p:cNvSpPr/>
          <p:nvPr/>
        </p:nvSpPr>
        <p:spPr>
          <a:xfrm>
            <a:off x="812800" y="1592263"/>
            <a:ext cx="10203180" cy="242689"/>
          </a:xfrm>
          <a:prstGeom prst="rect">
            <a:avLst/>
          </a:prstGeom>
          <a:noFill/>
          <a:ln/>
        </p:spPr>
        <p:txBody>
          <a:bodyPr wrap="square" lIns="0" tIns="0" rIns="0" bIns="0" rtlCol="0" anchor="t">
            <a:normAutofit/>
          </a:bodyPr>
          <a:lstStyle/>
          <a:p>
            <a:pPr algn="l" indent="0" marL="0">
              <a:lnSpc>
                <a:spcPts val="1719"/>
              </a:lnSpc>
              <a:buNone/>
            </a:pPr>
            <a:r>
              <a:rPr lang="en-US" sz="1228" dirty="0">
                <a:solidFill>
                  <a:srgbClr val="BFD8D5"/>
                </a:solidFill>
                <a:latin typeface="IBM Plex Sans" pitchFamily="34" charset="0"/>
                <a:ea typeface="IBM Plex Sans" pitchFamily="34" charset="-122"/>
                <a:cs typeface="IBM Plex Sans" pitchFamily="34" charset="-120"/>
              </a:rPr>
              <a:t>Niente virgola mobile: eBPF non ce l’ha. I pesi sono interi a 8 bit, schema simmetrico, zero → zero.</a:t>
            </a:r>
            <a:endParaRPr lang="en-US" sz="1228" dirty="0"/>
          </a:p>
        </p:txBody>
      </p:sp>
      <p:sp>
        <p:nvSpPr>
          <p:cNvPr id="5" name="Shape 3"/>
          <p:cNvSpPr/>
          <p:nvPr/>
        </p:nvSpPr>
        <p:spPr>
          <a:xfrm>
            <a:off x="812800" y="1987352"/>
            <a:ext cx="10566400" cy="944496"/>
          </a:xfrm>
          <a:prstGeom prst="roundRect">
            <a:avLst>
              <a:gd name="adj" fmla="val 10757"/>
            </a:avLst>
          </a:prstGeom>
          <a:solidFill>
            <a:srgbClr val="1C2C4F"/>
          </a:solidFill>
          <a:ln/>
        </p:spPr>
      </p:sp>
      <p:pic>
        <p:nvPicPr>
          <p:cNvPr id="6" name="Image 0" descr="w segnato uguale round di w per s, con s uguale 127 diviso il massimo valore assoluto di w; w segnato appartiene all'intervallo da meno 128 a 127">    </p:cNvPr>
          <p:cNvPicPr>
            <a:picLocks noChangeAspect="1"/>
          </p:cNvPicPr>
          <p:nvPr/>
        </p:nvPicPr>
        <p:blipFill>
          <a:blip r:embed="rId1"/>
          <a:srcRect l="-9337" r="-9337" t="0" b="0"/>
          <a:stretch/>
        </p:blipFill>
        <p:spPr>
          <a:xfrm>
            <a:off x="1651000" y="2165152"/>
            <a:ext cx="8890000" cy="588896"/>
          </a:xfrm>
          <a:prstGeom prst="rect">
            <a:avLst/>
          </a:prstGeom>
        </p:spPr>
      </p:pic>
      <p:sp>
        <p:nvSpPr>
          <p:cNvPr id="7" name="Shape 4"/>
          <p:cNvSpPr/>
          <p:nvPr/>
        </p:nvSpPr>
        <p:spPr>
          <a:xfrm>
            <a:off x="812800" y="3109652"/>
            <a:ext cx="10566400" cy="1695979"/>
          </a:xfrm>
          <a:prstGeom prst="roundRect">
            <a:avLst>
              <a:gd name="adj" fmla="val 5991"/>
            </a:avLst>
          </a:prstGeom>
          <a:solidFill>
            <a:srgbClr val="1C2C4F"/>
          </a:solidFill>
          <a:ln/>
        </p:spPr>
      </p:sp>
      <p:pic>
        <p:nvPicPr>
          <p:cNvPr id="8" name="Image 1" descr="a indice elle di j uguale ReLU di b segnato di j per s elevato alla elle meno uno, piu' la sommatoria su i del troncamento di a indice elle meno uno di i per w segnato di j i, diviso c indice i">    </p:cNvPr>
          <p:cNvPicPr>
            <a:picLocks noChangeAspect="1"/>
          </p:cNvPicPr>
          <p:nvPr/>
        </p:nvPicPr>
        <p:blipFill>
          <a:blip r:embed="rId2"/>
          <a:srcRect l="-9865" r="-9865" t="0" b="0"/>
          <a:stretch/>
        </p:blipFill>
        <p:spPr>
          <a:xfrm>
            <a:off x="1270000" y="3287452"/>
            <a:ext cx="9652000" cy="1058863"/>
          </a:xfrm>
          <a:prstGeom prst="rect">
            <a:avLst/>
          </a:prstGeom>
        </p:spPr>
      </p:pic>
      <p:sp>
        <p:nvSpPr>
          <p:cNvPr id="9" name="Text 5"/>
          <p:cNvSpPr/>
          <p:nvPr/>
        </p:nvSpPr>
        <p:spPr>
          <a:xfrm>
            <a:off x="1517650" y="4435215"/>
            <a:ext cx="9156700" cy="218017"/>
          </a:xfrm>
          <a:prstGeom prst="rect">
            <a:avLst/>
          </a:prstGeom>
          <a:noFill/>
          <a:ln/>
        </p:spPr>
        <p:txBody>
          <a:bodyPr wrap="square" lIns="0" tIns="0" rIns="0" bIns="0" rtlCol="0" anchor="t">
            <a:normAutofit/>
          </a:bodyPr>
          <a:lstStyle/>
          <a:p>
            <a:pPr algn="ctr" indent="0" marL="0">
              <a:lnSpc>
                <a:spcPts val="1524"/>
              </a:lnSpc>
              <a:buNone/>
            </a:pPr>
            <a:r>
              <a:rPr lang="en-US" sz="1089" dirty="0">
                <a:solidFill>
                  <a:srgbClr val="BFD8D5"/>
                </a:solidFill>
                <a:latin typeface="IBM Plex Sans" pitchFamily="34" charset="0"/>
                <a:ea typeface="IBM Plex Sans" pitchFamily="34" charset="-122"/>
                <a:cs typeface="IBM Plex Sans" pitchFamily="34" charset="-120"/>
              </a:rPr>
              <a:t>La divisione è sul </a:t>
            </a:r>
            <a:r>
              <a:rPr lang="en-US" sz="1089" b="1" dirty="0">
                <a:solidFill>
                  <a:srgbClr val="BFD8D5"/>
                </a:solidFill>
                <a:latin typeface="IBM Plex Sans" pitchFamily="34" charset="0"/>
                <a:ea typeface="IBM Plex Sans" pitchFamily="34" charset="-122"/>
                <a:cs typeface="IBM Plex Sans" pitchFamily="34" charset="-120"/>
              </a:rPr>
              <a:t>prodotto</a:t>
            </a:r>
            <a:r>
              <a:rPr lang="en-US" sz="1089" dirty="0">
                <a:solidFill>
                  <a:srgbClr val="BFD8D5"/>
                </a:solidFill>
                <a:latin typeface="IBM Plex Sans" pitchFamily="34" charset="0"/>
                <a:ea typeface="IBM Plex Sans" pitchFamily="34" charset="-122"/>
                <a:cs typeface="IBM Plex Sans" pitchFamily="34" charset="-120"/>
              </a:rPr>
              <a:t>, non sulla feature: dividere </a:t>
            </a:r>
            <a:r>
              <a:rPr lang="en-US" sz="1089" i="1" dirty="0">
                <a:solidFill>
                  <a:srgbClr val="BFD8D5"/>
                </a:solidFill>
                <a:latin typeface="IBM Plex Sans" pitchFamily="34" charset="0"/>
                <a:ea typeface="IBM Plex Sans" pitchFamily="34" charset="-122"/>
                <a:cs typeface="IBM Plex Sans" pitchFamily="34" charset="-120"/>
              </a:rPr>
              <a:t>a</a:t>
            </a:r>
            <a:r>
              <a:rPr lang="en-US" sz="1089" dirty="0">
                <a:solidFill>
                  <a:srgbClr val="BFD8D5"/>
                </a:solidFill>
                <a:latin typeface="IBM Plex Sans" pitchFamily="34" charset="0"/>
                <a:ea typeface="IBM Plex Sans" pitchFamily="34" charset="-122"/>
                <a:cs typeface="IBM Plex Sans" pitchFamily="34" charset="-120"/>
              </a:rPr>
              <a:t> schiaccerebbe un TTL da 10–30 su 0 o 1.</a:t>
            </a:r>
            <a:endParaRPr lang="en-US" sz="1089" dirty="0"/>
          </a:p>
        </p:txBody>
      </p:sp>
      <p:sp>
        <p:nvSpPr>
          <p:cNvPr id="10" name="Shape 6"/>
          <p:cNvSpPr/>
          <p:nvPr/>
        </p:nvSpPr>
        <p:spPr>
          <a:xfrm>
            <a:off x="812800" y="4983429"/>
            <a:ext cx="5194300" cy="858573"/>
          </a:xfrm>
          <a:prstGeom prst="roundRect">
            <a:avLst>
              <a:gd name="adj" fmla="val 11834"/>
            </a:avLst>
          </a:prstGeom>
          <a:solidFill>
            <a:srgbClr val="1C2C4F"/>
          </a:solidFill>
          <a:ln/>
        </p:spPr>
      </p:sp>
      <p:sp>
        <p:nvSpPr>
          <p:cNvPr id="11" name="Text 7"/>
          <p:cNvSpPr/>
          <p:nvPr/>
        </p:nvSpPr>
        <p:spPr>
          <a:xfrm>
            <a:off x="1003300" y="5135829"/>
            <a:ext cx="4957699" cy="188251"/>
          </a:xfrm>
          <a:prstGeom prst="rect">
            <a:avLst/>
          </a:prstGeom>
          <a:noFill/>
          <a:ln/>
        </p:spPr>
        <p:txBody>
          <a:bodyPr wrap="square" lIns="0" tIns="0" rIns="0" bIns="0" rtlCol="0" anchor="t">
            <a:normAutofit/>
          </a:bodyPr>
          <a:lstStyle/>
          <a:p>
            <a:pPr algn="l" indent="0" marL="0">
              <a:lnSpc>
                <a:spcPts val="1323"/>
              </a:lnSpc>
              <a:buNone/>
            </a:pPr>
            <a:r>
              <a:rPr lang="en-US" sz="1103" b="1" dirty="0">
                <a:solidFill>
                  <a:srgbClr val="E8A87C"/>
                </a:solidFill>
                <a:latin typeface="IBM Plex Sans" pitchFamily="34" charset="0"/>
                <a:ea typeface="IBM Plex Sans" pitchFamily="34" charset="-122"/>
                <a:cs typeface="IBM Plex Sans" pitchFamily="34" charset="-120"/>
              </a:rPr>
              <a:t>Il fattore sⁿ⁻¹ (esponente ℓ−1)</a:t>
            </a:r>
            <a:endParaRPr lang="en-US" sz="1103" dirty="0"/>
          </a:p>
        </p:txBody>
      </p:sp>
      <p:sp>
        <p:nvSpPr>
          <p:cNvPr id="12" name="Text 8"/>
          <p:cNvSpPr/>
          <p:nvPr/>
        </p:nvSpPr>
        <p:spPr>
          <a:xfrm>
            <a:off x="1003300" y="5336778"/>
            <a:ext cx="4957699" cy="378222"/>
          </a:xfrm>
          <a:prstGeom prst="rect">
            <a:avLst/>
          </a:prstGeom>
          <a:noFill/>
          <a:ln/>
        </p:spPr>
        <p:txBody>
          <a:bodyPr wrap="square" lIns="0" tIns="0" rIns="0" bIns="0" rtlCol="0" anchor="t">
            <a:normAutofit/>
          </a:bodyPr>
          <a:lstStyle/>
          <a:p>
            <a:pPr algn="l" indent="0" marL="0">
              <a:lnSpc>
                <a:spcPts val="1411"/>
              </a:lnSpc>
              <a:buNone/>
            </a:pPr>
            <a:r>
              <a:rPr lang="en-US" sz="1008" dirty="0">
                <a:solidFill>
                  <a:srgbClr val="BFD8D5"/>
                </a:solidFill>
                <a:latin typeface="IBM Plex Sans" pitchFamily="34" charset="0"/>
                <a:ea typeface="IBM Plex Sans" pitchFamily="34" charset="-122"/>
                <a:cs typeface="IBM Plex Sans" pitchFamily="34" charset="-120"/>
              </a:rPr>
              <a:t>Dopo ℓ strati l’accumulatore porta sℓ, un bias ne porta s¹. Senza riallineare, il datapath sbagliava il </a:t>
            </a:r>
            <a:r>
              <a:rPr lang="en-US" sz="1008" b="1" dirty="0">
                <a:solidFill>
                  <a:srgbClr val="BFD8D5"/>
                </a:solidFill>
                <a:latin typeface="IBM Plex Sans" pitchFamily="34" charset="0"/>
                <a:ea typeface="IBM Plex Sans" pitchFamily="34" charset="-122"/>
                <a:cs typeface="IBM Plex Sans" pitchFamily="34" charset="-120"/>
              </a:rPr>
              <a:t>28 %</a:t>
            </a:r>
            <a:r>
              <a:rPr lang="en-US" sz="1008" dirty="0">
                <a:solidFill>
                  <a:srgbClr val="BFD8D5"/>
                </a:solidFill>
                <a:latin typeface="IBM Plex Sans" pitchFamily="34" charset="0"/>
                <a:ea typeface="IBM Plex Sans" pitchFamily="34" charset="-122"/>
                <a:cs typeface="IBM Plex Sans" pitchFamily="34" charset="-120"/>
              </a:rPr>
              <a:t> delle decisioni.</a:t>
            </a:r>
            <a:endParaRPr lang="en-US" sz="1008" dirty="0"/>
          </a:p>
        </p:txBody>
      </p:sp>
      <p:sp>
        <p:nvSpPr>
          <p:cNvPr id="13" name="Shape 9"/>
          <p:cNvSpPr/>
          <p:nvPr/>
        </p:nvSpPr>
        <p:spPr>
          <a:xfrm>
            <a:off x="6184900" y="4983429"/>
            <a:ext cx="5194300" cy="858573"/>
          </a:xfrm>
          <a:prstGeom prst="roundRect">
            <a:avLst>
              <a:gd name="adj" fmla="val 11834"/>
            </a:avLst>
          </a:prstGeom>
          <a:solidFill>
            <a:srgbClr val="1C2C4F"/>
          </a:solidFill>
          <a:ln/>
        </p:spPr>
      </p:sp>
      <p:sp>
        <p:nvSpPr>
          <p:cNvPr id="14" name="Text 10"/>
          <p:cNvSpPr/>
          <p:nvPr/>
        </p:nvSpPr>
        <p:spPr>
          <a:xfrm>
            <a:off x="6375400" y="5135829"/>
            <a:ext cx="4957699" cy="188251"/>
          </a:xfrm>
          <a:prstGeom prst="rect">
            <a:avLst/>
          </a:prstGeom>
          <a:noFill/>
          <a:ln/>
        </p:spPr>
        <p:txBody>
          <a:bodyPr wrap="square" lIns="0" tIns="0" rIns="0" bIns="0" rtlCol="0" anchor="t">
            <a:normAutofit/>
          </a:bodyPr>
          <a:lstStyle/>
          <a:p>
            <a:pPr algn="l" indent="0" marL="0">
              <a:lnSpc>
                <a:spcPts val="1323"/>
              </a:lnSpc>
              <a:buNone/>
            </a:pPr>
            <a:r>
              <a:rPr lang="en-US" sz="1103" b="1" dirty="0">
                <a:solidFill>
                  <a:srgbClr val="E8A87C"/>
                </a:solidFill>
                <a:latin typeface="IBM Plex Sans" pitchFamily="34" charset="0"/>
                <a:ea typeface="IBM Plex Sans" pitchFamily="34" charset="-122"/>
                <a:cs typeface="IBM Plex Sans" pitchFamily="34" charset="-120"/>
              </a:rPr>
              <a:t>Il troncamento</a:t>
            </a:r>
            <a:endParaRPr lang="en-US" sz="1103" dirty="0"/>
          </a:p>
        </p:txBody>
      </p:sp>
      <p:sp>
        <p:nvSpPr>
          <p:cNvPr id="15" name="Text 11"/>
          <p:cNvSpPr/>
          <p:nvPr/>
        </p:nvSpPr>
        <p:spPr>
          <a:xfrm>
            <a:off x="6375400" y="5336778"/>
            <a:ext cx="4957699" cy="378222"/>
          </a:xfrm>
          <a:prstGeom prst="rect">
            <a:avLst/>
          </a:prstGeom>
          <a:noFill/>
          <a:ln/>
        </p:spPr>
        <p:txBody>
          <a:bodyPr wrap="square" lIns="0" tIns="0" rIns="0" bIns="0" rtlCol="0" anchor="t">
            <a:normAutofit/>
          </a:bodyPr>
          <a:lstStyle/>
          <a:p>
            <a:pPr algn="l" indent="0" marL="0">
              <a:lnSpc>
                <a:spcPts val="1411"/>
              </a:lnSpc>
              <a:buNone/>
            </a:pPr>
            <a:r>
              <a:rPr lang="en-US" sz="1008" dirty="0">
                <a:solidFill>
                  <a:srgbClr val="BFD8D5"/>
                </a:solidFill>
                <a:latin typeface="IBM Plex Sans" pitchFamily="34" charset="0"/>
                <a:ea typeface="IBM Plex Sans" pitchFamily="34" charset="-122"/>
                <a:cs typeface="IBM Plex Sans" pitchFamily="34" charset="-120"/>
              </a:rPr>
              <a:t>C tronca verso lo zero. Il riferimento Python deve fare lo stesso, o i due divergono </a:t>
            </a:r>
            <a:r>
              <a:rPr lang="en-US" sz="1008" b="1" dirty="0">
                <a:solidFill>
                  <a:srgbClr val="BFD8D5"/>
                </a:solidFill>
                <a:latin typeface="IBM Plex Sans" pitchFamily="34" charset="0"/>
                <a:ea typeface="IBM Plex Sans" pitchFamily="34" charset="-122"/>
                <a:cs typeface="IBM Plex Sans" pitchFamily="34" charset="-120"/>
              </a:rPr>
              <a:t>solo sui pesi negativi</a:t>
            </a:r>
            <a:r>
              <a:rPr lang="en-US" sz="1008" dirty="0">
                <a:solidFill>
                  <a:srgbClr val="BFD8D5"/>
                </a:solidFill>
                <a:latin typeface="IBM Plex Sans" pitchFamily="34" charset="0"/>
                <a:ea typeface="IBM Plex Sans" pitchFamily="34" charset="-122"/>
                <a:cs typeface="IBM Plex Sans" pitchFamily="34" charset="-120"/>
              </a:rPr>
              <a:t>.</a:t>
            </a:r>
            <a:endParaRPr lang="en-US" sz="1008" dirty="0"/>
          </a:p>
        </p:txBody>
      </p:sp>
      <p:sp>
        <p:nvSpPr>
          <p:cNvPr id="16" name="Text 12"/>
          <p:cNvSpPr/>
          <p:nvPr/>
        </p:nvSpPr>
        <p:spPr>
          <a:xfrm>
            <a:off x="812800" y="6238280"/>
            <a:ext cx="620686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3BF"/>
                </a:solidFill>
                <a:latin typeface="IBM Plex Sans" pitchFamily="34" charset="0"/>
                <a:ea typeface="IBM Plex Sans" pitchFamily="34" charset="-122"/>
                <a:cs typeface="IBM Plex Sans" pitchFamily="34" charset="-120"/>
              </a:rPr>
              <a:t>cᵢ = scala della feature che occupa la colonna i · s = fattore di quantizzazione del modello</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42755"/>
          </a:xfrm>
          <a:prstGeom prst="rect">
            <a:avLst/>
          </a:prstGeom>
          <a:noFill/>
          <a:ln/>
        </p:spPr>
        <p:txBody>
          <a:bodyPr wrap="square" lIns="0" tIns="0" rIns="0" bIns="0" rtlCol="0" anchor="t">
            <a:normAutofit/>
          </a:bodyPr>
          <a:lstStyle/>
          <a:p>
            <a:pPr algn="l" indent="0" marL="0">
              <a:lnSpc>
                <a:spcPts val="1723"/>
              </a:lnSpc>
              <a:buNone/>
            </a:pPr>
            <a:r>
              <a:rPr lang="en-US" sz="1231" spc="100" kern="0" dirty="0">
                <a:solidFill>
                  <a:srgbClr val="C2410C"/>
                </a:solidFill>
                <a:latin typeface="JetBrains Mono" pitchFamily="34" charset="0"/>
                <a:ea typeface="JetBrains Mono" pitchFamily="34" charset="-122"/>
                <a:cs typeface="JetBrains Mono" pitchFamily="34" charset="-120"/>
              </a:rPr>
              <a:t>PROBLEMA MATEMATICO · UNITÀ DI MISURA</a:t>
            </a:r>
            <a:endParaRPr lang="en-US" sz="1231" dirty="0"/>
          </a:p>
        </p:txBody>
      </p:sp>
      <p:sp>
        <p:nvSpPr>
          <p:cNvPr id="3" name="Text 1"/>
          <p:cNvSpPr/>
          <p:nvPr/>
        </p:nvSpPr>
        <p:spPr>
          <a:xfrm>
            <a:off x="812800" y="1093657"/>
            <a:ext cx="10883392" cy="419695"/>
          </a:xfrm>
          <a:prstGeom prst="rect">
            <a:avLst/>
          </a:prstGeom>
          <a:noFill/>
          <a:ln/>
        </p:spPr>
        <p:txBody>
          <a:bodyPr wrap="square" lIns="0" tIns="0" rIns="0" bIns="0" rtlCol="0" anchor="t">
            <a:normAutofit/>
          </a:bodyPr>
          <a:lstStyle/>
          <a:p>
            <a:pPr algn="l" indent="0" marL="0">
              <a:lnSpc>
                <a:spcPts val="3125"/>
              </a:lnSpc>
              <a:buNone/>
            </a:pPr>
            <a:r>
              <a:rPr lang="en-US" sz="2841" b="1" dirty="0">
                <a:solidFill>
                  <a:srgbClr val="14213D"/>
                </a:solidFill>
                <a:latin typeface="IBM Plex Sans" pitchFamily="34" charset="0"/>
                <a:ea typeface="IBM Plex Sans" pitchFamily="34" charset="-122"/>
                <a:cs typeface="IBM Plex Sans" pitchFamily="34" charset="-120"/>
              </a:rPr>
              <a:t>Il bias era in un’altra scala</a:t>
            </a:r>
            <a:endParaRPr lang="en-US" sz="2841" dirty="0"/>
          </a:p>
        </p:txBody>
      </p:sp>
      <p:sp>
        <p:nvSpPr>
          <p:cNvPr id="4" name="Text 2"/>
          <p:cNvSpPr/>
          <p:nvPr/>
        </p:nvSpPr>
        <p:spPr>
          <a:xfrm>
            <a:off x="812800" y="1665753"/>
            <a:ext cx="10464800" cy="513159"/>
          </a:xfrm>
          <a:prstGeom prst="rect">
            <a:avLst/>
          </a:prstGeom>
          <a:noFill/>
          <a:ln/>
        </p:spPr>
        <p:txBody>
          <a:bodyPr wrap="square" lIns="0" tIns="0" rIns="0" bIns="0" rtlCol="0" anchor="t">
            <a:normAutofit/>
          </a:bodyPr>
          <a:lstStyle/>
          <a:p>
            <a:pPr algn="l" indent="0" marL="0">
              <a:lnSpc>
                <a:spcPts val="1935"/>
              </a:lnSpc>
              <a:buNone/>
            </a:pPr>
            <a:r>
              <a:rPr lang="en-US" sz="1382" dirty="0">
                <a:solidFill>
                  <a:srgbClr val="4A5568"/>
                </a:solidFill>
                <a:latin typeface="IBM Plex Sans" pitchFamily="34" charset="0"/>
                <a:ea typeface="IBM Plex Sans" pitchFamily="34" charset="-122"/>
                <a:cs typeface="IBM Plex Sans" pitchFamily="34" charset="-120"/>
              </a:rPr>
              <a:t>Ogni moltiplicazione fra interi quantizzati aggiunge un fattore </a:t>
            </a:r>
            <a:r>
              <a:rPr lang="en-US" sz="1382" i="1" dirty="0">
                <a:solidFill>
                  <a:srgbClr val="4A5568"/>
                </a:solidFill>
                <a:latin typeface="IBM Plex Sans" pitchFamily="34" charset="0"/>
                <a:ea typeface="IBM Plex Sans" pitchFamily="34" charset="-122"/>
                <a:cs typeface="IBM Plex Sans" pitchFamily="34" charset="-120"/>
              </a:rPr>
              <a:t>s</a:t>
            </a:r>
            <a:r>
              <a:rPr lang="en-US" sz="1382" dirty="0">
                <a:solidFill>
                  <a:srgbClr val="4A5568"/>
                </a:solidFill>
                <a:latin typeface="IBM Plex Sans" pitchFamily="34" charset="0"/>
                <a:ea typeface="IBM Plex Sans" pitchFamily="34" charset="-122"/>
                <a:cs typeface="IBM Plex Sans" pitchFamily="34" charset="-120"/>
              </a:rPr>
              <a:t> all’accumulatore. Il bias, memorizzato una volta sola, ne porta sempre uno. Sommarli è sommare metri e centimetri.</a:t>
            </a:r>
            <a:endParaRPr lang="en-US" sz="1382" dirty="0"/>
          </a:p>
        </p:txBody>
      </p:sp>
      <p:sp>
        <p:nvSpPr>
          <p:cNvPr id="5" name="Shape 3"/>
          <p:cNvSpPr/>
          <p:nvPr/>
        </p:nvSpPr>
        <p:spPr>
          <a:xfrm>
            <a:off x="812800" y="2331312"/>
            <a:ext cx="10566400" cy="1665420"/>
          </a:xfrm>
          <a:prstGeom prst="roundRect">
            <a:avLst>
              <a:gd name="adj" fmla="val 6101"/>
            </a:avLst>
          </a:prstGeom>
          <a:solidFill>
            <a:srgbClr val="EEF1F5"/>
          </a:solidFill>
          <a:ln/>
        </p:spPr>
      </p:sp>
      <p:pic>
        <p:nvPicPr>
          <p:cNvPr id="6" name="Image 0" descr="L'accumulatore dopo elle strati e' proporzionale a s elevato a elle, il bias quantizzato e' proporzionale a s, quindi il bias va moltiplicato per s elevato a elle meno uno">    </p:cNvPr>
          <p:cNvPicPr>
            <a:picLocks noChangeAspect="1"/>
          </p:cNvPicPr>
          <p:nvPr/>
        </p:nvPicPr>
        <p:blipFill>
          <a:blip r:embed="rId1"/>
          <a:srcRect l="-3081" r="-3081" t="0" b="0"/>
          <a:stretch/>
        </p:blipFill>
        <p:spPr>
          <a:xfrm>
            <a:off x="2794000" y="2521812"/>
            <a:ext cx="6604000" cy="956800"/>
          </a:xfrm>
          <a:prstGeom prst="rect">
            <a:avLst/>
          </a:prstGeom>
        </p:spPr>
      </p:pic>
      <p:sp>
        <p:nvSpPr>
          <p:cNvPr id="7" name="Text 4"/>
          <p:cNvSpPr/>
          <p:nvPr/>
        </p:nvSpPr>
        <p:spPr>
          <a:xfrm>
            <a:off x="1190625" y="3580209"/>
            <a:ext cx="9810750" cy="251420"/>
          </a:xfrm>
          <a:prstGeom prst="rect">
            <a:avLst/>
          </a:prstGeom>
          <a:noFill/>
          <a:ln/>
        </p:spPr>
        <p:txBody>
          <a:bodyPr wrap="square" lIns="0" tIns="0" rIns="0" bIns="0" rtlCol="0" anchor="t">
            <a:normAutofit/>
          </a:bodyPr>
          <a:lstStyle/>
          <a:p>
            <a:pPr algn="ctr" indent="0" marL="0">
              <a:lnSpc>
                <a:spcPts val="1819"/>
              </a:lnSpc>
              <a:buNone/>
            </a:pPr>
            <a:r>
              <a:rPr lang="en-US" sz="1299" dirty="0">
                <a:solidFill>
                  <a:srgbClr val="4A5568"/>
                </a:solidFill>
                <a:latin typeface="IBM Plex Sans" pitchFamily="34" charset="0"/>
                <a:ea typeface="IBM Plex Sans" pitchFamily="34" charset="-122"/>
                <a:cs typeface="IBM Plex Sans" pitchFamily="34" charset="-120"/>
              </a:rPr>
              <a:t>Sul checkpoint depositato </a:t>
            </a:r>
            <a:r>
              <a:rPr lang="en-US" sz="1299" b="1" dirty="0">
                <a:solidFill>
                  <a:srgbClr val="4A5568"/>
                </a:solidFill>
                <a:latin typeface="IBM Plex Sans" pitchFamily="34" charset="0"/>
                <a:ea typeface="IBM Plex Sans" pitchFamily="34" charset="-122"/>
                <a:cs typeface="IBM Plex Sans" pitchFamily="34" charset="-120"/>
              </a:rPr>
              <a:t>s = 24</a:t>
            </a:r>
            <a:r>
              <a:rPr lang="en-US" sz="1299" dirty="0">
                <a:solidFill>
                  <a:srgbClr val="4A5568"/>
                </a:solidFill>
                <a:latin typeface="IBM Plex Sans" pitchFamily="34" charset="0"/>
                <a:ea typeface="IBM Plex Sans" pitchFamily="34" charset="-122"/>
                <a:cs typeface="IBM Plex Sans" pitchFamily="34" charset="-120"/>
              </a:rPr>
              <a:t> e lo strato d’uscita è </a:t>
            </a:r>
            <a:r>
              <a:rPr lang="en-US" sz="1299" b="1" dirty="0">
                <a:solidFill>
                  <a:srgbClr val="4A5568"/>
                </a:solidFill>
                <a:latin typeface="IBM Plex Sans" pitchFamily="34" charset="0"/>
                <a:ea typeface="IBM Plex Sans" pitchFamily="34" charset="-122"/>
                <a:cs typeface="IBM Plex Sans" pitchFamily="34" charset="-120"/>
              </a:rPr>
              <a:t>ℓ = 3</a:t>
            </a:r>
            <a:r>
              <a:rPr lang="en-US" sz="1299" dirty="0">
                <a:solidFill>
                  <a:srgbClr val="4A5568"/>
                </a:solidFill>
                <a:latin typeface="IBM Plex Sans" pitchFamily="34" charset="0"/>
                <a:ea typeface="IBM Plex Sans" pitchFamily="34" charset="-122"/>
                <a:cs typeface="IBM Plex Sans" pitchFamily="34" charset="-120"/>
              </a:rPr>
              <a:t>: il suo bias va moltiplicato per </a:t>
            </a:r>
            <a:r>
              <a:rPr lang="en-US" sz="1299" b="1" dirty="0">
                <a:solidFill>
                  <a:srgbClr val="4A5568"/>
                </a:solidFill>
                <a:latin typeface="IBM Plex Sans" pitchFamily="34" charset="0"/>
                <a:ea typeface="IBM Plex Sans" pitchFamily="34" charset="-122"/>
                <a:cs typeface="IBM Plex Sans" pitchFamily="34" charset="-120"/>
              </a:rPr>
              <a:t>24² = 576</a:t>
            </a:r>
            <a:r>
              <a:rPr lang="en-US" sz="1299" dirty="0">
                <a:solidFill>
                  <a:srgbClr val="4A5568"/>
                </a:solidFill>
                <a:latin typeface="IBM Plex Sans" pitchFamily="34" charset="0"/>
                <a:ea typeface="IBM Plex Sans" pitchFamily="34" charset="-122"/>
                <a:cs typeface="IBM Plex Sans" pitchFamily="34" charset="-120"/>
              </a:rPr>
              <a:t>.</a:t>
            </a:r>
            <a:endParaRPr lang="en-US" sz="1299" dirty="0"/>
          </a:p>
        </p:txBody>
      </p:sp>
      <p:sp>
        <p:nvSpPr>
          <p:cNvPr id="8" name="Shape 5"/>
          <p:cNvSpPr/>
          <p:nvPr/>
        </p:nvSpPr>
        <p:spPr>
          <a:xfrm>
            <a:off x="812800" y="4174530"/>
            <a:ext cx="3403600" cy="1667470"/>
          </a:xfrm>
          <a:prstGeom prst="roundRect">
            <a:avLst>
              <a:gd name="adj" fmla="val 6093"/>
            </a:avLst>
          </a:prstGeom>
          <a:solidFill>
            <a:srgbClr val="EEF1F5"/>
          </a:solidFill>
          <a:ln/>
        </p:spPr>
      </p:sp>
      <p:sp>
        <p:nvSpPr>
          <p:cNvPr id="9" name="Text 6"/>
          <p:cNvSpPr/>
          <p:nvPr/>
        </p:nvSpPr>
        <p:spPr>
          <a:xfrm>
            <a:off x="1003300" y="4339630"/>
            <a:ext cx="311327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C2410C"/>
                </a:solidFill>
                <a:latin typeface="IBM Plex Sans" pitchFamily="34" charset="0"/>
                <a:ea typeface="IBM Plex Sans" pitchFamily="34" charset="-122"/>
                <a:cs typeface="IBM Plex Sans" pitchFamily="34" charset="-120"/>
              </a:rPr>
              <a:t>Dov’era il difetto</a:t>
            </a:r>
            <a:endParaRPr lang="en-US" sz="1400" dirty="0"/>
          </a:p>
        </p:txBody>
      </p:sp>
      <p:sp>
        <p:nvSpPr>
          <p:cNvPr id="10" name="Text 7"/>
          <p:cNvSpPr/>
          <p:nvPr/>
        </p:nvSpPr>
        <p:spPr>
          <a:xfrm>
            <a:off x="1003300" y="4616450"/>
            <a:ext cx="3113278" cy="94985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Non nel kernel: nel </a:t>
            </a:r>
            <a:r>
              <a:rPr lang="en-US" sz="1300" b="1" dirty="0">
                <a:solidFill>
                  <a:srgbClr val="4A5568"/>
                </a:solidFill>
                <a:latin typeface="IBM Plex Sans" pitchFamily="34" charset="0"/>
                <a:ea typeface="IBM Plex Sans" pitchFamily="34" charset="-122"/>
                <a:cs typeface="IBM Plex Sans" pitchFamily="34" charset="-120"/>
              </a:rPr>
              <a:t>riferimento Python</a:t>
            </a:r>
            <a:r>
              <a:rPr lang="en-US" sz="1300" dirty="0">
                <a:solidFill>
                  <a:srgbClr val="4A5568"/>
                </a:solidFill>
                <a:latin typeface="IBM Plex Sans" pitchFamily="34" charset="0"/>
                <a:ea typeface="IBM Plex Sans" pitchFamily="34" charset="-122"/>
                <a:cs typeface="IBM Plex Sans" pitchFamily="34" charset="-120"/>
              </a:rPr>
              <a:t>. ref_infer lasciava lo strato d’uscita a s⁰. Nello stesso file ref_infer_sparse era già corretto.</a:t>
            </a:r>
            <a:endParaRPr lang="en-US" sz="1300" dirty="0"/>
          </a:p>
        </p:txBody>
      </p:sp>
      <p:sp>
        <p:nvSpPr>
          <p:cNvPr id="11" name="Shape 8"/>
          <p:cNvSpPr/>
          <p:nvPr/>
        </p:nvSpPr>
        <p:spPr>
          <a:xfrm>
            <a:off x="4394200" y="4174530"/>
            <a:ext cx="3403600" cy="1667470"/>
          </a:xfrm>
          <a:prstGeom prst="roundRect">
            <a:avLst>
              <a:gd name="adj" fmla="val 6093"/>
            </a:avLst>
          </a:prstGeom>
          <a:solidFill>
            <a:srgbClr val="EEF1F5"/>
          </a:solidFill>
          <a:ln/>
        </p:spPr>
      </p:sp>
      <p:sp>
        <p:nvSpPr>
          <p:cNvPr id="12" name="Text 9"/>
          <p:cNvSpPr/>
          <p:nvPr/>
        </p:nvSpPr>
        <p:spPr>
          <a:xfrm>
            <a:off x="4584700" y="4339630"/>
            <a:ext cx="3113278" cy="223904"/>
          </a:xfrm>
          <a:prstGeom prst="rect">
            <a:avLst/>
          </a:prstGeom>
          <a:noFill/>
          <a:ln/>
        </p:spPr>
        <p:txBody>
          <a:bodyPr wrap="square" lIns="0" tIns="0" rIns="0" bIns="0" rtlCol="0" anchor="t">
            <a:normAutofit/>
          </a:bodyPr>
          <a:lstStyle/>
          <a:p>
            <a:pPr algn="l" indent="0" marL="0">
              <a:lnSpc>
                <a:spcPts val="1570"/>
              </a:lnSpc>
              <a:buNone/>
            </a:pPr>
            <a:r>
              <a:rPr lang="en-US" sz="1308" b="1" dirty="0">
                <a:solidFill>
                  <a:srgbClr val="C2410C"/>
                </a:solidFill>
                <a:latin typeface="IBM Plex Sans" pitchFamily="34" charset="0"/>
                <a:ea typeface="IBM Plex Sans" pitchFamily="34" charset="-122"/>
                <a:cs typeface="IBM Plex Sans" pitchFamily="34" charset="-120"/>
              </a:rPr>
              <a:t>Perché non si vedeva</a:t>
            </a:r>
            <a:endParaRPr lang="en-US" sz="1308" dirty="0"/>
          </a:p>
        </p:txBody>
      </p:sp>
      <p:sp>
        <p:nvSpPr>
          <p:cNvPr id="13" name="Text 10"/>
          <p:cNvSpPr/>
          <p:nvPr/>
        </p:nvSpPr>
        <p:spPr>
          <a:xfrm>
            <a:off x="4584700" y="4601635"/>
            <a:ext cx="3113278" cy="1100667"/>
          </a:xfrm>
          <a:prstGeom prst="rect">
            <a:avLst/>
          </a:prstGeom>
          <a:noFill/>
          <a:ln/>
        </p:spPr>
        <p:txBody>
          <a:bodyPr wrap="square" lIns="0" tIns="0" rIns="0" bIns="0" rtlCol="0" anchor="t">
            <a:normAutofit/>
          </a:bodyPr>
          <a:lstStyle/>
          <a:p>
            <a:pPr algn="l" indent="0" marL="0">
              <a:lnSpc>
                <a:spcPts val="1695"/>
              </a:lnSpc>
              <a:buNone/>
            </a:pPr>
            <a:r>
              <a:rPr lang="en-US" sz="1211" dirty="0">
                <a:solidFill>
                  <a:srgbClr val="4A5568"/>
                </a:solidFill>
                <a:latin typeface="IBM Plex Sans" pitchFamily="34" charset="0"/>
                <a:ea typeface="IBM Plex Sans" pitchFamily="34" charset="-122"/>
                <a:cs typeface="IBM Plex Sans" pitchFamily="34" charset="-120"/>
              </a:rPr>
              <a:t>Ogni prova nel kernel partiva con i </a:t>
            </a:r>
            <a:r>
              <a:rPr lang="en-US" sz="1211" b="1" dirty="0">
                <a:solidFill>
                  <a:srgbClr val="4A5568"/>
                </a:solidFill>
                <a:latin typeface="IBM Plex Sans" pitchFamily="34" charset="0"/>
                <a:ea typeface="IBM Plex Sans" pitchFamily="34" charset="-122"/>
                <a:cs typeface="IBM Plex Sans" pitchFamily="34" charset="-120"/>
              </a:rPr>
              <a:t>link tutti su</a:t>
            </a:r>
            <a:r>
              <a:rPr lang="en-US" sz="1211" dirty="0">
                <a:solidFill>
                  <a:srgbClr val="4A5568"/>
                </a:solidFill>
                <a:latin typeface="IBM Plex Sans" pitchFamily="34" charset="0"/>
                <a:ea typeface="IBM Plex Sans" pitchFamily="34" charset="-122"/>
                <a:cs typeface="IBM Plex Sans" pitchFamily="34" charset="-120"/>
              </a:rPr>
              <a:t>: accumulatori grandi, 576 non sposta l’argmax. Con link_state sparso diventano piccoli, e il riferimento ha smesso di concordare.</a:t>
            </a:r>
            <a:endParaRPr lang="en-US" sz="1211" dirty="0"/>
          </a:p>
        </p:txBody>
      </p:sp>
      <p:sp>
        <p:nvSpPr>
          <p:cNvPr id="14" name="Shape 11"/>
          <p:cNvSpPr/>
          <p:nvPr/>
        </p:nvSpPr>
        <p:spPr>
          <a:xfrm>
            <a:off x="7975600" y="4174530"/>
            <a:ext cx="3403600" cy="1667470"/>
          </a:xfrm>
          <a:prstGeom prst="roundRect">
            <a:avLst>
              <a:gd name="adj" fmla="val 6093"/>
            </a:avLst>
          </a:prstGeom>
          <a:solidFill>
            <a:srgbClr val="14213D"/>
          </a:solidFill>
          <a:ln/>
        </p:spPr>
      </p:sp>
      <p:sp>
        <p:nvSpPr>
          <p:cNvPr id="15" name="Text 12"/>
          <p:cNvSpPr/>
          <p:nvPr/>
        </p:nvSpPr>
        <p:spPr>
          <a:xfrm>
            <a:off x="8166100" y="4339630"/>
            <a:ext cx="311327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E8A87C"/>
                </a:solidFill>
                <a:latin typeface="IBM Plex Sans" pitchFamily="34" charset="0"/>
                <a:ea typeface="IBM Plex Sans" pitchFamily="34" charset="-122"/>
                <a:cs typeface="IBM Plex Sans" pitchFamily="34" charset="-120"/>
              </a:rPr>
              <a:t>La correzione</a:t>
            </a:r>
            <a:endParaRPr lang="en-US" sz="1400" dirty="0"/>
          </a:p>
        </p:txBody>
      </p:sp>
      <p:sp>
        <p:nvSpPr>
          <p:cNvPr id="16" name="Text 13"/>
          <p:cNvSpPr/>
          <p:nvPr/>
        </p:nvSpPr>
        <p:spPr>
          <a:xfrm>
            <a:off x="8166100" y="4616450"/>
            <a:ext cx="3113278" cy="94985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D8D5"/>
                </a:solidFill>
                <a:latin typeface="IBM Plex Sans" pitchFamily="34" charset="0"/>
                <a:ea typeface="IBM Plex Sans" pitchFamily="34" charset="-122"/>
                <a:cs typeface="IBM Plex Sans" pitchFamily="34" charset="-120"/>
              </a:rPr>
              <a:t>Una formula sola, </a:t>
            </a:r>
            <a:r>
              <a:rPr lang="en-US" sz="1300" b="1" dirty="0">
                <a:solidFill>
                  <a:srgbClr val="BFD8D5"/>
                </a:solidFill>
                <a:latin typeface="IBM Plex Sans" pitchFamily="34" charset="0"/>
                <a:ea typeface="IBM Plex Sans" pitchFamily="34" charset="-122"/>
                <a:cs typeface="IBM Plex Sans" pitchFamily="34" charset="-120"/>
              </a:rPr>
              <a:t>sℓ−¹</a:t>
            </a:r>
            <a:r>
              <a:rPr lang="en-US" sz="1300" dirty="0">
                <a:solidFill>
                  <a:srgbClr val="BFD8D5"/>
                </a:solidFill>
                <a:latin typeface="IBM Plex Sans" pitchFamily="34" charset="0"/>
                <a:ea typeface="IBM Plex Sans" pitchFamily="34" charset="-122"/>
                <a:cs typeface="IBM Plex Sans" pitchFamily="34" charset="-120"/>
              </a:rPr>
              <a:t>, in entrambi i riferimenti. Il test verificava che eBPF desse lo stesso risultato del riferimento — non che desse quello giusto.</a:t>
            </a:r>
            <a:endParaRPr lang="en-US" sz="1300" dirty="0"/>
          </a:p>
        </p:txBody>
      </p:sp>
      <p:sp>
        <p:nvSpPr>
          <p:cNvPr id="17" name="Text 14"/>
          <p:cNvSpPr/>
          <p:nvPr/>
        </p:nvSpPr>
        <p:spPr>
          <a:xfrm>
            <a:off x="812800" y="6238280"/>
            <a:ext cx="800700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Conseguenza dichiarata: ogni accordo argmax calcolato contro ref_infer precede questa correzione e va rimisurato</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spc="100" kern="0" dirty="0">
                <a:solidFill>
                  <a:srgbClr val="C2410C"/>
                </a:solidFill>
                <a:latin typeface="JetBrains Mono" pitchFamily="34" charset="0"/>
                <a:ea typeface="JetBrains Mono" pitchFamily="34" charset="-122"/>
                <a:cs typeface="JetBrains Mono" pitchFamily="34" charset="-120"/>
              </a:rPr>
              <a:t>PROBLEMA SEMANTICO · CHE COSA SIGNIFICA IL NUMERO</a:t>
            </a:r>
            <a:endParaRPr lang="en-US" sz="1300" dirty="0"/>
          </a:p>
        </p:txBody>
      </p:sp>
      <p:sp>
        <p:nvSpPr>
          <p:cNvPr id="3" name="Text 1"/>
          <p:cNvSpPr/>
          <p:nvPr/>
        </p:nvSpPr>
        <p:spPr>
          <a:xfrm>
            <a:off x="812800" y="1107418"/>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13D"/>
                </a:solidFill>
                <a:latin typeface="IBM Plex Sans" pitchFamily="34" charset="0"/>
                <a:ea typeface="IBM Plex Sans" pitchFamily="34" charset="-122"/>
                <a:cs typeface="IBM Plex Sans" pitchFamily="34" charset="-120"/>
              </a:rPr>
              <a:t>Le classi non sono porte</a:t>
            </a:r>
            <a:endParaRPr lang="en-US" sz="3000" dirty="0"/>
          </a:p>
        </p:txBody>
      </p:sp>
      <p:sp>
        <p:nvSpPr>
          <p:cNvPr id="4" name="Text 2"/>
          <p:cNvSpPr/>
          <p:nvPr/>
        </p:nvSpPr>
        <p:spPr>
          <a:xfrm>
            <a:off x="812800" y="1704318"/>
            <a:ext cx="10464800" cy="283170"/>
          </a:xfrm>
          <a:prstGeom prst="rect">
            <a:avLst/>
          </a:prstGeom>
          <a:noFill/>
          <a:ln/>
        </p:spPr>
        <p:txBody>
          <a:bodyPr wrap="square" lIns="0" tIns="0" rIns="0" bIns="0" rtlCol="0" anchor="t">
            <a:normAutofit/>
          </a:bodyPr>
          <a:lstStyle/>
          <a:p>
            <a:pPr algn="l" indent="0" marL="0">
              <a:lnSpc>
                <a:spcPts val="2030"/>
              </a:lnSpc>
              <a:buNone/>
            </a:pPr>
            <a:r>
              <a:rPr lang="en-US" sz="1450" dirty="0">
                <a:solidFill>
                  <a:srgbClr val="4A5568"/>
                </a:solidFill>
                <a:latin typeface="IBM Plex Sans" pitchFamily="34" charset="0"/>
                <a:ea typeface="IBM Plex Sans" pitchFamily="34" charset="-122"/>
                <a:cs typeface="IBM Plex Sans" pitchFamily="34" charset="-120"/>
              </a:rPr>
              <a:t>La rete produce un indice. </a:t>
            </a:r>
            <a:r>
              <a:rPr lang="en-US" sz="1450" b="1" dirty="0">
                <a:solidFill>
                  <a:srgbClr val="4A5568"/>
                </a:solidFill>
                <a:latin typeface="IBM Plex Sans" pitchFamily="34" charset="0"/>
                <a:ea typeface="IBM Plex Sans" pitchFamily="34" charset="-122"/>
                <a:cs typeface="IBM Plex Sans" pitchFamily="34" charset="-120"/>
              </a:rPr>
              <a:t>Che cosa voglia dire</a:t>
            </a:r>
            <a:r>
              <a:rPr lang="en-US" sz="1450" dirty="0">
                <a:solidFill>
                  <a:srgbClr val="4A5568"/>
                </a:solidFill>
                <a:latin typeface="IBM Plex Sans" pitchFamily="34" charset="0"/>
                <a:ea typeface="IBM Plex Sans" pitchFamily="34" charset="-122"/>
                <a:cs typeface="IBM Plex Sans" pitchFamily="34" charset="-120"/>
              </a:rPr>
              <a:t> quell’indice non lo decide la rete: lo dichiara il descrittore del modello.</a:t>
            </a:r>
            <a:endParaRPr lang="en-US" sz="1450" dirty="0"/>
          </a:p>
        </p:txBody>
      </p:sp>
      <p:sp>
        <p:nvSpPr>
          <p:cNvPr id="5" name="Shape 3"/>
          <p:cNvSpPr/>
          <p:nvPr/>
        </p:nvSpPr>
        <p:spPr>
          <a:xfrm>
            <a:off x="819150" y="2146238"/>
            <a:ext cx="1251281" cy="506677"/>
          </a:xfrm>
          <a:prstGeom prst="roundRect">
            <a:avLst>
              <a:gd name="adj" fmla="val 16292"/>
            </a:avLst>
          </a:prstGeom>
          <a:solidFill>
            <a:srgbClr val="FBFBF8"/>
          </a:solidFill>
          <a:ln w="12700">
            <a:solidFill>
              <a:srgbClr val="14213D"/>
            </a:solidFill>
            <a:prstDash val="solid"/>
          </a:ln>
        </p:spPr>
      </p:sp>
      <p:sp>
        <p:nvSpPr>
          <p:cNvPr id="6" name="Text 4"/>
          <p:cNvSpPr/>
          <p:nvPr/>
        </p:nvSpPr>
        <p:spPr>
          <a:xfrm>
            <a:off x="977900" y="2279588"/>
            <a:ext cx="984581" cy="265377"/>
          </a:xfrm>
          <a:prstGeom prst="rect">
            <a:avLst/>
          </a:prstGeom>
          <a:noFill/>
          <a:ln/>
        </p:spPr>
        <p:txBody>
          <a:bodyPr wrap="square" lIns="0" tIns="0" rIns="0" bIns="0" rtlCol="0" anchor="t">
            <a:normAutofit/>
          </a:bodyPr>
          <a:lstStyle/>
          <a:p>
            <a:pPr algn="l" indent="0" marL="0">
              <a:lnSpc>
                <a:spcPts val="1890"/>
              </a:lnSpc>
              <a:buNone/>
            </a:pPr>
            <a:r>
              <a:rPr lang="en-US" sz="1350" dirty="0">
                <a:solidFill>
                  <a:srgbClr val="14213D"/>
                </a:solidFill>
                <a:latin typeface="IBM Plex Sans" pitchFamily="34" charset="0"/>
                <a:ea typeface="IBM Plex Sans" pitchFamily="34" charset="-122"/>
                <a:cs typeface="IBM Plex Sans" pitchFamily="34" charset="-120"/>
              </a:rPr>
              <a:t>rete neurale</a:t>
            </a:r>
            <a:endParaRPr lang="en-US" sz="1350" dirty="0"/>
          </a:p>
        </p:txBody>
      </p:sp>
      <p:pic>
        <p:nvPicPr>
          <p:cNvPr id="7" name="Image 0" descr="arrow-right">    </p:cNvPr>
          <p:cNvPicPr>
            <a:picLocks noChangeAspect="1"/>
          </p:cNvPicPr>
          <p:nvPr/>
        </p:nvPicPr>
        <p:blipFill>
          <a:blip r:embed="rId1"/>
          <a:srcRect l="0" r="0" t="0" b="0"/>
          <a:stretch/>
        </p:blipFill>
        <p:spPr>
          <a:xfrm>
            <a:off x="2191081" y="2329724"/>
            <a:ext cx="444500" cy="139700"/>
          </a:xfrm>
          <a:prstGeom prst="rect">
            <a:avLst/>
          </a:prstGeom>
        </p:spPr>
      </p:pic>
      <p:sp>
        <p:nvSpPr>
          <p:cNvPr id="8" name="Shape 5"/>
          <p:cNvSpPr/>
          <p:nvPr/>
        </p:nvSpPr>
        <p:spPr>
          <a:xfrm>
            <a:off x="2756231" y="2146238"/>
            <a:ext cx="802018" cy="506677"/>
          </a:xfrm>
          <a:prstGeom prst="roundRect">
            <a:avLst>
              <a:gd name="adj" fmla="val 16292"/>
            </a:avLst>
          </a:prstGeom>
          <a:solidFill>
            <a:srgbClr val="FBFBF8"/>
          </a:solidFill>
          <a:ln w="12700">
            <a:solidFill>
              <a:srgbClr val="14213D"/>
            </a:solidFill>
            <a:prstDash val="solid"/>
          </a:ln>
        </p:spPr>
      </p:sp>
      <p:sp>
        <p:nvSpPr>
          <p:cNvPr id="9" name="Text 6"/>
          <p:cNvSpPr/>
          <p:nvPr/>
        </p:nvSpPr>
        <p:spPr>
          <a:xfrm>
            <a:off x="2914981" y="2279588"/>
            <a:ext cx="535318" cy="265377"/>
          </a:xfrm>
          <a:prstGeom prst="rect">
            <a:avLst/>
          </a:prstGeom>
          <a:noFill/>
          <a:ln/>
        </p:spPr>
        <p:txBody>
          <a:bodyPr wrap="square" lIns="0" tIns="0" rIns="0" bIns="0" rtlCol="0" anchor="t">
            <a:normAutofit/>
          </a:bodyPr>
          <a:lstStyle/>
          <a:p>
            <a:pPr algn="l" indent="0" marL="0">
              <a:lnSpc>
                <a:spcPts val="1890"/>
              </a:lnSpc>
              <a:buNone/>
            </a:pPr>
            <a:r>
              <a:rPr lang="en-US" sz="1350" dirty="0">
                <a:solidFill>
                  <a:srgbClr val="14213D"/>
                </a:solidFill>
                <a:latin typeface="IBM Plex Sans" pitchFamily="34" charset="0"/>
                <a:ea typeface="IBM Plex Sans" pitchFamily="34" charset="-122"/>
                <a:cs typeface="IBM Plex Sans" pitchFamily="34" charset="-120"/>
              </a:rPr>
              <a:t>classe</a:t>
            </a:r>
            <a:endParaRPr lang="en-US" sz="1350" dirty="0"/>
          </a:p>
        </p:txBody>
      </p:sp>
      <p:pic>
        <p:nvPicPr>
          <p:cNvPr id="10" name="Image 1" descr="arrow-right">    </p:cNvPr>
          <p:cNvPicPr>
            <a:picLocks noChangeAspect="1"/>
          </p:cNvPicPr>
          <p:nvPr/>
        </p:nvPicPr>
        <p:blipFill>
          <a:blip r:embed="rId2"/>
          <a:srcRect l="0" r="0" t="0" b="0"/>
          <a:stretch/>
        </p:blipFill>
        <p:spPr>
          <a:xfrm>
            <a:off x="3678899" y="2329724"/>
            <a:ext cx="444500" cy="139700"/>
          </a:xfrm>
          <a:prstGeom prst="rect">
            <a:avLst/>
          </a:prstGeom>
        </p:spPr>
      </p:pic>
      <p:sp>
        <p:nvSpPr>
          <p:cNvPr id="11" name="Shape 7"/>
          <p:cNvSpPr/>
          <p:nvPr/>
        </p:nvSpPr>
        <p:spPr>
          <a:xfrm>
            <a:off x="4237699" y="2152588"/>
            <a:ext cx="1176602" cy="493977"/>
          </a:xfrm>
          <a:prstGeom prst="roundRect">
            <a:avLst>
              <a:gd name="adj" fmla="val 17997"/>
            </a:avLst>
          </a:prstGeom>
          <a:solidFill>
            <a:srgbClr val="C2410C"/>
          </a:solidFill>
          <a:ln/>
        </p:spPr>
      </p:sp>
      <p:sp>
        <p:nvSpPr>
          <p:cNvPr id="12" name="Text 8"/>
          <p:cNvSpPr/>
          <p:nvPr/>
        </p:nvSpPr>
        <p:spPr>
          <a:xfrm>
            <a:off x="4390099" y="2279588"/>
            <a:ext cx="922602" cy="265377"/>
          </a:xfrm>
          <a:prstGeom prst="rect">
            <a:avLst/>
          </a:prstGeom>
          <a:noFill/>
          <a:ln/>
        </p:spPr>
        <p:txBody>
          <a:bodyPr wrap="square" lIns="0" tIns="0" rIns="0" bIns="0" rtlCol="0" anchor="t">
            <a:normAutofit/>
          </a:bodyPr>
          <a:lstStyle/>
          <a:p>
            <a:pPr algn="l" indent="0" marL="0">
              <a:lnSpc>
                <a:spcPts val="1890"/>
              </a:lnSpc>
              <a:buNone/>
            </a:pPr>
            <a:r>
              <a:rPr lang="en-US" sz="1350" b="1" dirty="0">
                <a:solidFill>
                  <a:srgbClr val="FBFBF8"/>
                </a:solidFill>
                <a:latin typeface="IBM Plex Sans" pitchFamily="34" charset="0"/>
                <a:ea typeface="IBM Plex Sans" pitchFamily="34" charset="-122"/>
                <a:cs typeface="IBM Plex Sans" pitchFamily="34" charset="-120"/>
              </a:rPr>
              <a:t>descrittore</a:t>
            </a:r>
            <a:endParaRPr lang="en-US" sz="1350" dirty="0"/>
          </a:p>
        </p:txBody>
      </p:sp>
      <p:pic>
        <p:nvPicPr>
          <p:cNvPr id="13" name="Image 2" descr="arrow-right">    </p:cNvPr>
          <p:cNvPicPr>
            <a:picLocks noChangeAspect="1"/>
          </p:cNvPicPr>
          <p:nvPr/>
        </p:nvPicPr>
        <p:blipFill>
          <a:blip r:embed="rId3"/>
          <a:srcRect l="0" r="0" t="0" b="0"/>
          <a:stretch/>
        </p:blipFill>
        <p:spPr>
          <a:xfrm>
            <a:off x="5528601" y="2329724"/>
            <a:ext cx="444500" cy="139700"/>
          </a:xfrm>
          <a:prstGeom prst="rect">
            <a:avLst/>
          </a:prstGeom>
        </p:spPr>
      </p:pic>
      <p:sp>
        <p:nvSpPr>
          <p:cNvPr id="14" name="Shape 9"/>
          <p:cNvSpPr/>
          <p:nvPr/>
        </p:nvSpPr>
        <p:spPr>
          <a:xfrm>
            <a:off x="6093751" y="2146238"/>
            <a:ext cx="819018" cy="506677"/>
          </a:xfrm>
          <a:prstGeom prst="roundRect">
            <a:avLst>
              <a:gd name="adj" fmla="val 16292"/>
            </a:avLst>
          </a:prstGeom>
          <a:solidFill>
            <a:srgbClr val="FBFBF8"/>
          </a:solidFill>
          <a:ln w="12700">
            <a:solidFill>
              <a:srgbClr val="14213D"/>
            </a:solidFill>
            <a:prstDash val="solid"/>
          </a:ln>
        </p:spPr>
      </p:sp>
      <p:sp>
        <p:nvSpPr>
          <p:cNvPr id="15" name="Text 10"/>
          <p:cNvSpPr/>
          <p:nvPr/>
        </p:nvSpPr>
        <p:spPr>
          <a:xfrm>
            <a:off x="6252501" y="2279588"/>
            <a:ext cx="552318" cy="265377"/>
          </a:xfrm>
          <a:prstGeom prst="rect">
            <a:avLst/>
          </a:prstGeom>
          <a:noFill/>
          <a:ln/>
        </p:spPr>
        <p:txBody>
          <a:bodyPr wrap="square" lIns="0" tIns="0" rIns="0" bIns="0" rtlCol="0" anchor="t">
            <a:normAutofit/>
          </a:bodyPr>
          <a:lstStyle/>
          <a:p>
            <a:pPr algn="l" indent="0" marL="0">
              <a:lnSpc>
                <a:spcPts val="1890"/>
              </a:lnSpc>
              <a:buNone/>
            </a:pPr>
            <a:r>
              <a:rPr lang="en-US" sz="1350" dirty="0">
                <a:solidFill>
                  <a:srgbClr val="14213D"/>
                </a:solidFill>
                <a:latin typeface="IBM Plex Sans" pitchFamily="34" charset="0"/>
                <a:ea typeface="IBM Plex Sans" pitchFamily="34" charset="-122"/>
                <a:cs typeface="IBM Plex Sans" pitchFamily="34" charset="-120"/>
              </a:rPr>
              <a:t>azione</a:t>
            </a:r>
            <a:endParaRPr lang="en-US" sz="1350" dirty="0"/>
          </a:p>
        </p:txBody>
      </p:sp>
      <p:pic>
        <p:nvPicPr>
          <p:cNvPr id="16" name="Image 3" descr="arrow-right">    </p:cNvPr>
          <p:cNvPicPr>
            <a:picLocks noChangeAspect="1"/>
          </p:cNvPicPr>
          <p:nvPr/>
        </p:nvPicPr>
        <p:blipFill>
          <a:blip r:embed="rId4"/>
          <a:srcRect l="0" r="0" t="0" b="0"/>
          <a:stretch/>
        </p:blipFill>
        <p:spPr>
          <a:xfrm>
            <a:off x="7033419" y="2329724"/>
            <a:ext cx="444500" cy="139700"/>
          </a:xfrm>
          <a:prstGeom prst="rect">
            <a:avLst/>
          </a:prstGeom>
        </p:spPr>
      </p:pic>
      <p:sp>
        <p:nvSpPr>
          <p:cNvPr id="17" name="Shape 11"/>
          <p:cNvSpPr/>
          <p:nvPr/>
        </p:nvSpPr>
        <p:spPr>
          <a:xfrm>
            <a:off x="7598569" y="2146238"/>
            <a:ext cx="1222640" cy="506677"/>
          </a:xfrm>
          <a:prstGeom prst="roundRect">
            <a:avLst>
              <a:gd name="adj" fmla="val 16292"/>
            </a:avLst>
          </a:prstGeom>
          <a:solidFill>
            <a:srgbClr val="FBFBF8"/>
          </a:solidFill>
          <a:ln w="12700">
            <a:solidFill>
              <a:srgbClr val="14213D"/>
            </a:solidFill>
            <a:prstDash val="solid"/>
          </a:ln>
        </p:spPr>
      </p:sp>
      <p:sp>
        <p:nvSpPr>
          <p:cNvPr id="18" name="Text 12"/>
          <p:cNvSpPr/>
          <p:nvPr/>
        </p:nvSpPr>
        <p:spPr>
          <a:xfrm>
            <a:off x="7757319" y="2279588"/>
            <a:ext cx="955940" cy="265377"/>
          </a:xfrm>
          <a:prstGeom prst="rect">
            <a:avLst/>
          </a:prstGeom>
          <a:noFill/>
          <a:ln/>
        </p:spPr>
        <p:txBody>
          <a:bodyPr wrap="square" lIns="0" tIns="0" rIns="0" bIns="0" rtlCol="0" anchor="t">
            <a:normAutofit/>
          </a:bodyPr>
          <a:lstStyle/>
          <a:p>
            <a:pPr algn="l" indent="0" marL="0">
              <a:lnSpc>
                <a:spcPts val="1890"/>
              </a:lnSpc>
              <a:buNone/>
            </a:pPr>
            <a:r>
              <a:rPr lang="en-US" sz="1350" dirty="0">
                <a:solidFill>
                  <a:srgbClr val="14213D"/>
                </a:solidFill>
                <a:latin typeface="IBM Plex Sans" pitchFamily="34" charset="0"/>
                <a:ea typeface="IBM Plex Sans" pitchFamily="34" charset="-122"/>
                <a:cs typeface="IBM Plex Sans" pitchFamily="34" charset="-120"/>
              </a:rPr>
              <a:t>porta logica</a:t>
            </a:r>
            <a:endParaRPr lang="en-US" sz="1350" dirty="0"/>
          </a:p>
        </p:txBody>
      </p:sp>
      <p:sp>
        <p:nvSpPr>
          <p:cNvPr id="19" name="Text 13"/>
          <p:cNvSpPr/>
          <p:nvPr/>
        </p:nvSpPr>
        <p:spPr>
          <a:xfrm>
            <a:off x="812800" y="2837061"/>
            <a:ext cx="5101590"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Il modello depositato, dal suo model_meta.json</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12800" y="3144379"/>
          <a:ext cx="4953000" cy="1597290"/>
        </p:xfrm>
        <a:graphic>
          <a:graphicData uri="http://schemas.openxmlformats.org/drawingml/2006/table">
            <a:tbl>
              <a:tblPr/>
              <a:tblGrid>
                <a:gridCol w="1386840"/>
                <a:gridCol w="1783080"/>
                <a:gridCol w="1783080"/>
              </a:tblGrid>
              <a:tr h="399322">
                <a:tc>
                  <a:txBody>
                    <a:bodyPr/>
                    <a:lstStyle/>
                    <a:p>
                      <a:pP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Classe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Azione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Porta logica</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0 – 4</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FORWARD</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0 – 4</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5</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DROP</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6</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UNUSED</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bl>
          </a:graphicData>
        </a:graphic>
      </p:graphicFrame>
      <p:sp>
        <p:nvSpPr>
          <p:cNvPr id="21" name="Shape 14"/>
          <p:cNvSpPr/>
          <p:nvPr/>
        </p:nvSpPr>
        <p:spPr>
          <a:xfrm>
            <a:off x="5969000" y="2837061"/>
            <a:ext cx="5410200" cy="1031147"/>
          </a:xfrm>
          <a:prstGeom prst="roundRect">
            <a:avLst>
              <a:gd name="adj" fmla="val 9853"/>
            </a:avLst>
          </a:prstGeom>
          <a:solidFill>
            <a:srgbClr val="FBFBF8"/>
          </a:solidFill>
          <a:ln/>
        </p:spPr>
      </p:sp>
      <p:sp>
        <p:nvSpPr>
          <p:cNvPr id="22" name="Text 15"/>
          <p:cNvSpPr/>
          <p:nvPr/>
        </p:nvSpPr>
        <p:spPr>
          <a:xfrm>
            <a:off x="6146800" y="2989461"/>
            <a:ext cx="520623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C2410C"/>
                </a:solidFill>
                <a:latin typeface="IBM Plex Sans" pitchFamily="34" charset="0"/>
                <a:ea typeface="IBM Plex Sans" pitchFamily="34" charset="-122"/>
                <a:cs typeface="IBM Plex Sans" pitchFamily="34" charset="-120"/>
              </a:rPr>
              <a:t>L’assunzione che cade</a:t>
            </a:r>
            <a:endParaRPr lang="en-US" sz="1400" dirty="0"/>
          </a:p>
        </p:txBody>
      </p:sp>
      <p:sp>
        <p:nvSpPr>
          <p:cNvPr id="23" name="Text 16"/>
          <p:cNvSpPr/>
          <p:nvPr/>
        </p:nvSpPr>
        <p:spPr>
          <a:xfrm>
            <a:off x="6146800" y="3253581"/>
            <a:ext cx="5206238" cy="4876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Il codice deduceva DROP = n_out − 1. Qui </a:t>
            </a:r>
            <a:r>
              <a:rPr lang="en-US" sz="1300" b="1" dirty="0">
                <a:solidFill>
                  <a:srgbClr val="4A5568"/>
                </a:solidFill>
                <a:latin typeface="IBM Plex Sans" pitchFamily="34" charset="0"/>
                <a:ea typeface="IBM Plex Sans" pitchFamily="34" charset="-122"/>
                <a:cs typeface="IBM Plex Sans" pitchFamily="34" charset="-120"/>
              </a:rPr>
              <a:t>n_out = 7</a:t>
            </a:r>
            <a:r>
              <a:rPr lang="en-US" sz="1300" dirty="0">
                <a:solidFill>
                  <a:srgbClr val="4A5568"/>
                </a:solidFill>
                <a:latin typeface="IBM Plex Sans" pitchFamily="34" charset="0"/>
                <a:ea typeface="IBM Plex Sans" pitchFamily="34" charset="-122"/>
                <a:cs typeface="IBM Plex Sans" pitchFamily="34" charset="-120"/>
              </a:rPr>
              <a:t> ma </a:t>
            </a:r>
            <a:r>
              <a:rPr lang="en-US" sz="1300" b="1" dirty="0">
                <a:solidFill>
                  <a:srgbClr val="4A5568"/>
                </a:solidFill>
                <a:latin typeface="IBM Plex Sans" pitchFamily="34" charset="0"/>
                <a:ea typeface="IBM Plex Sans" pitchFamily="34" charset="-122"/>
                <a:cs typeface="IBM Plex Sans" pitchFamily="34" charset="-120"/>
              </a:rPr>
              <a:t>DROP = 5</a:t>
            </a:r>
            <a:r>
              <a:rPr lang="en-US" sz="1300" dirty="0">
                <a:solidFill>
                  <a:srgbClr val="4A5568"/>
                </a:solidFill>
                <a:latin typeface="IBM Plex Sans" pitchFamily="34" charset="0"/>
                <a:ea typeface="IBM Plex Sans" pitchFamily="34" charset="-122"/>
                <a:cs typeface="IBM Plex Sans" pitchFamily="34" charset="-120"/>
              </a:rPr>
              <a:t>: falso proprio sul modello fornito.</a:t>
            </a:r>
            <a:endParaRPr lang="en-US" sz="1300" dirty="0"/>
          </a:p>
        </p:txBody>
      </p:sp>
      <p:sp>
        <p:nvSpPr>
          <p:cNvPr id="24" name="Shape 17"/>
          <p:cNvSpPr/>
          <p:nvPr/>
        </p:nvSpPr>
        <p:spPr>
          <a:xfrm>
            <a:off x="5969000" y="3982510"/>
            <a:ext cx="5410200" cy="1262261"/>
          </a:xfrm>
          <a:prstGeom prst="roundRect">
            <a:avLst>
              <a:gd name="adj" fmla="val 8049"/>
            </a:avLst>
          </a:prstGeom>
          <a:solidFill>
            <a:srgbClr val="FBFBF8"/>
          </a:solidFill>
          <a:ln/>
        </p:spPr>
      </p:sp>
      <p:sp>
        <p:nvSpPr>
          <p:cNvPr id="25" name="Text 18"/>
          <p:cNvSpPr/>
          <p:nvPr/>
        </p:nvSpPr>
        <p:spPr>
          <a:xfrm>
            <a:off x="6146800" y="4134910"/>
            <a:ext cx="520623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C2410C"/>
                </a:solidFill>
                <a:latin typeface="IBM Plex Sans" pitchFamily="34" charset="0"/>
                <a:ea typeface="IBM Plex Sans" pitchFamily="34" charset="-122"/>
                <a:cs typeface="IBM Plex Sans" pitchFamily="34" charset="-120"/>
              </a:rPr>
              <a:t>Il contatore misurava altro</a:t>
            </a:r>
            <a:endParaRPr lang="en-US" sz="1400" dirty="0"/>
          </a:p>
        </p:txBody>
      </p:sp>
      <p:sp>
        <p:nvSpPr>
          <p:cNvPr id="26" name="Text 19"/>
          <p:cNvSpPr/>
          <p:nvPr/>
        </p:nvSpPr>
        <p:spPr>
          <a:xfrm>
            <a:off x="6146800" y="4399031"/>
            <a:ext cx="5206238" cy="7187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Indicizzato per </a:t>
            </a:r>
            <a:r>
              <a:rPr lang="en-US" sz="1300" b="1" dirty="0">
                <a:solidFill>
                  <a:srgbClr val="4A5568"/>
                </a:solidFill>
                <a:latin typeface="IBM Plex Sans" pitchFamily="34" charset="0"/>
                <a:ea typeface="IBM Plex Sans" pitchFamily="34" charset="-122"/>
                <a:cs typeface="IBM Plex Sans" pitchFamily="34" charset="-120"/>
              </a:rPr>
              <a:t>porta</a:t>
            </a:r>
            <a:r>
              <a:rPr lang="en-US" sz="1300" dirty="0">
                <a:solidFill>
                  <a:srgbClr val="4A5568"/>
                </a:solidFill>
                <a:latin typeface="IBM Plex Sans" pitchFamily="34" charset="0"/>
                <a:ea typeface="IBM Plex Sans" pitchFamily="34" charset="-122"/>
                <a:cs typeface="IBM Plex Sans" pitchFamily="34" charset="-120"/>
              </a:rPr>
              <a:t> invece che per </a:t>
            </a:r>
            <a:r>
              <a:rPr lang="en-US" sz="1300" b="1" dirty="0">
                <a:solidFill>
                  <a:srgbClr val="4A5568"/>
                </a:solidFill>
                <a:latin typeface="IBM Plex Sans" pitchFamily="34" charset="0"/>
                <a:ea typeface="IBM Plex Sans" pitchFamily="34" charset="-122"/>
                <a:cs typeface="IBM Plex Sans" pitchFamily="34" charset="-120"/>
              </a:rPr>
              <a:t>classe</a:t>
            </a:r>
            <a:r>
              <a:rPr lang="en-US" sz="1300" dirty="0">
                <a:solidFill>
                  <a:srgbClr val="4A5568"/>
                </a:solidFill>
                <a:latin typeface="IBM Plex Sans" pitchFamily="34" charset="0"/>
                <a:ea typeface="IBM Plex Sans" pitchFamily="34" charset="-122"/>
                <a:cs typeface="IBM Plex Sans" pitchFamily="34" charset="-120"/>
              </a:rPr>
              <a:t>. Con la mappa identità sembrava giusto; con qualunque altra mappa contava la riga sbagliata.</a:t>
            </a:r>
            <a:endParaRPr lang="en-US" sz="1300" dirty="0"/>
          </a:p>
        </p:txBody>
      </p:sp>
      <p:sp>
        <p:nvSpPr>
          <p:cNvPr id="27" name="Text 20"/>
          <p:cNvSpPr/>
          <p:nvPr/>
        </p:nvSpPr>
        <p:spPr>
          <a:xfrm>
            <a:off x="812800" y="6238280"/>
            <a:ext cx="767956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La mappa è validata nei due versi: ogni classe emettibile ha un’azione, e drop_class deve concordare con essa</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spc="100" kern="0" dirty="0">
                <a:solidFill>
                  <a:srgbClr val="C2410C"/>
                </a:solidFill>
                <a:latin typeface="JetBrains Mono" pitchFamily="34" charset="0"/>
                <a:ea typeface="JetBrains Mono" pitchFamily="34" charset="-122"/>
                <a:cs typeface="JetBrains Mono" pitchFamily="34" charset="-120"/>
              </a:rPr>
              <a:t>INDIPENDENZA DALL’HARDWARE</a:t>
            </a:r>
            <a:endParaRPr lang="en-US" sz="1300" dirty="0"/>
          </a:p>
        </p:txBody>
      </p:sp>
      <p:sp>
        <p:nvSpPr>
          <p:cNvPr id="3" name="Text 1"/>
          <p:cNvSpPr/>
          <p:nvPr/>
        </p:nvSpPr>
        <p:spPr>
          <a:xfrm>
            <a:off x="812800" y="1107418"/>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13D"/>
                </a:solidFill>
                <a:latin typeface="IBM Plex Sans" pitchFamily="34" charset="0"/>
                <a:ea typeface="IBM Plex Sans" pitchFamily="34" charset="-122"/>
                <a:cs typeface="IBM Plex Sans" pitchFamily="34" charset="-120"/>
              </a:rPr>
              <a:t>La porta logica non è l’ifindex</a:t>
            </a:r>
            <a:endParaRPr lang="en-US" sz="3000" dirty="0"/>
          </a:p>
        </p:txBody>
      </p:sp>
      <p:sp>
        <p:nvSpPr>
          <p:cNvPr id="4" name="Shape 2"/>
          <p:cNvSpPr/>
          <p:nvPr/>
        </p:nvSpPr>
        <p:spPr>
          <a:xfrm>
            <a:off x="812800" y="1691618"/>
            <a:ext cx="10566400" cy="1334558"/>
          </a:xfrm>
          <a:prstGeom prst="roundRect">
            <a:avLst>
              <a:gd name="adj" fmla="val 7613"/>
            </a:avLst>
          </a:prstGeom>
          <a:solidFill>
            <a:srgbClr val="4A1D1D"/>
          </a:solidFill>
          <a:ln/>
        </p:spPr>
      </p:sp>
      <p:sp>
        <p:nvSpPr>
          <p:cNvPr id="5" name="Text 3"/>
          <p:cNvSpPr/>
          <p:nvPr/>
        </p:nvSpPr>
        <p:spPr>
          <a:xfrm>
            <a:off x="1016000" y="1856718"/>
            <a:ext cx="10464800" cy="246327"/>
          </a:xfrm>
          <a:prstGeom prst="rect">
            <a:avLst/>
          </a:prstGeom>
          <a:noFill/>
          <a:ln/>
        </p:spPr>
        <p:txBody>
          <a:bodyPr wrap="square" lIns="0" tIns="0" rIns="0" bIns="0" rtlCol="0" anchor="t">
            <a:normAutofit/>
          </a:bodyPr>
          <a:lstStyle/>
          <a:p>
            <a:pPr algn="l" indent="0" marL="0">
              <a:lnSpc>
                <a:spcPts val="1740"/>
              </a:lnSpc>
              <a:buNone/>
            </a:pPr>
            <a:r>
              <a:rPr lang="en-US" sz="1450" b="1" dirty="0">
                <a:solidFill>
                  <a:srgbClr val="F0A0A0"/>
                </a:solidFill>
                <a:latin typeface="IBM Plex Sans" pitchFamily="34" charset="0"/>
                <a:ea typeface="IBM Plex Sans" pitchFamily="34" charset="-122"/>
                <a:cs typeface="IBM Plex Sans" pitchFamily="34" charset="-120"/>
              </a:rPr>
              <a:t>Il difetto</a:t>
            </a:r>
            <a:endParaRPr lang="en-US" sz="1450" dirty="0"/>
          </a:p>
        </p:txBody>
      </p:sp>
      <p:sp>
        <p:nvSpPr>
          <p:cNvPr id="6" name="Text 4"/>
          <p:cNvSpPr/>
          <p:nvPr/>
        </p:nvSpPr>
        <p:spPr>
          <a:xfrm>
            <a:off x="1016000" y="2141141"/>
            <a:ext cx="10203180" cy="745331"/>
          </a:xfrm>
          <a:prstGeom prst="rect">
            <a:avLst/>
          </a:prstGeom>
          <a:noFill/>
          <a:ln/>
        </p:spPr>
        <p:txBody>
          <a:bodyPr wrap="square" lIns="0" tIns="0" rIns="0" bIns="0" rtlCol="0" anchor="t">
            <a:normAutofit/>
          </a:bodyPr>
          <a:lstStyle/>
          <a:p>
            <a:pPr algn="l" indent="0" marL="0">
              <a:lnSpc>
                <a:spcPts val="1890"/>
              </a:lnSpc>
              <a:buNone/>
            </a:pPr>
            <a:r>
              <a:rPr lang="en-US" sz="1350" dirty="0">
                <a:solidFill>
                  <a:srgbClr val="FBFBF8"/>
                </a:solidFill>
                <a:latin typeface="IBM Plex Sans" pitchFamily="34" charset="0"/>
                <a:ea typeface="IBM Plex Sans" pitchFamily="34" charset="-122"/>
                <a:cs typeface="IBM Plex Sans" pitchFamily="34" charset="-120"/>
              </a:rPr>
              <a:t>Il datapath passava ctx-&gt;ingress_ifindex dritto nel one-hot ingress_iface, con la guardia &gt;= 1 &amp;&amp; &lt;= n_interfaces. Gli ifindex veri sono arbitrari — 205, 217, 229 — quindi su hardware reale quella feature addestrata </a:t>
            </a:r>
            <a:r>
              <a:rPr lang="en-US" sz="1350" b="1" dirty="0">
                <a:solidFill>
                  <a:srgbClr val="FBFBF8"/>
                </a:solidFill>
                <a:latin typeface="IBM Plex Sans" pitchFamily="34" charset="0"/>
                <a:ea typeface="IBM Plex Sans" pitchFamily="34" charset="-122"/>
                <a:cs typeface="IBM Plex Sans" pitchFamily="34" charset="-120"/>
              </a:rPr>
              <a:t>non contribuiva nulla</a:t>
            </a:r>
            <a:r>
              <a:rPr lang="en-US" sz="1350" dirty="0">
                <a:solidFill>
                  <a:srgbClr val="FBFBF8"/>
                </a:solidFill>
                <a:latin typeface="IBM Plex Sans" pitchFamily="34" charset="0"/>
                <a:ea typeface="IBM Plex Sans" pitchFamily="34" charset="-122"/>
                <a:cs typeface="IBM Plex Sans" pitchFamily="34" charset="-120"/>
              </a:rPr>
              <a:t>. P1 traduceva con una tabella, P2 e P3 no: per lo stesso pacchetto sceglievano colonne diverse.</a:t>
            </a:r>
            <a:endParaRPr lang="en-US" sz="1350" dirty="0"/>
          </a:p>
        </p:txBody>
      </p:sp>
      <p:sp>
        <p:nvSpPr>
          <p:cNvPr id="7" name="Shape 5"/>
          <p:cNvSpPr/>
          <p:nvPr/>
        </p:nvSpPr>
        <p:spPr>
          <a:xfrm>
            <a:off x="812800" y="3191272"/>
            <a:ext cx="5715000" cy="2241418"/>
          </a:xfrm>
          <a:prstGeom prst="roundRect">
            <a:avLst>
              <a:gd name="adj" fmla="val 4533"/>
            </a:avLst>
          </a:prstGeom>
          <a:solidFill>
            <a:srgbClr val="EEF1F5"/>
          </a:solidFill>
          <a:ln/>
        </p:spPr>
      </p:sp>
      <p:sp>
        <p:nvSpPr>
          <p:cNvPr id="8" name="Text 6"/>
          <p:cNvSpPr/>
          <p:nvPr/>
        </p:nvSpPr>
        <p:spPr>
          <a:xfrm>
            <a:off x="1016000" y="3369072"/>
            <a:ext cx="5467858" cy="246327"/>
          </a:xfrm>
          <a:prstGeom prst="rect">
            <a:avLst/>
          </a:prstGeom>
          <a:noFill/>
          <a:ln/>
        </p:spPr>
        <p:txBody>
          <a:bodyPr wrap="square" lIns="0" tIns="0" rIns="0" bIns="0" rtlCol="0" anchor="t">
            <a:normAutofit/>
          </a:bodyPr>
          <a:lstStyle/>
          <a:p>
            <a:pPr algn="l" indent="0" marL="0">
              <a:lnSpc>
                <a:spcPts val="1740"/>
              </a:lnSpc>
              <a:buNone/>
            </a:pPr>
            <a:r>
              <a:rPr lang="en-US" sz="1450" b="1" dirty="0">
                <a:solidFill>
                  <a:srgbClr val="14213D"/>
                </a:solidFill>
                <a:latin typeface="IBM Plex Sans" pitchFamily="34" charset="0"/>
                <a:ea typeface="IBM Plex Sans" pitchFamily="34" charset="-122"/>
                <a:cs typeface="IBM Plex Sans" pitchFamily="34" charset="-120"/>
              </a:rPr>
              <a:t>Lo stesso modello, due nodi</a:t>
            </a:r>
            <a:endParaRPr lang="en-US" sz="1450" dirty="0"/>
          </a:p>
        </p:txBody>
      </p:sp>
      <p:sp>
        <p:nvSpPr>
          <p:cNvPr id="9" name="Shape 7"/>
          <p:cNvSpPr/>
          <p:nvPr/>
        </p:nvSpPr>
        <p:spPr>
          <a:xfrm>
            <a:off x="1022350" y="3730960"/>
            <a:ext cx="1574800" cy="447014"/>
          </a:xfrm>
          <a:prstGeom prst="roundRect">
            <a:avLst>
              <a:gd name="adj" fmla="val 15626"/>
            </a:avLst>
          </a:prstGeom>
          <a:solidFill>
            <a:srgbClr val="FBFBF8"/>
          </a:solidFill>
          <a:ln w="12700">
            <a:solidFill>
              <a:srgbClr val="14213D"/>
            </a:solidFill>
            <a:prstDash val="solid"/>
          </a:ln>
        </p:spPr>
      </p:sp>
      <p:sp>
        <p:nvSpPr>
          <p:cNvPr id="10" name="Text 8"/>
          <p:cNvSpPr/>
          <p:nvPr/>
        </p:nvSpPr>
        <p:spPr>
          <a:xfrm>
            <a:off x="1155700" y="3838910"/>
            <a:ext cx="1358900"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porta logica </a:t>
            </a:r>
            <a:r>
              <a:rPr lang="en-US" sz="1300" b="1" dirty="0">
                <a:solidFill>
                  <a:srgbClr val="14213D"/>
                </a:solidFill>
                <a:latin typeface="IBM Plex Sans" pitchFamily="34" charset="0"/>
                <a:ea typeface="IBM Plex Sans" pitchFamily="34" charset="-122"/>
                <a:cs typeface="IBM Plex Sans" pitchFamily="34" charset="-120"/>
              </a:rPr>
              <a:t>2</a:t>
            </a:r>
            <a:endParaRPr lang="en-US" sz="1300" dirty="0"/>
          </a:p>
        </p:txBody>
      </p:sp>
      <p:pic>
        <p:nvPicPr>
          <p:cNvPr id="11" name="Image 0" descr="arrow-right">    </p:cNvPr>
          <p:cNvPicPr>
            <a:picLocks noChangeAspect="1"/>
          </p:cNvPicPr>
          <p:nvPr/>
        </p:nvPicPr>
        <p:blipFill>
          <a:blip r:embed="rId1"/>
          <a:srcRect l="0" r="0" t="0" b="0"/>
          <a:stretch/>
        </p:blipFill>
        <p:spPr>
          <a:xfrm>
            <a:off x="2705100" y="3890962"/>
            <a:ext cx="381000" cy="127000"/>
          </a:xfrm>
          <a:prstGeom prst="rect">
            <a:avLst/>
          </a:prstGeom>
        </p:spPr>
      </p:pic>
      <p:sp>
        <p:nvSpPr>
          <p:cNvPr id="12" name="Text 9"/>
          <p:cNvSpPr/>
          <p:nvPr/>
        </p:nvSpPr>
        <p:spPr>
          <a:xfrm>
            <a:off x="3187700" y="3691601"/>
            <a:ext cx="3231007"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nodo A  →  </a:t>
            </a:r>
            <a:r>
              <a:rPr lang="en-US" sz="1300" dirty="0">
                <a:solidFill>
                  <a:srgbClr val="C2410C"/>
                </a:solidFill>
                <a:latin typeface="IBM Plex Sans" pitchFamily="34" charset="0"/>
                <a:ea typeface="IBM Plex Sans" pitchFamily="34" charset="-122"/>
                <a:cs typeface="IBM Plex Sans" pitchFamily="34" charset="-120"/>
              </a:rPr>
              <a:t>ifindex 7</a:t>
            </a:r>
            <a:endParaRPr lang="en-US" sz="1300" dirty="0"/>
          </a:p>
        </p:txBody>
      </p:sp>
      <p:sp>
        <p:nvSpPr>
          <p:cNvPr id="13" name="Text 10"/>
          <p:cNvSpPr/>
          <p:nvPr/>
        </p:nvSpPr>
        <p:spPr>
          <a:xfrm>
            <a:off x="3187700" y="3986213"/>
            <a:ext cx="3231007"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nodo B  →  </a:t>
            </a:r>
            <a:r>
              <a:rPr lang="en-US" sz="1300" dirty="0">
                <a:solidFill>
                  <a:srgbClr val="C2410C"/>
                </a:solidFill>
                <a:latin typeface="IBM Plex Sans" pitchFamily="34" charset="0"/>
                <a:ea typeface="IBM Plex Sans" pitchFamily="34" charset="-122"/>
                <a:cs typeface="IBM Plex Sans" pitchFamily="34" charset="-120"/>
              </a:rPr>
              <a:t>ifindex 12</a:t>
            </a:r>
            <a:endParaRPr lang="en-US" sz="1300" dirty="0"/>
          </a:p>
        </p:txBody>
      </p:sp>
      <p:sp>
        <p:nvSpPr>
          <p:cNvPr id="14" name="Text 11"/>
          <p:cNvSpPr/>
          <p:nvPr/>
        </p:nvSpPr>
        <p:spPr>
          <a:xfrm>
            <a:off x="1016000" y="4318930"/>
            <a:ext cx="5467858" cy="4876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Gli ifindex sono locali alla macchina. Il modello non deve conoscerli: li conosce il nodo.</a:t>
            </a:r>
            <a:endParaRPr lang="en-US" sz="1300" dirty="0"/>
          </a:p>
        </p:txBody>
      </p:sp>
      <p:sp>
        <p:nvSpPr>
          <p:cNvPr id="15" name="Shape 12"/>
          <p:cNvSpPr/>
          <p:nvPr/>
        </p:nvSpPr>
        <p:spPr>
          <a:xfrm>
            <a:off x="6731000" y="3191272"/>
            <a:ext cx="4648200" cy="2241418"/>
          </a:xfrm>
          <a:prstGeom prst="roundRect">
            <a:avLst>
              <a:gd name="adj" fmla="val 4533"/>
            </a:avLst>
          </a:prstGeom>
          <a:solidFill>
            <a:srgbClr val="14213D"/>
          </a:solidFill>
          <a:ln/>
        </p:spPr>
      </p:sp>
      <p:sp>
        <p:nvSpPr>
          <p:cNvPr id="16" name="Text 13"/>
          <p:cNvSpPr/>
          <p:nvPr/>
        </p:nvSpPr>
        <p:spPr>
          <a:xfrm>
            <a:off x="6934200" y="3369072"/>
            <a:ext cx="4369054" cy="246327"/>
          </a:xfrm>
          <a:prstGeom prst="rect">
            <a:avLst/>
          </a:prstGeom>
          <a:noFill/>
          <a:ln/>
        </p:spPr>
        <p:txBody>
          <a:bodyPr wrap="square" lIns="0" tIns="0" rIns="0" bIns="0" rtlCol="0" anchor="t">
            <a:normAutofit/>
          </a:bodyPr>
          <a:lstStyle/>
          <a:p>
            <a:pPr algn="l" indent="0" marL="0">
              <a:lnSpc>
                <a:spcPts val="1740"/>
              </a:lnSpc>
              <a:buNone/>
            </a:pPr>
            <a:r>
              <a:rPr lang="en-US" sz="1450" b="1" dirty="0">
                <a:solidFill>
                  <a:srgbClr val="E8A87C"/>
                </a:solidFill>
                <a:latin typeface="IBM Plex Sans" pitchFamily="34" charset="0"/>
                <a:ea typeface="IBM Plex Sans" pitchFamily="34" charset="-122"/>
                <a:cs typeface="IBM Plex Sans" pitchFamily="34" charset="-120"/>
              </a:rPr>
              <a:t>La correzione, simmetrica</a:t>
            </a:r>
            <a:endParaRPr lang="en-US" sz="1450" dirty="0"/>
          </a:p>
        </p:txBody>
      </p:sp>
      <p:sp>
        <p:nvSpPr>
          <p:cNvPr id="17" name="Text 14"/>
          <p:cNvSpPr/>
          <p:nvPr/>
        </p:nvSpPr>
        <p:spPr>
          <a:xfrm>
            <a:off x="6934200" y="3666201"/>
            <a:ext cx="4369054" cy="504164"/>
          </a:xfrm>
          <a:prstGeom prst="rect">
            <a:avLst/>
          </a:prstGeom>
          <a:noFill/>
          <a:ln/>
        </p:spPr>
        <p:txBody>
          <a:bodyPr wrap="square" lIns="0" tIns="0" rIns="0" bIns="0" rtlCol="0" anchor="t">
            <a:normAutofit/>
          </a:bodyPr>
          <a:lstStyle/>
          <a:p>
            <a:pPr algn="l" indent="0" marL="0">
              <a:lnSpc>
                <a:spcPts val="1885"/>
              </a:lnSpc>
              <a:buNone/>
            </a:pPr>
            <a:r>
              <a:rPr lang="en-US" sz="1300" b="1" dirty="0">
                <a:solidFill>
                  <a:srgbClr val="BFD8D5"/>
                </a:solidFill>
                <a:latin typeface="IBM Plex Sans" pitchFamily="34" charset="0"/>
                <a:ea typeface="IBM Plex Sans" pitchFamily="34" charset="-122"/>
                <a:cs typeface="IBM Plex Sans" pitchFamily="34" charset="-120"/>
              </a:rPr>
              <a:t>In ingresso</a:t>
            </a:r>
            <a:r>
              <a:rPr lang="en-US" sz="1300" dirty="0">
                <a:solidFill>
                  <a:srgbClr val="BFD8D5"/>
                </a:solidFill>
                <a:latin typeface="IBM Plex Sans" pitchFamily="34" charset="0"/>
                <a:ea typeface="IBM Plex Sans" pitchFamily="34" charset="-122"/>
                <a:cs typeface="IBM Plex Sans" pitchFamily="34" charset="-120"/>
              </a:rPr>
              <a:t>: mappa ifindex → porta logica, speculare alla tabella MAC già usata in uscita.</a:t>
            </a:r>
            <a:endParaRPr lang="en-US" sz="1300" dirty="0"/>
          </a:p>
        </p:txBody>
      </p:sp>
      <p:sp>
        <p:nvSpPr>
          <p:cNvPr id="18" name="Text 15"/>
          <p:cNvSpPr/>
          <p:nvPr/>
        </p:nvSpPr>
        <p:spPr>
          <a:xfrm>
            <a:off x="6934200" y="4221163"/>
            <a:ext cx="4369054" cy="504164"/>
          </a:xfrm>
          <a:prstGeom prst="rect">
            <a:avLst/>
          </a:prstGeom>
          <a:noFill/>
          <a:ln/>
        </p:spPr>
        <p:txBody>
          <a:bodyPr wrap="square" lIns="0" tIns="0" rIns="0" bIns="0" rtlCol="0" anchor="t">
            <a:normAutofit/>
          </a:bodyPr>
          <a:lstStyle/>
          <a:p>
            <a:pPr algn="l" indent="0" marL="0">
              <a:lnSpc>
                <a:spcPts val="1885"/>
              </a:lnSpc>
              <a:buNone/>
            </a:pPr>
            <a:r>
              <a:rPr lang="en-US" sz="1300" b="1" dirty="0">
                <a:solidFill>
                  <a:srgbClr val="BFD8D5"/>
                </a:solidFill>
                <a:latin typeface="IBM Plex Sans" pitchFamily="34" charset="0"/>
                <a:ea typeface="IBM Plex Sans" pitchFamily="34" charset="-122"/>
                <a:cs typeface="IBM Plex Sans" pitchFamily="34" charset="-120"/>
              </a:rPr>
              <a:t>In uscita</a:t>
            </a:r>
            <a:r>
              <a:rPr lang="en-US" sz="1300" dirty="0">
                <a:solidFill>
                  <a:srgbClr val="BFD8D5"/>
                </a:solidFill>
                <a:latin typeface="IBM Plex Sans" pitchFamily="34" charset="0"/>
                <a:ea typeface="IBM Plex Sans" pitchFamily="34" charset="-122"/>
                <a:cs typeface="IBM Plex Sans" pitchFamily="34" charset="-120"/>
              </a:rPr>
              <a:t>: classe → azione → porta logica → ifindex locale del nodo.</a:t>
            </a:r>
            <a:endParaRPr lang="en-US" sz="1300" dirty="0"/>
          </a:p>
        </p:txBody>
      </p:sp>
      <p:sp>
        <p:nvSpPr>
          <p:cNvPr id="19" name="Text 16"/>
          <p:cNvSpPr/>
          <p:nvPr/>
        </p:nvSpPr>
        <p:spPr>
          <a:xfrm>
            <a:off x="6934200" y="4776130"/>
            <a:ext cx="4369054"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BFD8D5"/>
                </a:solidFill>
                <a:latin typeface="IBM Plex Sans" pitchFamily="34" charset="0"/>
                <a:ea typeface="IBM Plex Sans" pitchFamily="34" charset="-122"/>
                <a:cs typeface="IBM Plex Sans" pitchFamily="34" charset="-120"/>
              </a:rPr>
              <a:t>Il motore lavora su porte logiche da un capo all’altro. La traduzione sta agli estremi, in entrambe le direzioni.</a:t>
            </a:r>
            <a:endParaRPr lang="en-US" sz="1300" dirty="0"/>
          </a:p>
        </p:txBody>
      </p:sp>
      <p:sp>
        <p:nvSpPr>
          <p:cNvPr id="20" name="Text 17"/>
          <p:cNvSpPr/>
          <p:nvPr/>
        </p:nvSpPr>
        <p:spPr>
          <a:xfrm>
            <a:off x="812800" y="6238280"/>
            <a:ext cx="1011794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Nota di banco: sotto BPF_PROG_TEST_RUN il programma vede sempre ifindex 1 — la mappa va scritta a quella chiave, non a una scelta a piacere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800" y="812800"/>
            <a:ext cx="10883392" cy="243814"/>
          </a:xfrm>
          <a:prstGeom prst="rect">
            <a:avLst/>
          </a:prstGeom>
          <a:noFill/>
          <a:ln/>
        </p:spPr>
        <p:txBody>
          <a:bodyPr wrap="square" lIns="0" tIns="0" rIns="0" bIns="0" rtlCol="0" anchor="t">
            <a:normAutofit/>
          </a:bodyPr>
          <a:lstStyle/>
          <a:p>
            <a:pPr algn="l" indent="0" marL="0">
              <a:lnSpc>
                <a:spcPts val="1723"/>
              </a:lnSpc>
              <a:buNone/>
            </a:pPr>
            <a:r>
              <a:rPr lang="en-US" sz="1231" spc="100" kern="0" dirty="0">
                <a:solidFill>
                  <a:srgbClr val="C2410C"/>
                </a:solidFill>
                <a:latin typeface="JetBrains Mono" pitchFamily="34" charset="0"/>
                <a:ea typeface="JetBrains Mono" pitchFamily="34" charset="-122"/>
                <a:cs typeface="JetBrains Mono" pitchFamily="34" charset="-120"/>
              </a:rPr>
              <a:t>INDIPENDENZA DALLO SCENARIO</a:t>
            </a:r>
            <a:endParaRPr lang="en-US" sz="1231" dirty="0"/>
          </a:p>
        </p:txBody>
      </p:sp>
      <p:sp>
        <p:nvSpPr>
          <p:cNvPr id="3" name="Text 1"/>
          <p:cNvSpPr/>
          <p:nvPr/>
        </p:nvSpPr>
        <p:spPr>
          <a:xfrm>
            <a:off x="812800" y="1094718"/>
            <a:ext cx="10883392" cy="421614"/>
          </a:xfrm>
          <a:prstGeom prst="rect">
            <a:avLst/>
          </a:prstGeom>
          <a:noFill/>
          <a:ln/>
        </p:spPr>
        <p:txBody>
          <a:bodyPr wrap="square" lIns="0" tIns="0" rIns="0" bIns="0" rtlCol="0" anchor="t">
            <a:normAutofit/>
          </a:bodyPr>
          <a:lstStyle/>
          <a:p>
            <a:pPr algn="l" indent="0" marL="0">
              <a:lnSpc>
                <a:spcPts val="3125"/>
              </a:lnSpc>
              <a:buNone/>
            </a:pPr>
            <a:r>
              <a:rPr lang="en-US" sz="2841" b="1" dirty="0">
                <a:solidFill>
                  <a:srgbClr val="14213D"/>
                </a:solidFill>
                <a:latin typeface="IBM Plex Sans" pitchFamily="34" charset="0"/>
                <a:ea typeface="IBM Plex Sans" pitchFamily="34" charset="-122"/>
                <a:cs typeface="IBM Plex Sans" pitchFamily="34" charset="-120"/>
              </a:rPr>
              <a:t>Il motore non è Germany50</a:t>
            </a:r>
            <a:endParaRPr lang="en-US" sz="2841" dirty="0"/>
          </a:p>
        </p:txBody>
      </p:sp>
      <p:sp>
        <p:nvSpPr>
          <p:cNvPr id="4" name="Text 2"/>
          <p:cNvSpPr/>
          <p:nvPr/>
        </p:nvSpPr>
        <p:spPr>
          <a:xfrm>
            <a:off x="812800" y="1656029"/>
            <a:ext cx="10464800" cy="515276"/>
          </a:xfrm>
          <a:prstGeom prst="rect">
            <a:avLst/>
          </a:prstGeom>
          <a:noFill/>
          <a:ln/>
        </p:spPr>
        <p:txBody>
          <a:bodyPr wrap="square" lIns="0" tIns="0" rIns="0" bIns="0" rtlCol="0" anchor="t">
            <a:normAutofit/>
          </a:bodyPr>
          <a:lstStyle/>
          <a:p>
            <a:pPr algn="l" indent="0" marL="0">
              <a:lnSpc>
                <a:spcPts val="1935"/>
              </a:lnSpc>
              <a:buNone/>
            </a:pPr>
            <a:r>
              <a:rPr lang="en-US" sz="1382" dirty="0">
                <a:solidFill>
                  <a:srgbClr val="4A5568"/>
                </a:solidFill>
                <a:latin typeface="IBM Plex Sans" pitchFamily="34" charset="0"/>
                <a:ea typeface="IBM Plex Sans" pitchFamily="34" charset="-122"/>
                <a:cs typeface="IBM Plex Sans" pitchFamily="34" charset="-120"/>
              </a:rPr>
              <a:t>Il numero 65 non è una costante del progetto: è la somma delle larghezze delle feature di </a:t>
            </a:r>
            <a:r>
              <a:rPr lang="en-US" sz="1382" i="1" dirty="0">
                <a:solidFill>
                  <a:srgbClr val="4A5568"/>
                </a:solidFill>
                <a:latin typeface="IBM Plex Sans" pitchFamily="34" charset="0"/>
                <a:ea typeface="IBM Plex Sans" pitchFamily="34" charset="-122"/>
                <a:cs typeface="IBM Plex Sans" pitchFamily="34" charset="-120"/>
              </a:rPr>
              <a:t>una</a:t>
            </a:r>
            <a:r>
              <a:rPr lang="en-US" sz="1382" dirty="0">
                <a:solidFill>
                  <a:srgbClr val="4A5568"/>
                </a:solidFill>
                <a:latin typeface="IBM Plex Sans" pitchFamily="34" charset="0"/>
                <a:ea typeface="IBM Plex Sans" pitchFamily="34" charset="-122"/>
                <a:cs typeface="IBM Plex Sans" pitchFamily="34" charset="-120"/>
              </a:rPr>
              <a:t> rete. Compilarlo dentro voleva dire avere un motore Germany50 con un’interfaccia dall’aria generica.</a:t>
            </a:r>
            <a:endParaRPr lang="en-US" sz="1382" dirty="0"/>
          </a:p>
        </p:txBody>
      </p:sp>
      <p:sp>
        <p:nvSpPr>
          <p:cNvPr id="5" name="Shape 3"/>
          <p:cNvSpPr/>
          <p:nvPr/>
        </p:nvSpPr>
        <p:spPr>
          <a:xfrm>
            <a:off x="812800" y="2311003"/>
            <a:ext cx="10566400" cy="884039"/>
          </a:xfrm>
          <a:prstGeom prst="roundRect">
            <a:avLst>
              <a:gd name="adj" fmla="val 11493"/>
            </a:avLst>
          </a:prstGeom>
          <a:solidFill>
            <a:srgbClr val="FBFBF8"/>
          </a:solidFill>
          <a:ln/>
        </p:spPr>
      </p:sp>
      <p:pic>
        <p:nvPicPr>
          <p:cNvPr id="6" name="Image 0" descr="n in uguale sei link piu' sei interfacce piu' uno ttl piu' cinquantadue nodi uguale sessantacinque">    </p:cNvPr>
          <p:cNvPicPr>
            <a:picLocks noChangeAspect="1"/>
          </p:cNvPicPr>
          <p:nvPr/>
        </p:nvPicPr>
        <p:blipFill>
          <a:blip r:embed="rId1"/>
          <a:srcRect l="-115" r="-115" t="0" b="0"/>
          <a:stretch/>
        </p:blipFill>
        <p:spPr>
          <a:xfrm>
            <a:off x="2349500" y="2463403"/>
            <a:ext cx="7493000" cy="60960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12800" y="3360142"/>
          <a:ext cx="6350000" cy="2395934"/>
        </p:xfrm>
        <a:graphic>
          <a:graphicData uri="http://schemas.openxmlformats.org/drawingml/2006/table">
            <a:tbl>
              <a:tblPr/>
              <a:tblGrid>
                <a:gridCol w="1651000"/>
                <a:gridCol w="889000"/>
                <a:gridCol w="889000"/>
                <a:gridCol w="1524000"/>
                <a:gridCol w="1397000"/>
              </a:tblGrid>
              <a:tr h="399322">
                <a:tc>
                  <a:txBody>
                    <a:bodyPr/>
                    <a:lstStyle/>
                    <a:p>
                      <a:pP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Scenario</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iface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nodi</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rete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nᵢₙ</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ones</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3</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4</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2</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11</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small</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3</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8</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4</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15</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mixed</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4</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12</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6</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18</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ipa_like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6</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52</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4-4</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65</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large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8</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100</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8-8</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117</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bl>
          </a:graphicData>
        </a:graphic>
      </p:graphicFrame>
      <p:sp>
        <p:nvSpPr>
          <p:cNvPr id="8" name="Shape 4"/>
          <p:cNvSpPr/>
          <p:nvPr/>
        </p:nvSpPr>
        <p:spPr>
          <a:xfrm>
            <a:off x="7366000" y="3548924"/>
            <a:ext cx="4013200" cy="468577"/>
          </a:xfrm>
          <a:prstGeom prst="roundRect">
            <a:avLst>
              <a:gd name="adj" fmla="val 18972"/>
            </a:avLst>
          </a:prstGeom>
          <a:solidFill>
            <a:srgbClr val="FBFBF8"/>
          </a:solidFill>
          <a:ln/>
        </p:spPr>
      </p:sp>
      <p:sp>
        <p:nvSpPr>
          <p:cNvPr id="9" name="Text 5"/>
          <p:cNvSpPr/>
          <p:nvPr/>
        </p:nvSpPr>
        <p:spPr>
          <a:xfrm>
            <a:off x="7518400" y="3663224"/>
            <a:ext cx="3819652" cy="265377"/>
          </a:xfrm>
          <a:prstGeom prst="rect">
            <a:avLst/>
          </a:prstGeom>
          <a:noFill/>
          <a:ln/>
        </p:spPr>
        <p:txBody>
          <a:bodyPr wrap="square" lIns="0" tIns="0" rIns="0" bIns="0" rtlCol="0" anchor="t">
            <a:normAutofit/>
          </a:bodyPr>
          <a:lstStyle/>
          <a:p>
            <a:pPr algn="l" indent="0" marL="0">
              <a:lnSpc>
                <a:spcPts val="1890"/>
              </a:lnSpc>
              <a:buNone/>
            </a:pPr>
            <a:r>
              <a:rPr lang="en-US" sz="1350" b="1" dirty="0">
                <a:solidFill>
                  <a:srgbClr val="14213D"/>
                </a:solidFill>
                <a:latin typeface="IBM Plex Sans" pitchFamily="34" charset="0"/>
                <a:ea typeface="IBM Plex Sans" pitchFamily="34" charset="-122"/>
                <a:cs typeface="IBM Plex Sans" pitchFamily="34" charset="-120"/>
              </a:rPr>
              <a:t>Scenario</a:t>
            </a:r>
            <a:r>
              <a:rPr lang="en-US" sz="1350" dirty="0">
                <a:solidFill>
                  <a:srgbClr val="14213D"/>
                </a:solidFill>
                <a:latin typeface="IBM Plex Sans" pitchFamily="34" charset="0"/>
                <a:ea typeface="IBM Plex Sans" pitchFamily="34" charset="-122"/>
                <a:cs typeface="IBM Plex Sans" pitchFamily="34" charset="-120"/>
              </a:rPr>
              <a:t> — la rete concreta</a:t>
            </a:r>
            <a:endParaRPr lang="en-US" sz="1350" dirty="0"/>
          </a:p>
        </p:txBody>
      </p:sp>
      <p:sp>
        <p:nvSpPr>
          <p:cNvPr id="10" name="Text 6"/>
          <p:cNvSpPr/>
          <p:nvPr/>
        </p:nvSpPr>
        <p:spPr>
          <a:xfrm>
            <a:off x="7305802" y="4106404"/>
            <a:ext cx="4133596" cy="196850"/>
          </a:xfrm>
          <a:prstGeom prst="rect">
            <a:avLst/>
          </a:prstGeom>
          <a:noFill/>
          <a:ln/>
        </p:spPr>
        <p:txBody>
          <a:bodyPr wrap="square" lIns="0" tIns="0" rIns="0" bIns="0" rtlCol="0" anchor="t">
            <a:normAutofit/>
          </a:bodyPr>
          <a:lstStyle/>
          <a:p>
            <a:pPr algn="ctr" indent="0" marL="0">
              <a:lnSpc>
                <a:spcPts val="1350"/>
              </a:lnSpc>
              <a:buNone/>
            </a:pPr>
            <a:r>
              <a:rPr lang="en-US" sz="1500" dirty="0">
                <a:solidFill>
                  <a:srgbClr val="8FA3BF"/>
                </a:solidFill>
                <a:latin typeface="IBM Plex Sans" pitchFamily="34" charset="0"/>
                <a:ea typeface="IBM Plex Sans" pitchFamily="34" charset="-122"/>
                <a:cs typeface="IBM Plex Sans" pitchFamily="34" charset="-120"/>
              </a:rPr>
              <a:t>↓</a:t>
            </a:r>
            <a:endParaRPr lang="en-US" sz="1500" dirty="0"/>
          </a:p>
        </p:txBody>
      </p:sp>
      <p:sp>
        <p:nvSpPr>
          <p:cNvPr id="11" name="Shape 7"/>
          <p:cNvSpPr/>
          <p:nvPr/>
        </p:nvSpPr>
        <p:spPr>
          <a:xfrm>
            <a:off x="7366000" y="4366754"/>
            <a:ext cx="4013200" cy="468577"/>
          </a:xfrm>
          <a:prstGeom prst="roundRect">
            <a:avLst>
              <a:gd name="adj" fmla="val 18972"/>
            </a:avLst>
          </a:prstGeom>
          <a:solidFill>
            <a:srgbClr val="FBFBF8"/>
          </a:solidFill>
          <a:ln/>
        </p:spPr>
      </p:sp>
      <p:sp>
        <p:nvSpPr>
          <p:cNvPr id="12" name="Text 8"/>
          <p:cNvSpPr/>
          <p:nvPr/>
        </p:nvSpPr>
        <p:spPr>
          <a:xfrm>
            <a:off x="7518400" y="4481054"/>
            <a:ext cx="3819652" cy="265377"/>
          </a:xfrm>
          <a:prstGeom prst="rect">
            <a:avLst/>
          </a:prstGeom>
          <a:noFill/>
          <a:ln/>
        </p:spPr>
        <p:txBody>
          <a:bodyPr wrap="square" lIns="0" tIns="0" rIns="0" bIns="0" rtlCol="0" anchor="t">
            <a:normAutofit/>
          </a:bodyPr>
          <a:lstStyle/>
          <a:p>
            <a:pPr algn="l" indent="0" marL="0">
              <a:lnSpc>
                <a:spcPts val="1890"/>
              </a:lnSpc>
              <a:buNone/>
            </a:pPr>
            <a:r>
              <a:rPr lang="en-US" sz="1350" b="1" dirty="0">
                <a:solidFill>
                  <a:srgbClr val="14213D"/>
                </a:solidFill>
                <a:latin typeface="IBM Plex Sans" pitchFamily="34" charset="0"/>
                <a:ea typeface="IBM Plex Sans" pitchFamily="34" charset="-122"/>
                <a:cs typeface="IBM Plex Sans" pitchFamily="34" charset="-120"/>
              </a:rPr>
              <a:t>Configurazione</a:t>
            </a:r>
            <a:r>
              <a:rPr lang="en-US" sz="1350" dirty="0">
                <a:solidFill>
                  <a:srgbClr val="14213D"/>
                </a:solidFill>
                <a:latin typeface="IBM Plex Sans" pitchFamily="34" charset="0"/>
                <a:ea typeface="IBM Plex Sans" pitchFamily="34" charset="-122"/>
                <a:cs typeface="IBM Plex Sans" pitchFamily="34" charset="-120"/>
              </a:rPr>
              <a:t> — nodi, interfacce, modello</a:t>
            </a:r>
            <a:endParaRPr lang="en-US" sz="1350" dirty="0"/>
          </a:p>
        </p:txBody>
      </p:sp>
      <p:sp>
        <p:nvSpPr>
          <p:cNvPr id="13" name="Text 9"/>
          <p:cNvSpPr/>
          <p:nvPr/>
        </p:nvSpPr>
        <p:spPr>
          <a:xfrm>
            <a:off x="7305802" y="4924227"/>
            <a:ext cx="4133596" cy="196850"/>
          </a:xfrm>
          <a:prstGeom prst="rect">
            <a:avLst/>
          </a:prstGeom>
          <a:noFill/>
          <a:ln/>
        </p:spPr>
        <p:txBody>
          <a:bodyPr wrap="square" lIns="0" tIns="0" rIns="0" bIns="0" rtlCol="0" anchor="t">
            <a:normAutofit/>
          </a:bodyPr>
          <a:lstStyle/>
          <a:p>
            <a:pPr algn="ctr" indent="0" marL="0">
              <a:lnSpc>
                <a:spcPts val="1350"/>
              </a:lnSpc>
              <a:buNone/>
            </a:pPr>
            <a:r>
              <a:rPr lang="en-US" sz="1500" dirty="0">
                <a:solidFill>
                  <a:srgbClr val="8FA3BF"/>
                </a:solidFill>
                <a:latin typeface="IBM Plex Sans" pitchFamily="34" charset="0"/>
                <a:ea typeface="IBM Plex Sans" pitchFamily="34" charset="-122"/>
                <a:cs typeface="IBM Plex Sans" pitchFamily="34" charset="-120"/>
              </a:rPr>
              <a:t>↓</a:t>
            </a:r>
            <a:endParaRPr lang="en-US" sz="1500" dirty="0"/>
          </a:p>
        </p:txBody>
      </p:sp>
      <p:sp>
        <p:nvSpPr>
          <p:cNvPr id="14" name="Shape 10"/>
          <p:cNvSpPr/>
          <p:nvPr/>
        </p:nvSpPr>
        <p:spPr>
          <a:xfrm>
            <a:off x="7366000" y="5184577"/>
            <a:ext cx="4013200" cy="468577"/>
          </a:xfrm>
          <a:prstGeom prst="roundRect">
            <a:avLst>
              <a:gd name="adj" fmla="val 18972"/>
            </a:avLst>
          </a:prstGeom>
          <a:solidFill>
            <a:srgbClr val="14213D"/>
          </a:solidFill>
          <a:ln/>
        </p:spPr>
      </p:sp>
      <p:sp>
        <p:nvSpPr>
          <p:cNvPr id="15" name="Text 11"/>
          <p:cNvSpPr/>
          <p:nvPr/>
        </p:nvSpPr>
        <p:spPr>
          <a:xfrm>
            <a:off x="7518400" y="5298877"/>
            <a:ext cx="3819652" cy="265377"/>
          </a:xfrm>
          <a:prstGeom prst="rect">
            <a:avLst/>
          </a:prstGeom>
          <a:noFill/>
          <a:ln/>
        </p:spPr>
        <p:txBody>
          <a:bodyPr wrap="square" lIns="0" tIns="0" rIns="0" bIns="0" rtlCol="0" anchor="t">
            <a:normAutofit/>
          </a:bodyPr>
          <a:lstStyle/>
          <a:p>
            <a:pPr algn="l" indent="0" marL="0">
              <a:lnSpc>
                <a:spcPts val="1890"/>
              </a:lnSpc>
              <a:buNone/>
            </a:pPr>
            <a:r>
              <a:rPr lang="en-US" sz="1350" b="1" dirty="0">
                <a:solidFill>
                  <a:srgbClr val="FBFBF8"/>
                </a:solidFill>
                <a:latin typeface="IBM Plex Sans" pitchFamily="34" charset="0"/>
                <a:ea typeface="IBM Plex Sans" pitchFamily="34" charset="-122"/>
                <a:cs typeface="IBM Plex Sans" pitchFamily="34" charset="-120"/>
              </a:rPr>
              <a:t>Motore</a:t>
            </a:r>
            <a:r>
              <a:rPr lang="en-US" sz="1350" dirty="0">
                <a:solidFill>
                  <a:srgbClr val="FBFBF8"/>
                </a:solidFill>
                <a:latin typeface="IBM Plex Sans" pitchFamily="34" charset="0"/>
                <a:ea typeface="IBM Plex Sans" pitchFamily="34" charset="-122"/>
                <a:cs typeface="IBM Plex Sans" pitchFamily="34" charset="-120"/>
              </a:rPr>
              <a:t> — pipeline, inferenza, classi</a:t>
            </a:r>
            <a:endParaRPr lang="en-US" sz="1350" dirty="0"/>
          </a:p>
        </p:txBody>
      </p:sp>
      <p:sp>
        <p:nvSpPr>
          <p:cNvPr id="16" name="Text 12"/>
          <p:cNvSpPr/>
          <p:nvPr/>
        </p:nvSpPr>
        <p:spPr>
          <a:xfrm>
            <a:off x="812800" y="6238280"/>
            <a:ext cx="80542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Nessuna riga del motore nomina Germany50 · mixed non ha nemmeno la feature ingress_iface: 4 + 1 + 1 + 12 = 18</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21258"/>
          </a:xfrm>
          <a:prstGeom prst="rect">
            <a:avLst/>
          </a:prstGeom>
          <a:noFill/>
          <a:ln/>
        </p:spPr>
        <p:txBody>
          <a:bodyPr wrap="square" lIns="0" tIns="0" rIns="0" bIns="0" rtlCol="0" anchor="t">
            <a:normAutofit/>
          </a:bodyPr>
          <a:lstStyle/>
          <a:p>
            <a:pPr algn="l" indent="0" marL="0">
              <a:lnSpc>
                <a:spcPts val="1570"/>
              </a:lnSpc>
              <a:buNone/>
            </a:pPr>
            <a:r>
              <a:rPr lang="en-US" sz="1121" spc="100" kern="0" dirty="0">
                <a:solidFill>
                  <a:srgbClr val="C2410C"/>
                </a:solidFill>
                <a:latin typeface="JetBrains Mono" pitchFamily="34" charset="0"/>
                <a:ea typeface="JetBrains Mono" pitchFamily="34" charset="-122"/>
                <a:cs typeface="JetBrains Mono" pitchFamily="34" charset="-120"/>
              </a:rPr>
              <a:t>ACCORDO E DISACCORDO</a:t>
            </a:r>
            <a:endParaRPr lang="en-US" sz="1121" dirty="0"/>
          </a:p>
        </p:txBody>
      </p:sp>
      <p:sp>
        <p:nvSpPr>
          <p:cNvPr id="3" name="Text 1"/>
          <p:cNvSpPr/>
          <p:nvPr/>
        </p:nvSpPr>
        <p:spPr>
          <a:xfrm>
            <a:off x="812800" y="1072158"/>
            <a:ext cx="10883392" cy="380735"/>
          </a:xfrm>
          <a:prstGeom prst="rect">
            <a:avLst/>
          </a:prstGeom>
          <a:noFill/>
          <a:ln/>
        </p:spPr>
        <p:txBody>
          <a:bodyPr wrap="square" lIns="0" tIns="0" rIns="0" bIns="0" rtlCol="0" anchor="t">
            <a:normAutofit/>
          </a:bodyPr>
          <a:lstStyle/>
          <a:p>
            <a:pPr algn="l" indent="0" marL="0">
              <a:lnSpc>
                <a:spcPts val="2815"/>
              </a:lnSpc>
              <a:buNone/>
            </a:pPr>
            <a:r>
              <a:rPr lang="en-US" sz="2559" b="1" dirty="0">
                <a:solidFill>
                  <a:srgbClr val="14213D"/>
                </a:solidFill>
                <a:latin typeface="IBM Plex Sans" pitchFamily="34" charset="0"/>
                <a:ea typeface="IBM Plex Sans" pitchFamily="34" charset="-122"/>
                <a:cs typeface="IBM Plex Sans" pitchFamily="34" charset="-120"/>
              </a:rPr>
              <a:t>Quattro vie, perché due non bastano</a:t>
            </a:r>
            <a:endParaRPr lang="en-US" sz="2559" dirty="0"/>
          </a:p>
        </p:txBody>
      </p:sp>
      <p:sp>
        <p:nvSpPr>
          <p:cNvPr id="4" name="Shape 2"/>
          <p:cNvSpPr/>
          <p:nvPr/>
        </p:nvSpPr>
        <p:spPr>
          <a:xfrm>
            <a:off x="812800" y="1605297"/>
            <a:ext cx="10566400" cy="1015868"/>
          </a:xfrm>
          <a:prstGeom prst="roundRect">
            <a:avLst>
              <a:gd name="adj" fmla="val 10001"/>
            </a:avLst>
          </a:prstGeom>
          <a:solidFill>
            <a:srgbClr val="EEF1F5"/>
          </a:solidFill>
          <a:ln/>
        </p:spPr>
      </p:sp>
      <p:pic>
        <p:nvPicPr>
          <p:cNvPr id="5" name="Image 0" descr="A di X e Y uguale la cardinalita' dell'insieme degli n per cui argmax di X n uguale argmax di Y n, diviso N; D uguale uno meno A">    </p:cNvPr>
          <p:cNvPicPr>
            <a:picLocks noChangeAspect="1"/>
          </p:cNvPicPr>
          <p:nvPr/>
        </p:nvPicPr>
        <p:blipFill>
          <a:blip r:embed="rId1"/>
          <a:srcRect l="-7894" r="-7894" t="0" b="0"/>
          <a:stretch/>
        </p:blipFill>
        <p:spPr>
          <a:xfrm>
            <a:off x="1587500" y="1757697"/>
            <a:ext cx="9017000" cy="711068"/>
          </a:xfrm>
          <a:prstGeom prst="rect">
            <a:avLst/>
          </a:prstGeom>
        </p:spPr>
      </p:pic>
      <p:sp>
        <p:nvSpPr>
          <p:cNvPr id="6" name="Text 3"/>
          <p:cNvSpPr/>
          <p:nvPr/>
        </p:nvSpPr>
        <p:spPr>
          <a:xfrm>
            <a:off x="812800" y="2798961"/>
            <a:ext cx="10203180" cy="239713"/>
          </a:xfrm>
          <a:prstGeom prst="rect">
            <a:avLst/>
          </a:prstGeom>
          <a:noFill/>
          <a:ln/>
        </p:spPr>
        <p:txBody>
          <a:bodyPr wrap="square" lIns="0" tIns="0" rIns="0" bIns="0" rtlCol="0" anchor="t">
            <a:normAutofit/>
          </a:bodyPr>
          <a:lstStyle/>
          <a:p>
            <a:pPr algn="l" indent="0" marL="0">
              <a:lnSpc>
                <a:spcPts val="1721"/>
              </a:lnSpc>
              <a:buNone/>
            </a:pPr>
            <a:r>
              <a:rPr lang="en-US" sz="1229" dirty="0">
                <a:solidFill>
                  <a:srgbClr val="4A5568"/>
                </a:solidFill>
                <a:latin typeface="IBM Plex Sans" pitchFamily="34" charset="0"/>
                <a:ea typeface="IBM Plex Sans" pitchFamily="34" charset="-122"/>
                <a:cs typeface="IBM Plex Sans" pitchFamily="34" charset="-120"/>
              </a:rPr>
              <a:t>Un disaccordo ha più di una causa possibile, e cause diverse chiedono rimedi diversi. Ogni coppia ne isola una.</a:t>
            </a:r>
            <a:endParaRPr lang="en-US" sz="1229"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12800" y="3191073"/>
          <a:ext cx="10566400" cy="1777669"/>
        </p:xfrm>
        <a:graphic>
          <a:graphicData uri="http://schemas.openxmlformats.org/drawingml/2006/table">
            <a:tbl>
              <a:tblPr/>
              <a:tblGrid>
                <a:gridCol w="3803904"/>
                <a:gridCol w="4226560"/>
                <a:gridCol w="2535936"/>
              </a:tblGrid>
              <a:tr h="355534">
                <a:tc>
                  <a:txBody>
                    <a:bodyPr/>
                    <a:lstStyle/>
                    <a:p>
                      <a:pPr indent="0" marL="0">
                        <a:lnSpc>
                          <a:spcPts val="1798"/>
                        </a:lnSpc>
                        <a:buNone/>
                      </a:pPr>
                      <a:r>
                        <a:rPr lang="en-US" sz="1284" b="1" dirty="0">
                          <a:solidFill>
                            <a:srgbClr val="FBFBF8"/>
                          </a:solidFill>
                          <a:latin typeface="IBM Plex Sans" pitchFamily="34" charset="0"/>
                          <a:ea typeface="IBM Plex Sans" pitchFamily="34" charset="-122"/>
                          <a:cs typeface="IBM Plex Sans" pitchFamily="34" charset="-120"/>
                        </a:rPr>
                        <a:t>Confronto</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indent="0" marL="0">
                        <a:lnSpc>
                          <a:spcPts val="1798"/>
                        </a:lnSpc>
                        <a:buNone/>
                      </a:pPr>
                      <a:r>
                        <a:rPr lang="en-US" sz="1284" b="1" dirty="0">
                          <a:solidFill>
                            <a:srgbClr val="FBFBF8"/>
                          </a:solidFill>
                          <a:latin typeface="IBM Plex Sans" pitchFamily="34" charset="0"/>
                          <a:ea typeface="IBM Plex Sans" pitchFamily="34" charset="-122"/>
                          <a:cs typeface="IBM Plex Sans" pitchFamily="34" charset="-120"/>
                        </a:rPr>
                        <a:t>Che cosa isola</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indent="0" marL="0">
                        <a:lnSpc>
                          <a:spcPts val="1798"/>
                        </a:lnSpc>
                        <a:buNone/>
                      </a:pPr>
                      <a:r>
                        <a:rPr lang="en-US" sz="1284" b="1" dirty="0">
                          <a:solidFill>
                            <a:srgbClr val="FBFBF8"/>
                          </a:solidFill>
                          <a:latin typeface="IBM Plex Sans" pitchFamily="34" charset="0"/>
                          <a:ea typeface="IBM Plex Sans" pitchFamily="34" charset="-122"/>
                          <a:cs typeface="IBM Plex Sans" pitchFamily="34" charset="-120"/>
                        </a:rPr>
                        <a:t>Atteso</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r>
              <a:tr h="355534">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float  vs  int8 Python</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quantizzazione</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può essere &lt; 100 %</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55534">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int8 Python  vs  riferimento</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le due vie intere concordano?</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100 %</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r>
              <a:tr h="355534">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riferimento  vs  eBPF</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datapath esatto per la sua configurazione</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100 %</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55534">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int8 Python  vs  eBPF</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implementazione</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100 %, sempre</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r>
            </a:tbl>
          </a:graphicData>
        </a:graphic>
      </p:graphicFrame>
      <p:sp>
        <p:nvSpPr>
          <p:cNvPr id="8" name="Text 4"/>
          <p:cNvSpPr/>
          <p:nvPr/>
        </p:nvSpPr>
        <p:spPr>
          <a:xfrm>
            <a:off x="812800" y="5413245"/>
            <a:ext cx="10203180" cy="454157"/>
          </a:xfrm>
          <a:prstGeom prst="rect">
            <a:avLst/>
          </a:prstGeom>
          <a:noFill/>
          <a:ln/>
        </p:spPr>
        <p:txBody>
          <a:bodyPr wrap="square" lIns="0" tIns="0" rIns="0" bIns="0" rtlCol="0" anchor="t">
            <a:normAutofit/>
          </a:bodyPr>
          <a:lstStyle/>
          <a:p>
            <a:pPr algn="l" indent="0" marL="0">
              <a:lnSpc>
                <a:spcPts val="1868"/>
              </a:lnSpc>
              <a:buNone/>
            </a:pPr>
            <a:r>
              <a:rPr lang="en-US" sz="1334" dirty="0">
                <a:solidFill>
                  <a:srgbClr val="14213D"/>
                </a:solidFill>
                <a:latin typeface="IBM Plex Sans" pitchFamily="34" charset="0"/>
                <a:ea typeface="IBM Plex Sans" pitchFamily="34" charset="-122"/>
                <a:cs typeface="IBM Plex Sans" pitchFamily="34" charset="-120"/>
              </a:rPr>
              <a:t>Le ultime due righe insieme separano </a:t>
            </a:r>
            <a:r>
              <a:rPr lang="en-US" sz="1334" b="1" dirty="0">
                <a:solidFill>
                  <a:srgbClr val="14213D"/>
                </a:solidFill>
                <a:latin typeface="IBM Plex Sans" pitchFamily="34" charset="0"/>
                <a:ea typeface="IBM Plex Sans" pitchFamily="34" charset="-122"/>
                <a:cs typeface="IBM Plex Sans" pitchFamily="34" charset="-120"/>
              </a:rPr>
              <a:t>“il datapath sbaglia un conto”</a:t>
            </a:r>
            <a:r>
              <a:rPr lang="en-US" sz="1334" dirty="0">
                <a:solidFill>
                  <a:srgbClr val="14213D"/>
                </a:solidFill>
                <a:latin typeface="IBM Plex Sans" pitchFamily="34" charset="0"/>
                <a:ea typeface="IBM Plex Sans" pitchFamily="34" charset="-122"/>
                <a:cs typeface="IBM Plex Sans" pitchFamily="34" charset="-120"/>
              </a:rPr>
              <a:t> da </a:t>
            </a:r>
            <a:r>
              <a:rPr lang="en-US" sz="1334" b="1" dirty="0">
                <a:solidFill>
                  <a:srgbClr val="14213D"/>
                </a:solidFill>
                <a:latin typeface="IBM Plex Sans" pitchFamily="34" charset="0"/>
                <a:ea typeface="IBM Plex Sans" pitchFamily="34" charset="-122"/>
                <a:cs typeface="IBM Plex Sans" pitchFamily="34" charset="-120"/>
              </a:rPr>
              <a:t>“il datapath esegue bene una configurazione sbagliata”</a:t>
            </a:r>
            <a:r>
              <a:rPr lang="en-US" sz="1334" dirty="0">
                <a:solidFill>
                  <a:srgbClr val="14213D"/>
                </a:solidFill>
                <a:latin typeface="IBM Plex Sans" pitchFamily="34" charset="0"/>
                <a:ea typeface="IBM Plex Sans" pitchFamily="34" charset="-122"/>
                <a:cs typeface="IBM Plex Sans" pitchFamily="34" charset="-120"/>
              </a:rPr>
              <a:t>.</a:t>
            </a:r>
            <a:endParaRPr lang="en-US" sz="1334" dirty="0"/>
          </a:p>
        </p:txBody>
      </p:sp>
      <p:sp>
        <p:nvSpPr>
          <p:cNvPr id="9" name="Text 5"/>
          <p:cNvSpPr/>
          <p:nvPr/>
        </p:nvSpPr>
        <p:spPr>
          <a:xfrm>
            <a:off x="812800" y="6238280"/>
            <a:ext cx="43151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verify_synth_kernel.py · 300 ingressi per scenario, seme fisso</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spc="100" kern="0" dirty="0">
                <a:solidFill>
                  <a:srgbClr val="C2410C"/>
                </a:solidFill>
                <a:latin typeface="JetBrains Mono" pitchFamily="34" charset="0"/>
                <a:ea typeface="JetBrains Mono" pitchFamily="34" charset="-122"/>
                <a:cs typeface="JetBrains Mono" pitchFamily="34" charset="-120"/>
              </a:rPr>
              <a:t>SLEGARSI DAL MODELLO FORNITO</a:t>
            </a:r>
            <a:endParaRPr lang="en-US" sz="1300" dirty="0"/>
          </a:p>
        </p:txBody>
      </p:sp>
      <p:sp>
        <p:nvSpPr>
          <p:cNvPr id="3" name="Text 1"/>
          <p:cNvSpPr/>
          <p:nvPr/>
        </p:nvSpPr>
        <p:spPr>
          <a:xfrm>
            <a:off x="812800" y="112011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213D"/>
                </a:solidFill>
                <a:latin typeface="IBM Plex Sans" pitchFamily="34" charset="0"/>
                <a:ea typeface="IBM Plex Sans" pitchFamily="34" charset="-122"/>
                <a:cs typeface="IBM Plex Sans" pitchFamily="34" charset="-120"/>
              </a:rPr>
              <a:t>Sette modelli che nessuno ha scelto</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2800" y="1770329"/>
          <a:ext cx="4826000" cy="3194579"/>
        </p:xfrm>
        <a:graphic>
          <a:graphicData uri="http://schemas.openxmlformats.org/drawingml/2006/table">
            <a:tbl>
              <a:tblPr/>
              <a:tblGrid>
                <a:gridCol w="1640840"/>
                <a:gridCol w="1833880"/>
                <a:gridCol w="1351280"/>
              </a:tblGrid>
              <a:tr h="399322">
                <a:tc>
                  <a:txBody>
                    <a:bodyPr/>
                    <a:lstStyle/>
                    <a:p>
                      <a:pP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Scenario</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Forma</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Pesi</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ones</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11-2-3</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33</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small</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15-4-4</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84</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mixed</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18-6-5</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149</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ipa_like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65-4-4-7</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319</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sparse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65-4-4-7</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319</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deep</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65-4-4-4-7</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339</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large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117-8-8-9</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1 097</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bl>
          </a:graphicData>
        </a:graphic>
      </p:graphicFrame>
      <p:sp>
        <p:nvSpPr>
          <p:cNvPr id="5" name="Shape 2"/>
          <p:cNvSpPr/>
          <p:nvPr/>
        </p:nvSpPr>
        <p:spPr>
          <a:xfrm>
            <a:off x="5892800" y="1770329"/>
            <a:ext cx="5486400" cy="1126464"/>
          </a:xfrm>
          <a:prstGeom prst="roundRect">
            <a:avLst>
              <a:gd name="adj" fmla="val 9019"/>
            </a:avLst>
          </a:prstGeom>
          <a:solidFill>
            <a:srgbClr val="FBFBF8"/>
          </a:solidFill>
          <a:ln/>
        </p:spPr>
      </p:sp>
      <p:sp>
        <p:nvSpPr>
          <p:cNvPr id="6" name="Text 3"/>
          <p:cNvSpPr/>
          <p:nvPr/>
        </p:nvSpPr>
        <p:spPr>
          <a:xfrm>
            <a:off x="6096000" y="1948129"/>
            <a:ext cx="523240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Quattro tipi di feature</a:t>
            </a:r>
            <a:endParaRPr lang="en-US" sz="1500" dirty="0"/>
          </a:p>
        </p:txBody>
      </p:sp>
      <p:sp>
        <p:nvSpPr>
          <p:cNvPr id="7" name="Text 4"/>
          <p:cNvSpPr/>
          <p:nvPr/>
        </p:nvSpPr>
        <p:spPr>
          <a:xfrm>
            <a:off x="6096000" y="2240229"/>
            <a:ext cx="5232400" cy="504164"/>
          </a:xfrm>
          <a:prstGeom prst="rect">
            <a:avLst/>
          </a:prstGeom>
          <a:noFill/>
          <a:ln/>
        </p:spPr>
        <p:txBody>
          <a:bodyPr wrap="square" lIns="0" tIns="0" rIns="0" bIns="0" rtlCol="0" anchor="t">
            <a:normAutofit/>
          </a:bodyPr>
          <a:lstStyle/>
          <a:p>
            <a:pPr algn="l" indent="0" marL="0">
              <a:lnSpc>
                <a:spcPts val="1885"/>
              </a:lnSpc>
              <a:buNone/>
            </a:pPr>
            <a:r>
              <a:rPr lang="en-US" sz="1300" b="1" dirty="0">
                <a:solidFill>
                  <a:srgbClr val="4A5568"/>
                </a:solidFill>
                <a:latin typeface="IBM Plex Sans" pitchFamily="34" charset="0"/>
                <a:ea typeface="IBM Plex Sans" pitchFamily="34" charset="-122"/>
                <a:cs typeface="IBM Plex Sans" pitchFamily="34" charset="-120"/>
              </a:rPr>
              <a:t>real</a:t>
            </a:r>
            <a:r>
              <a:rPr lang="en-US" sz="1300" dirty="0">
                <a:solidFill>
                  <a:srgbClr val="4A5568"/>
                </a:solidFill>
                <a:latin typeface="IBM Plex Sans" pitchFamily="34" charset="0"/>
                <a:ea typeface="IBM Plex Sans" pitchFamily="34" charset="-122"/>
                <a:cs typeface="IBM Plex Sans" pitchFamily="34" charset="-120"/>
              </a:rPr>
              <a:t> (valore in [lo,hi] portato come intero diviso per una scala) · </a:t>
            </a:r>
            <a:r>
              <a:rPr lang="en-US" sz="1300" b="1" dirty="0">
                <a:solidFill>
                  <a:srgbClr val="4A5568"/>
                </a:solidFill>
                <a:latin typeface="IBM Plex Sans" pitchFamily="34" charset="0"/>
                <a:ea typeface="IBM Plex Sans" pitchFamily="34" charset="-122"/>
                <a:cs typeface="IBM Plex Sans" pitchFamily="34" charset="-120"/>
              </a:rPr>
              <a:t>integer</a:t>
            </a:r>
            <a:r>
              <a:rPr lang="en-US" sz="1300" dirty="0">
                <a:solidFill>
                  <a:srgbClr val="4A5568"/>
                </a:solidFill>
                <a:latin typeface="IBM Plex Sans" pitchFamily="34" charset="0"/>
                <a:ea typeface="IBM Plex Sans" pitchFamily="34" charset="-122"/>
                <a:cs typeface="IBM Plex Sans" pitchFamily="34" charset="-120"/>
              </a:rPr>
              <a:t> · </a:t>
            </a:r>
            <a:r>
              <a:rPr lang="en-US" sz="1300" b="1" dirty="0">
                <a:solidFill>
                  <a:srgbClr val="4A5568"/>
                </a:solidFill>
                <a:latin typeface="IBM Plex Sans" pitchFamily="34" charset="0"/>
                <a:ea typeface="IBM Plex Sans" pitchFamily="34" charset="-122"/>
                <a:cs typeface="IBM Plex Sans" pitchFamily="34" charset="-120"/>
              </a:rPr>
              <a:t>binary</a:t>
            </a:r>
            <a:r>
              <a:rPr lang="en-US" sz="1300" dirty="0">
                <a:solidFill>
                  <a:srgbClr val="4A5568"/>
                </a:solidFill>
                <a:latin typeface="IBM Plex Sans" pitchFamily="34" charset="0"/>
                <a:ea typeface="IBM Plex Sans" pitchFamily="34" charset="-122"/>
                <a:cs typeface="IBM Plex Sans" pitchFamily="34" charset="-120"/>
              </a:rPr>
              <a:t> (vettore di 0/1) · </a:t>
            </a:r>
            <a:r>
              <a:rPr lang="en-US" sz="1300" b="1" dirty="0">
                <a:solidFill>
                  <a:srgbClr val="4A5568"/>
                </a:solidFill>
                <a:latin typeface="IBM Plex Sans" pitchFamily="34" charset="0"/>
                <a:ea typeface="IBM Plex Sans" pitchFamily="34" charset="-122"/>
                <a:cs typeface="IBM Plex Sans" pitchFamily="34" charset="-120"/>
              </a:rPr>
              <a:t>onehot</a:t>
            </a:r>
            <a:r>
              <a:rPr lang="en-US" sz="1300" dirty="0">
                <a:solidFill>
                  <a:srgbClr val="4A5568"/>
                </a:solidFill>
                <a:latin typeface="IBM Plex Sans" pitchFamily="34" charset="0"/>
                <a:ea typeface="IBM Plex Sans" pitchFamily="34" charset="-122"/>
                <a:cs typeface="IBM Plex Sans" pitchFamily="34" charset="-120"/>
              </a:rPr>
              <a:t> (esattamente un 1)</a:t>
            </a:r>
            <a:endParaRPr lang="en-US" sz="1300" dirty="0"/>
          </a:p>
        </p:txBody>
      </p:sp>
      <p:sp>
        <p:nvSpPr>
          <p:cNvPr id="8" name="Shape 5"/>
          <p:cNvSpPr/>
          <p:nvPr/>
        </p:nvSpPr>
        <p:spPr>
          <a:xfrm>
            <a:off x="5892800" y="3023791"/>
            <a:ext cx="5486400" cy="1365845"/>
          </a:xfrm>
          <a:prstGeom prst="roundRect">
            <a:avLst>
              <a:gd name="adj" fmla="val 7439"/>
            </a:avLst>
          </a:prstGeom>
          <a:solidFill>
            <a:srgbClr val="FBFBF8"/>
          </a:solidFill>
          <a:ln/>
        </p:spPr>
      </p:sp>
      <p:sp>
        <p:nvSpPr>
          <p:cNvPr id="9" name="Text 6"/>
          <p:cNvSpPr/>
          <p:nvPr/>
        </p:nvSpPr>
        <p:spPr>
          <a:xfrm>
            <a:off x="6096000" y="3201591"/>
            <a:ext cx="523240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Per ogni scenario</a:t>
            </a:r>
            <a:endParaRPr lang="en-US" sz="1500" dirty="0"/>
          </a:p>
        </p:txBody>
      </p:sp>
      <p:sp>
        <p:nvSpPr>
          <p:cNvPr id="10" name="Text 7"/>
          <p:cNvSpPr/>
          <p:nvPr/>
        </p:nvSpPr>
        <p:spPr>
          <a:xfrm>
            <a:off x="6096000" y="3493691"/>
            <a:ext cx="5232400" cy="743545"/>
          </a:xfrm>
          <a:prstGeom prst="rect">
            <a:avLst/>
          </a:prstGeom>
          <a:noFill/>
          <a:ln/>
        </p:spPr>
        <p:txBody>
          <a:bodyPr wrap="square" lIns="0" tIns="0" rIns="0" bIns="0" rtlCol="0" anchor="t">
            <a:normAutofit/>
          </a:bodyPr>
          <a:lstStyle/>
          <a:p>
            <a:pPr algn="l" indent="0" marL="0">
              <a:lnSpc>
                <a:spcPts val="1885"/>
              </a:lnSpc>
              <a:buNone/>
            </a:pPr>
            <a:r>
              <a:rPr lang="en-US" sz="1300" b="1" dirty="0">
                <a:solidFill>
                  <a:srgbClr val="4A5568"/>
                </a:solidFill>
                <a:latin typeface="IBM Plex Sans" pitchFamily="34" charset="0"/>
                <a:ea typeface="IBM Plex Sans" pitchFamily="34" charset="-122"/>
                <a:cs typeface="IBM Plex Sans" pitchFamily="34" charset="-120"/>
              </a:rPr>
              <a:t>1 000 vettori</a:t>
            </a:r>
            <a:r>
              <a:rPr lang="en-US" sz="1300" dirty="0">
                <a:solidFill>
                  <a:srgbClr val="4A5568"/>
                </a:solidFill>
                <a:latin typeface="IBM Plex Sans" pitchFamily="34" charset="0"/>
                <a:ea typeface="IBM Plex Sans" pitchFamily="34" charset="-122"/>
                <a:cs typeface="IBM Plex Sans" pitchFamily="34" charset="-120"/>
              </a:rPr>
              <a:t> d’ingresso, nella versione intera e in quella a virgola mobile, con le predizioni attese per entrambe. Rigenerabili byte per byte a parità di seme.</a:t>
            </a:r>
            <a:endParaRPr lang="en-US" sz="1300" dirty="0"/>
          </a:p>
        </p:txBody>
      </p:sp>
      <p:sp>
        <p:nvSpPr>
          <p:cNvPr id="11" name="Text 8"/>
          <p:cNvSpPr/>
          <p:nvPr/>
        </p:nvSpPr>
        <p:spPr>
          <a:xfrm>
            <a:off x="812800" y="6238280"/>
            <a:ext cx="492281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ipa/synth/ · pesi casuali, nessun rapporto con il checkpoint depositato</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430742"/>
          </a:xfrm>
          <a:prstGeom prst="rect">
            <a:avLst/>
          </a:prstGeom>
          <a:noFill/>
          <a:ln/>
        </p:spPr>
        <p:txBody>
          <a:bodyPr wrap="square" lIns="0" tIns="0" rIns="0" bIns="0" rtlCol="0" anchor="t">
            <a:normAutofit/>
          </a:bodyPr>
          <a:lstStyle/>
          <a:p>
            <a:pPr algn="l" indent="0" marL="0">
              <a:lnSpc>
                <a:spcPts val="3223"/>
              </a:lnSpc>
              <a:buNone/>
            </a:pPr>
            <a:r>
              <a:rPr lang="en-US" sz="2930" b="1" dirty="0">
                <a:solidFill>
                  <a:srgbClr val="14213D"/>
                </a:solidFill>
                <a:latin typeface="IBM Plex Sans" pitchFamily="34" charset="0"/>
                <a:ea typeface="IBM Plex Sans" pitchFamily="34" charset="-122"/>
                <a:cs typeface="IBM Plex Sans" pitchFamily="34" charset="-120"/>
              </a:rPr>
              <a:t>Sette su sette, equivalenza esatta</a:t>
            </a:r>
            <a:endParaRPr lang="en-US" sz="293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12800" y="1421346"/>
          <a:ext cx="10566400" cy="2994885"/>
        </p:xfrm>
        <a:graphic>
          <a:graphicData uri="http://schemas.openxmlformats.org/drawingml/2006/table">
            <a:tbl>
              <a:tblPr/>
              <a:tblGrid>
                <a:gridCol w="2535936"/>
                <a:gridCol w="2747264"/>
                <a:gridCol w="2958592"/>
                <a:gridCol w="2324608"/>
              </a:tblGrid>
              <a:tr h="374319">
                <a:tc>
                  <a:txBody>
                    <a:bodyPr/>
                    <a:lstStyle/>
                    <a:p>
                      <a:pPr indent="0" marL="0">
                        <a:lnSpc>
                          <a:spcPts val="1897"/>
                        </a:lnSpc>
                        <a:buNone/>
                      </a:pPr>
                      <a:r>
                        <a:rPr lang="en-US" sz="1355" b="1" dirty="0">
                          <a:solidFill>
                            <a:srgbClr val="FBFBF8"/>
                          </a:solidFill>
                          <a:latin typeface="IBM Plex Sans" pitchFamily="34" charset="0"/>
                          <a:ea typeface="IBM Plex Sans" pitchFamily="34" charset="-122"/>
                          <a:cs typeface="IBM Plex Sans" pitchFamily="34" charset="-120"/>
                        </a:rPr>
                        <a:t>Scenario</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1897"/>
                        </a:lnSpc>
                        <a:buNone/>
                      </a:pPr>
                      <a:r>
                        <a:rPr lang="en-US" sz="1355" b="1" dirty="0">
                          <a:solidFill>
                            <a:srgbClr val="FBFBF8"/>
                          </a:solidFill>
                          <a:latin typeface="IBM Plex Sans" pitchFamily="34" charset="0"/>
                          <a:ea typeface="IBM Plex Sans" pitchFamily="34" charset="-122"/>
                          <a:cs typeface="IBM Plex Sans" pitchFamily="34" charset="-120"/>
                        </a:rPr>
                        <a:t>float vs int8</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1897"/>
                        </a:lnSpc>
                        <a:buNone/>
                      </a:pPr>
                      <a:r>
                        <a:rPr lang="en-US" sz="1355" b="1" dirty="0">
                          <a:solidFill>
                            <a:srgbClr val="FBFBF8"/>
                          </a:solidFill>
                          <a:latin typeface="IBM Plex Sans" pitchFamily="34" charset="0"/>
                          <a:ea typeface="IBM Plex Sans" pitchFamily="34" charset="-122"/>
                          <a:cs typeface="IBM Plex Sans" pitchFamily="34" charset="-120"/>
                        </a:rPr>
                        <a:t>int8 Python vs eBPF</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1897"/>
                        </a:lnSpc>
                        <a:buNone/>
                      </a:pPr>
                      <a:r>
                        <a:rPr lang="en-US" sz="1355" b="1" dirty="0">
                          <a:solidFill>
                            <a:srgbClr val="FBFBF8"/>
                          </a:solidFill>
                          <a:latin typeface="IBM Plex Sans" pitchFamily="34" charset="0"/>
                          <a:ea typeface="IBM Plex Sans" pitchFamily="34" charset="-122"/>
                          <a:cs typeface="IBM Plex Sans" pitchFamily="34" charset="-120"/>
                        </a:rPr>
                        <a:t>Decisioni</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r>
              <a:tr h="374319">
                <a:tc>
                  <a:txBody>
                    <a:bodyPr/>
                    <a:lstStyle/>
                    <a:p>
                      <a:pP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ones</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100,00 %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2E7D52"/>
                          </a:solidFill>
                          <a:latin typeface="IBM Plex Sans" pitchFamily="34" charset="0"/>
                          <a:ea typeface="IBM Plex Sans" pitchFamily="34" charset="-122"/>
                          <a:cs typeface="IBM Plex Sans" pitchFamily="34" charset="-120"/>
                        </a:rPr>
                        <a:t>100,00 %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300 / 300</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74319">
                <a:tc>
                  <a:txBody>
                    <a:bodyPr/>
                    <a:lstStyle/>
                    <a:p>
                      <a:pP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small</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98,00 %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1897"/>
                        </a:lnSpc>
                        <a:buNone/>
                      </a:pPr>
                      <a:r>
                        <a:rPr lang="en-US" sz="1355" dirty="0">
                          <a:solidFill>
                            <a:srgbClr val="2E7D52"/>
                          </a:solidFill>
                          <a:latin typeface="IBM Plex Sans" pitchFamily="34" charset="0"/>
                          <a:ea typeface="IBM Plex Sans" pitchFamily="34" charset="-122"/>
                          <a:cs typeface="IBM Plex Sans" pitchFamily="34" charset="-120"/>
                        </a:rPr>
                        <a:t>100,00 %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300 / 300</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r>
              <a:tr h="374385">
                <a:tc>
                  <a:txBody>
                    <a:bodyPr/>
                    <a:lstStyle/>
                    <a:p>
                      <a:pP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mixed</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100,00 %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2E7D52"/>
                          </a:solidFill>
                          <a:latin typeface="IBM Plex Sans" pitchFamily="34" charset="0"/>
                          <a:ea typeface="IBM Plex Sans" pitchFamily="34" charset="-122"/>
                          <a:cs typeface="IBM Plex Sans" pitchFamily="34" charset="-120"/>
                        </a:rPr>
                        <a:t>100,00 %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300 / 300</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74385">
                <a:tc>
                  <a:txBody>
                    <a:bodyPr/>
                    <a:lstStyle/>
                    <a:p>
                      <a:pP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ipa_like</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97,67 %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1897"/>
                        </a:lnSpc>
                        <a:buNone/>
                      </a:pPr>
                      <a:r>
                        <a:rPr lang="en-US" sz="1355" dirty="0">
                          <a:solidFill>
                            <a:srgbClr val="2E7D52"/>
                          </a:solidFill>
                          <a:latin typeface="IBM Plex Sans" pitchFamily="34" charset="0"/>
                          <a:ea typeface="IBM Plex Sans" pitchFamily="34" charset="-122"/>
                          <a:cs typeface="IBM Plex Sans" pitchFamily="34" charset="-120"/>
                        </a:rPr>
                        <a:t>100,00 %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300 / 300</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r>
              <a:tr h="374385">
                <a:tc>
                  <a:txBody>
                    <a:bodyPr/>
                    <a:lstStyle/>
                    <a:p>
                      <a:pP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sparse</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99,33 %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2E7D52"/>
                          </a:solidFill>
                          <a:latin typeface="IBM Plex Sans" pitchFamily="34" charset="0"/>
                          <a:ea typeface="IBM Plex Sans" pitchFamily="34" charset="-122"/>
                          <a:cs typeface="IBM Plex Sans" pitchFamily="34" charset="-120"/>
                        </a:rPr>
                        <a:t>100,00 %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300 / 300</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74385">
                <a:tc>
                  <a:txBody>
                    <a:bodyPr/>
                    <a:lstStyle/>
                    <a:p>
                      <a:pP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deep</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98,67 %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1897"/>
                        </a:lnSpc>
                        <a:buNone/>
                      </a:pPr>
                      <a:r>
                        <a:rPr lang="en-US" sz="1355" dirty="0">
                          <a:solidFill>
                            <a:srgbClr val="2E7D52"/>
                          </a:solidFill>
                          <a:latin typeface="IBM Plex Sans" pitchFamily="34" charset="0"/>
                          <a:ea typeface="IBM Plex Sans" pitchFamily="34" charset="-122"/>
                          <a:cs typeface="IBM Plex Sans" pitchFamily="34" charset="-120"/>
                        </a:rPr>
                        <a:t>100,00 %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300 / 300</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r>
              <a:tr h="374385">
                <a:tc>
                  <a:txBody>
                    <a:bodyPr/>
                    <a:lstStyle/>
                    <a:p>
                      <a:pP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large</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99,67 %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2E7D52"/>
                          </a:solidFill>
                          <a:latin typeface="IBM Plex Sans" pitchFamily="34" charset="0"/>
                          <a:ea typeface="IBM Plex Sans" pitchFamily="34" charset="-122"/>
                          <a:cs typeface="IBM Plex Sans" pitchFamily="34" charset="-120"/>
                        </a:rPr>
                        <a:t>100,00 %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300 / 300</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bl>
          </a:graphicData>
        </a:graphic>
      </p:graphicFrame>
      <p:sp>
        <p:nvSpPr>
          <p:cNvPr id="4" name="Shape 1"/>
          <p:cNvSpPr/>
          <p:nvPr/>
        </p:nvSpPr>
        <p:spPr>
          <a:xfrm>
            <a:off x="812800" y="4860727"/>
            <a:ext cx="5181600" cy="981273"/>
          </a:xfrm>
          <a:prstGeom prst="roundRect">
            <a:avLst>
              <a:gd name="adj" fmla="val 10354"/>
            </a:avLst>
          </a:prstGeom>
          <a:solidFill>
            <a:srgbClr val="EEF1F5"/>
          </a:solidFill>
          <a:ln/>
        </p:spPr>
      </p:sp>
      <p:sp>
        <p:nvSpPr>
          <p:cNvPr id="5" name="Text 2"/>
          <p:cNvSpPr/>
          <p:nvPr/>
        </p:nvSpPr>
        <p:spPr>
          <a:xfrm>
            <a:off x="1016000" y="5038527"/>
            <a:ext cx="4918456" cy="206904"/>
          </a:xfrm>
          <a:prstGeom prst="rect">
            <a:avLst/>
          </a:prstGeom>
          <a:noFill/>
          <a:ln/>
        </p:spPr>
        <p:txBody>
          <a:bodyPr wrap="square" lIns="0" tIns="0" rIns="0" bIns="0" rtlCol="0" anchor="t">
            <a:normAutofit/>
          </a:bodyPr>
          <a:lstStyle/>
          <a:p>
            <a:pPr algn="l" indent="0" marL="0">
              <a:lnSpc>
                <a:spcPts val="1470"/>
              </a:lnSpc>
              <a:buNone/>
            </a:pPr>
            <a:r>
              <a:rPr lang="en-US" sz="1225" b="1" dirty="0">
                <a:solidFill>
                  <a:srgbClr val="2E7D52"/>
                </a:solidFill>
                <a:latin typeface="IBM Plex Sans" pitchFamily="34" charset="0"/>
                <a:ea typeface="IBM Plex Sans" pitchFamily="34" charset="-122"/>
                <a:cs typeface="IBM Plex Sans" pitchFamily="34" charset="-120"/>
              </a:rPr>
              <a:t>La colonna che conta</a:t>
            </a:r>
            <a:endParaRPr lang="en-US" sz="1225" dirty="0"/>
          </a:p>
        </p:txBody>
      </p:sp>
      <p:sp>
        <p:nvSpPr>
          <p:cNvPr id="6" name="Text 3"/>
          <p:cNvSpPr/>
          <p:nvPr/>
        </p:nvSpPr>
        <p:spPr>
          <a:xfrm>
            <a:off x="1016000" y="5270835"/>
            <a:ext cx="4918456" cy="418769"/>
          </a:xfrm>
          <a:prstGeom prst="rect">
            <a:avLst/>
          </a:prstGeom>
          <a:noFill/>
          <a:ln/>
        </p:spPr>
        <p:txBody>
          <a:bodyPr wrap="square" lIns="0" tIns="0" rIns="0" bIns="0" rtlCol="0" anchor="t">
            <a:normAutofit/>
          </a:bodyPr>
          <a:lstStyle/>
          <a:p>
            <a:pPr algn="l" indent="0" marL="0">
              <a:lnSpc>
                <a:spcPts val="1558"/>
              </a:lnSpc>
              <a:buNone/>
            </a:pPr>
            <a:r>
              <a:rPr lang="en-US" sz="1113" dirty="0">
                <a:solidFill>
                  <a:srgbClr val="4A5568"/>
                </a:solidFill>
                <a:latin typeface="IBM Plex Sans" pitchFamily="34" charset="0"/>
                <a:ea typeface="IBM Plex Sans" pitchFamily="34" charset="-122"/>
                <a:cs typeface="IBM Plex Sans" pitchFamily="34" charset="-120"/>
              </a:rPr>
              <a:t>Implementazione: </a:t>
            </a:r>
            <a:r>
              <a:rPr lang="en-US" sz="1113" b="1" dirty="0">
                <a:solidFill>
                  <a:srgbClr val="4A5568"/>
                </a:solidFill>
                <a:latin typeface="IBM Plex Sans" pitchFamily="34" charset="0"/>
                <a:ea typeface="IBM Plex Sans" pitchFamily="34" charset="-122"/>
                <a:cs typeface="IBM Plex Sans" pitchFamily="34" charset="-120"/>
              </a:rPr>
              <a:t>2 100 decisioni</a:t>
            </a:r>
            <a:r>
              <a:rPr lang="en-US" sz="1113" dirty="0">
                <a:solidFill>
                  <a:srgbClr val="4A5568"/>
                </a:solidFill>
                <a:latin typeface="IBM Plex Sans" pitchFamily="34" charset="0"/>
                <a:ea typeface="IBM Plex Sans" pitchFamily="34" charset="-122"/>
                <a:cs typeface="IBM Plex Sans" pitchFamily="34" charset="-120"/>
              </a:rPr>
              <a:t> identiche fra riferimento intero ed eBPF, su sette modelli e quattro forme diverse.</a:t>
            </a:r>
            <a:endParaRPr lang="en-US" sz="1113" dirty="0"/>
          </a:p>
        </p:txBody>
      </p:sp>
      <p:sp>
        <p:nvSpPr>
          <p:cNvPr id="7" name="Shape 4"/>
          <p:cNvSpPr/>
          <p:nvPr/>
        </p:nvSpPr>
        <p:spPr>
          <a:xfrm>
            <a:off x="6197600" y="4860727"/>
            <a:ext cx="5181600" cy="981273"/>
          </a:xfrm>
          <a:prstGeom prst="roundRect">
            <a:avLst>
              <a:gd name="adj" fmla="val 10354"/>
            </a:avLst>
          </a:prstGeom>
          <a:solidFill>
            <a:srgbClr val="EEF1F5"/>
          </a:solidFill>
          <a:ln/>
        </p:spPr>
      </p:sp>
      <p:sp>
        <p:nvSpPr>
          <p:cNvPr id="8" name="Text 5"/>
          <p:cNvSpPr/>
          <p:nvPr/>
        </p:nvSpPr>
        <p:spPr>
          <a:xfrm>
            <a:off x="6400800" y="5038527"/>
            <a:ext cx="4918456" cy="206904"/>
          </a:xfrm>
          <a:prstGeom prst="rect">
            <a:avLst/>
          </a:prstGeom>
          <a:noFill/>
          <a:ln/>
        </p:spPr>
        <p:txBody>
          <a:bodyPr wrap="square" lIns="0" tIns="0" rIns="0" bIns="0" rtlCol="0" anchor="t">
            <a:normAutofit/>
          </a:bodyPr>
          <a:lstStyle/>
          <a:p>
            <a:pPr algn="l" indent="0" marL="0">
              <a:lnSpc>
                <a:spcPts val="1470"/>
              </a:lnSpc>
              <a:buNone/>
            </a:pPr>
            <a:r>
              <a:rPr lang="en-US" sz="1225" b="1" dirty="0">
                <a:solidFill>
                  <a:srgbClr val="14213D"/>
                </a:solidFill>
                <a:latin typeface="IBM Plex Sans" pitchFamily="34" charset="0"/>
                <a:ea typeface="IBM Plex Sans" pitchFamily="34" charset="-122"/>
                <a:cs typeface="IBM Plex Sans" pitchFamily="34" charset="-120"/>
              </a:rPr>
              <a:t>La colonna di sinistra</a:t>
            </a:r>
            <a:endParaRPr lang="en-US" sz="1225" dirty="0"/>
          </a:p>
        </p:txBody>
      </p:sp>
      <p:sp>
        <p:nvSpPr>
          <p:cNvPr id="9" name="Text 6"/>
          <p:cNvSpPr/>
          <p:nvPr/>
        </p:nvSpPr>
        <p:spPr>
          <a:xfrm>
            <a:off x="6400800" y="5270835"/>
            <a:ext cx="4918456" cy="418769"/>
          </a:xfrm>
          <a:prstGeom prst="rect">
            <a:avLst/>
          </a:prstGeom>
          <a:noFill/>
          <a:ln/>
        </p:spPr>
        <p:txBody>
          <a:bodyPr wrap="square" lIns="0" tIns="0" rIns="0" bIns="0" rtlCol="0" anchor="t">
            <a:normAutofit/>
          </a:bodyPr>
          <a:lstStyle/>
          <a:p>
            <a:pPr algn="l" indent="0" marL="0">
              <a:lnSpc>
                <a:spcPts val="1558"/>
              </a:lnSpc>
              <a:buNone/>
            </a:pPr>
            <a:r>
              <a:rPr lang="en-US" sz="1113" dirty="0">
                <a:solidFill>
                  <a:srgbClr val="4A5568"/>
                </a:solidFill>
                <a:latin typeface="IBM Plex Sans" pitchFamily="34" charset="0"/>
                <a:ea typeface="IBM Plex Sans" pitchFamily="34" charset="-122"/>
                <a:cs typeface="IBM Plex Sans" pitchFamily="34" charset="-120"/>
              </a:rPr>
              <a:t>97,7–100 % è </a:t>
            </a:r>
            <a:r>
              <a:rPr lang="en-US" sz="1113" b="1" dirty="0">
                <a:solidFill>
                  <a:srgbClr val="4A5568"/>
                </a:solidFill>
                <a:latin typeface="IBM Plex Sans" pitchFamily="34" charset="0"/>
                <a:ea typeface="IBM Plex Sans" pitchFamily="34" charset="-122"/>
                <a:cs typeface="IBM Plex Sans" pitchFamily="34" charset="-120"/>
              </a:rPr>
              <a:t>quantizzazione</a:t>
            </a:r>
            <a:r>
              <a:rPr lang="en-US" sz="1113" dirty="0">
                <a:solidFill>
                  <a:srgbClr val="4A5568"/>
                </a:solidFill>
                <a:latin typeface="IBM Plex Sans" pitchFamily="34" charset="0"/>
                <a:ea typeface="IBM Plex Sans" pitchFamily="34" charset="-122"/>
                <a:cs typeface="IBM Plex Sans" pitchFamily="34" charset="-120"/>
              </a:rPr>
              <a:t>: una proprietà del modello e della scala scelta, non un difetto del codice.</a:t>
            </a:r>
            <a:endParaRPr lang="en-US" sz="1113" dirty="0"/>
          </a:p>
        </p:txBody>
      </p:sp>
      <p:sp>
        <p:nvSpPr>
          <p:cNvPr id="10" name="Text 7"/>
          <p:cNvSpPr/>
          <p:nvPr/>
        </p:nvSpPr>
        <p:spPr>
          <a:xfrm>
            <a:off x="812800" y="6238280"/>
            <a:ext cx="519295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Pipeline P1 · ingressi campionati nello spazio che il datapath sa esprimere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spc="100" kern="0" dirty="0">
                <a:solidFill>
                  <a:srgbClr val="E8A87C"/>
                </a:solidFill>
                <a:latin typeface="JetBrains Mono" pitchFamily="34" charset="0"/>
                <a:ea typeface="JetBrains Mono" pitchFamily="34" charset="-122"/>
                <a:cs typeface="JetBrains Mono" pitchFamily="34" charset="-120"/>
              </a:rPr>
              <a:t>IL DIFETTO CHE I MODELLI SINTETICI HANNO TROVATO</a:t>
            </a:r>
            <a:endParaRPr lang="en-US" sz="1300" dirty="0"/>
          </a:p>
        </p:txBody>
      </p:sp>
      <p:sp>
        <p:nvSpPr>
          <p:cNvPr id="3" name="Text 1"/>
          <p:cNvSpPr/>
          <p:nvPr/>
        </p:nvSpPr>
        <p:spPr>
          <a:xfrm>
            <a:off x="812800" y="112011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FBFBF8"/>
                </a:solidFill>
                <a:latin typeface="IBM Plex Sans" pitchFamily="34" charset="0"/>
                <a:ea typeface="IBM Plex Sans" pitchFamily="34" charset="-122"/>
                <a:cs typeface="IBM Plex Sans" pitchFamily="34" charset="-120"/>
              </a:rPr>
              <a:t>La scala era scritta nel sorgente</a:t>
            </a:r>
            <a:endParaRPr lang="en-US" sz="3200" dirty="0"/>
          </a:p>
        </p:txBody>
      </p:sp>
      <p:sp>
        <p:nvSpPr>
          <p:cNvPr id="4" name="Text 2"/>
          <p:cNvSpPr/>
          <p:nvPr/>
        </p:nvSpPr>
        <p:spPr>
          <a:xfrm>
            <a:off x="812800" y="1770335"/>
            <a:ext cx="10203180" cy="577850"/>
          </a:xfrm>
          <a:prstGeom prst="rect">
            <a:avLst/>
          </a:prstGeom>
          <a:noFill/>
          <a:ln/>
        </p:spPr>
        <p:txBody>
          <a:bodyPr wrap="square" lIns="0" tIns="0" rIns="0" bIns="0" rtlCol="0" anchor="t">
            <a:normAutofit/>
          </a:bodyPr>
          <a:lstStyle/>
          <a:p>
            <a:pPr algn="l" indent="0" marL="0">
              <a:lnSpc>
                <a:spcPts val="2175"/>
              </a:lnSpc>
              <a:buNone/>
            </a:pPr>
            <a:r>
              <a:rPr lang="en-US" sz="1500" dirty="0">
                <a:solidFill>
                  <a:srgbClr val="BFD8D5"/>
                </a:solidFill>
                <a:latin typeface="IBM Plex Sans" pitchFamily="34" charset="0"/>
                <a:ea typeface="IBM Plex Sans" pitchFamily="34" charset="-122"/>
                <a:cs typeface="IBM Plex Sans" pitchFamily="34" charset="-120"/>
              </a:rPr>
              <a:t>Tutte e tre le pipeline fissavano a compile time la scala della feature </a:t>
            </a:r>
            <a:r>
              <a:rPr lang="en-US" sz="1500" dirty="0">
                <a:solidFill>
                  <a:srgbClr val="E8A87C"/>
                </a:solidFill>
                <a:latin typeface="IBM Plex Sans" pitchFamily="34" charset="0"/>
                <a:ea typeface="IBM Plex Sans" pitchFamily="34" charset="-122"/>
                <a:cs typeface="IBM Plex Sans" pitchFamily="34" charset="-120"/>
              </a:rPr>
              <a:t>ttl</a:t>
            </a:r>
            <a:r>
              <a:rPr lang="en-US" sz="1500" dirty="0">
                <a:solidFill>
                  <a:srgbClr val="BFD8D5"/>
                </a:solidFill>
                <a:latin typeface="IBM Plex Sans" pitchFamily="34" charset="0"/>
                <a:ea typeface="IBM Plex Sans" pitchFamily="34" charset="-122"/>
                <a:cs typeface="IBM Plex Sans" pitchFamily="34" charset="-120"/>
              </a:rPr>
              <a:t>, e la struttura del descrittore letto a runtime non aveva un posto dove metterla.</a:t>
            </a:r>
            <a:endParaRPr lang="en-US" sz="1500" dirty="0"/>
          </a:p>
        </p:txBody>
      </p:sp>
      <p:sp>
        <p:nvSpPr>
          <p:cNvPr id="5" name="Shape 3"/>
          <p:cNvSpPr/>
          <p:nvPr/>
        </p:nvSpPr>
        <p:spPr>
          <a:xfrm>
            <a:off x="812800" y="2525985"/>
            <a:ext cx="2508250" cy="1082014"/>
          </a:xfrm>
          <a:prstGeom prst="roundRect">
            <a:avLst>
              <a:gd name="adj" fmla="val 9390"/>
            </a:avLst>
          </a:prstGeom>
          <a:solidFill>
            <a:srgbClr val="1C2C4F"/>
          </a:solidFill>
          <a:ln/>
        </p:spPr>
      </p:sp>
      <p:sp>
        <p:nvSpPr>
          <p:cNvPr id="6" name="Text 4"/>
          <p:cNvSpPr/>
          <p:nvPr/>
        </p:nvSpPr>
        <p:spPr>
          <a:xfrm>
            <a:off x="1003300" y="2703785"/>
            <a:ext cx="2191068" cy="231114"/>
          </a:xfrm>
          <a:prstGeom prst="rect">
            <a:avLst/>
          </a:prstGeom>
          <a:noFill/>
          <a:ln/>
        </p:spPr>
        <p:txBody>
          <a:bodyPr wrap="square" lIns="0" tIns="0" rIns="0" bIns="0" rtlCol="0" anchor="t">
            <a:normAutofit/>
          </a:bodyPr>
          <a:lstStyle/>
          <a:p>
            <a:pPr algn="l" indent="0" marL="0">
              <a:lnSpc>
                <a:spcPts val="1620"/>
              </a:lnSpc>
              <a:buNone/>
            </a:pPr>
            <a:r>
              <a:rPr lang="en-US" sz="1350" b="1" dirty="0">
                <a:solidFill>
                  <a:srgbClr val="E8A87C"/>
                </a:solidFill>
                <a:latin typeface="IBM Plex Sans" pitchFamily="34" charset="0"/>
                <a:ea typeface="IBM Plex Sans" pitchFamily="34" charset="-122"/>
                <a:cs typeface="IBM Plex Sans" pitchFamily="34" charset="-120"/>
              </a:rPr>
              <a:t>P1</a:t>
            </a:r>
            <a:endParaRPr lang="en-US" sz="1350" dirty="0"/>
          </a:p>
        </p:txBody>
      </p:sp>
      <p:sp>
        <p:nvSpPr>
          <p:cNvPr id="7" name="Text 5"/>
          <p:cNvSpPr/>
          <p:nvPr/>
        </p:nvSpPr>
        <p:spPr>
          <a:xfrm>
            <a:off x="1003300" y="2972991"/>
            <a:ext cx="219106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feature_scale(tipo)</a:t>
            </a:r>
            <a:endParaRPr lang="en-US" sz="1200" dirty="0"/>
          </a:p>
          <a:p>
            <a:pPr algn="l" indent="0" marL="0">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 catalogo, = 30</a:t>
            </a:r>
            <a:endParaRPr lang="en-US" sz="1200" dirty="0"/>
          </a:p>
        </p:txBody>
      </p:sp>
      <p:sp>
        <p:nvSpPr>
          <p:cNvPr id="8" name="Shape 6"/>
          <p:cNvSpPr/>
          <p:nvPr/>
        </p:nvSpPr>
        <p:spPr>
          <a:xfrm>
            <a:off x="3498850" y="2525985"/>
            <a:ext cx="2508250" cy="1082014"/>
          </a:xfrm>
          <a:prstGeom prst="roundRect">
            <a:avLst>
              <a:gd name="adj" fmla="val 9390"/>
            </a:avLst>
          </a:prstGeom>
          <a:solidFill>
            <a:srgbClr val="1C2C4F"/>
          </a:solidFill>
          <a:ln/>
        </p:spPr>
      </p:sp>
      <p:sp>
        <p:nvSpPr>
          <p:cNvPr id="9" name="Text 7"/>
          <p:cNvSpPr/>
          <p:nvPr/>
        </p:nvSpPr>
        <p:spPr>
          <a:xfrm>
            <a:off x="3689350" y="2703785"/>
            <a:ext cx="2191068" cy="231114"/>
          </a:xfrm>
          <a:prstGeom prst="rect">
            <a:avLst/>
          </a:prstGeom>
          <a:noFill/>
          <a:ln/>
        </p:spPr>
        <p:txBody>
          <a:bodyPr wrap="square" lIns="0" tIns="0" rIns="0" bIns="0" rtlCol="0" anchor="t">
            <a:normAutofit/>
          </a:bodyPr>
          <a:lstStyle/>
          <a:p>
            <a:pPr algn="l" indent="0" marL="0">
              <a:lnSpc>
                <a:spcPts val="1620"/>
              </a:lnSpc>
              <a:buNone/>
            </a:pPr>
            <a:r>
              <a:rPr lang="en-US" sz="1350" b="1" dirty="0">
                <a:solidFill>
                  <a:srgbClr val="E8A87C"/>
                </a:solidFill>
                <a:latin typeface="IBM Plex Sans" pitchFamily="34" charset="0"/>
                <a:ea typeface="IBM Plex Sans" pitchFamily="34" charset="-122"/>
                <a:cs typeface="IBM Plex Sans" pitchFamily="34" charset="-120"/>
              </a:rPr>
              <a:t>P2</a:t>
            </a:r>
            <a:endParaRPr lang="en-US" sz="1350" dirty="0"/>
          </a:p>
        </p:txBody>
      </p:sp>
      <p:sp>
        <p:nvSpPr>
          <p:cNvPr id="10" name="Text 8"/>
          <p:cNvSpPr/>
          <p:nvPr/>
        </p:nvSpPr>
        <p:spPr>
          <a:xfrm>
            <a:off x="3689350" y="2972991"/>
            <a:ext cx="219106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#define</a:t>
            </a:r>
            <a:endParaRPr lang="en-US" sz="1200" dirty="0"/>
          </a:p>
          <a:p>
            <a:pPr algn="l" indent="0" marL="0">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T2_TTL_SCALE 30</a:t>
            </a:r>
            <a:endParaRPr lang="en-US" sz="1200" dirty="0"/>
          </a:p>
        </p:txBody>
      </p:sp>
      <p:sp>
        <p:nvSpPr>
          <p:cNvPr id="11" name="Shape 9"/>
          <p:cNvSpPr/>
          <p:nvPr/>
        </p:nvSpPr>
        <p:spPr>
          <a:xfrm>
            <a:off x="6184900" y="2525985"/>
            <a:ext cx="2508250" cy="1082014"/>
          </a:xfrm>
          <a:prstGeom prst="roundRect">
            <a:avLst>
              <a:gd name="adj" fmla="val 9390"/>
            </a:avLst>
          </a:prstGeom>
          <a:solidFill>
            <a:srgbClr val="1C2C4F"/>
          </a:solidFill>
          <a:ln/>
        </p:spPr>
      </p:sp>
      <p:sp>
        <p:nvSpPr>
          <p:cNvPr id="12" name="Text 10"/>
          <p:cNvSpPr/>
          <p:nvPr/>
        </p:nvSpPr>
        <p:spPr>
          <a:xfrm>
            <a:off x="6375400" y="2703785"/>
            <a:ext cx="2191068" cy="231114"/>
          </a:xfrm>
          <a:prstGeom prst="rect">
            <a:avLst/>
          </a:prstGeom>
          <a:noFill/>
          <a:ln/>
        </p:spPr>
        <p:txBody>
          <a:bodyPr wrap="square" lIns="0" tIns="0" rIns="0" bIns="0" rtlCol="0" anchor="t">
            <a:normAutofit/>
          </a:bodyPr>
          <a:lstStyle/>
          <a:p>
            <a:pPr algn="l" indent="0" marL="0">
              <a:lnSpc>
                <a:spcPts val="1620"/>
              </a:lnSpc>
              <a:buNone/>
            </a:pPr>
            <a:r>
              <a:rPr lang="en-US" sz="1350" b="1" dirty="0">
                <a:solidFill>
                  <a:srgbClr val="E8A87C"/>
                </a:solidFill>
                <a:latin typeface="IBM Plex Sans" pitchFamily="34" charset="0"/>
                <a:ea typeface="IBM Plex Sans" pitchFamily="34" charset="-122"/>
                <a:cs typeface="IBM Plex Sans" pitchFamily="34" charset="-120"/>
              </a:rPr>
              <a:t>P3</a:t>
            </a:r>
            <a:endParaRPr lang="en-US" sz="1350" dirty="0"/>
          </a:p>
        </p:txBody>
      </p:sp>
      <p:sp>
        <p:nvSpPr>
          <p:cNvPr id="13" name="Text 11"/>
          <p:cNvSpPr/>
          <p:nvPr/>
        </p:nvSpPr>
        <p:spPr>
          <a:xfrm>
            <a:off x="6375400" y="2972991"/>
            <a:ext cx="219106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#define</a:t>
            </a:r>
            <a:endParaRPr lang="en-US" sz="1200" dirty="0"/>
          </a:p>
          <a:p>
            <a:pPr algn="l" indent="0" marL="0">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ML_TTL_SCALE 30</a:t>
            </a:r>
            <a:endParaRPr lang="en-US" sz="1200" dirty="0"/>
          </a:p>
        </p:txBody>
      </p:sp>
      <p:sp>
        <p:nvSpPr>
          <p:cNvPr id="14" name="Shape 12"/>
          <p:cNvSpPr/>
          <p:nvPr/>
        </p:nvSpPr>
        <p:spPr>
          <a:xfrm>
            <a:off x="8870950" y="2525985"/>
            <a:ext cx="2508250" cy="1082014"/>
          </a:xfrm>
          <a:prstGeom prst="roundRect">
            <a:avLst>
              <a:gd name="adj" fmla="val 9390"/>
            </a:avLst>
          </a:prstGeom>
          <a:solidFill>
            <a:srgbClr val="4A1D1D"/>
          </a:solidFill>
          <a:ln/>
        </p:spPr>
      </p:sp>
      <p:sp>
        <p:nvSpPr>
          <p:cNvPr id="15" name="Text 13"/>
          <p:cNvSpPr/>
          <p:nvPr/>
        </p:nvSpPr>
        <p:spPr>
          <a:xfrm>
            <a:off x="9061450" y="2703785"/>
            <a:ext cx="2191068" cy="231114"/>
          </a:xfrm>
          <a:prstGeom prst="rect">
            <a:avLst/>
          </a:prstGeom>
          <a:noFill/>
          <a:ln/>
        </p:spPr>
        <p:txBody>
          <a:bodyPr wrap="square" lIns="0" tIns="0" rIns="0" bIns="0" rtlCol="0" anchor="t">
            <a:normAutofit/>
          </a:bodyPr>
          <a:lstStyle/>
          <a:p>
            <a:pPr algn="l" indent="0" marL="0">
              <a:lnSpc>
                <a:spcPts val="1620"/>
              </a:lnSpc>
              <a:buNone/>
            </a:pPr>
            <a:r>
              <a:rPr lang="en-US" sz="1350" b="1" dirty="0">
                <a:solidFill>
                  <a:srgbClr val="F0A0A0"/>
                </a:solidFill>
                <a:latin typeface="IBM Plex Sans" pitchFamily="34" charset="0"/>
                <a:ea typeface="IBM Plex Sans" pitchFamily="34" charset="-122"/>
                <a:cs typeface="IBM Plex Sans" pitchFamily="34" charset="-120"/>
              </a:rPr>
              <a:t>Il descrittore</a:t>
            </a:r>
            <a:endParaRPr lang="en-US" sz="1350" dirty="0"/>
          </a:p>
        </p:txBody>
      </p:sp>
      <p:sp>
        <p:nvSpPr>
          <p:cNvPr id="16" name="Text 14"/>
          <p:cNvSpPr/>
          <p:nvPr/>
        </p:nvSpPr>
        <p:spPr>
          <a:xfrm>
            <a:off x="9061450" y="2972991"/>
            <a:ext cx="219106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{code, size,</a:t>
            </a:r>
            <a:endParaRPr lang="en-US" sz="1200" dirty="0"/>
          </a:p>
          <a:p>
            <a:pPr algn="l" indent="0" marL="0">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col_off, </a:t>
            </a:r>
            <a:r>
              <a:rPr lang="en-US" sz="1200" b="1" dirty="0">
                <a:solidFill>
                  <a:srgbClr val="FBFBF8"/>
                </a:solidFill>
                <a:latin typeface="JetBrains Mono" pitchFamily="34" charset="0"/>
                <a:ea typeface="JetBrains Mono" pitchFamily="34" charset="-122"/>
                <a:cs typeface="JetBrains Mono" pitchFamily="34" charset="-120"/>
              </a:rPr>
              <a:t>_pad</a:t>
            </a:r>
            <a:r>
              <a:rPr lang="en-US" sz="1200" dirty="0">
                <a:solidFill>
                  <a:srgbClr val="FBFBF8"/>
                </a:solidFill>
                <a:latin typeface="JetBrains Mono" pitchFamily="34" charset="0"/>
                <a:ea typeface="JetBrains Mono" pitchFamily="34" charset="-122"/>
                <a:cs typeface="JetBrains Mono" pitchFamily="34" charset="-120"/>
              </a:rPr>
              <a:t>}</a:t>
            </a:r>
            <a:endParaRPr lang="en-US" sz="1200" dirty="0"/>
          </a:p>
        </p:txBody>
      </p:sp>
      <p:sp>
        <p:nvSpPr>
          <p:cNvPr id="17" name="Shape 15"/>
          <p:cNvSpPr/>
          <p:nvPr/>
        </p:nvSpPr>
        <p:spPr>
          <a:xfrm>
            <a:off x="812800" y="3811191"/>
            <a:ext cx="10566400" cy="1265105"/>
          </a:xfrm>
          <a:prstGeom prst="roundRect">
            <a:avLst>
              <a:gd name="adj" fmla="val 8031"/>
            </a:avLst>
          </a:prstGeom>
          <a:solidFill>
            <a:srgbClr val="1C2C4F"/>
          </a:solidFill>
          <a:ln/>
        </p:spPr>
      </p:sp>
      <p:sp>
        <p:nvSpPr>
          <p:cNvPr id="18" name="Text 16"/>
          <p:cNvSpPr/>
          <p:nvPr/>
        </p:nvSpPr>
        <p:spPr>
          <a:xfrm>
            <a:off x="1041400" y="4014391"/>
            <a:ext cx="10412476" cy="559329"/>
          </a:xfrm>
          <a:prstGeom prst="rect">
            <a:avLst/>
          </a:prstGeom>
          <a:noFill/>
          <a:ln/>
        </p:spPr>
        <p:txBody>
          <a:bodyPr wrap="square" lIns="0" tIns="0" rIns="0" bIns="0" rtlCol="0" anchor="t">
            <a:normAutofit/>
          </a:bodyPr>
          <a:lstStyle/>
          <a:p>
            <a:pPr algn="l" indent="0" marL="0">
              <a:lnSpc>
                <a:spcPts val="2103"/>
              </a:lnSpc>
              <a:buNone/>
            </a:pPr>
            <a:r>
              <a:rPr lang="en-US" sz="1450" dirty="0">
                <a:solidFill>
                  <a:srgbClr val="FBFBF8"/>
                </a:solidFill>
                <a:latin typeface="IBM Plex Sans" pitchFamily="34" charset="0"/>
                <a:ea typeface="IBM Plex Sans" pitchFamily="34" charset="-122"/>
                <a:cs typeface="IBM Plex Sans" pitchFamily="34" charset="-120"/>
              </a:rPr>
              <a:t>Un modello addestrato su </a:t>
            </a:r>
            <a:r>
              <a:rPr lang="en-US" sz="1450" b="1" dirty="0">
                <a:solidFill>
                  <a:srgbClr val="FBFBF8"/>
                </a:solidFill>
                <a:latin typeface="IBM Plex Sans" pitchFamily="34" charset="0"/>
                <a:ea typeface="IBM Plex Sans" pitchFamily="34" charset="-122"/>
                <a:cs typeface="IBM Plex Sans" pitchFamily="34" charset="-120"/>
              </a:rPr>
              <a:t>ttl/16</a:t>
            </a:r>
            <a:r>
              <a:rPr lang="en-US" sz="1450" dirty="0">
                <a:solidFill>
                  <a:srgbClr val="FBFBF8"/>
                </a:solidFill>
                <a:latin typeface="IBM Plex Sans" pitchFamily="34" charset="0"/>
                <a:ea typeface="IBM Plex Sans" pitchFamily="34" charset="-122"/>
                <a:cs typeface="IBM Plex Sans" pitchFamily="34" charset="-120"/>
              </a:rPr>
              <a:t> veniva eseguito con </a:t>
            </a:r>
            <a:r>
              <a:rPr lang="en-US" sz="1450" b="1" dirty="0">
                <a:solidFill>
                  <a:srgbClr val="FBFBF8"/>
                </a:solidFill>
                <a:latin typeface="IBM Plex Sans" pitchFamily="34" charset="0"/>
                <a:ea typeface="IBM Plex Sans" pitchFamily="34" charset="-122"/>
                <a:cs typeface="IBM Plex Sans" pitchFamily="34" charset="-120"/>
              </a:rPr>
              <a:t>ttl/30</a:t>
            </a:r>
            <a:r>
              <a:rPr lang="en-US" sz="1450" dirty="0">
                <a:solidFill>
                  <a:srgbClr val="FBFBF8"/>
                </a:solidFill>
                <a:latin typeface="IBM Plex Sans" pitchFamily="34" charset="0"/>
                <a:ea typeface="IBM Plex Sans" pitchFamily="34" charset="-122"/>
                <a:cs typeface="IBM Plex Sans" pitchFamily="34" charset="-120"/>
              </a:rPr>
              <a:t>. Gli scenari </a:t>
            </a:r>
            <a:r>
              <a:rPr lang="en-US" sz="1450" dirty="0">
                <a:solidFill>
                  <a:srgbClr val="E8A87C"/>
                </a:solidFill>
                <a:latin typeface="IBM Plex Sans" pitchFamily="34" charset="0"/>
                <a:ea typeface="IBM Plex Sans" pitchFamily="34" charset="-122"/>
                <a:cs typeface="IBM Plex Sans" pitchFamily="34" charset="-120"/>
              </a:rPr>
              <a:t>small</a:t>
            </a:r>
            <a:r>
              <a:rPr lang="en-US" sz="1450" dirty="0">
                <a:solidFill>
                  <a:srgbClr val="FBFBF8"/>
                </a:solidFill>
                <a:latin typeface="IBM Plex Sans" pitchFamily="34" charset="0"/>
                <a:ea typeface="IBM Plex Sans" pitchFamily="34" charset="-122"/>
                <a:cs typeface="IBM Plex Sans" pitchFamily="34" charset="-120"/>
              </a:rPr>
              <a:t> (16), </a:t>
            </a:r>
            <a:r>
              <a:rPr lang="en-US" sz="1450" dirty="0">
                <a:solidFill>
                  <a:srgbClr val="E8A87C"/>
                </a:solidFill>
                <a:latin typeface="IBM Plex Sans" pitchFamily="34" charset="0"/>
                <a:ea typeface="IBM Plex Sans" pitchFamily="34" charset="-122"/>
                <a:cs typeface="IBM Plex Sans" pitchFamily="34" charset="-120"/>
              </a:rPr>
              <a:t>large</a:t>
            </a:r>
            <a:r>
              <a:rPr lang="en-US" sz="1450" dirty="0">
                <a:solidFill>
                  <a:srgbClr val="FBFBF8"/>
                </a:solidFill>
                <a:latin typeface="IBM Plex Sans" pitchFamily="34" charset="0"/>
                <a:ea typeface="IBM Plex Sans" pitchFamily="34" charset="-122"/>
                <a:cs typeface="IBM Plex Sans" pitchFamily="34" charset="-120"/>
              </a:rPr>
              <a:t> (64) e </a:t>
            </a:r>
            <a:r>
              <a:rPr lang="en-US" sz="1450" dirty="0">
                <a:solidFill>
                  <a:srgbClr val="E8A87C"/>
                </a:solidFill>
                <a:latin typeface="IBM Plex Sans" pitchFamily="34" charset="0"/>
                <a:ea typeface="IBM Plex Sans" pitchFamily="34" charset="-122"/>
                <a:cs typeface="IBM Plex Sans" pitchFamily="34" charset="-120"/>
              </a:rPr>
              <a:t>ones</a:t>
            </a:r>
            <a:r>
              <a:rPr lang="en-US" sz="1450" dirty="0">
                <a:solidFill>
                  <a:srgbClr val="FBFBF8"/>
                </a:solidFill>
                <a:latin typeface="IBM Plex Sans" pitchFamily="34" charset="0"/>
                <a:ea typeface="IBM Plex Sans" pitchFamily="34" charset="-122"/>
                <a:cs typeface="IBM Plex Sans" pitchFamily="34" charset="-120"/>
              </a:rPr>
              <a:t> (8) sono esattamente quei modelli.</a:t>
            </a:r>
            <a:endParaRPr lang="en-US" sz="1450" dirty="0"/>
          </a:p>
        </p:txBody>
      </p:sp>
      <p:sp>
        <p:nvSpPr>
          <p:cNvPr id="19" name="Text 17"/>
          <p:cNvSpPr/>
          <p:nvPr/>
        </p:nvSpPr>
        <p:spPr>
          <a:xfrm>
            <a:off x="1041400" y="4624524"/>
            <a:ext cx="10412476" cy="273976"/>
          </a:xfrm>
          <a:prstGeom prst="rect">
            <a:avLst/>
          </a:prstGeom>
          <a:noFill/>
          <a:ln/>
        </p:spPr>
        <p:txBody>
          <a:bodyPr wrap="square" lIns="0" tIns="0" rIns="0" bIns="0" rtlCol="0" anchor="t">
            <a:normAutofit/>
          </a:bodyPr>
          <a:lstStyle/>
          <a:p>
            <a:pPr algn="l" indent="0" marL="0">
              <a:lnSpc>
                <a:spcPts val="1958"/>
              </a:lnSpc>
              <a:buNone/>
            </a:pPr>
            <a:r>
              <a:rPr lang="en-US" sz="1350" dirty="0">
                <a:solidFill>
                  <a:srgbClr val="BFD8D5"/>
                </a:solidFill>
                <a:latin typeface="IBM Plex Sans" pitchFamily="34" charset="0"/>
                <a:ea typeface="IBM Plex Sans" pitchFamily="34" charset="-122"/>
                <a:cs typeface="IBM Plex Sans" pitchFamily="34" charset="-120"/>
              </a:rPr>
              <a:t>Sul checkpoint depositato, che usa 30, il difetto è </a:t>
            </a:r>
            <a:r>
              <a:rPr lang="en-US" sz="1350" b="1" dirty="0">
                <a:solidFill>
                  <a:srgbClr val="BFD8D5"/>
                </a:solidFill>
                <a:latin typeface="IBM Plex Sans" pitchFamily="34" charset="0"/>
                <a:ea typeface="IBM Plex Sans" pitchFamily="34" charset="-122"/>
                <a:cs typeface="IBM Plex Sans" pitchFamily="34" charset="-120"/>
              </a:rPr>
              <a:t>invisibile</a:t>
            </a:r>
            <a:r>
              <a:rPr lang="en-US" sz="1350" dirty="0">
                <a:solidFill>
                  <a:srgbClr val="BFD8D5"/>
                </a:solidFill>
                <a:latin typeface="IBM Plex Sans" pitchFamily="34" charset="0"/>
                <a:ea typeface="IBM Plex Sans" pitchFamily="34" charset="-122"/>
                <a:cs typeface="IBM Plex Sans" pitchFamily="34" charset="-120"/>
              </a:rPr>
              <a:t>. &amp;Egrave; il motivo per cui i modelli sintetici esistono.</a:t>
            </a:r>
            <a:endParaRPr lang="en-US" sz="1350" dirty="0"/>
          </a:p>
        </p:txBody>
      </p:sp>
      <p:sp>
        <p:nvSpPr>
          <p:cNvPr id="20" name="Text 18"/>
          <p:cNvSpPr/>
          <p:nvPr/>
        </p:nvSpPr>
        <p:spPr>
          <a:xfrm>
            <a:off x="812800" y="6238280"/>
            <a:ext cx="614800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3BF"/>
                </a:solidFill>
                <a:latin typeface="IBM Plex Sans" pitchFamily="34" charset="0"/>
                <a:ea typeface="IBM Plex Sans" pitchFamily="34" charset="-122"/>
                <a:cs typeface="IBM Plex Sans" pitchFamily="34" charset="-120"/>
              </a:rPr>
              <a:t>La genericità di P2/P3 era vera per forma, numero di feature e offset — falsa per la scala</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413279"/>
          </a:xfrm>
          <a:prstGeom prst="rect">
            <a:avLst/>
          </a:prstGeom>
          <a:noFill/>
          <a:ln/>
        </p:spPr>
        <p:txBody>
          <a:bodyPr wrap="square" lIns="0" tIns="0" rIns="0" bIns="0" rtlCol="0" anchor="t">
            <a:normAutofit/>
          </a:bodyPr>
          <a:lstStyle/>
          <a:p>
            <a:pPr algn="l" indent="0" marL="0">
              <a:lnSpc>
                <a:spcPts val="3073"/>
              </a:lnSpc>
              <a:buNone/>
            </a:pPr>
            <a:r>
              <a:rPr lang="en-US" sz="2794" b="1" dirty="0">
                <a:solidFill>
                  <a:srgbClr val="14213D"/>
                </a:solidFill>
                <a:latin typeface="IBM Plex Sans" pitchFamily="34" charset="0"/>
                <a:ea typeface="IBM Plex Sans" pitchFamily="34" charset="-122"/>
                <a:cs typeface="IBM Plex Sans" pitchFamily="34" charset="-120"/>
              </a:rPr>
              <a:t>La correzione, e che cosa è costata</a:t>
            </a:r>
            <a:endParaRPr lang="en-US" sz="2794" dirty="0"/>
          </a:p>
        </p:txBody>
      </p:sp>
      <p:sp>
        <p:nvSpPr>
          <p:cNvPr id="3" name="Shape 1"/>
          <p:cNvSpPr/>
          <p:nvPr/>
        </p:nvSpPr>
        <p:spPr>
          <a:xfrm>
            <a:off x="812800" y="1353083"/>
            <a:ext cx="5194300" cy="2185128"/>
          </a:xfrm>
          <a:prstGeom prst="roundRect">
            <a:avLst>
              <a:gd name="adj" fmla="val 4650"/>
            </a:avLst>
          </a:prstGeom>
          <a:solidFill>
            <a:srgbClr val="EEF1F5"/>
          </a:solidFill>
          <a:ln/>
        </p:spPr>
      </p:sp>
      <p:sp>
        <p:nvSpPr>
          <p:cNvPr id="4" name="Text 2"/>
          <p:cNvSpPr/>
          <p:nvPr/>
        </p:nvSpPr>
        <p:spPr>
          <a:xfrm>
            <a:off x="1003300" y="1518183"/>
            <a:ext cx="4957699" cy="246327"/>
          </a:xfrm>
          <a:prstGeom prst="rect">
            <a:avLst/>
          </a:prstGeom>
          <a:noFill/>
          <a:ln/>
        </p:spPr>
        <p:txBody>
          <a:bodyPr wrap="square" lIns="0" tIns="0" rIns="0" bIns="0" rtlCol="0" anchor="t">
            <a:normAutofit/>
          </a:bodyPr>
          <a:lstStyle/>
          <a:p>
            <a:pPr algn="l" indent="0" marL="0">
              <a:lnSpc>
                <a:spcPts val="1740"/>
              </a:lnSpc>
              <a:buNone/>
            </a:pPr>
            <a:r>
              <a:rPr lang="en-US" sz="1450" b="1" dirty="0">
                <a:solidFill>
                  <a:srgbClr val="14213D"/>
                </a:solidFill>
                <a:latin typeface="IBM Plex Sans" pitchFamily="34" charset="0"/>
                <a:ea typeface="IBM Plex Sans" pitchFamily="34" charset="-122"/>
                <a:cs typeface="IBM Plex Sans" pitchFamily="34" charset="-120"/>
              </a:rPr>
              <a:t>La scala viaggia nel descrittore</a:t>
            </a:r>
            <a:endParaRPr lang="en-US" sz="1450" dirty="0"/>
          </a:p>
        </p:txBody>
      </p:sp>
      <p:sp>
        <p:nvSpPr>
          <p:cNvPr id="5" name="Text 3"/>
          <p:cNvSpPr/>
          <p:nvPr/>
        </p:nvSpPr>
        <p:spPr>
          <a:xfrm>
            <a:off x="1003300" y="1802606"/>
            <a:ext cx="4957699" cy="939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14213D"/>
                </a:solidFill>
                <a:latin typeface="JetBrains Mono" pitchFamily="34" charset="0"/>
                <a:ea typeface="JetBrains Mono" pitchFamily="34" charset="-122"/>
                <a:cs typeface="JetBrains Mono" pitchFamily="34" charset="-120"/>
              </a:rPr>
              <a:t>struct feat_ent {</a:t>
            </a:r>
            <a:endParaRPr lang="en-US" sz="1200" dirty="0"/>
          </a:p>
          <a:p>
            <a:pPr algn="l" indent="0" marL="0">
              <a:lnSpc>
                <a:spcPts val="1800"/>
              </a:lnSpc>
              <a:buNone/>
            </a:pPr>
            <a:r>
              <a:rPr lang="en-US" sz="1200" dirty="0">
                <a:solidFill>
                  <a:srgbClr val="14213D"/>
                </a:solidFill>
                <a:latin typeface="JetBrains Mono" pitchFamily="34" charset="0"/>
                <a:ea typeface="JetBrains Mono" pitchFamily="34" charset="-122"/>
                <a:cs typeface="JetBrains Mono" pitchFamily="34" charset="-120"/>
              </a:rPr>
              <a:t>  __u8 code, size, col_off,</a:t>
            </a:r>
            <a:endParaRPr lang="en-US" sz="1200" dirty="0"/>
          </a:p>
          <a:p>
            <a:pPr algn="l" indent="0" marL="0">
              <a:lnSpc>
                <a:spcPts val="1800"/>
              </a:lnSpc>
              <a:buNone/>
            </a:pPr>
            <a:r>
              <a:rPr lang="en-US" sz="1200" dirty="0">
                <a:solidFill>
                  <a:srgbClr val="14213D"/>
                </a:solidFill>
                <a:latin typeface="JetBrains Mono" pitchFamily="34" charset="0"/>
                <a:ea typeface="JetBrains Mono" pitchFamily="34" charset="-122"/>
                <a:cs typeface="JetBrains Mono" pitchFamily="34" charset="-120"/>
              </a:rPr>
              <a:t> </a:t>
            </a:r>
            <a:r>
              <a:rPr lang="en-US" sz="1200" b="1" dirty="0">
                <a:solidFill>
                  <a:srgbClr val="14213D"/>
                </a:solidFill>
                <a:latin typeface="JetBrains Mono" pitchFamily="34" charset="0"/>
                <a:ea typeface="JetBrains Mono" pitchFamily="34" charset="-122"/>
                <a:cs typeface="JetBrains Mono" pitchFamily="34" charset="-120"/>
              </a:rPr>
              <a:t> __u8 scale;</a:t>
            </a:r>
            <a:r>
              <a:rPr lang="en-US" sz="1200" dirty="0">
                <a:solidFill>
                  <a:srgbClr val="14213D"/>
                </a:solidFill>
                <a:latin typeface="JetBrains Mono" pitchFamily="34" charset="0"/>
                <a:ea typeface="JetBrains Mono" pitchFamily="34" charset="-122"/>
                <a:cs typeface="JetBrains Mono" pitchFamily="34" charset="-120"/>
              </a:rPr>
              <a:t> /* era _pad */</a:t>
            </a:r>
            <a:endParaRPr lang="en-US" sz="1200" dirty="0"/>
          </a:p>
          <a:p>
            <a:pPr algn="l" indent="0" marL="0">
              <a:lnSpc>
                <a:spcPts val="1800"/>
              </a:lnSpc>
              <a:buNone/>
            </a:pPr>
            <a:r>
              <a:rPr lang="en-US" sz="1200" dirty="0">
                <a:solidFill>
                  <a:srgbClr val="14213D"/>
                </a:solidFill>
                <a:latin typeface="JetBrains Mono" pitchFamily="34" charset="0"/>
                <a:ea typeface="JetBrains Mono" pitchFamily="34" charset="-122"/>
                <a:cs typeface="JetBrains Mono" pitchFamily="34" charset="-120"/>
              </a:rPr>
              <a:t>}</a:t>
            </a:r>
            <a:endParaRPr lang="en-US" sz="1200" dirty="0"/>
          </a:p>
        </p:txBody>
      </p:sp>
      <p:sp>
        <p:nvSpPr>
          <p:cNvPr id="6" name="Text 4"/>
          <p:cNvSpPr/>
          <p:nvPr/>
        </p:nvSpPr>
        <p:spPr>
          <a:xfrm>
            <a:off x="1003300" y="2780506"/>
            <a:ext cx="4957699" cy="454025"/>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Il byte c’era già: nessun cambio di layout. Con </a:t>
            </a:r>
            <a:r>
              <a:rPr lang="en-US" sz="1250" b="1" dirty="0">
                <a:solidFill>
                  <a:srgbClr val="4A5568"/>
                </a:solidFill>
                <a:latin typeface="IBM Plex Sans" pitchFamily="34" charset="0"/>
                <a:ea typeface="IBM Plex Sans" pitchFamily="34" charset="-122"/>
                <a:cs typeface="IBM Plex Sans" pitchFamily="34" charset="-120"/>
              </a:rPr>
              <a:t>0</a:t>
            </a:r>
            <a:r>
              <a:rPr lang="en-US" sz="1250" dirty="0">
                <a:solidFill>
                  <a:srgbClr val="4A5568"/>
                </a:solidFill>
                <a:latin typeface="IBM Plex Sans" pitchFamily="34" charset="0"/>
                <a:ea typeface="IBM Plex Sans" pitchFamily="34" charset="-122"/>
                <a:cs typeface="IBM Plex Sans" pitchFamily="34" charset="-120"/>
              </a:rPr>
              <a:t> si ricade sul default, quindi i descrittori vecchi restano validi.</a:t>
            </a:r>
            <a:endParaRPr lang="en-US" sz="1250" dirty="0"/>
          </a:p>
        </p:txBody>
      </p:sp>
      <p:sp>
        <p:nvSpPr>
          <p:cNvPr id="7" name="Shape 5"/>
          <p:cNvSpPr/>
          <p:nvPr/>
        </p:nvSpPr>
        <p:spPr>
          <a:xfrm>
            <a:off x="6184900" y="1353083"/>
            <a:ext cx="5194300" cy="2185128"/>
          </a:xfrm>
          <a:prstGeom prst="roundRect">
            <a:avLst>
              <a:gd name="adj" fmla="val 4650"/>
            </a:avLst>
          </a:prstGeom>
          <a:solidFill>
            <a:srgbClr val="EEF1F5"/>
          </a:solidFill>
          <a:ln/>
        </p:spPr>
      </p:sp>
      <p:sp>
        <p:nvSpPr>
          <p:cNvPr id="8" name="Text 6"/>
          <p:cNvSpPr/>
          <p:nvPr/>
        </p:nvSpPr>
        <p:spPr>
          <a:xfrm>
            <a:off x="6375400" y="1518183"/>
            <a:ext cx="3154565" cy="225227"/>
          </a:xfrm>
          <a:prstGeom prst="rect">
            <a:avLst/>
          </a:prstGeom>
          <a:noFill/>
          <a:ln/>
        </p:spPr>
        <p:txBody>
          <a:bodyPr wrap="square" lIns="0" tIns="0" rIns="0" bIns="0" rtlCol="0" anchor="t">
            <a:normAutofit/>
          </a:bodyPr>
          <a:lstStyle/>
          <a:p>
            <a:pPr algn="l" indent="0" marL="0">
              <a:lnSpc>
                <a:spcPts val="1571"/>
              </a:lnSpc>
              <a:buNone/>
            </a:pPr>
            <a:r>
              <a:rPr lang="en-US" sz="1310" b="1" dirty="0">
                <a:solidFill>
                  <a:srgbClr val="14213D"/>
                </a:solidFill>
                <a:latin typeface="IBM Plex Sans" pitchFamily="34" charset="0"/>
                <a:ea typeface="IBM Plex Sans" pitchFamily="34" charset="-122"/>
                <a:cs typeface="IBM Plex Sans" pitchFamily="34" charset="-120"/>
              </a:rPr>
              <a:t>Un effetto che il compilatore ha fermato</a:t>
            </a:r>
            <a:endParaRPr lang="en-US" sz="1310" dirty="0"/>
          </a:p>
        </p:txBody>
      </p:sp>
      <p:sp>
        <p:nvSpPr>
          <p:cNvPr id="9" name="Text 7"/>
          <p:cNvSpPr/>
          <p:nvPr/>
        </p:nvSpPr>
        <p:spPr>
          <a:xfrm>
            <a:off x="6375400" y="1781510"/>
            <a:ext cx="4957699" cy="413081"/>
          </a:xfrm>
          <a:prstGeom prst="rect">
            <a:avLst/>
          </a:prstGeom>
          <a:noFill/>
          <a:ln/>
        </p:spPr>
        <p:txBody>
          <a:bodyPr wrap="square" lIns="0" tIns="0" rIns="0" bIns="0" rtlCol="0" anchor="t">
            <a:normAutofit/>
          </a:bodyPr>
          <a:lstStyle/>
          <a:p>
            <a:pPr algn="l" indent="0" marL="0">
              <a:lnSpc>
                <a:spcPts val="1535"/>
              </a:lnSpc>
              <a:buNone/>
            </a:pPr>
            <a:r>
              <a:rPr lang="en-US" sz="1137" dirty="0">
                <a:solidFill>
                  <a:srgbClr val="4A5568"/>
                </a:solidFill>
                <a:latin typeface="IBM Plex Sans" pitchFamily="34" charset="0"/>
                <a:ea typeface="IBM Plex Sans" pitchFamily="34" charset="-122"/>
                <a:cs typeface="IBM Plex Sans" pitchFamily="34" charset="-120"/>
              </a:rPr>
              <a:t>Da costante a variabile la divisione diventa vera, e </a:t>
            </a:r>
            <a:r>
              <a:rPr lang="en-US" sz="1137" b="1" dirty="0">
                <a:solidFill>
                  <a:srgbClr val="4A5568"/>
                </a:solidFill>
                <a:latin typeface="IBM Plex Sans" pitchFamily="34" charset="0"/>
                <a:ea typeface="IBM Plex Sans" pitchFamily="34" charset="-122"/>
                <a:cs typeface="IBM Plex Sans" pitchFamily="34" charset="-120"/>
              </a:rPr>
              <a:t>BPF non ha la divisione con segno</a:t>
            </a:r>
            <a:r>
              <a:rPr lang="en-US" sz="1137" dirty="0">
                <a:solidFill>
                  <a:srgbClr val="4A5568"/>
                </a:solidFill>
                <a:latin typeface="IBM Plex Sans" pitchFamily="34" charset="0"/>
                <a:ea typeface="IBM Plex Sans" pitchFamily="34" charset="-122"/>
                <a:cs typeface="IBM Plex Sans" pitchFamily="34" charset="-120"/>
              </a:rPr>
              <a:t>.</a:t>
            </a:r>
            <a:endParaRPr lang="en-US" sz="1137" dirty="0"/>
          </a:p>
        </p:txBody>
      </p:sp>
      <p:pic>
        <p:nvPicPr>
          <p:cNvPr id="10" name="Image 0" descr="q uguale il segno di p moltiplicato per la parte intera inferiore del valore assoluto di p diviso d">    </p:cNvPr>
          <p:cNvPicPr>
            <a:picLocks noChangeAspect="1"/>
          </p:cNvPicPr>
          <p:nvPr/>
        </p:nvPicPr>
        <p:blipFill>
          <a:blip r:embed="rId1"/>
          <a:srcRect l="-5278" r="-5278" t="0" b="0"/>
          <a:stretch/>
        </p:blipFill>
        <p:spPr>
          <a:xfrm>
            <a:off x="7004050" y="2232695"/>
            <a:ext cx="3556000" cy="689240"/>
          </a:xfrm>
          <a:prstGeom prst="rect">
            <a:avLst/>
          </a:prstGeom>
        </p:spPr>
      </p:pic>
      <p:sp>
        <p:nvSpPr>
          <p:cNvPr id="11" name="Text 8"/>
          <p:cNvSpPr/>
          <p:nvPr/>
        </p:nvSpPr>
        <p:spPr>
          <a:xfrm>
            <a:off x="6375400" y="2985430"/>
            <a:ext cx="4957699" cy="413081"/>
          </a:xfrm>
          <a:prstGeom prst="rect">
            <a:avLst/>
          </a:prstGeom>
          <a:noFill/>
          <a:ln/>
        </p:spPr>
        <p:txBody>
          <a:bodyPr wrap="square" lIns="0" tIns="0" rIns="0" bIns="0" rtlCol="0" anchor="t">
            <a:normAutofit/>
          </a:bodyPr>
          <a:lstStyle/>
          <a:p>
            <a:pPr algn="l" indent="0" marL="0">
              <a:lnSpc>
                <a:spcPts val="1535"/>
              </a:lnSpc>
              <a:buNone/>
            </a:pPr>
            <a:r>
              <a:rPr lang="en-US" sz="1137" dirty="0">
                <a:solidFill>
                  <a:srgbClr val="4A5568"/>
                </a:solidFill>
                <a:latin typeface="IBM Plex Sans" pitchFamily="34" charset="0"/>
                <a:ea typeface="IBM Plex Sans" pitchFamily="34" charset="-122"/>
                <a:cs typeface="IBM Plex Sans" pitchFamily="34" charset="-120"/>
              </a:rPr>
              <a:t>Divisione senza segno sul valore assoluto, segno rimesso: troncamento verso lo zero, lo stesso del riferimento.</a:t>
            </a:r>
            <a:endParaRPr lang="en-US" sz="1137"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12800" y="3690615"/>
          <a:ext cx="10566400" cy="1913268"/>
        </p:xfrm>
        <a:graphic>
          <a:graphicData uri="http://schemas.openxmlformats.org/drawingml/2006/table">
            <a:tbl>
              <a:tblPr/>
              <a:tblGrid>
                <a:gridCol w="3592576"/>
                <a:gridCol w="2324608"/>
                <a:gridCol w="2324608"/>
                <a:gridCol w="2324608"/>
              </a:tblGrid>
              <a:tr h="382654">
                <a:tc>
                  <a:txBody>
                    <a:bodyPr/>
                    <a:lstStyle/>
                    <a:p>
                      <a:pPr indent="0" marL="0">
                        <a:lnSpc>
                          <a:spcPts val="1942"/>
                        </a:lnSpc>
                        <a:buNone/>
                      </a:pPr>
                      <a:r>
                        <a:rPr lang="en-US" sz="1388" b="1" dirty="0">
                          <a:solidFill>
                            <a:srgbClr val="FBFBF8"/>
                          </a:solidFill>
                          <a:latin typeface="IBM Plex Sans" pitchFamily="34" charset="0"/>
                          <a:ea typeface="IBM Plex Sans" pitchFamily="34" charset="-122"/>
                          <a:cs typeface="IBM Plex Sans" pitchFamily="34" charset="-120"/>
                        </a:rPr>
                        <a:t>Pipeline</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1942"/>
                        </a:lnSpc>
                        <a:buNone/>
                      </a:pPr>
                      <a:r>
                        <a:rPr lang="en-US" sz="1388" b="1" dirty="0">
                          <a:solidFill>
                            <a:srgbClr val="FBFBF8"/>
                          </a:solidFill>
                          <a:latin typeface="IBM Plex Sans" pitchFamily="34" charset="0"/>
                          <a:ea typeface="IBM Plex Sans" pitchFamily="34" charset="-122"/>
                          <a:cs typeface="IBM Plex Sans" pitchFamily="34" charset="-120"/>
                        </a:rPr>
                        <a:t>istruzioni prima</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1942"/>
                        </a:lnSpc>
                        <a:buNone/>
                      </a:pPr>
                      <a:r>
                        <a:rPr lang="en-US" sz="1388" b="1" dirty="0">
                          <a:solidFill>
                            <a:srgbClr val="FBFBF8"/>
                          </a:solidFill>
                          <a:latin typeface="IBM Plex Sans" pitchFamily="34" charset="0"/>
                          <a:ea typeface="IBM Plex Sans" pitchFamily="34" charset="-122"/>
                          <a:cs typeface="IBM Plex Sans" pitchFamily="34" charset="-120"/>
                        </a:rPr>
                        <a:t>dopo</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1942"/>
                        </a:lnSpc>
                        <a:buNone/>
                      </a:pPr>
                      <a:r>
                        <a:rPr lang="en-US" sz="1388" b="1" dirty="0">
                          <a:solidFill>
                            <a:srgbClr val="FBFBF8"/>
                          </a:solidFill>
                          <a:latin typeface="IBM Plex Sans" pitchFamily="34" charset="0"/>
                          <a:ea typeface="IBM Plex Sans" pitchFamily="34" charset="-122"/>
                          <a:cs typeface="IBM Plex Sans" pitchFamily="34" charset="-120"/>
                        </a:rPr>
                        <a:t>differenza</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r>
              <a:tr h="382654">
                <a:tc>
                  <a:txBody>
                    <a:bodyPr/>
                    <a:lstStyle/>
                    <a:p>
                      <a:pP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baseline</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155</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155</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942"/>
                        </a:lnSpc>
                        <a:buNone/>
                      </a:pPr>
                      <a:r>
                        <a:rPr lang="en-US" sz="1388" dirty="0">
                          <a:solidFill>
                            <a:srgbClr val="2E7D52"/>
                          </a:solidFill>
                          <a:latin typeface="IBM Plex Sans" pitchFamily="34" charset="0"/>
                          <a:ea typeface="IBM Plex Sans" pitchFamily="34" charset="-122"/>
                          <a:cs typeface="IBM Plex Sans" pitchFamily="34" charset="-120"/>
                        </a:rPr>
                        <a:t>invariata</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82654">
                <a:tc>
                  <a:txBody>
                    <a:bodyPr/>
                    <a:lstStyle/>
                    <a:p>
                      <a:pP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P1 hardcoded</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1 026</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1 026</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942"/>
                        </a:lnSpc>
                        <a:buNone/>
                      </a:pPr>
                      <a:r>
                        <a:rPr lang="en-US" sz="1388" dirty="0">
                          <a:solidFill>
                            <a:srgbClr val="2E7D52"/>
                          </a:solidFill>
                          <a:latin typeface="IBM Plex Sans" pitchFamily="34" charset="0"/>
                          <a:ea typeface="IBM Plex Sans" pitchFamily="34" charset="-122"/>
                          <a:cs typeface="IBM Plex Sans" pitchFamily="34" charset="-120"/>
                        </a:rPr>
                        <a:t>invariata</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r>
              <a:tr h="382654">
                <a:tc>
                  <a:txBody>
                    <a:bodyPr/>
                    <a:lstStyle/>
                    <a:p>
                      <a:pP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P2 template</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14 628</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14 985</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+357  (+2,4 %)</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82654">
                <a:tc>
                  <a:txBody>
                    <a:bodyPr/>
                    <a:lstStyle/>
                    <a:p>
                      <a:pP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P3 modular</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12 031</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12 349</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+318  (+2,6 %)</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r>
            </a:tbl>
          </a:graphicData>
        </a:graphic>
      </p:graphicFrame>
      <p:sp>
        <p:nvSpPr>
          <p:cNvPr id="13" name="Text 9"/>
          <p:cNvSpPr/>
          <p:nvPr/>
        </p:nvSpPr>
        <p:spPr>
          <a:xfrm>
            <a:off x="812800" y="6238280"/>
            <a:ext cx="818005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Esito funzionale: </a:t>
            </a:r>
            <a:r>
              <a:rPr lang="en-US" sz="1200" b="1" dirty="0">
                <a:solidFill>
                  <a:srgbClr val="6A7179"/>
                </a:solidFill>
                <a:latin typeface="IBM Plex Sans" pitchFamily="34" charset="0"/>
                <a:ea typeface="IBM Plex Sans" pitchFamily="34" charset="-122"/>
                <a:cs typeface="IBM Plex Sans" pitchFamily="34" charset="-120"/>
              </a:rPr>
              <a:t>kernel suite PASS</a:t>
            </a:r>
            <a:r>
              <a:rPr lang="en-US" sz="1200" dirty="0">
                <a:solidFill>
                  <a:srgbClr val="6A7179"/>
                </a:solidFill>
                <a:latin typeface="IBM Plex Sans" pitchFamily="34" charset="0"/>
                <a:ea typeface="IBM Plex Sans" pitchFamily="34" charset="-122"/>
                <a:cs typeface="IBM Plex Sans" pitchFamily="34" charset="-120"/>
              </a:rPr>
              <a:t> — quattro pipeline, TTL, reroute, architetture alternative, due modelli concorrenti</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spc="100" kern="0" dirty="0">
                <a:solidFill>
                  <a:srgbClr val="C2410C"/>
                </a:solidFill>
                <a:latin typeface="JetBrains Mono" pitchFamily="34" charset="0"/>
                <a:ea typeface="JetBrains Mono" pitchFamily="34" charset="-122"/>
                <a:cs typeface="JetBrains Mono" pitchFamily="34" charset="-120"/>
              </a:rPr>
              <a:t>THROUGHPUT END-TO-END · TG E DUT CHE COMUNICANO DAVVERO</a:t>
            </a:r>
            <a:endParaRPr lang="en-US" sz="1300" dirty="0"/>
          </a:p>
        </p:txBody>
      </p:sp>
      <p:sp>
        <p:nvSpPr>
          <p:cNvPr id="3" name="Text 1"/>
          <p:cNvSpPr/>
          <p:nvPr/>
        </p:nvSpPr>
        <p:spPr>
          <a:xfrm>
            <a:off x="812800" y="112011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213D"/>
                </a:solidFill>
                <a:latin typeface="IBM Plex Sans" pitchFamily="34" charset="0"/>
                <a:ea typeface="IBM Plex Sans" pitchFamily="34" charset="-122"/>
                <a:cs typeface="IBM Plex Sans" pitchFamily="34" charset="-120"/>
              </a:rPr>
              <a:t>Il banco, e dove si misura</a:t>
            </a:r>
            <a:endParaRPr lang="en-US" sz="3200" dirty="0"/>
          </a:p>
        </p:txBody>
      </p:sp>
      <p:sp>
        <p:nvSpPr>
          <p:cNvPr id="4" name="Shape 2"/>
          <p:cNvSpPr/>
          <p:nvPr/>
        </p:nvSpPr>
        <p:spPr>
          <a:xfrm>
            <a:off x="819150" y="1802085"/>
            <a:ext cx="2527300" cy="1355659"/>
          </a:xfrm>
          <a:prstGeom prst="roundRect">
            <a:avLst>
              <a:gd name="adj" fmla="val 7026"/>
            </a:avLst>
          </a:prstGeom>
          <a:solidFill>
            <a:srgbClr val="FBFBF8"/>
          </a:solidFill>
          <a:ln w="12700">
            <a:solidFill>
              <a:srgbClr val="14213D"/>
            </a:solidFill>
            <a:prstDash val="solid"/>
          </a:ln>
        </p:spPr>
      </p:sp>
      <p:sp>
        <p:nvSpPr>
          <p:cNvPr id="5" name="Text 3"/>
          <p:cNvSpPr/>
          <p:nvPr/>
        </p:nvSpPr>
        <p:spPr>
          <a:xfrm>
            <a:off x="1003300" y="1986235"/>
            <a:ext cx="22237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CPU 1</a:t>
            </a:r>
            <a:endParaRPr lang="en-US" sz="1200" dirty="0"/>
          </a:p>
        </p:txBody>
      </p:sp>
      <p:sp>
        <p:nvSpPr>
          <p:cNvPr id="6" name="Text 4"/>
          <p:cNvSpPr/>
          <p:nvPr/>
        </p:nvSpPr>
        <p:spPr>
          <a:xfrm>
            <a:off x="1003300" y="2250356"/>
            <a:ext cx="2223770"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pktgen — TG</a:t>
            </a:r>
            <a:endParaRPr lang="en-US" sz="1600" dirty="0"/>
          </a:p>
        </p:txBody>
      </p:sp>
      <p:sp>
        <p:nvSpPr>
          <p:cNvPr id="7" name="Text 5"/>
          <p:cNvSpPr/>
          <p:nvPr/>
        </p:nvSpPr>
        <p:spPr>
          <a:xfrm>
            <a:off x="1003300" y="2544961"/>
            <a:ext cx="2223770" cy="454025"/>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thread del kernel, non una socket</a:t>
            </a:r>
            <a:endParaRPr lang="en-US" sz="1250" dirty="0"/>
          </a:p>
        </p:txBody>
      </p:sp>
      <p:sp>
        <p:nvSpPr>
          <p:cNvPr id="8" name="Text 6"/>
          <p:cNvSpPr/>
          <p:nvPr/>
        </p:nvSpPr>
        <p:spPr>
          <a:xfrm>
            <a:off x="3977614" y="2263378"/>
            <a:ext cx="401373" cy="229857"/>
          </a:xfrm>
          <a:prstGeom prst="rect">
            <a:avLst/>
          </a:prstGeom>
          <a:noFill/>
          <a:ln/>
        </p:spPr>
        <p:txBody>
          <a:bodyPr wrap="square" lIns="0" tIns="0" rIns="0" bIns="0" rtlCol="0" anchor="t">
            <a:normAutofit/>
          </a:bodyPr>
          <a:lstStyle/>
          <a:p>
            <a:pPr algn="l" indent="0" marL="0">
              <a:lnSpc>
                <a:spcPts val="1610"/>
              </a:lnSpc>
              <a:buNone/>
            </a:pPr>
            <a:r>
              <a:rPr lang="en-US" sz="1150" dirty="0">
                <a:solidFill>
                  <a:srgbClr val="6A7179"/>
                </a:solidFill>
                <a:latin typeface="JetBrains Mono" pitchFamily="34" charset="0"/>
                <a:ea typeface="JetBrains Mono" pitchFamily="34" charset="-122"/>
                <a:cs typeface="JetBrains Mono" pitchFamily="34" charset="-120"/>
              </a:rPr>
              <a:t>veth</a:t>
            </a:r>
            <a:endParaRPr lang="en-US" sz="1150" dirty="0"/>
          </a:p>
        </p:txBody>
      </p:sp>
      <p:pic>
        <p:nvPicPr>
          <p:cNvPr id="9" name="Image 0" descr="arrow-right">    </p:cNvPr>
          <p:cNvPicPr>
            <a:picLocks noChangeAspect="1"/>
          </p:cNvPicPr>
          <p:nvPr/>
        </p:nvPicPr>
        <p:blipFill>
          <a:blip r:embed="rId1"/>
          <a:srcRect l="0" r="0" t="0" b="0"/>
          <a:stretch/>
        </p:blipFill>
        <p:spPr>
          <a:xfrm>
            <a:off x="3644900" y="2505943"/>
            <a:ext cx="1016000" cy="190500"/>
          </a:xfrm>
          <a:prstGeom prst="rect">
            <a:avLst/>
          </a:prstGeom>
        </p:spPr>
      </p:pic>
      <p:sp>
        <p:nvSpPr>
          <p:cNvPr id="10" name="Shape 7"/>
          <p:cNvSpPr/>
          <p:nvPr/>
        </p:nvSpPr>
        <p:spPr>
          <a:xfrm>
            <a:off x="4953000" y="1915592"/>
            <a:ext cx="2667000" cy="1128646"/>
          </a:xfrm>
          <a:prstGeom prst="roundRect">
            <a:avLst>
              <a:gd name="adj" fmla="val 9002"/>
            </a:avLst>
          </a:prstGeom>
          <a:solidFill>
            <a:srgbClr val="14213D"/>
          </a:solidFill>
          <a:ln/>
        </p:spPr>
      </p:sp>
      <p:sp>
        <p:nvSpPr>
          <p:cNvPr id="11" name="Text 8"/>
          <p:cNvSpPr/>
          <p:nvPr/>
        </p:nvSpPr>
        <p:spPr>
          <a:xfrm>
            <a:off x="5130800" y="2093392"/>
            <a:ext cx="238074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3BF"/>
                </a:solidFill>
                <a:latin typeface="IBM Plex Sans" pitchFamily="34" charset="0"/>
                <a:ea typeface="IBM Plex Sans" pitchFamily="34" charset="-122"/>
                <a:cs typeface="IBM Plex Sans" pitchFamily="34" charset="-120"/>
              </a:rPr>
              <a:t>CPU 2–3</a:t>
            </a:r>
            <a:endParaRPr lang="en-US" sz="1200" dirty="0"/>
          </a:p>
        </p:txBody>
      </p:sp>
      <p:sp>
        <p:nvSpPr>
          <p:cNvPr id="12" name="Text 9"/>
          <p:cNvSpPr/>
          <p:nvPr/>
        </p:nvSpPr>
        <p:spPr>
          <a:xfrm>
            <a:off x="5130800" y="2357512"/>
            <a:ext cx="2380742"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BFBF8"/>
                </a:solidFill>
                <a:latin typeface="IBM Plex Sans" pitchFamily="34" charset="0"/>
                <a:ea typeface="IBM Plex Sans" pitchFamily="34" charset="-122"/>
                <a:cs typeface="IBM Plex Sans" pitchFamily="34" charset="-120"/>
              </a:rPr>
              <a:t>pipeline XDP — DUT</a:t>
            </a:r>
            <a:endParaRPr lang="en-US" sz="1600" dirty="0"/>
          </a:p>
        </p:txBody>
      </p:sp>
      <p:sp>
        <p:nvSpPr>
          <p:cNvPr id="13" name="Text 10"/>
          <p:cNvSpPr/>
          <p:nvPr/>
        </p:nvSpPr>
        <p:spPr>
          <a:xfrm>
            <a:off x="5130800" y="2652117"/>
            <a:ext cx="2380742" cy="239713"/>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BFD8D5"/>
                </a:solidFill>
                <a:latin typeface="IBM Plex Sans" pitchFamily="34" charset="0"/>
                <a:ea typeface="IBM Plex Sans" pitchFamily="34" charset="-122"/>
                <a:cs typeface="IBM Plex Sans" pitchFamily="34" charset="-120"/>
              </a:rPr>
              <a:t>inferenza + bpf_redirect</a:t>
            </a:r>
            <a:endParaRPr lang="en-US" sz="1250" dirty="0"/>
          </a:p>
        </p:txBody>
      </p:sp>
      <p:sp>
        <p:nvSpPr>
          <p:cNvPr id="14" name="Text 11"/>
          <p:cNvSpPr/>
          <p:nvPr/>
        </p:nvSpPr>
        <p:spPr>
          <a:xfrm>
            <a:off x="8244814" y="2263378"/>
            <a:ext cx="401373" cy="229857"/>
          </a:xfrm>
          <a:prstGeom prst="rect">
            <a:avLst/>
          </a:prstGeom>
          <a:noFill/>
          <a:ln/>
        </p:spPr>
        <p:txBody>
          <a:bodyPr wrap="square" lIns="0" tIns="0" rIns="0" bIns="0" rtlCol="0" anchor="t">
            <a:normAutofit/>
          </a:bodyPr>
          <a:lstStyle/>
          <a:p>
            <a:pPr algn="l" indent="0" marL="0">
              <a:lnSpc>
                <a:spcPts val="1610"/>
              </a:lnSpc>
              <a:buNone/>
            </a:pPr>
            <a:r>
              <a:rPr lang="en-US" sz="1150" dirty="0">
                <a:solidFill>
                  <a:srgbClr val="6A7179"/>
                </a:solidFill>
                <a:latin typeface="JetBrains Mono" pitchFamily="34" charset="0"/>
                <a:ea typeface="JetBrains Mono" pitchFamily="34" charset="-122"/>
                <a:cs typeface="JetBrains Mono" pitchFamily="34" charset="-120"/>
              </a:rPr>
              <a:t>veth</a:t>
            </a:r>
            <a:endParaRPr lang="en-US" sz="1150" dirty="0"/>
          </a:p>
        </p:txBody>
      </p:sp>
      <p:pic>
        <p:nvPicPr>
          <p:cNvPr id="15" name="Image 1" descr="arrow-right">    </p:cNvPr>
          <p:cNvPicPr>
            <a:picLocks noChangeAspect="1"/>
          </p:cNvPicPr>
          <p:nvPr/>
        </p:nvPicPr>
        <p:blipFill>
          <a:blip r:embed="rId2"/>
          <a:srcRect l="0" r="0" t="0" b="0"/>
          <a:stretch/>
        </p:blipFill>
        <p:spPr>
          <a:xfrm>
            <a:off x="7912100" y="2505943"/>
            <a:ext cx="1016000" cy="190500"/>
          </a:xfrm>
          <a:prstGeom prst="rect">
            <a:avLst/>
          </a:prstGeom>
        </p:spPr>
      </p:pic>
      <p:sp>
        <p:nvSpPr>
          <p:cNvPr id="16" name="Shape 12"/>
          <p:cNvSpPr/>
          <p:nvPr/>
        </p:nvSpPr>
        <p:spPr>
          <a:xfrm>
            <a:off x="9226550" y="1802085"/>
            <a:ext cx="2146300" cy="1355659"/>
          </a:xfrm>
          <a:prstGeom prst="roundRect">
            <a:avLst>
              <a:gd name="adj" fmla="val 7026"/>
            </a:avLst>
          </a:prstGeom>
          <a:solidFill>
            <a:srgbClr val="FBFBF8"/>
          </a:solidFill>
          <a:ln w="12700">
            <a:solidFill>
              <a:srgbClr val="14213D"/>
            </a:solidFill>
            <a:prstDash val="solid"/>
          </a:ln>
        </p:spPr>
      </p:sp>
      <p:sp>
        <p:nvSpPr>
          <p:cNvPr id="17" name="Text 13"/>
          <p:cNvSpPr/>
          <p:nvPr/>
        </p:nvSpPr>
        <p:spPr>
          <a:xfrm>
            <a:off x="9410700" y="1986235"/>
            <a:ext cx="18313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destinatario</a:t>
            </a:r>
            <a:endParaRPr lang="en-US" sz="1200" dirty="0"/>
          </a:p>
        </p:txBody>
      </p:sp>
      <p:sp>
        <p:nvSpPr>
          <p:cNvPr id="18" name="Text 14"/>
          <p:cNvSpPr/>
          <p:nvPr/>
        </p:nvSpPr>
        <p:spPr>
          <a:xfrm>
            <a:off x="9410700" y="2250356"/>
            <a:ext cx="1831340"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contatore</a:t>
            </a:r>
            <a:endParaRPr lang="en-US" sz="1600" dirty="0"/>
          </a:p>
        </p:txBody>
      </p:sp>
      <p:sp>
        <p:nvSpPr>
          <p:cNvPr id="19" name="Text 15"/>
          <p:cNvSpPr/>
          <p:nvPr/>
        </p:nvSpPr>
        <p:spPr>
          <a:xfrm>
            <a:off x="9410700" y="2544961"/>
            <a:ext cx="1831340" cy="454025"/>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XDP_DROP, conta senza consegnare</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12800" y="3392686"/>
          <a:ext cx="10566400" cy="1855060"/>
        </p:xfrm>
        <a:graphic>
          <a:graphicData uri="http://schemas.openxmlformats.org/drawingml/2006/table">
            <a:tbl>
              <a:tblPr/>
              <a:tblGrid>
                <a:gridCol w="1479296"/>
                <a:gridCol w="2324608"/>
                <a:gridCol w="6762496"/>
              </a:tblGrid>
              <a:tr h="399322">
                <a:tc>
                  <a:txBody>
                    <a:bodyPr/>
                    <a:lstStyle/>
                    <a:p>
                      <a:pP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Punto</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Chi lo conta</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Che cosa dice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r>
              <a:tr h="657093">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TX</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pktgen</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accettati dal dispositivo. I rifiutati a coda piena sono carico offerto, non consegnato.</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HIT</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la pipeline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elaborati davvero. TX − HIT = entrati e mai arrivati all’inferenza.</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RX</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il contatore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arrivati a destinazione. HIT − RX = elaborati e non usciti.</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bl>
          </a:graphicData>
        </a:graphic>
      </p:graphicFrame>
      <p:sp>
        <p:nvSpPr>
          <p:cNvPr id="21" name="Text 16"/>
          <p:cNvSpPr/>
          <p:nvPr/>
        </p:nvSpPr>
        <p:spPr>
          <a:xfrm>
            <a:off x="812800" y="6238280"/>
            <a:ext cx="596214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Un solo numero di “perdita” confonderebbe tre cause che chiedono tre rimedi diversi</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800" y="812800"/>
            <a:ext cx="10883392" cy="201348"/>
          </a:xfrm>
          <a:prstGeom prst="rect">
            <a:avLst/>
          </a:prstGeom>
          <a:noFill/>
          <a:ln/>
        </p:spPr>
        <p:txBody>
          <a:bodyPr wrap="square" lIns="0" tIns="0" rIns="0" bIns="0" rtlCol="0" anchor="t">
            <a:normAutofit/>
          </a:bodyPr>
          <a:lstStyle/>
          <a:p>
            <a:pPr algn="l" indent="0" marL="0">
              <a:lnSpc>
                <a:spcPts val="1422"/>
              </a:lnSpc>
              <a:buNone/>
            </a:pPr>
            <a:r>
              <a:rPr lang="en-US" sz="1016" spc="100" kern="0" dirty="0">
                <a:solidFill>
                  <a:srgbClr val="C2410C"/>
                </a:solidFill>
                <a:latin typeface="JetBrains Mono" pitchFamily="34" charset="0"/>
                <a:ea typeface="JetBrains Mono" pitchFamily="34" charset="-122"/>
                <a:cs typeface="JetBrains Mono" pitchFamily="34" charset="-120"/>
              </a:rPr>
              <a:t>PACCHETTI PERSI · THROUGHPUT A PERDITA NULLA</a:t>
            </a:r>
            <a:endParaRPr lang="en-US" sz="1016" dirty="0"/>
          </a:p>
        </p:txBody>
      </p:sp>
      <p:sp>
        <p:nvSpPr>
          <p:cNvPr id="3" name="Text 1"/>
          <p:cNvSpPr/>
          <p:nvPr/>
        </p:nvSpPr>
        <p:spPr>
          <a:xfrm>
            <a:off x="812800" y="1052252"/>
            <a:ext cx="10883392" cy="344554"/>
          </a:xfrm>
          <a:prstGeom prst="rect">
            <a:avLst/>
          </a:prstGeom>
          <a:noFill/>
          <a:ln/>
        </p:spPr>
        <p:txBody>
          <a:bodyPr wrap="square" lIns="0" tIns="0" rIns="0" bIns="0" rtlCol="0" anchor="t">
            <a:normAutofit/>
          </a:bodyPr>
          <a:lstStyle/>
          <a:p>
            <a:pPr algn="l" indent="0" marL="0">
              <a:lnSpc>
                <a:spcPts val="2516"/>
              </a:lnSpc>
              <a:buNone/>
            </a:pPr>
            <a:r>
              <a:rPr lang="en-US" sz="2288" b="1" dirty="0">
                <a:solidFill>
                  <a:srgbClr val="14213D"/>
                </a:solidFill>
                <a:latin typeface="IBM Plex Sans" pitchFamily="34" charset="0"/>
                <a:ea typeface="IBM Plex Sans" pitchFamily="34" charset="-122"/>
                <a:cs typeface="IBM Plex Sans" pitchFamily="34" charset="-120"/>
              </a:rPr>
              <a:t>La pipeline non ha perso nulla</a:t>
            </a:r>
            <a:endParaRPr lang="en-US" sz="2288" dirty="0"/>
          </a:p>
        </p:txBody>
      </p:sp>
      <p:sp>
        <p:nvSpPr>
          <p:cNvPr id="4" name="Shape 2"/>
          <p:cNvSpPr/>
          <p:nvPr/>
        </p:nvSpPr>
        <p:spPr>
          <a:xfrm>
            <a:off x="815975" y="1539677"/>
            <a:ext cx="5187950" cy="1413404"/>
          </a:xfrm>
          <a:prstGeom prst="roundRect">
            <a:avLst>
              <a:gd name="adj" fmla="val 6964"/>
            </a:avLst>
          </a:prstGeom>
          <a:solidFill>
            <a:srgbClr val="FBFBF8"/>
          </a:solidFill>
          <a:ln w="6350">
            <a:solidFill>
              <a:srgbClr val="D7DEE7"/>
            </a:solidFill>
            <a:prstDash val="solid"/>
          </a:ln>
        </p:spPr>
      </p:sp>
      <p:sp>
        <p:nvSpPr>
          <p:cNvPr id="5" name="Text 3"/>
          <p:cNvSpPr/>
          <p:nvPr/>
        </p:nvSpPr>
        <p:spPr>
          <a:xfrm>
            <a:off x="2638227" y="1705843"/>
            <a:ext cx="1594247" cy="218083"/>
          </a:xfrm>
          <a:prstGeom prst="rect">
            <a:avLst/>
          </a:prstGeom>
          <a:noFill/>
          <a:ln/>
        </p:spPr>
        <p:txBody>
          <a:bodyPr wrap="square" lIns="0" tIns="0" rIns="0" bIns="0" rtlCol="0" anchor="t">
            <a:normAutofit/>
          </a:bodyPr>
          <a:lstStyle/>
          <a:p>
            <a:pPr algn="l" indent="0" marL="0">
              <a:lnSpc>
                <a:spcPts val="1523"/>
              </a:lnSpc>
              <a:buNone/>
            </a:pPr>
            <a:r>
              <a:rPr lang="en-US" sz="1269" b="1" dirty="0">
                <a:solidFill>
                  <a:srgbClr val="2E7D52"/>
                </a:solidFill>
                <a:latin typeface="IBM Plex Sans" pitchFamily="34" charset="0"/>
                <a:ea typeface="IBM Plex Sans" pitchFamily="34" charset="-122"/>
                <a:cs typeface="IBM Plex Sans" pitchFamily="34" charset="-120"/>
              </a:rPr>
              <a:t>In ogni riga misurata</a:t>
            </a:r>
            <a:endParaRPr lang="en-US" sz="1269" dirty="0"/>
          </a:p>
        </p:txBody>
      </p:sp>
      <p:pic>
        <p:nvPicPr>
          <p:cNvPr id="6" name="Image 0" descr="TX uguale HIT uguale RX, e HIT meno RX uguale zero">    </p:cNvPr>
          <p:cNvPicPr>
            <a:picLocks noChangeAspect="1"/>
          </p:cNvPicPr>
          <p:nvPr/>
        </p:nvPicPr>
        <p:blipFill>
          <a:blip r:embed="rId1"/>
          <a:srcRect l="-7338" r="-7338" t="0" b="0"/>
          <a:stretch/>
        </p:blipFill>
        <p:spPr>
          <a:xfrm>
            <a:off x="1441450" y="1962026"/>
            <a:ext cx="3937000" cy="387615"/>
          </a:xfrm>
          <a:prstGeom prst="rect">
            <a:avLst/>
          </a:prstGeom>
        </p:spPr>
      </p:pic>
      <p:sp>
        <p:nvSpPr>
          <p:cNvPr id="7" name="Text 4"/>
          <p:cNvSpPr/>
          <p:nvPr/>
        </p:nvSpPr>
        <p:spPr>
          <a:xfrm>
            <a:off x="935461" y="2413136"/>
            <a:ext cx="4948978" cy="399190"/>
          </a:xfrm>
          <a:prstGeom prst="rect">
            <a:avLst/>
          </a:prstGeom>
          <a:noFill/>
          <a:ln/>
        </p:spPr>
        <p:txBody>
          <a:bodyPr wrap="square" lIns="0" tIns="0" rIns="0" bIns="0" rtlCol="0" anchor="t">
            <a:normAutofit/>
          </a:bodyPr>
          <a:lstStyle/>
          <a:p>
            <a:pPr algn="ctr" indent="0" marL="0">
              <a:lnSpc>
                <a:spcPts val="1487"/>
              </a:lnSpc>
              <a:buNone/>
            </a:pPr>
            <a:r>
              <a:rPr lang="en-US" sz="1102" dirty="0">
                <a:solidFill>
                  <a:srgbClr val="4A5568"/>
                </a:solidFill>
                <a:latin typeface="IBM Plex Sans" pitchFamily="34" charset="0"/>
                <a:ea typeface="IBM Plex Sans" pitchFamily="34" charset="-122"/>
                <a:cs typeface="IBM Plex Sans" pitchFamily="34" charset="-120"/>
              </a:rPr>
              <a:t>Ogni pacchetto consegnato è stato elaborato ed è uscito. Ciò che manca era stato </a:t>
            </a:r>
            <a:r>
              <a:rPr lang="en-US" sz="1102" b="1" dirty="0">
                <a:solidFill>
                  <a:srgbClr val="4A5568"/>
                </a:solidFill>
                <a:latin typeface="IBM Plex Sans" pitchFamily="34" charset="0"/>
                <a:ea typeface="IBM Plex Sans" pitchFamily="34" charset="-122"/>
                <a:cs typeface="IBM Plex Sans" pitchFamily="34" charset="-120"/>
              </a:rPr>
              <a:t>rifiutato all’ingresso</a:t>
            </a:r>
            <a:r>
              <a:rPr lang="en-US" sz="1102" dirty="0">
                <a:solidFill>
                  <a:srgbClr val="4A5568"/>
                </a:solidFill>
                <a:latin typeface="IBM Plex Sans" pitchFamily="34" charset="0"/>
                <a:ea typeface="IBM Plex Sans" pitchFamily="34" charset="-122"/>
                <a:cs typeface="IBM Plex Sans" pitchFamily="34" charset="-120"/>
              </a:rPr>
              <a:t>.</a:t>
            </a:r>
            <a:endParaRPr lang="en-US" sz="1102" dirty="0"/>
          </a:p>
        </p:txBody>
      </p:sp>
      <p:sp>
        <p:nvSpPr>
          <p:cNvPr id="8" name="Shape 5"/>
          <p:cNvSpPr/>
          <p:nvPr/>
        </p:nvSpPr>
        <p:spPr>
          <a:xfrm>
            <a:off x="6188075" y="1539677"/>
            <a:ext cx="5187950" cy="1413404"/>
          </a:xfrm>
          <a:prstGeom prst="roundRect">
            <a:avLst>
              <a:gd name="adj" fmla="val 6964"/>
            </a:avLst>
          </a:prstGeom>
          <a:solidFill>
            <a:srgbClr val="FBFBF8"/>
          </a:solidFill>
          <a:ln w="6350">
            <a:solidFill>
              <a:srgbClr val="D7DEE7"/>
            </a:solidFill>
            <a:prstDash val="solid"/>
          </a:ln>
        </p:spPr>
      </p:sp>
      <p:sp>
        <p:nvSpPr>
          <p:cNvPr id="9" name="Text 6"/>
          <p:cNvSpPr/>
          <p:nvPr/>
        </p:nvSpPr>
        <p:spPr>
          <a:xfrm>
            <a:off x="8152606" y="1705843"/>
            <a:ext cx="1309688" cy="181769"/>
          </a:xfrm>
          <a:prstGeom prst="rect">
            <a:avLst/>
          </a:prstGeom>
          <a:noFill/>
          <a:ln/>
        </p:spPr>
        <p:txBody>
          <a:bodyPr wrap="square" lIns="0" tIns="0" rIns="0" bIns="0" rtlCol="0" anchor="t">
            <a:normAutofit/>
          </a:bodyPr>
          <a:lstStyle/>
          <a:p>
            <a:pPr algn="l" indent="0" marL="0">
              <a:lnSpc>
                <a:spcPts val="1272"/>
              </a:lnSpc>
              <a:buNone/>
            </a:pPr>
            <a:r>
              <a:rPr lang="en-US" sz="1060" b="1" dirty="0">
                <a:solidFill>
                  <a:srgbClr val="C2410C"/>
                </a:solidFill>
                <a:latin typeface="IBM Plex Sans" pitchFamily="34" charset="0"/>
                <a:ea typeface="IBM Plex Sans" pitchFamily="34" charset="-122"/>
                <a:cs typeface="IBM Plex Sans" pitchFamily="34" charset="-120"/>
              </a:rPr>
              <a:t>Perché il veth rifiuta</a:t>
            </a:r>
            <a:endParaRPr lang="en-US" sz="1060" dirty="0"/>
          </a:p>
        </p:txBody>
      </p:sp>
      <p:pic>
        <p:nvPicPr>
          <p:cNvPr id="10" name="Image 1" descr="T uguale R diviso lambda, uguale 256 diviso 1 virgola 5 per 10 alla sesta, circa 170 microsecondi">    </p:cNvPr>
          <p:cNvPicPr>
            <a:picLocks noChangeAspect="1"/>
          </p:cNvPicPr>
          <p:nvPr/>
        </p:nvPicPr>
        <p:blipFill>
          <a:blip r:embed="rId2"/>
          <a:srcRect l="-20645" r="-20645" t="0" b="0"/>
          <a:stretch/>
        </p:blipFill>
        <p:spPr>
          <a:xfrm>
            <a:off x="6813550" y="1925712"/>
            <a:ext cx="3937000" cy="494374"/>
          </a:xfrm>
          <a:prstGeom prst="rect">
            <a:avLst/>
          </a:prstGeom>
        </p:spPr>
      </p:pic>
      <p:sp>
        <p:nvSpPr>
          <p:cNvPr id="11" name="Text 7"/>
          <p:cNvSpPr/>
          <p:nvPr/>
        </p:nvSpPr>
        <p:spPr>
          <a:xfrm>
            <a:off x="6307561" y="2483582"/>
            <a:ext cx="4948978" cy="328745"/>
          </a:xfrm>
          <a:prstGeom prst="rect">
            <a:avLst/>
          </a:prstGeom>
          <a:noFill/>
          <a:ln/>
        </p:spPr>
        <p:txBody>
          <a:bodyPr wrap="square" lIns="0" tIns="0" rIns="0" bIns="0" rtlCol="0" anchor="t">
            <a:normAutofit/>
          </a:bodyPr>
          <a:lstStyle/>
          <a:p>
            <a:pPr algn="ctr" indent="0" marL="0">
              <a:lnSpc>
                <a:spcPts val="1208"/>
              </a:lnSpc>
              <a:buNone/>
            </a:pPr>
            <a:r>
              <a:rPr lang="en-US" sz="895" dirty="0">
                <a:solidFill>
                  <a:srgbClr val="4A5568"/>
                </a:solidFill>
                <a:latin typeface="IBM Plex Sans" pitchFamily="34" charset="0"/>
                <a:ea typeface="IBM Plex Sans" pitchFamily="34" charset="-122"/>
                <a:cs typeface="IBM Plex Sans" pitchFamily="34" charset="-120"/>
              </a:rPr>
              <a:t>Il ring del veth è di 256 descrittori: il thread NAPI deve essere schedulato entro 170 µs </a:t>
            </a:r>
            <a:r>
              <a:rPr lang="en-US" sz="895" b="1" dirty="0">
                <a:solidFill>
                  <a:srgbClr val="4A5568"/>
                </a:solidFill>
                <a:latin typeface="IBM Plex Sans" pitchFamily="34" charset="0"/>
                <a:ea typeface="IBM Plex Sans" pitchFamily="34" charset="-122"/>
                <a:cs typeface="IBM Plex Sans" pitchFamily="34" charset="-120"/>
              </a:rPr>
              <a:t>ogni volta</a:t>
            </a:r>
            <a:r>
              <a:rPr lang="en-US" sz="895" dirty="0">
                <a:solidFill>
                  <a:srgbClr val="4A5568"/>
                </a:solidFill>
                <a:latin typeface="IBM Plex Sans" pitchFamily="34" charset="0"/>
                <a:ea typeface="IBM Plex Sans" pitchFamily="34" charset="-122"/>
                <a:cs typeface="IBM Plex Sans" pitchFamily="34" charset="-120"/>
              </a:rPr>
              <a:t>.</a:t>
            </a:r>
            <a:endParaRPr lang="en-US" sz="895"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12800" y="3121360"/>
          <a:ext cx="10566400" cy="1938602"/>
        </p:xfrm>
        <a:graphic>
          <a:graphicData uri="http://schemas.openxmlformats.org/drawingml/2006/table">
            <a:tbl>
              <a:tblPr/>
              <a:tblGrid>
                <a:gridCol w="2958592"/>
                <a:gridCol w="2535936"/>
                <a:gridCol w="2535936"/>
                <a:gridCol w="2535936"/>
              </a:tblGrid>
              <a:tr h="323056">
                <a:tc>
                  <a:txBody>
                    <a:bodyPr/>
                    <a:lstStyle/>
                    <a:p>
                      <a:pPr indent="0" marL="0">
                        <a:lnSpc>
                          <a:spcPts val="1627"/>
                        </a:lnSpc>
                        <a:buNone/>
                      </a:pPr>
                      <a:r>
                        <a:rPr lang="en-US" sz="1163" b="1" dirty="0">
                          <a:solidFill>
                            <a:srgbClr val="FBFBF8"/>
                          </a:solidFill>
                          <a:latin typeface="IBM Plex Sans" pitchFamily="34" charset="0"/>
                          <a:ea typeface="IBM Plex Sans" pitchFamily="34" charset="-122"/>
                          <a:cs typeface="IBM Plex Sans" pitchFamily="34" charset="-120"/>
                        </a:rPr>
                        <a:t>Pipeline</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1627"/>
                        </a:lnSpc>
                        <a:buNone/>
                      </a:pPr>
                      <a:r>
                        <a:rPr lang="en-US" sz="1163" b="1" dirty="0">
                          <a:solidFill>
                            <a:srgbClr val="FBFBF8"/>
                          </a:solidFill>
                          <a:latin typeface="IBM Plex Sans" pitchFamily="34" charset="0"/>
                          <a:ea typeface="IBM Plex Sans" pitchFamily="34" charset="-122"/>
                          <a:cs typeface="IBM Plex Sans" pitchFamily="34" charset="-120"/>
                        </a:rPr>
                        <a:t>frame 64 B</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1627"/>
                        </a:lnSpc>
                        <a:buNone/>
                      </a:pPr>
                      <a:r>
                        <a:rPr lang="en-US" sz="1163" b="1" dirty="0">
                          <a:solidFill>
                            <a:srgbClr val="FBFBF8"/>
                          </a:solidFill>
                          <a:latin typeface="IBM Plex Sans" pitchFamily="34" charset="0"/>
                          <a:ea typeface="IBM Plex Sans" pitchFamily="34" charset="-122"/>
                          <a:cs typeface="IBM Plex Sans" pitchFamily="34" charset="-120"/>
                        </a:rPr>
                        <a:t>frame 512 B</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1627"/>
                        </a:lnSpc>
                        <a:buNone/>
                      </a:pPr>
                      <a:r>
                        <a:rPr lang="en-US" sz="1163" b="1" dirty="0">
                          <a:solidFill>
                            <a:srgbClr val="FBFBF8"/>
                          </a:solidFill>
                          <a:latin typeface="IBM Plex Sans" pitchFamily="34" charset="0"/>
                          <a:ea typeface="IBM Plex Sans" pitchFamily="34" charset="-122"/>
                          <a:cs typeface="IBM Plex Sans" pitchFamily="34" charset="-120"/>
                        </a:rPr>
                        <a:t>frame 1514 B</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r>
              <a:tr h="323056">
                <a:tc>
                  <a:txBody>
                    <a:bodyPr/>
                    <a:lstStyle/>
                    <a:p>
                      <a:pP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baseline</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854 471</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875 845</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667 445</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23122">
                <a:tc>
                  <a:txBody>
                    <a:bodyPr/>
                    <a:lstStyle/>
                    <a:p>
                      <a:pP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p1_static</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810 918</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851 838</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650 474</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r h="323122">
                <a:tc>
                  <a:txBody>
                    <a:bodyPr/>
                    <a:lstStyle/>
                    <a:p>
                      <a:pP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hardcoded</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868 294</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809 894</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659 662</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23122">
                <a:tc>
                  <a:txBody>
                    <a:bodyPr/>
                    <a:lstStyle/>
                    <a:p>
                      <a:pP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template</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642 604</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655 171</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530 270</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r h="323122">
                <a:tc>
                  <a:txBody>
                    <a:bodyPr/>
                    <a:lstStyle/>
                    <a:p>
                      <a:pP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modular</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574 717</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573 717</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462 708</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bl>
          </a:graphicData>
        </a:graphic>
      </p:graphicFrame>
      <p:sp>
        <p:nvSpPr>
          <p:cNvPr id="13" name="Text 8"/>
          <p:cNvSpPr/>
          <p:nvPr/>
        </p:nvSpPr>
        <p:spPr>
          <a:xfrm>
            <a:off x="812800" y="5466358"/>
            <a:ext cx="10203180" cy="401042"/>
          </a:xfrm>
          <a:prstGeom prst="rect">
            <a:avLst/>
          </a:prstGeom>
          <a:noFill/>
          <a:ln/>
        </p:spPr>
        <p:txBody>
          <a:bodyPr wrap="square" lIns="0" tIns="0" rIns="0" bIns="0" rtlCol="0" anchor="t">
            <a:normAutofit/>
          </a:bodyPr>
          <a:lstStyle/>
          <a:p>
            <a:pPr algn="l" indent="0" marL="0">
              <a:lnSpc>
                <a:spcPts val="1482"/>
              </a:lnSpc>
              <a:buNone/>
            </a:pPr>
            <a:r>
              <a:rPr lang="en-US" sz="1059" dirty="0">
                <a:solidFill>
                  <a:srgbClr val="4A5568"/>
                </a:solidFill>
                <a:latin typeface="IBM Plex Sans" pitchFamily="34" charset="0"/>
                <a:ea typeface="IBM Plex Sans" pitchFamily="34" charset="-122"/>
                <a:cs typeface="IBM Plex Sans" pitchFamily="34" charset="-120"/>
              </a:rPr>
              <a:t>Il </a:t>
            </a:r>
            <a:r>
              <a:rPr lang="en-US" sz="1059" b="1" dirty="0">
                <a:solidFill>
                  <a:srgbClr val="4A5568"/>
                </a:solidFill>
                <a:latin typeface="IBM Plex Sans" pitchFamily="34" charset="0"/>
                <a:ea typeface="IBM Plex Sans" pitchFamily="34" charset="-122"/>
                <a:cs typeface="IBM Plex Sans" pitchFamily="34" charset="-120"/>
              </a:rPr>
              <a:t>≥</a:t>
            </a:r>
            <a:r>
              <a:rPr lang="en-US" sz="1059" dirty="0">
                <a:solidFill>
                  <a:srgbClr val="4A5568"/>
                </a:solidFill>
                <a:latin typeface="IBM Plex Sans" pitchFamily="34" charset="0"/>
                <a:ea typeface="IBM Plex Sans" pitchFamily="34" charset="-122"/>
                <a:cs typeface="IBM Plex Sans" pitchFamily="34" charset="-120"/>
              </a:rPr>
              <a:t> non è prudenza: a massima spinta non si perde un pacchetto, quindi la pipeline </a:t>
            </a:r>
            <a:r>
              <a:rPr lang="en-US" sz="1059" b="1" dirty="0">
                <a:solidFill>
                  <a:srgbClr val="4A5568"/>
                </a:solidFill>
                <a:latin typeface="IBM Plex Sans" pitchFamily="34" charset="0"/>
                <a:ea typeface="IBM Plex Sans" pitchFamily="34" charset="-122"/>
                <a:cs typeface="IBM Plex Sans" pitchFamily="34" charset="-120"/>
              </a:rPr>
              <a:t>non è satura</a:t>
            </a:r>
            <a:r>
              <a:rPr lang="en-US" sz="1059" dirty="0">
                <a:solidFill>
                  <a:srgbClr val="4A5568"/>
                </a:solidFill>
                <a:latin typeface="IBM Plex Sans" pitchFamily="34" charset="0"/>
                <a:ea typeface="IBM Plex Sans" pitchFamily="34" charset="-122"/>
                <a:cs typeface="IBM Plex Sans" pitchFamily="34" charset="-120"/>
              </a:rPr>
              <a:t> e il tetto è quello del generatore. Limiti inferiori dell’NDR (RFC 2544).</a:t>
            </a:r>
            <a:endParaRPr lang="en-US" sz="1059" dirty="0"/>
          </a:p>
        </p:txBody>
      </p:sp>
      <p:sp>
        <p:nvSpPr>
          <p:cNvPr id="14" name="Text 9"/>
          <p:cNvSpPr/>
          <p:nvPr/>
        </p:nvSpPr>
        <p:spPr>
          <a:xfrm>
            <a:off x="812800" y="6238280"/>
            <a:ext cx="53566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pacchetti al secondo consegnati, perdita 0,00 % · 5 finestre da 2 s per punto</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197511"/>
          </a:xfrm>
          <a:prstGeom prst="rect">
            <a:avLst/>
          </a:prstGeom>
          <a:noFill/>
          <a:ln/>
        </p:spPr>
        <p:txBody>
          <a:bodyPr wrap="square" lIns="0" tIns="0" rIns="0" bIns="0" rtlCol="0" anchor="t">
            <a:normAutofit/>
          </a:bodyPr>
          <a:lstStyle/>
          <a:p>
            <a:pPr algn="l" indent="0" marL="0">
              <a:lnSpc>
                <a:spcPts val="1371"/>
              </a:lnSpc>
              <a:buNone/>
            </a:pPr>
            <a:r>
              <a:rPr lang="en-US" sz="979" spc="100" kern="0" dirty="0">
                <a:solidFill>
                  <a:srgbClr val="C2410C"/>
                </a:solidFill>
                <a:latin typeface="JetBrains Mono" pitchFamily="34" charset="0"/>
                <a:ea typeface="JetBrains Mono" pitchFamily="34" charset="-122"/>
                <a:cs typeface="JetBrains Mono" pitchFamily="34" charset="-120"/>
              </a:rPr>
              <a:t>TRAFFICO VERO CONTRO LABORATORIO</a:t>
            </a:r>
            <a:endParaRPr lang="en-US" sz="979" dirty="0"/>
          </a:p>
        </p:txBody>
      </p:sp>
      <p:sp>
        <p:nvSpPr>
          <p:cNvPr id="3" name="Text 1"/>
          <p:cNvSpPr/>
          <p:nvPr/>
        </p:nvSpPr>
        <p:spPr>
          <a:xfrm>
            <a:off x="812800" y="1048420"/>
            <a:ext cx="10883392" cy="337608"/>
          </a:xfrm>
          <a:prstGeom prst="rect">
            <a:avLst/>
          </a:prstGeom>
          <a:noFill/>
          <a:ln/>
        </p:spPr>
        <p:txBody>
          <a:bodyPr wrap="square" lIns="0" tIns="0" rIns="0" bIns="0" rtlCol="0" anchor="t">
            <a:normAutofit/>
          </a:bodyPr>
          <a:lstStyle/>
          <a:p>
            <a:pPr algn="l" indent="0" marL="0">
              <a:lnSpc>
                <a:spcPts val="2465"/>
              </a:lnSpc>
              <a:buNone/>
            </a:pPr>
            <a:r>
              <a:rPr lang="en-US" sz="2241" b="1" dirty="0">
                <a:solidFill>
                  <a:srgbClr val="14213D"/>
                </a:solidFill>
                <a:latin typeface="IBM Plex Sans" pitchFamily="34" charset="0"/>
                <a:ea typeface="IBM Plex Sans" pitchFamily="34" charset="-122"/>
                <a:cs typeface="IBM Plex Sans" pitchFamily="34" charset="-120"/>
              </a:rPr>
              <a:t>Quaranta volte più lente, e va bene così</a:t>
            </a:r>
            <a:endParaRPr lang="en-US" sz="2241"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2800" y="1525724"/>
          <a:ext cx="10566400" cy="1584127"/>
        </p:xfrm>
        <a:graphic>
          <a:graphicData uri="http://schemas.openxmlformats.org/drawingml/2006/table">
            <a:tbl>
              <a:tblPr/>
              <a:tblGrid>
                <a:gridCol w="2958592"/>
                <a:gridCol w="2007616"/>
                <a:gridCol w="2007616"/>
                <a:gridCol w="1796288"/>
                <a:gridCol w="1796288"/>
              </a:tblGrid>
              <a:tr h="316772">
                <a:tc>
                  <a:txBody>
                    <a:bodyPr/>
                    <a:lstStyle/>
                    <a:p>
                      <a:pPr indent="0" marL="0">
                        <a:lnSpc>
                          <a:spcPts val="1595"/>
                        </a:lnSpc>
                        <a:buNone/>
                      </a:pPr>
                      <a:r>
                        <a:rPr lang="en-US" sz="1139" b="1" dirty="0">
                          <a:solidFill>
                            <a:srgbClr val="FBFBF8"/>
                          </a:solidFill>
                          <a:latin typeface="IBM Plex Sans" pitchFamily="34" charset="0"/>
                          <a:ea typeface="IBM Plex Sans" pitchFamily="34" charset="-122"/>
                          <a:cs typeface="IBM Plex Sans" pitchFamily="34" charset="-120"/>
                        </a:rPr>
                        <a:t>Pipeline</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1595"/>
                        </a:lnSpc>
                        <a:buNone/>
                      </a:pPr>
                      <a:r>
                        <a:rPr lang="en-US" sz="1139" b="1" dirty="0">
                          <a:solidFill>
                            <a:srgbClr val="FBFBF8"/>
                          </a:solidFill>
                          <a:latin typeface="IBM Plex Sans" pitchFamily="34" charset="0"/>
                          <a:ea typeface="IBM Plex Sans" pitchFamily="34" charset="-122"/>
                          <a:cs typeface="IBM Plex Sans" pitchFamily="34" charset="-120"/>
                        </a:rPr>
                        <a:t>test_suite</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1595"/>
                        </a:lnSpc>
                        <a:buNone/>
                      </a:pPr>
                      <a:r>
                        <a:rPr lang="en-US" sz="1139" b="1" dirty="0">
                          <a:solidFill>
                            <a:srgbClr val="FBFBF8"/>
                          </a:solidFill>
                          <a:latin typeface="IBM Plex Sans" pitchFamily="34" charset="0"/>
                          <a:ea typeface="IBM Plex Sans" pitchFamily="34" charset="-122"/>
                          <a:cs typeface="IBM Plex Sans" pitchFamily="34" charset="-120"/>
                        </a:rPr>
                        <a:t>banco</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1595"/>
                        </a:lnSpc>
                        <a:buNone/>
                      </a:pPr>
                      <a:r>
                        <a:rPr lang="en-US" sz="1139" b="1" dirty="0">
                          <a:solidFill>
                            <a:srgbClr val="FBFBF8"/>
                          </a:solidFill>
                          <a:latin typeface="IBM Plex Sans" pitchFamily="34" charset="0"/>
                          <a:ea typeface="IBM Plex Sans" pitchFamily="34" charset="-122"/>
                          <a:cs typeface="IBM Plex Sans" pitchFamily="34" charset="-120"/>
                        </a:rPr>
                        <a:t>ns / pkt</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1595"/>
                        </a:lnSpc>
                        <a:buNone/>
                      </a:pPr>
                      <a:r>
                        <a:rPr lang="en-US" sz="1139" b="1" dirty="0">
                          <a:solidFill>
                            <a:srgbClr val="FBFBF8"/>
                          </a:solidFill>
                          <a:latin typeface="IBM Plex Sans" pitchFamily="34" charset="0"/>
                          <a:ea typeface="IBM Plex Sans" pitchFamily="34" charset="-122"/>
                          <a:cs typeface="IBM Plex Sans" pitchFamily="34" charset="-120"/>
                        </a:rPr>
                        <a:t>scarto</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r>
              <a:tr h="316839">
                <a:tc>
                  <a:txBody>
                    <a:bodyPr/>
                    <a:lstStyle/>
                    <a:p>
                      <a:pP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baseline</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34,48 Mpps</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0,876 Mpps</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1 142</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+1 113</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16839">
                <a:tc>
                  <a:txBody>
                    <a:bodyPr/>
                    <a:lstStyle/>
                    <a:p>
                      <a:pP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P1 hardcoded</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13,70 Mpps</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0,810 Mpps</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1 235</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+1 162</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r>
              <a:tr h="316839">
                <a:tc>
                  <a:txBody>
                    <a:bodyPr/>
                    <a:lstStyle/>
                    <a:p>
                      <a:pP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P2 template</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3,82 Mpps</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0,655 Mpps</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1 526</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+1 264</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16839">
                <a:tc>
                  <a:txBody>
                    <a:bodyPr/>
                    <a:lstStyle/>
                    <a:p>
                      <a:pP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P3 modular</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2,38 Mpps</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0,574 Mpps</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1 743</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+1 322</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r>
            </a:tbl>
          </a:graphicData>
        </a:graphic>
      </p:graphicFrame>
      <p:sp>
        <p:nvSpPr>
          <p:cNvPr id="5" name="Shape 2"/>
          <p:cNvSpPr/>
          <p:nvPr/>
        </p:nvSpPr>
        <p:spPr>
          <a:xfrm>
            <a:off x="812800" y="3516250"/>
            <a:ext cx="10566400" cy="1394486"/>
          </a:xfrm>
          <a:prstGeom prst="roundRect">
            <a:avLst>
              <a:gd name="adj" fmla="val 7286"/>
            </a:avLst>
          </a:prstGeom>
          <a:solidFill>
            <a:srgbClr val="14213D"/>
          </a:solidFill>
          <a:ln/>
        </p:spPr>
      </p:sp>
      <p:sp>
        <p:nvSpPr>
          <p:cNvPr id="6" name="Text 3"/>
          <p:cNvSpPr/>
          <p:nvPr/>
        </p:nvSpPr>
        <p:spPr>
          <a:xfrm>
            <a:off x="1517650" y="3694050"/>
            <a:ext cx="9156700" cy="212130"/>
          </a:xfrm>
          <a:prstGeom prst="rect">
            <a:avLst/>
          </a:prstGeom>
          <a:noFill/>
          <a:ln/>
        </p:spPr>
        <p:txBody>
          <a:bodyPr wrap="square" lIns="0" tIns="0" rIns="0" bIns="0" rtlCol="0" anchor="t">
            <a:normAutofit/>
          </a:bodyPr>
          <a:lstStyle/>
          <a:p>
            <a:pPr algn="ctr" indent="0" marL="0">
              <a:lnSpc>
                <a:spcPts val="1474"/>
              </a:lnSpc>
              <a:buNone/>
            </a:pPr>
            <a:r>
              <a:rPr lang="en-US" sz="1092" dirty="0">
                <a:solidFill>
                  <a:srgbClr val="FBFBF8"/>
                </a:solidFill>
                <a:latin typeface="IBM Plex Sans" pitchFamily="34" charset="0"/>
                <a:ea typeface="IBM Plex Sans" pitchFamily="34" charset="-122"/>
                <a:cs typeface="IBM Plex Sans" pitchFamily="34" charset="-120"/>
              </a:rPr>
              <a:t>La differenza non è un fattore: è un </a:t>
            </a:r>
            <a:r>
              <a:rPr lang="en-US" sz="1092" b="1" dirty="0">
                <a:solidFill>
                  <a:srgbClr val="FBFBF8"/>
                </a:solidFill>
                <a:latin typeface="IBM Plex Sans" pitchFamily="34" charset="0"/>
                <a:ea typeface="IBM Plex Sans" pitchFamily="34" charset="-122"/>
                <a:cs typeface="IBM Plex Sans" pitchFamily="34" charset="-120"/>
              </a:rPr>
              <a:t>addendo</a:t>
            </a:r>
            <a:r>
              <a:rPr lang="en-US" sz="1092" dirty="0">
                <a:solidFill>
                  <a:srgbClr val="FBFBF8"/>
                </a:solidFill>
                <a:latin typeface="IBM Plex Sans" pitchFamily="34" charset="0"/>
                <a:ea typeface="IBM Plex Sans" pitchFamily="34" charset="-122"/>
                <a:cs typeface="IBM Plex Sans" pitchFamily="34" charset="-120"/>
              </a:rPr>
              <a:t>. Varia del 19 % mentre le pipeline variano di quattordici volte.</a:t>
            </a:r>
            <a:endParaRPr lang="en-US" sz="1092" dirty="0"/>
          </a:p>
        </p:txBody>
      </p:sp>
      <p:pic>
        <p:nvPicPr>
          <p:cNvPr id="7" name="Image 0" descr="t banco di i uguale t pipeline di i piu' t overhead; quindi la differenza fra t banco di i e t banco della baseline uguaglia la differenza fra le due t pipeline">    </p:cNvPr>
          <p:cNvPicPr>
            <a:picLocks noChangeAspect="1"/>
          </p:cNvPicPr>
          <p:nvPr/>
        </p:nvPicPr>
        <p:blipFill>
          <a:blip r:embed="rId1"/>
          <a:srcRect l="-16683" r="-16683" t="0" b="0"/>
          <a:stretch/>
        </p:blipFill>
        <p:spPr>
          <a:xfrm>
            <a:off x="1841500" y="3969680"/>
            <a:ext cx="8509000" cy="763257"/>
          </a:xfrm>
          <a:prstGeom prst="rect">
            <a:avLst/>
          </a:prstGeom>
        </p:spPr>
      </p:pic>
      <p:sp>
        <p:nvSpPr>
          <p:cNvPr id="8" name="Shape 4"/>
          <p:cNvSpPr/>
          <p:nvPr/>
        </p:nvSpPr>
        <p:spPr>
          <a:xfrm>
            <a:off x="812800" y="5075833"/>
            <a:ext cx="5194300" cy="766167"/>
          </a:xfrm>
          <a:prstGeom prst="roundRect">
            <a:avLst>
              <a:gd name="adj" fmla="val 13261"/>
            </a:avLst>
          </a:prstGeom>
          <a:solidFill>
            <a:srgbClr val="EEF1F5"/>
          </a:solidFill>
          <a:ln/>
        </p:spPr>
      </p:sp>
      <p:sp>
        <p:nvSpPr>
          <p:cNvPr id="9" name="Text 5"/>
          <p:cNvSpPr/>
          <p:nvPr/>
        </p:nvSpPr>
        <p:spPr>
          <a:xfrm>
            <a:off x="990600" y="5228233"/>
            <a:ext cx="4983861" cy="486767"/>
          </a:xfrm>
          <a:prstGeom prst="rect">
            <a:avLst/>
          </a:prstGeom>
          <a:noFill/>
          <a:ln/>
        </p:spPr>
        <p:txBody>
          <a:bodyPr wrap="square" lIns="0" tIns="0" rIns="0" bIns="0" rtlCol="0" anchor="t">
            <a:normAutofit/>
          </a:bodyPr>
          <a:lstStyle/>
          <a:p>
            <a:pPr algn="l" indent="0" marL="0">
              <a:lnSpc>
                <a:spcPts val="1513"/>
              </a:lnSpc>
              <a:buNone/>
            </a:pPr>
            <a:r>
              <a:rPr lang="en-US" sz="1081" b="1" dirty="0">
                <a:solidFill>
                  <a:srgbClr val="4A5568"/>
                </a:solidFill>
                <a:latin typeface="IBM Plex Sans" pitchFamily="34" charset="0"/>
                <a:ea typeface="IBM Plex Sans" pitchFamily="34" charset="-122"/>
                <a:cs typeface="IBM Plex Sans" pitchFamily="34" charset="-120"/>
              </a:rPr>
              <a:t>Le tre voci:</a:t>
            </a:r>
            <a:r>
              <a:rPr lang="en-US" sz="1081" dirty="0">
                <a:solidFill>
                  <a:srgbClr val="4A5568"/>
                </a:solidFill>
                <a:latin typeface="IBM Plex Sans" pitchFamily="34" charset="0"/>
                <a:ea typeface="IBM Plex Sans" pitchFamily="34" charset="-122"/>
                <a:cs typeface="IBM Plex Sans" pitchFamily="34" charset="-120"/>
              </a:rPr>
              <a:t> un’allocazione per pacchetto (veth rifiuta clone_skb), una copia per l’headroom (256 B richiesti contro 64 riservati), il generatore sullo stesso core.</a:t>
            </a:r>
            <a:endParaRPr lang="en-US" sz="1081" dirty="0"/>
          </a:p>
        </p:txBody>
      </p:sp>
      <p:sp>
        <p:nvSpPr>
          <p:cNvPr id="10" name="Shape 6"/>
          <p:cNvSpPr/>
          <p:nvPr/>
        </p:nvSpPr>
        <p:spPr>
          <a:xfrm>
            <a:off x="6184900" y="5075833"/>
            <a:ext cx="5194300" cy="766167"/>
          </a:xfrm>
          <a:prstGeom prst="roundRect">
            <a:avLst>
              <a:gd name="adj" fmla="val 13261"/>
            </a:avLst>
          </a:prstGeom>
          <a:solidFill>
            <a:srgbClr val="EEF1F5"/>
          </a:solidFill>
          <a:ln/>
        </p:spPr>
      </p:sp>
      <p:sp>
        <p:nvSpPr>
          <p:cNvPr id="11" name="Text 7"/>
          <p:cNvSpPr/>
          <p:nvPr/>
        </p:nvSpPr>
        <p:spPr>
          <a:xfrm>
            <a:off x="6362700" y="5228233"/>
            <a:ext cx="4983861" cy="486767"/>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4A5568"/>
                </a:solidFill>
                <a:latin typeface="IBM Plex Sans" pitchFamily="34" charset="0"/>
                <a:ea typeface="IBM Plex Sans" pitchFamily="34" charset="-122"/>
                <a:cs typeface="IBM Plex Sans" pitchFamily="34" charset="-120"/>
              </a:rPr>
              <a:t>Nessuna è il datapath.</a:t>
            </a:r>
            <a:r>
              <a:rPr lang="en-US" sz="1300" dirty="0">
                <a:solidFill>
                  <a:srgbClr val="4A5568"/>
                </a:solidFill>
                <a:latin typeface="IBM Plex Sans" pitchFamily="34" charset="0"/>
                <a:ea typeface="IBM Plex Sans" pitchFamily="34" charset="-122"/>
                <a:cs typeface="IBM Plex Sans" pitchFamily="34" charset="-120"/>
              </a:rPr>
              <a:t> Sottratta la baseline: P1 +93, P2 +385, P3 +601 ns — l’inferenza, senza il banco.</a:t>
            </a:r>
            <a:endParaRPr lang="en-US" sz="1300" dirty="0"/>
          </a:p>
        </p:txBody>
      </p:sp>
      <p:sp>
        <p:nvSpPr>
          <p:cNvPr id="12" name="Text 8"/>
          <p:cNvSpPr/>
          <p:nvPr/>
        </p:nvSpPr>
        <p:spPr>
          <a:xfrm>
            <a:off x="812800" y="6238280"/>
            <a:ext cx="545116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Frame 512 B · perdita 0,00 % · modalità softirq · controllo di validità superato</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FBFBF8"/>
                </a:solidFill>
                <a:latin typeface="IBM Plex Sans" pitchFamily="34" charset="0"/>
                <a:ea typeface="IBM Plex Sans" pitchFamily="34" charset="-122"/>
                <a:cs typeface="IBM Plex Sans" pitchFamily="34" charset="-120"/>
              </a:rPr>
              <a:t>Che cosa regge, e che cosa no</a:t>
            </a:r>
            <a:endParaRPr lang="en-US" sz="3200" dirty="0"/>
          </a:p>
        </p:txBody>
      </p:sp>
      <p:sp>
        <p:nvSpPr>
          <p:cNvPr id="3" name="Shape 1"/>
          <p:cNvSpPr/>
          <p:nvPr/>
        </p:nvSpPr>
        <p:spPr>
          <a:xfrm>
            <a:off x="812800" y="1463018"/>
            <a:ext cx="5181600" cy="2294864"/>
          </a:xfrm>
          <a:prstGeom prst="roundRect">
            <a:avLst>
              <a:gd name="adj" fmla="val 4427"/>
            </a:avLst>
          </a:prstGeom>
          <a:solidFill>
            <a:srgbClr val="1C2C4F"/>
          </a:solidFill>
          <a:ln/>
        </p:spPr>
      </p:sp>
      <p:sp>
        <p:nvSpPr>
          <p:cNvPr id="4" name="Text 2"/>
          <p:cNvSpPr/>
          <p:nvPr/>
        </p:nvSpPr>
        <p:spPr>
          <a:xfrm>
            <a:off x="1016000" y="1666218"/>
            <a:ext cx="4918456"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7FD1A4"/>
                </a:solidFill>
                <a:latin typeface="IBM Plex Sans" pitchFamily="34" charset="0"/>
                <a:ea typeface="IBM Plex Sans" pitchFamily="34" charset="-122"/>
                <a:cs typeface="IBM Plex Sans" pitchFamily="34" charset="-120"/>
              </a:rPr>
              <a:t>Regge</a:t>
            </a:r>
            <a:endParaRPr lang="en-US" sz="1600" dirty="0"/>
          </a:p>
        </p:txBody>
      </p:sp>
      <p:sp>
        <p:nvSpPr>
          <p:cNvPr id="5" name="Text 3"/>
          <p:cNvSpPr/>
          <p:nvPr/>
        </p:nvSpPr>
        <p:spPr>
          <a:xfrm>
            <a:off x="1016000" y="2011635"/>
            <a:ext cx="4918456" cy="1054100"/>
          </a:xfrm>
          <a:prstGeom prst="rect">
            <a:avLst/>
          </a:prstGeom>
          <a:noFill/>
          <a:ln/>
        </p:spPr>
        <p:txBody>
          <a:bodyPr wrap="square" lIns="0" tIns="0" rIns="0" bIns="0" rtlCol="0" anchor="t">
            <a:normAutofit/>
          </a:bodyPr>
          <a:lstStyle/>
          <a:p>
            <a:pPr algn="l" marL="342900" indent="-342900">
              <a:lnSpc>
                <a:spcPts val="2025"/>
              </a:lnSpc>
              <a:buSzPct val="100000"/>
              <a:buChar char="•"/>
            </a:pPr>
            <a:r>
              <a:rPr lang="en-US" sz="1350" dirty="0">
                <a:solidFill>
                  <a:srgbClr val="FBFBF8"/>
                </a:solidFill>
                <a:latin typeface="IBM Plex Sans" pitchFamily="34" charset="0"/>
                <a:ea typeface="IBM Plex Sans" pitchFamily="34" charset="-122"/>
                <a:cs typeface="IBM Plex Sans" pitchFamily="34" charset="-120"/>
              </a:rPr>
              <a:t>L’ordine P1 ≈ P1.5 &lt; P2 &lt; P3, in ogni run e a ogni taglia</a:t>
            </a:r>
            <a:endParaRPr lang="en-US" sz="1350" dirty="0"/>
          </a:p>
          <a:p>
            <a:pPr algn="l" marL="342900" indent="-342900">
              <a:lnSpc>
                <a:spcPts val="2025"/>
              </a:lnSpc>
              <a:buSzPct val="100000"/>
              <a:buChar char="•"/>
            </a:pPr>
            <a:r>
              <a:rPr lang="en-US" sz="1350" dirty="0">
                <a:solidFill>
                  <a:srgbClr val="FBFBF8"/>
                </a:solidFill>
                <a:latin typeface="IBM Plex Sans" pitchFamily="34" charset="0"/>
                <a:ea typeface="IBM Plex Sans" pitchFamily="34" charset="-122"/>
                <a:cs typeface="IBM Plex Sans" pitchFamily="34" charset="-120"/>
              </a:rPr>
              <a:t>L’equivalenza numerica: 2 100 decisioni, sette modelli</a:t>
            </a:r>
            <a:endParaRPr lang="en-US" sz="1350" dirty="0"/>
          </a:p>
          <a:p>
            <a:pPr algn="l" marL="342900" indent="-342900">
              <a:lnSpc>
                <a:spcPts val="2025"/>
              </a:lnSpc>
              <a:buSzPct val="100000"/>
              <a:buChar char="•"/>
            </a:pPr>
            <a:r>
              <a:rPr lang="en-US" sz="1350" dirty="0">
                <a:solidFill>
                  <a:srgbClr val="FBFBF8"/>
                </a:solidFill>
                <a:latin typeface="IBM Plex Sans" pitchFamily="34" charset="0"/>
                <a:ea typeface="IBM Plex Sans" pitchFamily="34" charset="-122"/>
                <a:cs typeface="IBM Plex Sans" pitchFamily="34" charset="-120"/>
              </a:rPr>
              <a:t>Il costo dell’inferenza come </a:t>
            </a:r>
            <a:r>
              <a:rPr lang="en-US" sz="1350" b="1" dirty="0">
                <a:solidFill>
                  <a:srgbClr val="FBFBF8"/>
                </a:solidFill>
                <a:latin typeface="IBM Plex Sans" pitchFamily="34" charset="0"/>
                <a:ea typeface="IBM Plex Sans" pitchFamily="34" charset="-122"/>
                <a:cs typeface="IBM Plex Sans" pitchFamily="34" charset="-120"/>
              </a:rPr>
              <a:t>differenza</a:t>
            </a:r>
            <a:r>
              <a:rPr lang="en-US" sz="1350" dirty="0">
                <a:solidFill>
                  <a:srgbClr val="FBFBF8"/>
                </a:solidFill>
                <a:latin typeface="IBM Plex Sans" pitchFamily="34" charset="0"/>
                <a:ea typeface="IBM Plex Sans" pitchFamily="34" charset="-122"/>
                <a:cs typeface="IBM Plex Sans" pitchFamily="34" charset="-120"/>
              </a:rPr>
              <a:t> dalla baseline</a:t>
            </a:r>
            <a:endParaRPr lang="en-US" sz="1350" dirty="0"/>
          </a:p>
          <a:p>
            <a:pPr algn="l" marL="342900" indent="-342900">
              <a:lnSpc>
                <a:spcPts val="2025"/>
              </a:lnSpc>
              <a:buSzPct val="100000"/>
              <a:buChar char="•"/>
            </a:pPr>
            <a:r>
              <a:rPr lang="en-US" sz="1350" dirty="0">
                <a:solidFill>
                  <a:srgbClr val="FBFBF8"/>
                </a:solidFill>
                <a:latin typeface="IBM Plex Sans" pitchFamily="34" charset="0"/>
                <a:ea typeface="IBM Plex Sans" pitchFamily="34" charset="-122"/>
                <a:cs typeface="IBM Plex Sans" pitchFamily="34" charset="-120"/>
              </a:rPr>
              <a:t>La perdita attribuita: il datapath non ne perde</a:t>
            </a:r>
            <a:endParaRPr lang="en-US" sz="1350" dirty="0"/>
          </a:p>
        </p:txBody>
      </p:sp>
      <p:sp>
        <p:nvSpPr>
          <p:cNvPr id="6" name="Shape 4"/>
          <p:cNvSpPr/>
          <p:nvPr/>
        </p:nvSpPr>
        <p:spPr>
          <a:xfrm>
            <a:off x="6197600" y="1463018"/>
            <a:ext cx="5181600" cy="2294864"/>
          </a:xfrm>
          <a:prstGeom prst="roundRect">
            <a:avLst>
              <a:gd name="adj" fmla="val 4427"/>
            </a:avLst>
          </a:prstGeom>
          <a:solidFill>
            <a:srgbClr val="1C2C4F"/>
          </a:solidFill>
          <a:ln/>
        </p:spPr>
      </p:sp>
      <p:sp>
        <p:nvSpPr>
          <p:cNvPr id="7" name="Text 5"/>
          <p:cNvSpPr/>
          <p:nvPr/>
        </p:nvSpPr>
        <p:spPr>
          <a:xfrm>
            <a:off x="6400800" y="1666218"/>
            <a:ext cx="4918456"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0A0A0"/>
                </a:solidFill>
                <a:latin typeface="IBM Plex Sans" pitchFamily="34" charset="0"/>
                <a:ea typeface="IBM Plex Sans" pitchFamily="34" charset="-122"/>
                <a:cs typeface="IBM Plex Sans" pitchFamily="34" charset="-120"/>
              </a:rPr>
              <a:t>Non regge</a:t>
            </a:r>
            <a:endParaRPr lang="en-US" sz="1600" dirty="0"/>
          </a:p>
        </p:txBody>
      </p:sp>
      <p:sp>
        <p:nvSpPr>
          <p:cNvPr id="8" name="Text 6"/>
          <p:cNvSpPr/>
          <p:nvPr/>
        </p:nvSpPr>
        <p:spPr>
          <a:xfrm>
            <a:off x="6400800" y="2011635"/>
            <a:ext cx="4918456" cy="1568450"/>
          </a:xfrm>
          <a:prstGeom prst="rect">
            <a:avLst/>
          </a:prstGeom>
          <a:noFill/>
          <a:ln/>
        </p:spPr>
        <p:txBody>
          <a:bodyPr wrap="square" lIns="0" tIns="0" rIns="0" bIns="0" rtlCol="0" anchor="t">
            <a:normAutofit/>
          </a:bodyPr>
          <a:lstStyle/>
          <a:p>
            <a:pPr algn="l" marL="342900" indent="-342900">
              <a:lnSpc>
                <a:spcPts val="2025"/>
              </a:lnSpc>
              <a:buSzPct val="100000"/>
              <a:buChar char="•"/>
            </a:pPr>
            <a:r>
              <a:rPr lang="en-US" sz="1350" dirty="0">
                <a:solidFill>
                  <a:srgbClr val="FBFBF8"/>
                </a:solidFill>
                <a:latin typeface="IBM Plex Sans" pitchFamily="34" charset="0"/>
                <a:ea typeface="IBM Plex Sans" pitchFamily="34" charset="-122"/>
                <a:cs typeface="IBM Plex Sans" pitchFamily="34" charset="-120"/>
              </a:rPr>
              <a:t>Il throughput </a:t>
            </a:r>
            <a:r>
              <a:rPr lang="en-US" sz="1350" b="1" dirty="0">
                <a:solidFill>
                  <a:srgbClr val="FBFBF8"/>
                </a:solidFill>
                <a:latin typeface="IBM Plex Sans" pitchFamily="34" charset="0"/>
                <a:ea typeface="IBM Plex Sans" pitchFamily="34" charset="-122"/>
                <a:cs typeface="IBM Plex Sans" pitchFamily="34" charset="-120"/>
              </a:rPr>
              <a:t>assoluto</a:t>
            </a:r>
            <a:r>
              <a:rPr lang="en-US" sz="1350" dirty="0">
                <a:solidFill>
                  <a:srgbClr val="FBFBF8"/>
                </a:solidFill>
                <a:latin typeface="IBM Plex Sans" pitchFamily="34" charset="0"/>
                <a:ea typeface="IBM Plex Sans" pitchFamily="34" charset="-122"/>
                <a:cs typeface="IBM Plex Sans" pitchFamily="34" charset="-120"/>
              </a:rPr>
              <a:t>: il nodo non satura mai, il tetto è il banco</a:t>
            </a:r>
            <a:endParaRPr lang="en-US" sz="1350" dirty="0"/>
          </a:p>
          <a:p>
            <a:pPr algn="l" marL="342900" indent="-342900">
              <a:lnSpc>
                <a:spcPts val="2025"/>
              </a:lnSpc>
              <a:buSzPct val="100000"/>
              <a:buChar char="•"/>
            </a:pPr>
            <a:r>
              <a:rPr lang="en-US" sz="1350" dirty="0">
                <a:solidFill>
                  <a:srgbClr val="FBFBF8"/>
                </a:solidFill>
                <a:latin typeface="IBM Plex Sans" pitchFamily="34" charset="0"/>
                <a:ea typeface="IBM Plex Sans" pitchFamily="34" charset="-122"/>
                <a:cs typeface="IBM Plex Sans" pitchFamily="34" charset="-120"/>
              </a:rPr>
              <a:t>P1 contro P1.5: variano fra run più di quanto distino</a:t>
            </a:r>
            <a:endParaRPr lang="en-US" sz="1350" dirty="0"/>
          </a:p>
          <a:p>
            <a:pPr algn="l" marL="342900" indent="-342900">
              <a:lnSpc>
                <a:spcPts val="2025"/>
              </a:lnSpc>
              <a:buSzPct val="100000"/>
              <a:buChar char="•"/>
            </a:pPr>
            <a:r>
              <a:rPr lang="en-US" sz="1350" dirty="0">
                <a:solidFill>
                  <a:srgbClr val="FBFBF8"/>
                </a:solidFill>
                <a:latin typeface="IBM Plex Sans" pitchFamily="34" charset="0"/>
                <a:ea typeface="IBM Plex Sans" pitchFamily="34" charset="-122"/>
                <a:cs typeface="IBM Plex Sans" pitchFamily="34" charset="-120"/>
              </a:rPr>
              <a:t>I percentili di latenza: istogramma log₂, risoluzione un fattore 2</a:t>
            </a:r>
            <a:endParaRPr lang="en-US" sz="1350" dirty="0"/>
          </a:p>
          <a:p>
            <a:pPr algn="l" marL="342900" indent="-342900">
              <a:lnSpc>
                <a:spcPts val="2025"/>
              </a:lnSpc>
              <a:buSzPct val="100000"/>
              <a:buChar char="•"/>
            </a:pPr>
            <a:r>
              <a:rPr lang="en-US" sz="1350" dirty="0">
                <a:solidFill>
                  <a:srgbClr val="FBFBF8"/>
                </a:solidFill>
                <a:latin typeface="IBM Plex Sans" pitchFamily="34" charset="0"/>
                <a:ea typeface="IBM Plex Sans" pitchFamily="34" charset="-122"/>
                <a:cs typeface="IBM Plex Sans" pitchFamily="34" charset="-120"/>
              </a:rPr>
              <a:t>Le cifre assolute su una VM a 4 vCPU con host a core ibridi</a:t>
            </a:r>
            <a:endParaRPr lang="en-US" sz="1350" dirty="0"/>
          </a:p>
        </p:txBody>
      </p:sp>
      <p:sp>
        <p:nvSpPr>
          <p:cNvPr id="9" name="Shape 7"/>
          <p:cNvSpPr/>
          <p:nvPr/>
        </p:nvSpPr>
        <p:spPr>
          <a:xfrm>
            <a:off x="812800" y="3961085"/>
            <a:ext cx="10566400" cy="1188641"/>
          </a:xfrm>
          <a:prstGeom prst="roundRect">
            <a:avLst>
              <a:gd name="adj" fmla="val 8548"/>
            </a:avLst>
          </a:prstGeom>
          <a:solidFill>
            <a:srgbClr val="1C2C4F"/>
          </a:solidFill>
          <a:ln/>
        </p:spPr>
      </p:sp>
      <p:sp>
        <p:nvSpPr>
          <p:cNvPr id="10" name="Text 8"/>
          <p:cNvSpPr/>
          <p:nvPr/>
        </p:nvSpPr>
        <p:spPr>
          <a:xfrm>
            <a:off x="1041400" y="4151585"/>
            <a:ext cx="1041247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E8A87C"/>
                </a:solidFill>
                <a:latin typeface="IBM Plex Sans" pitchFamily="34" charset="0"/>
                <a:ea typeface="IBM Plex Sans" pitchFamily="34" charset="-122"/>
                <a:cs typeface="IBM Plex Sans" pitchFamily="34" charset="-120"/>
              </a:rPr>
              <a:t>La lezione di metodo</a:t>
            </a:r>
            <a:endParaRPr lang="en-US" sz="1500" dirty="0"/>
          </a:p>
        </p:txBody>
      </p:sp>
      <p:sp>
        <p:nvSpPr>
          <p:cNvPr id="11" name="Text 9"/>
          <p:cNvSpPr/>
          <p:nvPr/>
        </p:nvSpPr>
        <p:spPr>
          <a:xfrm>
            <a:off x="1041400" y="4443685"/>
            <a:ext cx="10412476" cy="54094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FBFBF8"/>
                </a:solidFill>
                <a:latin typeface="IBM Plex Sans" pitchFamily="34" charset="0"/>
                <a:ea typeface="IBM Plex Sans" pitchFamily="34" charset="-122"/>
                <a:cs typeface="IBM Plex Sans" pitchFamily="34" charset="-120"/>
              </a:rPr>
              <a:t>Su tre run P3 dava 697 / 704 / 691 ns, spread del 2 %: sembrava la cifra più solida. Il quarto ha dato 601 e lo spread è salito al 15 %. </a:t>
            </a:r>
            <a:r>
              <a:rPr lang="en-US" sz="1400" b="1" dirty="0">
                <a:solidFill>
                  <a:srgbClr val="FBFBF8"/>
                </a:solidFill>
                <a:latin typeface="IBM Plex Sans" pitchFamily="34" charset="0"/>
                <a:ea typeface="IBM Plex Sans" pitchFamily="34" charset="-122"/>
                <a:cs typeface="IBM Plex Sans" pitchFamily="34" charset="-120"/>
              </a:rPr>
              <a:t>Tre misure concordi su una macchina rumorosa non sono una misura precisa</a:t>
            </a:r>
            <a:r>
              <a:rPr lang="en-US" sz="1400" dirty="0">
                <a:solidFill>
                  <a:srgbClr val="FBFBF8"/>
                </a:solidFill>
                <a:latin typeface="IBM Plex Sans" pitchFamily="34" charset="0"/>
                <a:ea typeface="IBM Plex Sans" pitchFamily="34" charset="-122"/>
                <a:cs typeface="IBM Plex Sans" pitchFamily="34" charset="-120"/>
              </a:rPr>
              <a:t>: sono tre estrazioni cadute vicine.</a:t>
            </a:r>
            <a:endParaRPr lang="en-US" sz="1400" dirty="0"/>
          </a:p>
        </p:txBody>
      </p:sp>
      <p:sp>
        <p:nvSpPr>
          <p:cNvPr id="12" name="Text 10"/>
          <p:cNvSpPr/>
          <p:nvPr/>
        </p:nvSpPr>
        <p:spPr>
          <a:xfrm>
            <a:off x="812800" y="6238280"/>
            <a:ext cx="734457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3BF"/>
                </a:solidFill>
                <a:latin typeface="IBM Plex Sans" pitchFamily="34" charset="0"/>
                <a:ea typeface="IBM Plex Sans" pitchFamily="34" charset="-122"/>
                <a:cs typeface="IBM Plex Sans" pitchFamily="34" charset="-120"/>
              </a:rPr>
              <a:t>Lo spread va ricalcolato a ogni run aggiunto, mai congelato al primo numero che fa una bella impressione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IPA/eBPF — Implementazione e risultati</dc:title>
  <dc:subject>PptxGenJS Presentation</dc:subject>
  <dc:creator>PptxGenJS</dc:creator>
  <cp:lastModifiedBy>PptxGenJS</cp:lastModifiedBy>
  <cp:revision>1</cp:revision>
  <dcterms:created xsi:type="dcterms:W3CDTF">2026-09-21T14:01:22Z</dcterms:created>
  <dcterms:modified xsi:type="dcterms:W3CDTF">2026-09-21T14:01:22Z</dcterms:modified>
</cp:coreProperties>
</file>