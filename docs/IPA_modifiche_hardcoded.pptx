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20"/>
    <p:sldId id="266" r:id="rId12"/>
    <p:sldId id="272" r:id="rId21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8C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1.xml"/><Relationship Id="rId21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0" y="457200"/>
            <a:ext cx="1051560" cy="941832"/>
          </a:xfrm>
          <a:prstGeom prst="rect">
            <a:avLst/>
          </a:prstGeom>
          <a:noFill/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92840" y="1051560"/>
            <a:ext cx="1051560" cy="941832"/>
          </a:xfrm>
          <a:prstGeom prst="rect">
            <a:avLst/>
          </a:prstGeom>
          <a:noFill/>
          <a:ln w="190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104120" y="1645920"/>
            <a:ext cx="1051560" cy="941832"/>
          </a:xfrm>
          <a:prstGeom prst="rect">
            <a:avLst/>
          </a:prstGeom>
          <a:noFill/>
          <a:ln w="190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822960" cy="8229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0D1117"/>
                </a:solidFill>
                <a:latin typeface="Segoe UI"/>
              </a:rPr>
              <a:t>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803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000" b="1" i="0">
                <a:solidFill>
                  <a:srgbClr val="E6EDF3"/>
                </a:solidFill>
                <a:latin typeface="Georgia"/>
              </a:rPr>
              <a:t>Modifiche IPA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F5A623"/>
                </a:solidFill>
                <a:latin typeface="Consolas"/>
              </a:rPr>
              <a:t>Evoluzione della pipeline hardcoded e del design space eBPF/XDP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091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Segoe UI"/>
              </a:rPr>
              <a:t>Input vector flessibile · profondità variabile · AOT-literal in sostituzione di BCC · baseline vs hardcoded · ottimizzazioni del datapath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8932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Consolas"/>
              </a:rPr>
              <a:t>Ettore Cantile   ·   Relatore Prof. Marco Polverini   ·   Engineering in Computer Science   ·   Sapienza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Le modifiche richieste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Gli otto punti dell'elenco di lavoro e dove sono trattati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solidFill>
            <a:srgbClr val="222B38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83080"/>
            <a:ext cx="9006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Attività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178308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Slide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88136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40280"/>
            <a:ext cx="9006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Verificare che gli altri modelli rispondano durante la compilazione di uno nuovo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224028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697480"/>
            <a:ext cx="1088136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697480"/>
            <a:ext cx="9006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Input vector flessibile su hardcoded, template e modular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269748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4–5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54680"/>
            <a:ext cx="1088136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1546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54680"/>
            <a:ext cx="9006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Hardcoded a profondità variabile + studio larghezza vs profondità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15468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6–7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11880"/>
            <a:ext cx="1088136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6118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611880"/>
            <a:ext cx="9006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AOT-literal in sostituzione di BCC per il deploy di hardcoded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361188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8–9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69080"/>
            <a:ext cx="1088136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0690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069080"/>
            <a:ext cx="9006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Throughput/latenza pipeline vuota (baseline) vs hardcoded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406908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10–11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5262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526280"/>
            <a:ext cx="9006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Come si valutano in letteratura questi datapath (metodologia)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452628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9834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983480"/>
            <a:ext cx="9006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Documento riepilogativo di tutto il lavoro (per la tesi)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498348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54406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440680"/>
            <a:ext cx="9006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Intervallo di polling FRR del link_state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544068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Modelli concorrenti durante la compilazione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Compilare/caricare un nuovo modello NON blocca quelli già attivi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69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Garanzia architetturale, non empirica. </a:t>
            </a:r>
            <a:r>
              <a:rPr sz="1400">
                <a:solidFill>
                  <a:srgbClr val="E6EDF3"/>
                </a:solidFill>
                <a:latin typeface="Segoe UI"/>
              </a:rPr>
              <a:t>I programmi XDP già agganciati girano nel kernel in modo indipendente.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Compilazione in userspace. </a:t>
            </a:r>
            <a:r>
              <a:rPr sz="1400">
                <a:solidFill>
                  <a:srgbClr val="E6EDF3"/>
                </a:solidFill>
                <a:latin typeface="Segoe UI"/>
              </a:rPr>
              <a:t>clang/BCC o AOT offline: non tocca il datapath dei modelli già caricati.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Aggiornamento atomico. </a:t>
            </a:r>
            <a:r>
              <a:rPr sz="1400">
                <a:solidFill>
                  <a:srgbClr val="E6EDF3"/>
                </a:solidFill>
                <a:latin typeface="Segoe UI"/>
              </a:rPr>
              <a:t>Il nuovo programma diventa attivo solo quando lo slot di tail-call viene aggiornato.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Unica sfumatura: </a:t>
            </a:r>
            <a:r>
              <a:rPr sz="1400">
                <a:solidFill>
                  <a:srgbClr val="E6EDF3"/>
                </a:solidFill>
                <a:latin typeface="Segoe UI"/>
              </a:rPr>
              <a:t>clang consuma un core in userspace → possibile jitter, ma il forwarding non si ferma mai.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1074420" cy="219456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65392" y="2011680"/>
            <a:ext cx="928116" cy="38100"/>
          </a:xfrm>
          <a:prstGeom prst="rect">
            <a:avLst/>
          </a:prstGeom>
          <a:solidFill>
            <a:srgbClr val="303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47104" y="1965960"/>
            <a:ext cx="964692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modello attivo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XDP nel 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6660" y="1965960"/>
            <a:ext cx="27432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0980" y="1965960"/>
            <a:ext cx="1074420" cy="219456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14132" y="2011680"/>
            <a:ext cx="928116" cy="38100"/>
          </a:xfrm>
          <a:prstGeom prst="rect">
            <a:avLst/>
          </a:prstGeom>
          <a:solidFill>
            <a:srgbClr val="303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95844" y="1965960"/>
            <a:ext cx="964692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nuovo modello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compila userspace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965960"/>
            <a:ext cx="27432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965960"/>
            <a:ext cx="1074420" cy="219456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62872" y="2011680"/>
            <a:ext cx="928116" cy="38100"/>
          </a:xfrm>
          <a:prstGeom prst="rect">
            <a:avLst/>
          </a:prstGeom>
          <a:solidFill>
            <a:srgbClr val="303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44584" y="1965960"/>
            <a:ext cx="964692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slot tail-call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update atomico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64140" y="1965960"/>
            <a:ext cx="27432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38460" y="1965960"/>
            <a:ext cx="1074420" cy="219456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11612" y="2011680"/>
            <a:ext cx="928116" cy="38100"/>
          </a:xfrm>
          <a:prstGeom prst="rect">
            <a:avLst/>
          </a:prstGeom>
          <a:solidFill>
            <a:srgbClr val="303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93324" y="1965960"/>
            <a:ext cx="964692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nuovo attivo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zero downtime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343400"/>
            <a:ext cx="5120640" cy="11887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92240" y="4343400"/>
            <a:ext cx="50800" cy="1188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93408" y="4434840"/>
            <a:ext cx="477316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</a:pPr>
            <a:r>
              <a:rPr sz="1200">
                <a:solidFill>
                  <a:srgbClr val="E6EDF3"/>
                </a:solidFill>
                <a:latin typeface="Segoe UI"/>
              </a:rPr>
              <a:t>È il modello di esecuzione eBPF: verificatore e JIT lavorano sul nuovo programma mentre il vecchio serve i pacchetti, fino allo switch atomico.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Input vector flessibile: catalogo + descrittore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Da un vettore cablato 65-x-x-7 a un descrittore di feature per-modello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5778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Catalogo di 3 kind: </a:t>
            </a:r>
            <a:r>
              <a:rPr sz="1350">
                <a:solidFill>
                  <a:srgbClr val="E6EDF3"/>
                </a:solidFill>
                <a:latin typeface="Segoe UI"/>
              </a:rPr>
              <a:t>scalar (dal pacchetto), dense_vector (1 lookup da mappa), onehot (uno switch).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Descrittore per-modello: </a:t>
            </a:r>
            <a:r>
              <a:rPr sz="1350">
                <a:solidFill>
                  <a:srgbClr val="E6EDF3"/>
                </a:solidFill>
                <a:latin typeface="Segoe UI"/>
              </a:rPr>
              <a:t>una lista ordinata di TIPI. Le DIMENSIONI vengono dalla topologia, non dal modello.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Tutte e tre le pipeline </a:t>
            </a:r>
            <a:r>
              <a:rPr sz="1350">
                <a:solidFill>
                  <a:srgbClr val="E6EDF3"/>
                </a:solidFill>
                <a:latin typeface="Segoe UI"/>
              </a:rPr>
              <a:t>via registry model_desc — non solo hardcoded, anche template e modular.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Retrocompatibile: </a:t>
            </a:r>
            <a:r>
              <a:rPr sz="1350">
                <a:solidFill>
                  <a:srgbClr val="E6EDF3"/>
                </a:solidFill>
                <a:latin typeface="Segoe UI"/>
              </a:rPr>
              <a:t>senza descrittore → 65-4-4-7 byte-identico a prima.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28800"/>
            <a:ext cx="5212080" cy="178308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37960" y="1874520"/>
            <a:ext cx="5029200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47688" y="197510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F5A623"/>
                </a:solidFill>
                <a:latin typeface="Segoe UI"/>
              </a:rPr>
              <a:t>descrittore per-modello (solo i TIPI)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8463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features = ["link_state",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            "queue_occupancy", "ttl"]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hidden_dims = [4, 4]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n_out = 7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8B949E"/>
                </a:solidFill>
                <a:latin typeface="Consolas"/>
              </a:rPr>
              <a:t># N_IN = somma delle size dei tipi,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8B949E"/>
                </a:solidFill>
                <a:latin typeface="Consolas"/>
              </a:rPr>
              <a:t>#        lette dal topology_config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840480"/>
            <a:ext cx="5212080" cy="155448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3840480"/>
            <a:ext cx="50800" cy="155448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3931920"/>
            <a:ext cx="4864608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</a:pPr>
            <a:r>
              <a:rPr sz="1200">
                <a:solidFill>
                  <a:srgbClr val="E6EDF3"/>
                </a:solidFill>
                <a:latin typeface="Segoe UI"/>
              </a:rPr>
              <a:t>Verificato: il descrittore default risolve agli stessi offset cablati → programma byte-identico. Coerenza checkpoint↔topologia controllata a monte (errore netto se N_IN diverge).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Ottimizzazione dell'hot path: da N lookup 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Le feature dense lette in un'unica lettura di mappa struct-valued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Prima: </a:t>
            </a:r>
            <a:r>
              <a:rPr sz="1350">
                <a:solidFill>
                  <a:srgbClr val="E6EDF3"/>
                </a:solidFill>
                <a:latin typeface="Segoe UI"/>
              </a:rPr>
              <a:t>un lookup per slot — 6 per link_state, 4 per queue_occupancy → fino a 10 helper call/pacchetto.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Dopo: </a:t>
            </a:r>
            <a:r>
              <a:rPr sz="1350">
                <a:solidFill>
                  <a:srgbClr val="E6EDF3"/>
                </a:solidFill>
                <a:latin typeface="Segoe UI"/>
              </a:rPr>
              <a:t>la mappa contiene l'intero vettore in un'unica entry; un solo lookup + N load dirette.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Le load dirette </a:t>
            </a:r>
            <a:r>
              <a:rPr sz="1350">
                <a:solidFill>
                  <a:srgbClr val="E6EDF3"/>
                </a:solidFill>
                <a:latin typeface="Segoe UI"/>
              </a:rPr>
              <a:t>non costano helper call e non pesano sul verifier.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Su tutte e 3 le pipeline: </a:t>
            </a:r>
            <a:r>
              <a:rPr sz="1350">
                <a:solidFill>
                  <a:srgbClr val="E6EDF3"/>
                </a:solidFill>
                <a:latin typeface="Segoe UI"/>
              </a:rPr>
              <a:t>hardcoded scende di 5 letture/pacchetto, inferenza invariata.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257800" cy="201168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92240" y="1874520"/>
            <a:ext cx="5074920" cy="50800"/>
          </a:xfrm>
          <a:prstGeom prst="rect">
            <a:avLst/>
          </a:prstGeom>
          <a:solidFill>
            <a:srgbClr val="3F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975104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3FD0C8"/>
                </a:solidFill>
                <a:latin typeface="Segoe UI"/>
              </a:rPr>
              <a:t>una entry struct-valued, un solo lookup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892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struct ls_vec { __u32 v[6]; };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BPF_ARRAY(link_state, struct ls_vec, 1);</a:t>
            </a:r>
          </a:p>
          <a:p>
            <a:pPr>
              <a:lnSpc>
                <a:spcPct val="115000"/>
              </a:lnSpc>
            </a:pPr>
            <a:endParaRPr sz="1200">
              <a:solidFill>
                <a:srgbClr val="E6EDF3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int z = 0;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struct ls_vec *p = link_state.lookup(&amp;z);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E6EDF3"/>
                </a:solidFill>
                <a:latin typeface="Consolas"/>
              </a:rPr>
              <a:t>if (p) { ls0=p-&gt;v[0]; ls1=p-&gt;v[1]; ...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Hardcoded a profondità variabile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Da due hidden layer cablati a un numero qualsiasi di strati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5778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Prima: </a:t>
            </a:r>
            <a:r>
              <a:rPr sz="1350">
                <a:solidFill>
                  <a:srgbClr val="E6EDF3"/>
                </a:solidFill>
                <a:latin typeface="Segoe UI"/>
              </a:rPr>
              <a:t>n_h1, n_h2 cablati — logica scritta per 2 hidden layer, in BCC e in AOT.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Dopo: </a:t>
            </a:r>
            <a:r>
              <a:rPr sz="1350">
                <a:solidFill>
                  <a:srgbClr val="E6EDF3"/>
                </a:solidFill>
                <a:latin typeface="Segoe UI"/>
              </a:rPr>
              <a:t>hidden_dims di lunghezza qualsiasi: (4,4), (8,), (4,4,4,4), o () lineare.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Layout pesi generico per-layer, </a:t>
            </a:r>
            <a:r>
              <a:rPr sz="1350">
                <a:solidFill>
                  <a:srgbClr val="E6EDF3"/>
                </a:solidFill>
                <a:latin typeface="Segoe UI"/>
              </a:rPr>
              <a:t>che si riduce al vecchio schema quando gli strati sono due.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Generalizzato anche il riferimento Python </a:t>
            </a:r>
            <a:r>
              <a:rPr sz="1350">
                <a:solidFill>
                  <a:srgbClr val="E6EDF3"/>
                </a:solidFill>
                <a:latin typeface="Segoe UI"/>
              </a:rPr>
              <a:t>del kernel test → PASS/FAIL per qualunque profondità.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5120640" cy="173736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92240" y="1828800"/>
            <a:ext cx="50800" cy="173736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93408" y="1920240"/>
            <a:ext cx="4773168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</a:pPr>
            <a:r>
              <a:rPr sz="1200">
                <a:solidFill>
                  <a:srgbClr val="E6EDF3"/>
                </a:solidFill>
                <a:latin typeface="Segoe UI"/>
              </a:rPr>
              <a:t>Verificato: il C generato per (4,4) è byte-identico al generatore precedente; il riferimento Python generalizzato dà lo stesso risultato numerico della vecchia versione a 2 strati.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749039"/>
            <a:ext cx="5120640" cy="11887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3749039"/>
            <a:ext cx="50800" cy="1188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3408" y="3840479"/>
            <a:ext cx="4773168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</a:pPr>
            <a:r>
              <a:rPr sz="1200">
                <a:solidFill>
                  <a:srgbClr val="E6EDF3"/>
                </a:solidFill>
                <a:latin typeface="Segoe UI"/>
              </a:rPr>
              <a:t>Su kernel: hardcoded alt-arch 65-8-7 e 65-4-4-4-7 → 5/5 PASS ciascuna nella suite --only kernel.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Larghezza contro profondità: lo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A parità di budget di pesi, conviene allargare o approfondire?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6766560" cy="384048"/>
          </a:xfrm>
          <a:prstGeom prst="rect">
            <a:avLst/>
          </a:prstGeom>
          <a:solidFill>
            <a:srgbClr val="222B38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Configurazione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Pesi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8308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Latenza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78308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67128"/>
            <a:ext cx="6766560" cy="384048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671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largo 1×4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67128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~300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16712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44–56 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16712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riferimento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551176"/>
            <a:ext cx="6766560" cy="384048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55117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profondo 8×3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551176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~310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55117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57–76 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55117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overhead contenuto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935224"/>
            <a:ext cx="6766560" cy="384048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2935224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largo 1×16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935224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~1175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293522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103–111 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93522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il più veloce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319272"/>
            <a:ext cx="6766560" cy="384048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319272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profondo 4×11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319272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~1206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331927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203–236 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31927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~2× più lento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703320"/>
            <a:ext cx="6766560" cy="384048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70332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profondo 8×9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703320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~1294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370332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269–301 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70332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2.5–3× più lento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087368"/>
            <a:ext cx="6766560" cy="384048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408736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qualunque forma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087368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~4700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408736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408736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sfora lo stack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1810512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▸ Allargare batte approfondire, </a:t>
            </a:r>
            <a:r>
              <a:rPr sz="1250">
                <a:solidFill>
                  <a:srgbClr val="E6EDF3"/>
                </a:solidFill>
                <a:latin typeface="Segoe UI"/>
              </a:rPr>
              <a:t>coerente su 4 descrittori.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▸ Costo fisso per strato </a:t>
            </a:r>
            <a:r>
              <a:rPr sz="1250">
                <a:solidFill>
                  <a:srgbClr val="E6EDF3"/>
                </a:solidFill>
                <a:latin typeface="Segoe UI"/>
              </a:rPr>
              <a:t>(~15–40 ns): transizione + ReLU.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▸ Tetto assoluto: </a:t>
            </a:r>
            <a:r>
              <a:rPr sz="1250">
                <a:solidFill>
                  <a:srgbClr val="E6EDF3"/>
                </a:solidFill>
                <a:latin typeface="Segoe UI"/>
              </a:rPr>
              <a:t>oltre ~1300 pesi lo stack (512 B) sfora sempre — limite strutturale, non di scelta.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▸ Metodo: </a:t>
            </a:r>
            <a:r>
              <a:rPr sz="1250">
                <a:solidFill>
                  <a:srgbClr val="E6EDF3"/>
                </a:solidFill>
                <a:latin typeface="Segoe UI"/>
              </a:rPr>
              <a:t>minimo su N trial + ogni forma in subprocess isolato.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AOT-literal: separare la compilazione dal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Stessa perf della hardcoded, ma clang fuori dal percorso critico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Il problema: </a:t>
            </a:r>
            <a:r>
              <a:rPr sz="1400">
                <a:solidFill>
                  <a:srgbClr val="E6EDF3"/>
                </a:solidFill>
                <a:latin typeface="Segoe UI"/>
              </a:rPr>
              <a:t>BCC compila il C a runtime, sul nodo, ad ogni caricamento → ~1660 ms di clang per modello.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L'idea: </a:t>
            </a:r>
            <a:r>
              <a:rPr sz="1400">
                <a:solidFill>
                  <a:srgbClr val="E6EDF3"/>
                </a:solidFill>
                <a:latin typeface="Segoe UI"/>
              </a:rPr>
              <a:t>il numero di compilazioni non cambia (1/modello), ma clang gira offline su una build box e produce un .o già pronto.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Sul nodo resta solo aprire+caricare il .o </a:t>
            </a:r>
            <a:r>
              <a:rPr sz="1400">
                <a:solidFill>
                  <a:srgbClr val="E6EDF3"/>
                </a:solidFill>
                <a:latin typeface="Segoe UI"/>
              </a:rPr>
              <a:t>(~6 ms, niente clang). Perf per pacchetto identica: stessa architettura, strength reduction preservata.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2548890" cy="9601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3840480"/>
            <a:ext cx="2402586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3794760"/>
            <a:ext cx="243916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genera C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pesi literal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8970" y="3794760"/>
            <a:ext cx="274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3290" y="3794760"/>
            <a:ext cx="2548890" cy="9601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36442" y="3840480"/>
            <a:ext cx="2402586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8154" y="3794760"/>
            <a:ext cx="243916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clang -O2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→ .o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2180" y="3794760"/>
            <a:ext cx="274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0" y="3794760"/>
            <a:ext cx="2548890" cy="9601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9652" y="3840480"/>
            <a:ext cx="2402586" cy="38100"/>
          </a:xfrm>
          <a:prstGeom prst="rect">
            <a:avLst/>
          </a:prstGeom>
          <a:solidFill>
            <a:srgbClr val="303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1364" y="3794760"/>
            <a:ext cx="243916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open + load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verify + JIT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5390" y="3794760"/>
            <a:ext cx="274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9710" y="3794760"/>
            <a:ext cx="2548890" cy="9601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82862" y="3840480"/>
            <a:ext cx="2402586" cy="38100"/>
          </a:xfrm>
          <a:prstGeom prst="rect">
            <a:avLst/>
          </a:prstGeom>
          <a:solidFill>
            <a:srgbClr val="303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64574" y="3794760"/>
            <a:ext cx="2439162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attach XDP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resident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92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nsolas"/>
              </a:rPr>
              <a:t>build box · offline · ~1× per modello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892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  <a:latin typeface="Consolas"/>
              </a:rPr>
              <a:t>nodo datapath · ~6 ms · niente clang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94960"/>
            <a:ext cx="11018520" cy="82296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5394960"/>
            <a:ext cx="50800" cy="82296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486400"/>
            <a:ext cx="106710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</a:pPr>
            <a:r>
              <a:rPr sz="1200">
                <a:solidFill>
                  <a:srgbClr val="E6EDF3"/>
                </a:solidFill>
                <a:latin typeface="Segoe UI"/>
              </a:rPr>
              <a:t>Misurato: build offline 90–555 ms (una volta) · deploy sul nodo ~6 ms · 1010 istr, 42 ns/pkt, 23.8 Mpps — identico alla hardcoded via BCC.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AOT-literal in sostituzione di BCC (deploy)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Richiesta del relatore: AOT unico backend di deploy per hardcoded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69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▸ I nodi Kathara non hanno clang né libbpf </a:t>
            </a:r>
            <a:r>
              <a:rPr sz="1300">
                <a:solidFill>
                  <a:srgbClr val="E6EDF3"/>
                </a:solidFill>
                <a:latin typeface="Segoe UI"/>
              </a:rPr>
              <a:t>→ l'AOT non compila lì (giusto: build offline).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▸ Il loader era dinamico su libbpf </a:t>
            </a:r>
            <a:r>
              <a:rPr sz="1300">
                <a:solidFill>
                  <a:srgbClr val="E6EDF3"/>
                </a:solidFill>
                <a:latin typeface="Segoe UI"/>
              </a:rPr>
              <a:t>→ non partiva. E libbpf statico non bastava: glibc dinamico rompeva (GLIBC_2.38 not found).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▸ Fix: loader completamente statico </a:t>
            </a:r>
            <a:r>
              <a:rPr sz="1300">
                <a:solidFill>
                  <a:srgbClr val="E6EDF3"/>
                </a:solidFill>
                <a:latin typeface="Segoe UI"/>
              </a:rPr>
              <a:t>(-static, glibc inclusa; +libelf/zlib/zstd/lzma).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▸ execute_pipeline non offre più --hardcoded-backend: </a:t>
            </a:r>
            <a:r>
              <a:rPr sz="1300">
                <a:solidFill>
                  <a:srgbClr val="E6EDF3"/>
                </a:solidFill>
                <a:latin typeface="Segoe UI"/>
              </a:rPr>
              <a:t>AOT unico deploy. BCC resta solo nei test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5120640" cy="27432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92240" y="1828800"/>
            <a:ext cx="50800" cy="27432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93408" y="2422046"/>
            <a:ext cx="4773168" cy="15567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</a:pPr>
            <a:r>
              <a:rPr sz="1200" dirty="0" err="1">
                <a:solidFill>
                  <a:srgbClr val="E6EDF3"/>
                </a:solidFill>
                <a:latin typeface="Segoe UI"/>
              </a:rPr>
              <a:t>Verificato</a:t>
            </a:r>
            <a:r>
              <a:rPr sz="1200" dirty="0">
                <a:solidFill>
                  <a:srgbClr val="E6EDF3"/>
                </a:solidFill>
                <a:latin typeface="Segoe UI"/>
              </a:rPr>
              <a:t> end-to-end </a:t>
            </a:r>
            <a:r>
              <a:rPr sz="1200" dirty="0" err="1">
                <a:solidFill>
                  <a:srgbClr val="E6EDF3"/>
                </a:solidFill>
                <a:latin typeface="Segoe UI"/>
              </a:rPr>
              <a:t>su</a:t>
            </a:r>
            <a:r>
              <a:rPr sz="12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Segoe UI"/>
              </a:rPr>
              <a:t>Kathara</a:t>
            </a:r>
            <a:r>
              <a:rPr sz="1200" dirty="0">
                <a:solidFill>
                  <a:srgbClr val="E6EDF3"/>
                </a:solidFill>
                <a:latin typeface="Segoe UI"/>
              </a:rPr>
              <a:t> (</a:t>
            </a:r>
            <a:r>
              <a:rPr sz="1200" dirty="0" err="1">
                <a:solidFill>
                  <a:srgbClr val="E6EDF3"/>
                </a:solidFill>
                <a:latin typeface="Segoe UI"/>
              </a:rPr>
              <a:t>frankfurt</a:t>
            </a:r>
            <a:r>
              <a:rPr sz="1200" dirty="0">
                <a:solidFill>
                  <a:srgbClr val="E6EDF3"/>
                </a:solidFill>
                <a:latin typeface="Segoe UI"/>
              </a:rPr>
              <a:t>), </a:t>
            </a:r>
            <a:r>
              <a:rPr sz="1200" dirty="0" err="1">
                <a:solidFill>
                  <a:srgbClr val="E6EDF3"/>
                </a:solidFill>
                <a:latin typeface="Segoe UI"/>
              </a:rPr>
              <a:t>nodo</a:t>
            </a:r>
            <a:r>
              <a:rPr sz="1200" dirty="0">
                <a:solidFill>
                  <a:srgbClr val="E6EDF3"/>
                </a:solidFill>
                <a:latin typeface="Segoe UI"/>
              </a:rPr>
              <a:t> senza clang/cc/</a:t>
            </a:r>
            <a:r>
              <a:rPr sz="1200" dirty="0" err="1">
                <a:solidFill>
                  <a:srgbClr val="E6EDF3"/>
                </a:solidFill>
                <a:latin typeface="Segoe UI"/>
              </a:rPr>
              <a:t>libbpf</a:t>
            </a:r>
            <a:r>
              <a:rPr sz="1200" dirty="0">
                <a:solidFill>
                  <a:srgbClr val="E6EDF3"/>
                </a:solidFill>
                <a:latin typeface="Segoe UI"/>
              </a:rPr>
              <a:t>:</a:t>
            </a:r>
          </a:p>
          <a:p>
            <a:pPr>
              <a:lnSpc>
                <a:spcPct val="106000"/>
              </a:lnSpc>
            </a:pPr>
            <a:endParaRPr sz="1200" dirty="0">
              <a:solidFill>
                <a:srgbClr val="E6EDF3"/>
              </a:solidFill>
              <a:latin typeface="Segoe UI"/>
            </a:endParaRPr>
          </a:p>
          <a:p>
            <a:pPr>
              <a:lnSpc>
                <a:spcPct val="106000"/>
              </a:lnSpc>
            </a:pPr>
            <a:r>
              <a:rPr sz="1200" dirty="0">
                <a:solidFill>
                  <a:srgbClr val="E6EDF3"/>
                </a:solidFill>
                <a:latin typeface="Consolas"/>
              </a:rPr>
              <a:t>[deploy] </a:t>
            </a:r>
            <a:r>
              <a:rPr sz="1200" dirty="0" err="1">
                <a:solidFill>
                  <a:srgbClr val="E6EDF3"/>
                </a:solidFill>
                <a:latin typeface="Consolas"/>
              </a:rPr>
              <a:t>open+load</a:t>
            </a:r>
            <a:r>
              <a:rPr sz="1200" dirty="0">
                <a:solidFill>
                  <a:srgbClr val="E6EDF3"/>
                </a:solidFill>
                <a:latin typeface="Consolas"/>
              </a:rPr>
              <a:t> (</a:t>
            </a:r>
            <a:r>
              <a:rPr sz="1200" dirty="0" err="1">
                <a:solidFill>
                  <a:srgbClr val="E6EDF3"/>
                </a:solidFill>
                <a:latin typeface="Consolas"/>
              </a:rPr>
              <a:t>verify+JIT</a:t>
            </a:r>
            <a:r>
              <a:rPr sz="1200" dirty="0">
                <a:solidFill>
                  <a:srgbClr val="E6EDF3"/>
                </a:solidFill>
                <a:latin typeface="Consolas"/>
              </a:rPr>
              <a:t>): 5.07 </a:t>
            </a:r>
            <a:r>
              <a:rPr sz="1200" dirty="0" err="1">
                <a:solidFill>
                  <a:srgbClr val="E6EDF3"/>
                </a:solidFill>
                <a:latin typeface="Consolas"/>
              </a:rPr>
              <a:t>ms</a:t>
            </a:r>
            <a:endParaRPr sz="1200" dirty="0">
              <a:solidFill>
                <a:srgbClr val="E6EDF3"/>
              </a:solidFill>
              <a:latin typeface="Consolas"/>
            </a:endParaRPr>
          </a:p>
          <a:p>
            <a:pPr>
              <a:lnSpc>
                <a:spcPct val="106000"/>
              </a:lnSpc>
            </a:pPr>
            <a:r>
              <a:rPr sz="1200" dirty="0">
                <a:solidFill>
                  <a:srgbClr val="E6EDF3"/>
                </a:solidFill>
                <a:latin typeface="Consolas"/>
              </a:rPr>
              <a:t>[deploy] </a:t>
            </a:r>
            <a:r>
              <a:rPr sz="1200" dirty="0" err="1">
                <a:solidFill>
                  <a:srgbClr val="E6EDF3"/>
                </a:solidFill>
                <a:latin typeface="Consolas"/>
              </a:rPr>
              <a:t>xdp_dispatch</a:t>
            </a:r>
            <a:r>
              <a:rPr sz="1200" dirty="0">
                <a:solidFill>
                  <a:srgbClr val="E6EDF3"/>
                </a:solidFill>
                <a:latin typeface="Consolas"/>
              </a:rPr>
              <a:t> attached to </a:t>
            </a:r>
            <a:r>
              <a:rPr sz="1200" dirty="0" err="1">
                <a:solidFill>
                  <a:srgbClr val="E6EDF3"/>
                </a:solidFill>
                <a:latin typeface="Consolas"/>
              </a:rPr>
              <a:t>ifindex</a:t>
            </a:r>
            <a:r>
              <a:rPr sz="1200" dirty="0">
                <a:solidFill>
                  <a:srgbClr val="E6EDF3"/>
                </a:solidFill>
                <a:latin typeface="Consolas"/>
              </a:rPr>
              <a:t> 217.</a:t>
            </a:r>
          </a:p>
          <a:p>
            <a:pPr>
              <a:lnSpc>
                <a:spcPct val="106000"/>
              </a:lnSpc>
            </a:pPr>
            <a:endParaRPr sz="1200" dirty="0">
              <a:solidFill>
                <a:srgbClr val="E6EDF3"/>
              </a:solidFill>
              <a:latin typeface="Consolas"/>
            </a:endParaRPr>
          </a:p>
          <a:p>
            <a:pPr>
              <a:lnSpc>
                <a:spcPct val="106000"/>
              </a:lnSpc>
            </a:pPr>
            <a:r>
              <a:rPr sz="1200" dirty="0" err="1">
                <a:solidFill>
                  <a:srgbClr val="E6EDF3"/>
                </a:solidFill>
                <a:latin typeface="Consolas"/>
              </a:rPr>
              <a:t>ip</a:t>
            </a:r>
            <a:r>
              <a:rPr sz="1200" dirty="0">
                <a:solidFill>
                  <a:srgbClr val="E6EDF3"/>
                </a:solidFill>
                <a:latin typeface="Consolas"/>
              </a:rPr>
              <a:t> link show → prog/</a:t>
            </a:r>
            <a:r>
              <a:rPr sz="1200" dirty="0" err="1">
                <a:solidFill>
                  <a:srgbClr val="E6EDF3"/>
                </a:solidFill>
                <a:latin typeface="Consolas"/>
              </a:rPr>
              <a:t>xdp</a:t>
            </a:r>
            <a:r>
              <a:rPr sz="1200" dirty="0">
                <a:solidFill>
                  <a:srgbClr val="E6EDF3"/>
                </a:solidFill>
                <a:latin typeface="Consolas"/>
              </a:rPr>
              <a:t> id 393 name </a:t>
            </a:r>
            <a:r>
              <a:rPr sz="1200" dirty="0" err="1">
                <a:solidFill>
                  <a:srgbClr val="E6EDF3"/>
                </a:solidFill>
                <a:latin typeface="Consolas"/>
              </a:rPr>
              <a:t>xdp_dispatch</a:t>
            </a:r>
            <a:r>
              <a:rPr sz="1200" dirty="0">
                <a:solidFill>
                  <a:srgbClr val="E6EDF3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Consolas"/>
              </a:rPr>
              <a:t>jited</a:t>
            </a:r>
            <a:endParaRPr sz="1200" dirty="0">
              <a:solidFill>
                <a:srgbClr val="E6EDF3"/>
              </a:solidFill>
              <a:latin typeface="Consolas"/>
            </a:endParaRPr>
          </a:p>
          <a:p>
            <a:pPr>
              <a:lnSpc>
                <a:spcPct val="106000"/>
              </a:lnSpc>
            </a:pPr>
            <a:endParaRPr lang="it-IT" sz="1200" u="sng" dirty="0">
              <a:solidFill>
                <a:srgbClr val="E6EDF3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83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Baseline vs hardcoded: la pipeline vuota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Quanto costa l'inferenza rispetto al solo framework XDP?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394960" cy="1473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 dirty="0">
                <a:solidFill>
                  <a:srgbClr val="F5A623"/>
                </a:solidFill>
                <a:latin typeface="Segoe UI"/>
              </a:rPr>
              <a:t>▸ </a:t>
            </a:r>
            <a:r>
              <a:rPr sz="1350" b="1" dirty="0">
                <a:solidFill>
                  <a:srgbClr val="CD8C21"/>
                </a:solidFill>
                <a:latin typeface="Segoe UI"/>
              </a:rPr>
              <a:t>Baseline: </a:t>
            </a:r>
            <a:r>
              <a:rPr sz="1350" dirty="0" err="1">
                <a:solidFill>
                  <a:srgbClr val="E6EDF3"/>
                </a:solidFill>
                <a:latin typeface="Segoe UI"/>
              </a:rPr>
              <a:t>stesso</a:t>
            </a:r>
            <a:r>
              <a:rPr sz="1350" dirty="0">
                <a:solidFill>
                  <a:srgbClr val="E6EDF3"/>
                </a:solidFill>
                <a:latin typeface="Segoe UI"/>
              </a:rPr>
              <a:t> parse + redirect, </a:t>
            </a:r>
            <a:r>
              <a:rPr sz="1350" dirty="0" err="1">
                <a:solidFill>
                  <a:srgbClr val="E6EDF3"/>
                </a:solidFill>
                <a:latin typeface="Segoe UI"/>
              </a:rPr>
              <a:t>nessuna</a:t>
            </a:r>
            <a:r>
              <a:rPr sz="1350" dirty="0">
                <a:solidFill>
                  <a:srgbClr val="E6EDF3"/>
                </a:solidFill>
                <a:latin typeface="Segoe UI"/>
              </a:rPr>
              <a:t> tail call né </a:t>
            </a:r>
            <a:r>
              <a:rPr sz="1350" dirty="0" err="1">
                <a:solidFill>
                  <a:srgbClr val="E6EDF3"/>
                </a:solidFill>
                <a:latin typeface="Segoe UI"/>
              </a:rPr>
              <a:t>inferenza</a:t>
            </a:r>
            <a:r>
              <a:rPr sz="1350" dirty="0">
                <a:solidFill>
                  <a:srgbClr val="E6EDF3"/>
                </a:solidFill>
                <a:latin typeface="Segoe UI"/>
              </a:rPr>
              <a:t> — il </a:t>
            </a:r>
            <a:r>
              <a:rPr sz="1350" dirty="0" err="1">
                <a:solidFill>
                  <a:srgbClr val="E6EDF3"/>
                </a:solidFill>
                <a:latin typeface="Segoe UI"/>
              </a:rPr>
              <a:t>pavimento</a:t>
            </a:r>
            <a:r>
              <a:rPr sz="1350" dirty="0">
                <a:solidFill>
                  <a:srgbClr val="E6EDF3"/>
                </a:solidFill>
                <a:latin typeface="Segoe UI"/>
              </a:rPr>
              <a:t> XDP.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</a:t>
            </a:r>
            <a:r>
              <a:rPr sz="1350" b="1">
                <a:solidFill>
                  <a:srgbClr val="CD8C21"/>
                </a:solidFill>
                <a:latin typeface="Segoe UI"/>
              </a:rPr>
              <a:t>Hardcoded aggiunge ~19 ns </a:t>
            </a:r>
            <a:r>
              <a:rPr sz="1350" b="0">
                <a:solidFill>
                  <a:srgbClr val="E6EDF3"/>
                </a:solidFill>
                <a:latin typeface="Segoe UI"/>
              </a:rPr>
              <a:t>(tail call + secondo parse + rete int8) → 1.68× il pavimento XDP.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lang="it-IT" sz="1350" b="1" dirty="0">
                <a:solidFill>
                  <a:srgbClr val="CD8C21"/>
                </a:solidFill>
                <a:latin typeface="Segoe UI"/>
              </a:rPr>
              <a:t>▸ I</a:t>
            </a:r>
            <a:r>
              <a:rPr sz="1350" b="1" dirty="0">
                <a:solidFill>
                  <a:srgbClr val="CD8C21"/>
                </a:solidFill>
                <a:latin typeface="Segoe UI"/>
              </a:rPr>
              <a:t>l throughput alto NON è </a:t>
            </a:r>
            <a:r>
              <a:rPr sz="1350" b="1" dirty="0" err="1">
                <a:solidFill>
                  <a:srgbClr val="CD8C21"/>
                </a:solidFill>
                <a:latin typeface="Segoe UI"/>
              </a:rPr>
              <a:t>sospetto</a:t>
            </a:r>
            <a:r>
              <a:rPr sz="1350" b="1" dirty="0">
                <a:solidFill>
                  <a:srgbClr val="CD8C21"/>
                </a:solidFill>
                <a:latin typeface="Segoe UI"/>
              </a:rPr>
              <a:t> </a:t>
            </a:r>
            <a:r>
              <a:rPr sz="1350" dirty="0">
                <a:solidFill>
                  <a:srgbClr val="E6EDF3"/>
                </a:solidFill>
                <a:latin typeface="Segoe UI"/>
              </a:rPr>
              <a:t>— è il </a:t>
            </a:r>
            <a:r>
              <a:rPr sz="1350" dirty="0" err="1">
                <a:solidFill>
                  <a:srgbClr val="E6EDF3"/>
                </a:solidFill>
                <a:latin typeface="Segoe UI"/>
              </a:rPr>
              <a:t>pavimento</a:t>
            </a:r>
            <a:r>
              <a:rPr sz="1350" dirty="0">
                <a:solidFill>
                  <a:srgbClr val="E6EDF3"/>
                </a:solidFill>
                <a:latin typeface="Segoe UI"/>
              </a:rPr>
              <a:t> XDP; la rete </a:t>
            </a:r>
            <a:r>
              <a:rPr sz="1350" dirty="0" err="1">
                <a:solidFill>
                  <a:srgbClr val="E6EDF3"/>
                </a:solidFill>
                <a:latin typeface="Segoe UI"/>
              </a:rPr>
              <a:t>srotolata</a:t>
            </a:r>
            <a:r>
              <a:rPr sz="1350" dirty="0">
                <a:solidFill>
                  <a:srgbClr val="E6EDF3"/>
                </a:solidFill>
                <a:latin typeface="Segoe UI"/>
              </a:rPr>
              <a:t> costa </a:t>
            </a:r>
            <a:r>
              <a:rPr sz="1350" dirty="0" err="1">
                <a:solidFill>
                  <a:srgbClr val="E6EDF3"/>
                </a:solidFill>
                <a:latin typeface="Segoe UI"/>
              </a:rPr>
              <a:t>pochissimo</a:t>
            </a:r>
            <a:r>
              <a:rPr sz="1350" dirty="0">
                <a:solidFill>
                  <a:srgbClr val="E6EDF3"/>
                </a:solidFill>
                <a:latin typeface="Segoe U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828800"/>
            <a:ext cx="5349240" cy="457200"/>
          </a:xfrm>
          <a:prstGeom prst="rect">
            <a:avLst/>
          </a:prstGeom>
          <a:solidFill>
            <a:srgbClr val="222B38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Metrica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8288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18288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hardcoded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2860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Tail call / pkt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2860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22860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7432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7432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Latenza min (ns)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7432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47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2004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2004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Throughput (Mpps)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2004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35.7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32004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 dirty="0">
                <a:solidFill>
                  <a:srgbClr val="8B949E"/>
                </a:solidFill>
                <a:latin typeface="Segoe UI"/>
              </a:rPr>
              <a:t>21.3</a:t>
            </a:r>
            <a:endParaRPr sz="1200" b="0" dirty="0">
              <a:solidFill>
                <a:srgbClr val="8B949E"/>
              </a:solidFill>
              <a:latin typeface="Segoe U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55080" y="36576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6576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Istruzioni eBPF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6576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129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657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997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66344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Segoe UI"/>
              </a:rPr>
              <a:t>Minimo su 14 trial (2 run indipendenti da 7). I valori assoluti dipendono dalla macchina: su un box più lento baseline e hardcoded salgono insieme e il rapporto 1.68× resta.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83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Il design space misurato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Le tre pipeline sullo stesso nodo, stesso modello, stessa aritmetica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394960" cy="1473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</a:t>
            </a:r>
            <a:r>
              <a:rPr sz="1350" b="1">
                <a:solidFill>
                  <a:srgbClr val="CD8C21"/>
                </a:solidFill>
                <a:latin typeface="Segoe UI"/>
              </a:rPr>
              <a:t>Costo monotono. </a:t>
            </a:r>
            <a:r>
              <a:rPr sz="1350" b="0">
                <a:solidFill>
                  <a:srgbClr val="E6EDF3"/>
                </a:solidFill>
                <a:latin typeface="Segoe UI"/>
              </a:rPr>
              <a:t>Istruzioni, tail call, letture di mappa e memoria crescono da P1 a P3; le prestazioni calano nello stesso ordine.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</a:t>
            </a:r>
            <a:r>
              <a:rPr sz="1350" b="1">
                <a:solidFill>
                  <a:srgbClr val="CD8C21"/>
                </a:solidFill>
                <a:latin typeface="Segoe UI"/>
              </a:rPr>
              <a:t>Accuratezza invariante. </a:t>
            </a:r>
            <a:r>
              <a:rPr sz="1350" b="0">
                <a:solidFill>
                  <a:srgbClr val="E6EDF3"/>
                </a:solidFill>
                <a:latin typeface="Segoe UI"/>
              </a:rPr>
              <a:t>Le tre pipeline fanno la stessa aritmetica int8 e scelgono la stessa classe del riferimento Python: non è un asse del design space.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</a:t>
            </a:r>
            <a:r>
              <a:rPr sz="1350" b="1">
                <a:solidFill>
                  <a:srgbClr val="CD8C21"/>
                </a:solidFill>
                <a:latin typeface="Segoe UI"/>
              </a:rPr>
              <a:t>Latenza normalizzata. </a:t>
            </a:r>
            <a:r>
              <a:rPr sz="1350" b="0">
                <a:solidFill>
                  <a:srgbClr val="E6EDF3"/>
                </a:solidFill>
                <a:latin typeface="Segoe UI"/>
              </a:rPr>
              <a:t>Rapporto sul baseline della stessa macchina — l'unico modo di confrontare misure prese su hardware diverso.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828800"/>
            <a:ext cx="5349240" cy="457200"/>
          </a:xfrm>
          <a:prstGeom prst="rect">
            <a:avLst/>
          </a:prstGeom>
          <a:solidFill>
            <a:srgbClr val="222B38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Metrica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18288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2860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Tail call / pkt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800" y="22860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7432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743200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Lookup / pkt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4.0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8800" y="27432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8.0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2004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200400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Latenza (ns)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004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8800" y="32004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 dirty="0">
                <a:solidFill>
                  <a:srgbClr val="8B949E"/>
                </a:solidFill>
                <a:latin typeface="Segoe UI"/>
              </a:rPr>
              <a:t>224</a:t>
            </a:r>
            <a:endParaRPr sz="1200" b="0" dirty="0">
              <a:solidFill>
                <a:srgbClr val="8B949E"/>
              </a:solidFill>
              <a:latin typeface="Segoe U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55080" y="36576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657600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×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1.68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8800" y="36576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8.00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66344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Segoe UI"/>
              </a:rPr>
              <a:t>Suite --only kernel, minimo su 14 trial. P1 non è stato modificato e il suo rapporto sul baseline resta 1.67 → 1.68 fra le due macchine: è la verifica che la normalizzazione regge.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6560" y="18288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6560" y="22860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6560" y="27432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26.0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76560" y="32004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 dirty="0">
                <a:solidFill>
                  <a:srgbClr val="8B949E"/>
                </a:solidFill>
                <a:latin typeface="Segoe UI"/>
              </a:rPr>
              <a:t>387</a:t>
            </a:r>
            <a:endParaRPr sz="1200" b="0" dirty="0">
              <a:solidFill>
                <a:srgbClr val="8B949E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576560" y="3657600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8B949E"/>
                </a:solidFill>
                <a:latin typeface="Segoe UI"/>
              </a:rPr>
              <a:t>13.82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Ottimizzazione: mac_table da HASH ad 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Collo di bottiglia trasversale, identico in tutte e tre le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5778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dirty="0">
                <a:solidFill>
                  <a:srgbClr val="F5A623"/>
                </a:solidFill>
                <a:latin typeface="Segoe UI"/>
              </a:rPr>
              <a:t>▸ </a:t>
            </a:r>
            <a:r>
              <a:rPr sz="1400" b="1" dirty="0" err="1">
                <a:solidFill>
                  <a:srgbClr val="F5A623"/>
                </a:solidFill>
                <a:latin typeface="Segoe UI"/>
              </a:rPr>
              <a:t>mac_table</a:t>
            </a:r>
            <a:r>
              <a:rPr sz="1400" b="1" dirty="0">
                <a:solidFill>
                  <a:srgbClr val="F5A623"/>
                </a:solidFill>
                <a:latin typeface="Segoe UI"/>
              </a:rPr>
              <a:t> 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traduce la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classe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dell'argmax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(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intero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denso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0..6)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nell'azione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di forwarding.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dirty="0">
                <a:solidFill>
                  <a:srgbClr val="F5A623"/>
                </a:solidFill>
                <a:latin typeface="Segoe UI"/>
              </a:rPr>
              <a:t>▸ Era BPF_HASH: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ogni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pacchetto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redirettato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paga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hash + bucket +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confronto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— inutile con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chiavi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dense.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dirty="0">
                <a:solidFill>
                  <a:srgbClr val="F5A623"/>
                </a:solidFill>
                <a:latin typeface="Segoe UI"/>
              </a:rPr>
              <a:t>▸ Ora BPF_ARRAY: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indice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diretto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O(1),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memoria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contigua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. In P1, P2, P3 e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nel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E6EDF3"/>
                </a:solidFill>
                <a:latin typeface="Segoe UI"/>
              </a:rPr>
              <a:t>generatore</a:t>
            </a:r>
            <a:r>
              <a:rPr sz="1400" dirty="0">
                <a:solidFill>
                  <a:srgbClr val="E6EDF3"/>
                </a:solidFill>
                <a:latin typeface="Segoe UI"/>
              </a:rPr>
              <a:t> AOT.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257800" cy="141732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92240" y="1874520"/>
            <a:ext cx="5074920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975104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F5A623"/>
                </a:solidFill>
                <a:latin typeface="Segoe UI"/>
              </a:rPr>
              <a:t>il cambio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194560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dirty="0">
                <a:solidFill>
                  <a:srgbClr val="8B949E"/>
                </a:solidFill>
                <a:latin typeface="Consolas"/>
              </a:rPr>
              <a:t>- BPF_HASH(</a:t>
            </a:r>
            <a:r>
              <a:rPr sz="1200" dirty="0" err="1">
                <a:solidFill>
                  <a:srgbClr val="8B949E"/>
                </a:solidFill>
                <a:latin typeface="Consolas"/>
              </a:rPr>
              <a:t>mac_table</a:t>
            </a:r>
            <a:r>
              <a:rPr sz="1200" dirty="0">
                <a:solidFill>
                  <a:srgbClr val="8B949E"/>
                </a:solidFill>
                <a:latin typeface="Consolas"/>
              </a:rPr>
              <a:t>, __u32, ...);</a:t>
            </a:r>
          </a:p>
          <a:p>
            <a:pPr>
              <a:lnSpc>
                <a:spcPct val="115000"/>
              </a:lnSpc>
            </a:pPr>
            <a:r>
              <a:rPr sz="1200" dirty="0">
                <a:solidFill>
                  <a:srgbClr val="8B949E"/>
                </a:solidFill>
                <a:latin typeface="Consolas"/>
              </a:rPr>
              <a:t>+ BPF_ARRAY(</a:t>
            </a:r>
            <a:r>
              <a:rPr sz="1200" dirty="0" err="1">
                <a:solidFill>
                  <a:srgbClr val="8B949E"/>
                </a:solidFill>
                <a:latin typeface="Consolas"/>
              </a:rPr>
              <a:t>mac_table</a:t>
            </a:r>
            <a:r>
              <a:rPr sz="1200" dirty="0">
                <a:solidFill>
                  <a:srgbClr val="8B949E"/>
                </a:solidFill>
                <a:latin typeface="Consolas"/>
              </a:rPr>
              <a:t>, </a:t>
            </a:r>
            <a:r>
              <a:rPr sz="1200" dirty="0" err="1">
                <a:solidFill>
                  <a:srgbClr val="8B949E"/>
                </a:solidFill>
                <a:latin typeface="Consolas"/>
              </a:rPr>
              <a:t>fwd_action</a:t>
            </a:r>
            <a:r>
              <a:rPr sz="1200" dirty="0">
                <a:solidFill>
                  <a:srgbClr val="8B949E"/>
                </a:solidFill>
                <a:latin typeface="Consolas"/>
              </a:rPr>
              <a:t>, 8);</a:t>
            </a:r>
          </a:p>
          <a:p>
            <a:pPr>
              <a:lnSpc>
                <a:spcPct val="115000"/>
              </a:lnSpc>
            </a:pPr>
            <a:endParaRPr sz="1200" dirty="0">
              <a:solidFill>
                <a:srgbClr val="8B949E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200" dirty="0">
                <a:solidFill>
                  <a:srgbClr val="8B949E"/>
                </a:solidFill>
                <a:latin typeface="Consolas"/>
              </a:rPr>
              <a:t>// ARRAY non </a:t>
            </a:r>
            <a:r>
              <a:rPr sz="1200" dirty="0" err="1">
                <a:solidFill>
                  <a:srgbClr val="8B949E"/>
                </a:solidFill>
                <a:latin typeface="Consolas"/>
              </a:rPr>
              <a:t>ritorna</a:t>
            </a:r>
            <a:r>
              <a:rPr sz="1200" dirty="0">
                <a:solidFill>
                  <a:srgbClr val="8B949E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8B949E"/>
                </a:solidFill>
                <a:latin typeface="Consolas"/>
              </a:rPr>
              <a:t>mai</a:t>
            </a:r>
            <a:r>
              <a:rPr sz="1200" dirty="0">
                <a:solidFill>
                  <a:srgbClr val="8B949E"/>
                </a:solidFill>
                <a:latin typeface="Consolas"/>
              </a:rPr>
              <a:t> NULL:</a:t>
            </a:r>
          </a:p>
          <a:p>
            <a:pPr>
              <a:lnSpc>
                <a:spcPct val="115000"/>
              </a:lnSpc>
            </a:pPr>
            <a:r>
              <a:rPr sz="1200" dirty="0">
                <a:solidFill>
                  <a:srgbClr val="8B949E"/>
                </a:solidFill>
                <a:latin typeface="Consolas"/>
              </a:rPr>
              <a:t>// MISS  =  act-&gt;</a:t>
            </a:r>
            <a:r>
              <a:rPr sz="1200" dirty="0" err="1">
                <a:solidFill>
                  <a:srgbClr val="8B949E"/>
                </a:solidFill>
                <a:latin typeface="Consolas"/>
              </a:rPr>
              <a:t>ifindex</a:t>
            </a:r>
            <a:r>
              <a:rPr sz="1200" dirty="0">
                <a:solidFill>
                  <a:srgbClr val="8B949E"/>
                </a:solidFill>
                <a:latin typeface="Consolas"/>
              </a:rPr>
              <a:t> ==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57800" cy="173736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3520440"/>
            <a:ext cx="50800" cy="173736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3611880"/>
            <a:ext cx="4910328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</a:pPr>
            <a:r>
              <a:rPr sz="1200">
                <a:solidFill>
                  <a:srgbClr val="E6EDF3"/>
                </a:solidFill>
                <a:latin typeface="Segoe UI"/>
              </a:rPr>
              <a:t>Punto critico: una BPF_ARRAY non ritorna mai NULL (slot azzerati). La logica 'classe non provvista → MISS' usa ifindex==0 come sentinella. Suite --only kernel: PASS su tutte e 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83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Blocco pesi: da 147 letture di mappa 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Quanto del costo di P2/P3 era flessibilità e quanto codifica?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394960" cy="1473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</a:t>
            </a:r>
            <a:r>
              <a:rPr sz="1350" b="1">
                <a:solidFill>
                  <a:srgbClr val="CD8C21"/>
                </a:solidFill>
                <a:latin typeface="Segoe UI"/>
              </a:rPr>
              <a:t>Il sintomo. </a:t>
            </a:r>
            <a:r>
              <a:rPr sz="1350" b="0">
                <a:solidFill>
                  <a:srgbClr val="E6EDF3"/>
                </a:solidFill>
                <a:latin typeface="Segoe UI"/>
              </a:rPr>
              <a:t>~139 delle 147 letture di P2 erano letture di un SINGOLO byte di peso, ognuna con la propria helper call e il proprio controllo di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</a:t>
            </a:r>
            <a:r>
              <a:rPr sz="1350" b="1">
                <a:solidFill>
                  <a:srgbClr val="CD8C21"/>
                </a:solidFill>
                <a:latin typeface="Segoe UI"/>
              </a:rPr>
              <a:t>La cura. </a:t>
            </a:r>
            <a:r>
              <a:rPr sz="1350" b="0">
                <a:solidFill>
                  <a:srgbClr val="E6EDF3"/>
                </a:solidFill>
                <a:latin typeface="Segoe UI"/>
              </a:rPr>
              <a:t>Tutto il blocco pesi in un'unica entry struct-valued: una lookup, poi accessi diretti su puntatore. La stessa trasformazione già applicata alle feature dense.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▸ </a:t>
            </a:r>
            <a:r>
              <a:rPr sz="1350" b="1">
                <a:solidFill>
                  <a:srgbClr val="CD8C21"/>
                </a:solidFill>
                <a:latin typeface="Segoe UI"/>
              </a:rPr>
              <a:t>Conclusione. </a:t>
            </a:r>
            <a:r>
              <a:rPr sz="1350" b="0">
                <a:solidFill>
                  <a:srgbClr val="E6EDF3"/>
                </a:solidFill>
                <a:latin typeface="Segoe UI"/>
              </a:rPr>
              <a:t>~1/3 del costo per pacchetto non era il prezzo della flessibilità, era il prezzo di una codifica del contenitore dei pesi.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828800"/>
            <a:ext cx="5349240" cy="457200"/>
          </a:xfrm>
          <a:prstGeom prst="rect">
            <a:avLst/>
          </a:prstGeom>
          <a:solidFill>
            <a:srgbClr val="222B38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Metrica (P2)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8288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prima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18288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F5A623"/>
                </a:solidFill>
                <a:latin typeface="Segoe UI"/>
              </a:rPr>
              <a:t>dopo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2860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Lookup / pkt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2860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147.0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22860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3FB950"/>
                </a:solidFill>
                <a:latin typeface="Segoe UI"/>
              </a:rPr>
              <a:t>8.0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7432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7432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Istruzioni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7432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16 988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2743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3FB950"/>
                </a:solidFill>
                <a:latin typeface="Segoe UI"/>
              </a:rPr>
              <a:t>9 962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2004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2004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Memoria mappe (B)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2004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8 052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32004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 dirty="0">
                <a:solidFill>
                  <a:srgbClr val="3FB950"/>
                </a:solidFill>
                <a:latin typeface="Segoe UI"/>
              </a:rPr>
              <a:t>3 960</a:t>
            </a:r>
            <a:endParaRPr sz="1200" b="0" dirty="0">
              <a:solidFill>
                <a:srgbClr val="8B949E"/>
              </a:solidFill>
              <a:latin typeface="Segoe U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55080" y="3657600"/>
            <a:ext cx="5349240" cy="457200"/>
          </a:xfrm>
          <a:prstGeom prst="rect">
            <a:avLst/>
          </a:prstGeom>
          <a:solidFill>
            <a:srgbClr val="1B222E"/>
          </a:solidFill>
          <a:ln w="6350">
            <a:solidFill>
              <a:srgbClr val="303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6576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E6EDF3"/>
                </a:solidFill>
                <a:latin typeface="Segoe UI"/>
              </a:rPr>
              <a:t>×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6576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0">
                <a:solidFill>
                  <a:srgbClr val="E6EDF3"/>
                </a:solidFill>
                <a:latin typeface="Segoe UI"/>
              </a:rPr>
              <a:t>12.48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6576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8000"/>
              </a:lnSpc>
            </a:pPr>
            <a:r>
              <a:rPr sz="1200" b="1">
                <a:solidFill>
                  <a:srgbClr val="3FB950"/>
                </a:solidFill>
                <a:latin typeface="Segoe UI"/>
              </a:rPr>
              <a:t>8.00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66344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Segoe UI"/>
              </a:rPr>
              <a:t>P3 in parallelo: 160 → 26 letture, 15 767 → 8 209 istruzioni. Inferenza invariata su tutta la suite. Registrare un modello è ora UNA bpf_map_update_elem invece di 319 (P2) / 2048 (P3).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83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Metodologia di misura e riscontro in letteratura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Perché il minimo su N trial, e cosa dice la letteratura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23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dirty="0">
                <a:solidFill>
                  <a:srgbClr val="F5A623"/>
                </a:solidFill>
                <a:latin typeface="Segoe UI"/>
              </a:rPr>
              <a:t>▸ </a:t>
            </a:r>
            <a:r>
              <a:rPr sz="1300" b="1" dirty="0" err="1">
                <a:solidFill>
                  <a:srgbClr val="F5A623"/>
                </a:solidFill>
                <a:latin typeface="Segoe UI"/>
              </a:rPr>
              <a:t>Rumore</a:t>
            </a:r>
            <a:r>
              <a:rPr sz="1300" b="1" dirty="0">
                <a:solidFill>
                  <a:srgbClr val="F5A623"/>
                </a:solidFill>
                <a:latin typeface="Segoe UI"/>
              </a:rPr>
              <a:t> a senso </a:t>
            </a:r>
            <a:r>
              <a:rPr sz="1300" b="1" dirty="0" err="1">
                <a:solidFill>
                  <a:srgbClr val="F5A623"/>
                </a:solidFill>
                <a:latin typeface="Segoe UI"/>
              </a:rPr>
              <a:t>unico</a:t>
            </a:r>
            <a:r>
              <a:rPr sz="1300" b="1" dirty="0">
                <a:solidFill>
                  <a:srgbClr val="F5A623"/>
                </a:solidFill>
                <a:latin typeface="Segoe UI"/>
              </a:rPr>
              <a:t>: 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interrupt/scheduling </a:t>
            </a:r>
            <a:r>
              <a:rPr sz="1300" dirty="0" err="1">
                <a:solidFill>
                  <a:srgbClr val="E6EDF3"/>
                </a:solidFill>
                <a:latin typeface="Segoe UI"/>
              </a:rPr>
              <a:t>possono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 solo </a:t>
            </a:r>
            <a:r>
              <a:rPr sz="1300" dirty="0" err="1">
                <a:solidFill>
                  <a:srgbClr val="E6EDF3"/>
                </a:solidFill>
                <a:latin typeface="Segoe UI"/>
              </a:rPr>
              <a:t>rallentare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 un </a:t>
            </a:r>
            <a:r>
              <a:rPr sz="1300" dirty="0" err="1">
                <a:solidFill>
                  <a:srgbClr val="E6EDF3"/>
                </a:solidFill>
                <a:latin typeface="Segoe UI"/>
              </a:rPr>
              <a:t>campione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, </a:t>
            </a:r>
            <a:r>
              <a:rPr sz="1300" dirty="0" err="1">
                <a:solidFill>
                  <a:srgbClr val="E6EDF3"/>
                </a:solidFill>
                <a:latin typeface="Segoe UI"/>
              </a:rPr>
              <a:t>mai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6EDF3"/>
                </a:solidFill>
                <a:latin typeface="Segoe UI"/>
              </a:rPr>
              <a:t>accelerarlo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dirty="0">
                <a:solidFill>
                  <a:srgbClr val="F5A623"/>
                </a:solidFill>
                <a:latin typeface="Segoe UI"/>
              </a:rPr>
              <a:t>▸ </a:t>
            </a:r>
            <a:r>
              <a:rPr sz="1300" b="1" dirty="0" err="1">
                <a:solidFill>
                  <a:srgbClr val="F5A623"/>
                </a:solidFill>
                <a:latin typeface="Segoe UI"/>
              </a:rPr>
              <a:t>Quindi</a:t>
            </a:r>
            <a:r>
              <a:rPr sz="1300" b="1" dirty="0">
                <a:solidFill>
                  <a:srgbClr val="F5A623"/>
                </a:solidFill>
                <a:latin typeface="Segoe UI"/>
              </a:rPr>
              <a:t> il </a:t>
            </a:r>
            <a:r>
              <a:rPr sz="1300" b="1" dirty="0" err="1">
                <a:solidFill>
                  <a:srgbClr val="F5A623"/>
                </a:solidFill>
                <a:latin typeface="Segoe UI"/>
              </a:rPr>
              <a:t>minimo</a:t>
            </a:r>
            <a:r>
              <a:rPr sz="1300" b="1" dirty="0">
                <a:solidFill>
                  <a:srgbClr val="F5A623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F5A623"/>
                </a:solidFill>
                <a:latin typeface="Segoe UI"/>
              </a:rPr>
              <a:t>su</a:t>
            </a:r>
            <a:r>
              <a:rPr sz="1300" b="1" dirty="0">
                <a:solidFill>
                  <a:srgbClr val="F5A623"/>
                </a:solidFill>
                <a:latin typeface="Segoe UI"/>
              </a:rPr>
              <a:t> N trial 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è la </a:t>
            </a:r>
            <a:r>
              <a:rPr sz="1300" dirty="0" err="1">
                <a:solidFill>
                  <a:srgbClr val="E6EDF3"/>
                </a:solidFill>
                <a:latin typeface="Segoe UI"/>
              </a:rPr>
              <a:t>statistica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6EDF3"/>
                </a:solidFill>
                <a:latin typeface="Segoe UI"/>
              </a:rPr>
              <a:t>giusta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 (non media né </a:t>
            </a:r>
            <a:r>
              <a:rPr sz="1300" dirty="0" err="1">
                <a:solidFill>
                  <a:srgbClr val="E6EDF3"/>
                </a:solidFill>
                <a:latin typeface="Segoe UI"/>
              </a:rPr>
              <a:t>mediana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) — come hyperfine / Google Benchmark.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 dirty="0">
                <a:solidFill>
                  <a:srgbClr val="F5A623"/>
                </a:solidFill>
                <a:latin typeface="Segoe UI"/>
              </a:rPr>
              <a:t>▸ </a:t>
            </a:r>
            <a:r>
              <a:rPr sz="1300" b="1" dirty="0" err="1">
                <a:solidFill>
                  <a:srgbClr val="F5A623"/>
                </a:solidFill>
                <a:latin typeface="Segoe UI"/>
              </a:rPr>
              <a:t>Corretti</a:t>
            </a:r>
            <a:r>
              <a:rPr sz="1300" b="1" dirty="0">
                <a:solidFill>
                  <a:srgbClr val="F5A623"/>
                </a:solidFill>
                <a:latin typeface="Segoe UI"/>
              </a:rPr>
              <a:t> il benchmark e la suite --only kernel 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(7 trial, min + p50/max). Prima un solo </a:t>
            </a:r>
            <a:r>
              <a:rPr sz="1300" dirty="0" err="1">
                <a:solidFill>
                  <a:srgbClr val="E6EDF3"/>
                </a:solidFill>
                <a:latin typeface="Segoe UI"/>
              </a:rPr>
              <a:t>campione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6EDF3"/>
                </a:solidFill>
                <a:latin typeface="Segoe UI"/>
              </a:rPr>
              <a:t>oscillava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E6EDF3"/>
                </a:solidFill>
                <a:latin typeface="Segoe UI"/>
              </a:rPr>
              <a:t>fino</a:t>
            </a:r>
            <a:r>
              <a:rPr sz="1300" dirty="0">
                <a:solidFill>
                  <a:srgbClr val="E6EDF3"/>
                </a:solidFill>
                <a:latin typeface="Segoe UI"/>
              </a:rPr>
              <a:t> a 20×.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5120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3FD0C8"/>
                </a:solidFill>
                <a:latin typeface="Segoe UI"/>
              </a:rPr>
              <a:t>▸ XDP paper (CoNEXT 2018): </a:t>
            </a:r>
            <a:r>
              <a:rPr sz="1300">
                <a:solidFill>
                  <a:srgbClr val="E6EDF3"/>
                </a:solidFill>
                <a:latin typeface="Segoe UI"/>
              </a:rPr>
              <a:t>metriche standard — Mpps a CPU satura, latenza per-hop, overhead del solo eBPF.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3FD0C8"/>
                </a:solidFill>
                <a:latin typeface="Segoe UI"/>
              </a:rPr>
              <a:t>▸ Heiser, 'Benchmarking Crimes': </a:t>
            </a:r>
            <a:r>
              <a:rPr sz="1300">
                <a:solidFill>
                  <a:srgbClr val="E6EDF3"/>
                </a:solidFill>
                <a:latin typeface="Segoe UI"/>
              </a:rPr>
              <a:t>trappole — frequency scaling, C-state, accounting per-tick del softirq.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3FD0C8"/>
                </a:solidFill>
                <a:latin typeface="Segoe UI"/>
              </a:rPr>
              <a:t>▸ Onestà sull'ambiente: </a:t>
            </a:r>
            <a:r>
              <a:rPr sz="1300">
                <a:solidFill>
                  <a:srgbClr val="E6EDF3"/>
                </a:solidFill>
                <a:latin typeface="Segoe UI"/>
              </a:rPr>
              <a:t>VM senza CPU pinning → valori assoluti non comparabili a bare-metal; conta il relativo.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3FD0C8"/>
                </a:solidFill>
                <a:latin typeface="Segoe UI"/>
              </a:rPr>
              <a:t>▸ </a:t>
            </a:r>
            <a:r>
              <a:rPr sz="1300" b="1">
                <a:solidFill>
                  <a:srgbClr val="3FD0C8"/>
                </a:solidFill>
                <a:latin typeface="Segoe UI"/>
              </a:rPr>
              <a:t>Survey COMST 2024: </a:t>
            </a:r>
            <a:r>
              <a:rPr sz="1300" b="0">
                <a:solidFill>
                  <a:srgbClr val="E6EDF3"/>
                </a:solidFill>
                <a:latin typeface="Segoe UI"/>
              </a:rPr>
              <a:t>tre assi di valutazione — modello, sistema, risorse. Qui il primo è invariante per costruzione, e va detto.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3FD0C8"/>
                </a:solidFill>
                <a:latin typeface="Segoe UI"/>
              </a:rPr>
              <a:t>▸ </a:t>
            </a:r>
            <a:r>
              <a:rPr sz="1300" b="1">
                <a:solidFill>
                  <a:srgbClr val="3FD0C8"/>
                </a:solidFill>
                <a:latin typeface="Segoe UI"/>
              </a:rPr>
              <a:t>N3IC (NSDI 22): </a:t>
            </a:r>
            <a:r>
              <a:rPr sz="1300" b="0">
                <a:solidFill>
                  <a:srgbClr val="E6EDF3"/>
                </a:solidFill>
                <a:latin typeface="Segoe UI"/>
              </a:rPr>
              <a:t>generatore back-to-back, verifica che il collo di bottiglia sia il sistema sotto test, latenza come percentile. TEST_RUN non misura MLFFR né multi-core, ma isola il costo del solo programma eBPF.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Polling FRR del link_state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Ogni quanto il monitor userspace aggiorna lo stato dei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link_state[0..5] </a:t>
            </a:r>
            <a:r>
              <a:rPr sz="1400">
                <a:solidFill>
                  <a:srgbClr val="E6EDF3"/>
                </a:solidFill>
                <a:latin typeface="Segoe UI"/>
              </a:rPr>
              <a:t>è la feature di fast-reroute: 1 = su, 0 = giù, letta ad ogni pacchetto dai programmi eBPF.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Un thread userspace </a:t>
            </a:r>
            <a:r>
              <a:rPr sz="1400">
                <a:solidFill>
                  <a:srgbClr val="E6EDF3"/>
                </a:solidFill>
                <a:latin typeface="Segoe UI"/>
              </a:rPr>
              <a:t>legge /sys/class/net/ethX/carrier e scrive nella mappa condivisa.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Polling impostato a 0.5 secondi. </a:t>
            </a:r>
            <a:r>
              <a:rPr sz="1400">
                <a:solidFill>
                  <a:srgbClr val="E6EDF3"/>
                </a:solidFill>
                <a:latin typeface="Segoe UI"/>
              </a:rPr>
              <a:t>Corretta un'incoerenza: method5/method6 lo sovrascrivevano a 1.0 s → riportati a 0.5.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Effetto: </a:t>
            </a:r>
            <a:r>
              <a:rPr sz="1400">
                <a:solidFill>
                  <a:srgbClr val="E6EDF3"/>
                </a:solidFill>
                <a:latin typeface="Segoe UI"/>
              </a:rPr>
              <a:t>un link che cade è rilevato entro mezzo secondo; la feature va a 0 e l'argmax può scegliere un'altra uscita, senza reload.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2548890" cy="9144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4800600"/>
            <a:ext cx="2402586" cy="38100"/>
          </a:xfrm>
          <a:prstGeom prst="rect">
            <a:avLst/>
          </a:prstGeom>
          <a:solidFill>
            <a:srgbClr val="303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4754880"/>
            <a:ext cx="243916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/sys/.../carrier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8970" y="4754880"/>
            <a:ext cx="274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3290" y="4754880"/>
            <a:ext cx="2548890" cy="9144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36442" y="4800600"/>
            <a:ext cx="2402586" cy="38100"/>
          </a:xfrm>
          <a:prstGeom prst="rect">
            <a:avLst/>
          </a:prstGeom>
          <a:solidFill>
            <a:srgbClr val="303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8154" y="4754880"/>
            <a:ext cx="243916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monitor 0.5 s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userspace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2180" y="4754880"/>
            <a:ext cx="274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0" y="4754880"/>
            <a:ext cx="2548890" cy="9144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9652" y="4800600"/>
            <a:ext cx="2402586" cy="38100"/>
          </a:xfrm>
          <a:prstGeom prst="rect">
            <a:avLst/>
          </a:prstGeom>
          <a:solidFill>
            <a:srgbClr val="303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1364" y="4754880"/>
            <a:ext cx="243916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link_state[6]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mappa BPF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5390" y="4754880"/>
            <a:ext cx="274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9710" y="4754880"/>
            <a:ext cx="2548890" cy="91440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82862" y="4800600"/>
            <a:ext cx="2402586" cy="38100"/>
          </a:xfrm>
          <a:prstGeom prst="rect">
            <a:avLst/>
          </a:prstGeom>
          <a:solidFill>
            <a:srgbClr val="303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64574" y="4754880"/>
            <a:ext cx="243916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"/>
              </a:rPr>
              <a:t>XDP</a:t>
            </a:r>
          </a:p>
          <a:p>
            <a:pPr algn="ctr"/>
            <a:r>
              <a:rPr sz="950">
                <a:solidFill>
                  <a:srgbClr val="8B949E"/>
                </a:solidFill>
                <a:latin typeface="Consolas"/>
              </a:rPr>
              <a:t>inferenza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51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5A623"/>
                </a:solidFill>
                <a:latin typeface="Georgia"/>
              </a:rPr>
              <a:t>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6EDF3"/>
                </a:solidFill>
                <a:latin typeface="Georgia"/>
              </a:rPr>
              <a:t>Riepilogo e stato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3352" y="10789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8B949E"/>
                </a:solidFill>
                <a:latin typeface="Segoe UI"/>
              </a:rPr>
              <a:t>Cosa è stato fatto, verificato e documentato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623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▸ Input vector flessibile </a:t>
            </a:r>
            <a:r>
              <a:rPr sz="1300">
                <a:solidFill>
                  <a:srgbClr val="E6EDF3"/>
                </a:solidFill>
                <a:latin typeface="Segoe UI"/>
              </a:rPr>
              <a:t>su tutte e 3 le pipeline (default byte-identico).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▸ Profondità variabile </a:t>
            </a:r>
            <a:r>
              <a:rPr sz="1300">
                <a:solidFill>
                  <a:srgbClr val="E6EDF3"/>
                </a:solidFill>
                <a:latin typeface="Segoe UI"/>
              </a:rPr>
              <a:t>+ studio larghezza-vs-profondità (allargare batte approfondire).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▸ AOT-literal sostituisce BCC </a:t>
            </a:r>
            <a:r>
              <a:rPr sz="1300">
                <a:solidFill>
                  <a:srgbClr val="E6EDF3"/>
                </a:solidFill>
                <a:latin typeface="Segoe UI"/>
              </a:rPr>
              <a:t>nel deploy — verificato attaccato su Kathara.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▸ Baseline vs hardcoded </a:t>
            </a:r>
            <a:r>
              <a:rPr sz="1300">
                <a:solidFill>
                  <a:srgbClr val="E6EDF3"/>
                </a:solidFill>
                <a:latin typeface="Segoe UI"/>
              </a:rPr>
              <a:t>misurati: 1.68× il pavimento XDP.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▸ </a:t>
            </a:r>
            <a:r>
              <a:rPr sz="1300" b="1">
                <a:solidFill>
                  <a:srgbClr val="CD8C21"/>
                </a:solidFill>
                <a:latin typeface="Segoe UI"/>
              </a:rPr>
              <a:t>mac_table → ARRAY e blocco pesi struct-valued </a:t>
            </a:r>
            <a:r>
              <a:rPr sz="1300" b="0">
                <a:solidFill>
                  <a:srgbClr val="E6EDF3"/>
                </a:solidFill>
                <a:latin typeface="Segoe UI"/>
              </a:rPr>
              <a:t>(P2 147→8 letture, P3 160→26), più 3 colli di bottiglia documentati.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5A623"/>
                </a:solidFill>
                <a:latin typeface="Segoe UI"/>
              </a:rPr>
              <a:t>▸ Polling FRR </a:t>
            </a:r>
            <a:r>
              <a:rPr sz="1300">
                <a:solidFill>
                  <a:srgbClr val="E6EDF3"/>
                </a:solidFill>
                <a:latin typeface="Segoe UI"/>
              </a:rPr>
              <a:t>a 0.5 s, coerente ovunque.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83080"/>
            <a:ext cx="5120640" cy="155448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92240" y="1783080"/>
            <a:ext cx="50800" cy="15544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93408" y="1874520"/>
            <a:ext cx="4773168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</a:pPr>
            <a:r>
              <a:rPr sz="1200">
                <a:solidFill>
                  <a:srgbClr val="E6EDF3"/>
                </a:solidFill>
                <a:latin typeface="Segoe UI"/>
              </a:rPr>
              <a:t>Documentazione per la tesi: capitolo LaTeX aggiornato con le nuove misure, sezione dedicata al blocco pesi e riscontro metodologico in letteratura (N3IC, survey COMST).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474720"/>
            <a:ext cx="5120640" cy="1463040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3474720"/>
            <a:ext cx="50800" cy="14630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3408" y="3566160"/>
            <a:ext cx="477316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</a:pPr>
            <a:r>
              <a:rPr sz="1200">
                <a:solidFill>
                  <a:srgbClr val="E6EDF3"/>
                </a:solidFill>
                <a:latin typeface="Segoe UI"/>
              </a:rPr>
              <a:t>Verifica: test_suite --only kernel = PASS su 2 run completi. Aperti: semantica ingress_iface divergente fra P1 e P2/P3; P2/P3 oltre il cap di 4096 istruzioni dei nodi Kathara.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120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onsolas"/>
              </a:rPr>
              <a:t>Kathara · Germany50 · kernel eBPF/XDP · MLP int8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2043</Words>
  <Application>Microsoft Office PowerPoint</Application>
  <PresentationFormat>Widescreen</PresentationFormat>
  <Paragraphs>234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Ettore Cantile</cp:lastModifiedBy>
  <cp:revision>6</cp:revision>
  <dcterms:created xsi:type="dcterms:W3CDTF">2013-01-27T09:14:16Z</dcterms:created>
  <dcterms:modified xsi:type="dcterms:W3CDTF">2026-07-21T13:06:33Z</dcterms:modified>
  <cp:category/>
</cp:coreProperties>
</file>