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52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>
            <a:off x="10698480" y="457200"/>
            <a:ext cx="1051560" cy="941832"/>
          </a:xfrm>
          <a:prstGeom prst="hexagon">
            <a:avLst/>
          </a:prstGeom>
          <a:noFill/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>
            <a:off x="11292840" y="1051560"/>
            <a:ext cx="1051560" cy="941832"/>
          </a:xfrm>
          <a:prstGeom prst="hexagon">
            <a:avLst/>
          </a:prstGeom>
          <a:noFill/>
          <a:ln w="19050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>
            <a:off x="10104120" y="1645920"/>
            <a:ext cx="1051560" cy="941832"/>
          </a:xfrm>
          <a:prstGeom prst="hexagon">
            <a:avLst/>
          </a:prstGeom>
          <a:noFill/>
          <a:ln w="19050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>
                <a:solidFill>
                  <a:srgbClr val="0D1117"/>
                </a:solidFill>
                <a:latin typeface="Segoe UI"/>
              </a:rPr>
              <a:t>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E6EDF3"/>
                </a:solidFill>
                <a:latin typeface="Georgia"/>
              </a:rPr>
              <a:t>Hardcoded flessibile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08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F5A623"/>
                </a:solidFill>
                <a:latin typeface="Consolas"/>
              </a:rPr>
              <a:t>Input vector generico + costo di ricompilazione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5488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Segoe UI"/>
              </a:rPr>
              <a:t>Pipeline 1: dallo scenario FRR cablato a un descrittore di feature per-modello, senza perdere prestazioni — e come abbattere la ricompilazione.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3504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1">
                <a:solidFill>
                  <a:srgbClr val="484F58"/>
                </a:solidFill>
                <a:latin typeface="Consolas"/>
              </a:rPr>
              <a:t>     ·     IV descriptor  ·  vector-map 1 lookup  ·  AOT-literal  ·  BPF_PROG_TEST_RUN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Due limiti dell'hardcoded segnalati dal professore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7647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85149"/>
                </a:solidFill>
                <a:latin typeface="Segoe UI"/>
              </a:rPr>
              <a:t>IV cablato sullo scenario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La struttura è sempre 64-x-x-7: il vettore di input è fisso per lo scenario FRR. Modelli per scenari diversi hanno feature e output diversi.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7647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  <a:latin typeface="Segoe UI"/>
              </a:rPr>
              <a:t>Costo di ricompilazione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Ogni modello nuovo o modificato → sorgente C nuovo → clang ricompila tutto da zero. I pesi sono literal nel codice.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908792" cy="96012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19" y="4023359"/>
            <a:ext cx="1072591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1" y="4032503"/>
            <a:ext cx="1076248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58A6FF"/>
                </a:solidFill>
                <a:latin typeface="Segoe UI"/>
              </a:rPr>
              <a:t>Obiettivo</a:t>
            </a:r>
            <a:r>
              <a:rPr sz="1300" b="0">
                <a:solidFill>
                  <a:srgbClr val="E6EDF3"/>
                </a:solidFill>
                <a:latin typeface="Segoe UI"/>
              </a:rPr>
              <a:t>   rendere l'IV flessibile senza perdere le prestazioni superiori dell'hardcoded, e ridurre/eliminare la ricompilazione.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57800"/>
            <a:ext cx="10972800" cy="651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dirty="0" err="1">
                <a:solidFill>
                  <a:srgbClr val="8B949E"/>
                </a:solidFill>
                <a:latin typeface="Segoe UI"/>
              </a:rPr>
              <a:t>Vincolo</a:t>
            </a:r>
            <a:r>
              <a:rPr lang="it-IT" sz="1300" b="1">
                <a:solidFill>
                  <a:srgbClr val="8B949E"/>
                </a:solidFill>
                <a:latin typeface="Segoe UI"/>
              </a:rPr>
              <a:t> </a:t>
            </a:r>
            <a:r>
              <a:rPr sz="1300" b="1">
                <a:solidFill>
                  <a:srgbClr val="8B949E"/>
                </a:solidFill>
                <a:latin typeface="Segoe UI"/>
              </a:rPr>
              <a:t>(</a:t>
            </a:r>
            <a:r>
              <a:rPr sz="1300" b="1" dirty="0" err="1">
                <a:solidFill>
                  <a:srgbClr val="8B949E"/>
                </a:solidFill>
                <a:latin typeface="Segoe UI"/>
              </a:rPr>
              <a:t>modelli</a:t>
            </a:r>
            <a:r>
              <a:rPr sz="1300" b="1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1" dirty="0" err="1">
                <a:solidFill>
                  <a:srgbClr val="8B949E"/>
                </a:solidFill>
                <a:latin typeface="Segoe UI"/>
              </a:rPr>
              <a:t>noti</a:t>
            </a:r>
            <a:r>
              <a:rPr sz="1300" b="1" dirty="0">
                <a:solidFill>
                  <a:srgbClr val="8B949E"/>
                </a:solidFill>
                <a:latin typeface="Segoe UI"/>
              </a:rPr>
              <a:t> a priori):</a:t>
            </a:r>
          </a:p>
          <a:p>
            <a:pPr algn="l">
              <a:spcAft>
                <a:spcPts val="400"/>
              </a:spcAft>
            </a:pPr>
            <a:r>
              <a:rPr sz="1300" b="0" dirty="0">
                <a:solidFill>
                  <a:srgbClr val="E6EDF3"/>
                </a:solidFill>
                <a:latin typeface="Segoe UI"/>
              </a:rPr>
              <a:t>a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parità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di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tipo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di feature la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dimensione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è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fissa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nella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stessa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rete — è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una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proprietà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della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TOPOLOGIA (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condivisa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da tutti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i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nodi), non un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parametro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del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modello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. I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modelli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scelgono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solo QUALI tipi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usare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La nuova gestione dell'IV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Catalogo di tipi + descrittore per-modello + topology_config di rete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611880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65960"/>
            <a:ext cx="342900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2066544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Catalogo dei tipi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14600"/>
            <a:ext cx="324612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link_state</a:t>
            </a:r>
            <a:r>
              <a:rPr sz="1100" b="0">
                <a:solidFill>
                  <a:srgbClr val="8B949E"/>
                </a:solidFill>
                <a:latin typeface="Segoe UI"/>
              </a:rPr>
              <a:t>  dense da mappa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queue_occupancy</a:t>
            </a:r>
            <a:r>
              <a:rPr sz="1100" b="0">
                <a:solidFill>
                  <a:srgbClr val="8B949E"/>
                </a:solidFill>
                <a:latin typeface="Segoe UI"/>
              </a:rPr>
              <a:t>  dense da mappa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>
                <a:solidFill>
                  <a:srgbClr val="8B949E"/>
                </a:solidFill>
                <a:latin typeface="Segoe UI"/>
              </a:rPr>
              <a:t>  scalare dal pacchetto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ingress_iface</a:t>
            </a:r>
            <a:r>
              <a:rPr sz="1100" b="0">
                <a:solidFill>
                  <a:srgbClr val="8B949E"/>
                </a:solidFill>
                <a:latin typeface="Segoe UI"/>
              </a:rPr>
              <a:t>  one-hot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node</a:t>
            </a:r>
            <a:r>
              <a:rPr sz="1100" b="0">
                <a:solidFill>
                  <a:srgbClr val="8B949E"/>
                </a:solidFill>
                <a:latin typeface="Segoe UI"/>
              </a:rPr>
              <a:t>  one-hot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3 kind → scalar · dense_vector · onehot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611880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80559" y="1965960"/>
            <a:ext cx="342900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2066544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Descrittore per-modello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542032"/>
            <a:ext cx="3246120" cy="18569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dirty="0">
                <a:solidFill>
                  <a:srgbClr val="8B949E"/>
                </a:solidFill>
                <a:latin typeface="Segoe UI"/>
              </a:rPr>
              <a:t>Lista </a:t>
            </a:r>
            <a:r>
              <a:rPr sz="1150" b="0" dirty="0" err="1">
                <a:solidFill>
                  <a:srgbClr val="8B949E"/>
                </a:solidFill>
                <a:latin typeface="Segoe UI"/>
              </a:rPr>
              <a:t>ordinata</a:t>
            </a:r>
            <a:r>
              <a:rPr sz="1150" b="0" dirty="0">
                <a:solidFill>
                  <a:srgbClr val="8B949E"/>
                </a:solidFill>
                <a:latin typeface="Segoe UI"/>
              </a:rPr>
              <a:t> di tipi:</a:t>
            </a:r>
          </a:p>
          <a:p>
            <a:pPr algn="l">
              <a:spcAft>
                <a:spcPts val="500"/>
              </a:spcAft>
            </a:pPr>
            <a:r>
              <a:rPr sz="1150" b="1" dirty="0">
                <a:solidFill>
                  <a:srgbClr val="E6EDF3"/>
                </a:solidFill>
                <a:latin typeface="Consolas"/>
              </a:rPr>
              <a:t>features = [</a:t>
            </a:r>
          </a:p>
          <a:p>
            <a:pPr algn="l">
              <a:spcAft>
                <a:spcPts val="500"/>
              </a:spcAft>
            </a:pPr>
            <a:r>
              <a:rPr sz="1150" b="0" dirty="0">
                <a:solidFill>
                  <a:srgbClr val="58A6FF"/>
                </a:solidFill>
                <a:latin typeface="Consolas"/>
              </a:rPr>
              <a:t>  </a:t>
            </a:r>
            <a:r>
              <a:rPr sz="1150" b="0" dirty="0" err="1">
                <a:solidFill>
                  <a:srgbClr val="58A6FF"/>
                </a:solidFill>
                <a:latin typeface="Consolas"/>
              </a:rPr>
              <a:t>link_state</a:t>
            </a:r>
            <a:r>
              <a:rPr sz="1150" b="0" dirty="0">
                <a:solidFill>
                  <a:srgbClr val="58A6FF"/>
                </a:solidFill>
                <a:latin typeface="Consolas"/>
              </a:rPr>
              <a:t>,</a:t>
            </a:r>
          </a:p>
          <a:p>
            <a:pPr algn="l">
              <a:spcAft>
                <a:spcPts val="500"/>
              </a:spcAft>
            </a:pPr>
            <a:r>
              <a:rPr sz="1150" b="0" dirty="0">
                <a:solidFill>
                  <a:srgbClr val="58A6FF"/>
                </a:solidFill>
                <a:latin typeface="Consolas"/>
              </a:rPr>
              <a:t>  </a:t>
            </a:r>
            <a:r>
              <a:rPr sz="1150" b="0" dirty="0" err="1">
                <a:solidFill>
                  <a:srgbClr val="58A6FF"/>
                </a:solidFill>
                <a:latin typeface="Consolas"/>
              </a:rPr>
              <a:t>queue_occupancy</a:t>
            </a:r>
            <a:r>
              <a:rPr sz="1150" b="0" dirty="0">
                <a:solidFill>
                  <a:srgbClr val="58A6FF"/>
                </a:solidFill>
                <a:latin typeface="Consolas"/>
              </a:rPr>
              <a:t>,</a:t>
            </a:r>
          </a:p>
          <a:p>
            <a:pPr algn="l">
              <a:spcAft>
                <a:spcPts val="500"/>
              </a:spcAft>
            </a:pPr>
            <a:r>
              <a:rPr sz="1150" b="0" dirty="0">
                <a:solidFill>
                  <a:srgbClr val="58A6FF"/>
                </a:solidFill>
                <a:latin typeface="Consolas"/>
              </a:rPr>
              <a:t>  </a:t>
            </a:r>
            <a:r>
              <a:rPr sz="1150" b="0" dirty="0" err="1">
                <a:solidFill>
                  <a:srgbClr val="58A6FF"/>
                </a:solidFill>
                <a:latin typeface="Consolas"/>
              </a:rPr>
              <a:t>ttl</a:t>
            </a:r>
            <a:r>
              <a:rPr sz="1150" b="0" dirty="0">
                <a:solidFill>
                  <a:srgbClr val="58A6FF"/>
                </a:solidFill>
                <a:latin typeface="Consolas"/>
              </a:rPr>
              <a:t> </a:t>
            </a:r>
            <a:r>
              <a:rPr lang="it-IT" sz="1150" b="0" dirty="0">
                <a:solidFill>
                  <a:schemeClr val="bg1"/>
                </a:solidFill>
                <a:latin typeface="Consolas"/>
              </a:rPr>
              <a:t>]</a:t>
            </a:r>
          </a:p>
          <a:p>
            <a:pPr algn="l">
              <a:spcAft>
                <a:spcPts val="500"/>
              </a:spcAft>
            </a:pPr>
            <a:r>
              <a:rPr lang="it-IT" sz="1150" b="0" dirty="0" err="1">
                <a:solidFill>
                  <a:schemeClr val="bg1"/>
                </a:solidFill>
                <a:latin typeface="Consolas"/>
              </a:rPr>
              <a:t>hidden_dims</a:t>
            </a:r>
            <a:r>
              <a:rPr lang="it-IT" sz="1150" b="0" dirty="0">
                <a:solidFill>
                  <a:schemeClr val="bg1"/>
                </a:solidFill>
                <a:latin typeface="Consolas"/>
              </a:rPr>
              <a:t>: [4, 4]</a:t>
            </a:r>
            <a:endParaRPr sz="1150" b="0" dirty="0">
              <a:solidFill>
                <a:schemeClr val="bg1"/>
              </a:solidFill>
              <a:latin typeface="Consolas"/>
            </a:endParaRPr>
          </a:p>
          <a:p>
            <a:pPr algn="l">
              <a:spcAft>
                <a:spcPts val="500"/>
              </a:spcAft>
            </a:pPr>
            <a:r>
              <a:rPr sz="1150" b="1" dirty="0" err="1">
                <a:solidFill>
                  <a:srgbClr val="E6EDF3"/>
                </a:solidFill>
                <a:latin typeface="Consolas"/>
              </a:rPr>
              <a:t>n_out</a:t>
            </a:r>
            <a:r>
              <a:rPr sz="1150" b="1" dirty="0">
                <a:solidFill>
                  <a:srgbClr val="E6EDF3"/>
                </a:solidFill>
                <a:latin typeface="Consolas"/>
              </a:rPr>
              <a:t> = 7</a:t>
            </a:r>
          </a:p>
          <a:p>
            <a:pPr algn="l">
              <a:spcAft>
                <a:spcPts val="500"/>
              </a:spcAft>
            </a:pPr>
            <a:r>
              <a:rPr lang="it-IT" sz="1100" b="0" dirty="0">
                <a:solidFill>
                  <a:srgbClr val="F5A623"/>
                </a:solidFill>
                <a:latin typeface="Segoe UI"/>
              </a:rPr>
              <a:t>// </a:t>
            </a:r>
            <a:r>
              <a:rPr sz="1100" b="0" dirty="0">
                <a:solidFill>
                  <a:srgbClr val="F5A623"/>
                </a:solidFill>
                <a:latin typeface="Segoe UI"/>
              </a:rPr>
              <a:t>N_IN = Σ size </a:t>
            </a:r>
            <a:r>
              <a:rPr sz="1100" b="0" dirty="0" err="1">
                <a:solidFill>
                  <a:srgbClr val="F5A623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F5A623"/>
                </a:solidFill>
                <a:latin typeface="Segoe UI"/>
              </a:rPr>
              <a:t> tipi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920240"/>
            <a:ext cx="3410712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0" y="1965960"/>
            <a:ext cx="322783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9328" y="2066544"/>
            <a:ext cx="30449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3FD0C8"/>
                </a:solidFill>
                <a:latin typeface="Segoe UI"/>
              </a:rPr>
              <a:t>topology_config di rete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542032"/>
            <a:ext cx="30632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8B949E"/>
                </a:solidFill>
                <a:latin typeface="Segoe UI"/>
              </a:rPr>
              <a:t>La dimensione = proprietà della topologia: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n_interfaces = 6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n_nodes = 52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n_queues = 4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File separato, condiviso da tutti i nodi. Le key topologiche nel model_meta vengono ignorate.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56048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8B949E"/>
                </a:solidFill>
                <a:latin typeface="Segoe UI"/>
              </a:rPr>
              <a:t>Stessa rete, modelli diversi:</a:t>
            </a:r>
            <a:r>
              <a:rPr sz="1250" b="0">
                <a:solidFill>
                  <a:srgbClr val="E6EDF3"/>
                </a:solidFill>
                <a:latin typeface="Segoe UI"/>
              </a:rPr>
              <a:t>  cambia solo il SET di tipi, non la loro dimensione. Il generatore emette il codice che costruisce quel preciso IV, feature per feature.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58A6FF"/>
                </a:solidFill>
                <a:latin typeface="Segoe UI"/>
              </a:rPr>
              <a:t>Il modello non sa più dove gira:</a:t>
            </a:r>
            <a:r>
              <a:rPr sz="1250" b="0">
                <a:solidFill>
                  <a:srgbClr val="E6EDF3"/>
                </a:solidFill>
                <a:latin typeface="Segoe UI"/>
              </a:rPr>
              <a:t>  dichiara solo quali tipi usa; le dimensioni le dà la topologia. Separazione di responsabilità.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3FB950"/>
                </a:solidFill>
                <a:latin typeface="Segoe UI"/>
              </a:rPr>
              <a:t>Retrocompatibilità:</a:t>
            </a:r>
            <a:r>
              <a:rPr sz="1250" b="0">
                <a:solidFill>
                  <a:srgbClr val="E6EDF3"/>
                </a:solidFill>
                <a:latin typeface="Segoe UI"/>
              </a:rPr>
              <a:t>  senza descrittore → default [link_state, iface, ttl, node] = il classico 65-4-4-7, byte-identico.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Coerenza checkpoint ↔ topologia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Un modello addestrato per un'altra rete non parte più in silenzio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7830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673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dirty="0">
                <a:solidFill>
                  <a:srgbClr val="F85149"/>
                </a:solidFill>
                <a:latin typeface="Segoe UI"/>
              </a:rPr>
              <a:t>Prima: </a:t>
            </a:r>
            <a:r>
              <a:rPr sz="1350" b="1" dirty="0" err="1">
                <a:solidFill>
                  <a:srgbClr val="F85149"/>
                </a:solidFill>
                <a:latin typeface="Segoe UI"/>
              </a:rPr>
              <a:t>disallineamento</a:t>
            </a:r>
            <a:r>
              <a:rPr sz="1350" b="1" dirty="0">
                <a:solidFill>
                  <a:srgbClr val="F85149"/>
                </a:solidFill>
                <a:latin typeface="Segoe UI"/>
              </a:rPr>
              <a:t> </a:t>
            </a:r>
            <a:r>
              <a:rPr sz="1350" b="1" dirty="0" err="1">
                <a:solidFill>
                  <a:srgbClr val="F85149"/>
                </a:solidFill>
                <a:latin typeface="Segoe UI"/>
              </a:rPr>
              <a:t>silenzioso</a:t>
            </a:r>
            <a:endParaRPr sz="1350" b="1" dirty="0">
              <a:solidFill>
                <a:srgbClr val="F85149"/>
              </a:solidFill>
              <a:latin typeface="Segoe UI"/>
            </a:endParaRPr>
          </a:p>
          <a:p>
            <a:pPr algn="l"/>
            <a:r>
              <a:rPr sz="1200" b="0" dirty="0" err="1">
                <a:solidFill>
                  <a:srgbClr val="E6EDF3"/>
                </a:solidFill>
                <a:latin typeface="Segoe UI"/>
              </a:rPr>
              <a:t>Modello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addestrato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con N_IN=11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caricato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su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un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nodo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la cui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topologia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produce N_IN=13 →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programma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C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sbagliato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,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caricato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senza un solo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errore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.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Inferenza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errata.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7830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673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Dopo: check bloccante a monte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verify_shape_vs_checkpoint() legge fc1.weight.shape[1] dal checkpoint e lo confronta con l'N_IN della topologia. Diversi → ValueError, prima di generare 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13632"/>
            <a:ext cx="10972800" cy="118872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4041648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n_in_checkpoint = state_dict['fc1.weight'].shape[1]      # ciò per cui è stato addestrato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FD0C8"/>
                </a:solidFill>
                <a:latin typeface="Consolas"/>
              </a:rPr>
              <a:t>n_in_topo       = Σ feature_size(t, topology_config)     # ciò che il nodo costruisce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5A623"/>
                </a:solidFill>
                <a:latin typeface="Consolas"/>
              </a:rPr>
              <a:t>if n_in_checkpoint != n_in_topo:  raise ValueError(...)  # STOP prima della generazione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4924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Perché conta: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un errore netto ed esplicito è meglio di un modello che gira su un IV incompatibile e sceglie next-hop sbagliati senza accorgersene. Il check è comune a BCC e AOT.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flusso del pacchetto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Dall'arrivo su XDP all'azione, e come si costruisce l'IV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810512" cy="96012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162763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166420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  <a:latin typeface="Consolas"/>
              </a:rPr>
              <a:t>XDP ingress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parse eth/ip/udp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303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1" y="1874519"/>
            <a:ext cx="1810512" cy="9601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87751" y="1920239"/>
            <a:ext cx="162763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69463" y="1929384"/>
            <a:ext cx="166420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E6EDF3"/>
                </a:solidFill>
                <a:latin typeface="Consolas"/>
              </a:rPr>
              <a:t>IPA :9999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model_id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8536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43983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25696" y="1929384"/>
            <a:ext cx="166420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tail call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model_&lt;id&gt;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5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00215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81927" y="1929384"/>
            <a:ext cx="166420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build IV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descrittore locale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7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156447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38159" y="1929384"/>
            <a:ext cx="166420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fc1→fc2→out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21239" y="1874519"/>
            <a:ext cx="1810512" cy="9601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012679" y="1920239"/>
            <a:ext cx="162763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94391" y="1929384"/>
            <a:ext cx="166420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154680"/>
            <a:ext cx="10972800" cy="306324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8680" y="32918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3FB950"/>
                </a:solidFill>
                <a:latin typeface="Consolas"/>
              </a:rPr>
              <a:t>generate_ebpf_hardcoded()  —  IV costruito localmente, feature per feature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3703320"/>
            <a:ext cx="1060704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for feat in features:            # descrittore ordinato del modello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    pre, term = _gen_feature(feat, offset, ...)   # per KIND del tipo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scalar        -&gt; _ttl = ip-&gt;ttl                     (dal pacchetto)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dense_vector  -&gt; ls0..ls5 = link_state.lookup(i)    (da mappa BPF)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onehot        -&gt; switch(iface|node){...}            (1 peso/neurone)</a:t>
            </a:r>
          </a:p>
          <a:p>
            <a:pPr algn="l">
              <a:spcAft>
                <a:spcPts val="300"/>
              </a:spcAft>
            </a:pPr>
            <a:endParaRPr sz="1200" b="0">
              <a:solidFill>
                <a:srgbClr val="58A6FF"/>
              </a:solidFill>
              <a:latin typeface="Consolas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for j in range(n_h1):            # neurone nascosto j, pesi = literal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    h1_j = RELU( Σ_feat term(j) + bias_j 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# fc2 -&gt; out -&gt; argmax -&gt; mac_table[best_cls] -&gt; rewrite MAC -&gt; redirect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Un esempio concreto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Arriva un pacchetto per il modello 1 — come nasce l'IV per l'inferenza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Il pacchetto sul cavo  —  header IPA dentro UDP:9999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6858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" y="2066543"/>
            <a:ext cx="6126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eth</a:t>
            </a:r>
          </a:p>
          <a:p>
            <a:pPr algn="ctr"/>
            <a:r>
              <a:rPr sz="1250" b="1">
                <a:solidFill>
                  <a:srgbClr val="8B949E"/>
                </a:solidFill>
                <a:latin typeface="Consolas"/>
              </a:rPr>
              <a:t>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0744" y="2011680"/>
            <a:ext cx="6858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7320" y="2066543"/>
            <a:ext cx="6126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ip</a:t>
            </a:r>
          </a:p>
          <a:p>
            <a:pPr algn="ctr"/>
            <a:r>
              <a:rPr sz="1250" b="1">
                <a:solidFill>
                  <a:srgbClr val="8B949E"/>
                </a:solidFill>
                <a:latin typeface="Consolas"/>
              </a:rPr>
              <a:t>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2011680"/>
            <a:ext cx="123444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57984" y="2066543"/>
            <a:ext cx="116128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udp</a:t>
            </a:r>
          </a:p>
          <a:p>
            <a:pPr algn="ctr"/>
            <a:r>
              <a:rPr sz="1250" b="1">
                <a:solidFill>
                  <a:srgbClr val="58A6FF"/>
                </a:solidFill>
                <a:latin typeface="Consolas"/>
              </a:rPr>
              <a:t>dport 9999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2011680"/>
            <a:ext cx="118872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47288" y="2066543"/>
            <a:ext cx="111556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model_id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4296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90872" y="2066543"/>
            <a:ext cx="8412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scale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32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0136" y="2066543"/>
            <a:ext cx="8412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in_size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066543"/>
            <a:ext cx="8412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out_size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62088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98664" y="2066543"/>
            <a:ext cx="8412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n_feat</a:t>
            </a:r>
          </a:p>
          <a:p>
            <a:pPr algn="ctr"/>
            <a:r>
              <a:rPr sz="1250" b="1">
                <a:solidFill>
                  <a:srgbClr val="3FB950"/>
                </a:solidFill>
                <a:latin typeface="Consola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9260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Segoe UI"/>
              </a:rPr>
              <a:t>Il pacchetto DICE quali feature usa: </a:t>
            </a:r>
            <a:r>
              <a:rPr sz="1200" b="0">
                <a:solidFill>
                  <a:srgbClr val="8B949E"/>
                </a:solidFill>
                <a:latin typeface="Segoe UI"/>
              </a:rPr>
              <a:t>n_feat = 3 coppie (tipo, size). Il tipo dice DA DOVE leggere; la size viene dal nodo.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31519" y="3383280"/>
            <a:ext cx="3383279" cy="54864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59" y="3474720"/>
            <a:ext cx="32004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link_state · 6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mappa link_state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IV[0..5]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dense da mappa BPF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7" y="3383280"/>
            <a:ext cx="3383279" cy="54864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98848" y="3474720"/>
            <a:ext cx="32004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queue_occupancy · 4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mappa queue_state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IV[6..9]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dense da mappa BPF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91855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83295" y="3383280"/>
            <a:ext cx="3383279" cy="54864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174735" y="3474720"/>
            <a:ext cx="32004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ttl · 1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ip-&gt;ttl (pacchetto)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IV[10]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scalare dal pacchetto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864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L'IV[11] costruito localmente, poi l'inferenza: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138928"/>
            <a:ext cx="1874519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6656" y="5138928"/>
            <a:ext cx="1801367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  <a:latin typeface="Consolas"/>
              </a:rPr>
              <a:t>ls0 … ls5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60320" y="5138928"/>
            <a:ext cx="150876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96896" y="5138928"/>
            <a:ext cx="1435607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3FD0C8"/>
                </a:solidFill>
                <a:latin typeface="Consolas"/>
              </a:rPr>
              <a:t>qs0 … qs3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0" y="5138928"/>
            <a:ext cx="77724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51376" y="5138928"/>
            <a:ext cx="70408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5A623"/>
                </a:solidFill>
                <a:latin typeface="Consolas"/>
              </a:rPr>
              <a:t>ttl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3752" y="5193792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76088" y="5138928"/>
            <a:ext cx="2331720" cy="7315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312664" y="5138928"/>
            <a:ext cx="22585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E6EDF3"/>
                </a:solidFill>
                <a:latin typeface="Consolas"/>
              </a:rPr>
              <a:t>MLP int8 11-4-4-7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5193792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37575" y="5138928"/>
            <a:ext cx="2606040" cy="7315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74151" y="5138928"/>
            <a:ext cx="253288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3FD0C8"/>
                </a:solidFill>
                <a:latin typeface="Consolas"/>
              </a:rPr>
              <a:t>argmax → redirect / drop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Ottimizzazione hot-path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Letture della mappa consolidate: da N lookup a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5544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4447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F85149"/>
                </a:solidFill>
                <a:latin typeface="Segoe UI"/>
              </a:rPr>
              <a:t>Prima: un lookup per slot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Ogni feature dense leggeva la mappa slot per slot: link_state = 6 bpf_map_lookup_elem, queue_occupancy = 4 → fino a 10 helper call/pacchetto.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5544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4447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Dopo: un lookup per feature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La mappa ora è UNA entry struct-valued  {u32 v[N]}  a key 0: un solo lookup + N load diretti dal valore. 10 → 2 helper call.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03320"/>
            <a:ext cx="10972800" cy="105156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822191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FB950"/>
                </a:solidFill>
                <a:latin typeface="Consolas"/>
              </a:rPr>
              <a:t>struct ls_vec { __u32 v[6]; };  BPF_ARRAY(link_state, struct ls_vec, 1);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int z=0; struct ls_vec *p = link_state.lookup(&amp;z);  // 1 lookup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if (p) { ls0=p-&gt;v[0]; ls1=p-&gt;v[1]; ... }             // N load, 0 helper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Applicata a tutte e 3 le pipeline</a:t>
            </a:r>
            <a:r>
              <a:rPr sz="1300" b="0">
                <a:solidFill>
                  <a:srgbClr val="E6EDF3"/>
                </a:solidFill>
                <a:latin typeface="Segoe UI"/>
              </a:rPr>
              <a:t>  (hardcoded · template · modular): solo COME si legge la mappa, l'architettura dispatcher + tail-call resta identica.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Verifica: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suite kernel PASS su tutte e 3; inferenza invariata; hardcoded scende di 5 lookup/pacchetto.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F5A623"/>
                </a:solidFill>
                <a:latin typeface="Georgia"/>
              </a:rPr>
              <a:t>0</a:t>
            </a:r>
            <a:r>
              <a:rPr lang="it-IT" sz="4000" b="1" dirty="0">
                <a:solidFill>
                  <a:srgbClr val="F5A623"/>
                </a:solidFill>
                <a:latin typeface="Georgia"/>
              </a:rPr>
              <a:t>7</a:t>
            </a:r>
            <a:endParaRPr sz="4000" b="1" dirty="0">
              <a:solidFill>
                <a:srgbClr val="F5A623"/>
              </a:solidFill>
              <a:latin typeface="Georg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AOT-literal: come funziona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Stessa topologia del BCC (dispatcher+tail-call+doppio parse) — numeri reali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4924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82880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Segoe UI"/>
              </a:rPr>
              <a:t>OFFLINE  ·  build box, 1× per modello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31519" y="2258568"/>
            <a:ext cx="242316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1" y="2267712"/>
            <a:ext cx="2459736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Consolas"/>
              </a:rPr>
              <a:t>gen_full_c.py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pesi literal → .bpf.c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2432304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39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79" y="2258568"/>
            <a:ext cx="242316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64991" y="2267712"/>
            <a:ext cx="2459736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Consolas"/>
              </a:rPr>
              <a:t>clang -O2 -target bpf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→ model.o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2" y="1828800"/>
            <a:ext cx="534924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Segoe UI"/>
              </a:rPr>
              <a:t>RUNTIME  ·  nodo datapath, per deploy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91072" y="2258568"/>
            <a:ext cx="242316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72784" y="2267712"/>
            <a:ext cx="2459736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  <a:latin typeface="Consolas"/>
              </a:rPr>
              <a:t>bpf_object__open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+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384" y="2432304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51392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942832" y="2258568"/>
            <a:ext cx="242316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24544" y="2267712"/>
            <a:ext cx="2459736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3FD0C8"/>
                </a:solidFill>
                <a:latin typeface="Consolas"/>
              </a:rPr>
              <a:t>BPF_PROG_TEST_RUN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perf full-path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429000"/>
            <a:ext cx="534924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31519" y="3474720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7" y="3575304"/>
            <a:ext cx="49834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Costo di deploy (misurato)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069080"/>
            <a:ext cx="48920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build offline (clang→.o)</a:t>
            </a:r>
            <a:r>
              <a:rPr sz="1250" b="1">
                <a:solidFill>
                  <a:srgbClr val="F5A623"/>
                </a:solidFill>
                <a:latin typeface="Consolas"/>
              </a:rPr>
              <a:t>   555 ms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484F58"/>
                </a:solidFill>
                <a:latin typeface="Segoe UI"/>
              </a:rPr>
              <a:t>   1× per modello, sulla build box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open_file</a:t>
            </a:r>
            <a:r>
              <a:rPr sz="1250" b="1">
                <a:solidFill>
                  <a:srgbClr val="3FB950"/>
                </a:solidFill>
                <a:latin typeface="Consolas"/>
              </a:rPr>
              <a:t>               0.58 ms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load (verify+JIT)</a:t>
            </a:r>
            <a:r>
              <a:rPr sz="1250" b="1">
                <a:solidFill>
                  <a:srgbClr val="3FB950"/>
                </a:solidFill>
                <a:latin typeface="Consolas"/>
              </a:rPr>
              <a:t>       4.89 ms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deploy runtime totale</a:t>
            </a:r>
            <a:r>
              <a:rPr sz="1300" b="1">
                <a:solidFill>
                  <a:srgbClr val="3FB950"/>
                </a:solidFill>
                <a:latin typeface="Consolas"/>
              </a:rPr>
              <a:t>    5.47 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3429000"/>
            <a:ext cx="534924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291072" y="3474720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3575304"/>
            <a:ext cx="49834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Performance — arch-fedele vs BCC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041648"/>
            <a:ext cx="48920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8B949E"/>
                </a:solidFill>
                <a:latin typeface="Consolas"/>
              </a:rPr>
              <a:t>            AOT       BCC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6EDF3"/>
                </a:solidFill>
                <a:latin typeface="Consolas"/>
              </a:rPr>
              <a:t>insn      943      980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6EDF3"/>
                </a:solidFill>
                <a:latin typeface="Consolas"/>
              </a:rPr>
              <a:t>latenza   69 ns    66 ns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6EDF3"/>
                </a:solidFill>
                <a:latin typeface="Consolas"/>
              </a:rPr>
              <a:t>thrpt     14.5     15.2 Mpps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= identici (rumore di misura)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Stessa topologia del BCC (943 = disp 28 + model 915; test-run sul dispatcher). </a:t>
            </a:r>
            <a:r>
              <a:rPr sz="1200" b="0">
                <a:solidFill>
                  <a:srgbClr val="E6EDF3"/>
                </a:solidFill>
                <a:latin typeface="Segoe UI"/>
              </a:rPr>
              <a:t>AOT NON è più veloce del BCC: preserva la perf literal-max — il valore è clang fuori dal nodo e dallo swap.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F5A623"/>
                </a:solidFill>
                <a:latin typeface="Georgia"/>
              </a:rPr>
              <a:t>0</a:t>
            </a:r>
            <a:r>
              <a:rPr lang="it-IT" sz="4000" b="1" dirty="0">
                <a:solidFill>
                  <a:srgbClr val="F5A623"/>
                </a:solidFill>
                <a:latin typeface="Georgia"/>
              </a:rPr>
              <a:t>8</a:t>
            </a:r>
            <a:endParaRPr sz="4000" b="1" dirty="0">
              <a:solidFill>
                <a:srgbClr val="F5A623"/>
              </a:solidFill>
              <a:latin typeface="Georg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Abbattere la ricompilazione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Clang non sparisce: esce dal nodo e dallo 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47088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807208" y="1847088"/>
            <a:ext cx="1783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8B949E"/>
                </a:solidFill>
                <a:latin typeface="Segoe UI"/>
              </a:rPr>
              <a:t># clang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08576" y="184708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8B949E"/>
                </a:solidFill>
                <a:latin typeface="Segoe UI"/>
              </a:rPr>
              <a:t>dove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1504" y="184708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8B949E"/>
                </a:solidFill>
                <a:latin typeface="Segoe UI"/>
              </a:rPr>
              <a:t>quando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2952" y="1847088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8B949E"/>
                </a:solidFill>
                <a:latin typeface="Segoe UI"/>
              </a:rPr>
              <a:t>deploy sul nodo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12848"/>
            <a:ext cx="1092708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2212848"/>
            <a:ext cx="198424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85149"/>
                </a:solidFill>
                <a:latin typeface="Consolas"/>
              </a:rPr>
              <a:t>literal + BCC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3512" y="2212848"/>
            <a:ext cx="161848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Consolas"/>
              </a:rPr>
              <a:t>N (1/modello)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12848"/>
            <a:ext cx="267004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85149"/>
                </a:solidFill>
                <a:latin typeface="Consolas"/>
              </a:rPr>
              <a:t>sul nodo datapath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2212848"/>
            <a:ext cx="22585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85149"/>
                </a:solidFill>
                <a:latin typeface="Consolas"/>
              </a:rPr>
              <a:t>al 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9256" y="2212848"/>
            <a:ext cx="15727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85149"/>
                </a:solidFill>
                <a:latin typeface="Consolas"/>
              </a:rPr>
              <a:t>1660 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17520"/>
            <a:ext cx="10927080" cy="7315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3017520"/>
            <a:ext cx="198424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3FB950"/>
                </a:solidFill>
                <a:latin typeface="Consolas"/>
              </a:rPr>
              <a:t>AOT-literal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3512" y="3017520"/>
            <a:ext cx="161848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Consolas"/>
              </a:rPr>
              <a:t>N (1/modello)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017520"/>
            <a:ext cx="267004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FB950"/>
                </a:solidFill>
                <a:latin typeface="Consolas"/>
              </a:rPr>
              <a:t>build box, offline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3017520"/>
            <a:ext cx="22585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FB950"/>
                </a:solidFill>
                <a:latin typeface="Consolas"/>
              </a:rPr>
              <a:t>prima del deploy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9256" y="3017520"/>
            <a:ext cx="15727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3FB950"/>
                </a:solidFill>
                <a:latin typeface="Consolas"/>
              </a:rPr>
              <a:t>5.5 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77639"/>
            <a:ext cx="10972800" cy="77724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" y="4186166"/>
            <a:ext cx="106070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dirty="0" err="1">
                <a:solidFill>
                  <a:srgbClr val="E6EDF3"/>
                </a:solidFill>
                <a:latin typeface="Segoe UI"/>
              </a:rPr>
              <a:t>stesso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numero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di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compilazioni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(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una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per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modello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,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i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pesi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sono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literal). Cambia DOVE e QUANDO: clang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gira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offline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sulla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build box, prima; il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nodo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non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esegue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mai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LLVM.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89204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•  </a:t>
            </a:r>
            <a:r>
              <a:rPr sz="1250" b="0">
                <a:solidFill>
                  <a:srgbClr val="E6EDF3"/>
                </a:solidFill>
                <a:latin typeface="Segoe UI"/>
              </a:rPr>
              <a:t>M nodi, stesso modello: 1 compilazione + M load da ~5 ms, invece di M×1660 ms di clang su ogni nodo.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•  </a:t>
            </a:r>
            <a:r>
              <a:rPr sz="1250" b="0">
                <a:solidFill>
                  <a:srgbClr val="E6EDF3"/>
                </a:solidFill>
                <a:latin typeface="Segoe UI"/>
              </a:rPr>
              <a:t>Swap a caldo: cambiare modello sulla datapath viva costa 5.5 ms, non 1660 — clang fuori dal percorso critico.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•  </a:t>
            </a:r>
            <a:r>
              <a:rPr sz="1250" b="0">
                <a:solidFill>
                  <a:srgbClr val="8B949E"/>
                </a:solidFill>
                <a:latin typeface="Segoe UI"/>
              </a:rPr>
              <a:t>Non guadagni se compili sul nodo stesso al deploy: lì clang lo paghi comunque (1/modello).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confronto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BCC vs AOT-literal — deploy e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990087" y="1874519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deploy modello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34456" y="1874519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perf per-pacchetto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44584" y="1874519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clang runtime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10927080" cy="749808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" y="2514600"/>
            <a:ext cx="214883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F85149"/>
                </a:solidFill>
                <a:latin typeface="Consolas"/>
              </a:rPr>
              <a:t>literal + BCC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514600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85149"/>
                </a:solidFill>
                <a:latin typeface="Consolas"/>
              </a:rPr>
              <a:t>~1660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2514600"/>
            <a:ext cx="31089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E6EDF3"/>
                </a:solidFill>
                <a:latin typeface="Consolas"/>
              </a:rPr>
              <a:t>66 ns · 980 insn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9176" y="2514600"/>
            <a:ext cx="214883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F85149"/>
                </a:solidFill>
                <a:latin typeface="Segoe UI"/>
              </a:rPr>
              <a:t>sì, ogni modello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29000"/>
            <a:ext cx="10927080" cy="749808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3429000"/>
            <a:ext cx="214883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Consolas"/>
              </a:rPr>
              <a:t>AOT-literal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79" y="3429000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3FB950"/>
                </a:solidFill>
                <a:latin typeface="Consolas"/>
              </a:rPr>
              <a:t>5.5 ms (misurato)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9048" y="3429000"/>
            <a:ext cx="31089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3FB950"/>
                </a:solidFill>
                <a:latin typeface="Consolas"/>
              </a:rPr>
              <a:t>69 ns · 943 = BCC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3429000"/>
            <a:ext cx="214883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Segoe UI"/>
              </a:rPr>
              <a:t>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617720"/>
            <a:ext cx="10927080" cy="123444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31519" y="4663440"/>
            <a:ext cx="1074420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1" y="4672583"/>
            <a:ext cx="10780776" cy="11247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Per i modelli noti a priori: AOT-literal.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A parità di architettura (dispatcher + tail-call + doppio parse) la perf è IDENTICA al BCC (69 vs 66 ns/pacchetto, 943 vs 980 insn). La compilazione clang c'è ancora (1/modello) ma gira offline: sul nodo il deploy scende da 1660 ms a 5.5 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B949E"/>
                </a:solidFill>
                <a:latin typeface="Segoe UI"/>
              </a:rPr>
              <a:t>method4 (BCC literal) resta intatto come fallback garantito: l'AOT-literal è un loader alternativo, non un rimpiazzo.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AOT-literal per QUALSIASI descrittore, se accettato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7647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Oggi: solo descrittore default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L'AOT-literal genera C in dialetto libbpf, ma cablato al 65-4-4-7. Il path BCC invece copre già QUALSIASI feature-set sparse.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72784" y="2523239"/>
            <a:ext cx="5202936" cy="5770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dirty="0">
                <a:solidFill>
                  <a:srgbClr val="3FB950"/>
                </a:solidFill>
                <a:latin typeface="Segoe UI"/>
              </a:rPr>
              <a:t>Se </a:t>
            </a:r>
            <a:r>
              <a:rPr sz="1350" b="1" dirty="0" err="1">
                <a:solidFill>
                  <a:srgbClr val="3FB950"/>
                </a:solidFill>
                <a:latin typeface="Segoe UI"/>
              </a:rPr>
              <a:t>accettato</a:t>
            </a:r>
            <a:endParaRPr sz="1350" b="1" dirty="0">
              <a:solidFill>
                <a:srgbClr val="3FB950"/>
              </a:solidFill>
              <a:latin typeface="Segoe UI"/>
            </a:endParaRPr>
          </a:p>
          <a:p>
            <a:pPr algn="l"/>
            <a:r>
              <a:rPr sz="1200" b="0" dirty="0" err="1">
                <a:solidFill>
                  <a:srgbClr val="E6EDF3"/>
                </a:solidFill>
                <a:latin typeface="Segoe UI"/>
              </a:rPr>
              <a:t>Portare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le 3 _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gen_feature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_* (scalar ·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dense_vector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·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onehot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) in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dialetto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libbpf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→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l'AOT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copre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ogni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200" b="0" dirty="0" err="1">
                <a:solidFill>
                  <a:srgbClr val="E6EDF3"/>
                </a:solidFill>
                <a:latin typeface="Segoe UI"/>
              </a:rPr>
              <a:t>modello</a:t>
            </a:r>
            <a:r>
              <a:rPr sz="1200" b="0" dirty="0">
                <a:solidFill>
                  <a:srgbClr val="E6EDF3"/>
                </a:solidFill>
                <a:latin typeface="Segoe UI"/>
              </a:rPr>
              <a:t> sparse.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972800" cy="105156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4096512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8B949E"/>
                </a:solidFill>
                <a:latin typeface="Segoe UI"/>
              </a:rPr>
              <a:t>differenza di dialetto — stessa logica, sintassi diversa: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BCC     :  BPF_ARRAY(m, t, n)     m.lookup(&amp;k)        (funzioni nude)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FB950"/>
                </a:solidFill>
                <a:latin typeface="Consolas"/>
              </a:rPr>
              <a:t>libbpf  :  struct{...} SEC(.maps) bpf_map_lookup_elem(&amp;m,&amp;k)  SEC("xdp")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Nel frattempo:</a:t>
            </a:r>
            <a:r>
              <a:rPr sz="1300" b="0">
                <a:solidFill>
                  <a:srgbClr val="E6EDF3"/>
                </a:solidFill>
                <a:latin typeface="Segoe UI"/>
              </a:rPr>
              <a:t>  il path BCC copre già ogni descrittore ed è il fallback garantito; l'AOT-literal si attiva sui modelli noti a priori con descrittore default.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F5A623"/>
                </a:solidFill>
                <a:latin typeface="Georgia"/>
              </a:rPr>
              <a:t>1</a:t>
            </a:r>
            <a:r>
              <a:rPr lang="it-IT" sz="4000" b="1" dirty="0">
                <a:solidFill>
                  <a:srgbClr val="F5A623"/>
                </a:solidFill>
                <a:latin typeface="Georgia"/>
              </a:rPr>
              <a:t>1</a:t>
            </a:r>
            <a:endParaRPr sz="4000" b="1" dirty="0">
              <a:solidFill>
                <a:srgbClr val="F5A623"/>
              </a:solidFill>
              <a:latin typeface="Georg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In sintesi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Cosa cambia per l'hardcoded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86868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65960"/>
            <a:ext cx="1072591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1975104"/>
            <a:ext cx="10762488" cy="7589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IV flessibile a costo zero:</a:t>
            </a:r>
            <a:r>
              <a:rPr sz="1300" b="0">
                <a:solidFill>
                  <a:srgbClr val="E6EDF3"/>
                </a:solidFill>
                <a:latin typeface="Segoe UI"/>
              </a:rPr>
              <a:t>  descrittore di feature per-modello; il default 65-4-4-7 resta byte-identico (regressione).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1519" y="2971800"/>
            <a:ext cx="333756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1" y="2980944"/>
            <a:ext cx="3374136" cy="1719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58A6FF"/>
                </a:solidFill>
                <a:latin typeface="Segoe UI"/>
              </a:rPr>
              <a:t>hot-path</a:t>
            </a:r>
          </a:p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N → 1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lookup per feature 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425696" y="2971800"/>
            <a:ext cx="333756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07408" y="2980944"/>
            <a:ext cx="3374136" cy="1719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F5A623"/>
                </a:solidFill>
                <a:latin typeface="Segoe UI"/>
              </a:rPr>
              <a:t>deploy modello</a:t>
            </a:r>
          </a:p>
          <a:p>
            <a:pPr algn="l"/>
            <a:r>
              <a:rPr sz="2400" b="1">
                <a:solidFill>
                  <a:srgbClr val="E6EDF3"/>
                </a:solidFill>
                <a:latin typeface="Georgia"/>
              </a:rPr>
              <a:t>1660 → 5.5 ms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via AOT-literal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19871" y="2971800"/>
            <a:ext cx="333756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01583" y="2980944"/>
            <a:ext cx="3374136" cy="1719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3FD0C8"/>
                </a:solidFill>
                <a:latin typeface="Segoe UI"/>
              </a:rPr>
              <a:t>performance</a:t>
            </a:r>
          </a:p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= BCC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69 vs 66 ns (identici)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Nota: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method4 BCC literal resta il fallback garantito. L'AOT-literal è un loader alternativo, attivabile per i modelli noti a priori senza toccare l'architettura dispatcher + tail-call.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1935</Words>
  <Application>Microsoft Office PowerPoint</Application>
  <PresentationFormat>Widescreen</PresentationFormat>
  <Paragraphs>228</Paragraphs>
  <Slides>12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8" baseType="lpstr">
      <vt:lpstr>Arial</vt:lpstr>
      <vt:lpstr>Calibri</vt:lpstr>
      <vt:lpstr>Consolas</vt:lpstr>
      <vt:lpstr>Georgia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13</cp:revision>
  <dcterms:created xsi:type="dcterms:W3CDTF">2013-01-27T09:14:16Z</dcterms:created>
  <dcterms:modified xsi:type="dcterms:W3CDTF">2026-07-20T07:51:26Z</dcterms:modified>
  <cp:category/>
</cp:coreProperties>
</file>