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84" y="1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Hexagon 2"/>
          <p:cNvSpPr/>
          <p:nvPr/>
        </p:nvSpPr>
        <p:spPr>
          <a:xfrm>
            <a:off x="10698480" y="457200"/>
            <a:ext cx="1051560" cy="941832"/>
          </a:xfrm>
          <a:prstGeom prst="hexagon">
            <a:avLst/>
          </a:prstGeom>
          <a:noFill/>
          <a:ln w="1905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Hexagon 3"/>
          <p:cNvSpPr/>
          <p:nvPr/>
        </p:nvSpPr>
        <p:spPr>
          <a:xfrm>
            <a:off x="11292840" y="1051560"/>
            <a:ext cx="1051560" cy="941832"/>
          </a:xfrm>
          <a:prstGeom prst="hexagon">
            <a:avLst/>
          </a:prstGeom>
          <a:noFill/>
          <a:ln w="19050">
            <a:solidFill>
              <a:srgbClr val="484F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Hexagon 4"/>
          <p:cNvSpPr/>
          <p:nvPr/>
        </p:nvSpPr>
        <p:spPr>
          <a:xfrm>
            <a:off x="10104120" y="1645920"/>
            <a:ext cx="1051560" cy="941832"/>
          </a:xfrm>
          <a:prstGeom prst="hexagon">
            <a:avLst/>
          </a:prstGeom>
          <a:noFill/>
          <a:ln w="19050">
            <a:solidFill>
              <a:srgbClr val="484F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85800" y="1965960"/>
            <a:ext cx="822960" cy="82296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965960"/>
            <a:ext cx="82296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000" b="1">
                <a:solidFill>
                  <a:srgbClr val="0D1117"/>
                </a:solidFill>
                <a:latin typeface="Segoe UI"/>
              </a:rPr>
              <a:t>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80360"/>
            <a:ext cx="105156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000" b="1">
                <a:solidFill>
                  <a:srgbClr val="E6EDF3"/>
                </a:solidFill>
                <a:latin typeface="Georgia"/>
              </a:rPr>
              <a:t>Hardcoded flessibile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06908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>
                <a:solidFill>
                  <a:srgbClr val="F5A623"/>
                </a:solidFill>
                <a:latin typeface="Consolas"/>
              </a:rPr>
              <a:t>Input vector generico + costo di ricompilazione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754880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8B949E"/>
                </a:solidFill>
                <a:latin typeface="Segoe UI"/>
              </a:rPr>
              <a:t>Pipeline 1: dallo scenario FRR cablato a un descrittore di feature per-modello, senza perdere prestazioni — e come abbattere la ricompilazione.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035040"/>
            <a:ext cx="11338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3FB950"/>
                </a:solidFill>
                <a:latin typeface="Consolas"/>
              </a:rPr>
              <a:t>P1 hardcoded</a:t>
            </a:r>
            <a:r>
              <a:rPr sz="1300" b="1">
                <a:solidFill>
                  <a:srgbClr val="484F58"/>
                </a:solidFill>
                <a:latin typeface="Consolas"/>
              </a:rPr>
              <a:t>     ·     IV descriptor  ·  vector-map 1 lookup  ·  AOT-literal  ·  BPF_PROG_TEST_RUN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972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>
                <a:solidFill>
                  <a:srgbClr val="F5A623"/>
                </a:solidFill>
                <a:latin typeface="Georgia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36576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E6EDF3"/>
                </a:solidFill>
                <a:latin typeface="Georgia"/>
              </a:rPr>
              <a:t>Il problema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27632" y="1024128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>
                <a:solidFill>
                  <a:srgbClr val="8B949E"/>
                </a:solidFill>
                <a:latin typeface="Segoe UI"/>
              </a:rPr>
              <a:t>Due limiti dell'hardcoded segnalati dal professore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5349240" cy="1874519"/>
          </a:xfrm>
          <a:prstGeom prst="roundRect">
            <a:avLst/>
          </a:prstGeom>
          <a:solidFill>
            <a:srgbClr val="1B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19" y="1920239"/>
            <a:ext cx="5166359" cy="64008"/>
          </a:xfrm>
          <a:prstGeom prst="roundRect">
            <a:avLst/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1" y="1929384"/>
            <a:ext cx="5202936" cy="17647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F85149"/>
                </a:solidFill>
                <a:latin typeface="Segoe UI"/>
              </a:rPr>
              <a:t>IV cablato sullo scenario</a:t>
            </a:r>
          </a:p>
          <a:p>
            <a:pPr algn="l"/>
            <a:r>
              <a:rPr sz="1250" b="0">
                <a:solidFill>
                  <a:srgbClr val="E6EDF3"/>
                </a:solidFill>
                <a:latin typeface="Segoe UI"/>
              </a:rPr>
              <a:t>La struttura è sempre 64-x-x-7: il vettore di input è fisso per lo scenario FRR. Modelli per scenari diversi hanno feature e output diversi.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874519"/>
            <a:ext cx="5349240" cy="1874519"/>
          </a:xfrm>
          <a:prstGeom prst="roundRect">
            <a:avLst/>
          </a:prstGeom>
          <a:solidFill>
            <a:srgbClr val="1B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291072" y="1920239"/>
            <a:ext cx="5166359" cy="64008"/>
          </a:xfrm>
          <a:prstGeom prst="round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72784" y="1929384"/>
            <a:ext cx="5202936" cy="17647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F5A623"/>
                </a:solidFill>
                <a:latin typeface="Segoe UI"/>
              </a:rPr>
              <a:t>Costo di ricompilazione</a:t>
            </a:r>
          </a:p>
          <a:p>
            <a:pPr algn="l"/>
            <a:r>
              <a:rPr sz="1250" b="0">
                <a:solidFill>
                  <a:srgbClr val="E6EDF3"/>
                </a:solidFill>
                <a:latin typeface="Segoe UI"/>
              </a:rPr>
              <a:t>Ogni modello nuovo o modificato → sorgente C nuovo → clang ricompila tutto da zero. I pesi sono literal nel codice.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977639"/>
            <a:ext cx="10908792" cy="960120"/>
          </a:xfrm>
          <a:prstGeom prst="roundRect">
            <a:avLst/>
          </a:prstGeom>
          <a:solidFill>
            <a:srgbClr val="12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31519" y="4023359"/>
            <a:ext cx="10725912" cy="64008"/>
          </a:xfrm>
          <a:prstGeom prst="round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3231" y="4032503"/>
            <a:ext cx="10762488" cy="8503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58A6FF"/>
                </a:solidFill>
                <a:latin typeface="Segoe UI"/>
              </a:rPr>
              <a:t>Obiettivo</a:t>
            </a:r>
            <a:r>
              <a:rPr sz="1300" b="0">
                <a:solidFill>
                  <a:srgbClr val="E6EDF3"/>
                </a:solidFill>
                <a:latin typeface="Segoe UI"/>
              </a:rPr>
              <a:t>   rendere l'IV flessibile senza perdere le prestazioni superiori dell'hardcoded, e ridurre/eliminare la ricompilazione.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257800"/>
            <a:ext cx="10972800" cy="651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dirty="0" err="1">
                <a:solidFill>
                  <a:srgbClr val="8B949E"/>
                </a:solidFill>
                <a:latin typeface="Segoe UI"/>
              </a:rPr>
              <a:t>Vincolo</a:t>
            </a:r>
            <a:r>
              <a:rPr lang="it-IT" sz="1300" b="1" dirty="0">
                <a:solidFill>
                  <a:srgbClr val="8B949E"/>
                </a:solidFill>
                <a:latin typeface="Segoe UI"/>
              </a:rPr>
              <a:t> (modelli noti a priori):</a:t>
            </a:r>
            <a:endParaRPr sz="1300" b="1" dirty="0">
              <a:solidFill>
                <a:srgbClr val="8B949E"/>
              </a:solidFill>
              <a:latin typeface="Segoe UI"/>
            </a:endParaRPr>
          </a:p>
          <a:p>
            <a:pPr algn="l">
              <a:spcAft>
                <a:spcPts val="400"/>
              </a:spcAft>
            </a:pPr>
            <a:r>
              <a:rPr sz="1300" b="0" dirty="0">
                <a:solidFill>
                  <a:srgbClr val="E6EDF3"/>
                </a:solidFill>
                <a:latin typeface="Segoe UI"/>
              </a:rPr>
              <a:t>a </a:t>
            </a:r>
            <a:r>
              <a:rPr sz="1300" b="0" dirty="0" err="1">
                <a:solidFill>
                  <a:srgbClr val="E6EDF3"/>
                </a:solidFill>
                <a:latin typeface="Segoe UI"/>
              </a:rPr>
              <a:t>parità</a:t>
            </a:r>
            <a:r>
              <a:rPr sz="1300" b="0" dirty="0">
                <a:solidFill>
                  <a:srgbClr val="E6EDF3"/>
                </a:solidFill>
                <a:latin typeface="Segoe UI"/>
              </a:rPr>
              <a:t> di </a:t>
            </a:r>
            <a:r>
              <a:rPr sz="1300" b="0" dirty="0" err="1">
                <a:solidFill>
                  <a:srgbClr val="E6EDF3"/>
                </a:solidFill>
                <a:latin typeface="Segoe UI"/>
              </a:rPr>
              <a:t>tipo</a:t>
            </a:r>
            <a:r>
              <a:rPr sz="1300" b="0" dirty="0">
                <a:solidFill>
                  <a:srgbClr val="E6EDF3"/>
                </a:solidFill>
                <a:latin typeface="Segoe UI"/>
              </a:rPr>
              <a:t> di feature la </a:t>
            </a:r>
            <a:r>
              <a:rPr sz="1300" b="0" dirty="0" err="1">
                <a:solidFill>
                  <a:srgbClr val="E6EDF3"/>
                </a:solidFill>
                <a:latin typeface="Segoe UI"/>
              </a:rPr>
              <a:t>dimensione</a:t>
            </a:r>
            <a:r>
              <a:rPr sz="1300" b="0" dirty="0">
                <a:solidFill>
                  <a:srgbClr val="E6EDF3"/>
                </a:solidFill>
                <a:latin typeface="Segoe UI"/>
              </a:rPr>
              <a:t> è </a:t>
            </a:r>
            <a:r>
              <a:rPr sz="1300" b="0" dirty="0" err="1">
                <a:solidFill>
                  <a:srgbClr val="E6EDF3"/>
                </a:solidFill>
                <a:latin typeface="Segoe UI"/>
              </a:rPr>
              <a:t>fissa</a:t>
            </a:r>
            <a:r>
              <a:rPr sz="1300" b="0" dirty="0">
                <a:solidFill>
                  <a:srgbClr val="E6EDF3"/>
                </a:solidFill>
                <a:latin typeface="Segoe UI"/>
              </a:rPr>
              <a:t> </a:t>
            </a:r>
            <a:r>
              <a:rPr sz="1300" b="0" dirty="0" err="1">
                <a:solidFill>
                  <a:srgbClr val="E6EDF3"/>
                </a:solidFill>
                <a:latin typeface="Segoe UI"/>
              </a:rPr>
              <a:t>nella</a:t>
            </a:r>
            <a:r>
              <a:rPr sz="1300" b="0" dirty="0">
                <a:solidFill>
                  <a:srgbClr val="E6EDF3"/>
                </a:solidFill>
                <a:latin typeface="Segoe UI"/>
              </a:rPr>
              <a:t> </a:t>
            </a:r>
            <a:r>
              <a:rPr sz="1300" b="0" dirty="0" err="1">
                <a:solidFill>
                  <a:srgbClr val="E6EDF3"/>
                </a:solidFill>
                <a:latin typeface="Segoe UI"/>
              </a:rPr>
              <a:t>stessa</a:t>
            </a:r>
            <a:r>
              <a:rPr sz="1300" b="0" dirty="0">
                <a:solidFill>
                  <a:srgbClr val="E6EDF3"/>
                </a:solidFill>
                <a:latin typeface="Segoe UI"/>
              </a:rPr>
              <a:t> rete — è </a:t>
            </a:r>
            <a:r>
              <a:rPr sz="1300" b="0" dirty="0" err="1">
                <a:solidFill>
                  <a:srgbClr val="E6EDF3"/>
                </a:solidFill>
                <a:latin typeface="Segoe UI"/>
              </a:rPr>
              <a:t>una</a:t>
            </a:r>
            <a:r>
              <a:rPr sz="1300" b="0" dirty="0">
                <a:solidFill>
                  <a:srgbClr val="E6EDF3"/>
                </a:solidFill>
                <a:latin typeface="Segoe UI"/>
              </a:rPr>
              <a:t> </a:t>
            </a:r>
            <a:r>
              <a:rPr sz="1300" b="0" dirty="0" err="1">
                <a:solidFill>
                  <a:srgbClr val="E6EDF3"/>
                </a:solidFill>
                <a:latin typeface="Segoe UI"/>
              </a:rPr>
              <a:t>proprietà</a:t>
            </a:r>
            <a:r>
              <a:rPr sz="1300" b="0" dirty="0">
                <a:solidFill>
                  <a:srgbClr val="E6EDF3"/>
                </a:solidFill>
                <a:latin typeface="Segoe UI"/>
              </a:rPr>
              <a:t> del NODO, non un </a:t>
            </a:r>
            <a:r>
              <a:rPr sz="1300" b="0" dirty="0" err="1">
                <a:solidFill>
                  <a:srgbClr val="E6EDF3"/>
                </a:solidFill>
                <a:latin typeface="Segoe UI"/>
              </a:rPr>
              <a:t>parametro</a:t>
            </a:r>
            <a:r>
              <a:rPr sz="1300" b="0" dirty="0">
                <a:solidFill>
                  <a:srgbClr val="E6EDF3"/>
                </a:solidFill>
                <a:latin typeface="Segoe UI"/>
              </a:rPr>
              <a:t> del </a:t>
            </a:r>
            <a:r>
              <a:rPr sz="1300" b="0" dirty="0" err="1">
                <a:solidFill>
                  <a:srgbClr val="E6EDF3"/>
                </a:solidFill>
                <a:latin typeface="Segoe UI"/>
              </a:rPr>
              <a:t>modello</a:t>
            </a:r>
            <a:r>
              <a:rPr sz="1300" b="0" dirty="0">
                <a:solidFill>
                  <a:srgbClr val="E6EDF3"/>
                </a:solidFill>
                <a:latin typeface="Segoe UI"/>
              </a:rPr>
              <a:t>. I </a:t>
            </a:r>
            <a:r>
              <a:rPr sz="1300" b="0" dirty="0" err="1">
                <a:solidFill>
                  <a:srgbClr val="E6EDF3"/>
                </a:solidFill>
                <a:latin typeface="Segoe UI"/>
              </a:rPr>
              <a:t>modelli</a:t>
            </a:r>
            <a:r>
              <a:rPr sz="1300" b="0" dirty="0">
                <a:solidFill>
                  <a:srgbClr val="E6EDF3"/>
                </a:solidFill>
                <a:latin typeface="Segoe UI"/>
              </a:rPr>
              <a:t> </a:t>
            </a:r>
            <a:r>
              <a:rPr sz="1300" b="0" dirty="0" err="1">
                <a:solidFill>
                  <a:srgbClr val="E6EDF3"/>
                </a:solidFill>
                <a:latin typeface="Segoe UI"/>
              </a:rPr>
              <a:t>scelgono</a:t>
            </a:r>
            <a:r>
              <a:rPr sz="1300" b="0" dirty="0">
                <a:solidFill>
                  <a:srgbClr val="E6EDF3"/>
                </a:solidFill>
                <a:latin typeface="Segoe UI"/>
              </a:rPr>
              <a:t> solo QUALI tipi </a:t>
            </a:r>
            <a:r>
              <a:rPr sz="1300" b="0" dirty="0" err="1">
                <a:solidFill>
                  <a:srgbClr val="E6EDF3"/>
                </a:solidFill>
                <a:latin typeface="Segoe UI"/>
              </a:rPr>
              <a:t>usare</a:t>
            </a:r>
            <a:r>
              <a:rPr sz="1300" b="0" dirty="0">
                <a:solidFill>
                  <a:srgbClr val="E6EDF3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972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>
                <a:solidFill>
                  <a:srgbClr val="F5A623"/>
                </a:solidFill>
                <a:latin typeface="Georgia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36576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E6EDF3"/>
                </a:solidFill>
                <a:latin typeface="Georgia"/>
              </a:rPr>
              <a:t>La nuova gestione dell'IV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27632" y="1024128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>
                <a:solidFill>
                  <a:srgbClr val="8B949E"/>
                </a:solidFill>
                <a:latin typeface="Segoe UI"/>
              </a:rPr>
              <a:t>Catalogo di tipi + descrittore per-modello + config del nodo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3611880" cy="2834640"/>
          </a:xfrm>
          <a:prstGeom prst="roundRect">
            <a:avLst/>
          </a:prstGeom>
          <a:solidFill>
            <a:srgbClr val="1B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19" y="1965960"/>
            <a:ext cx="3429000" cy="64008"/>
          </a:xfrm>
          <a:prstGeom prst="round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2066544"/>
            <a:ext cx="32461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3FB950"/>
                </a:solidFill>
                <a:latin typeface="Segoe UI"/>
              </a:rPr>
              <a:t>Catalogo dei tipi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514600"/>
            <a:ext cx="324612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250" b="1">
                <a:solidFill>
                  <a:srgbClr val="E6EDF3"/>
                </a:solidFill>
                <a:latin typeface="Consolas"/>
              </a:rPr>
              <a:t>link_state</a:t>
            </a:r>
            <a:r>
              <a:rPr sz="1100" b="0">
                <a:solidFill>
                  <a:srgbClr val="8B949E"/>
                </a:solidFill>
                <a:latin typeface="Segoe UI"/>
              </a:rPr>
              <a:t>  dense da mappa</a:t>
            </a:r>
          </a:p>
          <a:p>
            <a:pPr algn="l">
              <a:spcAft>
                <a:spcPts val="700"/>
              </a:spcAft>
            </a:pPr>
            <a:r>
              <a:rPr sz="1250" b="1">
                <a:solidFill>
                  <a:srgbClr val="E6EDF3"/>
                </a:solidFill>
                <a:latin typeface="Consolas"/>
              </a:rPr>
              <a:t>queue_occupancy</a:t>
            </a:r>
            <a:r>
              <a:rPr sz="1100" b="0">
                <a:solidFill>
                  <a:srgbClr val="8B949E"/>
                </a:solidFill>
                <a:latin typeface="Segoe UI"/>
              </a:rPr>
              <a:t>  dense da mappa</a:t>
            </a:r>
          </a:p>
          <a:p>
            <a:pPr algn="l">
              <a:spcAft>
                <a:spcPts val="700"/>
              </a:spcAft>
            </a:pPr>
            <a:r>
              <a:rPr sz="1250" b="1">
                <a:solidFill>
                  <a:srgbClr val="E6EDF3"/>
                </a:solidFill>
                <a:latin typeface="Consolas"/>
              </a:rPr>
              <a:t>ttl</a:t>
            </a:r>
            <a:r>
              <a:rPr sz="1100" b="0">
                <a:solidFill>
                  <a:srgbClr val="8B949E"/>
                </a:solidFill>
                <a:latin typeface="Segoe UI"/>
              </a:rPr>
              <a:t>  scalare dal pacchetto</a:t>
            </a:r>
          </a:p>
          <a:p>
            <a:pPr algn="l">
              <a:spcAft>
                <a:spcPts val="700"/>
              </a:spcAft>
            </a:pPr>
            <a:r>
              <a:rPr sz="1250" b="1">
                <a:solidFill>
                  <a:srgbClr val="E6EDF3"/>
                </a:solidFill>
                <a:latin typeface="Consolas"/>
              </a:rPr>
              <a:t>ingress_iface</a:t>
            </a:r>
            <a:r>
              <a:rPr sz="1100" b="0">
                <a:solidFill>
                  <a:srgbClr val="8B949E"/>
                </a:solidFill>
                <a:latin typeface="Segoe UI"/>
              </a:rPr>
              <a:t>  one-hot</a:t>
            </a:r>
          </a:p>
          <a:p>
            <a:pPr algn="l">
              <a:spcAft>
                <a:spcPts val="700"/>
              </a:spcAft>
            </a:pPr>
            <a:r>
              <a:rPr sz="1250" b="1">
                <a:solidFill>
                  <a:srgbClr val="E6EDF3"/>
                </a:solidFill>
                <a:latin typeface="Consolas"/>
              </a:rPr>
              <a:t>node</a:t>
            </a:r>
            <a:r>
              <a:rPr sz="1100" b="0">
                <a:solidFill>
                  <a:srgbClr val="8B949E"/>
                </a:solidFill>
                <a:latin typeface="Segoe UI"/>
              </a:rPr>
              <a:t>  one-hot</a:t>
            </a:r>
          </a:p>
          <a:p>
            <a:pPr algn="l">
              <a:spcAft>
                <a:spcPts val="700"/>
              </a:spcAft>
            </a:pPr>
            <a:r>
              <a:rPr sz="1100" b="0">
                <a:solidFill>
                  <a:srgbClr val="F5A623"/>
                </a:solidFill>
                <a:latin typeface="Segoe UI"/>
              </a:rPr>
              <a:t>3 kind → scalar · dense_vector · onehot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920240"/>
            <a:ext cx="3611880" cy="2834640"/>
          </a:xfrm>
          <a:prstGeom prst="roundRect">
            <a:avLst/>
          </a:prstGeom>
          <a:solidFill>
            <a:srgbClr val="1B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480559" y="1965960"/>
            <a:ext cx="3429000" cy="64008"/>
          </a:xfrm>
          <a:prstGeom prst="round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0288" y="2066544"/>
            <a:ext cx="32461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F5A623"/>
                </a:solidFill>
                <a:latin typeface="Segoe UI"/>
              </a:rPr>
              <a:t>Descrittore per-modello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542032"/>
            <a:ext cx="324612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8B949E"/>
                </a:solidFill>
                <a:latin typeface="Segoe UI"/>
              </a:rPr>
              <a:t>Lista ordinata di tipi:</a:t>
            </a:r>
          </a:p>
          <a:p>
            <a:pPr algn="l">
              <a:spcAft>
                <a:spcPts val="500"/>
              </a:spcAft>
            </a:pPr>
            <a:r>
              <a:rPr sz="1150" b="1">
                <a:solidFill>
                  <a:srgbClr val="E6EDF3"/>
                </a:solidFill>
                <a:latin typeface="Consolas"/>
              </a:rPr>
              <a:t>features = [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58A6FF"/>
                </a:solidFill>
                <a:latin typeface="Consolas"/>
              </a:rPr>
              <a:t>  link_state,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58A6FF"/>
                </a:solidFill>
                <a:latin typeface="Consolas"/>
              </a:rPr>
              <a:t>  queue_occupancy,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58A6FF"/>
                </a:solidFill>
                <a:latin typeface="Consolas"/>
              </a:rPr>
              <a:t>  ttl ]</a:t>
            </a:r>
          </a:p>
          <a:p>
            <a:pPr algn="l">
              <a:spcAft>
                <a:spcPts val="500"/>
              </a:spcAft>
            </a:pPr>
            <a:r>
              <a:rPr sz="1150" b="1">
                <a:solidFill>
                  <a:srgbClr val="E6EDF3"/>
                </a:solidFill>
                <a:latin typeface="Consolas"/>
              </a:rPr>
              <a:t>n_out = 7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F5A623"/>
                </a:solidFill>
                <a:latin typeface="Segoe UI"/>
              </a:rPr>
              <a:t>N_IN = Σ size dei tipi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920240"/>
            <a:ext cx="3410712" cy="2834640"/>
          </a:xfrm>
          <a:prstGeom prst="roundRect">
            <a:avLst/>
          </a:prstGeom>
          <a:solidFill>
            <a:srgbClr val="1B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229600" y="1965960"/>
            <a:ext cx="3227832" cy="64008"/>
          </a:xfrm>
          <a:prstGeom prst="roundRect">
            <a:avLst/>
          </a:prstGeom>
          <a:solidFill>
            <a:srgbClr val="3FD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39328" y="2066544"/>
            <a:ext cx="304495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3FD0C8"/>
                </a:solidFill>
                <a:latin typeface="Segoe UI"/>
              </a:rPr>
              <a:t>Config del nodo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7" y="2542032"/>
            <a:ext cx="306324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8B949E"/>
                </a:solidFill>
                <a:latin typeface="Segoe UI"/>
              </a:rPr>
              <a:t>La dimensione = proprietà del nodo:</a:t>
            </a:r>
          </a:p>
          <a:p>
            <a:pPr algn="l">
              <a:spcAft>
                <a:spcPts val="600"/>
              </a:spcAft>
            </a:pPr>
            <a:r>
              <a:rPr sz="1150" b="1">
                <a:solidFill>
                  <a:srgbClr val="E6EDF3"/>
                </a:solidFill>
                <a:latin typeface="Consolas"/>
              </a:rPr>
              <a:t>n_interfaces = 6</a:t>
            </a:r>
          </a:p>
          <a:p>
            <a:pPr algn="l">
              <a:spcAft>
                <a:spcPts val="600"/>
              </a:spcAft>
            </a:pPr>
            <a:r>
              <a:rPr sz="1150" b="1">
                <a:solidFill>
                  <a:srgbClr val="E6EDF3"/>
                </a:solidFill>
                <a:latin typeface="Consolas"/>
              </a:rPr>
              <a:t>n_nodes = 52</a:t>
            </a:r>
          </a:p>
          <a:p>
            <a:pPr algn="l">
              <a:spcAft>
                <a:spcPts val="600"/>
              </a:spcAft>
            </a:pPr>
            <a:r>
              <a:rPr sz="1150" b="1">
                <a:solidFill>
                  <a:srgbClr val="E6EDF3"/>
                </a:solidFill>
                <a:latin typeface="Consolas"/>
              </a:rPr>
              <a:t>n_queues = 4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F5A623"/>
                </a:solidFill>
                <a:latin typeface="Segoe UI"/>
              </a:rPr>
              <a:t>link_state ha 6 slot per OGNI modello sullo stesso nodo.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074920"/>
            <a:ext cx="109728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8B949E"/>
                </a:solidFill>
                <a:latin typeface="Segoe UI"/>
              </a:rPr>
              <a:t>Stesso nodo, modelli diversi:</a:t>
            </a:r>
            <a:r>
              <a:rPr sz="1300" b="0">
                <a:solidFill>
                  <a:srgbClr val="E6EDF3"/>
                </a:solidFill>
                <a:latin typeface="Segoe UI"/>
              </a:rPr>
              <a:t>  cambia solo il SET di tipi, non la loro dimensione. Il generatore emette il codice che costruisce quel preciso IV, feature per feature.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3FB950"/>
                </a:solidFill>
                <a:latin typeface="Segoe UI"/>
              </a:rPr>
              <a:t>Retrocompatibilità:</a:t>
            </a:r>
            <a:r>
              <a:rPr sz="1300" b="0">
                <a:solidFill>
                  <a:srgbClr val="E6EDF3"/>
                </a:solidFill>
                <a:latin typeface="Segoe UI"/>
              </a:rPr>
              <a:t>  senza descrittore → default [link_state, iface, ttl, node] = il classico 65-4-4-7, byte-identico.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972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>
                <a:solidFill>
                  <a:srgbClr val="F5A623"/>
                </a:solidFill>
                <a:latin typeface="Georgia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36576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E6EDF3"/>
                </a:solidFill>
                <a:latin typeface="Georgia"/>
              </a:rPr>
              <a:t>Il flusso del pacchetto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27632" y="1024128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>
                <a:solidFill>
                  <a:srgbClr val="8B949E"/>
                </a:solidFill>
                <a:latin typeface="Segoe UI"/>
              </a:rPr>
              <a:t>Dall'arrivo su XDP all'azione, e come si costruisce l'IV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1810512" cy="960120"/>
          </a:xfrm>
          <a:prstGeom prst="roundRect">
            <a:avLst/>
          </a:prstGeom>
          <a:solidFill>
            <a:srgbClr val="12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19" y="1920239"/>
            <a:ext cx="1627632" cy="64008"/>
          </a:xfrm>
          <a:prstGeom prst="round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1" y="1929384"/>
            <a:ext cx="1664208" cy="8503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58A6FF"/>
                </a:solidFill>
                <a:latin typeface="Consolas"/>
              </a:rPr>
              <a:t>XDP ingress</a:t>
            </a:r>
          </a:p>
          <a:p>
            <a:pPr algn="l"/>
            <a:r>
              <a:rPr sz="950" b="0">
                <a:solidFill>
                  <a:srgbClr val="8B949E"/>
                </a:solidFill>
                <a:latin typeface="Segoe UI"/>
              </a:rPr>
              <a:t>parse eth/ip/udp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32303" y="2103120"/>
            <a:ext cx="365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F5A623"/>
                </a:solidFill>
                <a:latin typeface="Segoe UI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96311" y="1874519"/>
            <a:ext cx="1810512" cy="960120"/>
          </a:xfrm>
          <a:prstGeom prst="roundRect">
            <a:avLst/>
          </a:prstGeom>
          <a:solidFill>
            <a:srgbClr val="1B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587751" y="1920239"/>
            <a:ext cx="1627632" cy="64008"/>
          </a:xfrm>
          <a:prstGeom prst="roundRect">
            <a:avLst/>
          </a:prstGeom>
          <a:solidFill>
            <a:srgbClr val="E6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9463" y="1929384"/>
            <a:ext cx="1664208" cy="8503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E6EDF3"/>
                </a:solidFill>
                <a:latin typeface="Consolas"/>
              </a:rPr>
              <a:t>IPA :9999</a:t>
            </a:r>
          </a:p>
          <a:p>
            <a:pPr algn="l"/>
            <a:r>
              <a:rPr sz="950" b="0">
                <a:solidFill>
                  <a:srgbClr val="8B949E"/>
                </a:solidFill>
                <a:latin typeface="Segoe UI"/>
              </a:rPr>
              <a:t>model_id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88536" y="2103120"/>
            <a:ext cx="365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F5A623"/>
                </a:solidFill>
                <a:latin typeface="Segoe UI"/>
              </a:rP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52544" y="1874519"/>
            <a:ext cx="1810512" cy="960120"/>
          </a:xfrm>
          <a:prstGeom prst="roundRect">
            <a:avLst/>
          </a:prstGeom>
          <a:solidFill>
            <a:srgbClr val="2A20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443983" y="1920239"/>
            <a:ext cx="1627632" cy="64008"/>
          </a:xfrm>
          <a:prstGeom prst="round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25696" y="1929384"/>
            <a:ext cx="1664208" cy="8503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F5A623"/>
                </a:solidFill>
                <a:latin typeface="Consolas"/>
              </a:rPr>
              <a:t>tail call</a:t>
            </a:r>
          </a:p>
          <a:p>
            <a:pPr algn="l"/>
            <a:r>
              <a:rPr sz="950" b="0">
                <a:solidFill>
                  <a:srgbClr val="8B949E"/>
                </a:solidFill>
                <a:latin typeface="Segoe UI"/>
              </a:rPr>
              <a:t>model_&lt;id&gt;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44768" y="2103120"/>
            <a:ext cx="365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F5A623"/>
                </a:solidFill>
                <a:latin typeface="Segoe UI"/>
              </a:rP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8775" y="1874519"/>
            <a:ext cx="1810512" cy="960120"/>
          </a:xfrm>
          <a:prstGeom prst="roundRect">
            <a:avLst/>
          </a:prstGeom>
          <a:solidFill>
            <a:srgbClr val="2A20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300215" y="1920239"/>
            <a:ext cx="1627632" cy="64008"/>
          </a:xfrm>
          <a:prstGeom prst="round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81927" y="1929384"/>
            <a:ext cx="1664208" cy="8503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F5A623"/>
                </a:solidFill>
                <a:latin typeface="Consolas"/>
              </a:rPr>
              <a:t>build IV</a:t>
            </a:r>
          </a:p>
          <a:p>
            <a:pPr algn="l"/>
            <a:r>
              <a:rPr sz="950" b="0">
                <a:solidFill>
                  <a:srgbClr val="8B949E"/>
                </a:solidFill>
                <a:latin typeface="Segoe UI"/>
              </a:rPr>
              <a:t>descrittore locale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2103120"/>
            <a:ext cx="365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F5A623"/>
                </a:solidFill>
                <a:latin typeface="Segoe UI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65007" y="1874519"/>
            <a:ext cx="1810512" cy="960120"/>
          </a:xfrm>
          <a:prstGeom prst="roundRect">
            <a:avLst/>
          </a:prstGeom>
          <a:solidFill>
            <a:srgbClr val="2A20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156447" y="1920239"/>
            <a:ext cx="1627632" cy="64008"/>
          </a:xfrm>
          <a:prstGeom prst="round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138159" y="1929384"/>
            <a:ext cx="1664208" cy="8503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F5A623"/>
                </a:solidFill>
                <a:latin typeface="Consolas"/>
              </a:rPr>
              <a:t>MLP int8</a:t>
            </a:r>
          </a:p>
          <a:p>
            <a:pPr algn="l"/>
            <a:r>
              <a:rPr sz="950" b="0">
                <a:solidFill>
                  <a:srgbClr val="8B949E"/>
                </a:solidFill>
                <a:latin typeface="Segoe UI"/>
              </a:rPr>
              <a:t>fc1→fc2→out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57232" y="2103120"/>
            <a:ext cx="365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F5A623"/>
                </a:solidFill>
                <a:latin typeface="Segoe UI"/>
              </a:rPr>
              <a:t>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921239" y="1874519"/>
            <a:ext cx="1810512" cy="960120"/>
          </a:xfrm>
          <a:prstGeom prst="roundRect">
            <a:avLst/>
          </a:prstGeom>
          <a:solidFill>
            <a:srgbClr val="112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10012679" y="1920239"/>
            <a:ext cx="1627632" cy="64008"/>
          </a:xfrm>
          <a:prstGeom prst="roundRect">
            <a:avLst/>
          </a:prstGeom>
          <a:solidFill>
            <a:srgbClr val="3FD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994391" y="1929384"/>
            <a:ext cx="1664208" cy="8503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3FD0C8"/>
                </a:solidFill>
                <a:latin typeface="Consolas"/>
              </a:rPr>
              <a:t>azione</a:t>
            </a:r>
          </a:p>
          <a:p>
            <a:pPr algn="l"/>
            <a:r>
              <a:rPr sz="950" b="0">
                <a:solidFill>
                  <a:srgbClr val="8B949E"/>
                </a:solidFill>
                <a:latin typeface="Segoe UI"/>
              </a:rPr>
              <a:t>redirect / drop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3154680"/>
            <a:ext cx="10972800" cy="3063240"/>
          </a:xfrm>
          <a:prstGeom prst="round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68680" y="3291840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3FB950"/>
                </a:solidFill>
                <a:latin typeface="Consolas"/>
              </a:rPr>
              <a:t>generate_ebpf_hardcoded()  —  IV costruito localmente, feature per feature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3703320"/>
            <a:ext cx="1060704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8B949E"/>
                </a:solidFill>
                <a:latin typeface="Consolas"/>
              </a:rPr>
              <a:t>for feat in features:            # descrittore ordinato del modello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6EDF3"/>
                </a:solidFill>
                <a:latin typeface="Consolas"/>
              </a:rPr>
              <a:t>    pre, term = _gen_feature(feat, offset, ...)   # per KIND del tipo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8A6FF"/>
                </a:solidFill>
                <a:latin typeface="Consolas"/>
              </a:rPr>
              <a:t>    #  scalar        -&gt; _ttl = ip-&gt;ttl                     (dal pacchetto)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8A6FF"/>
                </a:solidFill>
                <a:latin typeface="Consolas"/>
              </a:rPr>
              <a:t>    #  dense_vector  -&gt; ls0..ls5 = link_state.lookup(i)    (da mappa BPF)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8A6FF"/>
                </a:solidFill>
                <a:latin typeface="Consolas"/>
              </a:rPr>
              <a:t>    #  onehot        -&gt; switch(iface|node){...}            (1 peso/neurone)</a:t>
            </a:r>
          </a:p>
          <a:p>
            <a:pPr algn="l">
              <a:spcAft>
                <a:spcPts val="300"/>
              </a:spcAft>
            </a:pPr>
            <a:endParaRPr sz="1200" b="0">
              <a:solidFill>
                <a:srgbClr val="58A6FF"/>
              </a:solidFill>
              <a:latin typeface="Consolas"/>
            </a:endParaRP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8B949E"/>
                </a:solidFill>
                <a:latin typeface="Consolas"/>
              </a:rPr>
              <a:t>for j in range(n_h1):            # neurone nascosto j, pesi = literal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6EDF3"/>
                </a:solidFill>
                <a:latin typeface="Consolas"/>
              </a:rPr>
              <a:t>    h1_j = RELU( Σ_feat term(j) + bias_j 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8B949E"/>
                </a:solidFill>
                <a:latin typeface="Consolas"/>
              </a:rPr>
              <a:t># fc2 -&gt; out -&gt; argmax -&gt; mac_table[best_cls] -&gt; rewrite MAC -&gt; redirect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972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>
                <a:solidFill>
                  <a:srgbClr val="F5A623"/>
                </a:solidFill>
                <a:latin typeface="Georgia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36576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E6EDF3"/>
                </a:solidFill>
                <a:latin typeface="Georgia"/>
              </a:rPr>
              <a:t>Un esempio concreto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27632" y="1024128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>
                <a:solidFill>
                  <a:srgbClr val="8B949E"/>
                </a:solidFill>
                <a:latin typeface="Segoe UI"/>
              </a:rPr>
              <a:t>Arriva un pacchetto per il modello 1 — come nasce l'IV per l'inferenza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8B949E"/>
                </a:solidFill>
                <a:latin typeface="Segoe UI"/>
              </a:rPr>
              <a:t>Il pacchetto sul cavo  —  header IPA dentro UDP:9999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011680"/>
            <a:ext cx="685800" cy="777240"/>
          </a:xfrm>
          <a:prstGeom prst="roundRect">
            <a:avLst/>
          </a:prstGeom>
          <a:solidFill>
            <a:srgbClr val="1B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6656" y="2066543"/>
            <a:ext cx="612648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8B949E"/>
                </a:solidFill>
                <a:latin typeface="Consolas"/>
              </a:rPr>
              <a:t>eth</a:t>
            </a:r>
          </a:p>
          <a:p>
            <a:pPr algn="ctr"/>
            <a:r>
              <a:rPr sz="1250" b="1">
                <a:solidFill>
                  <a:srgbClr val="8B949E"/>
                </a:solidFill>
                <a:latin typeface="Consolas"/>
              </a:rPr>
              <a:t>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80744" y="2011680"/>
            <a:ext cx="685800" cy="777240"/>
          </a:xfrm>
          <a:prstGeom prst="roundRect">
            <a:avLst/>
          </a:prstGeom>
          <a:solidFill>
            <a:srgbClr val="1B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17320" y="2066543"/>
            <a:ext cx="612648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8B949E"/>
                </a:solidFill>
                <a:latin typeface="Consolas"/>
              </a:rPr>
              <a:t>ip</a:t>
            </a:r>
          </a:p>
          <a:p>
            <a:pPr algn="ctr"/>
            <a:r>
              <a:rPr sz="1250" b="1">
                <a:solidFill>
                  <a:srgbClr val="8B949E"/>
                </a:solidFill>
                <a:latin typeface="Consolas"/>
              </a:rPr>
              <a:t>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21408" y="2011680"/>
            <a:ext cx="1234440" cy="777240"/>
          </a:xfrm>
          <a:prstGeom prst="roundRect">
            <a:avLst/>
          </a:prstGeom>
          <a:solidFill>
            <a:srgbClr val="1B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157984" y="2066543"/>
            <a:ext cx="1161288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8B949E"/>
                </a:solidFill>
                <a:latin typeface="Consolas"/>
              </a:rPr>
              <a:t>udp</a:t>
            </a:r>
          </a:p>
          <a:p>
            <a:pPr algn="ctr"/>
            <a:r>
              <a:rPr sz="1250" b="1">
                <a:solidFill>
                  <a:srgbClr val="58A6FF"/>
                </a:solidFill>
                <a:latin typeface="Consolas"/>
              </a:rPr>
              <a:t>dport 9999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10712" y="2011680"/>
            <a:ext cx="1188720" cy="777240"/>
          </a:xfrm>
          <a:prstGeom prst="roundRect">
            <a:avLst/>
          </a:prstGeom>
          <a:solidFill>
            <a:srgbClr val="1B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47288" y="2066543"/>
            <a:ext cx="1115568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8B949E"/>
                </a:solidFill>
                <a:latin typeface="Consolas"/>
              </a:rPr>
              <a:t>model_id</a:t>
            </a:r>
          </a:p>
          <a:p>
            <a:pPr algn="ctr"/>
            <a:r>
              <a:rPr sz="1250" b="1">
                <a:solidFill>
                  <a:srgbClr val="F5A623"/>
                </a:solidFill>
                <a:latin typeface="Consolas"/>
              </a:rPr>
              <a:t>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54296" y="2011680"/>
            <a:ext cx="914400" cy="777240"/>
          </a:xfrm>
          <a:prstGeom prst="roundRect">
            <a:avLst/>
          </a:prstGeom>
          <a:solidFill>
            <a:srgbClr val="1B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90872" y="2066543"/>
            <a:ext cx="841248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8B949E"/>
                </a:solidFill>
                <a:latin typeface="Consolas"/>
              </a:rPr>
              <a:t>scale</a:t>
            </a:r>
          </a:p>
          <a:p>
            <a:pPr algn="ctr"/>
            <a:r>
              <a:rPr sz="1250" b="1">
                <a:solidFill>
                  <a:srgbClr val="F5A623"/>
                </a:solidFill>
                <a:latin typeface="Consolas"/>
              </a:rPr>
              <a:t>32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23560" y="2011680"/>
            <a:ext cx="914400" cy="777240"/>
          </a:xfrm>
          <a:prstGeom prst="roundRect">
            <a:avLst/>
          </a:prstGeom>
          <a:solidFill>
            <a:srgbClr val="1B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660136" y="2066543"/>
            <a:ext cx="841248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8B949E"/>
                </a:solidFill>
                <a:latin typeface="Consolas"/>
              </a:rPr>
              <a:t>in_size</a:t>
            </a:r>
          </a:p>
          <a:p>
            <a:pPr algn="ctr"/>
            <a:r>
              <a:rPr sz="1250" b="1">
                <a:solidFill>
                  <a:srgbClr val="F5A623"/>
                </a:solidFill>
                <a:latin typeface="Consolas"/>
              </a:rPr>
              <a:t>11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92824" y="2011680"/>
            <a:ext cx="914400" cy="777240"/>
          </a:xfrm>
          <a:prstGeom prst="roundRect">
            <a:avLst/>
          </a:prstGeom>
          <a:solidFill>
            <a:srgbClr val="1B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29400" y="2066543"/>
            <a:ext cx="841248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8B949E"/>
                </a:solidFill>
                <a:latin typeface="Consolas"/>
              </a:rPr>
              <a:t>out_size</a:t>
            </a:r>
          </a:p>
          <a:p>
            <a:pPr algn="ctr"/>
            <a:r>
              <a:rPr sz="1250" b="1">
                <a:solidFill>
                  <a:srgbClr val="F5A623"/>
                </a:solidFill>
                <a:latin typeface="Consolas"/>
              </a:rPr>
              <a:t>7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62088" y="2011680"/>
            <a:ext cx="914400" cy="777240"/>
          </a:xfrm>
          <a:prstGeom prst="roundRect">
            <a:avLst/>
          </a:prstGeom>
          <a:solidFill>
            <a:srgbClr val="1B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598664" y="2066543"/>
            <a:ext cx="841248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8B949E"/>
                </a:solidFill>
                <a:latin typeface="Consolas"/>
              </a:rPr>
              <a:t>n_feat</a:t>
            </a:r>
          </a:p>
          <a:p>
            <a:pPr algn="ctr"/>
            <a:r>
              <a:rPr sz="1250" b="1">
                <a:solidFill>
                  <a:srgbClr val="3FB950"/>
                </a:solidFill>
                <a:latin typeface="Consola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292608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E6EDF3"/>
                </a:solidFill>
                <a:latin typeface="Segoe UI"/>
              </a:rPr>
              <a:t>Il pacchetto DICE quali feature usa: </a:t>
            </a:r>
            <a:r>
              <a:rPr sz="1200" b="0">
                <a:solidFill>
                  <a:srgbClr val="8B949E"/>
                </a:solidFill>
                <a:latin typeface="Segoe UI"/>
              </a:rPr>
              <a:t>n_feat = 3 coppie (tipo, size). Il tipo dice DA DOVE leggere; la size viene dal nodo.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3337560"/>
            <a:ext cx="3566160" cy="1325880"/>
          </a:xfrm>
          <a:prstGeom prst="roundRect">
            <a:avLst/>
          </a:prstGeom>
          <a:solidFill>
            <a:srgbClr val="1B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731519" y="3383280"/>
            <a:ext cx="3383279" cy="54864"/>
          </a:xfrm>
          <a:prstGeom prst="round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2959" y="3474720"/>
            <a:ext cx="32004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8A6FF"/>
                </a:solidFill>
                <a:latin typeface="Consolas"/>
              </a:rPr>
              <a:t>link_state · 6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E6EDF3"/>
                </a:solidFill>
                <a:latin typeface="Consolas"/>
              </a:rPr>
              <a:t>sorgente: mappa link_state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F5A623"/>
                </a:solidFill>
                <a:latin typeface="Consolas"/>
              </a:rPr>
              <a:t>→ IV[0..5]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8B949E"/>
                </a:solidFill>
                <a:latin typeface="Segoe UI"/>
              </a:rPr>
              <a:t>dense da mappa BPF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15968" y="3337560"/>
            <a:ext cx="3566160" cy="1325880"/>
          </a:xfrm>
          <a:prstGeom prst="roundRect">
            <a:avLst/>
          </a:prstGeom>
          <a:solidFill>
            <a:srgbClr val="1B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4407407" y="3383280"/>
            <a:ext cx="3383279" cy="54864"/>
          </a:xfrm>
          <a:prstGeom prst="roundRect">
            <a:avLst/>
          </a:prstGeom>
          <a:solidFill>
            <a:srgbClr val="3FD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498848" y="3474720"/>
            <a:ext cx="32004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3FD0C8"/>
                </a:solidFill>
                <a:latin typeface="Consolas"/>
              </a:rPr>
              <a:t>queue_occupancy · 4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E6EDF3"/>
                </a:solidFill>
                <a:latin typeface="Consolas"/>
              </a:rPr>
              <a:t>sorgente: mappa queue_state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F5A623"/>
                </a:solidFill>
                <a:latin typeface="Consolas"/>
              </a:rPr>
              <a:t>→ IV[6..9]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8B949E"/>
                </a:solidFill>
                <a:latin typeface="Segoe UI"/>
              </a:rPr>
              <a:t>dense da mappa BPF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991855" y="3337560"/>
            <a:ext cx="3566160" cy="1325880"/>
          </a:xfrm>
          <a:prstGeom prst="roundRect">
            <a:avLst/>
          </a:prstGeom>
          <a:solidFill>
            <a:srgbClr val="1B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8083295" y="3383280"/>
            <a:ext cx="3383279" cy="54864"/>
          </a:xfrm>
          <a:prstGeom prst="round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174735" y="3474720"/>
            <a:ext cx="32004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5A623"/>
                </a:solidFill>
                <a:latin typeface="Consolas"/>
              </a:rPr>
              <a:t>ttl · 1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E6EDF3"/>
                </a:solidFill>
                <a:latin typeface="Consolas"/>
              </a:rPr>
              <a:t>sorgente: ip-&gt;ttl (pacchetto)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F5A623"/>
                </a:solidFill>
                <a:latin typeface="Consolas"/>
              </a:rPr>
              <a:t>→ IV[10]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8B949E"/>
                </a:solidFill>
                <a:latin typeface="Segoe UI"/>
              </a:rPr>
              <a:t>scalare dal pacchetto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486460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8B949E"/>
                </a:solidFill>
                <a:latin typeface="Segoe UI"/>
              </a:rPr>
              <a:t>L'IV[11] costruito localmente, poi l'inferenza: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5138928"/>
            <a:ext cx="1874519" cy="731520"/>
          </a:xfrm>
          <a:prstGeom prst="roundRect">
            <a:avLst/>
          </a:prstGeom>
          <a:solidFill>
            <a:srgbClr val="1B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76656" y="5138928"/>
            <a:ext cx="1801367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58A6FF"/>
                </a:solidFill>
                <a:latin typeface="Consolas"/>
              </a:rPr>
              <a:t>ls0 … ls5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560320" y="5138928"/>
            <a:ext cx="1508760" cy="731520"/>
          </a:xfrm>
          <a:prstGeom prst="roundRect">
            <a:avLst/>
          </a:prstGeom>
          <a:solidFill>
            <a:srgbClr val="1B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596896" y="5138928"/>
            <a:ext cx="1435607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3FD0C8"/>
                </a:solidFill>
                <a:latin typeface="Consolas"/>
              </a:rPr>
              <a:t>qs0 … qs3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114800" y="5138928"/>
            <a:ext cx="777240" cy="731520"/>
          </a:xfrm>
          <a:prstGeom prst="roundRect">
            <a:avLst/>
          </a:prstGeom>
          <a:solidFill>
            <a:srgbClr val="1B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151376" y="5138928"/>
            <a:ext cx="704088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5A623"/>
                </a:solidFill>
                <a:latin typeface="Consolas"/>
              </a:rPr>
              <a:t>ttl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73752" y="5193792"/>
            <a:ext cx="365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F5A623"/>
                </a:solidFill>
                <a:latin typeface="Segoe UI"/>
              </a:rPr>
              <a:t>›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276088" y="5138928"/>
            <a:ext cx="2331720" cy="731520"/>
          </a:xfrm>
          <a:prstGeom prst="roundRect">
            <a:avLst/>
          </a:prstGeom>
          <a:solidFill>
            <a:srgbClr val="2A20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312664" y="5138928"/>
            <a:ext cx="2258568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E6EDF3"/>
                </a:solidFill>
                <a:latin typeface="Consolas"/>
              </a:rPr>
              <a:t>MLP int8 11-4-4-7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35240" y="5193792"/>
            <a:ext cx="365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F5A623"/>
                </a:solidFill>
                <a:latin typeface="Segoe UI"/>
              </a:rPr>
              <a:t>›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037575" y="5138928"/>
            <a:ext cx="2606040" cy="731520"/>
          </a:xfrm>
          <a:prstGeom prst="roundRect">
            <a:avLst/>
          </a:prstGeom>
          <a:solidFill>
            <a:srgbClr val="112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074151" y="5138928"/>
            <a:ext cx="2532888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3FD0C8"/>
                </a:solidFill>
                <a:latin typeface="Consolas"/>
              </a:rPr>
              <a:t>argmax → redirect / drop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972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>
                <a:solidFill>
                  <a:srgbClr val="F5A623"/>
                </a:solidFill>
                <a:latin typeface="Georgia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36576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E6EDF3"/>
                </a:solidFill>
                <a:latin typeface="Georgia"/>
              </a:rPr>
              <a:t>Ottimizzazione hot-path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27632" y="1024128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>
                <a:solidFill>
                  <a:srgbClr val="8B949E"/>
                </a:solidFill>
                <a:latin typeface="Segoe UI"/>
              </a:rPr>
              <a:t>Letture della mappa consolidate: da N lookup a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5349240" cy="1554480"/>
          </a:xfrm>
          <a:prstGeom prst="roundRect">
            <a:avLst/>
          </a:prstGeom>
          <a:solidFill>
            <a:srgbClr val="1B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19" y="1920239"/>
            <a:ext cx="5166359" cy="64008"/>
          </a:xfrm>
          <a:prstGeom prst="roundRect">
            <a:avLst/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1" y="1929384"/>
            <a:ext cx="5202936" cy="1444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F85149"/>
                </a:solidFill>
                <a:latin typeface="Segoe UI"/>
              </a:rPr>
              <a:t>Prima: un lookup per slot</a:t>
            </a:r>
          </a:p>
          <a:p>
            <a:pPr algn="l"/>
            <a:r>
              <a:rPr sz="1200" b="0">
                <a:solidFill>
                  <a:srgbClr val="E6EDF3"/>
                </a:solidFill>
                <a:latin typeface="Segoe UI"/>
              </a:rPr>
              <a:t>Ogni feature dense leggeva la mappa slot per slot: link_state = 6 bpf_map_lookup_elem, queue_occupancy = 4 → fino a 10 helper call/pacchetto.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874519"/>
            <a:ext cx="5349240" cy="1554480"/>
          </a:xfrm>
          <a:prstGeom prst="roundRect">
            <a:avLst/>
          </a:prstGeom>
          <a:solidFill>
            <a:srgbClr val="1B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291072" y="1920239"/>
            <a:ext cx="5166359" cy="64008"/>
          </a:xfrm>
          <a:prstGeom prst="round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72784" y="1929384"/>
            <a:ext cx="5202936" cy="1444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3FB950"/>
                </a:solidFill>
                <a:latin typeface="Segoe UI"/>
              </a:rPr>
              <a:t>Dopo: un lookup per feature</a:t>
            </a:r>
          </a:p>
          <a:p>
            <a:pPr algn="l"/>
            <a:r>
              <a:rPr sz="1200" b="0">
                <a:solidFill>
                  <a:srgbClr val="E6EDF3"/>
                </a:solidFill>
                <a:latin typeface="Segoe UI"/>
              </a:rPr>
              <a:t>La mappa ora è UNA entry struct-valued  {u32 v[N]}  a key 0: un solo lookup + N load diretti dal valore. 10 → 2 helper call.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03320"/>
            <a:ext cx="10972800" cy="1051560"/>
          </a:xfrm>
          <a:prstGeom prst="round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3822191"/>
            <a:ext cx="106070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3FB950"/>
                </a:solidFill>
                <a:latin typeface="Consolas"/>
              </a:rPr>
              <a:t>struct ls_vec { __u32 v[6]; };  BPF_ARRAY(link_state, struct ls_vec, 1);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8A6FF"/>
                </a:solidFill>
                <a:latin typeface="Consolas"/>
              </a:rPr>
              <a:t>int z=0; struct ls_vec *p = link_state.lookup(&amp;z);  // 1 lookup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6EDF3"/>
                </a:solidFill>
                <a:latin typeface="Consolas"/>
              </a:rPr>
              <a:t>if (p) { ls0=p-&gt;v[0]; ls1=p-&gt;v[1]; ... }             // N load, 0 helper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074920"/>
            <a:ext cx="109728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5A623"/>
                </a:solidFill>
                <a:latin typeface="Segoe UI"/>
              </a:rPr>
              <a:t>Applicata a tutte e 3 le pipeline</a:t>
            </a:r>
            <a:r>
              <a:rPr sz="1300" b="0">
                <a:solidFill>
                  <a:srgbClr val="E6EDF3"/>
                </a:solidFill>
                <a:latin typeface="Segoe UI"/>
              </a:rPr>
              <a:t>  (hardcoded · template · modular): solo COME si legge la mappa, l'architettura dispatcher + tail-call resta identica.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3FB950"/>
                </a:solidFill>
                <a:latin typeface="Segoe UI"/>
              </a:rPr>
              <a:t>Verifica:</a:t>
            </a:r>
            <a:r>
              <a:rPr sz="1300" b="0">
                <a:solidFill>
                  <a:srgbClr val="E6EDF3"/>
                </a:solidFill>
                <a:latin typeface="Segoe UI"/>
              </a:rPr>
              <a:t>  suite kernel PASS su tutte e 3; inferenza invariata; hardcoded scende di 5 lookup/pacchetto.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972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>
                <a:solidFill>
                  <a:srgbClr val="F5A623"/>
                </a:solidFill>
                <a:latin typeface="Georgia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36576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E6EDF3"/>
                </a:solidFill>
                <a:latin typeface="Georgia"/>
              </a:rPr>
              <a:t>Abbattere la ricompilazione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27632" y="1024128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>
                <a:solidFill>
                  <a:srgbClr val="8B949E"/>
                </a:solidFill>
                <a:latin typeface="Segoe UI"/>
              </a:rPr>
              <a:t>Tre strade per non pagare clang a ogni modello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3611880" cy="2331720"/>
          </a:xfrm>
          <a:prstGeom prst="roundRect">
            <a:avLst/>
          </a:prstGeom>
          <a:solidFill>
            <a:srgbClr val="1B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19" y="1920239"/>
            <a:ext cx="3429000" cy="64008"/>
          </a:xfrm>
          <a:prstGeom prst="roundRect">
            <a:avLst/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1" y="1929384"/>
            <a:ext cx="3465576" cy="22219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F85149"/>
                </a:solidFill>
                <a:latin typeface="Segoe UI"/>
              </a:rPr>
              <a:t>literal + BCC  (oggi)</a:t>
            </a:r>
          </a:p>
          <a:p>
            <a:pPr algn="l"/>
            <a:r>
              <a:rPr sz="1150" b="0">
                <a:solidFill>
                  <a:srgbClr val="E6EDF3"/>
                </a:solidFill>
                <a:latin typeface="Segoe UI"/>
              </a:rPr>
              <a:t>Pesi literal nel C. BCC = clang a runtime: ogni modello ricompila tutto.</a:t>
            </a:r>
          </a:p>
          <a:p>
            <a:pPr algn="l"/>
            <a:r>
              <a:rPr sz="1100" b="0">
                <a:solidFill>
                  <a:srgbClr val="F85149"/>
                </a:solidFill>
                <a:latin typeface="Segoe UI"/>
              </a:rPr>
              <a:t>≈99.8% del costo è clang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74519"/>
            <a:ext cx="3611880" cy="2331720"/>
          </a:xfrm>
          <a:prstGeom prst="roundRect">
            <a:avLst/>
          </a:prstGeom>
          <a:solidFill>
            <a:srgbClr val="1B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480559" y="1920239"/>
            <a:ext cx="3429000" cy="64008"/>
          </a:xfrm>
          <a:prstGeom prst="round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62272" y="1929384"/>
            <a:ext cx="3465576" cy="22219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F5A623"/>
                </a:solidFill>
                <a:latin typeface="Segoe UI"/>
              </a:rPr>
              <a:t>AOT + pesi in .rodata</a:t>
            </a:r>
          </a:p>
          <a:p>
            <a:pPr algn="l"/>
            <a:r>
              <a:rPr sz="1150" b="0">
                <a:solidFill>
                  <a:srgbClr val="E6EDF3"/>
                </a:solidFill>
                <a:latin typeface="Segoe UI"/>
              </a:rPr>
              <a:t>Compili il .o una volta; nuovo modello = inietti i pesi in .rodata (frozen) e ricarichi.</a:t>
            </a:r>
          </a:p>
          <a:p>
            <a:pPr algn="l"/>
            <a:r>
              <a:rPr sz="1100" b="0">
                <a:solidFill>
                  <a:srgbClr val="F5A623"/>
                </a:solidFill>
                <a:latin typeface="Segoe UI"/>
              </a:rPr>
              <a:t>zero clang, ma perde perf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874519"/>
            <a:ext cx="3410712" cy="2331720"/>
          </a:xfrm>
          <a:prstGeom prst="roundRect">
            <a:avLst/>
          </a:prstGeom>
          <a:solidFill>
            <a:srgbClr val="1B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229600" y="1920239"/>
            <a:ext cx="3227832" cy="64008"/>
          </a:xfrm>
          <a:prstGeom prst="round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11312" y="1929384"/>
            <a:ext cx="3264408" cy="22219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3FB950"/>
                </a:solidFill>
                <a:latin typeface="Segoe UI"/>
              </a:rPr>
              <a:t>AOT-literal  (scelta)</a:t>
            </a:r>
          </a:p>
          <a:p>
            <a:pPr algn="l"/>
            <a:r>
              <a:rPr sz="1150" b="0">
                <a:solidFill>
                  <a:srgbClr val="E6EDF3"/>
                </a:solidFill>
                <a:latin typeface="Segoe UI"/>
              </a:rPr>
              <a:t>Compili offline il .o con i pesi literal; a runtime solo load. Clang -O2 già applicato.</a:t>
            </a:r>
          </a:p>
          <a:p>
            <a:pPr algn="l"/>
            <a:r>
              <a:rPr sz="1100" b="0">
                <a:solidFill>
                  <a:srgbClr val="3FB950"/>
                </a:solidFill>
                <a:latin typeface="Segoe UI"/>
              </a:rPr>
              <a:t>zero clang E perf massima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26280"/>
            <a:ext cx="10972800" cy="822960"/>
          </a:xfrm>
          <a:prstGeom prst="roundRect">
            <a:avLst/>
          </a:prstGeom>
          <a:solidFill>
            <a:srgbClr val="12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1248" y="4663440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58A6FF"/>
                </a:solidFill>
                <a:latin typeface="Segoe UI"/>
              </a:rPr>
              <a:t>Perché .rodata perde e literal no: </a:t>
            </a:r>
            <a:r>
              <a:rPr sz="1200" b="0">
                <a:solidFill>
                  <a:srgbClr val="E6EDF3"/>
                </a:solidFill>
                <a:latin typeface="Segoe UI"/>
              </a:rPr>
              <a:t>clang riduce ogni peso (x·0 sparisce, x·8 → shift). In .rodata i pesi sono un LOAD generico a runtime → moltiplicazione piena. Nel .o literal la riduzione è già cotta nel bytecode.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62356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5A623"/>
                </a:solidFill>
                <a:latin typeface="Segoe UI"/>
              </a:rPr>
              <a:t>Modelli noti a priori</a:t>
            </a:r>
            <a:r>
              <a:rPr sz="1300" b="0">
                <a:solidFill>
                  <a:srgbClr val="E6EDF3"/>
                </a:solidFill>
                <a:latin typeface="Segoe UI"/>
              </a:rPr>
              <a:t>  (l'ipotesi dell'hardcoded): precompili offline tutte le architetture → inserire un modello = solo load.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972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>
                <a:solidFill>
                  <a:srgbClr val="F5A623"/>
                </a:solidFill>
                <a:latin typeface="Georgia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36576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E6EDF3"/>
                </a:solidFill>
                <a:latin typeface="Georgia"/>
              </a:rPr>
              <a:t>AOT-literal: come funziona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27632" y="1024128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>
                <a:solidFill>
                  <a:srgbClr val="8B949E"/>
                </a:solidFill>
                <a:latin typeface="Segoe UI"/>
              </a:rPr>
              <a:t>Compila offline una volta, a runtime solo load — numeri reali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5349240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182880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5A623"/>
                </a:solidFill>
                <a:latin typeface="Segoe UI"/>
              </a:rPr>
              <a:t>OFFLINE  ·  build box, una volta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212848"/>
            <a:ext cx="2606040" cy="914400"/>
          </a:xfrm>
          <a:prstGeom prst="roundRect">
            <a:avLst/>
          </a:prstGeom>
          <a:solidFill>
            <a:srgbClr val="1B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19" y="2258568"/>
            <a:ext cx="2423160" cy="64008"/>
          </a:xfrm>
          <a:prstGeom prst="round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1" y="2267712"/>
            <a:ext cx="2459736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58A6FF"/>
                </a:solidFill>
                <a:latin typeface="Consolas"/>
              </a:rPr>
              <a:t>gen_full_c.py</a:t>
            </a:r>
          </a:p>
          <a:p>
            <a:pPr algn="l"/>
            <a:r>
              <a:rPr sz="1000" b="0">
                <a:solidFill>
                  <a:srgbClr val="8B949E"/>
                </a:solidFill>
                <a:latin typeface="Segoe UI"/>
              </a:rPr>
              <a:t>pesi literal → .bpf.c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27832" y="2432304"/>
            <a:ext cx="365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F5A623"/>
                </a:solidFill>
                <a:latin typeface="Segoe UI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39" y="2212848"/>
            <a:ext cx="2606040" cy="914400"/>
          </a:xfrm>
          <a:prstGeom prst="roundRect">
            <a:avLst/>
          </a:prstGeom>
          <a:solidFill>
            <a:srgbClr val="1B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383279" y="2258568"/>
            <a:ext cx="2423160" cy="64008"/>
          </a:xfrm>
          <a:prstGeom prst="round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64991" y="2267712"/>
            <a:ext cx="2459736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5A623"/>
                </a:solidFill>
                <a:latin typeface="Consolas"/>
              </a:rPr>
              <a:t>clang -O2 -target bpf</a:t>
            </a:r>
          </a:p>
          <a:p>
            <a:pPr algn="l"/>
            <a:r>
              <a:rPr sz="1000" b="0">
                <a:solidFill>
                  <a:srgbClr val="8B949E"/>
                </a:solidFill>
                <a:latin typeface="Segoe UI"/>
              </a:rPr>
              <a:t>→ model.o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9632" y="1828800"/>
            <a:ext cx="5349240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17920" y="182880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3FB950"/>
                </a:solidFill>
                <a:latin typeface="Segoe UI"/>
              </a:rPr>
              <a:t>RUNTIME  ·  nodo datapath, per deploy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2212848"/>
            <a:ext cx="2606040" cy="914400"/>
          </a:xfrm>
          <a:prstGeom prst="roundRect">
            <a:avLst/>
          </a:prstGeom>
          <a:solidFill>
            <a:srgbClr val="1B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291072" y="2258568"/>
            <a:ext cx="2423160" cy="64008"/>
          </a:xfrm>
          <a:prstGeom prst="round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72784" y="2267712"/>
            <a:ext cx="2459736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3FB950"/>
                </a:solidFill>
                <a:latin typeface="Consolas"/>
              </a:rPr>
              <a:t>bpf_object__open</a:t>
            </a:r>
          </a:p>
          <a:p>
            <a:pPr algn="l"/>
            <a:r>
              <a:rPr sz="1000" b="0">
                <a:solidFill>
                  <a:srgbClr val="8B949E"/>
                </a:solidFill>
                <a:latin typeface="Segoe UI"/>
              </a:rPr>
              <a:t>+ load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87384" y="2432304"/>
            <a:ext cx="365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F5A623"/>
                </a:solidFill>
                <a:latin typeface="Segoe UI"/>
              </a:rP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51392" y="2212848"/>
            <a:ext cx="2606040" cy="914400"/>
          </a:xfrm>
          <a:prstGeom prst="roundRect">
            <a:avLst/>
          </a:prstGeom>
          <a:solidFill>
            <a:srgbClr val="1B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942832" y="2258568"/>
            <a:ext cx="2423160" cy="64008"/>
          </a:xfrm>
          <a:prstGeom prst="roundRect">
            <a:avLst/>
          </a:prstGeom>
          <a:solidFill>
            <a:srgbClr val="3FD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924544" y="2267712"/>
            <a:ext cx="2459736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3FD0C8"/>
                </a:solidFill>
                <a:latin typeface="Consolas"/>
              </a:rPr>
              <a:t>BPF_PROG_TEST_RUN</a:t>
            </a:r>
          </a:p>
          <a:p>
            <a:pPr algn="l"/>
            <a:r>
              <a:rPr sz="1000" b="0">
                <a:solidFill>
                  <a:srgbClr val="8B949E"/>
                </a:solidFill>
                <a:latin typeface="Segoe UI"/>
              </a:rPr>
              <a:t>perf full-path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3429000"/>
            <a:ext cx="5349240" cy="2331720"/>
          </a:xfrm>
          <a:prstGeom prst="roundRect">
            <a:avLst/>
          </a:prstGeom>
          <a:solidFill>
            <a:srgbClr val="1B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731519" y="3474720"/>
            <a:ext cx="5166359" cy="64008"/>
          </a:xfrm>
          <a:prstGeom prst="round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41247" y="3575304"/>
            <a:ext cx="498347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3FB950"/>
                </a:solidFill>
                <a:latin typeface="Segoe UI"/>
              </a:rPr>
              <a:t>Costo di deploy (misurato)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4069080"/>
            <a:ext cx="489204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8B949E"/>
                </a:solidFill>
                <a:latin typeface="Consolas"/>
              </a:rPr>
              <a:t>build offline (clang→.o)</a:t>
            </a:r>
            <a:r>
              <a:rPr sz="1250" b="1">
                <a:solidFill>
                  <a:srgbClr val="F5A623"/>
                </a:solidFill>
                <a:latin typeface="Consolas"/>
              </a:rPr>
              <a:t>   341 ms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484F58"/>
                </a:solidFill>
                <a:latin typeface="Segoe UI"/>
              </a:rPr>
              <a:t>   una volta, sulla build box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8B949E"/>
                </a:solidFill>
                <a:latin typeface="Consolas"/>
              </a:rPr>
              <a:t>open_file</a:t>
            </a:r>
            <a:r>
              <a:rPr sz="1250" b="1">
                <a:solidFill>
                  <a:srgbClr val="3FB950"/>
                </a:solidFill>
                <a:latin typeface="Consolas"/>
              </a:rPr>
              <a:t>               0.35 ms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8B949E"/>
                </a:solidFill>
                <a:latin typeface="Consolas"/>
              </a:rPr>
              <a:t>load (verify+JIT)</a:t>
            </a:r>
            <a:r>
              <a:rPr sz="1250" b="1">
                <a:solidFill>
                  <a:srgbClr val="3FB950"/>
                </a:solidFill>
                <a:latin typeface="Consolas"/>
              </a:rPr>
              <a:t>       5.81 ms</a:t>
            </a:r>
          </a:p>
          <a:p>
            <a:pPr algn="l">
              <a:spcAft>
                <a:spcPts val="500"/>
              </a:spcAft>
            </a:pPr>
            <a:r>
              <a:rPr sz="1150" b="1">
                <a:solidFill>
                  <a:srgbClr val="E6EDF3"/>
                </a:solidFill>
                <a:latin typeface="Consolas"/>
              </a:rPr>
              <a:t>deploy runtime totale</a:t>
            </a:r>
            <a:r>
              <a:rPr sz="1300" b="1">
                <a:solidFill>
                  <a:srgbClr val="3FB950"/>
                </a:solidFill>
                <a:latin typeface="Consolas"/>
              </a:rPr>
              <a:t>    6.16 ms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9632" y="3429000"/>
            <a:ext cx="5349240" cy="2331720"/>
          </a:xfrm>
          <a:prstGeom prst="roundRect">
            <a:avLst/>
          </a:prstGeom>
          <a:solidFill>
            <a:srgbClr val="1B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291072" y="3474720"/>
            <a:ext cx="5166359" cy="64008"/>
          </a:xfrm>
          <a:prstGeom prst="round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0800" y="3575304"/>
            <a:ext cx="498347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F5A623"/>
                </a:solidFill>
                <a:latin typeface="Segoe UI"/>
              </a:rPr>
              <a:t>Performance (full-path, 1e6 reps)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28232" y="4069080"/>
            <a:ext cx="489204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 dirty="0" err="1">
                <a:solidFill>
                  <a:srgbClr val="8B949E"/>
                </a:solidFill>
                <a:latin typeface="Consolas"/>
              </a:rPr>
              <a:t>xlated</a:t>
            </a:r>
            <a:r>
              <a:rPr sz="1150" b="0" dirty="0">
                <a:solidFill>
                  <a:srgbClr val="8B949E"/>
                </a:solidFill>
                <a:latin typeface="Consolas"/>
              </a:rPr>
              <a:t> </a:t>
            </a:r>
            <a:r>
              <a:rPr sz="1150" b="0" dirty="0" err="1">
                <a:solidFill>
                  <a:srgbClr val="8B949E"/>
                </a:solidFill>
                <a:latin typeface="Consolas"/>
              </a:rPr>
              <a:t>insn</a:t>
            </a:r>
            <a:r>
              <a:rPr sz="1250" b="1" dirty="0">
                <a:solidFill>
                  <a:srgbClr val="E6EDF3"/>
                </a:solidFill>
                <a:latin typeface="Consolas"/>
              </a:rPr>
              <a:t>            915</a:t>
            </a:r>
          </a:p>
          <a:p>
            <a:pPr algn="l">
              <a:spcAft>
                <a:spcPts val="500"/>
              </a:spcAft>
            </a:pPr>
            <a:r>
              <a:rPr sz="1150" b="0" dirty="0" err="1">
                <a:solidFill>
                  <a:srgbClr val="8B949E"/>
                </a:solidFill>
                <a:latin typeface="Consolas"/>
              </a:rPr>
              <a:t>latenza</a:t>
            </a:r>
            <a:r>
              <a:rPr sz="1250" b="1" dirty="0">
                <a:solidFill>
                  <a:srgbClr val="E6EDF3"/>
                </a:solidFill>
                <a:latin typeface="Consolas"/>
              </a:rPr>
              <a:t>            56 ns/pkt</a:t>
            </a:r>
          </a:p>
          <a:p>
            <a:pPr algn="l">
              <a:spcAft>
                <a:spcPts val="500"/>
              </a:spcAft>
            </a:pPr>
            <a:r>
              <a:rPr sz="1150" b="0" dirty="0">
                <a:solidFill>
                  <a:srgbClr val="8B949E"/>
                </a:solidFill>
                <a:latin typeface="Consolas"/>
              </a:rPr>
              <a:t>throughput</a:t>
            </a:r>
            <a:r>
              <a:rPr sz="1250" b="1" dirty="0">
                <a:solidFill>
                  <a:srgbClr val="E6EDF3"/>
                </a:solidFill>
                <a:latin typeface="Consolas"/>
              </a:rPr>
              <a:t>       17.86 Mpps</a:t>
            </a:r>
          </a:p>
          <a:p>
            <a:pPr algn="l">
              <a:spcAft>
                <a:spcPts val="500"/>
              </a:spcAft>
            </a:pPr>
            <a:r>
              <a:rPr sz="1150" b="0" dirty="0" err="1">
                <a:solidFill>
                  <a:srgbClr val="8B949E"/>
                </a:solidFill>
                <a:latin typeface="Consolas"/>
              </a:rPr>
              <a:t>retval</a:t>
            </a:r>
            <a:r>
              <a:rPr sz="1250" b="1" dirty="0">
                <a:solidFill>
                  <a:srgbClr val="E6EDF3"/>
                </a:solidFill>
                <a:latin typeface="Consolas"/>
              </a:rPr>
              <a:t>             4  (redirect)</a:t>
            </a:r>
          </a:p>
          <a:p>
            <a:pPr algn="l">
              <a:spcAft>
                <a:spcPts val="500"/>
              </a:spcAft>
            </a:pPr>
            <a:r>
              <a:rPr sz="1100" b="0" dirty="0">
                <a:solidFill>
                  <a:srgbClr val="3FB950"/>
                </a:solidFill>
                <a:latin typeface="Segoe UI"/>
              </a:rPr>
              <a:t>= </a:t>
            </a:r>
            <a:r>
              <a:rPr sz="1100" b="0" dirty="0" err="1">
                <a:solidFill>
                  <a:srgbClr val="3FB950"/>
                </a:solidFill>
                <a:latin typeface="Segoe UI"/>
              </a:rPr>
              <a:t>massimo</a:t>
            </a:r>
            <a:r>
              <a:rPr sz="1100" b="0" dirty="0">
                <a:solidFill>
                  <a:srgbClr val="3FB950"/>
                </a:solidFill>
                <a:latin typeface="Segoe UI"/>
              </a:rPr>
              <a:t> literal, perf NON </a:t>
            </a:r>
            <a:r>
              <a:rPr sz="1100" b="0" dirty="0" err="1">
                <a:solidFill>
                  <a:srgbClr val="3FB950"/>
                </a:solidFill>
                <a:latin typeface="Segoe UI"/>
              </a:rPr>
              <a:t>persa</a:t>
            </a:r>
            <a:endParaRPr sz="1100" b="0" dirty="0">
              <a:solidFill>
                <a:srgbClr val="3FB950"/>
              </a:solidFill>
              <a:latin typeface="Segoe UI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40080" y="598932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8B949E"/>
                </a:solidFill>
                <a:latin typeface="Segoe UI"/>
              </a:rPr>
              <a:t>Il .o è precompilato: a runtime nessun clang. I pesi restano literal → clang -O2 ha già ridotto le moltiplicazioni nel bytecode.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972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>
                <a:solidFill>
                  <a:srgbClr val="F5A623"/>
                </a:solidFill>
                <a:latin typeface="Georgia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36576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E6EDF3"/>
                </a:solidFill>
                <a:latin typeface="Georgia"/>
              </a:rPr>
              <a:t>Il confronto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27632" y="1024128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>
                <a:solidFill>
                  <a:srgbClr val="8B949E"/>
                </a:solidFill>
                <a:latin typeface="Segoe UI"/>
              </a:rPr>
              <a:t>BCC vs .rodata vs AOT-literal — deploy e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990087" y="1874519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8B949E"/>
                </a:solidFill>
                <a:latin typeface="Segoe UI"/>
              </a:rPr>
              <a:t>deploy modello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34456" y="1874519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8B949E"/>
                </a:solidFill>
                <a:latin typeface="Segoe UI"/>
              </a:rPr>
              <a:t>perf per-pacchetto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4584" y="1874519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8B949E"/>
                </a:solidFill>
                <a:latin typeface="Segoe UI"/>
              </a:rPr>
              <a:t>clang runtime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86000"/>
            <a:ext cx="10927080" cy="749808"/>
          </a:xfrm>
          <a:prstGeom prst="roundRect">
            <a:avLst/>
          </a:prstGeom>
          <a:solidFill>
            <a:srgbClr val="1B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1" y="2286000"/>
            <a:ext cx="2148839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F85149"/>
                </a:solidFill>
                <a:latin typeface="Consolas"/>
              </a:rPr>
              <a:t>literal + BCC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79" y="2286000"/>
            <a:ext cx="274320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F85149"/>
                </a:solidFill>
                <a:latin typeface="Consolas"/>
              </a:rPr>
              <a:t>~1660 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9048" y="2286000"/>
            <a:ext cx="310896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E6EDF3"/>
                </a:solidFill>
                <a:latin typeface="Consolas"/>
              </a:rPr>
              <a:t>literal max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09176" y="2286000"/>
            <a:ext cx="2148839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F85149"/>
                </a:solidFill>
                <a:latin typeface="Segoe UI"/>
              </a:rPr>
              <a:t>sì, ogni modello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127248"/>
            <a:ext cx="10927080" cy="749808"/>
          </a:xfrm>
          <a:prstGeom prst="roundRect">
            <a:avLst/>
          </a:prstGeom>
          <a:solidFill>
            <a:srgbClr val="1B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671" y="3127248"/>
            <a:ext cx="2148839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F5A623"/>
                </a:solidFill>
                <a:latin typeface="Consolas"/>
              </a:rPr>
              <a:t>AOT + rodata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54679" y="3127248"/>
            <a:ext cx="274320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3FB950"/>
                </a:solidFill>
                <a:latin typeface="Consolas"/>
              </a:rPr>
              <a:t>~pochi 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9048" y="3127248"/>
            <a:ext cx="310896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F5A623"/>
                </a:solidFill>
                <a:latin typeface="Consolas"/>
              </a:rPr>
              <a:t>−27% throughput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09176" y="3127248"/>
            <a:ext cx="2148839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3FB950"/>
                </a:solidFill>
                <a:latin typeface="Segoe UI"/>
              </a:rPr>
              <a:t>no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968496"/>
            <a:ext cx="10927080" cy="749808"/>
          </a:xfrm>
          <a:prstGeom prst="roundRect">
            <a:avLst/>
          </a:prstGeom>
          <a:solidFill>
            <a:srgbClr val="112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4671" y="3968496"/>
            <a:ext cx="2148839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3FB950"/>
                </a:solidFill>
                <a:latin typeface="Consolas"/>
              </a:rPr>
              <a:t>AOT-literal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54679" y="3968496"/>
            <a:ext cx="274320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3FB950"/>
                </a:solidFill>
                <a:latin typeface="Consolas"/>
              </a:rPr>
              <a:t>6.2 ms (misurato)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9048" y="3968496"/>
            <a:ext cx="310896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3FB950"/>
                </a:solidFill>
                <a:latin typeface="Consolas"/>
              </a:rPr>
              <a:t>literal max (56 ns)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09176" y="3968496"/>
            <a:ext cx="2148839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3FB950"/>
                </a:solidFill>
                <a:latin typeface="Segoe UI"/>
              </a:rPr>
              <a:t>no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074920"/>
            <a:ext cx="10927080" cy="1051560"/>
          </a:xfrm>
          <a:prstGeom prst="roundRect">
            <a:avLst/>
          </a:prstGeom>
          <a:solidFill>
            <a:srgbClr val="112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731519" y="5120640"/>
            <a:ext cx="10744200" cy="64008"/>
          </a:xfrm>
          <a:prstGeom prst="round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13231" y="5129783"/>
            <a:ext cx="10780776" cy="9418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3FB950"/>
                </a:solidFill>
                <a:latin typeface="Segoe UI"/>
              </a:rPr>
              <a:t>Vincitore per i modelli noti a priori: AOT-literal.</a:t>
            </a:r>
          </a:p>
          <a:p>
            <a:pPr algn="l"/>
            <a:r>
              <a:rPr sz="1250" b="0">
                <a:solidFill>
                  <a:srgbClr val="E6EDF3"/>
                </a:solidFill>
                <a:latin typeface="Segoe UI"/>
              </a:rPr>
              <a:t>Deploy ~270× più veloce del BCC (6.2 ms vs 1660 ms) E perf massima preservata — il .rodata scambia perf per flessibilità, l'AOT-literal no.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8B949E"/>
                </a:solidFill>
                <a:latin typeface="Segoe UI"/>
              </a:rPr>
              <a:t>method4 (BCC literal) resta intatto come fallback garantito: l'AOT-literal è un loader alternativo, non un rimpiazzo.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972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>
                <a:solidFill>
                  <a:srgbClr val="F5A623"/>
                </a:solidFill>
                <a:latin typeface="Georgia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36576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E6EDF3"/>
                </a:solidFill>
                <a:latin typeface="Georgia"/>
              </a:rPr>
              <a:t>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27632" y="1024128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>
                <a:solidFill>
                  <a:srgbClr val="8B949E"/>
                </a:solidFill>
                <a:latin typeface="Segoe UI"/>
              </a:rPr>
              <a:t>AOT-literal per QUALSIASI descrittore, se accettato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5349240" cy="1874519"/>
          </a:xfrm>
          <a:prstGeom prst="roundRect">
            <a:avLst/>
          </a:prstGeom>
          <a:solidFill>
            <a:srgbClr val="1B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19" y="1920239"/>
            <a:ext cx="5166359" cy="64008"/>
          </a:xfrm>
          <a:prstGeom prst="round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1" y="1929384"/>
            <a:ext cx="5202936" cy="17647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F5A623"/>
                </a:solidFill>
                <a:latin typeface="Segoe UI"/>
              </a:rPr>
              <a:t>Oggi: solo descrittore default</a:t>
            </a:r>
          </a:p>
          <a:p>
            <a:pPr algn="l"/>
            <a:r>
              <a:rPr sz="1200" b="0">
                <a:solidFill>
                  <a:srgbClr val="E6EDF3"/>
                </a:solidFill>
                <a:latin typeface="Segoe UI"/>
              </a:rPr>
              <a:t>L'AOT-literal genera C in dialetto libbpf, ma cablato al 65-4-4-7. Il path BCC invece copre già QUALSIASI feature-set sparse.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874519"/>
            <a:ext cx="5349240" cy="1874519"/>
          </a:xfrm>
          <a:prstGeom prst="roundRect">
            <a:avLst/>
          </a:prstGeom>
          <a:solidFill>
            <a:srgbClr val="1B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291072" y="1920239"/>
            <a:ext cx="5166359" cy="64008"/>
          </a:xfrm>
          <a:prstGeom prst="round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72784" y="2523239"/>
            <a:ext cx="5202936" cy="57708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dirty="0">
                <a:solidFill>
                  <a:srgbClr val="3FB950"/>
                </a:solidFill>
                <a:latin typeface="Segoe UI"/>
              </a:rPr>
              <a:t>Se </a:t>
            </a:r>
            <a:r>
              <a:rPr sz="1350" b="1" dirty="0" err="1">
                <a:solidFill>
                  <a:srgbClr val="3FB950"/>
                </a:solidFill>
                <a:latin typeface="Segoe UI"/>
              </a:rPr>
              <a:t>accettato</a:t>
            </a:r>
            <a:endParaRPr sz="1350" b="1" dirty="0">
              <a:solidFill>
                <a:srgbClr val="3FB950"/>
              </a:solidFill>
              <a:latin typeface="Segoe UI"/>
            </a:endParaRPr>
          </a:p>
          <a:p>
            <a:pPr algn="l"/>
            <a:r>
              <a:rPr sz="1200" b="0" dirty="0" err="1">
                <a:solidFill>
                  <a:srgbClr val="E6EDF3"/>
                </a:solidFill>
                <a:latin typeface="Segoe UI"/>
              </a:rPr>
              <a:t>Portare</a:t>
            </a:r>
            <a:r>
              <a:rPr sz="1200" b="0" dirty="0">
                <a:solidFill>
                  <a:srgbClr val="E6EDF3"/>
                </a:solidFill>
                <a:latin typeface="Segoe UI"/>
              </a:rPr>
              <a:t> le 3 _</a:t>
            </a:r>
            <a:r>
              <a:rPr sz="1200" b="0" dirty="0" err="1">
                <a:solidFill>
                  <a:srgbClr val="E6EDF3"/>
                </a:solidFill>
                <a:latin typeface="Segoe UI"/>
              </a:rPr>
              <a:t>gen_feature</a:t>
            </a:r>
            <a:r>
              <a:rPr sz="1200" b="0" dirty="0">
                <a:solidFill>
                  <a:srgbClr val="E6EDF3"/>
                </a:solidFill>
                <a:latin typeface="Segoe UI"/>
              </a:rPr>
              <a:t>_* (scalar · </a:t>
            </a:r>
            <a:r>
              <a:rPr sz="1200" b="0" dirty="0" err="1">
                <a:solidFill>
                  <a:srgbClr val="E6EDF3"/>
                </a:solidFill>
                <a:latin typeface="Segoe UI"/>
              </a:rPr>
              <a:t>dense_vector</a:t>
            </a:r>
            <a:r>
              <a:rPr sz="1200" b="0" dirty="0">
                <a:solidFill>
                  <a:srgbClr val="E6EDF3"/>
                </a:solidFill>
                <a:latin typeface="Segoe UI"/>
              </a:rPr>
              <a:t> · </a:t>
            </a:r>
            <a:r>
              <a:rPr sz="1200" b="0" dirty="0" err="1">
                <a:solidFill>
                  <a:srgbClr val="E6EDF3"/>
                </a:solidFill>
                <a:latin typeface="Segoe UI"/>
              </a:rPr>
              <a:t>onehot</a:t>
            </a:r>
            <a:r>
              <a:rPr sz="1200" b="0" dirty="0">
                <a:solidFill>
                  <a:srgbClr val="E6EDF3"/>
                </a:solidFill>
                <a:latin typeface="Segoe UI"/>
              </a:rPr>
              <a:t>) in </a:t>
            </a:r>
            <a:r>
              <a:rPr sz="1200" b="0" dirty="0" err="1">
                <a:solidFill>
                  <a:srgbClr val="E6EDF3"/>
                </a:solidFill>
                <a:latin typeface="Segoe UI"/>
              </a:rPr>
              <a:t>dialetto</a:t>
            </a:r>
            <a:r>
              <a:rPr sz="1200" b="0" dirty="0">
                <a:solidFill>
                  <a:srgbClr val="E6EDF3"/>
                </a:solidFill>
                <a:latin typeface="Segoe UI"/>
              </a:rPr>
              <a:t> </a:t>
            </a:r>
            <a:r>
              <a:rPr sz="1200" b="0" dirty="0" err="1">
                <a:solidFill>
                  <a:srgbClr val="E6EDF3"/>
                </a:solidFill>
                <a:latin typeface="Segoe UI"/>
              </a:rPr>
              <a:t>libbpf</a:t>
            </a:r>
            <a:r>
              <a:rPr sz="1200" b="0" dirty="0">
                <a:solidFill>
                  <a:srgbClr val="E6EDF3"/>
                </a:solidFill>
                <a:latin typeface="Segoe UI"/>
              </a:rPr>
              <a:t> → </a:t>
            </a:r>
            <a:r>
              <a:rPr sz="1200" b="0" dirty="0" err="1">
                <a:solidFill>
                  <a:srgbClr val="E6EDF3"/>
                </a:solidFill>
                <a:latin typeface="Segoe UI"/>
              </a:rPr>
              <a:t>l'AOT</a:t>
            </a:r>
            <a:r>
              <a:rPr sz="1200" b="0" dirty="0">
                <a:solidFill>
                  <a:srgbClr val="E6EDF3"/>
                </a:solidFill>
                <a:latin typeface="Segoe UI"/>
              </a:rPr>
              <a:t> </a:t>
            </a:r>
            <a:r>
              <a:rPr sz="1200" b="0" dirty="0" err="1">
                <a:solidFill>
                  <a:srgbClr val="E6EDF3"/>
                </a:solidFill>
                <a:latin typeface="Segoe UI"/>
              </a:rPr>
              <a:t>copre</a:t>
            </a:r>
            <a:r>
              <a:rPr sz="1200" b="0" dirty="0">
                <a:solidFill>
                  <a:srgbClr val="E6EDF3"/>
                </a:solidFill>
                <a:latin typeface="Segoe UI"/>
              </a:rPr>
              <a:t> </a:t>
            </a:r>
            <a:r>
              <a:rPr sz="1200" b="0" dirty="0" err="1">
                <a:solidFill>
                  <a:srgbClr val="E6EDF3"/>
                </a:solidFill>
                <a:latin typeface="Segoe UI"/>
              </a:rPr>
              <a:t>ogni</a:t>
            </a:r>
            <a:r>
              <a:rPr sz="1200" b="0" dirty="0">
                <a:solidFill>
                  <a:srgbClr val="E6EDF3"/>
                </a:solidFill>
                <a:latin typeface="Segoe UI"/>
              </a:rPr>
              <a:t> </a:t>
            </a:r>
            <a:r>
              <a:rPr sz="1200" b="0" dirty="0" err="1">
                <a:solidFill>
                  <a:srgbClr val="E6EDF3"/>
                </a:solidFill>
                <a:latin typeface="Segoe UI"/>
              </a:rPr>
              <a:t>modello</a:t>
            </a:r>
            <a:r>
              <a:rPr sz="1200" b="0" dirty="0">
                <a:solidFill>
                  <a:srgbClr val="E6EDF3"/>
                </a:solidFill>
                <a:latin typeface="Segoe UI"/>
              </a:rPr>
              <a:t> sparse. </a:t>
            </a:r>
            <a:endParaRPr lang="it-IT" sz="1200" b="0" dirty="0">
              <a:solidFill>
                <a:srgbClr val="E6EDF3"/>
              </a:solidFill>
              <a:latin typeface="Segoe UI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40080" y="3977639"/>
            <a:ext cx="10972800" cy="1051560"/>
          </a:xfrm>
          <a:prstGeom prst="round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4096512"/>
            <a:ext cx="106070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8B949E"/>
                </a:solidFill>
                <a:latin typeface="Segoe UI"/>
              </a:rPr>
              <a:t>differenza di dialetto — stessa logica, sintassi diversa: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8A6FF"/>
                </a:solidFill>
                <a:latin typeface="Consolas"/>
              </a:rPr>
              <a:t>BCC     :  BPF_ARRAY(m, t, n)     m.lookup(&amp;k)        (funzioni nude)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3FB950"/>
                </a:solidFill>
                <a:latin typeface="Consolas"/>
              </a:rPr>
              <a:t>libbpf  :  struct{...} SEC(.maps) bpf_map_lookup_elem(&amp;m,&amp;k)  SEC("xdp")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972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>
                <a:solidFill>
                  <a:srgbClr val="F5A623"/>
                </a:solidFill>
                <a:latin typeface="Georgia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36576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E6EDF3"/>
                </a:solidFill>
                <a:latin typeface="Georgia"/>
              </a:rPr>
              <a:t>In sintesi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27632" y="1024128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>
                <a:solidFill>
                  <a:srgbClr val="8B949E"/>
                </a:solidFill>
                <a:latin typeface="Segoe UI"/>
              </a:rPr>
              <a:t>Cosa cambia per l'hardcoded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10908792" cy="868680"/>
          </a:xfrm>
          <a:prstGeom prst="roundRect">
            <a:avLst/>
          </a:prstGeom>
          <a:solidFill>
            <a:srgbClr val="112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19" y="1965960"/>
            <a:ext cx="10725912" cy="64008"/>
          </a:xfrm>
          <a:prstGeom prst="round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1" y="1975104"/>
            <a:ext cx="10762488" cy="7589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3FB950"/>
                </a:solidFill>
                <a:latin typeface="Segoe UI"/>
              </a:rPr>
              <a:t>IV flessibile a costo zero:</a:t>
            </a:r>
            <a:r>
              <a:rPr sz="1300" b="0">
                <a:solidFill>
                  <a:srgbClr val="E6EDF3"/>
                </a:solidFill>
                <a:latin typeface="Segoe UI"/>
              </a:rPr>
              <a:t>  descrittore di feature per-modello; il default 65-4-4-7 resta byte-identico (regressione).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926080"/>
            <a:ext cx="3520440" cy="1828800"/>
          </a:xfrm>
          <a:prstGeom prst="roundRect">
            <a:avLst/>
          </a:prstGeom>
          <a:solidFill>
            <a:srgbClr val="1B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31519" y="2971800"/>
            <a:ext cx="3337560" cy="64008"/>
          </a:xfrm>
          <a:prstGeom prst="round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1" y="2980944"/>
            <a:ext cx="3374136" cy="17190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58A6FF"/>
                </a:solidFill>
                <a:latin typeface="Segoe UI"/>
              </a:rPr>
              <a:t>hot-path</a:t>
            </a:r>
          </a:p>
          <a:p>
            <a:pPr algn="l"/>
            <a:r>
              <a:rPr sz="3000" b="1">
                <a:solidFill>
                  <a:srgbClr val="E6EDF3"/>
                </a:solidFill>
                <a:latin typeface="Georgia"/>
              </a:rPr>
              <a:t>N → 1</a:t>
            </a:r>
          </a:p>
          <a:p>
            <a:pPr algn="l"/>
            <a:r>
              <a:rPr sz="1100" b="0">
                <a:solidFill>
                  <a:srgbClr val="8B949E"/>
                </a:solidFill>
                <a:latin typeface="Segoe UI"/>
              </a:rPr>
              <a:t>lookup per feature dense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4256" y="2926080"/>
            <a:ext cx="3520440" cy="1828800"/>
          </a:xfrm>
          <a:prstGeom prst="roundRect">
            <a:avLst/>
          </a:prstGeom>
          <a:solidFill>
            <a:srgbClr val="1B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425696" y="2971800"/>
            <a:ext cx="3337560" cy="64008"/>
          </a:xfrm>
          <a:prstGeom prst="round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07408" y="2980944"/>
            <a:ext cx="3374136" cy="17190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F5A623"/>
                </a:solidFill>
                <a:latin typeface="Segoe UI"/>
              </a:rPr>
              <a:t>deploy modello</a:t>
            </a:r>
          </a:p>
          <a:p>
            <a:pPr algn="l"/>
            <a:r>
              <a:rPr sz="2400" b="1">
                <a:solidFill>
                  <a:srgbClr val="E6EDF3"/>
                </a:solidFill>
                <a:latin typeface="Georgia"/>
              </a:rPr>
              <a:t>1660 → 6.2 ms</a:t>
            </a:r>
          </a:p>
          <a:p>
            <a:pPr algn="l"/>
            <a:r>
              <a:rPr sz="1100" b="0">
                <a:solidFill>
                  <a:srgbClr val="8B949E"/>
                </a:solidFill>
                <a:latin typeface="Segoe UI"/>
              </a:rPr>
              <a:t>via AOT-literal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28431" y="2926080"/>
            <a:ext cx="3520440" cy="1828800"/>
          </a:xfrm>
          <a:prstGeom prst="roundRect">
            <a:avLst/>
          </a:prstGeom>
          <a:solidFill>
            <a:srgbClr val="1B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119871" y="2971800"/>
            <a:ext cx="3337560" cy="64008"/>
          </a:xfrm>
          <a:prstGeom prst="roundRect">
            <a:avLst/>
          </a:prstGeom>
          <a:solidFill>
            <a:srgbClr val="3FD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01583" y="2980944"/>
            <a:ext cx="3374136" cy="17190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3FD0C8"/>
                </a:solidFill>
                <a:latin typeface="Segoe UI"/>
              </a:rPr>
              <a:t>performance</a:t>
            </a:r>
          </a:p>
          <a:p>
            <a:pPr algn="l"/>
            <a:r>
              <a:rPr sz="2600" b="1">
                <a:solidFill>
                  <a:srgbClr val="E6EDF3"/>
                </a:solidFill>
                <a:latin typeface="Georgia"/>
              </a:rPr>
              <a:t>literal max</a:t>
            </a:r>
          </a:p>
          <a:p>
            <a:pPr algn="l"/>
            <a:r>
              <a:rPr sz="1100" b="0">
                <a:solidFill>
                  <a:srgbClr val="8B949E"/>
                </a:solidFill>
                <a:latin typeface="Segoe UI"/>
              </a:rPr>
              <a:t>56 ns · 17.86 Mpps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074920"/>
            <a:ext cx="109728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8B949E"/>
                </a:solidFill>
                <a:latin typeface="Segoe UI"/>
              </a:rPr>
              <a:t>Nota:</a:t>
            </a:r>
            <a:r>
              <a:rPr sz="1300" b="0">
                <a:solidFill>
                  <a:srgbClr val="E6EDF3"/>
                </a:solidFill>
                <a:latin typeface="Segoe UI"/>
              </a:rPr>
              <a:t>  method4 BCC literal resta il fallback garantito. L'AOT-literal è un loader alternativo, attivabile per i modelli noti a priori senza toccare l'architettura dispatcher + tail-call.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1632</Words>
  <Application>Microsoft Office PowerPoint</Application>
  <PresentationFormat>Widescreen</PresentationFormat>
  <Paragraphs>211</Paragraphs>
  <Slides>11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11</vt:i4>
      </vt:variant>
    </vt:vector>
  </HeadingPairs>
  <TitlesOfParts>
    <vt:vector size="17" baseType="lpstr">
      <vt:lpstr>Arial</vt:lpstr>
      <vt:lpstr>Calibri</vt:lpstr>
      <vt:lpstr>Consolas</vt:lpstr>
      <vt:lpstr>Georgia</vt:lpstr>
      <vt:lpstr>Segoe UI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Ettore Cantile</cp:lastModifiedBy>
  <cp:revision>4</cp:revision>
  <dcterms:created xsi:type="dcterms:W3CDTF">2013-01-27T09:14:16Z</dcterms:created>
  <dcterms:modified xsi:type="dcterms:W3CDTF">2026-07-14T14:39:24Z</dcterms:modified>
  <cp:category/>
</cp:coreProperties>
</file>