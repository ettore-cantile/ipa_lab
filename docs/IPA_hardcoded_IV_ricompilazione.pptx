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10698480" y="457200"/>
            <a:ext cx="1051560" cy="941832"/>
          </a:xfrm>
          <a:prstGeom prst="hexagon">
            <a:avLst/>
          </a:prstGeom>
          <a:noFill/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11292840" y="1051560"/>
            <a:ext cx="1051560" cy="941832"/>
          </a:xfrm>
          <a:prstGeom prst="hexagon">
            <a:avLst/>
          </a:prstGeom>
          <a:noFill/>
          <a:ln w="19050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10104120" y="1645920"/>
            <a:ext cx="1051560" cy="941832"/>
          </a:xfrm>
          <a:prstGeom prst="hexagon">
            <a:avLst/>
          </a:prstGeom>
          <a:noFill/>
          <a:ln w="19050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965960"/>
            <a:ext cx="822960" cy="82296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D1117"/>
                </a:solidFill>
                <a:latin typeface="Segoe UI"/>
              </a:rPr>
              <a:t>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000" b="1">
                <a:solidFill>
                  <a:srgbClr val="E6EDF3"/>
                </a:solidFill>
                <a:latin typeface="Georgia"/>
              </a:rPr>
              <a:t>Hardcoded flessibile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69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F5A623"/>
                </a:solidFill>
                <a:latin typeface="Consolas"/>
              </a:rPr>
              <a:t>Input vector generico + costo di ricompilazione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5488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B949E"/>
                </a:solidFill>
                <a:latin typeface="Segoe UI"/>
              </a:rPr>
              <a:t>Pipeline 1: dallo scenario FRR cablato a un descrittore di feature per-modello, senza perdere prestazioni — e come abbattere la ricompilazione.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035040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FB950"/>
                </a:solidFill>
                <a:latin typeface="Consolas"/>
              </a:rPr>
              <a:t>P1 hardcoded</a:t>
            </a:r>
            <a:r>
              <a:rPr sz="1300" b="1">
                <a:solidFill>
                  <a:srgbClr val="484F58"/>
                </a:solidFill>
                <a:latin typeface="Consolas"/>
              </a:rPr>
              <a:t>     ·     IV descriptor  ·  vector-map 1 lookup  ·  AOT-literal  ·  BPF_PROG_TEST_RUN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Il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Due limiti dell'hardcoded segnalati dal professore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874519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1920239"/>
            <a:ext cx="5166359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929384"/>
            <a:ext cx="5202936" cy="17647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85149"/>
                </a:solidFill>
                <a:latin typeface="Segoe UI"/>
              </a:rPr>
              <a:t>IV cablato sullo scenario</a:t>
            </a:r>
          </a:p>
          <a:p>
            <a:pPr algn="l"/>
            <a:r>
              <a:rPr sz="1250" b="0">
                <a:solidFill>
                  <a:srgbClr val="E6EDF3"/>
                </a:solidFill>
                <a:latin typeface="Segoe UI"/>
              </a:rPr>
              <a:t>La struttura è sempre 64-x-x-7: il vettore di input è fisso per lo scenario FRR. Modelli per scenari diversi hanno feature e output diversi.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874519"/>
            <a:ext cx="5349240" cy="1874519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91072" y="1920239"/>
            <a:ext cx="5166359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2784" y="1929384"/>
            <a:ext cx="5202936" cy="17647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5A623"/>
                </a:solidFill>
                <a:latin typeface="Segoe UI"/>
              </a:rPr>
              <a:t>Costo di ricompilazione</a:t>
            </a:r>
          </a:p>
          <a:p>
            <a:pPr algn="l"/>
            <a:r>
              <a:rPr sz="1250" b="0">
                <a:solidFill>
                  <a:srgbClr val="E6EDF3"/>
                </a:solidFill>
                <a:latin typeface="Segoe UI"/>
              </a:rPr>
              <a:t>Ogni modello nuovo o modificato → sorgente C nuovo → clang ricompila tutto da zero. I pesi sono literal nel codice.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77639"/>
            <a:ext cx="10908792" cy="960120"/>
          </a:xfrm>
          <a:prstGeom prst="roundRect">
            <a:avLst/>
          </a:prstGeom>
          <a:solidFill>
            <a:srgbClr val="12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19" y="4023359"/>
            <a:ext cx="10725912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1" y="4032503"/>
            <a:ext cx="10762488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58A6FF"/>
                </a:solidFill>
                <a:latin typeface="Segoe UI"/>
              </a:rPr>
              <a:t>Obiettivo</a:t>
            </a:r>
            <a:r>
              <a:rPr sz="1300" b="0">
                <a:solidFill>
                  <a:srgbClr val="E6EDF3"/>
                </a:solidFill>
                <a:latin typeface="Segoe UI"/>
              </a:rPr>
              <a:t>   rendere l'IV flessibile senza perdere le prestazioni superiori dell'hardcoded, e ridurre/eliminare la ricompilazione.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25780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8B949E"/>
                </a:solidFill>
                <a:latin typeface="Segoe UI"/>
              </a:rPr>
              <a:t>Vincolo del professore (modelli noti a priori):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DF3"/>
                </a:solidFill>
                <a:latin typeface="Segoe UI"/>
              </a:rPr>
              <a:t>a parità di tipo di feature la dimensione è fissa nella stessa rete — è una proprietà del NODO, non un parametro del modello. I modelli scelgono solo QUALI tipi usare.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La nuova gestione dell'IV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Catalogo di tipi + descrittore per-modello + config del nodo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611880" cy="28346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1965960"/>
            <a:ext cx="342900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06654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Catalogo dei tipi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514600"/>
            <a:ext cx="32461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E6EDF3"/>
                </a:solidFill>
                <a:latin typeface="Consolas"/>
              </a:rPr>
              <a:t>link_state</a:t>
            </a:r>
            <a:r>
              <a:rPr sz="1100" b="0">
                <a:solidFill>
                  <a:srgbClr val="8B949E"/>
                </a:solidFill>
                <a:latin typeface="Segoe UI"/>
              </a:rPr>
              <a:t>  dense da mappa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E6EDF3"/>
                </a:solidFill>
                <a:latin typeface="Consolas"/>
              </a:rPr>
              <a:t>queue_occupancy</a:t>
            </a:r>
            <a:r>
              <a:rPr sz="1100" b="0">
                <a:solidFill>
                  <a:srgbClr val="8B949E"/>
                </a:solidFill>
                <a:latin typeface="Segoe UI"/>
              </a:rPr>
              <a:t>  dense da mappa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E6EDF3"/>
                </a:solidFill>
                <a:latin typeface="Consolas"/>
              </a:rPr>
              <a:t>ttl</a:t>
            </a:r>
            <a:r>
              <a:rPr sz="1100" b="0">
                <a:solidFill>
                  <a:srgbClr val="8B949E"/>
                </a:solidFill>
                <a:latin typeface="Segoe UI"/>
              </a:rPr>
              <a:t>  scalare dal pacchetto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E6EDF3"/>
                </a:solidFill>
                <a:latin typeface="Consolas"/>
              </a:rPr>
              <a:t>ingress_iface</a:t>
            </a:r>
            <a:r>
              <a:rPr sz="1100" b="0">
                <a:solidFill>
                  <a:srgbClr val="8B949E"/>
                </a:solidFill>
                <a:latin typeface="Segoe UI"/>
              </a:rPr>
              <a:t>  one-hot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E6EDF3"/>
                </a:solidFill>
                <a:latin typeface="Consolas"/>
              </a:rPr>
              <a:t>node</a:t>
            </a:r>
            <a:r>
              <a:rPr sz="1100" b="0">
                <a:solidFill>
                  <a:srgbClr val="8B949E"/>
                </a:solidFill>
                <a:latin typeface="Segoe UI"/>
              </a:rPr>
              <a:t>  one-hot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3 kind → scalar · dense_vector · onehot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920240"/>
            <a:ext cx="3611880" cy="28346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80559" y="1965960"/>
            <a:ext cx="342900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206654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F5A623"/>
                </a:solidFill>
                <a:latin typeface="Segoe UI"/>
              </a:rPr>
              <a:t>Descrittore per-modello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542032"/>
            <a:ext cx="32461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8B949E"/>
                </a:solidFill>
                <a:latin typeface="Segoe UI"/>
              </a:rPr>
              <a:t>Lista ordinata di tipi: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features = [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58A6FF"/>
                </a:solidFill>
                <a:latin typeface="Consolas"/>
              </a:rPr>
              <a:t>  link_state,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58A6FF"/>
                </a:solidFill>
                <a:latin typeface="Consolas"/>
              </a:rPr>
              <a:t>  queue_occupancy,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58A6FF"/>
                </a:solidFill>
                <a:latin typeface="Consolas"/>
              </a:rPr>
              <a:t>  ttl ]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n_out = 7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N_IN = Σ size dei tipi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920240"/>
            <a:ext cx="3410712" cy="28346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0" y="1965960"/>
            <a:ext cx="3227832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066544"/>
            <a:ext cx="304495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3FD0C8"/>
                </a:solidFill>
                <a:latin typeface="Segoe UI"/>
              </a:rPr>
              <a:t>Config del nodo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7" y="2542032"/>
            <a:ext cx="30632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8B949E"/>
                </a:solidFill>
                <a:latin typeface="Segoe UI"/>
              </a:rPr>
              <a:t>La dimensione = proprietà del nodo: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n_interfaces = 6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n_nodes = 52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n_queues = 4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link_state ha 6 slot per OGNI modello sullo stesso nodo.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74920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B949E"/>
                </a:solidFill>
                <a:latin typeface="Segoe UI"/>
              </a:rPr>
              <a:t>Stesso nodo, modelli diversi:</a:t>
            </a:r>
            <a:r>
              <a:rPr sz="1300" b="0">
                <a:solidFill>
                  <a:srgbClr val="E6EDF3"/>
                </a:solidFill>
                <a:latin typeface="Segoe UI"/>
              </a:rPr>
              <a:t>  cambia solo il SET di tipi, non la loro dimensione. Il generatore emette il codice che costruisce quel preciso IV, feature per feature.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Retrocompatibilità:</a:t>
            </a:r>
            <a:r>
              <a:rPr sz="1300" b="0">
                <a:solidFill>
                  <a:srgbClr val="E6EDF3"/>
                </a:solidFill>
                <a:latin typeface="Segoe UI"/>
              </a:rPr>
              <a:t>  senza descrittore → default [link_state, iface, ttl, node] = il classico 65-4-4-7, byte-identico.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Il flusso del pacchetto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Dall'arrivo su XDP all'azione, e come si costruisce l'IV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810512" cy="960120"/>
          </a:xfrm>
          <a:prstGeom prst="roundRect">
            <a:avLst/>
          </a:prstGeom>
          <a:solidFill>
            <a:srgbClr val="12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1920239"/>
            <a:ext cx="1627632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929384"/>
            <a:ext cx="1664208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  <a:latin typeface="Consolas"/>
              </a:rPr>
              <a:t>XDP ingress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parse eth/ip/udp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2303" y="21031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96311" y="1874519"/>
            <a:ext cx="1810512" cy="9601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87751" y="1920239"/>
            <a:ext cx="1627632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9463" y="1929384"/>
            <a:ext cx="1664208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E6EDF3"/>
                </a:solidFill>
                <a:latin typeface="Consolas"/>
              </a:rPr>
              <a:t>IPA :9999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model_id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88536" y="21031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2544" y="1874519"/>
            <a:ext cx="1810512" cy="960120"/>
          </a:xfrm>
          <a:prstGeom prst="roundRect">
            <a:avLst/>
          </a:prstGeom>
          <a:solidFill>
            <a:srgbClr val="2A2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43983" y="1920239"/>
            <a:ext cx="1627632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5696" y="1929384"/>
            <a:ext cx="1664208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5A623"/>
                </a:solidFill>
                <a:latin typeface="Consolas"/>
              </a:rPr>
              <a:t>tail call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model_&lt;id&gt;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4768" y="21031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5" y="1874519"/>
            <a:ext cx="1810512" cy="960120"/>
          </a:xfrm>
          <a:prstGeom prst="roundRect">
            <a:avLst/>
          </a:prstGeom>
          <a:solidFill>
            <a:srgbClr val="2A2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00215" y="1920239"/>
            <a:ext cx="1627632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81927" y="1929384"/>
            <a:ext cx="1664208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5A623"/>
                </a:solidFill>
                <a:latin typeface="Consolas"/>
              </a:rPr>
              <a:t>build IV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descrittore locale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21031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5007" y="1874519"/>
            <a:ext cx="1810512" cy="960120"/>
          </a:xfrm>
          <a:prstGeom prst="roundRect">
            <a:avLst/>
          </a:prstGeom>
          <a:solidFill>
            <a:srgbClr val="2A2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56447" y="1920239"/>
            <a:ext cx="1627632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59" y="1929384"/>
            <a:ext cx="1664208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5A623"/>
                </a:solidFill>
                <a:latin typeface="Consolas"/>
              </a:rPr>
              <a:t>MLP int8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fc1→fc2→out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57232" y="21031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21239" y="1874519"/>
            <a:ext cx="1810512" cy="960120"/>
          </a:xfrm>
          <a:prstGeom prst="roundRect">
            <a:avLst/>
          </a:prstGeom>
          <a:solidFill>
            <a:srgbClr val="11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12679" y="1920239"/>
            <a:ext cx="1627632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94391" y="1929384"/>
            <a:ext cx="1664208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3FD0C8"/>
                </a:solidFill>
                <a:latin typeface="Consolas"/>
              </a:rPr>
              <a:t>azione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redirect / drop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3154680"/>
            <a:ext cx="10972800" cy="3063240"/>
          </a:xfrm>
          <a:prstGeom prst="round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329184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3FB950"/>
                </a:solidFill>
                <a:latin typeface="Consolas"/>
              </a:rPr>
              <a:t>generate_ebpf_hardcoded()  —  IV costruito localmente, feature per feature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3703320"/>
            <a:ext cx="106070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8B949E"/>
                </a:solidFill>
                <a:latin typeface="Consolas"/>
              </a:rPr>
              <a:t>for feat in features:            # descrittore ordinato del modello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onsolas"/>
              </a:rPr>
              <a:t>    pre, term = _gen_feature(feat, offset, ...)   # per KIND del tipo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8A6FF"/>
                </a:solidFill>
                <a:latin typeface="Consolas"/>
              </a:rPr>
              <a:t>    #  scalar        -&gt; _ttl = ip-&gt;ttl                     (dal pacchetto)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8A6FF"/>
                </a:solidFill>
                <a:latin typeface="Consolas"/>
              </a:rPr>
              <a:t>    #  dense_vector  -&gt; ls0..ls5 = link_state.lookup(i)    (da mappa BPF)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8A6FF"/>
                </a:solidFill>
                <a:latin typeface="Consolas"/>
              </a:rPr>
              <a:t>    #  onehot        -&gt; switch(iface|node){...}            (1 peso/neurone)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onsolas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8B949E"/>
                </a:solidFill>
                <a:latin typeface="Consolas"/>
              </a:rPr>
              <a:t>for j in range(n_h1):            # neurone nascosto j, pesi = literal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onsolas"/>
              </a:rPr>
              <a:t>    h1_j = RELU( Σ_feat term(j) + bias_j 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8B949E"/>
                </a:solidFill>
                <a:latin typeface="Consolas"/>
              </a:rPr>
              <a:t># fc2 -&gt; out -&gt; argmax -&gt; mac_table[best_cls] -&gt; rewrite MAC -&gt; redirect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Un esempio concreto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Arriva un pacchetto per il modello 1 — come nasce l'IV per l'inferenza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>Il pacchetto sul cavo  —  header IPA dentro UDP:9999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6858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66543"/>
            <a:ext cx="61264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eth</a:t>
            </a:r>
          </a:p>
          <a:p>
            <a:pPr algn="ctr"/>
            <a:r>
              <a:rPr sz="1250" b="1">
                <a:solidFill>
                  <a:srgbClr val="8B949E"/>
                </a:solidFill>
                <a:latin typeface="Consolas"/>
              </a:rPr>
              <a:t>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80744" y="2011680"/>
            <a:ext cx="6858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2066543"/>
            <a:ext cx="61264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ip</a:t>
            </a:r>
          </a:p>
          <a:p>
            <a:pPr algn="ctr"/>
            <a:r>
              <a:rPr sz="1250" b="1">
                <a:solidFill>
                  <a:srgbClr val="8B949E"/>
                </a:solidFill>
                <a:latin typeface="Consolas"/>
              </a:rPr>
              <a:t>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21408" y="2011680"/>
            <a:ext cx="123444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7984" y="2066543"/>
            <a:ext cx="116128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udp</a:t>
            </a:r>
          </a:p>
          <a:p>
            <a:pPr algn="ctr"/>
            <a:r>
              <a:rPr sz="1250" b="1">
                <a:solidFill>
                  <a:srgbClr val="58A6FF"/>
                </a:solidFill>
                <a:latin typeface="Consolas"/>
              </a:rPr>
              <a:t>dport 9999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0712" y="2011680"/>
            <a:ext cx="118872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47288" y="2066543"/>
            <a:ext cx="111556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model_id</a:t>
            </a:r>
          </a:p>
          <a:p>
            <a:pPr algn="ctr"/>
            <a:r>
              <a:rPr sz="1250" b="1">
                <a:solidFill>
                  <a:srgbClr val="F5A623"/>
                </a:solidFill>
                <a:latin typeface="Consolas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54296" y="2011680"/>
            <a:ext cx="9144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90872" y="2066543"/>
            <a:ext cx="84124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scale</a:t>
            </a:r>
          </a:p>
          <a:p>
            <a:pPr algn="ctr"/>
            <a:r>
              <a:rPr sz="1250" b="1">
                <a:solidFill>
                  <a:srgbClr val="F5A623"/>
                </a:solidFill>
                <a:latin typeface="Consolas"/>
              </a:rPr>
              <a:t>32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2011680"/>
            <a:ext cx="9144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0136" y="2066543"/>
            <a:ext cx="84124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in_size</a:t>
            </a:r>
          </a:p>
          <a:p>
            <a:pPr algn="ctr"/>
            <a:r>
              <a:rPr sz="1250" b="1">
                <a:solidFill>
                  <a:srgbClr val="F5A623"/>
                </a:solidFill>
                <a:latin typeface="Consolas"/>
              </a:rPr>
              <a:t>11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92824" y="2011680"/>
            <a:ext cx="9144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066543"/>
            <a:ext cx="84124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out_size</a:t>
            </a:r>
          </a:p>
          <a:p>
            <a:pPr algn="ctr"/>
            <a:r>
              <a:rPr sz="1250" b="1">
                <a:solidFill>
                  <a:srgbClr val="F5A623"/>
                </a:solidFill>
                <a:latin typeface="Consolas"/>
              </a:rPr>
              <a:t>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62088" y="2011680"/>
            <a:ext cx="9144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98664" y="2066543"/>
            <a:ext cx="84124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n_feat</a:t>
            </a:r>
          </a:p>
          <a:p>
            <a:pPr algn="ctr"/>
            <a:r>
              <a:rPr sz="1250" b="1">
                <a:solidFill>
                  <a:srgbClr val="3FB950"/>
                </a:solidFill>
                <a:latin typeface="Consola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9260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6EDF3"/>
                </a:solidFill>
                <a:latin typeface="Segoe UI"/>
              </a:rPr>
              <a:t>Il pacchetto DICE quali feature usa: </a:t>
            </a:r>
            <a:r>
              <a:rPr sz="1200" b="0">
                <a:solidFill>
                  <a:srgbClr val="8B949E"/>
                </a:solidFill>
                <a:latin typeface="Segoe UI"/>
              </a:rPr>
              <a:t>n_feat = 3 coppie (tipo, size). Il tipo dice DA DOVE leggere; la size viene dal nodo.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337560"/>
            <a:ext cx="3566160" cy="13258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1519" y="3383280"/>
            <a:ext cx="3383279" cy="54864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59" y="3474720"/>
            <a:ext cx="32004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link_state · 6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E6EDF3"/>
                </a:solidFill>
                <a:latin typeface="Consolas"/>
              </a:rPr>
              <a:t>sorgente: mappa link_state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Consolas"/>
              </a:rPr>
              <a:t>→ IV[0..5]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dense da mappa BPF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3337560"/>
            <a:ext cx="3566160" cy="13258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407407" y="3383280"/>
            <a:ext cx="3383279" cy="54864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98848" y="3474720"/>
            <a:ext cx="32004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queue_occupancy · 4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E6EDF3"/>
                </a:solidFill>
                <a:latin typeface="Consolas"/>
              </a:rPr>
              <a:t>sorgente: mappa queue_state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Consolas"/>
              </a:rPr>
              <a:t>→ IV[6..9]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dense da mappa BPF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91855" y="3337560"/>
            <a:ext cx="3566160" cy="13258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83295" y="3383280"/>
            <a:ext cx="3383279" cy="54864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74735" y="3474720"/>
            <a:ext cx="32004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ttl · 1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E6EDF3"/>
                </a:solidFill>
                <a:latin typeface="Consolas"/>
              </a:rPr>
              <a:t>sorgente: ip-&gt;ttl (pacchetto)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Consolas"/>
              </a:rPr>
              <a:t>→ IV[10]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scalare dal pacchetto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86460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>L'IV[11] costruito localmente, poi l'inferenza: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138928"/>
            <a:ext cx="1874519" cy="7315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" y="5138928"/>
            <a:ext cx="180136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  <a:latin typeface="Consolas"/>
              </a:rPr>
              <a:t>ls0 … ls5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60320" y="5138928"/>
            <a:ext cx="1508760" cy="7315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96896" y="5138928"/>
            <a:ext cx="143560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3FD0C8"/>
                </a:solidFill>
                <a:latin typeface="Consolas"/>
              </a:rPr>
              <a:t>qs0 … qs3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0" y="5138928"/>
            <a:ext cx="777240" cy="7315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51376" y="5138928"/>
            <a:ext cx="70408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5A623"/>
                </a:solidFill>
                <a:latin typeface="Consolas"/>
              </a:rPr>
              <a:t>ttl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73752" y="5193792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276088" y="5138928"/>
            <a:ext cx="2331720" cy="731520"/>
          </a:xfrm>
          <a:prstGeom prst="roundRect">
            <a:avLst/>
          </a:prstGeom>
          <a:solidFill>
            <a:srgbClr val="2A2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12664" y="5138928"/>
            <a:ext cx="225856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E6EDF3"/>
                </a:solidFill>
                <a:latin typeface="Consolas"/>
              </a:rPr>
              <a:t>MLP int8 11-4-4-7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35240" y="5193792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37575" y="5138928"/>
            <a:ext cx="2606040" cy="731520"/>
          </a:xfrm>
          <a:prstGeom prst="roundRect">
            <a:avLst/>
          </a:prstGeom>
          <a:solidFill>
            <a:srgbClr val="11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74151" y="5138928"/>
            <a:ext cx="253288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3FD0C8"/>
                </a:solidFill>
                <a:latin typeface="Consolas"/>
              </a:rPr>
              <a:t>argmax → redirect / drop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Ottimizzazione hot-path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Letture della mappa consolidate: da N lookup a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5544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1920239"/>
            <a:ext cx="5166359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929384"/>
            <a:ext cx="5202936" cy="1444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F85149"/>
                </a:solidFill>
                <a:latin typeface="Segoe UI"/>
              </a:rPr>
              <a:t>Prima: un lookup per slot</a:t>
            </a:r>
          </a:p>
          <a:p>
            <a:pPr algn="l"/>
            <a:r>
              <a:rPr sz="1200" b="0">
                <a:solidFill>
                  <a:srgbClr val="E6EDF3"/>
                </a:solidFill>
                <a:latin typeface="Segoe UI"/>
              </a:rPr>
              <a:t>Ogni feature dense leggeva la mappa slot per slot: link_state = 6 bpf_map_lookup_elem, queue_occupancy = 4 → fino a 10 helper call/pacchetto.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874519"/>
            <a:ext cx="5349240" cy="15544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91072" y="1920239"/>
            <a:ext cx="5166359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2784" y="1929384"/>
            <a:ext cx="5202936" cy="1444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Dopo: un lookup per feature</a:t>
            </a:r>
          </a:p>
          <a:p>
            <a:pPr algn="l"/>
            <a:r>
              <a:rPr sz="1200" b="0">
                <a:solidFill>
                  <a:srgbClr val="E6EDF3"/>
                </a:solidFill>
                <a:latin typeface="Segoe UI"/>
              </a:rPr>
              <a:t>La mappa ora è UNA entry struct-valued  {u32 v[N]}  a key 0: un solo lookup + N load diretti dal valore. 10 → 2 helper call.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03320"/>
            <a:ext cx="10972800" cy="1051560"/>
          </a:xfrm>
          <a:prstGeom prst="round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822191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FB950"/>
                </a:solidFill>
                <a:latin typeface="Consolas"/>
              </a:rPr>
              <a:t>struct ls_vec { __u32 v[6]; };  BPF_ARRAY(link_state, struct ls_vec, 1);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8A6FF"/>
                </a:solidFill>
                <a:latin typeface="Consolas"/>
              </a:rPr>
              <a:t>int z=0; struct ls_vec *p = link_state.lookup(&amp;z);  // 1 lookup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onsolas"/>
              </a:rPr>
              <a:t>if (p) { ls0=p-&gt;v[0]; ls1=p-&gt;v[1]; ... }             // N load, 0 helper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74920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Applicata a tutte e 3 le pipeline</a:t>
            </a:r>
            <a:r>
              <a:rPr sz="1300" b="0">
                <a:solidFill>
                  <a:srgbClr val="E6EDF3"/>
                </a:solidFill>
                <a:latin typeface="Segoe UI"/>
              </a:rPr>
              <a:t>  (hardcoded · template · modular): solo COME si legge la mappa, l'architettura dispatcher + tail-call resta identica.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Verifica:</a:t>
            </a:r>
            <a:r>
              <a:rPr sz="1300" b="0">
                <a:solidFill>
                  <a:srgbClr val="E6EDF3"/>
                </a:solidFill>
                <a:latin typeface="Segoe UI"/>
              </a:rPr>
              <a:t>  suite kernel PASS su tutte e 3; inferenza invariata; hardcoded scende di 5 lookup/pacchetto.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Abbattere la ricompilazione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Compila offline una volta, a runtime solo 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23317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1920239"/>
            <a:ext cx="5166359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929384"/>
            <a:ext cx="5202936" cy="22219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F85149"/>
                </a:solidFill>
                <a:latin typeface="Segoe UI"/>
              </a:rPr>
              <a:t>literal + BCC  (oggi)</a:t>
            </a:r>
          </a:p>
          <a:p>
            <a:pPr algn="l"/>
            <a:r>
              <a:rPr sz="1200" b="0">
                <a:solidFill>
                  <a:srgbClr val="E6EDF3"/>
                </a:solidFill>
                <a:latin typeface="Segoe UI"/>
              </a:rPr>
              <a:t>I pesi sono literal nel C. BCC = clang a runtime: ogni modello nuovo o modificato ricompila tutto da zero (~1660 ms).</a:t>
            </a:r>
          </a:p>
          <a:p>
            <a:pPr algn="l"/>
            <a:r>
              <a:rPr sz="1150" b="0">
                <a:solidFill>
                  <a:srgbClr val="F85149"/>
                </a:solidFill>
                <a:latin typeface="Segoe UI"/>
              </a:rPr>
              <a:t>≈99.8% del costo è clang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874519"/>
            <a:ext cx="5349240" cy="23317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91072" y="1920239"/>
            <a:ext cx="5166359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2784" y="1929384"/>
            <a:ext cx="5202936" cy="22219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AOT-literal  (scelta)</a:t>
            </a:r>
          </a:p>
          <a:p>
            <a:pPr algn="l"/>
            <a:r>
              <a:rPr sz="1200" b="0">
                <a:solidFill>
                  <a:srgbClr val="E6EDF3"/>
                </a:solidFill>
                <a:latin typeface="Segoe UI"/>
              </a:rPr>
              <a:t>Compili il .o offline, una volta, con i pesi ancora literal. A runtime il nodo fa solo open+load: zero clang.</a:t>
            </a:r>
          </a:p>
          <a:p>
            <a:pPr algn="l"/>
            <a:r>
              <a:rPr sz="1150" b="0">
                <a:solidFill>
                  <a:srgbClr val="3FB950"/>
                </a:solidFill>
                <a:latin typeface="Segoe UI"/>
              </a:rPr>
              <a:t>zero clang E perf massima preservata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526280"/>
            <a:ext cx="10972800" cy="822960"/>
          </a:xfrm>
          <a:prstGeom prst="roundRect">
            <a:avLst/>
          </a:prstGeom>
          <a:solidFill>
            <a:srgbClr val="12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663440"/>
            <a:ext cx="10607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58A6FF"/>
                </a:solidFill>
                <a:latin typeface="Segoe UI"/>
              </a:rPr>
              <a:t>Perché la perf resta massima: </a:t>
            </a:r>
            <a:r>
              <a:rPr sz="1200" b="0">
                <a:solidFill>
                  <a:srgbClr val="E6EDF3"/>
                </a:solidFill>
                <a:latin typeface="Segoe UI"/>
              </a:rPr>
              <a:t>i pesi restano literal, quindi clang -O2 ha già ridotto ogni moltiplicazione (x·0 sparisce, x·8 → shift) dentro il bytecode del .o. A runtime nessuna ricompilazione.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2356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Modelli noti a priori</a:t>
            </a:r>
            <a:r>
              <a:rPr sz="1300" b="0">
                <a:solidFill>
                  <a:srgbClr val="E6EDF3"/>
                </a:solidFill>
                <a:latin typeface="Segoe UI"/>
              </a:rPr>
              <a:t>  (l'ipotesi dell'hardcoded): precompili offline le architetture → inserire un modello = solo load (~ms).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AOT-literal: come funziona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Stessa topologia del BCC (dispatcher+tail-call+doppio parse) — numeri reali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534924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288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A623"/>
                </a:solidFill>
                <a:latin typeface="Segoe UI"/>
              </a:rPr>
              <a:t>OFFLINE  ·  build box, una volta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12848"/>
            <a:ext cx="2606040" cy="9144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19" y="2258568"/>
            <a:ext cx="242316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1" y="2267712"/>
            <a:ext cx="245973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Consolas"/>
              </a:rPr>
              <a:t>gen_full_c.py</a:t>
            </a:r>
          </a:p>
          <a:p>
            <a:pPr algn="l"/>
            <a:r>
              <a:rPr sz="1000" b="0">
                <a:solidFill>
                  <a:srgbClr val="8B949E"/>
                </a:solidFill>
                <a:latin typeface="Segoe UI"/>
              </a:rPr>
              <a:t>pesi literal → .bpf.c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7832" y="2432304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39" y="2212848"/>
            <a:ext cx="2606040" cy="9144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83279" y="2258568"/>
            <a:ext cx="242316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64991" y="2267712"/>
            <a:ext cx="245973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5A623"/>
                </a:solidFill>
                <a:latin typeface="Consolas"/>
              </a:rPr>
              <a:t>clang -O2 -target bpf</a:t>
            </a:r>
          </a:p>
          <a:p>
            <a:pPr algn="l"/>
            <a:r>
              <a:rPr sz="1000" b="0">
                <a:solidFill>
                  <a:srgbClr val="8B949E"/>
                </a:solidFill>
                <a:latin typeface="Segoe UI"/>
              </a:rPr>
              <a:t>→ model.o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9632" y="1828800"/>
            <a:ext cx="534924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8288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3FB950"/>
                </a:solidFill>
                <a:latin typeface="Segoe UI"/>
              </a:rPr>
              <a:t>RUNTIME  ·  nodo datapath, per deploy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2212848"/>
            <a:ext cx="2606040" cy="9144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91072" y="2258568"/>
            <a:ext cx="242316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2784" y="2267712"/>
            <a:ext cx="245973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  <a:latin typeface="Consolas"/>
              </a:rPr>
              <a:t>bpf_object__open</a:t>
            </a:r>
          </a:p>
          <a:p>
            <a:pPr algn="l"/>
            <a:r>
              <a:rPr sz="1000" b="0">
                <a:solidFill>
                  <a:srgbClr val="8B949E"/>
                </a:solidFill>
                <a:latin typeface="Segoe UI"/>
              </a:rPr>
              <a:t>+ 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87384" y="2432304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51392" y="2212848"/>
            <a:ext cx="2606040" cy="9144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942832" y="2258568"/>
            <a:ext cx="242316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24544" y="2267712"/>
            <a:ext cx="245973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3FD0C8"/>
                </a:solidFill>
                <a:latin typeface="Consolas"/>
              </a:rPr>
              <a:t>BPF_PROG_TEST_RUN</a:t>
            </a:r>
          </a:p>
          <a:p>
            <a:pPr algn="l"/>
            <a:r>
              <a:rPr sz="1000" b="0">
                <a:solidFill>
                  <a:srgbClr val="8B949E"/>
                </a:solidFill>
                <a:latin typeface="Segoe UI"/>
              </a:rPr>
              <a:t>perf full-path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429000"/>
            <a:ext cx="5349240" cy="23317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1519" y="3474720"/>
            <a:ext cx="5166359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3575304"/>
            <a:ext cx="4983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Costo di deploy (misurato)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069080"/>
            <a:ext cx="4892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8B949E"/>
                </a:solidFill>
                <a:latin typeface="Consolas"/>
              </a:rPr>
              <a:t>build offline (clang→.o)</a:t>
            </a:r>
            <a:r>
              <a:rPr sz="1250" b="1">
                <a:solidFill>
                  <a:srgbClr val="F5A623"/>
                </a:solidFill>
                <a:latin typeface="Consolas"/>
              </a:rPr>
              <a:t>   555 ms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484F58"/>
                </a:solidFill>
                <a:latin typeface="Segoe UI"/>
              </a:rPr>
              <a:t>   una volta, sulla build box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8B949E"/>
                </a:solidFill>
                <a:latin typeface="Consolas"/>
              </a:rPr>
              <a:t>open_file</a:t>
            </a:r>
            <a:r>
              <a:rPr sz="1250" b="1">
                <a:solidFill>
                  <a:srgbClr val="3FB950"/>
                </a:solidFill>
                <a:latin typeface="Consolas"/>
              </a:rPr>
              <a:t>               0.58 ms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8B949E"/>
                </a:solidFill>
                <a:latin typeface="Consolas"/>
              </a:rPr>
              <a:t>load (verify+JIT)</a:t>
            </a:r>
            <a:r>
              <a:rPr sz="1250" b="1">
                <a:solidFill>
                  <a:srgbClr val="3FB950"/>
                </a:solidFill>
                <a:latin typeface="Consolas"/>
              </a:rPr>
              <a:t>       4.89 ms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deploy runtime totale</a:t>
            </a:r>
            <a:r>
              <a:rPr sz="1300" b="1">
                <a:solidFill>
                  <a:srgbClr val="3FB950"/>
                </a:solidFill>
                <a:latin typeface="Consolas"/>
              </a:rPr>
              <a:t>    5.47 ms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9632" y="3429000"/>
            <a:ext cx="5349240" cy="23317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91072" y="3474720"/>
            <a:ext cx="5166359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575304"/>
            <a:ext cx="4983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F5A623"/>
                </a:solidFill>
                <a:latin typeface="Segoe UI"/>
              </a:rPr>
              <a:t>Performance — arch-fedele vs BCC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4041648"/>
            <a:ext cx="4892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8B949E"/>
                </a:solidFill>
                <a:latin typeface="Consolas"/>
              </a:rPr>
              <a:t>            AOT       BCC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E6EDF3"/>
                </a:solidFill>
                <a:latin typeface="Consolas"/>
              </a:rPr>
              <a:t>insn      943      980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E6EDF3"/>
                </a:solidFill>
                <a:latin typeface="Consolas"/>
              </a:rPr>
              <a:t>latenza   69 ns    66 ns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E6EDF3"/>
                </a:solidFill>
                <a:latin typeface="Consolas"/>
              </a:rPr>
              <a:t>thrpt     14.5     15.2 Mpps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= identici (rumore di misura)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9436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>Stessa topologia del BCC (943 = disp 28 + model 915; test-run sul dispatcher). </a:t>
            </a:r>
            <a:r>
              <a:rPr sz="1200" b="0">
                <a:solidFill>
                  <a:srgbClr val="E6EDF3"/>
                </a:solidFill>
                <a:latin typeface="Segoe UI"/>
              </a:rPr>
              <a:t>AOT NON è più veloce del BCC: preserva la perf literal-max — il valore è il deploy senza clang.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Il confronto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BCC vs AOT-literal — deploy e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90087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>deploy modello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34456" y="1874519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>perf per-pacchetto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44584" y="1874519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>clang runtime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14600"/>
            <a:ext cx="10927080" cy="749808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2514600"/>
            <a:ext cx="214883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85149"/>
                </a:solidFill>
                <a:latin typeface="Consolas"/>
              </a:rPr>
              <a:t>literal + BCC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79" y="2514600"/>
            <a:ext cx="27432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F85149"/>
                </a:solidFill>
                <a:latin typeface="Consolas"/>
              </a:rPr>
              <a:t>~1660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9048" y="2514600"/>
            <a:ext cx="31089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E6EDF3"/>
                </a:solidFill>
                <a:latin typeface="Consolas"/>
              </a:rPr>
              <a:t>66 ns · 980 insn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09176" y="2514600"/>
            <a:ext cx="214883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85149"/>
                </a:solidFill>
                <a:latin typeface="Segoe UI"/>
              </a:rPr>
              <a:t>sì, ogni modello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429000"/>
            <a:ext cx="10927080" cy="749808"/>
          </a:xfrm>
          <a:prstGeom prst="roundRect">
            <a:avLst/>
          </a:prstGeom>
          <a:solidFill>
            <a:srgbClr val="11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" y="3429000"/>
            <a:ext cx="214883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3FB950"/>
                </a:solidFill>
                <a:latin typeface="Consolas"/>
              </a:rPr>
              <a:t>AOT-literal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79" y="3429000"/>
            <a:ext cx="27432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B950"/>
                </a:solidFill>
                <a:latin typeface="Consolas"/>
              </a:rPr>
              <a:t>5.5 ms (misurato)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9048" y="3429000"/>
            <a:ext cx="31089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B950"/>
                </a:solidFill>
                <a:latin typeface="Consolas"/>
              </a:rPr>
              <a:t>69 ns · 943 = BCC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3429000"/>
            <a:ext cx="214883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3FB950"/>
                </a:solidFill>
                <a:latin typeface="Segoe UI"/>
              </a:rPr>
              <a:t>no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617720"/>
            <a:ext cx="10927080" cy="1234440"/>
          </a:xfrm>
          <a:prstGeom prst="roundRect">
            <a:avLst/>
          </a:prstGeom>
          <a:solidFill>
            <a:srgbClr val="11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519" y="4663440"/>
            <a:ext cx="1074420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1" y="4672583"/>
            <a:ext cx="10780776" cy="11247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Per i modelli noti a priori: AOT-literal.</a:t>
            </a:r>
          </a:p>
          <a:p>
            <a:pPr algn="l"/>
            <a:r>
              <a:rPr sz="1250" b="0">
                <a:solidFill>
                  <a:srgbClr val="E6EDF3"/>
                </a:solidFill>
                <a:latin typeface="Segoe UI"/>
              </a:rPr>
              <a:t>A parità di architettura (dispatcher + tail-call + doppio parse) la perf è IDENTICA al BCC (69 vs 66 ns/pacchetto, 943 vs 980 insn), ma il deploy di un modello è ~300× più veloce: 5.5 ms invece di 1660 ms, senza clang a runtime.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8B949E"/>
                </a:solidFill>
                <a:latin typeface="Segoe UI"/>
              </a:rPr>
              <a:t>method4 (BCC literal) resta intatto come fallback garantito: l'AOT-literal è un loader alternativo, non un rimpiazzo.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AOT-literal per QUALSIASI descrittore, se accettato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874519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1920239"/>
            <a:ext cx="5166359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929384"/>
            <a:ext cx="5202936" cy="17647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F5A623"/>
                </a:solidFill>
                <a:latin typeface="Segoe UI"/>
              </a:rPr>
              <a:t>Oggi: solo descrittore default</a:t>
            </a:r>
          </a:p>
          <a:p>
            <a:pPr algn="l"/>
            <a:r>
              <a:rPr sz="1200" b="0">
                <a:solidFill>
                  <a:srgbClr val="E6EDF3"/>
                </a:solidFill>
                <a:latin typeface="Segoe UI"/>
              </a:rPr>
              <a:t>L'AOT-literal genera C in dialetto libbpf, ma cablato al 65-4-4-7. Il path BCC invece copre già QUALSIASI feature-set sparse.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874519"/>
            <a:ext cx="5349240" cy="1874519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91072" y="1920239"/>
            <a:ext cx="5166359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2784" y="1929384"/>
            <a:ext cx="5202936" cy="17647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Se accettato</a:t>
            </a:r>
          </a:p>
          <a:p>
            <a:pPr algn="l"/>
            <a:r>
              <a:rPr sz="1200" b="0">
                <a:solidFill>
                  <a:srgbClr val="E6EDF3"/>
                </a:solidFill>
                <a:latin typeface="Segoe UI"/>
              </a:rPr>
              <a:t>Portare le 3 _gen_feature_* (scalar · dense_vector · onehot) in dialetto libbpf → l'AOT copre ogni modello sparse. ≈ mezza giornata + test.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77639"/>
            <a:ext cx="10972800" cy="1051560"/>
          </a:xfrm>
          <a:prstGeom prst="round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96512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8B949E"/>
                </a:solidFill>
                <a:latin typeface="Segoe UI"/>
              </a:rPr>
              <a:t>differenza di dialetto — stessa logica, sintassi diversa: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58A6FF"/>
                </a:solidFill>
                <a:latin typeface="Consolas"/>
              </a:rPr>
              <a:t>BCC     :  BPF_ARRAY(m, t, n)     m.lookup(&amp;k)        (funzioni nude)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3FB950"/>
                </a:solidFill>
                <a:latin typeface="Consolas"/>
              </a:rPr>
              <a:t>libbpf  :  struct{...} SEC(.maps) bpf_map_lookup_elem(&amp;m,&amp;k)  SEC("xdp")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035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Alternativa senza clang e senza perdita:</a:t>
            </a:r>
            <a:r>
              <a:rPr sz="1300" b="0">
                <a:solidFill>
                  <a:srgbClr val="E6EDF3"/>
                </a:solidFill>
                <a:latin typeface="Segoe UI"/>
              </a:rPr>
              <a:t>  patch immediati direttamente nel bytecode del .o (perf identica ai literal, zero clang) — più lavoro di ingegneria del loader.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In sintesi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Cosa cambia per l'hardcoded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08792" cy="868680"/>
          </a:xfrm>
          <a:prstGeom prst="roundRect">
            <a:avLst/>
          </a:prstGeom>
          <a:solidFill>
            <a:srgbClr val="11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1965960"/>
            <a:ext cx="10725912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975104"/>
            <a:ext cx="10762488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IV flessibile a costo zero:</a:t>
            </a:r>
            <a:r>
              <a:rPr sz="1300" b="0">
                <a:solidFill>
                  <a:srgbClr val="E6EDF3"/>
                </a:solidFill>
                <a:latin typeface="Segoe UI"/>
              </a:rPr>
              <a:t>  descrittore di feature per-modello; il default 65-4-4-7 resta byte-identico (regressione).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26080"/>
            <a:ext cx="3520440" cy="18288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19" y="2971800"/>
            <a:ext cx="333756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1" y="2980944"/>
            <a:ext cx="3374136" cy="1719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58A6FF"/>
                </a:solidFill>
                <a:latin typeface="Segoe UI"/>
              </a:rPr>
              <a:t>hot-path</a:t>
            </a:r>
          </a:p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N → 1</a:t>
            </a:r>
          </a:p>
          <a:p>
            <a:pPr algn="l"/>
            <a:r>
              <a:rPr sz="1100" b="0">
                <a:solidFill>
                  <a:srgbClr val="8B949E"/>
                </a:solidFill>
                <a:latin typeface="Segoe UI"/>
              </a:rPr>
              <a:t>lookup per feature dense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4256" y="2926080"/>
            <a:ext cx="3520440" cy="18288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25696" y="2971800"/>
            <a:ext cx="333756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8" y="2980944"/>
            <a:ext cx="3374136" cy="1719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5A623"/>
                </a:solidFill>
                <a:latin typeface="Segoe UI"/>
              </a:rPr>
              <a:t>deploy modello</a:t>
            </a:r>
          </a:p>
          <a:p>
            <a:pPr algn="l"/>
            <a:r>
              <a:rPr sz="2400" b="1">
                <a:solidFill>
                  <a:srgbClr val="E6EDF3"/>
                </a:solidFill>
                <a:latin typeface="Georgia"/>
              </a:rPr>
              <a:t>1660 → 5.5 ms</a:t>
            </a:r>
          </a:p>
          <a:p>
            <a:pPr algn="l"/>
            <a:r>
              <a:rPr sz="1100" b="0">
                <a:solidFill>
                  <a:srgbClr val="8B949E"/>
                </a:solidFill>
                <a:latin typeface="Segoe UI"/>
              </a:rPr>
              <a:t>via AOT-literal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926080"/>
            <a:ext cx="3520440" cy="18288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19871" y="2971800"/>
            <a:ext cx="333756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01583" y="2980944"/>
            <a:ext cx="3374136" cy="1719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3FD0C8"/>
                </a:solidFill>
                <a:latin typeface="Segoe UI"/>
              </a:rPr>
              <a:t>performance</a:t>
            </a:r>
          </a:p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= BCC</a:t>
            </a:r>
          </a:p>
          <a:p>
            <a:pPr algn="l"/>
            <a:r>
              <a:rPr sz="1100" b="0">
                <a:solidFill>
                  <a:srgbClr val="8B949E"/>
                </a:solidFill>
                <a:latin typeface="Segoe UI"/>
              </a:rPr>
              <a:t>69 vs 66 ns (identici)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74920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B949E"/>
                </a:solidFill>
                <a:latin typeface="Segoe UI"/>
              </a:rPr>
              <a:t>Nota:</a:t>
            </a:r>
            <a:r>
              <a:rPr sz="1300" b="0">
                <a:solidFill>
                  <a:srgbClr val="E6EDF3"/>
                </a:solidFill>
                <a:latin typeface="Segoe UI"/>
              </a:rPr>
              <a:t>  method4 BCC literal resta il fallback garantito. L'AOT-literal è un loader alternativo, attivabile per i modelli noti a priori senza toccare l'architettura dispatcher + tail-call.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