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dPt>
            <c:idx val="0"/>
            <c:spPr>
              <a:solidFill>
                <a:srgbClr val="9AA5B1"/>
              </a:solidFill>
            </c:spPr>
          </c:dPt>
          <c:dPt>
            <c:idx val="1"/>
            <c:spPr>
              <a:solidFill>
                <a:srgbClr val="C8551E"/>
              </a:solidFill>
            </c:spPr>
          </c:dPt>
          <c:dPt>
            <c:idx val="2"/>
            <c:spPr>
              <a:solidFill>
                <a:srgbClr val="F09A3E"/>
              </a:solidFill>
            </c:spPr>
          </c:dPt>
          <c:dPt>
            <c:idx val="3"/>
            <c:spPr>
              <a:solidFill>
                <a:srgbClr val="2E9C8F"/>
              </a:solidFill>
            </c:spPr>
          </c:dPt>
          <c:dPt>
            <c:idx val="4"/>
            <c:spPr>
              <a:solidFill>
                <a:srgbClr val="1F5F8B"/>
              </a:solidFill>
            </c:spPr>
          </c:dPt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59</c:v>
                </c:pt>
                <c:pt idx="2">
                  <c:v>79</c:v>
                </c:pt>
                <c:pt idx="3">
                  <c:v>271</c:v>
                </c:pt>
                <c:pt idx="4">
                  <c:v>428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>
                  <a:solidFill>
                    <a:srgbClr val="222B36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dPt>
            <c:idx val="0"/>
            <c:spPr>
              <a:solidFill>
                <a:srgbClr val="C0443C"/>
              </a:solidFill>
            </c:spPr>
          </c:dPt>
          <c:dPt>
            <c:idx val="1"/>
            <c:spPr>
              <a:solidFill>
                <a:srgbClr val="E07A2D"/>
              </a:solidFill>
            </c:spPr>
          </c:dPt>
          <c:dPt>
            <c:idx val="2"/>
            <c:spPr>
              <a:solidFill>
                <a:srgbClr val="2E9C6E"/>
              </a:solidFill>
            </c:spPr>
          </c:dPt>
          <c:cat>
            <c:strRef>
              <c:f>Sheet1!$A$2:$A$4</c:f>
              <c:strCache>
                <c:ptCount val="3"/>
                <c:pt idx="0">
                  <c:v>P1 / P1.5
compilate sul nodo</c:v>
                </c:pt>
                <c:pt idx="1">
                  <c:v>P1 / P1.5
precompilate (AOT)</c:v>
                </c:pt>
                <c:pt idx="2">
                  <c:v>P2 / P3
scrivere la tabella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741</c:v>
                </c:pt>
                <c:pt idx="1">
                  <c:v>10</c:v>
                </c:pt>
                <c:pt idx="2">
                  <c:v>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>
                  <a:solidFill>
                    <a:srgbClr val="222B36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millisecondi (scala log)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57.0</c:v>
                </c:pt>
                <c:pt idx="1">
                  <c:v>55.0</c:v>
                </c:pt>
                <c:pt idx="2">
                  <c:v>60.0</c:v>
                </c:pt>
                <c:pt idx="3">
                  <c:v>56.0</c:v>
                </c:pt>
                <c:pt idx="4">
                  <c:v>59.0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64.0</c:v>
                </c:pt>
                <c:pt idx="1">
                  <c:v>65.0</c:v>
                </c:pt>
                <c:pt idx="2">
                  <c:v>67.0</c:v>
                </c:pt>
                <c:pt idx="3">
                  <c:v>65.0</c:v>
                </c:pt>
                <c:pt idx="4">
                  <c:v>67.0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269.0</c:v>
                </c:pt>
                <c:pt idx="1">
                  <c:v>265.0</c:v>
                </c:pt>
                <c:pt idx="2">
                  <c:v>269.0</c:v>
                </c:pt>
                <c:pt idx="3">
                  <c:v>265.0</c:v>
                </c:pt>
                <c:pt idx="4">
                  <c:v>266.0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448.0</c:v>
                </c:pt>
                <c:pt idx="1">
                  <c:v>429.0</c:v>
                </c:pt>
                <c:pt idx="2">
                  <c:v>430.0</c:v>
                </c:pt>
                <c:pt idx="3">
                  <c:v>422.0</c:v>
                </c:pt>
                <c:pt idx="4">
                  <c:v>422.0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6B7C93"/>
                    </a:solidFill>
                    <a:latin typeface="Calibri"/>
                  </a:rPr>
                  <a:t>nodi della rete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41.0</c:v>
                </c:pt>
                <c:pt idx="1">
                  <c:v>59.0</c:v>
                </c:pt>
                <c:pt idx="2">
                  <c:v>81.0</c:v>
                </c:pt>
                <c:pt idx="3">
                  <c:v>109.0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50.0</c:v>
                </c:pt>
                <c:pt idx="1">
                  <c:v>67.0</c:v>
                </c:pt>
                <c:pt idx="2">
                  <c:v>88.0</c:v>
                </c:pt>
                <c:pt idx="3">
                  <c:v>122.0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250.0</c:v>
                </c:pt>
                <c:pt idx="1">
                  <c:v>271.0</c:v>
                </c:pt>
                <c:pt idx="2">
                  <c:v>286.0</c:v>
                </c:pt>
                <c:pt idx="3">
                  <c:v>314.0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401.0</c:v>
                </c:pt>
                <c:pt idx="1">
                  <c:v>438.0</c:v>
                </c:pt>
                <c:pt idx="2">
                  <c:v>573.0</c:v>
                </c:pt>
                <c:pt idx="3">
                  <c:v>530.0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6B7C93"/>
                    </a:solidFill>
                    <a:latin typeface="Calibri"/>
                  </a:rPr>
                  <a:t>neuroni per strato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P2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14668.0</c:v>
                </c:pt>
                <c:pt idx="1">
                  <c:v>14985.0</c:v>
                </c:pt>
                <c:pt idx="2">
                  <c:v>16663.0</c:v>
                </c:pt>
                <c:pt idx="3">
                  <c:v>16867.0</c:v>
                </c:pt>
                <c:pt idx="4">
                  <c:v>17828.0</c:v>
                </c:pt>
                <c:pt idx="5">
                  <c:v>18801.0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P3</c:v>
                </c:pt>
              </c:strCache>
            </c:strRef>
          </c:tx>
          <c:spPr>
            <a:solidFill>
              <a:srgbClr val="1F5F8B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12349.0</c:v>
                </c:pt>
                <c:pt idx="1">
                  <c:v>12349.0</c:v>
                </c:pt>
                <c:pt idx="2">
                  <c:v>12349.0</c:v>
                </c:pt>
                <c:pt idx="3">
                  <c:v>12349.0</c:v>
                </c:pt>
                <c:pt idx="4">
                  <c:v>12349.0</c:v>
                </c:pt>
                <c:pt idx="5">
                  <c:v>12349.0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istruzioni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</a:p>
      </c:txPr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53.0</c:v>
                </c:pt>
                <c:pt idx="1">
                  <c:v>60.0</c:v>
                </c:pt>
                <c:pt idx="2">
                  <c:v>60.0</c:v>
                </c:pt>
                <c:pt idx="3">
                  <c:v>70.0</c:v>
                </c:pt>
                <c:pt idx="4">
                  <c:v>75.0</c:v>
                </c:pt>
                <c:pt idx="5">
                  <c:v>80.0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61.0</c:v>
                </c:pt>
                <c:pt idx="1">
                  <c:v>69.0</c:v>
                </c:pt>
                <c:pt idx="2">
                  <c:v>40.0</c:v>
                </c:pt>
                <c:pt idx="3">
                  <c:v>79.0</c:v>
                </c:pt>
                <c:pt idx="4">
                  <c:v>85.0</c:v>
                </c:pt>
                <c:pt idx="5">
                  <c:v>88.0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131.0</c:v>
                </c:pt>
                <c:pt idx="1">
                  <c:v>270.0</c:v>
                </c:pt>
                <c:pt idx="2">
                  <c:v>305.0</c:v>
                </c:pt>
                <c:pt idx="3">
                  <c:v>333.0</c:v>
                </c:pt>
                <c:pt idx="4">
                  <c:v>384.0</c:v>
                </c:pt>
                <c:pt idx="5">
                  <c:v>421.0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347.0</c:v>
                </c:pt>
                <c:pt idx="1">
                  <c:v>438.0</c:v>
                </c:pt>
                <c:pt idx="2">
                  <c:v>492.0</c:v>
                </c:pt>
                <c:pt idx="3">
                  <c:v>572.0</c:v>
                </c:pt>
                <c:pt idx="4">
                  <c:v>630.0</c:v>
                </c:pt>
                <c:pt idx="5">
                  <c:v>699.0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50.0"/>
          <c:min val="0.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81.0</c:v>
                </c:pt>
                <c:pt idx="1">
                  <c:v>73.0</c:v>
                </c:pt>
                <c:pt idx="2">
                  <c:v>70.0</c:v>
                </c:pt>
                <c:pt idx="3">
                  <c:v>90.0</c:v>
                </c:pt>
                <c:pt idx="4">
                  <c:v>85.0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86.0</c:v>
                </c:pt>
                <c:pt idx="1">
                  <c:v>85.0</c:v>
                </c:pt>
                <c:pt idx="2">
                  <c:v>80.0</c:v>
                </c:pt>
                <c:pt idx="3">
                  <c:v>98.0</c:v>
                </c:pt>
                <c:pt idx="4">
                  <c:v>95.0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279.0</c:v>
                </c:pt>
                <c:pt idx="1">
                  <c:v>271.0</c:v>
                </c:pt>
                <c:pt idx="2">
                  <c:v>294.0</c:v>
                </c:pt>
                <c:pt idx="3">
                  <c:v>369.0</c:v>
                </c:pt>
                <c:pt idx="4">
                  <c:v>382.0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392.0</c:v>
                </c:pt>
                <c:pt idx="1">
                  <c:v>448.0</c:v>
                </c:pt>
                <c:pt idx="2">
                  <c:v>511.0</c:v>
                </c:pt>
                <c:pt idx="3">
                  <c:v>608.0</c:v>
                </c:pt>
                <c:pt idx="4">
                  <c:v>661.0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6B7C93"/>
                    </a:solidFill>
                    <a:latin typeface="Calibri"/>
                  </a:rPr>
                  <a:t>strati (a pesi costanti)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00.0"/>
          <c:min val="0.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60.0</c:v>
                </c:pt>
                <c:pt idx="1">
                  <c:v>51.0</c:v>
                </c:pt>
                <c:pt idx="2">
                  <c:v>44.0</c:v>
                </c:pt>
                <c:pt idx="3">
                  <c:v>36.0</c:v>
                </c:pt>
                <c:pt idx="4">
                  <c:v>31.0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68.0</c:v>
                </c:pt>
                <c:pt idx="1">
                  <c:v>61.0</c:v>
                </c:pt>
                <c:pt idx="2">
                  <c:v>53.0</c:v>
                </c:pt>
                <c:pt idx="3">
                  <c:v>43.0</c:v>
                </c:pt>
                <c:pt idx="4">
                  <c:v>40.0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274.0</c:v>
                </c:pt>
                <c:pt idx="1">
                  <c:v>264.0</c:v>
                </c:pt>
                <c:pt idx="2">
                  <c:v>269.0</c:v>
                </c:pt>
                <c:pt idx="3">
                  <c:v>269.0</c:v>
                </c:pt>
                <c:pt idx="4">
                  <c:v>268.0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432.0</c:v>
                </c:pt>
                <c:pt idx="1">
                  <c:v>444.0</c:v>
                </c:pt>
                <c:pt idx="2">
                  <c:v>433.0</c:v>
                </c:pt>
                <c:pt idx="3">
                  <c:v>439.0</c:v>
                </c:pt>
                <c:pt idx="4">
                  <c:v>427.0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6B7C93"/>
                    </a:solidFill>
                    <a:latin typeface="Calibri"/>
                  </a:rPr>
                  <a:t>pesi uguali a zero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00.0"/>
          <c:min val="0.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cronometro vecchio</c:v>
                </c:pt>
              </c:strCache>
            </c:strRef>
          </c:tx>
          <c:spPr>
            <a:solidFill>
              <a:srgbClr val="C0443C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giro 1</c:v>
                </c:pt>
                <c:pt idx="1">
                  <c:v>giro 2</c:v>
                </c:pt>
                <c:pt idx="2">
                  <c:v>giro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1.575</c:v>
                </c:pt>
                <c:pt idx="1">
                  <c:v>2.156</c:v>
                </c:pt>
                <c:pt idx="2">
                  <c:v>2.338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finestra stazionaria</c:v>
                </c:pt>
              </c:strCache>
            </c:strRef>
          </c:tx>
          <c:spPr>
            <a:solidFill>
              <a:srgbClr val="2E9C6E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giro 1</c:v>
                </c:pt>
                <c:pt idx="1">
                  <c:v>giro 2</c:v>
                </c:pt>
                <c:pt idx="2">
                  <c:v>giro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3.37</c:v>
                </c:pt>
                <c:pt idx="1">
                  <c:v>3.409</c:v>
                </c:pt>
                <c:pt idx="2">
                  <c:v>3.452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300">
                  <a:solidFill>
                    <a:srgbClr val="222B36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0"/>
          <c:min val="0.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milioni di pacchetti al secondo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-2068027336"/>
        <c:crosses val="autoZero"/>
        <c:majorUnit val="1.0"/>
      </c:valAx>
    </c:plotArea>
    <c:legend>
      <c:legendPos val="t"/>
      <c:overlay val="0"/>
      <c:txPr>
        <a:bodyPr/>
        <a:lstStyle/>
        <a:p>
          <a:pPr>
            <a:defRPr sz="1300">
              <a:solidFill>
                <a:srgbClr val="222B36"/>
              </a:solidFill>
            </a:defRPr>
          </a:pPr>
        </a:p>
      </c:txPr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pktgen (skb + copia)</c:v>
                </c:pt>
              </c:strCache>
            </c:strRef>
          </c:tx>
          <c:spPr>
            <a:solidFill>
              <a:srgbClr val="D5DBE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210</c:v>
                </c:pt>
                <c:pt idx="1">
                  <c:v>250</c:v>
                </c:pt>
                <c:pt idx="2">
                  <c:v>269</c:v>
                </c:pt>
                <c:pt idx="3">
                  <c:v>285</c:v>
                </c:pt>
                <c:pt idx="4">
                  <c:v>452</c:v>
                </c:pt>
                <c:pt idx="5">
                  <c:v>581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pacchetti grezzi</c:v>
                </c:pt>
              </c:strCache>
            </c:strRef>
          </c:tx>
          <c:spPr>
            <a:solidFill>
              <a:srgbClr val="8FA9C4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51</c:v>
                </c:pt>
                <c:pt idx="1">
                  <c:v>219</c:v>
                </c:pt>
                <c:pt idx="2">
                  <c:v>270</c:v>
                </c:pt>
                <c:pt idx="3">
                  <c:v>271</c:v>
                </c:pt>
                <c:pt idx="4">
                  <c:v>432</c:v>
                </c:pt>
                <c:pt idx="5">
                  <c:v>544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grezzi + uscita separata = il nodo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52</c:v>
                </c:pt>
                <c:pt idx="1">
                  <c:v>117</c:v>
                </c:pt>
                <c:pt idx="2">
                  <c:v>170</c:v>
                </c:pt>
                <c:pt idx="3">
                  <c:v>168</c:v>
                </c:pt>
                <c:pt idx="4">
                  <c:v>335</c:v>
                </c:pt>
                <c:pt idx="5">
                  <c:v>493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222B36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50.0"/>
          <c:min val="0.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222B36"/>
              </a:solidFill>
            </a:defRPr>
          </a:pPr>
        </a:p>
      </c:txPr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il programma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</c:v>
                </c:pt>
                <c:pt idx="1">
                  <c:v>50</c:v>
                </c:pt>
                <c:pt idx="2">
                  <c:v>57</c:v>
                </c:pt>
                <c:pt idx="3">
                  <c:v>183</c:v>
                </c:pt>
                <c:pt idx="4">
                  <c:v>271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ricezione e inoltro</c:v>
                </c:pt>
              </c:strCache>
            </c:strRef>
          </c:tx>
          <c:spPr>
            <a:solidFill>
              <a:srgbClr val="B8C4D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90</c:v>
                </c:pt>
                <c:pt idx="1">
                  <c:v>120</c:v>
                </c:pt>
                <c:pt idx="2">
                  <c:v>111</c:v>
                </c:pt>
                <c:pt idx="3">
                  <c:v>152</c:v>
                </c:pt>
                <c:pt idx="4">
                  <c:v>222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solidFill>
                    <a:srgbClr val="222B36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>
              <a:solidFill>
                <a:srgbClr val="222B36"/>
              </a:solidFill>
            </a:defRPr>
          </a:pPr>
        </a:p>
      </c:txPr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64 byte</c:v>
                </c:pt>
              </c:strCache>
            </c:strRef>
          </c:tx>
          <c:spPr>
            <a:solidFill>
              <a:srgbClr val="B8C9D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121</c:v>
                </c:pt>
                <c:pt idx="1">
                  <c:v>169</c:v>
                </c:pt>
                <c:pt idx="2">
                  <c:v>171</c:v>
                </c:pt>
                <c:pt idx="3">
                  <c:v>347</c:v>
                </c:pt>
                <c:pt idx="4">
                  <c:v>497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512 byte</c:v>
                </c:pt>
              </c:strCache>
            </c:strRef>
          </c:tx>
          <c:spPr>
            <a:solidFill>
              <a:srgbClr val="6E8FB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122</c:v>
                </c:pt>
                <c:pt idx="1">
                  <c:v>171</c:v>
                </c:pt>
                <c:pt idx="2">
                  <c:v>176</c:v>
                </c:pt>
                <c:pt idx="3">
                  <c:v>345</c:v>
                </c:pt>
                <c:pt idx="4">
                  <c:v>520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1514 byte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123</c:v>
                </c:pt>
                <c:pt idx="1">
                  <c:v>169</c:v>
                </c:pt>
                <c:pt idx="2">
                  <c:v>177</c:v>
                </c:pt>
                <c:pt idx="3">
                  <c:v>348</c:v>
                </c:pt>
                <c:pt idx="4">
                  <c:v>512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0.0"/>
          <c:min val="0.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</a:p>
      </c:txPr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classe 0</c:v>
                </c:pt>
              </c:strCache>
            </c:strRef>
          </c:tx>
          <c:spPr>
            <a:solidFill>
              <a:srgbClr val="D0DBE7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122</c:v>
                </c:pt>
                <c:pt idx="1">
                  <c:v>165</c:v>
                </c:pt>
                <c:pt idx="2">
                  <c:v>169</c:v>
                </c:pt>
                <c:pt idx="3">
                  <c:v>312</c:v>
                </c:pt>
                <c:pt idx="4">
                  <c:v>466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classe 1</c:v>
                </c:pt>
              </c:strCache>
            </c:strRef>
          </c:tx>
          <c:spPr>
            <a:solidFill>
              <a:srgbClr val="ADC1D6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132</c:v>
                </c:pt>
                <c:pt idx="1">
                  <c:v>171</c:v>
                </c:pt>
                <c:pt idx="2">
                  <c:v>173</c:v>
                </c:pt>
                <c:pt idx="3">
                  <c:v>307</c:v>
                </c:pt>
                <c:pt idx="4">
                  <c:v>502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classe 2</c:v>
                </c:pt>
              </c:strCache>
            </c:strRef>
          </c:tx>
          <c:spPr>
            <a:solidFill>
              <a:srgbClr val="8AA6C4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147</c:v>
                </c:pt>
                <c:pt idx="1">
                  <c:v>169</c:v>
                </c:pt>
                <c:pt idx="2">
                  <c:v>175</c:v>
                </c:pt>
                <c:pt idx="3">
                  <c:v>314</c:v>
                </c:pt>
                <c:pt idx="4">
                  <c:v>485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classe 3</c:v>
                </c:pt>
              </c:strCache>
            </c:strRef>
          </c:tx>
          <c:spPr>
            <a:solidFill>
              <a:srgbClr val="5F82A8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117</c:v>
                </c:pt>
                <c:pt idx="1">
                  <c:v>175</c:v>
                </c:pt>
                <c:pt idx="2">
                  <c:v>168</c:v>
                </c:pt>
                <c:pt idx="3">
                  <c:v>311</c:v>
                </c:pt>
                <c:pt idx="4">
                  <c:v>491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classe 4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124</c:v>
                </c:pt>
                <c:pt idx="1">
                  <c:v>176</c:v>
                </c:pt>
                <c:pt idx="2">
                  <c:v>177</c:v>
                </c:pt>
                <c:pt idx="3">
                  <c:v>325</c:v>
                </c:pt>
                <c:pt idx="4">
                  <c:v>525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scarta</c:v>
                </c:pt>
              </c:strCache>
            </c:strRef>
          </c:tx>
          <c:spPr>
            <a:solidFill>
              <a:srgbClr val="C0443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121</c:v>
                </c:pt>
                <c:pt idx="1">
                  <c:v>170</c:v>
                </c:pt>
                <c:pt idx="2">
                  <c:v>182</c:v>
                </c:pt>
                <c:pt idx="3">
                  <c:v>284</c:v>
                </c:pt>
                <c:pt idx="4">
                  <c:v>442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0.0"/>
          <c:min val="0.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>
              <a:solidFill>
                <a:srgbClr val="222B36"/>
              </a:solidFill>
            </a:defRPr>
          </a:pPr>
        </a:p>
      </c:txPr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F2B134"/>
                </a:solidFill>
                <a:latin typeface="Calibri"/>
              </a:rPr>
              <a:t>TESI  ·  EBPF / XDP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Inferenza di una rete neurale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nel kernel Linux con eBPF/XDP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0" i="0">
                <a:solidFill>
                  <a:srgbClr val="D6DEE9"/>
                </a:solidFill>
                <a:latin typeface="Calibri"/>
              </a:rPr>
              <a:t>Quattro versioni della stessa rete, da completamente compilata a completamente configurabile. Quanto costa, per ogni pacchetto, spostare le decisioni dalla compilazione all'esecuzione?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892040"/>
            <a:ext cx="2011680" cy="457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Ettore Cantile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settembre 2026  ·  misure aggiornate al 23 settembre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Decidere dove mandare un pacchetto, prima che entri nel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Il kernel accetta il programma solo dopo averlo verificato: niente cicli illimitati, niente memoria arbitraria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222B36"/>
                </a:solidFill>
                <a:latin typeface="Calibri"/>
              </a:rPr>
              <a:t>XDP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 è il primo punto in cui il kernel vede un pacchetto: prima dello stack di rete, prima di qualunque allocazione. Lì eseguiamo una piccola rete neurale (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319 pesi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), e la decisione nasce in quel punto.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31520" y="2788920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Arriva il pacchetto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1783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XDP lo intercetta appena la scheda lo riceve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633472" y="3566160"/>
            <a:ext cx="164592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79776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2962656" y="2788920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2656" y="35204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Legge le feature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2656" y="3931920"/>
            <a:ext cx="1783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stato dei collegamenti, porta d'ingresso, TTL, identità del nodo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64608" y="3566160"/>
            <a:ext cx="164592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10912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5193792" y="2788920"/>
            <a:ext cx="566928" cy="566928"/>
          </a:xfrm>
          <a:prstGeom prst="ellipse">
            <a:avLst/>
          </a:prstGeom>
          <a:solidFill>
            <a:srgbClr val="E07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3792" y="35204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La rete calcola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3931920"/>
            <a:ext cx="1783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solo numeri interi: nel kernel non c'è la virgola mobile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095744" y="3566160"/>
            <a:ext cx="164592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42048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7424928" y="2788920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4928" y="35204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Esce una classe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4928" y="3931920"/>
            <a:ext cx="1783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un numero, che da solo non significa niente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326880" y="3566160"/>
            <a:ext cx="164592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473184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656064" y="2788920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6064" y="35204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Azione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6064" y="3931920"/>
            <a:ext cx="1783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la configurazione traduce la classe in una porta, oppure in «scarta»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66360"/>
            <a:ext cx="11094415" cy="100584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22960" y="5166360"/>
            <a:ext cx="10545775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Tutto questo deve stare in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qualche centinaio di nanosecondi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, una volta per ogni pacchetto. La domanda della tesi: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quanto del programma posso lasciare configurabile, prima che il costo diventi inaccettabile?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LA CHIAVE DI TUTTA LA PRESENTAZIONE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Quattro versioni, che cambiano per una cosa 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Arancione = già noto quando si compila  ·  verde = letto mentre il nodo gira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 i="0">
                <a:solidFill>
                  <a:srgbClr val="222B36"/>
                </a:solidFill>
                <a:latin typeface="Calibri"/>
              </a:rPr>
              <a:t>Tutte e quattro calcolano la stessa rete e prendono la stessa decisione. Cambia solo 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quanto sanno già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 quando vengono compilate.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240280"/>
          <a:ext cx="11064240" cy="28346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15184"/>
                <a:gridCol w="2011680"/>
                <a:gridCol w="2011680"/>
                <a:gridCol w="2414016"/>
                <a:gridCol w="201168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Pesi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Nodo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Forma della rete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Profondità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  ·  p1_static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compilati</a:t>
                      </a:r>
                    </a:p>
                  </a:txBody>
                  <a:tcPr marL="91440" marR="91440"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compilato</a:t>
                      </a:r>
                    </a:p>
                  </a:txBody>
                  <a:tcPr marL="91440" marR="91440"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</a:p>
                  </a:txBody>
                  <a:tcPr marL="91440" marR="91440"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</a:p>
                  </a:txBody>
                  <a:tcPr marL="91440" marR="91440" marT="27432" marB="27432" anchor="ctr">
                    <a:solidFill>
                      <a:srgbClr val="E07A2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P1.5  ·  hardcoded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compilati</a:t>
                      </a:r>
                    </a:p>
                  </a:txBody>
                  <a:tcPr marL="91440" marR="91440"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L="91440" marR="91440"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</a:p>
                  </a:txBody>
                  <a:tcPr marL="91440" marR="91440"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</a:p>
                  </a:txBody>
                  <a:tcPr marL="91440" marR="91440" marT="27432" marB="27432" anchor="ctr">
                    <a:solidFill>
                      <a:srgbClr val="E07A2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P2  ·  template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L="91440" marR="91440"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L="91440" marR="91440"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entro limiti fissi</a:t>
                      </a:r>
                    </a:p>
                  </a:txBody>
                  <a:tcPr marL="91440" marR="91440"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</a:p>
                  </a:txBody>
                  <a:tcPr marL="91440" marR="91440" marT="27432" marB="27432" anchor="ctr">
                    <a:solidFill>
                      <a:srgbClr val="E07A2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P3  ·  modular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L="91440" marR="91440"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L="91440" marR="91440"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L="91440" marR="91440"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L="91440" marR="91440" marT="27432" marB="27432" anchor="ctr">
                    <a:solidFill>
                      <a:srgbClr val="2E9C6E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34924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5349240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Più informazioni sposto dalla compilazione all'esecuzione, più il programma diventa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riutilizzabile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— e più cresce il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costo per pacchetto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DA DOVE VIENE LA DIFFERENZA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compilatore vede i pesi, oppure 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Da questa differenza discendono tutti i risultati che seguono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394960" cy="36576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5394960" cy="9144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1874519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 i="0">
                <a:solidFill>
                  <a:srgbClr val="E07A2D"/>
                </a:solidFill>
                <a:latin typeface="Calibri"/>
              </a:rPr>
              <a:t>Specializzata (P1, P1.5)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468880"/>
            <a:ext cx="4754880" cy="1234440"/>
          </a:xfrm>
          <a:prstGeom prst="roundRect">
            <a:avLst>
              <a:gd name="adj" fmla="val 6000"/>
            </a:avLst>
          </a:prstGeom>
          <a:solidFill>
            <a:srgbClr val="1E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h[j] += 37 * x0;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h[j] += -12 * x1;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31920"/>
            <a:ext cx="48463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I pesi sono numeri scritti nel programma. Il compilatore li vede: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cancella le moltiplicazioni per zero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, semplifica le altre.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00200"/>
            <a:ext cx="5394960" cy="36576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217920" y="1600200"/>
            <a:ext cx="5394960" cy="9144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537960" y="1874519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 i="0">
                <a:solidFill>
                  <a:srgbClr val="2E9C6E"/>
                </a:solidFill>
                <a:latin typeface="Calibri"/>
              </a:rPr>
              <a:t>Generica (P2, P3)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468880"/>
            <a:ext cx="4754880" cy="1234440"/>
          </a:xfrm>
          <a:prstGeom prst="roundRect">
            <a:avLst>
              <a:gd name="adj" fmla="val 6000"/>
            </a:avLst>
          </a:prstGeom>
          <a:solidFill>
            <a:srgbClr val="1E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766560" y="260604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for (i …)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    h[j] += W[…] * x[i];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931920"/>
            <a:ext cx="48463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I pesi stanno in una tabella e il compilatore non li vede. Il ciclo è scritto per il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caso peggiore ammesso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, non per la forma vera.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48640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Nel primo caso il programma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è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 quel modello, e vale solo per lui. Nel secondo un programma solo serve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qualunque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 modello, ma deve leggere tutto ogni volta.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COME SI MISURA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Tre misure, tre domande diverse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Non vanno moltiplicate fra loro: rispondono a domande diverse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520440" cy="4023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80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517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</a:rPr>
              <a:t>Il programma da solo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kernel esegue il programma su un pacchetto preparato, in un ciclo. Niente schede, niente code.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709160"/>
            <a:ext cx="297180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60120" y="47091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F3A5F"/>
                </a:solidFill>
                <a:latin typeface="Calibri"/>
              </a:rPr>
              <a:t>Quanto costa il </a:t>
            </a:r>
            <a:r>
              <a:rPr sz="1500" b="1" i="0">
                <a:solidFill>
                  <a:srgbClr val="1F3A5F"/>
                </a:solidFill>
                <a:latin typeface="Calibri"/>
              </a:rPr>
              <a:t>calcolo</a:t>
            </a:r>
            <a:r>
              <a:rPr sz="1500" b="0" i="0">
                <a:solidFill>
                  <a:srgbClr val="1F3A5F"/>
                </a:solidFill>
                <a:latin typeface="Calibri"/>
              </a:rPr>
              <a:t>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1645920"/>
            <a:ext cx="3520440" cy="4023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71999" y="178308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800" b="1" i="0">
                <a:solidFill>
                  <a:srgbClr val="E07A2D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6517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</a:rPr>
              <a:t>Tre orologi nel nodo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1999" y="315468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Tre marcature di tempo: all'ingresso del programma (T1), prima di inoltrare (T2), all'arrivo dall'altra parte (T3).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1999" y="4709160"/>
            <a:ext cx="297180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07A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709159" y="47091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E07A2D"/>
                </a:solidFill>
                <a:latin typeface="Calibri"/>
              </a:rPr>
              <a:t>Quanta parte del tempo è la </a:t>
            </a:r>
            <a:r>
              <a:rPr sz="1500" b="1" i="0">
                <a:solidFill>
                  <a:srgbClr val="E07A2D"/>
                </a:solidFill>
                <a:latin typeface="Calibri"/>
              </a:rPr>
              <a:t>rete neurale</a:t>
            </a:r>
            <a:r>
              <a:rPr sz="1500" b="0" i="0">
                <a:solidFill>
                  <a:srgbClr val="E07A2D"/>
                </a:solidFill>
                <a:latin typeface="Calibri"/>
              </a:rPr>
              <a:t>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8" y="1645920"/>
            <a:ext cx="3520440" cy="4023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21038" y="178308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800" b="1" i="0">
                <a:solidFill>
                  <a:srgbClr val="2E9C6E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38" y="26517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</a:rPr>
              <a:t>Il nodo sotto traffico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38" y="315468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 generatore spinge più pacchetti di quanti il nodo ne regga, per minuti, e si contano quelli elaborati.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21038" y="4709160"/>
            <a:ext cx="297180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9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58198" y="47091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2E9C6E"/>
                </a:solidFill>
                <a:latin typeface="Calibri"/>
              </a:rPr>
              <a:t>Quanti pacchetti regge </a:t>
            </a:r>
            <a:r>
              <a:rPr sz="1500" b="1" i="0">
                <a:solidFill>
                  <a:srgbClr val="2E9C6E"/>
                </a:solidFill>
                <a:latin typeface="Calibri"/>
              </a:rPr>
              <a:t>davvero</a:t>
            </a:r>
            <a:r>
              <a:rPr sz="1500" b="0" i="0">
                <a:solidFill>
                  <a:srgbClr val="2E9C6E"/>
                </a:solidFill>
                <a:latin typeface="Calibri"/>
              </a:rPr>
              <a:t> il nodo?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PRIMO RISULTATO · IL PROGRAMMA DA 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 configurabilità si paga per pacchetto: 59 → 428 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Stesso modello, 319 pesi  ·  minimo su 7 prove  ·  BPF_PROG_TEST_RUN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54480"/>
          <a:ext cx="603504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737360"/>
          <a:ext cx="4937758" cy="2286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19310"/>
                <a:gridCol w="1234440"/>
                <a:gridCol w="1424353"/>
                <a:gridCol w="75965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Istruzioni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Letture tabella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Salti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1 071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14 985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12 349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766560" y="434340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Fra i due estremi il costo cresce di circa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7×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 Il salto grande non è fra P1 e P1.5 (20 ns), ma quando anche la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forma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della rete diventa configurabile.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Le moltiplicazioni sono le stesse: il costo sta nelle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letture di tabella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(6 → 29) e nei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salti fra programmi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(1 → 3).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COMPROMESSO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Quello che si perde per pacchetto, si guadagna nel cambiare modello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Aggiornamento: tempo per installare un modello nuovo su un nodo già in servizio (scala logaritmica)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600200"/>
          <a:ext cx="566928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164592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400800" y="1645920"/>
            <a:ext cx="82296" cy="173736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675120" y="1810512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Con l'oggetto precompilato (AOT)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21992"/>
            <a:ext cx="489204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compilatore gira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prima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su un'altra macchina. Sul nodo si carica un file pronto: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9–10 ms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invece di 741. Stesso costo per pacchetto (46 contro 44 ns).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56616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400800" y="3566160"/>
            <a:ext cx="82296" cy="173736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75120" y="3730752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Il vantaggio che resta a P2 e P3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142232"/>
            <a:ext cx="489204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Un modello nuovo si installa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scrivendo una tabella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senza compilare niente da nessuna parte. P1 richiede comunque una compilazione (~1 s) per ogni modello, altrove.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60" y="5623560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Se il modello cambia raramente, compilare prima è gratis per il nodo. Se deve cambiare spesso e ovunque, i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~200–300 ns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 per pacchetto di P2/P3 comprano il non dover ricompilare mai.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COME CRESCE IL COSTO DEL MODELLO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Meno istruzioni, e più lenta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In P3 ogni strato è un programma a sé: allargare costa dentro un programma, approfondire fra un programma e l'altro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 i="0">
                <a:solidFill>
                  <a:srgbClr val="222B36"/>
                </a:solidFill>
                <a:latin typeface="Calibri"/>
              </a:rPr>
              <a:t>A parità di pesi, P3 ha un programma 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più piccolo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 di P2 ma è 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più lento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463040" y="2194560"/>
          <a:ext cx="9235437" cy="28346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40049"/>
                <a:gridCol w="2031796"/>
                <a:gridCol w="2031796"/>
                <a:gridCol w="2031796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A parità di pesi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P2  template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P3  modular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Differenza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800" b="1" i="0">
                          <a:solidFill>
                            <a:srgbClr val="222B36"/>
                          </a:solidFill>
                          <a:latin typeface="Calibri"/>
                        </a:rPr>
                        <a:t>Istruzioni del programma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14 985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12 349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−18 %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800" b="1" i="0">
                          <a:solidFill>
                            <a:srgbClr val="222B36"/>
                          </a:solidFill>
                          <a:latin typeface="Calibri"/>
                        </a:rPr>
                        <a:t>Latenza per pacchetto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271 ns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448 ns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+65 %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800" b="1" i="0">
                          <a:solidFill>
                            <a:srgbClr val="222B36"/>
                          </a:solidFill>
                          <a:latin typeface="Calibri"/>
                        </a:rPr>
                        <a:t>Salti fra programmi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×3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800" b="1" i="0">
                          <a:solidFill>
                            <a:srgbClr val="222B36"/>
                          </a:solidFill>
                          <a:latin typeface="Calibri"/>
                        </a:rPr>
                        <a:t>Letture di tabella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×2,6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25780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5257800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Il numero di istruzioni misura la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dimensione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del programma, non il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lavoro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che fa su ogni pacchetto. Sono due misure diverse.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UN PARAMETRO ALLA VOLTA · TAGLIA DELLA RETE, LARGHEZZA DEL MODELLO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 rete può crescere quanto vuole. Il modello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BPF_PROG_TEST_RUN, minimo su 7 prove  ·  P1 misurata con il build BCC, che costa quanto l'AOT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08760"/>
          <a:ext cx="56692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508760"/>
          <a:ext cx="566928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25780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222B36"/>
                </a:solidFill>
                <a:latin typeface="Calibri"/>
              </a:rPr>
              <a:t>Da 10 a 100 nodi la latenza non si muove.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L'identità del nodo entra come una casella sola: il programma ne legge una, qualunque sia la taglia della rete.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25780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222B36"/>
                </a:solidFill>
                <a:latin typeface="Calibri"/>
              </a:rPr>
              <a:t>Da 2 a 8 neuroni sale su tutte e quattro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P1 41 → 109 ns, P3 401 → 530 ns. Un neurone in più è lavoro vero, a ogni pacchetto.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UN PARAMETRO ALLA VOLTA · PROFONDITÀ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Uno strato in più: P2 lo paga in spazio, P3 in tempo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Quattro neuroni per strato, da 1 a 6 strati  ·  il resto del modello fermo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08760"/>
          <a:ext cx="56692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508760"/>
          <a:ext cx="566928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25780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222B36"/>
                </a:solidFill>
                <a:latin typeface="Calibri"/>
              </a:rPr>
              <a:t>Dimensione.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P2 ricompila e srotola: 14 668 → 18 801 istruzioni. P3 non si muove: 12 349 a ogni profondità.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25780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222B36"/>
                </a:solidFill>
                <a:latin typeface="Calibri"/>
              </a:rPr>
              <a:t>Tempo.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P3 paga: 347 → 699 ns da 1 a 6 strati, perché ogni strato è un salto fra programmi (da 2 a 7).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UN PARAMETRO ALLA VOLTA · A PARITÀ DI PESI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«Meglio larga o profonda?» dipende da chi la esegue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Cinque forme con circa 592 pesi: uno strato largo, oppure cinque stretti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08760"/>
          <a:ext cx="676656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1737360"/>
            <a:ext cx="4206240" cy="20116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79" y="1737360"/>
            <a:ext cx="82296" cy="201168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399" y="1901952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Generiche: la profondità si paga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399" y="2313432"/>
            <a:ext cx="37947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Da 1 a 5 strati, a pesi fermi: P2 279 → 382 ns, P3 392 → 661 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931920"/>
            <a:ext cx="4206240" cy="20116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498079" y="3931920"/>
            <a:ext cx="82296" cy="201168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399" y="4096512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Specializzate: indifferenti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399" y="4507992"/>
            <a:ext cx="37947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70–98 ns senza un andamento: srotolano tutto in una funzione sola.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CONTARE IL LAVORO GIUSTO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costo per moltiplicazione è una costante della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Contando le moltiplicazioni dalla forma del modello, per P3 la retta spiega il 9 % dei punti; contando quelle eseguite, il 91 %</a:t>
            </a:r>
          </a:p>
        </p:txBody>
      </p:sp>
      <p:pic>
        <p:nvPicPr>
          <p:cNvPr id="7" name="Picture 6" descr="campaign_macs_eff_late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6144768" cy="384048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23760" y="1645920"/>
          <a:ext cx="4480560" cy="23774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6252"/>
                <a:gridCol w="2464308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ns per moltiplicazione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0,32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0,35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0,81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1,46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223760" y="420624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 ingresso «a una casella accesa» occupa molte colonne nei pesi, ma per ogni pacchetto ne è attiva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una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Contando le moltiplicazioni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davvero eseguite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, quattro esperimenti diversi cadono sulla stessa retta: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0,32 ns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con i pesi compilati,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1,46 ns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con i pesi da tabella.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QUANDO LA SPECIALIZZAZIONE PAGA DAVVERO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Pesi a zero: una versione dimagrisce, le altre non se ne accorgono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È l'unico esperimento in cui scendono insieme dimensione e tempo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08760"/>
          <a:ext cx="676656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1737360"/>
            <a:ext cx="4206240" cy="20116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79" y="1737360"/>
            <a:ext cx="82296" cy="201168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399" y="1901952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P1.5, da 0 a 90 % di zeri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399" y="2313432"/>
            <a:ext cx="37947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1 071 → 224 istruzioni, 68 → 40 ns. Il compilatore vede lo zero e cancella la moltiplicazione.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931920"/>
            <a:ext cx="4206240" cy="20116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498079" y="3931920"/>
            <a:ext cx="82296" cy="201168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399" y="4096512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P2 e P3, stessi pesi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399" y="4507992"/>
            <a:ext cx="37947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Dimensione e latenza invariate: zero, letto da una tabella, è un numero come un altro.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VALIDAZIONE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Un modello solo non basta a provare che il codice è generico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Pesi casuali, nessun rapporto con il modello di riferimento  ·  300 ingressi per modello, sempre gli stessi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5669279" cy="4114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11480"/>
                <a:gridCol w="2781156"/>
                <a:gridCol w="1176643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Modello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Forma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Pesi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ones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11-2-3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small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15-4-4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18-6-5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ipa_like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65-4-4-7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319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ipa_ttl16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65-4-4-7  (TTL/16)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319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sparse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65-4-4-7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319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deep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65-4-4-4-7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339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117-8-8-9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1 097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0" y="16002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 i="0">
                <a:solidFill>
                  <a:srgbClr val="2E9C6E"/>
                </a:solidFill>
                <a:latin typeface="Calibri"/>
              </a:rPr>
              <a:t>2 400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60604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 i="0">
                <a:solidFill>
                  <a:srgbClr val="222B36"/>
                </a:solidFill>
                <a:latin typeface="Calibri"/>
              </a:rPr>
              <a:t>decisioni identiche fra il riferimento in Python e il programma nel kernel, su tutti e otto i modelli.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3840480"/>
            <a:ext cx="5029200" cy="21945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675120" y="3840480"/>
            <a:ext cx="82296" cy="2194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0" y="4005072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E un controllo in più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416552"/>
            <a:ext cx="4617720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riferimento Python e il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codice C generato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per P1 vengono confrontati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direttamente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numero per numero: due implementazioni coerenti con sé stesse ma diverse fra loro non passerebbero più.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CHE COSA HANNO TROVATO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Due bug che il modello di riferimento non faceva vedere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Entrambi corretti: la scala viaggia nella scheda del modello, la traduzione classe → azione è dichiarata e validata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440680" cy="35661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82296" cy="3566160"/>
          </a:xfrm>
          <a:prstGeom prst="rect">
            <a:avLst/>
          </a:prstGeom>
          <a:solidFill>
            <a:srgbClr val="C04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176479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0443C"/>
                </a:solidFill>
                <a:latin typeface="Calibri"/>
              </a:rPr>
              <a:t>1 · La scala del TTL era nel codice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76272"/>
            <a:ext cx="5029200" cy="2944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TTL entra nella rete diviso per una costante, scelta durante l'addestramento. Tutte e tre le pipeline la fissavano a 30 nel programma.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Modello addestrato su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TTL/16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, eseguito nel kernel con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TTL/30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1">
                <a:solidFill>
                  <a:srgbClr val="222B36"/>
                </a:solidFill>
                <a:latin typeface="Calibri"/>
              </a:rPr>
              <a:t>Il modello di riferimento usa proprio 30: su di lui il bug è invisibile.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5440680" cy="35661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263640" y="1600200"/>
            <a:ext cx="82296" cy="3566160"/>
          </a:xfrm>
          <a:prstGeom prst="rect">
            <a:avLst/>
          </a:prstGeom>
          <a:solidFill>
            <a:srgbClr val="C04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37960" y="176479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0443C"/>
                </a:solidFill>
                <a:latin typeface="Calibri"/>
              </a:rPr>
              <a:t>2 · La classe non è la porta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76272"/>
            <a:ext cx="5029200" cy="2944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La rete produce un numero. Che cosa significhi lo dichiara la configurazione, non la rete.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codice dava per scontato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classe 0 → porta 0, classe 1 → porta 1…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e «scarta» = ultima classe.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1">
                <a:solidFill>
                  <a:srgbClr val="222B36"/>
                </a:solidFill>
                <a:latin typeface="Calibri"/>
              </a:rPr>
              <a:t>Nel modello ricevuto le classi sono sette e quella che scarta è la sesta.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4068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2960" y="5440680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Due assunzioni vere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per coincidenza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su un modello solo. Sono i modelli sintetici ad averle fatte cadere.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TEST REALE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Come si misura quanto costa un pacchetto al nodo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Una macchina virtuale, quattro processori: ogni parte ha il suo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1920240" cy="14173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F3A5F"/>
                </a:solidFill>
                <a:latin typeface="Calibri"/>
              </a:rPr>
              <a:t>Generatore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7744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6B7C93"/>
                </a:solidFill>
                <a:latin typeface="Calibri"/>
              </a:rPr>
              <a:t>CPU 1 e 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3744" y="2286000"/>
            <a:ext cx="274320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52928" y="1691640"/>
            <a:ext cx="1920240" cy="14173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852928" y="1920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F3A5F"/>
                </a:solidFill>
                <a:latin typeface="Calibri"/>
              </a:rPr>
              <a:t>Coda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28" y="237744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6B7C93"/>
                </a:solidFill>
                <a:latin typeface="Calibri"/>
              </a:rPr>
              <a:t>256 posti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28032" y="2286000"/>
            <a:ext cx="274320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57216" y="1691640"/>
            <a:ext cx="1920240" cy="1417320"/>
          </a:xfrm>
          <a:prstGeom prst="roundRect">
            <a:avLst>
              <a:gd name="adj" fmla="val 6000"/>
            </a:avLst>
          </a:prstGeom>
          <a:solidFill>
            <a:srgbClr val="FDEBDB"/>
          </a:solidFill>
          <a:ln w="15875">
            <a:solidFill>
              <a:srgbClr val="E07A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157216" y="1920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E07A2D"/>
                </a:solidFill>
                <a:latin typeface="Calibri"/>
              </a:rPr>
              <a:t>NODO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7216" y="237744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6B7C93"/>
                </a:solidFill>
                <a:latin typeface="Calibri"/>
              </a:rPr>
              <a:t>programma XDP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6B7C93"/>
                </a:solidFill>
                <a:latin typeface="Calibri"/>
              </a:rPr>
              <a:t>CPU 3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32320" y="2286000"/>
            <a:ext cx="274320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61504" y="1691640"/>
            <a:ext cx="1920240" cy="14173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61504" y="1920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F3A5F"/>
                </a:solidFill>
                <a:latin typeface="Calibri"/>
              </a:rPr>
              <a:t>Coda d'uscita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1504" y="237744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</a:p>
        </p:txBody>
      </p:sp>
      <p:sp>
        <p:nvSpPr>
          <p:cNvPr id="22" name="Right Arrow 21"/>
          <p:cNvSpPr/>
          <p:nvPr/>
        </p:nvSpPr>
        <p:spPr>
          <a:xfrm>
            <a:off x="9436608" y="2286000"/>
            <a:ext cx="274320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1691640"/>
            <a:ext cx="1920240" cy="14173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765792" y="1920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F3A5F"/>
                </a:solidFill>
                <a:latin typeface="Calibri"/>
              </a:rPr>
              <a:t>Nodo successivo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5792" y="237744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6B7C93"/>
                </a:solidFill>
                <a:latin typeface="Calibri"/>
              </a:rPr>
              <a:t>contatore, CPU 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2928" y="32004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C0443C"/>
                </a:solidFill>
                <a:latin typeface="Calibri"/>
              </a:rPr>
              <a:t>se è piena: </a:t>
            </a:r>
            <a:r>
              <a:rPr sz="1300" b="1" i="0">
                <a:solidFill>
                  <a:srgbClr val="C0443C"/>
                </a:solidFill>
                <a:latin typeface="Calibri"/>
              </a:rPr>
              <a:t>respinto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886200"/>
            <a:ext cx="658368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48640" y="3886200"/>
            <a:ext cx="82296" cy="233172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2960" y="4050792"/>
            <a:ext cx="6172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Come alla cassa del supermercato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462272"/>
            <a:ext cx="6172200" cy="1709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Il nodo è il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cassiere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, i pacchetti i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clienti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, la coda il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nastro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 Si fanno arrivare più clienti di quanti ne riesca a servire, così che il nastro non sia mai vuoto, e si conta quanti ne serve al secondo.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06640" y="3886200"/>
            <a:ext cx="4297680" cy="23317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635240" y="406908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F2B134"/>
                </a:solidFill>
                <a:latin typeface="Calibri"/>
              </a:rPr>
              <a:t>costo per pacchetto =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35240" y="4572000"/>
            <a:ext cx="3931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1 secondo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pacchetti elaborati al secondo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046720" y="4965192"/>
            <a:ext cx="310896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635240" y="5532120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D6DEE9"/>
                </a:solidFill>
                <a:latin typeface="Calibri"/>
              </a:rPr>
              <a:t>5 milioni al secondo → 200 ns ciascuno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TEST REALE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Cinque trappole di misura, tutte tolte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Nessuna riguardava le pipeline: tutte facevano sembrare il nodo diverso da com'è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4630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6B7C93"/>
                </a:solidFill>
                <a:latin typeface="Calibri"/>
              </a:rPr>
              <a:t>COSA SUCCEDEVA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6679" y="14630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2E9C6E"/>
                </a:solidFill>
                <a:latin typeface="Calibri"/>
              </a:rPr>
              <a:t>IL RIMEDIO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1155680" cy="786384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13232" y="1929384"/>
            <a:ext cx="493776" cy="493776"/>
          </a:xfrm>
          <a:prstGeom prst="ellipse">
            <a:avLst/>
          </a:prstGeom>
          <a:solidFill>
            <a:srgbClr val="C04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87452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Il cronometro partiva prima dei clienti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212848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fino a 225 ms di attesa del generatore contati come lavoro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315200" y="2057400"/>
            <a:ext cx="292608" cy="237744"/>
          </a:xfrm>
          <a:prstGeom prst="rightArrow">
            <a:avLst/>
          </a:prstGeom>
          <a:solidFill>
            <a:srgbClr val="2E9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1783080"/>
            <a:ext cx="388620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E9C6E"/>
                </a:solidFill>
                <a:latin typeface="Calibri"/>
              </a:rPr>
              <a:t>si misura solo mentre tutti trasmettono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79192"/>
            <a:ext cx="11155680" cy="786384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713232" y="2825496"/>
            <a:ext cx="493776" cy="493776"/>
          </a:xfrm>
          <a:prstGeom prst="ellipse">
            <a:avLst/>
          </a:prstGeom>
          <a:solidFill>
            <a:srgbClr val="C04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7706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Il cronometro si fermava a metà lettura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10896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la macchina virtuale sospesa durante la lettura dei contatori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315200" y="2953512"/>
            <a:ext cx="292608" cy="237744"/>
          </a:xfrm>
          <a:prstGeom prst="rightArrow">
            <a:avLst/>
          </a:prstGeom>
          <a:solidFill>
            <a:srgbClr val="2E9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6679" y="2679192"/>
            <a:ext cx="388620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E9C6E"/>
                </a:solidFill>
                <a:latin typeface="Calibri"/>
              </a:rPr>
              <a:t>letture rifatte se durano più di 3 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75304"/>
            <a:ext cx="11155680" cy="786384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713232" y="3721608"/>
            <a:ext cx="493776" cy="493776"/>
          </a:xfrm>
          <a:prstGeom prst="ellipse">
            <a:avLst/>
          </a:prstGeom>
          <a:solidFill>
            <a:srgbClr val="C04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666744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I clienti mandati via non erano contati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400507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«perdita 0 %» con metà dei pacchetti respinti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315200" y="3849624"/>
            <a:ext cx="292608" cy="237744"/>
          </a:xfrm>
          <a:prstGeom prst="rightArrow">
            <a:avLst/>
          </a:prstGeom>
          <a:solidFill>
            <a:srgbClr val="2E9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26679" y="3575304"/>
            <a:ext cx="388620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E9C6E"/>
                </a:solidFill>
                <a:latin typeface="Calibri"/>
              </a:rPr>
              <a:t>i respinti sono perdita del nodo, sempre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471416"/>
            <a:ext cx="11155680" cy="786384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713232" y="4617720"/>
            <a:ext cx="493776" cy="493776"/>
          </a:xfrm>
          <a:prstGeom prst="ellipse">
            <a:avLst/>
          </a:prstGeom>
          <a:solidFill>
            <a:srgbClr val="C04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4562856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Il generatore faceva lavorare il nodo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901184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ogni pacchetto copiato in memoria prima di arrivare al programma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315200" y="4745736"/>
            <a:ext cx="292608" cy="237744"/>
          </a:xfrm>
          <a:prstGeom prst="rightArrow">
            <a:avLst/>
          </a:prstGeom>
          <a:solidFill>
            <a:srgbClr val="2E9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26679" y="4471416"/>
            <a:ext cx="388620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E9C6E"/>
                </a:solidFill>
                <a:latin typeface="Calibri"/>
              </a:rPr>
              <a:t>generatore nuovo, a pacchetti già «grezzi»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367528"/>
            <a:ext cx="11155680" cy="786384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713232" y="5513832"/>
            <a:ext cx="493776" cy="493776"/>
          </a:xfrm>
          <a:prstGeom prst="ellipse">
            <a:avLst/>
          </a:prstGeom>
          <a:solidFill>
            <a:srgbClr val="C04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20" y="5458968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Il nodo successivo usava la CPU del nodo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797296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la ricezione a valle contata come costo del nodo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7315200" y="5641848"/>
            <a:ext cx="292608" cy="237744"/>
          </a:xfrm>
          <a:prstGeom prst="rightArrow">
            <a:avLst/>
          </a:prstGeom>
          <a:solidFill>
            <a:srgbClr val="2E9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26679" y="5367528"/>
            <a:ext cx="388620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E9C6E"/>
                </a:solidFill>
                <a:latin typeface="Calibri"/>
              </a:rPr>
              <a:t>il nodo successivo su un altro processore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TRAPPOLA 1 · IL CRONOMETRO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Stessa pipeline, due cronometri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P1.5, stessi parametri, due run uno dopo l'altro  ·  milioni di pacchetti al secondo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08760"/>
          <a:ext cx="667512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06640" y="1691640"/>
            <a:ext cx="4297680" cy="2103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06640" y="1691640"/>
            <a:ext cx="82296" cy="2103120"/>
          </a:xfrm>
          <a:prstGeom prst="rect">
            <a:avLst/>
          </a:prstGeom>
          <a:solidFill>
            <a:srgbClr val="C04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0" y="1856232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0443C"/>
                </a:solidFill>
                <a:latin typeface="Calibri"/>
              </a:rPr>
              <a:t>Prima: ±48 % fra i giri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67712"/>
            <a:ext cx="388620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generatore del kernel aspetta 125 ms fissi prima di partire e controlla ogni 100 ms se ha finito: quel tempo morto finiva nel denominatore.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3977639"/>
            <a:ext cx="4297680" cy="2103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406640" y="3977639"/>
            <a:ext cx="82296" cy="210312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680960" y="4142231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Dopo: ±2 %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553711"/>
            <a:ext cx="388620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Si leggono i contatori solo mentre tutti trasmettono, due volte a 300 ms di distanza. Avvio e chiusura restano fuori per costruzione.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TRAPPOLE 4 E 5 · QUELLO CHE NON ERA DEL NODO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Togliendo le due contaminazioni resta il costo del nodo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ns per pacchetto sul processore del nodo, 64 byte, a saturazione  ·  «solo ricezione» = prende il pacchetto e lo butta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75895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321040" y="1600200"/>
            <a:ext cx="3383280" cy="22402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321040" y="1600200"/>
            <a:ext cx="82296" cy="2240280"/>
          </a:xfrm>
          <a:prstGeom prst="rect">
            <a:avLst/>
          </a:prstGeom>
          <a:solidFill>
            <a:srgbClr val="8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95360" y="1764792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8FA9C4"/>
                </a:solidFill>
                <a:latin typeface="Calibri"/>
              </a:rPr>
              <a:t>La copia del generatore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2176272"/>
            <a:ext cx="2971800" cy="1618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Ricevere costava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210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di cui tre quarti copia. Con pacchetti già grezzi: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50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come su una scheda di rete vera.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4023360"/>
            <a:ext cx="3383280" cy="22402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321040" y="4023360"/>
            <a:ext cx="82296" cy="22402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95360" y="4187952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Il nodo successivo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4599432"/>
            <a:ext cx="2971800" cy="1618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Spostandolo su un altro processore, la baseline passa da 219 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117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il resto era la ricezione a valle.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RISULTATO PRINCIPALE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Quanto costa un pacchetto al nodo, dalla ricezione all'inoltro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5 giri, 64 byte, controllo di validità superato  ·  «il programma» = T2−T1, il minimo misurato con tre orologi nel nodo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722376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914400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183879" y="166420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6002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117 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103120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8,5 M pacchetti/s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578608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955279" y="2578608"/>
            <a:ext cx="82296" cy="914400"/>
          </a:xfrm>
          <a:prstGeom prst="rect">
            <a:avLst/>
          </a:prstGeom>
          <a:solidFill>
            <a:srgbClr val="F0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183879" y="2688336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P1 / P1.5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624328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~170 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27248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6 M pacchetti/s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3602736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955279" y="3602736"/>
            <a:ext cx="82296" cy="914400"/>
          </a:xfrm>
          <a:prstGeom prst="rect">
            <a:avLst/>
          </a:prstGeom>
          <a:solidFill>
            <a:srgbClr val="2E9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183879" y="3712464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648456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335 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151376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3 M pacchetti/s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4626864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955279" y="4626864"/>
            <a:ext cx="82296" cy="914400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183879" y="473659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4672584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493 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5175504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2 M pacchetti/s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715000"/>
            <a:ext cx="11094415" cy="566928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2960" y="5715000"/>
            <a:ext cx="1054577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Pesi nel programma: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+50 ns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 sopra la baseline.  Forma da tabella (P2):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+218 ns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.  Anche la profondità (P3):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+376 ns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QUANTO È SOLIDO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costo dipende dalla pipeline, e da niente altro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Sei classi: stato dei collegamenti e TTL scelti perché la rete decida proprio quella classe; verificato su ogni pipeline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08760"/>
          <a:ext cx="566928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508760"/>
          <a:ext cx="566928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532120"/>
            <a:ext cx="5394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222B36"/>
                </a:solidFill>
                <a:latin typeface="Calibri"/>
              </a:rPr>
              <a:t>Taglia del pacchetto: nessun effetto.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Il nodo legge solo l'intestazione, come su una scheda di rete vera.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532120"/>
            <a:ext cx="5394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222B36"/>
                </a:solidFill>
                <a:latin typeface="Calibri"/>
              </a:rPr>
              <a:t>Classe e porta d'uscita: nessun effetto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oltre il ±10 % di rumore fra sessioni.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COSA È CAMBIATO RISPETTO ALLA VERSIONE PRECEDENTE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Le cifre vecchie e quelle nuove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Il costo del solo programma (T2−T1: 27 / 50 / 57 / 183 / 271 ns) resta invariato: usa l'orologio del kernel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54480"/>
          <a:ext cx="11155678" cy="42793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840479"/>
                <a:gridCol w="4023360"/>
                <a:gridCol w="3291839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Si diceva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Oggi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Perché</a:t>
                      </a:r>
                    </a:p>
                  </a:txBody>
                  <a:tcPr marL="91440" marR="91440" marT="27432" marB="27432" anchor="ctr">
                    <a:solidFill>
                      <a:srgbClr val="1F3A5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222B36"/>
                          </a:solidFill>
                          <a:latin typeface="Calibri"/>
                        </a:rPr>
                        <a:t>Le pipeline consegnano 1,1–1,4 M pacchetti/s, «limite inferiore»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B36"/>
                          </a:solidFill>
                          <a:latin typeface="Calibri"/>
                        </a:rPr>
                        <a:t>Il nodo regge da 2,0 (P3) a 6,0 (P1.5) M pacchetti/s per processore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B36"/>
                          </a:solidFill>
                          <a:latin typeface="Calibri"/>
                        </a:rPr>
                        <a:t>cronometro e copia (trappole 1 e 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222B36"/>
                          </a:solidFill>
                          <a:latin typeface="Calibri"/>
                        </a:rPr>
                        <a:t>Tetto della ricezione 3,7 M pacchetti/s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B36"/>
                          </a:solidFill>
                          <a:latin typeface="Calibri"/>
                        </a:rPr>
                        <a:t>4,8 con pktgen, 19,8 con pacchetti grezzi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B36"/>
                          </a:solidFill>
                          <a:latin typeface="Calibri"/>
                        </a:rPr>
                        <a:t>stesso cronometro; la copia era 3/4 del costo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222B36"/>
                          </a:solidFill>
                          <a:latin typeface="Calibri"/>
                        </a:rPr>
                        <a:t>Le pipeline hanno ancora «2× di margine»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222B36"/>
                          </a:solidFill>
                          <a:latin typeface="Calibri"/>
                        </a:rPr>
                        <a:t>Smentito</a:t>
                      </a:r>
                      <a:r>
                        <a:rPr sz="1400" b="0" i="0">
                          <a:solidFill>
                            <a:srgbClr val="222B36"/>
                          </a:solidFill>
                          <a:latin typeface="Calibri"/>
                        </a:rPr>
                        <a:t>: il nodo era già saturo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B36"/>
                          </a:solidFill>
                          <a:latin typeface="Calibri"/>
                        </a:rPr>
                        <a:t>tetto misurato senza inoltro, e con il cronometro sbagliato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222B36"/>
                          </a:solidFill>
                          <a:latin typeface="Calibri"/>
                        </a:rPr>
                        <a:t>Perdita 0,000 % su ogni riga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B36"/>
                          </a:solidFill>
                          <a:latin typeface="Calibri"/>
                        </a:rPr>
                        <a:t>Respinti fino al 94 % a saturazione; persi dopo l'ingresso 0,00–0,07 %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B36"/>
                          </a:solidFill>
                          <a:latin typeface="Calibri"/>
                        </a:rPr>
                        <a:t>un respinto è perdita del nodo (trappola 3)</a:t>
                      </a:r>
                    </a:p>
                  </a:txBody>
                  <a:tcPr marL="91440" marR="91440" marT="27432" marB="27432" anchor="ctr">
                    <a:solidFill>
                      <a:srgbClr val="F3F5F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222B36"/>
                          </a:solidFill>
                          <a:latin typeface="Calibri"/>
                        </a:rPr>
                        <a:t>Cambiare modello in P1 costa ~1,5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B36"/>
                          </a:solidFill>
                          <a:latin typeface="Calibri"/>
                        </a:rPr>
                        <a:t>9–10 ms con l'oggetto precompilato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22B36"/>
                          </a:solidFill>
                          <a:latin typeface="Calibri"/>
                        </a:rPr>
                        <a:t>il compilatore non gira più sul nodo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LE ALTRE CORREZIONI DI SETTEMBRE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Quello che non si vedeva dai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Tutto verificato sul kernel della macchina virtuale  ·  dettagli nel quaderno, capitolo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82296" cy="2103120"/>
          </a:xfrm>
          <a:prstGeom prst="rect">
            <a:avLst/>
          </a:prstGeom>
          <a:solidFill>
            <a:srgbClr val="C04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176479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0443C"/>
                </a:solidFill>
                <a:latin typeface="Calibri"/>
              </a:rPr>
              <a:t>Il P1 dei nodi non inoltrava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76272"/>
            <a:ext cx="502920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L'oggetto precompilato mandava ogni pacchetto a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loopback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 Corretto: consegna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11 su 11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0020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217920" y="1600200"/>
            <a:ext cx="82296" cy="2103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92240" y="176479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Tutti i test di P1 sull'oggetto vero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76272"/>
            <a:ext cx="502920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Consegna 29/29, semantica 72/72, modelli generati 62/62, P1 statica = P1.5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80/80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3192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48640" y="3931920"/>
            <a:ext cx="82296" cy="210312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60" y="409651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Riferimento = codice generato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507992"/>
            <a:ext cx="502920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Python e il C di P1 confrontati numero per numero su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8 modelli × 300 ingressi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93192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217920" y="3931920"/>
            <a:ext cx="82296" cy="210312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92240" y="409651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La scala letta davvero in P2 e P3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507992"/>
            <a:ext cx="502920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Alterandola le decisioni cambiano; giusta, coincidono. E un secondo modello incompatibile viene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rifiutato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CONCLUSIONI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Che cosa posso affermare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Le cifre assolute valgono per questa macchina virtuale; i rapporti fra le versioni sono la parte che sopravvive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440680" cy="3749039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82296" cy="3749039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176479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Sul costo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76272"/>
            <a:ext cx="5029200" cy="3127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La rete costa al nodo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~50 ns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con i pesi compilati,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~220–380 ns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se configurabile a runtime.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Sopra, ricevere e inoltrare costa ~120 ns: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117 / 170 / 335 / 493 ns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in tutto.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Con l'oggetto precompilato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cambiare modello costa millisecondi per tutte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Congelare il nodo (P1 statica)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non dà un vantaggio misurabile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5440680" cy="3749039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263640" y="1600200"/>
            <a:ext cx="82296" cy="374903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37960" y="176479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Sul metodo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76272"/>
            <a:ext cx="5029200" cy="3127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Istruzioni e latenza sono misure diverse: P3 è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più piccola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di P2 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più lenta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I modelli sintetici hanno trovato bug che il modello di riferimento non mostrava.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Misurare un nodo vero richiede di separare il nodo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dal banco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cinque trappole, tutte tolte.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Il costo del nodo è stabile fra sessioni, taglie e classi, entro ±5–10 %.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2960" y="5532120"/>
            <a:ext cx="1054577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Il risultato non è una pipeline vincente, ma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la misura del compromesso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 fra specializzazione e flessibilità — con un metodo che separa il costo della rete dal costo del banco.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