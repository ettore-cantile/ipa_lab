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80" r:id="rId6"/>
    <p:sldId id="260" r:id="rId7"/>
    <p:sldId id="261" r:id="rId8"/>
    <p:sldId id="262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5" r:id="rId20"/>
    <p:sldId id="276" r:id="rId21"/>
    <p:sldId id="277" r:id="rId22"/>
    <p:sldId id="278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0909" autoAdjust="0"/>
  </p:normalViewPr>
  <p:slideViewPr>
    <p:cSldViewPr snapToGrid="0" snapToObjects="1">
      <p:cViewPr varScale="1">
        <p:scale>
          <a:sx n="80" d="100"/>
          <a:sy n="80" d="100"/>
        </p:scale>
        <p:origin x="112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ttore Cantile" userId="2f5e44afd0b03182" providerId="LiveId" clId="{E1385F0F-24B1-4705-8EF7-8D82C33CA9CE}"/>
    <pc:docChg chg="undo redo custSel addSld delSld modSld">
      <pc:chgData name="Ettore Cantile" userId="2f5e44afd0b03182" providerId="LiveId" clId="{E1385F0F-24B1-4705-8EF7-8D82C33CA9CE}" dt="2026-09-25T15:17:48.142" v="404" actId="47"/>
      <pc:docMkLst>
        <pc:docMk/>
      </pc:docMkLst>
      <pc:sldChg chg="modSp mod">
        <pc:chgData name="Ettore Cantile" userId="2f5e44afd0b03182" providerId="LiveId" clId="{E1385F0F-24B1-4705-8EF7-8D82C33CA9CE}" dt="2026-09-25T15:14:45.321" v="331" actId="20577"/>
        <pc:sldMkLst>
          <pc:docMk/>
          <pc:sldMk cId="0" sldId="256"/>
        </pc:sldMkLst>
        <pc:spChg chg="mod">
          <ac:chgData name="Ettore Cantile" userId="2f5e44afd0b03182" providerId="LiveId" clId="{E1385F0F-24B1-4705-8EF7-8D82C33CA9CE}" dt="2026-09-25T15:14:45.321" v="331" actId="20577"/>
          <ac:spMkLst>
            <pc:docMk/>
            <pc:sldMk cId="0" sldId="256"/>
            <ac:spMk id="7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5T12:03:07.871" v="123" actId="20577"/>
        <pc:sldMkLst>
          <pc:docMk/>
          <pc:sldMk cId="0" sldId="257"/>
        </pc:sldMkLst>
        <pc:spChg chg="mod">
          <ac:chgData name="Ettore Cantile" userId="2f5e44afd0b03182" providerId="LiveId" clId="{E1385F0F-24B1-4705-8EF7-8D82C33CA9CE}" dt="2026-09-25T08:43:50.886" v="79" actId="20577"/>
          <ac:spMkLst>
            <pc:docMk/>
            <pc:sldMk cId="0" sldId="257"/>
            <ac:spMk id="7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12:03:07.871" v="123" actId="20577"/>
          <ac:spMkLst>
            <pc:docMk/>
            <pc:sldMk cId="0" sldId="257"/>
            <ac:spMk id="33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5T14:24:40.828" v="303" actId="207"/>
        <pc:sldMkLst>
          <pc:docMk/>
          <pc:sldMk cId="0" sldId="258"/>
        </pc:sldMkLst>
        <pc:graphicFrameChg chg="modGraphic">
          <ac:chgData name="Ettore Cantile" userId="2f5e44afd0b03182" providerId="LiveId" clId="{E1385F0F-24B1-4705-8EF7-8D82C33CA9CE}" dt="2026-09-25T14:24:40.828" v="303" actId="207"/>
          <ac:graphicFrameMkLst>
            <pc:docMk/>
            <pc:sldMk cId="0" sldId="258"/>
            <ac:graphicFrameMk id="8" creationId="{00000000-0000-0000-0000-000000000000}"/>
          </ac:graphicFrameMkLst>
        </pc:graphicFrameChg>
      </pc:sldChg>
      <pc:sldChg chg="modSp mod">
        <pc:chgData name="Ettore Cantile" userId="2f5e44afd0b03182" providerId="LiveId" clId="{E1385F0F-24B1-4705-8EF7-8D82C33CA9CE}" dt="2026-09-24T16:05:13.005" v="54" actId="20577"/>
        <pc:sldMkLst>
          <pc:docMk/>
          <pc:sldMk cId="0" sldId="260"/>
        </pc:sldMkLst>
        <pc:spChg chg="mod">
          <ac:chgData name="Ettore Cantile" userId="2f5e44afd0b03182" providerId="LiveId" clId="{E1385F0F-24B1-4705-8EF7-8D82C33CA9CE}" dt="2026-09-24T16:05:13.005" v="54" actId="20577"/>
          <ac:spMkLst>
            <pc:docMk/>
            <pc:sldMk cId="0" sldId="260"/>
            <ac:spMk id="5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5T09:10:24.986" v="80" actId="20577"/>
        <pc:sldMkLst>
          <pc:docMk/>
          <pc:sldMk cId="0" sldId="261"/>
        </pc:sldMkLst>
        <pc:spChg chg="mod">
          <ac:chgData name="Ettore Cantile" userId="2f5e44afd0b03182" providerId="LiveId" clId="{E1385F0F-24B1-4705-8EF7-8D82C33CA9CE}" dt="2026-09-24T16:05:13.089" v="55" actId="20577"/>
          <ac:spMkLst>
            <pc:docMk/>
            <pc:sldMk cId="0" sldId="261"/>
            <ac:spMk id="5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09:10:24.986" v="80" actId="20577"/>
          <ac:spMkLst>
            <pc:docMk/>
            <pc:sldMk cId="0" sldId="261"/>
            <ac:spMk id="6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5T09:10:36.050" v="83" actId="20577"/>
        <pc:sldMkLst>
          <pc:docMk/>
          <pc:sldMk cId="0" sldId="262"/>
        </pc:sldMkLst>
        <pc:spChg chg="mod">
          <ac:chgData name="Ettore Cantile" userId="2f5e44afd0b03182" providerId="LiveId" clId="{E1385F0F-24B1-4705-8EF7-8D82C33CA9CE}" dt="2026-09-24T16:05:13.136" v="56" actId="20577"/>
          <ac:spMkLst>
            <pc:docMk/>
            <pc:sldMk cId="0" sldId="262"/>
            <ac:spMk id="5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09:10:36.050" v="83" actId="20577"/>
          <ac:spMkLst>
            <pc:docMk/>
            <pc:sldMk cId="0" sldId="262"/>
            <ac:spMk id="6" creationId="{00000000-0000-0000-0000-000000000000}"/>
          </ac:spMkLst>
        </pc:spChg>
      </pc:sldChg>
      <pc:sldChg chg="del">
        <pc:chgData name="Ettore Cantile" userId="2f5e44afd0b03182" providerId="LiveId" clId="{E1385F0F-24B1-4705-8EF7-8D82C33CA9CE}" dt="2026-09-24T16:05:12.626" v="52" actId="2696"/>
        <pc:sldMkLst>
          <pc:docMk/>
          <pc:sldMk cId="0" sldId="263"/>
        </pc:sldMkLst>
      </pc:sldChg>
      <pc:sldChg chg="modSp mod">
        <pc:chgData name="Ettore Cantile" userId="2f5e44afd0b03182" providerId="LiveId" clId="{E1385F0F-24B1-4705-8EF7-8D82C33CA9CE}" dt="2026-09-25T15:15:50.626" v="378" actId="20577"/>
        <pc:sldMkLst>
          <pc:docMk/>
          <pc:sldMk cId="0" sldId="264"/>
        </pc:sldMkLst>
        <pc:spChg chg="mod">
          <ac:chgData name="Ettore Cantile" userId="2f5e44afd0b03182" providerId="LiveId" clId="{E1385F0F-24B1-4705-8EF7-8D82C33CA9CE}" dt="2026-09-25T15:15:50.626" v="378" actId="20577"/>
          <ac:spMkLst>
            <pc:docMk/>
            <pc:sldMk cId="0" sldId="264"/>
            <ac:spMk id="6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09:20:14.077" v="90" actId="113"/>
          <ac:spMkLst>
            <pc:docMk/>
            <pc:sldMk cId="0" sldId="264"/>
            <ac:spMk id="9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5T15:10:33.325" v="328" actId="20577"/>
        <pc:sldMkLst>
          <pc:docMk/>
          <pc:sldMk cId="0" sldId="265"/>
        </pc:sldMkLst>
        <pc:spChg chg="mod">
          <ac:chgData name="Ettore Cantile" userId="2f5e44afd0b03182" providerId="LiveId" clId="{E1385F0F-24B1-4705-8EF7-8D82C33CA9CE}" dt="2026-09-25T15:10:33.307" v="327" actId="20577"/>
          <ac:spMkLst>
            <pc:docMk/>
            <pc:sldMk cId="0" sldId="265"/>
            <ac:spMk id="9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15:10:33.325" v="328" actId="20577"/>
          <ac:spMkLst>
            <pc:docMk/>
            <pc:sldMk cId="0" sldId="265"/>
            <ac:spMk id="14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5T15:17:02.618" v="400" actId="20577"/>
        <pc:sldMkLst>
          <pc:docMk/>
          <pc:sldMk cId="0" sldId="267"/>
        </pc:sldMkLst>
        <pc:spChg chg="mod">
          <ac:chgData name="Ettore Cantile" userId="2f5e44afd0b03182" providerId="LiveId" clId="{E1385F0F-24B1-4705-8EF7-8D82C33CA9CE}" dt="2026-09-25T15:17:02.618" v="400" actId="20577"/>
          <ac:spMkLst>
            <pc:docMk/>
            <pc:sldMk cId="0" sldId="267"/>
            <ac:spMk id="6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5T14:25:17.961" v="311" actId="20577"/>
        <pc:sldMkLst>
          <pc:docMk/>
          <pc:sldMk cId="0" sldId="269"/>
        </pc:sldMkLst>
        <pc:spChg chg="mod">
          <ac:chgData name="Ettore Cantile" userId="2f5e44afd0b03182" providerId="LiveId" clId="{E1385F0F-24B1-4705-8EF7-8D82C33CA9CE}" dt="2026-09-25T14:24:40.852" v="304" actId="20577"/>
          <ac:spMkLst>
            <pc:docMk/>
            <pc:sldMk cId="0" sldId="269"/>
            <ac:spMk id="8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14:25:17.961" v="311" actId="20577"/>
          <ac:spMkLst>
            <pc:docMk/>
            <pc:sldMk cId="0" sldId="269"/>
            <ac:spMk id="9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4T15:41:16.588" v="3" actId="947"/>
        <pc:sldMkLst>
          <pc:docMk/>
          <pc:sldMk cId="0" sldId="271"/>
        </pc:sldMkLst>
        <pc:spChg chg="mod">
          <ac:chgData name="Ettore Cantile" userId="2f5e44afd0b03182" providerId="LiveId" clId="{E1385F0F-24B1-4705-8EF7-8D82C33CA9CE}" dt="2026-09-24T15:41:16.588" v="3" actId="947"/>
          <ac:spMkLst>
            <pc:docMk/>
            <pc:sldMk cId="0" sldId="271"/>
            <ac:spMk id="18" creationId="{00000000-0000-0000-0000-000000000000}"/>
          </ac:spMkLst>
        </pc:spChg>
      </pc:sldChg>
      <pc:sldChg chg="del">
        <pc:chgData name="Ettore Cantile" userId="2f5e44afd0b03182" providerId="LiveId" clId="{E1385F0F-24B1-4705-8EF7-8D82C33CA9CE}" dt="2026-09-23T14:04:15.896" v="0" actId="47"/>
        <pc:sldMkLst>
          <pc:docMk/>
          <pc:sldMk cId="0" sldId="274"/>
        </pc:sldMkLst>
      </pc:sldChg>
      <pc:sldChg chg="modSp mod">
        <pc:chgData name="Ettore Cantile" userId="2f5e44afd0b03182" providerId="LiveId" clId="{E1385F0F-24B1-4705-8EF7-8D82C33CA9CE}" dt="2026-09-24T16:05:14.113" v="57" actId="20577"/>
        <pc:sldMkLst>
          <pc:docMk/>
          <pc:sldMk cId="0" sldId="275"/>
        </pc:sldMkLst>
        <pc:spChg chg="mod">
          <ac:chgData name="Ettore Cantile" userId="2f5e44afd0b03182" providerId="LiveId" clId="{E1385F0F-24B1-4705-8EF7-8D82C33CA9CE}" dt="2026-09-24T16:05:14.113" v="57" actId="20577"/>
          <ac:spMkLst>
            <pc:docMk/>
            <pc:sldMk cId="0" sldId="275"/>
            <ac:spMk id="5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4T16:05:14.217" v="58" actId="20577"/>
        <pc:sldMkLst>
          <pc:docMk/>
          <pc:sldMk cId="0" sldId="276"/>
        </pc:sldMkLst>
        <pc:spChg chg="mod">
          <ac:chgData name="Ettore Cantile" userId="2f5e44afd0b03182" providerId="LiveId" clId="{E1385F0F-24B1-4705-8EF7-8D82C33CA9CE}" dt="2026-09-24T16:05:14.217" v="58" actId="20577"/>
          <ac:spMkLst>
            <pc:docMk/>
            <pc:sldMk cId="0" sldId="276"/>
            <ac:spMk id="5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4T16:05:14.332" v="59" actId="20577"/>
        <pc:sldMkLst>
          <pc:docMk/>
          <pc:sldMk cId="0" sldId="277"/>
        </pc:sldMkLst>
        <pc:spChg chg="mod">
          <ac:chgData name="Ettore Cantile" userId="2f5e44afd0b03182" providerId="LiveId" clId="{E1385F0F-24B1-4705-8EF7-8D82C33CA9CE}" dt="2026-09-24T16:05:14.332" v="59" actId="20577"/>
          <ac:spMkLst>
            <pc:docMk/>
            <pc:sldMk cId="0" sldId="277"/>
            <ac:spMk id="5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4T16:05:14.406" v="60" actId="20577"/>
        <pc:sldMkLst>
          <pc:docMk/>
          <pc:sldMk cId="0" sldId="278"/>
        </pc:sldMkLst>
        <pc:spChg chg="mod">
          <ac:chgData name="Ettore Cantile" userId="2f5e44afd0b03182" providerId="LiveId" clId="{E1385F0F-24B1-4705-8EF7-8D82C33CA9CE}" dt="2026-09-24T16:05:14.406" v="60" actId="20577"/>
          <ac:spMkLst>
            <pc:docMk/>
            <pc:sldMk cId="0" sldId="278"/>
            <ac:spMk id="5" creationId="{00000000-0000-0000-0000-000000000000}"/>
          </ac:spMkLst>
        </pc:spChg>
      </pc:sldChg>
      <pc:sldChg chg="modSp del mod">
        <pc:chgData name="Ettore Cantile" userId="2f5e44afd0b03182" providerId="LiveId" clId="{E1385F0F-24B1-4705-8EF7-8D82C33CA9CE}" dt="2026-09-25T15:17:48.142" v="404" actId="47"/>
        <pc:sldMkLst>
          <pc:docMk/>
          <pc:sldMk cId="0" sldId="279"/>
        </pc:sldMkLst>
        <pc:spChg chg="mod">
          <ac:chgData name="Ettore Cantile" userId="2f5e44afd0b03182" providerId="LiveId" clId="{E1385F0F-24B1-4705-8EF7-8D82C33CA9CE}" dt="2026-09-24T16:05:14.466" v="61" actId="20577"/>
          <ac:spMkLst>
            <pc:docMk/>
            <pc:sldMk cId="0" sldId="279"/>
            <ac:spMk id="5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15:17:38.689" v="403" actId="20577"/>
          <ac:spMkLst>
            <pc:docMk/>
            <pc:sldMk cId="0" sldId="279"/>
            <ac:spMk id="6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5:41:16.831" v="6" actId="20577"/>
          <ac:spMkLst>
            <pc:docMk/>
            <pc:sldMk cId="0" sldId="279"/>
            <ac:spMk id="14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5:41:16.770" v="5" actId="947"/>
          <ac:spMkLst>
            <pc:docMk/>
            <pc:sldMk cId="0" sldId="279"/>
            <ac:spMk id="22" creationId="{00000000-0000-0000-0000-000000000000}"/>
          </ac:spMkLst>
        </pc:spChg>
      </pc:sldChg>
      <pc:sldChg chg="modSp add del mod">
        <pc:chgData name="Ettore Cantile" userId="2f5e44afd0b03182" providerId="LiveId" clId="{E1385F0F-24B1-4705-8EF7-8D82C33CA9CE}" dt="2026-09-25T15:15:23.771" v="376" actId="20577"/>
        <pc:sldMkLst>
          <pc:docMk/>
          <pc:sldMk cId="4050059398" sldId="280"/>
        </pc:sldMkLst>
        <pc:spChg chg="mod">
          <ac:chgData name="Ettore Cantile" userId="2f5e44afd0b03182" providerId="LiveId" clId="{E1385F0F-24B1-4705-8EF7-8D82C33CA9CE}" dt="2026-09-24T16:04:51.379" v="11" actId="947"/>
          <ac:spMkLst>
            <pc:docMk/>
            <pc:sldMk cId="4050059398" sldId="280"/>
            <ac:spMk id="3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4:51.396" v="14" actId="947"/>
          <ac:spMkLst>
            <pc:docMk/>
            <pc:sldMk cId="4050059398" sldId="280"/>
            <ac:spMk id="4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951" v="53" actId="20577"/>
          <ac:spMkLst>
            <pc:docMk/>
            <pc:sldMk cId="4050059398" sldId="280"/>
            <ac:spMk id="5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15:15:23.771" v="376" actId="20577"/>
          <ac:spMkLst>
            <pc:docMk/>
            <pc:sldMk cId="4050059398" sldId="280"/>
            <ac:spMk id="6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32.922" v="63"/>
          <ac:spMkLst>
            <pc:docMk/>
            <pc:sldMk cId="4050059398" sldId="280"/>
            <ac:spMk id="7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4:51.414" v="17" actId="947"/>
          <ac:spMkLst>
            <pc:docMk/>
            <pc:sldMk cId="4050059398" sldId="280"/>
            <ac:spMk id="9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523" v="41"/>
          <ac:spMkLst>
            <pc:docMk/>
            <pc:sldMk cId="4050059398" sldId="280"/>
            <ac:spMk id="10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541" v="45"/>
          <ac:spMkLst>
            <pc:docMk/>
            <pc:sldMk cId="4050059398" sldId="280"/>
            <ac:spMk id="11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559" v="49"/>
          <ac:spMkLst>
            <pc:docMk/>
            <pc:sldMk cId="4050059398" sldId="280"/>
            <ac:spMk id="12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32.933" v="65"/>
          <ac:spMkLst>
            <pc:docMk/>
            <pc:sldMk cId="4050059398" sldId="280"/>
            <ac:spMk id="13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4:51.431" v="20" actId="947"/>
          <ac:spMkLst>
            <pc:docMk/>
            <pc:sldMk cId="4050059398" sldId="280"/>
            <ac:spMk id="15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534" v="43"/>
          <ac:spMkLst>
            <pc:docMk/>
            <pc:sldMk cId="4050059398" sldId="280"/>
            <ac:spMk id="16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542" v="47"/>
          <ac:spMkLst>
            <pc:docMk/>
            <pc:sldMk cId="4050059398" sldId="280"/>
            <ac:spMk id="17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561" v="51"/>
          <ac:spMkLst>
            <pc:docMk/>
            <pc:sldMk cId="4050059398" sldId="280"/>
            <ac:spMk id="18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32.939" v="67"/>
          <ac:spMkLst>
            <pc:docMk/>
            <pc:sldMk cId="4050059398" sldId="280"/>
            <ac:spMk id="19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47.995" v="75"/>
          <ac:spMkLst>
            <pc:docMk/>
            <pc:sldMk cId="4050059398" sldId="280"/>
            <ac:spMk id="20" creationId="{00000000-0000-0000-0000-000000000000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ns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dPt>
            <c:idx val="0"/>
            <c:invertIfNegative val="1"/>
            <c:bubble3D val="0"/>
            <c:spPr>
              <a:solidFill>
                <a:srgbClr val="9AA5B1"/>
              </a:solidFill>
            </c:spPr>
            <c:extLst>
              <c:ext xmlns:c16="http://schemas.microsoft.com/office/drawing/2014/chart" uri="{C3380CC4-5D6E-409C-BE32-E72D297353CC}">
                <c16:uniqueId val="{00000001-B2EE-41DF-BD52-DB8D95671A71}"/>
              </c:ext>
            </c:extLst>
          </c:dPt>
          <c:dPt>
            <c:idx val="1"/>
            <c:invertIfNegative val="1"/>
            <c:bubble3D val="0"/>
            <c:spPr>
              <a:solidFill>
                <a:srgbClr val="C8551E"/>
              </a:solidFill>
            </c:spPr>
            <c:extLst>
              <c:ext xmlns:c16="http://schemas.microsoft.com/office/drawing/2014/chart" uri="{C3380CC4-5D6E-409C-BE32-E72D297353CC}">
                <c16:uniqueId val="{00000003-B2EE-41DF-BD52-DB8D95671A71}"/>
              </c:ext>
            </c:extLst>
          </c:dPt>
          <c:dPt>
            <c:idx val="2"/>
            <c:invertIfNegative val="1"/>
            <c:bubble3D val="0"/>
            <c:spPr>
              <a:solidFill>
                <a:srgbClr val="F09A3E"/>
              </a:solidFill>
            </c:spPr>
            <c:extLst>
              <c:ext xmlns:c16="http://schemas.microsoft.com/office/drawing/2014/chart" uri="{C3380CC4-5D6E-409C-BE32-E72D297353CC}">
                <c16:uniqueId val="{00000005-B2EE-41DF-BD52-DB8D95671A71}"/>
              </c:ext>
            </c:extLst>
          </c:dPt>
          <c:dPt>
            <c:idx val="3"/>
            <c:invertIfNegative val="1"/>
            <c:bubble3D val="0"/>
            <c:spPr>
              <a:solidFill>
                <a:srgbClr val="2E9C8F"/>
              </a:solidFill>
            </c:spPr>
            <c:extLst>
              <c:ext xmlns:c16="http://schemas.microsoft.com/office/drawing/2014/chart" uri="{C3380CC4-5D6E-409C-BE32-E72D297353CC}">
                <c16:uniqueId val="{00000007-B2EE-41DF-BD52-DB8D95671A71}"/>
              </c:ext>
            </c:extLst>
          </c:dPt>
          <c:dPt>
            <c:idx val="4"/>
            <c:invertIfNegative val="1"/>
            <c:bubble3D val="0"/>
            <c:spPr>
              <a:solidFill>
                <a:srgbClr val="1F5F8B"/>
              </a:solidFill>
            </c:spPr>
            <c:extLst>
              <c:ext xmlns:c16="http://schemas.microsoft.com/office/drawing/2014/chart" uri="{C3380CC4-5D6E-409C-BE32-E72D297353CC}">
                <c16:uniqueId val="{00000009-B2EE-41DF-BD52-DB8D95671A71}"/>
              </c:ext>
            </c:extLst>
          </c:dPt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>
                    <a:solidFill>
                      <a:srgbClr val="222B36"/>
                    </a:solidFill>
                    <a:latin typeface="Calibri"/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17</c:v>
                </c:pt>
                <c:pt idx="1">
                  <c:v>36</c:v>
                </c:pt>
                <c:pt idx="2">
                  <c:v>42</c:v>
                </c:pt>
                <c:pt idx="3">
                  <c:v>173</c:v>
                </c:pt>
                <c:pt idx="4">
                  <c:v>258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A-B2EE-41DF-BD52-DB8D95671A7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100">
          <a:latin typeface="Calibri"/>
        </a:defRPr>
      </a:pPr>
      <a:endParaRPr lang="it-IT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ms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dPt>
            <c:idx val="0"/>
            <c:invertIfNegative val="1"/>
            <c:bubble3D val="0"/>
            <c:spPr>
              <a:solidFill>
                <a:srgbClr val="C0443C"/>
              </a:solidFill>
            </c:spPr>
            <c:extLst>
              <c:ext xmlns:c16="http://schemas.microsoft.com/office/drawing/2014/chart" uri="{C3380CC4-5D6E-409C-BE32-E72D297353CC}">
                <c16:uniqueId val="{00000001-22A5-49AE-B3BE-8258F9514AF6}"/>
              </c:ext>
            </c:extLst>
          </c:dPt>
          <c:dPt>
            <c:idx val="1"/>
            <c:invertIfNegative val="1"/>
            <c:bubble3D val="0"/>
            <c:spPr>
              <a:solidFill>
                <a:srgbClr val="F2B134"/>
              </a:solidFill>
            </c:spPr>
            <c:extLst>
              <c:ext xmlns:c16="http://schemas.microsoft.com/office/drawing/2014/chart" uri="{C3380CC4-5D6E-409C-BE32-E72D297353CC}">
                <c16:uniqueId val="{00000003-22A5-49AE-B3BE-8258F9514AF6}"/>
              </c:ext>
            </c:extLst>
          </c:dPt>
          <c:dPt>
            <c:idx val="2"/>
            <c:invertIfNegative val="1"/>
            <c:bubble3D val="0"/>
            <c:spPr>
              <a:solidFill>
                <a:srgbClr val="E07A2D"/>
              </a:solidFill>
            </c:spPr>
            <c:extLst>
              <c:ext xmlns:c16="http://schemas.microsoft.com/office/drawing/2014/chart" uri="{C3380CC4-5D6E-409C-BE32-E72D297353CC}">
                <c16:uniqueId val="{00000005-22A5-49AE-B3BE-8258F9514AF6}"/>
              </c:ext>
            </c:extLst>
          </c:dPt>
          <c:dPt>
            <c:idx val="3"/>
            <c:invertIfNegative val="1"/>
            <c:bubble3D val="0"/>
            <c:spPr>
              <a:solidFill>
                <a:srgbClr val="2E9C6E"/>
              </a:solidFill>
            </c:spPr>
            <c:extLst>
              <c:ext xmlns:c16="http://schemas.microsoft.com/office/drawing/2014/chart" uri="{C3380CC4-5D6E-409C-BE32-E72D297353CC}">
                <c16:uniqueId val="{00000007-22A5-49AE-B3BE-8258F9514AF6}"/>
              </c:ext>
            </c:extLst>
          </c:dPt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>
                    <a:solidFill>
                      <a:srgbClr val="222B36"/>
                    </a:solidFill>
                    <a:latin typeface="Calibri"/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P1 con BCC
(compila sul nodo)</c:v>
                </c:pt>
                <c:pt idx="1">
                  <c:v>P1 AOT: genera,
compila e carica</c:v>
                </c:pt>
                <c:pt idx="2">
                  <c:v>P1 AOT:
carica sul nodo</c:v>
                </c:pt>
                <c:pt idx="3">
                  <c:v>P2 / P3:
scrive la tabella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741</c:v>
                </c:pt>
                <c:pt idx="1">
                  <c:v>90</c:v>
                </c:pt>
                <c:pt idx="2">
                  <c:v>6</c:v>
                </c:pt>
                <c:pt idx="3">
                  <c:v>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8-22A5-49AE-B3BE-8258F9514AF6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logBase val="10"/>
          <c:orientation val="minMax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millisecondi (scala log)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100">
          <a:latin typeface="Calibri"/>
        </a:defRPr>
      </a:pPr>
      <a:endParaRPr lang="it-IT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34925">
              <a:solidFill>
                <a:srgbClr val="C8551E"/>
              </a:solidFill>
            </a:ln>
          </c:spPr>
          <c:marker>
            <c:symbol val="circle"/>
            <c:size val="8"/>
            <c:spPr>
              <a:solidFill>
                <a:srgbClr val="C8551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10</c:v>
                </c:pt>
                <c:pt idx="1">
                  <c:v>25</c:v>
                </c:pt>
                <c:pt idx="2">
                  <c:v>52</c:v>
                </c:pt>
                <c:pt idx="3">
                  <c:v>75</c:v>
                </c:pt>
                <c:pt idx="4">
                  <c:v>100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39</c:v>
                </c:pt>
                <c:pt idx="2">
                  <c:v>37</c:v>
                </c:pt>
                <c:pt idx="3">
                  <c:v>32</c:v>
                </c:pt>
                <c:pt idx="4">
                  <c:v>37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774-4ADD-9089-DB4FCCB8654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34925">
              <a:solidFill>
                <a:srgbClr val="F09A3E"/>
              </a:solidFill>
            </a:ln>
          </c:spPr>
          <c:marker>
            <c:symbol val="circle"/>
            <c:size val="8"/>
            <c:spPr>
              <a:solidFill>
                <a:srgbClr val="F09A3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10</c:v>
                </c:pt>
                <c:pt idx="1">
                  <c:v>25</c:v>
                </c:pt>
                <c:pt idx="2">
                  <c:v>52</c:v>
                </c:pt>
                <c:pt idx="3">
                  <c:v>75</c:v>
                </c:pt>
                <c:pt idx="4">
                  <c:v>100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39</c:v>
                </c:pt>
                <c:pt idx="1">
                  <c:v>43</c:v>
                </c:pt>
                <c:pt idx="2">
                  <c:v>48</c:v>
                </c:pt>
                <c:pt idx="3">
                  <c:v>38</c:v>
                </c:pt>
                <c:pt idx="4">
                  <c:v>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774-4ADD-9089-DB4FCCB8654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34925">
              <a:solidFill>
                <a:srgbClr val="2E9C8F"/>
              </a:solidFill>
            </a:ln>
          </c:spPr>
          <c:marker>
            <c:symbol val="circle"/>
            <c:size val="8"/>
            <c:spPr>
              <a:solidFill>
                <a:srgbClr val="2E9C8F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10</c:v>
                </c:pt>
                <c:pt idx="1">
                  <c:v>25</c:v>
                </c:pt>
                <c:pt idx="2">
                  <c:v>52</c:v>
                </c:pt>
                <c:pt idx="3">
                  <c:v>75</c:v>
                </c:pt>
                <c:pt idx="4">
                  <c:v>100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156</c:v>
                </c:pt>
                <c:pt idx="1">
                  <c:v>156</c:v>
                </c:pt>
                <c:pt idx="2">
                  <c:v>168</c:v>
                </c:pt>
                <c:pt idx="3">
                  <c:v>153</c:v>
                </c:pt>
                <c:pt idx="4">
                  <c:v>152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774-4ADD-9089-DB4FCCB8654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34925">
              <a:solidFill>
                <a:srgbClr val="1F5F8B"/>
              </a:solidFill>
            </a:ln>
          </c:spPr>
          <c:marker>
            <c:symbol val="circle"/>
            <c:size val="8"/>
            <c:spPr>
              <a:solidFill>
                <a:srgbClr val="1F5F8B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10</c:v>
                </c:pt>
                <c:pt idx="1">
                  <c:v>25</c:v>
                </c:pt>
                <c:pt idx="2">
                  <c:v>52</c:v>
                </c:pt>
                <c:pt idx="3">
                  <c:v>75</c:v>
                </c:pt>
                <c:pt idx="4">
                  <c:v>100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255</c:v>
                </c:pt>
                <c:pt idx="1">
                  <c:v>265</c:v>
                </c:pt>
                <c:pt idx="2">
                  <c:v>272</c:v>
                </c:pt>
                <c:pt idx="3">
                  <c:v>259</c:v>
                </c:pt>
                <c:pt idx="4">
                  <c:v>264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774-4ADD-9089-DB4FCCB8654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nodi della rete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350"/>
          <c:min val="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1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it-IT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34925">
              <a:solidFill>
                <a:srgbClr val="C8551E"/>
              </a:solidFill>
            </a:ln>
          </c:spPr>
          <c:marker>
            <c:symbol val="circle"/>
            <c:size val="8"/>
            <c:spPr>
              <a:solidFill>
                <a:srgbClr val="C8551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</c:v>
                </c:pt>
                <c:pt idx="1">
                  <c:v>4</c:v>
                </c:pt>
                <c:pt idx="2">
                  <c:v>6</c:v>
                </c:pt>
                <c:pt idx="3">
                  <c:v>8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24</c:v>
                </c:pt>
                <c:pt idx="1">
                  <c:v>35</c:v>
                </c:pt>
                <c:pt idx="2">
                  <c:v>49</c:v>
                </c:pt>
                <c:pt idx="3">
                  <c:v>58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B40-40F4-8AE4-87AB3DBEE2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34925">
              <a:solidFill>
                <a:srgbClr val="F09A3E"/>
              </a:solidFill>
            </a:ln>
          </c:spPr>
          <c:marker>
            <c:symbol val="circle"/>
            <c:size val="8"/>
            <c:spPr>
              <a:solidFill>
                <a:srgbClr val="F09A3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</c:v>
                </c:pt>
                <c:pt idx="1">
                  <c:v>4</c:v>
                </c:pt>
                <c:pt idx="2">
                  <c:v>6</c:v>
                </c:pt>
                <c:pt idx="3">
                  <c:v>8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39</c:v>
                </c:pt>
                <c:pt idx="1">
                  <c:v>41</c:v>
                </c:pt>
                <c:pt idx="2">
                  <c:v>49</c:v>
                </c:pt>
                <c:pt idx="3">
                  <c:v>63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B40-40F4-8AE4-87AB3DBEE21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34925">
              <a:solidFill>
                <a:srgbClr val="2E9C8F"/>
              </a:solidFill>
            </a:ln>
          </c:spPr>
          <c:marker>
            <c:symbol val="circle"/>
            <c:size val="8"/>
            <c:spPr>
              <a:solidFill>
                <a:srgbClr val="2E9C8F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</c:v>
                </c:pt>
                <c:pt idx="1">
                  <c:v>4</c:v>
                </c:pt>
                <c:pt idx="2">
                  <c:v>6</c:v>
                </c:pt>
                <c:pt idx="3">
                  <c:v>8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153</c:v>
                </c:pt>
                <c:pt idx="1">
                  <c:v>159</c:v>
                </c:pt>
                <c:pt idx="2">
                  <c:v>163</c:v>
                </c:pt>
                <c:pt idx="3">
                  <c:v>172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B40-40F4-8AE4-87AB3DBEE21D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34925">
              <a:solidFill>
                <a:srgbClr val="1F5F8B"/>
              </a:solidFill>
            </a:ln>
          </c:spPr>
          <c:marker>
            <c:symbol val="circle"/>
            <c:size val="8"/>
            <c:spPr>
              <a:solidFill>
                <a:srgbClr val="1F5F8B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</c:v>
                </c:pt>
                <c:pt idx="1">
                  <c:v>4</c:v>
                </c:pt>
                <c:pt idx="2">
                  <c:v>6</c:v>
                </c:pt>
                <c:pt idx="3">
                  <c:v>8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239</c:v>
                </c:pt>
                <c:pt idx="1">
                  <c:v>255</c:v>
                </c:pt>
                <c:pt idx="2">
                  <c:v>286</c:v>
                </c:pt>
                <c:pt idx="3">
                  <c:v>298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B40-40F4-8AE4-87AB3DBEE2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neuroni per strato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350"/>
          <c:min val="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1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it-IT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solidFill>
              <a:srgbClr val="C8551E"/>
            </a:solidFill>
            <a:ln>
              <a:noFill/>
            </a:ln>
          </c:spPr>
          <c:invertIfNegative val="1"/>
          <c:cat>
            <c:numRef>
              <c:f>Sheet1!$A$2:$A$7</c:f>
              <c:numCache>
                <c:formatCode>General</c:formatCod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numCache>
            </c:numRef>
          </c:cat>
          <c:val>
            <c:numRef>
              <c:f>Sheet1!$B$2:$B$7</c:f>
              <c:numCache>
                <c:formatCode>General</c:formatCode>
                <c:ptCount val="6"/>
                <c:pt idx="0">
                  <c:v>573</c:v>
                </c:pt>
                <c:pt idx="1">
                  <c:v>618</c:v>
                </c:pt>
                <c:pt idx="2">
                  <c:v>671</c:v>
                </c:pt>
                <c:pt idx="3">
                  <c:v>740</c:v>
                </c:pt>
                <c:pt idx="4">
                  <c:v>798</c:v>
                </c:pt>
                <c:pt idx="5">
                  <c:v>869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3ADE-4412-B047-C29A6E8602E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solidFill>
              <a:srgbClr val="F09A3E"/>
            </a:solidFill>
            <a:ln>
              <a:noFill/>
            </a:ln>
          </c:spPr>
          <c:invertIfNegative val="1"/>
          <c:cat>
            <c:numRef>
              <c:f>Sheet1!$A$2:$A$7</c:f>
              <c:numCache>
                <c:formatCode>General</c:formatCod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numCache>
            </c:numRef>
          </c:cat>
          <c:val>
            <c:numRef>
              <c:f>Sheet1!$C$2:$C$7</c:f>
              <c:numCache>
                <c:formatCode>General</c:formatCode>
                <c:ptCount val="6"/>
                <c:pt idx="0">
                  <c:v>974</c:v>
                </c:pt>
                <c:pt idx="1">
                  <c:v>1028</c:v>
                </c:pt>
                <c:pt idx="2">
                  <c:v>1078</c:v>
                </c:pt>
                <c:pt idx="3">
                  <c:v>1142</c:v>
                </c:pt>
                <c:pt idx="4">
                  <c:v>1214</c:v>
                </c:pt>
                <c:pt idx="5">
                  <c:v>1301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3ADE-4412-B047-C29A6E8602E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solidFill>
              <a:srgbClr val="2E9C8F"/>
            </a:solidFill>
          </c:spPr>
          <c:invertIfNegative val="0"/>
          <c:cat>
            <c:numRef>
              <c:f>Sheet1!$A$2:$A$7</c:f>
              <c:numCache>
                <c:formatCode>General</c:formatCod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numCache>
            </c:numRef>
          </c:cat>
          <c:val>
            <c:numRef>
              <c:f>Sheet1!$D$2:$D$7</c:f>
              <c:numCache>
                <c:formatCode>General</c:formatCode>
                <c:ptCount val="6"/>
                <c:pt idx="0">
                  <c:v>14676</c:v>
                </c:pt>
                <c:pt idx="1">
                  <c:v>14976</c:v>
                </c:pt>
                <c:pt idx="2">
                  <c:v>16667</c:v>
                </c:pt>
                <c:pt idx="3">
                  <c:v>16689</c:v>
                </c:pt>
                <c:pt idx="4">
                  <c:v>17643</c:v>
                </c:pt>
                <c:pt idx="5">
                  <c:v>18613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63F-4696-84CE-A75DF0F0817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solidFill>
              <a:srgbClr val="1F5F8B"/>
            </a:solidFill>
          </c:spPr>
          <c:invertIfNegative val="0"/>
          <c:cat>
            <c:numRef>
              <c:f>Sheet1!$A$2:$A$7</c:f>
              <c:numCache>
                <c:formatCode>General</c:formatCod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numCache>
            </c:num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12374</c:v>
                </c:pt>
                <c:pt idx="1">
                  <c:v>12374</c:v>
                </c:pt>
                <c:pt idx="2">
                  <c:v>12374</c:v>
                </c:pt>
                <c:pt idx="3">
                  <c:v>12374</c:v>
                </c:pt>
                <c:pt idx="4">
                  <c:v>12374</c:v>
                </c:pt>
                <c:pt idx="5">
                  <c:v>12374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63F-4696-84CE-A75DF0F0817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nascosti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logBase val="10"/>
          <c:orientation val="minMax"/>
          <c:max val="30000"/>
          <c:min val="30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US" sz="1100" b="0">
                    <a:solidFill>
                      <a:srgbClr val="6B7C93"/>
                    </a:solidFill>
                    <a:latin typeface="Calibri"/>
                  </a:rPr>
                  <a:t>istruzioni (scala logaritmica)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1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1100">
          <a:latin typeface="Calibri"/>
        </a:defRPr>
      </a:pPr>
      <a:endParaRPr lang="it-IT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34925">
              <a:solidFill>
                <a:srgbClr val="C8551E"/>
              </a:solidFill>
            </a:ln>
          </c:spPr>
          <c:marker>
            <c:symbol val="circle"/>
            <c:size val="8"/>
            <c:spPr>
              <a:solidFill>
                <a:srgbClr val="C8551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</c:v>
                </c:pt>
                <c:pt idx="1">
                  <c:v>35</c:v>
                </c:pt>
                <c:pt idx="2">
                  <c:v>46</c:v>
                </c:pt>
                <c:pt idx="3">
                  <c:v>44</c:v>
                </c:pt>
                <c:pt idx="4">
                  <c:v>45</c:v>
                </c:pt>
                <c:pt idx="5">
                  <c:v>49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E24-4E76-9C4E-D1065665183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34925">
              <a:solidFill>
                <a:srgbClr val="F09A3E"/>
              </a:solidFill>
            </a:ln>
          </c:spPr>
          <c:marker>
            <c:symbol val="circle"/>
            <c:size val="8"/>
            <c:spPr>
              <a:solidFill>
                <a:srgbClr val="F09A3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</c:v>
                </c:pt>
                <c:pt idx="1">
                  <c:v>43</c:v>
                </c:pt>
                <c:pt idx="2">
                  <c:v>46</c:v>
                </c:pt>
                <c:pt idx="3">
                  <c:v>47</c:v>
                </c:pt>
                <c:pt idx="4">
                  <c:v>50</c:v>
                </c:pt>
                <c:pt idx="5">
                  <c:v>52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E24-4E76-9C4E-D1065665183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34925">
              <a:solidFill>
                <a:srgbClr val="2E9C8F"/>
              </a:solidFill>
            </a:ln>
          </c:spPr>
          <c:marker>
            <c:symbol val="circle"/>
            <c:size val="8"/>
            <c:spPr>
              <a:solidFill>
                <a:srgbClr val="2E9C8F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142</c:v>
                </c:pt>
                <c:pt idx="1">
                  <c:v>162</c:v>
                </c:pt>
                <c:pt idx="2">
                  <c:v>176</c:v>
                </c:pt>
                <c:pt idx="3">
                  <c:v>197</c:v>
                </c:pt>
                <c:pt idx="4">
                  <c:v>229</c:v>
                </c:pt>
                <c:pt idx="5">
                  <c:v>278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E24-4E76-9C4E-D1065665183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34925">
              <a:solidFill>
                <a:srgbClr val="1F5F8B"/>
              </a:solidFill>
            </a:ln>
          </c:spPr>
          <c:marker>
            <c:symbol val="circle"/>
            <c:size val="8"/>
            <c:spPr>
              <a:solidFill>
                <a:srgbClr val="1F5F8B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204</c:v>
                </c:pt>
                <c:pt idx="1">
                  <c:v>254</c:v>
                </c:pt>
                <c:pt idx="2">
                  <c:v>292</c:v>
                </c:pt>
                <c:pt idx="3">
                  <c:v>323</c:v>
                </c:pt>
                <c:pt idx="4">
                  <c:v>398</c:v>
                </c:pt>
                <c:pt idx="5">
                  <c:v>413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E24-4E76-9C4E-D1065665183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nascosti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450"/>
          <c:min val="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1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it-IT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34925">
              <a:solidFill>
                <a:srgbClr val="C8551E"/>
              </a:solidFill>
            </a:ln>
          </c:spPr>
          <c:marker>
            <c:symbol val="circle"/>
            <c:size val="8"/>
            <c:spPr>
              <a:solidFill>
                <a:srgbClr val="C8551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48</c:v>
                </c:pt>
                <c:pt idx="1">
                  <c:v>49</c:v>
                </c:pt>
                <c:pt idx="2">
                  <c:v>41</c:v>
                </c:pt>
                <c:pt idx="3">
                  <c:v>53</c:v>
                </c:pt>
                <c:pt idx="4">
                  <c:v>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FE9-4682-94BD-8EF69DD99E8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34925">
              <a:solidFill>
                <a:srgbClr val="F09A3E"/>
              </a:solidFill>
            </a:ln>
          </c:spPr>
          <c:marker>
            <c:symbol val="circle"/>
            <c:size val="8"/>
            <c:spPr>
              <a:solidFill>
                <a:srgbClr val="F09A3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54</c:v>
                </c:pt>
                <c:pt idx="1">
                  <c:v>52</c:v>
                </c:pt>
                <c:pt idx="2">
                  <c:v>51</c:v>
                </c:pt>
                <c:pt idx="3">
                  <c:v>62</c:v>
                </c:pt>
                <c:pt idx="4">
                  <c:v>54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FE9-4682-94BD-8EF69DD99E8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34925">
              <a:solidFill>
                <a:srgbClr val="2E9C8F"/>
              </a:solidFill>
            </a:ln>
          </c:spPr>
          <c:marker>
            <c:symbol val="circle"/>
            <c:size val="8"/>
            <c:spPr>
              <a:solidFill>
                <a:srgbClr val="2E9C8F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138</c:v>
                </c:pt>
                <c:pt idx="1">
                  <c:v>166</c:v>
                </c:pt>
                <c:pt idx="2">
                  <c:v>175</c:v>
                </c:pt>
                <c:pt idx="3">
                  <c:v>230</c:v>
                </c:pt>
                <c:pt idx="4">
                  <c:v>235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2FE9-4682-94BD-8EF69DD99E8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34925">
              <a:solidFill>
                <a:srgbClr val="1F5F8B"/>
              </a:solidFill>
            </a:ln>
          </c:spPr>
          <c:marker>
            <c:symbol val="circle"/>
            <c:size val="8"/>
            <c:spPr>
              <a:solidFill>
                <a:srgbClr val="1F5F8B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232</c:v>
                </c:pt>
                <c:pt idx="1">
                  <c:v>275</c:v>
                </c:pt>
                <c:pt idx="2">
                  <c:v>288</c:v>
                </c:pt>
                <c:pt idx="3">
                  <c:v>368</c:v>
                </c:pt>
                <c:pt idx="4">
                  <c:v>406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2FE9-4682-94BD-8EF69DD99E8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(a pesi costanti)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450"/>
          <c:min val="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1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it-IT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34925">
              <a:solidFill>
                <a:srgbClr val="C8551E"/>
              </a:solidFill>
            </a:ln>
          </c:spPr>
          <c:marker>
            <c:symbol val="circle"/>
            <c:size val="8"/>
            <c:spPr>
              <a:solidFill>
                <a:srgbClr val="C8551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0 %</c:v>
                </c:pt>
                <c:pt idx="1">
                  <c:v>25 %</c:v>
                </c:pt>
                <c:pt idx="2">
                  <c:v>50 %</c:v>
                </c:pt>
                <c:pt idx="3">
                  <c:v>75 %</c:v>
                </c:pt>
                <c:pt idx="4">
                  <c:v>90 %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35</c:v>
                </c:pt>
                <c:pt idx="1">
                  <c:v>29</c:v>
                </c:pt>
                <c:pt idx="2">
                  <c:v>25</c:v>
                </c:pt>
                <c:pt idx="3">
                  <c:v>20</c:v>
                </c:pt>
                <c:pt idx="4">
                  <c:v>18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3E1-43F5-8DA6-A90A1BC77E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34925">
              <a:solidFill>
                <a:srgbClr val="F09A3E"/>
              </a:solidFill>
            </a:ln>
          </c:spPr>
          <c:marker>
            <c:symbol val="circle"/>
            <c:size val="8"/>
            <c:spPr>
              <a:solidFill>
                <a:srgbClr val="F09A3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0 %</c:v>
                </c:pt>
                <c:pt idx="1">
                  <c:v>25 %</c:v>
                </c:pt>
                <c:pt idx="2">
                  <c:v>50 %</c:v>
                </c:pt>
                <c:pt idx="3">
                  <c:v>75 %</c:v>
                </c:pt>
                <c:pt idx="4">
                  <c:v>90 %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45</c:v>
                </c:pt>
                <c:pt idx="1">
                  <c:v>42</c:v>
                </c:pt>
                <c:pt idx="2">
                  <c:v>30</c:v>
                </c:pt>
                <c:pt idx="3">
                  <c:v>29</c:v>
                </c:pt>
                <c:pt idx="4">
                  <c:v>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3E1-43F5-8DA6-A90A1BC77E9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34925">
              <a:solidFill>
                <a:srgbClr val="2E9C8F"/>
              </a:solidFill>
            </a:ln>
          </c:spPr>
          <c:marker>
            <c:symbol val="circle"/>
            <c:size val="8"/>
            <c:spPr>
              <a:solidFill>
                <a:srgbClr val="2E9C8F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0 %</c:v>
                </c:pt>
                <c:pt idx="1">
                  <c:v>25 %</c:v>
                </c:pt>
                <c:pt idx="2">
                  <c:v>50 %</c:v>
                </c:pt>
                <c:pt idx="3">
                  <c:v>75 %</c:v>
                </c:pt>
                <c:pt idx="4">
                  <c:v>90 %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163</c:v>
                </c:pt>
                <c:pt idx="1">
                  <c:v>156</c:v>
                </c:pt>
                <c:pt idx="2">
                  <c:v>156</c:v>
                </c:pt>
                <c:pt idx="3">
                  <c:v>158</c:v>
                </c:pt>
                <c:pt idx="4">
                  <c:v>164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3E1-43F5-8DA6-A90A1BC77E9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34925">
              <a:solidFill>
                <a:srgbClr val="1F5F8B"/>
              </a:solidFill>
            </a:ln>
          </c:spPr>
          <c:marker>
            <c:symbol val="circle"/>
            <c:size val="8"/>
            <c:spPr>
              <a:solidFill>
                <a:srgbClr val="1F5F8B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0 %</c:v>
                </c:pt>
                <c:pt idx="1">
                  <c:v>25 %</c:v>
                </c:pt>
                <c:pt idx="2">
                  <c:v>50 %</c:v>
                </c:pt>
                <c:pt idx="3">
                  <c:v>75 %</c:v>
                </c:pt>
                <c:pt idx="4">
                  <c:v>90 %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264</c:v>
                </c:pt>
                <c:pt idx="1">
                  <c:v>266</c:v>
                </c:pt>
                <c:pt idx="2">
                  <c:v>248</c:v>
                </c:pt>
                <c:pt idx="3">
                  <c:v>251</c:v>
                </c:pt>
                <c:pt idx="4">
                  <c:v>242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63E1-43F5-8DA6-A90A1BC77E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pesi uguali a zero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300"/>
          <c:min val="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1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it-IT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bar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ricevere il frame</c:v>
                </c:pt>
              </c:strCache>
            </c:strRef>
          </c:tx>
          <c:spPr>
            <a:solidFill>
              <a:srgbClr val="B8C4D3"/>
            </a:solidFill>
            <a:ln>
              <a:noFill/>
            </a:ln>
          </c:spPr>
          <c:invertIfNegative val="1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solidFill>
                      <a:srgbClr val="222B36"/>
                    </a:solidFill>
                    <a:latin typeface="Calibri"/>
                  </a:defRPr>
                </a:pPr>
                <a:endParaRPr lang="it-IT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solo ricezione</c:v>
                </c:pt>
                <c:pt idx="1">
                  <c:v>baseline</c:v>
                </c:pt>
                <c:pt idx="2">
                  <c:v>P1 statica</c:v>
                </c:pt>
                <c:pt idx="3">
                  <c:v>P1.5</c:v>
                </c:pt>
                <c:pt idx="4">
                  <c:v>P2</c:v>
                </c:pt>
                <c:pt idx="5">
                  <c:v>P3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52</c:v>
                </c:pt>
                <c:pt idx="1">
                  <c:v>52</c:v>
                </c:pt>
                <c:pt idx="2">
                  <c:v>52</c:v>
                </c:pt>
                <c:pt idx="3">
                  <c:v>52</c:v>
                </c:pt>
                <c:pt idx="4">
                  <c:v>52</c:v>
                </c:pt>
                <c:pt idx="5">
                  <c:v>52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3529-44DC-BF74-5732F5E01C9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parse, TTL, redirect, accodamento</c:v>
                </c:pt>
              </c:strCache>
            </c:strRef>
          </c:tx>
          <c:spPr>
            <a:solidFill>
              <a:srgbClr val="6E8FB3"/>
            </a:solidFill>
            <a:ln>
              <a:noFill/>
            </a:ln>
          </c:spPr>
          <c:invertIfNegative val="1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solidFill>
                      <a:srgbClr val="222B36"/>
                    </a:solidFill>
                    <a:latin typeface="Calibri"/>
                  </a:defRPr>
                </a:pPr>
                <a:endParaRPr lang="it-IT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solo ricezione</c:v>
                </c:pt>
                <c:pt idx="1">
                  <c:v>baseline</c:v>
                </c:pt>
                <c:pt idx="2">
                  <c:v>P1 statica</c:v>
                </c:pt>
                <c:pt idx="3">
                  <c:v>P1.5</c:v>
                </c:pt>
                <c:pt idx="4">
                  <c:v>P2</c:v>
                </c:pt>
                <c:pt idx="5">
                  <c:v>P3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65</c:v>
                </c:pt>
                <c:pt idx="2">
                  <c:v>65</c:v>
                </c:pt>
                <c:pt idx="3">
                  <c:v>65</c:v>
                </c:pt>
                <c:pt idx="4">
                  <c:v>65</c:v>
                </c:pt>
                <c:pt idx="5">
                  <c:v>65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3529-44DC-BF74-5732F5E01C9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rete neurale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solidFill>
                      <a:srgbClr val="222B36"/>
                    </a:solidFill>
                    <a:latin typeface="Calibri"/>
                  </a:defRPr>
                </a:pPr>
                <a:endParaRPr lang="it-IT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solo ricezione</c:v>
                </c:pt>
                <c:pt idx="1">
                  <c:v>baseline</c:v>
                </c:pt>
                <c:pt idx="2">
                  <c:v>P1 statica</c:v>
                </c:pt>
                <c:pt idx="3">
                  <c:v>P1.5</c:v>
                </c:pt>
                <c:pt idx="4">
                  <c:v>P2</c:v>
                </c:pt>
                <c:pt idx="5">
                  <c:v>P3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53</c:v>
                </c:pt>
                <c:pt idx="3">
                  <c:v>51</c:v>
                </c:pt>
                <c:pt idx="4">
                  <c:v>218</c:v>
                </c:pt>
                <c:pt idx="5">
                  <c:v>376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3529-44DC-BF74-5732F5E01C9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t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1100">
          <a:latin typeface="Calibri"/>
        </a:defRPr>
      </a:pPr>
      <a:endParaRPr lang="it-IT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bar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il programma (T2−T1)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>
                    <a:solidFill>
                      <a:srgbClr val="222B36"/>
                    </a:solidFill>
                    <a:latin typeface="Calibri"/>
                  </a:defRPr>
                </a:pPr>
                <a:endParaRPr lang="it-IT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27</c:v>
                </c:pt>
                <c:pt idx="1">
                  <c:v>50</c:v>
                </c:pt>
                <c:pt idx="2">
                  <c:v>57</c:v>
                </c:pt>
                <c:pt idx="3">
                  <c:v>183</c:v>
                </c:pt>
                <c:pt idx="4">
                  <c:v>271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3232-4638-86FE-31F41BC7383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il resto del costo del nodo</c:v>
                </c:pt>
              </c:strCache>
            </c:strRef>
          </c:tx>
          <c:spPr>
            <a:solidFill>
              <a:srgbClr val="B8C4D3"/>
            </a:solidFill>
            <a:ln>
              <a:noFill/>
            </a:ln>
          </c:spPr>
          <c:invertIfNegative val="1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>
                    <a:solidFill>
                      <a:srgbClr val="222B36"/>
                    </a:solidFill>
                    <a:latin typeface="Calibri"/>
                  </a:defRPr>
                </a:pPr>
                <a:endParaRPr lang="it-IT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90</c:v>
                </c:pt>
                <c:pt idx="1">
                  <c:v>120</c:v>
                </c:pt>
                <c:pt idx="2">
                  <c:v>111</c:v>
                </c:pt>
                <c:pt idx="3">
                  <c:v>152</c:v>
                </c:pt>
                <c:pt idx="4">
                  <c:v>222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3232-4638-86FE-31F41BC7383B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t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1100">
          <a:latin typeface="Calibri"/>
        </a:defRPr>
      </a:pPr>
      <a:endParaRPr lang="it-IT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64 byte</c:v>
                </c:pt>
              </c:strCache>
            </c:strRef>
          </c:tx>
          <c:spPr>
            <a:solidFill>
              <a:srgbClr val="B8C9DC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121</c:v>
                </c:pt>
                <c:pt idx="1">
                  <c:v>169</c:v>
                </c:pt>
                <c:pt idx="2">
                  <c:v>171</c:v>
                </c:pt>
                <c:pt idx="3">
                  <c:v>347</c:v>
                </c:pt>
                <c:pt idx="4">
                  <c:v>497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512 byte</c:v>
                </c:pt>
              </c:strCache>
            </c:strRef>
          </c:tx>
          <c:spPr>
            <a:solidFill>
              <a:srgbClr val="6E8FB3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122</c:v>
                </c:pt>
                <c:pt idx="1">
                  <c:v>171</c:v>
                </c:pt>
                <c:pt idx="2">
                  <c:v>176</c:v>
                </c:pt>
                <c:pt idx="3">
                  <c:v>345</c:v>
                </c:pt>
                <c:pt idx="4">
                  <c:v>520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1514 byte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123</c:v>
                </c:pt>
                <c:pt idx="1">
                  <c:v>169</c:v>
                </c:pt>
                <c:pt idx="2">
                  <c:v>177</c:v>
                </c:pt>
                <c:pt idx="3">
                  <c:v>348</c:v>
                </c:pt>
                <c:pt idx="4">
                  <c:v>512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F42E-472E-934F-5CC29ED7A81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600"/>
          <c:min val="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1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1100">
          <a:latin typeface="Calibri"/>
        </a:defRPr>
      </a:pPr>
      <a:endParaRPr lang="it-IT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classe 0</c:v>
                </c:pt>
              </c:strCache>
            </c:strRef>
          </c:tx>
          <c:spPr>
            <a:solidFill>
              <a:srgbClr val="D0DBE7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122</c:v>
                </c:pt>
                <c:pt idx="1">
                  <c:v>165</c:v>
                </c:pt>
                <c:pt idx="2">
                  <c:v>169</c:v>
                </c:pt>
                <c:pt idx="3">
                  <c:v>312</c:v>
                </c:pt>
                <c:pt idx="4">
                  <c:v>466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DCC1-41C3-B47A-44DD6F14CF9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classe 1</c:v>
                </c:pt>
              </c:strCache>
            </c:strRef>
          </c:tx>
          <c:spPr>
            <a:solidFill>
              <a:srgbClr val="ADC1D6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132</c:v>
                </c:pt>
                <c:pt idx="1">
                  <c:v>171</c:v>
                </c:pt>
                <c:pt idx="2">
                  <c:v>173</c:v>
                </c:pt>
                <c:pt idx="3">
                  <c:v>307</c:v>
                </c:pt>
                <c:pt idx="4">
                  <c:v>502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DCC1-41C3-B47A-44DD6F14CF9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classe 2</c:v>
                </c:pt>
              </c:strCache>
            </c:strRef>
          </c:tx>
          <c:spPr>
            <a:solidFill>
              <a:srgbClr val="8AA6C4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147</c:v>
                </c:pt>
                <c:pt idx="1">
                  <c:v>169</c:v>
                </c:pt>
                <c:pt idx="2">
                  <c:v>175</c:v>
                </c:pt>
                <c:pt idx="3">
                  <c:v>314</c:v>
                </c:pt>
                <c:pt idx="4">
                  <c:v>485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DCC1-41C3-B47A-44DD6F14CF9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classe 3</c:v>
                </c:pt>
              </c:strCache>
            </c:strRef>
          </c:tx>
          <c:spPr>
            <a:solidFill>
              <a:srgbClr val="5F82A8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117</c:v>
                </c:pt>
                <c:pt idx="1">
                  <c:v>175</c:v>
                </c:pt>
                <c:pt idx="2">
                  <c:v>168</c:v>
                </c:pt>
                <c:pt idx="3">
                  <c:v>311</c:v>
                </c:pt>
                <c:pt idx="4">
                  <c:v>491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DCC1-41C3-B47A-44DD6F14CF9B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classe 4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124</c:v>
                </c:pt>
                <c:pt idx="1">
                  <c:v>176</c:v>
                </c:pt>
                <c:pt idx="2">
                  <c:v>177</c:v>
                </c:pt>
                <c:pt idx="3">
                  <c:v>325</c:v>
                </c:pt>
                <c:pt idx="4">
                  <c:v>525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DCC1-41C3-B47A-44DD6F14CF9B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scarta</c:v>
                </c:pt>
              </c:strCache>
            </c:strRef>
          </c:tx>
          <c:spPr>
            <a:solidFill>
              <a:srgbClr val="C0443C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121</c:v>
                </c:pt>
                <c:pt idx="1">
                  <c:v>170</c:v>
                </c:pt>
                <c:pt idx="2">
                  <c:v>182</c:v>
                </c:pt>
                <c:pt idx="3">
                  <c:v>284</c:v>
                </c:pt>
                <c:pt idx="4">
                  <c:v>442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DCC1-41C3-B47A-44DD6F14CF9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600"/>
          <c:min val="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0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1100">
          <a:latin typeface="Calibri"/>
        </a:defRPr>
      </a:pPr>
      <a:endParaRPr lang="it-IT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3879A1-F61F-48C8-BDB5-E7C8A8D88EAE}" type="datetimeFigureOut">
              <a:rPr lang="it-IT" smtClean="0"/>
              <a:t>25/09/2026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E7E320-C24E-445B-B52B-8A723E9346E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070359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E7E320-C24E-445B-B52B-8A723E9346E3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436696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2.xml"/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 i="0">
                <a:solidFill>
                  <a:srgbClr val="F2B134"/>
                </a:solidFill>
                <a:latin typeface="Calibri"/>
              </a:rPr>
              <a:t>TESI  ·  EBPF / XDP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33272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Inferenza di una rete neurale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nel kernel Linux con eBPF/XDP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96012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0" i="0">
                <a:solidFill>
                  <a:srgbClr val="D6DEE9"/>
                </a:solidFill>
                <a:latin typeface="Calibri"/>
              </a:rPr>
              <a:t>Quattro versioni della stessa rete, da completamente compilata a completamente configurabile. Quanto costa, per ogni pacchetto, spostare le decisioni dalla compilazione all'esecuzione?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892040"/>
            <a:ext cx="2011680" cy="4572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7315200" cy="6567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 i="0" dirty="0">
                <a:solidFill>
                  <a:srgbClr val="FFFFFF"/>
                </a:solidFill>
                <a:latin typeface="Calibri"/>
              </a:rPr>
              <a:t>Ettore Cantile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 dirty="0" err="1">
                <a:solidFill>
                  <a:srgbClr val="FFFFFF"/>
                </a:solidFill>
                <a:latin typeface="Calibri"/>
              </a:rPr>
              <a:t>settembre</a:t>
            </a:r>
            <a:r>
              <a:rPr sz="1500" b="0" i="0" dirty="0">
                <a:solidFill>
                  <a:srgbClr val="FFFFFF"/>
                </a:solidFill>
                <a:latin typeface="Calibri"/>
              </a:rPr>
              <a:t> 202</a:t>
            </a:r>
            <a:r>
              <a:rPr lang="it-IT" sz="1500" b="0" i="0" dirty="0">
                <a:solidFill>
                  <a:srgbClr val="FFFFFF"/>
                </a:solidFill>
                <a:latin typeface="Calibri"/>
              </a:rPr>
              <a:t>6</a:t>
            </a:r>
            <a:endParaRPr sz="1500" b="0" i="0" dirty="0">
              <a:solidFill>
                <a:srgbClr val="FFFFF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Decidere dove mandare un pacchetto, prima che entri nel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>
                <a:solidFill>
                  <a:srgbClr val="6B7C93"/>
                </a:solidFill>
                <a:latin typeface="Calibri"/>
              </a:rPr>
              <a:t>Il kernel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accetta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il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programma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solo dopo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averlo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verificato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: niente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cicli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illimitati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, niente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memoria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arbitraria</a:t>
            </a:r>
            <a:endParaRPr sz="1100" b="0" i="1" dirty="0">
              <a:solidFill>
                <a:srgbClr val="6B7C93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5941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 i="0" dirty="0">
                <a:solidFill>
                  <a:srgbClr val="222B36"/>
                </a:solidFill>
                <a:latin typeface="Calibri"/>
              </a:rPr>
              <a:t>XDP</a:t>
            </a:r>
            <a:r>
              <a:rPr sz="1800" b="0" i="0" dirty="0">
                <a:solidFill>
                  <a:srgbClr val="222B36"/>
                </a:solidFill>
                <a:latin typeface="Calibri"/>
              </a:rPr>
              <a:t> è il primo punto in cui il kernel </a:t>
            </a:r>
            <a:r>
              <a:rPr sz="1800" b="0" i="0" dirty="0" err="1">
                <a:solidFill>
                  <a:srgbClr val="222B36"/>
                </a:solidFill>
                <a:latin typeface="Calibri"/>
              </a:rPr>
              <a:t>vede</a:t>
            </a:r>
            <a:r>
              <a:rPr sz="1800" b="0" i="0" dirty="0">
                <a:solidFill>
                  <a:srgbClr val="222B36"/>
                </a:solidFill>
                <a:latin typeface="Calibri"/>
              </a:rPr>
              <a:t> un </a:t>
            </a:r>
            <a:r>
              <a:rPr sz="1800" b="0" i="0" dirty="0" err="1">
                <a:solidFill>
                  <a:srgbClr val="222B36"/>
                </a:solidFill>
                <a:latin typeface="Calibri"/>
              </a:rPr>
              <a:t>pacchetto</a:t>
            </a:r>
            <a:r>
              <a:rPr sz="1800" b="0" i="0" dirty="0">
                <a:solidFill>
                  <a:srgbClr val="222B36"/>
                </a:solidFill>
                <a:latin typeface="Calibri"/>
              </a:rPr>
              <a:t>: prima </a:t>
            </a:r>
            <a:r>
              <a:rPr sz="1800" b="0" i="0" dirty="0" err="1">
                <a:solidFill>
                  <a:srgbClr val="222B36"/>
                </a:solidFill>
                <a:latin typeface="Calibri"/>
              </a:rPr>
              <a:t>dello</a:t>
            </a:r>
            <a:r>
              <a:rPr sz="1800" b="0" i="0" dirty="0">
                <a:solidFill>
                  <a:srgbClr val="222B36"/>
                </a:solidFill>
                <a:latin typeface="Calibri"/>
              </a:rPr>
              <a:t> stack di rete, prima di </a:t>
            </a:r>
            <a:r>
              <a:rPr sz="1800" b="0" i="0" dirty="0" err="1">
                <a:solidFill>
                  <a:srgbClr val="222B36"/>
                </a:solidFill>
                <a:latin typeface="Calibri"/>
              </a:rPr>
              <a:t>qualunque</a:t>
            </a:r>
            <a:r>
              <a:rPr sz="1800" b="0" i="0" dirty="0">
                <a:solidFill>
                  <a:srgbClr val="222B36"/>
                </a:solidFill>
                <a:latin typeface="Calibri"/>
              </a:rPr>
              <a:t> </a:t>
            </a:r>
            <a:r>
              <a:rPr sz="1800" b="0" i="0" dirty="0" err="1">
                <a:solidFill>
                  <a:srgbClr val="222B36"/>
                </a:solidFill>
                <a:latin typeface="Calibri"/>
              </a:rPr>
              <a:t>allocazione</a:t>
            </a:r>
            <a:r>
              <a:rPr sz="1800" b="0" i="0" dirty="0">
                <a:solidFill>
                  <a:srgbClr val="222B36"/>
                </a:solidFill>
                <a:latin typeface="Calibri"/>
              </a:rPr>
              <a:t>. </a:t>
            </a:r>
            <a:r>
              <a:rPr sz="1800" b="0" i="0" dirty="0" err="1">
                <a:solidFill>
                  <a:srgbClr val="222B36"/>
                </a:solidFill>
                <a:latin typeface="Calibri"/>
              </a:rPr>
              <a:t>Lì</a:t>
            </a:r>
            <a:r>
              <a:rPr sz="1800" b="0" i="0" dirty="0">
                <a:solidFill>
                  <a:srgbClr val="222B36"/>
                </a:solidFill>
                <a:latin typeface="Calibri"/>
              </a:rPr>
              <a:t> </a:t>
            </a:r>
            <a:r>
              <a:rPr sz="1800" b="0" i="0" dirty="0" err="1">
                <a:solidFill>
                  <a:srgbClr val="222B36"/>
                </a:solidFill>
                <a:latin typeface="Calibri"/>
              </a:rPr>
              <a:t>eseguiamo</a:t>
            </a:r>
            <a:r>
              <a:rPr sz="1800" b="0" i="0" dirty="0">
                <a:solidFill>
                  <a:srgbClr val="222B36"/>
                </a:solidFill>
                <a:latin typeface="Calibri"/>
              </a:rPr>
              <a:t> </a:t>
            </a:r>
            <a:r>
              <a:rPr sz="1800" b="0" i="0" dirty="0" err="1">
                <a:solidFill>
                  <a:srgbClr val="222B36"/>
                </a:solidFill>
                <a:latin typeface="Calibri"/>
              </a:rPr>
              <a:t>una</a:t>
            </a:r>
            <a:r>
              <a:rPr sz="1800" b="0" i="0" dirty="0">
                <a:solidFill>
                  <a:srgbClr val="222B36"/>
                </a:solidFill>
                <a:latin typeface="Calibri"/>
              </a:rPr>
              <a:t> </a:t>
            </a:r>
            <a:r>
              <a:rPr sz="1800" b="0" i="0" dirty="0" err="1">
                <a:solidFill>
                  <a:srgbClr val="222B36"/>
                </a:solidFill>
                <a:latin typeface="Calibri"/>
              </a:rPr>
              <a:t>piccola</a:t>
            </a:r>
            <a:r>
              <a:rPr sz="1800" b="0" i="0" dirty="0">
                <a:solidFill>
                  <a:srgbClr val="222B36"/>
                </a:solidFill>
                <a:latin typeface="Calibri"/>
              </a:rPr>
              <a:t> rete neural</a:t>
            </a:r>
            <a:r>
              <a:rPr lang="it-IT" sz="1800" b="0" i="0" dirty="0">
                <a:solidFill>
                  <a:srgbClr val="222B36"/>
                </a:solidFill>
                <a:latin typeface="Calibri"/>
              </a:rPr>
              <a:t>e</a:t>
            </a:r>
            <a:r>
              <a:rPr sz="1800" b="0" i="0" dirty="0">
                <a:solidFill>
                  <a:srgbClr val="222B36"/>
                </a:solidFill>
                <a:latin typeface="Calibri"/>
              </a:rPr>
              <a:t>, e la </a:t>
            </a:r>
            <a:r>
              <a:rPr sz="1800" b="0" i="0" dirty="0" err="1">
                <a:solidFill>
                  <a:srgbClr val="222B36"/>
                </a:solidFill>
                <a:latin typeface="Calibri"/>
              </a:rPr>
              <a:t>decisione</a:t>
            </a:r>
            <a:r>
              <a:rPr sz="1800" b="0" i="0" dirty="0">
                <a:solidFill>
                  <a:srgbClr val="222B36"/>
                </a:solidFill>
                <a:latin typeface="Calibri"/>
              </a:rPr>
              <a:t> </a:t>
            </a:r>
            <a:r>
              <a:rPr sz="1800" b="0" i="0" dirty="0" err="1">
                <a:solidFill>
                  <a:srgbClr val="222B36"/>
                </a:solidFill>
                <a:latin typeface="Calibri"/>
              </a:rPr>
              <a:t>nasce</a:t>
            </a:r>
            <a:r>
              <a:rPr sz="1800" b="0" i="0" dirty="0">
                <a:solidFill>
                  <a:srgbClr val="222B36"/>
                </a:solidFill>
                <a:latin typeface="Calibri"/>
              </a:rPr>
              <a:t> in </a:t>
            </a:r>
            <a:r>
              <a:rPr sz="1800" b="0" i="0" dirty="0" err="1">
                <a:solidFill>
                  <a:srgbClr val="222B36"/>
                </a:solidFill>
                <a:latin typeface="Calibri"/>
              </a:rPr>
              <a:t>quel</a:t>
            </a:r>
            <a:r>
              <a:rPr sz="1800" b="0" i="0" dirty="0">
                <a:solidFill>
                  <a:srgbClr val="222B36"/>
                </a:solidFill>
                <a:latin typeface="Calibri"/>
              </a:rPr>
              <a:t> punto.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06040"/>
            <a:ext cx="2103120" cy="23317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566928" cy="566928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20440"/>
            <a:ext cx="1783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Arriva il pacchetto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931920"/>
            <a:ext cx="1783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XDP lo intercetta appena la scheda lo riceve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633472" y="3566160"/>
            <a:ext cx="164592" cy="256032"/>
          </a:xfrm>
          <a:prstGeom prst="rightArrow">
            <a:avLst/>
          </a:prstGeom>
          <a:solidFill>
            <a:srgbClr val="D5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779776" y="2606040"/>
            <a:ext cx="2103120" cy="23317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Oval 13"/>
          <p:cNvSpPr/>
          <p:nvPr/>
        </p:nvSpPr>
        <p:spPr>
          <a:xfrm>
            <a:off x="2962656" y="2788920"/>
            <a:ext cx="566928" cy="566928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62656" y="3520440"/>
            <a:ext cx="1783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Legge le feature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62656" y="3931920"/>
            <a:ext cx="1783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stato dei collegamenti, porta d'ingresso, TTL, identità del nodo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864608" y="3566160"/>
            <a:ext cx="164592" cy="256032"/>
          </a:xfrm>
          <a:prstGeom prst="rightArrow">
            <a:avLst/>
          </a:prstGeom>
          <a:solidFill>
            <a:srgbClr val="D5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010912" y="2606040"/>
            <a:ext cx="2103120" cy="23317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Oval 18"/>
          <p:cNvSpPr/>
          <p:nvPr/>
        </p:nvSpPr>
        <p:spPr>
          <a:xfrm>
            <a:off x="5193792" y="2788920"/>
            <a:ext cx="566928" cy="566928"/>
          </a:xfrm>
          <a:prstGeom prst="ellipse">
            <a:avLst/>
          </a:prstGeom>
          <a:solidFill>
            <a:srgbClr val="E07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93792" y="3520440"/>
            <a:ext cx="1783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La rete calcola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93792" y="3931920"/>
            <a:ext cx="1783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solo numeri interi: nel kernel non c'è la virgola mobile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095744" y="3566160"/>
            <a:ext cx="164592" cy="256032"/>
          </a:xfrm>
          <a:prstGeom prst="rightArrow">
            <a:avLst/>
          </a:prstGeom>
          <a:solidFill>
            <a:srgbClr val="D5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7242048" y="2606040"/>
            <a:ext cx="2103120" cy="23317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Oval 23"/>
          <p:cNvSpPr/>
          <p:nvPr/>
        </p:nvSpPr>
        <p:spPr>
          <a:xfrm>
            <a:off x="7424928" y="2788920"/>
            <a:ext cx="566928" cy="566928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24928" y="3520440"/>
            <a:ext cx="1783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Esce una classe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24928" y="3931920"/>
            <a:ext cx="1783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un numero, che da solo non significa niente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326880" y="3566160"/>
            <a:ext cx="164592" cy="256032"/>
          </a:xfrm>
          <a:prstGeom prst="rightArrow">
            <a:avLst/>
          </a:prstGeom>
          <a:solidFill>
            <a:srgbClr val="D5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9473184" y="2606040"/>
            <a:ext cx="2103120" cy="23317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Oval 28"/>
          <p:cNvSpPr/>
          <p:nvPr/>
        </p:nvSpPr>
        <p:spPr>
          <a:xfrm>
            <a:off x="9656064" y="2788920"/>
            <a:ext cx="566928" cy="566928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56064" y="3520440"/>
            <a:ext cx="1783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Azione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56064" y="3931920"/>
            <a:ext cx="1783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la configurazione traduce la classe in una porta, oppure in «scarta»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166360"/>
            <a:ext cx="11094415" cy="100584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2960" y="5166360"/>
            <a:ext cx="10545775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 i="0" dirty="0" err="1">
                <a:solidFill>
                  <a:srgbClr val="FFFFFF"/>
                </a:solidFill>
                <a:latin typeface="Calibri"/>
              </a:rPr>
              <a:t>Tutto</a:t>
            </a:r>
            <a:r>
              <a:rPr sz="17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FFFFFF"/>
                </a:solidFill>
                <a:latin typeface="Calibri"/>
              </a:rPr>
              <a:t>questo</a:t>
            </a:r>
            <a:r>
              <a:rPr sz="17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FFFFFF"/>
                </a:solidFill>
                <a:latin typeface="Calibri"/>
              </a:rPr>
              <a:t>deve</a:t>
            </a:r>
            <a:r>
              <a:rPr sz="1700" b="0" i="0" dirty="0">
                <a:solidFill>
                  <a:srgbClr val="FFFFFF"/>
                </a:solidFill>
                <a:latin typeface="Calibri"/>
              </a:rPr>
              <a:t> stare in </a:t>
            </a:r>
            <a:r>
              <a:rPr sz="1700" b="1" i="0" dirty="0" err="1">
                <a:solidFill>
                  <a:srgbClr val="FFFFFF"/>
                </a:solidFill>
                <a:latin typeface="Calibri"/>
              </a:rPr>
              <a:t>qualche</a:t>
            </a:r>
            <a:r>
              <a:rPr sz="17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700" b="1" i="0" dirty="0" err="1">
                <a:solidFill>
                  <a:srgbClr val="FFFFFF"/>
                </a:solidFill>
                <a:latin typeface="Calibri"/>
              </a:rPr>
              <a:t>centinaio</a:t>
            </a:r>
            <a:r>
              <a:rPr sz="1700" b="1" i="0" dirty="0">
                <a:solidFill>
                  <a:srgbClr val="FFFFFF"/>
                </a:solidFill>
                <a:latin typeface="Calibri"/>
              </a:rPr>
              <a:t> di </a:t>
            </a:r>
            <a:r>
              <a:rPr sz="1700" b="1" i="0" dirty="0" err="1">
                <a:solidFill>
                  <a:srgbClr val="FFFFFF"/>
                </a:solidFill>
                <a:latin typeface="Calibri"/>
              </a:rPr>
              <a:t>nanosecondi</a:t>
            </a:r>
            <a:r>
              <a:rPr sz="1700" b="0" i="0" dirty="0">
                <a:solidFill>
                  <a:srgbClr val="FFFFFF"/>
                </a:solidFill>
                <a:latin typeface="Calibri"/>
              </a:rPr>
              <a:t>, </a:t>
            </a:r>
            <a:r>
              <a:rPr sz="1700" b="0" i="0" dirty="0" err="1">
                <a:solidFill>
                  <a:srgbClr val="FFFFFF"/>
                </a:solidFill>
                <a:latin typeface="Calibri"/>
              </a:rPr>
              <a:t>una</a:t>
            </a:r>
            <a:r>
              <a:rPr sz="1700" b="0" i="0" dirty="0">
                <a:solidFill>
                  <a:srgbClr val="FFFFFF"/>
                </a:solidFill>
                <a:latin typeface="Calibri"/>
              </a:rPr>
              <a:t> volta per </a:t>
            </a:r>
            <a:r>
              <a:rPr sz="1700" b="0" i="0" dirty="0" err="1">
                <a:solidFill>
                  <a:srgbClr val="FFFFFF"/>
                </a:solidFill>
                <a:latin typeface="Calibri"/>
              </a:rPr>
              <a:t>ogni</a:t>
            </a:r>
            <a:r>
              <a:rPr sz="17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FFFFFF"/>
                </a:solidFill>
                <a:latin typeface="Calibri"/>
              </a:rPr>
              <a:t>pacchetto</a:t>
            </a:r>
            <a:r>
              <a:rPr sz="1700" b="0" i="0" dirty="0">
                <a:solidFill>
                  <a:srgbClr val="FFFFFF"/>
                </a:solidFill>
                <a:latin typeface="Calibri"/>
              </a:rPr>
              <a:t>. La </a:t>
            </a:r>
            <a:r>
              <a:rPr sz="1700" b="0" i="0" dirty="0" err="1">
                <a:solidFill>
                  <a:srgbClr val="FFFFFF"/>
                </a:solidFill>
                <a:latin typeface="Calibri"/>
              </a:rPr>
              <a:t>domanda</a:t>
            </a:r>
            <a:r>
              <a:rPr lang="it-IT" sz="1700" b="0" i="0" dirty="0">
                <a:solidFill>
                  <a:srgbClr val="FFFFFF"/>
                </a:solidFill>
                <a:latin typeface="Calibri"/>
              </a:rPr>
              <a:t> della tesi: </a:t>
            </a:r>
            <a:r>
              <a:rPr lang="it-IT" sz="1700" b="1" i="0" dirty="0">
                <a:solidFill>
                  <a:srgbClr val="FFFFFF"/>
                </a:solidFill>
                <a:latin typeface="Calibri"/>
              </a:rPr>
              <a:t>quanto del programma posso lasciare configurabile, prima che il costo diventi inaccettabile?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LA CHIAVE DI TUTTA LA PRESENTAZIONE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Quattro versioni, che cambiano per una cosa sola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Arancione = già noto quando si compila  ·  verde = letto mentre il nodo gira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 i="0">
                <a:solidFill>
                  <a:srgbClr val="222B36"/>
                </a:solidFill>
                <a:latin typeface="Calibri"/>
              </a:rPr>
              <a:t>Tutte e quattro calcolano la stessa rete e prendono la stessa decisione. Cambia solo </a:t>
            </a:r>
            <a:r>
              <a:rPr sz="1800" b="1" i="0">
                <a:solidFill>
                  <a:srgbClr val="222B36"/>
                </a:solidFill>
                <a:latin typeface="Calibri"/>
              </a:rPr>
              <a:t>quanto sanno già</a:t>
            </a:r>
            <a:r>
              <a:rPr sz="1800" b="0" i="0">
                <a:solidFill>
                  <a:srgbClr val="222B36"/>
                </a:solidFill>
                <a:latin typeface="Calibri"/>
              </a:rPr>
              <a:t> quando vengono compilate.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4511093"/>
              </p:ext>
            </p:extLst>
          </p:nvPr>
        </p:nvGraphicFramePr>
        <p:xfrm>
          <a:off x="548640" y="2148840"/>
          <a:ext cx="11064236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695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76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967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76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7502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762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FFFFFF"/>
                          </a:solidFill>
                          <a:latin typeface="Calibri"/>
                        </a:rPr>
                        <a:t>Versione</a:t>
                      </a:r>
                      <a:endParaRPr sz="1500" b="1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FFFFFF"/>
                          </a:solidFill>
                          <a:latin typeface="Calibri"/>
                        </a:rPr>
                        <a:t>Nodo</a:t>
                      </a:r>
                      <a:endParaRPr sz="1500" b="1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FFFFFF"/>
                          </a:solidFill>
                          <a:latin typeface="Calibri"/>
                        </a:rPr>
                        <a:t>Porte del nodo</a:t>
                      </a:r>
                      <a:endParaRPr sz="1500" b="1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FFFFFF"/>
                          </a:solidFill>
                          <a:latin typeface="Calibri"/>
                        </a:rPr>
                        <a:t>Pesi</a:t>
                      </a:r>
                      <a:endParaRPr sz="1500" b="1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FFFFFF"/>
                          </a:solidFill>
                          <a:latin typeface="Calibri"/>
                        </a:rPr>
                        <a:t>Forma della rete</a:t>
                      </a:r>
                      <a:endParaRPr sz="1500" b="1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FFFFFF"/>
                          </a:solidFill>
                          <a:latin typeface="Calibri"/>
                        </a:rPr>
                        <a:t>Profondità</a:t>
                      </a:r>
                      <a:endParaRPr sz="1500" b="1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222B36"/>
                          </a:solidFill>
                          <a:latin typeface="Calibri"/>
                        </a:rPr>
                        <a:t>P1  ·  p1_static</a:t>
                      </a:r>
                      <a:endParaRPr sz="1500" b="1" i="0">
                        <a:solidFill>
                          <a:srgbClr val="222B36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compilato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compilabili *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compilati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222B36"/>
                          </a:solidFill>
                          <a:latin typeface="Calibri"/>
                        </a:rPr>
                        <a:t>P1.5  ·  hardcoded</a:t>
                      </a:r>
                      <a:endParaRPr sz="1500" b="1" i="0">
                        <a:solidFill>
                          <a:srgbClr val="222B36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tutte previste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compilati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222B36"/>
                          </a:solidFill>
                          <a:latin typeface="Calibri"/>
                        </a:rPr>
                        <a:t>P2  ·  template</a:t>
                      </a:r>
                      <a:endParaRPr sz="1500" b="1" i="0">
                        <a:solidFill>
                          <a:srgbClr val="222B36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tutte previste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entro limiti fissi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222B36"/>
                          </a:solidFill>
                          <a:latin typeface="Calibri"/>
                        </a:rPr>
                        <a:t>P3  ·  modular</a:t>
                      </a:r>
                      <a:endParaRPr sz="1500" b="1" i="0">
                        <a:solidFill>
                          <a:srgbClr val="222B36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tutte previste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75488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 i="0">
                <a:solidFill>
                  <a:srgbClr val="222B36"/>
                </a:solidFill>
                <a:latin typeface="Calibri"/>
              </a:rPr>
              <a:t>*</a:t>
            </a:r>
            <a:r>
              <a:rPr sz="1300" b="0" i="0">
                <a:solidFill>
                  <a:srgbClr val="222B36"/>
                </a:solidFill>
                <a:latin typeface="Calibri"/>
              </a:rPr>
              <a:t> Solo P1 statica può congelare anche </a:t>
            </a:r>
            <a:r>
              <a:rPr sz="1300" b="1" i="0">
                <a:solidFill>
                  <a:srgbClr val="222B36"/>
                </a:solidFill>
                <a:latin typeface="Calibri"/>
              </a:rPr>
              <a:t>quali interfacce il nodo ha davvero</a:t>
            </a:r>
            <a:r>
              <a:rPr sz="1300" b="0" i="0">
                <a:solidFill>
                  <a:srgbClr val="222B36"/>
                </a:solidFill>
                <a:latin typeface="Calibri"/>
              </a:rPr>
              <a:t>: le colonne dei collegamenti che non esistono non vengono generate (se un link è su o giù resta letto a runtime). Serve il nodo congelato, perché le porte dipendono da quale nodo si è. Nelle misure è usato solo nell'asse «porte presenti»; altrove P1 statica congela </a:t>
            </a:r>
            <a:r>
              <a:rPr sz="1300" b="1" i="0">
                <a:solidFill>
                  <a:srgbClr val="222B36"/>
                </a:solidFill>
                <a:latin typeface="Calibri"/>
              </a:rPr>
              <a:t>solo il nodo</a:t>
            </a:r>
            <a:r>
              <a:rPr sz="1300" b="0" i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53212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5532120"/>
            <a:ext cx="1054577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Più informazioni sposto dalla compilazione all'esecuzione, più il programma diventa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riutilizzabile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 — e più cresce il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costo per pacchetto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DA DOVE VIENE LA DIFFERENZA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Il compilatore vede i pesi, oppure 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Da questa differenza discendono tutti i risultati che seguono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5394960" cy="36576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600200"/>
            <a:ext cx="5394960" cy="9144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1874519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1" i="0">
                <a:solidFill>
                  <a:srgbClr val="E07A2D"/>
                </a:solidFill>
                <a:latin typeface="Calibri"/>
              </a:rPr>
              <a:t>Specializzata (P1, P1.5)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468880"/>
            <a:ext cx="4754880" cy="1234440"/>
          </a:xfrm>
          <a:prstGeom prst="roundRect">
            <a:avLst>
              <a:gd name="adj" fmla="val 6000"/>
            </a:avLst>
          </a:prstGeom>
          <a:solidFill>
            <a:srgbClr val="1E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7280" y="2606040"/>
            <a:ext cx="44805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E8ECF1"/>
                </a:solidFill>
                <a:latin typeface="Consolas"/>
              </a:rPr>
              <a:t>h[j] += 37 * x0;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E8ECF1"/>
                </a:solidFill>
                <a:latin typeface="Consolas"/>
              </a:rPr>
              <a:t>h[j] += -12 * x1;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E8ECF1"/>
                </a:solidFill>
                <a:latin typeface="Consolas"/>
              </a:rPr>
              <a:t>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931920"/>
            <a:ext cx="48463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 i="0">
                <a:solidFill>
                  <a:srgbClr val="222B36"/>
                </a:solidFill>
                <a:latin typeface="Calibri"/>
              </a:rPr>
              <a:t>I pesi sono numeri scritti nel programma. Il compilatore li vede: </a:t>
            </a:r>
            <a:r>
              <a:rPr sz="1600" b="1" i="0">
                <a:solidFill>
                  <a:srgbClr val="222B36"/>
                </a:solidFill>
                <a:latin typeface="Calibri"/>
              </a:rPr>
              <a:t>cancella le moltiplicazioni per zero</a:t>
            </a:r>
            <a:r>
              <a:rPr sz="1600" b="0" i="0">
                <a:solidFill>
                  <a:srgbClr val="222B36"/>
                </a:solidFill>
                <a:latin typeface="Calibri"/>
              </a:rPr>
              <a:t>, semplifica le altre.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600200"/>
            <a:ext cx="5394960" cy="36576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17920" y="1600200"/>
            <a:ext cx="5394960" cy="91440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37960" y="1874519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1" i="0">
                <a:solidFill>
                  <a:srgbClr val="2E9C6E"/>
                </a:solidFill>
                <a:latin typeface="Calibri"/>
              </a:rPr>
              <a:t>Generica (P2, P3)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468880"/>
            <a:ext cx="4754880" cy="1234440"/>
          </a:xfrm>
          <a:prstGeom prst="roundRect">
            <a:avLst>
              <a:gd name="adj" fmla="val 6000"/>
            </a:avLst>
          </a:prstGeom>
          <a:solidFill>
            <a:srgbClr val="1E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66560" y="2606040"/>
            <a:ext cx="44805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E8ECF1"/>
                </a:solidFill>
                <a:latin typeface="Consolas"/>
              </a:rPr>
              <a:t>for (i …)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E8ECF1"/>
                </a:solidFill>
                <a:latin typeface="Consolas"/>
              </a:rPr>
              <a:t>    h[j] += W[…] * x[i];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931920"/>
            <a:ext cx="48463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 i="0">
                <a:solidFill>
                  <a:srgbClr val="222B36"/>
                </a:solidFill>
                <a:latin typeface="Calibri"/>
              </a:rPr>
              <a:t>I pesi stanno in una tabella e il compilatore non li vede. Il ciclo è scritto per il </a:t>
            </a:r>
            <a:r>
              <a:rPr sz="1600" b="1" i="0">
                <a:solidFill>
                  <a:srgbClr val="222B36"/>
                </a:solidFill>
                <a:latin typeface="Calibri"/>
              </a:rPr>
              <a:t>caso peggiore ammesso</a:t>
            </a:r>
            <a:r>
              <a:rPr sz="1600" b="0" i="0">
                <a:solidFill>
                  <a:srgbClr val="222B36"/>
                </a:solidFill>
                <a:latin typeface="Calibri"/>
              </a:rPr>
              <a:t>, non per la forma vera.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48640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5486400"/>
            <a:ext cx="1054577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Nel primo caso il programma </a:t>
            </a:r>
            <a:r>
              <a:rPr sz="1600" b="1" i="0">
                <a:solidFill>
                  <a:srgbClr val="FFFFFF"/>
                </a:solidFill>
                <a:latin typeface="Calibri"/>
              </a:rPr>
              <a:t>è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 quel modello, e vale solo per lui. Nel secondo un programma solo serve </a:t>
            </a:r>
            <a:r>
              <a:rPr sz="1600" b="1" i="0">
                <a:solidFill>
                  <a:srgbClr val="FFFFFF"/>
                </a:solidFill>
                <a:latin typeface="Calibri"/>
              </a:rPr>
              <a:t>qualunque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 modello, ma deve leggere tutto ogni volta.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1930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1200" b="1" i="0">
                <a:solidFill>
                  <a:srgbClr val="E07A2D"/>
                </a:solidFill>
                <a:latin typeface="Calibri"/>
              </a:rPr>
              <a:t>P2 E P3 · UN PROGRAMMA, TANTI MODELLI</a:t>
            </a:r>
            <a:endParaRPr sz="1200" b="1" i="0">
              <a:solidFill>
                <a:srgbClr val="E07A2D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it-IT" sz="3000" b="1" i="0">
                <a:solidFill>
                  <a:srgbClr val="1F3A5F"/>
                </a:solidFill>
                <a:latin typeface="Calibri"/>
              </a:rPr>
              <a:t>Ogni modello porta il proprio significato delle classi</a:t>
            </a:r>
            <a:endParaRPr sz="3000" b="1" i="0">
              <a:solidFill>
                <a:srgbClr val="1F3A5F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5</a:t>
            </a:r>
            <a:endParaRPr sz="1100" b="0" i="0">
              <a:solidFill>
                <a:srgbClr val="6B7C93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1100" i="1" dirty="0">
                <a:solidFill>
                  <a:srgbClr val="6B7C93"/>
                </a:solidFill>
                <a:latin typeface="Calibri"/>
              </a:rPr>
              <a:t>Test: 53/53 su P2 e P3, con controllo negativo  · § 3.4</a:t>
            </a:r>
            <a:endParaRPr sz="1100" i="1" dirty="0">
              <a:solidFill>
                <a:srgbClr val="6B7C93"/>
              </a:solidFill>
              <a:latin typeface="Calibr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5394960" cy="31496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600200"/>
            <a:ext cx="5394960" cy="9144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1874519"/>
            <a:ext cx="4846320" cy="3538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2200" b="1" i="0">
                <a:solidFill>
                  <a:srgbClr val="E07A2D"/>
                </a:solidFill>
                <a:latin typeface="Calibri"/>
              </a:rPr>
              <a:t>Prima: una tabella per tutti</a:t>
            </a:r>
            <a:endParaRPr sz="2200" b="1" i="0">
              <a:solidFill>
                <a:srgbClr val="E07A2D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68680" y="2468880"/>
            <a:ext cx="4754880" cy="914400"/>
          </a:xfrm>
          <a:prstGeom prst="roundRect">
            <a:avLst>
              <a:gd name="adj" fmla="val 6000"/>
            </a:avLst>
          </a:prstGeom>
          <a:solidFill>
            <a:srgbClr val="1E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7280" y="2606039"/>
            <a:ext cx="4480560" cy="711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it-IT" sz="1500" i="0">
                <a:solidFill>
                  <a:srgbClr val="E8ECF1"/>
                </a:solidFill>
                <a:latin typeface="Consolas"/>
              </a:rPr>
              <a:t>act = class_action[classe];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it-IT" sz="1500" i="0">
                <a:solidFill>
                  <a:srgbClr val="E8ECF1"/>
                </a:solidFill>
                <a:latin typeface="Consolas"/>
              </a:rPr>
              <a:t>// la stessa per ogni modello</a:t>
            </a:r>
            <a:endParaRPr sz="1500" i="0">
              <a:solidFill>
                <a:srgbClr val="E8ECF1"/>
              </a:solidFill>
              <a:latin typeface="Consola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68680" y="3606800"/>
            <a:ext cx="4846320" cy="7989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1600" i="0">
                <a:solidFill>
                  <a:srgbClr val="222B36"/>
                </a:solidFill>
                <a:latin typeface="Calibri"/>
              </a:rPr>
              <a:t>Un secondo modello che dava alle classi un altro significato veniva </a:t>
            </a:r>
            <a:r>
              <a:rPr lang="it-IT" sz="1600" b="1" i="0">
                <a:solidFill>
                  <a:srgbClr val="222B36"/>
                </a:solidFill>
                <a:latin typeface="Calibri"/>
              </a:rPr>
              <a:t>rifiutato</a:t>
            </a:r>
            <a:r>
              <a:rPr lang="it-IT" sz="1600" i="0">
                <a:solidFill>
                  <a:srgbClr val="222B36"/>
                </a:solidFill>
                <a:latin typeface="Calibri"/>
              </a:rPr>
              <a:t>: un programma solo, ma per modelli con le stesse classi.</a:t>
            </a:r>
            <a:endParaRPr sz="1600" i="0">
              <a:solidFill>
                <a:srgbClr val="222B36"/>
              </a:solidFill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217920" y="1600200"/>
            <a:ext cx="5394960" cy="31496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17920" y="1600200"/>
            <a:ext cx="5394960" cy="91440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37960" y="1874519"/>
            <a:ext cx="4846320" cy="3538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2200" b="1" i="0">
                <a:solidFill>
                  <a:srgbClr val="2E9C6E"/>
                </a:solidFill>
                <a:latin typeface="Calibri"/>
              </a:rPr>
              <a:t>Ora: una per modello</a:t>
            </a:r>
            <a:endParaRPr sz="2200" b="1" i="0">
              <a:solidFill>
                <a:srgbClr val="2E9C6E"/>
              </a:solidFill>
              <a:latin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537960" y="2468880"/>
            <a:ext cx="4754880" cy="914400"/>
          </a:xfrm>
          <a:prstGeom prst="roundRect">
            <a:avLst>
              <a:gd name="adj" fmla="val 6000"/>
            </a:avLst>
          </a:prstGeom>
          <a:solidFill>
            <a:srgbClr val="1E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66560" y="2606039"/>
            <a:ext cx="4480560" cy="711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it-IT" sz="1500" i="0">
                <a:solidFill>
                  <a:srgbClr val="E8ECF1"/>
                </a:solidFill>
                <a:latin typeface="Consolas"/>
              </a:rPr>
              <a:t>act = class_action[model_id][classe];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it-IT" sz="1500" i="0">
                <a:solidFill>
                  <a:srgbClr val="E8ECF1"/>
                </a:solidFill>
                <a:latin typeface="Consolas"/>
              </a:rPr>
              <a:t>// righe proprie per ogni modello</a:t>
            </a:r>
            <a:endParaRPr sz="1500" i="0">
              <a:solidFill>
                <a:srgbClr val="E8ECF1"/>
              </a:solidFill>
              <a:latin typeface="Consola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537960" y="3606800"/>
            <a:ext cx="4846320" cy="7989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1600" i="0">
                <a:solidFill>
                  <a:srgbClr val="222B36"/>
                </a:solidFill>
                <a:latin typeface="Calibri"/>
              </a:rPr>
              <a:t>Modello A: la classe 0 inoltra, la 1 scarta; modello B l'opposto. </a:t>
            </a:r>
            <a:r>
              <a:rPr lang="it-IT" sz="1600" b="1" i="0">
                <a:solidFill>
                  <a:srgbClr val="222B36"/>
                </a:solidFill>
                <a:latin typeface="Calibri"/>
              </a:rPr>
              <a:t>Convivono</a:t>
            </a:r>
            <a:r>
              <a:rPr lang="it-IT" sz="1600" i="0">
                <a:solidFill>
                  <a:srgbClr val="222B36"/>
                </a:solidFill>
                <a:latin typeface="Calibri"/>
              </a:rPr>
              <a:t> nello stesso programma, e ricaricarne uno non tocca gli altri.</a:t>
            </a:r>
            <a:endParaRPr sz="1600" i="0">
              <a:solidFill>
                <a:srgbClr val="222B36"/>
              </a:solidFill>
              <a:latin typeface="Calibri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548640" y="508000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5079999"/>
            <a:ext cx="10545775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it-IT" sz="1600" b="1" i="0">
                <a:solidFill>
                  <a:srgbClr val="FFFFFF"/>
                </a:solidFill>
                <a:latin typeface="Calibri"/>
              </a:rPr>
              <a:t>Stesse letture di tabella</a:t>
            </a:r>
            <a:r>
              <a:rPr lang="it-IT" sz="1600" i="0">
                <a:solidFill>
                  <a:srgbClr val="FFFFFF"/>
                </a:solidFill>
                <a:latin typeface="Calibri"/>
              </a:rPr>
              <a:t>, latenza entro il rumore, nessuna crescita da 1 a 8 modelli. Il prezzo è in memoria: </a:t>
            </a:r>
            <a:r>
              <a:rPr lang="it-IT" sz="1600" b="1" i="0">
                <a:solidFill>
                  <a:srgbClr val="FFFFFF"/>
                </a:solidFill>
                <a:latin typeface="Calibri"/>
              </a:rPr>
              <a:t>128 KiB</a:t>
            </a:r>
            <a:r>
              <a:rPr lang="it-IT" sz="1600" i="0">
                <a:solidFill>
                  <a:srgbClr val="FFFFFF"/>
                </a:solidFill>
                <a:latin typeface="Calibri"/>
              </a:rPr>
              <a:t> di tabella per pipeline.</a:t>
            </a:r>
            <a:endParaRPr sz="1600" i="0">
              <a:solidFill>
                <a:srgbClr val="FFFFFF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500593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COME SI MISURA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Tre misure, tre domande diverse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6</a:t>
            </a:r>
            <a:endParaRPr sz="1100" b="0" i="0">
              <a:solidFill>
                <a:srgbClr val="6B7C93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Non vanno moltiplicate fra loro: rispondono a domande diverse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3520440" cy="40233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914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800" b="1" i="0">
                <a:solidFill>
                  <a:srgbClr val="1F3A5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51760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 i="0">
                <a:solidFill>
                  <a:srgbClr val="1F3A5F"/>
                </a:solidFill>
                <a:latin typeface="Calibri"/>
              </a:rPr>
              <a:t>Il programma da solo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54680"/>
            <a:ext cx="30175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Il kernel esegue il programma su un pacchetto preparato, in un ciclo. Niente schede, niente code.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709160"/>
            <a:ext cx="297180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4709160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1F3A5F"/>
                </a:solidFill>
                <a:latin typeface="Calibri"/>
              </a:rPr>
              <a:t>Quanto costa il </a:t>
            </a:r>
            <a:r>
              <a:rPr sz="1500" b="1" i="0">
                <a:solidFill>
                  <a:srgbClr val="1F3A5F"/>
                </a:solidFill>
                <a:latin typeface="Calibri"/>
              </a:rPr>
              <a:t>calcolo</a:t>
            </a:r>
            <a:r>
              <a:rPr sz="1500" b="0" i="0">
                <a:solidFill>
                  <a:srgbClr val="1F3A5F"/>
                </a:solidFill>
                <a:latin typeface="Calibri"/>
              </a:rPr>
              <a:t>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79" y="1645920"/>
            <a:ext cx="3520440" cy="40233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1999" y="1783080"/>
            <a:ext cx="914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800" b="1" i="0">
                <a:solidFill>
                  <a:srgbClr val="E07A2D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1999" y="2651760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 i="0">
                <a:solidFill>
                  <a:srgbClr val="1F3A5F"/>
                </a:solidFill>
                <a:latin typeface="Calibri"/>
              </a:rPr>
              <a:t>Tre orologi nel nodo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1999" y="3154680"/>
            <a:ext cx="30175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Tre marcature di tempo: all'ingresso del programma (T1), prima di inoltrare (T2), all'arrivo dall'altra parte (T3).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1999" y="4709160"/>
            <a:ext cx="297180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07A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09159" y="4709160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E07A2D"/>
                </a:solidFill>
                <a:latin typeface="Calibri"/>
              </a:rPr>
              <a:t>Quanta parte del tempo è la </a:t>
            </a:r>
            <a:r>
              <a:rPr sz="1500" b="1" i="0">
                <a:solidFill>
                  <a:srgbClr val="E07A2D"/>
                </a:solidFill>
                <a:latin typeface="Calibri"/>
              </a:rPr>
              <a:t>rete neurale</a:t>
            </a:r>
            <a:r>
              <a:rPr sz="1500" b="0" i="0">
                <a:solidFill>
                  <a:srgbClr val="E07A2D"/>
                </a:solidFill>
                <a:latin typeface="Calibri"/>
              </a:rPr>
              <a:t>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18" y="1645920"/>
            <a:ext cx="3520440" cy="40233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21038" y="1783080"/>
            <a:ext cx="914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800" b="1" i="0">
                <a:solidFill>
                  <a:srgbClr val="2E9C6E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38" y="2651760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 i="0">
                <a:solidFill>
                  <a:srgbClr val="1F3A5F"/>
                </a:solidFill>
                <a:latin typeface="Calibri"/>
              </a:rPr>
              <a:t>Il nodo sotto traffico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38" y="3154680"/>
            <a:ext cx="30175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Un generatore spinge più pacchetti di quanti il nodo ne regga, per minuti, e si contano quelli elaborati.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21038" y="4709160"/>
            <a:ext cx="297180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9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458198" y="4709160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2E9C6E"/>
                </a:solidFill>
                <a:latin typeface="Calibri"/>
              </a:rPr>
              <a:t>Quanti pacchetti regge </a:t>
            </a:r>
            <a:r>
              <a:rPr sz="1500" b="1" i="0">
                <a:solidFill>
                  <a:srgbClr val="2E9C6E"/>
                </a:solidFill>
                <a:latin typeface="Calibri"/>
              </a:rPr>
              <a:t>davvero</a:t>
            </a:r>
            <a:r>
              <a:rPr sz="1500" b="0" i="0">
                <a:solidFill>
                  <a:srgbClr val="2E9C6E"/>
                </a:solidFill>
                <a:latin typeface="Calibri"/>
              </a:rPr>
              <a:t> il nodo?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PRIMO RISULTATO · IL PROGRAMMA DA 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La configurabilità si paga per pacchetto: 36 → 258 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7</a:t>
            </a:r>
            <a:endParaRPr sz="1100" b="0" i="0">
              <a:solidFill>
                <a:srgbClr val="6B7C93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 err="1">
                <a:solidFill>
                  <a:srgbClr val="6B7C93"/>
                </a:solidFill>
                <a:latin typeface="Calibri"/>
              </a:rPr>
              <a:t>Stesso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modello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, 319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pesi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 · 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minimo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su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7 prove  ·  BPF_PROG_TEST_RUN  ·  P1 come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oggetto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AOT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554480"/>
          <a:ext cx="6035040" cy="4663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766560" y="1737360"/>
          <a:ext cx="4937758" cy="2286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5193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43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96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Versione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Istruzioni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Letture tabella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Salti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P1 statica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618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P1.5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1 028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14 985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P3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12 349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 dirty="0">
                          <a:solidFill>
                            <a:srgbClr val="222B3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766560" y="4160520"/>
            <a:ext cx="4937760" cy="205740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766560" y="4160520"/>
            <a:ext cx="82296" cy="205740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040880" y="42336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4526280"/>
            <a:ext cx="448056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La configurabilità si paga nelle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letture di tabella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(6 → 29) e nei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salti fra programmi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(1 → 3), non nell'aritmetica. Rendere configurabile la forma (P2) costa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~5×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P1; anche la profondità (P3)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~7×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. Fra P1 e P1.5 quasi niente.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COMPROMESSO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Cambiare modello non separa più le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8</a:t>
            </a:r>
            <a:endParaRPr sz="1100" b="0" i="0">
              <a:solidFill>
                <a:srgbClr val="6B7C93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>
                <a:solidFill>
                  <a:srgbClr val="6B7C93"/>
                </a:solidFill>
                <a:latin typeface="Calibri"/>
              </a:rPr>
              <a:t>Tempo per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installare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un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modello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nuovo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su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un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nodo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già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in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servizio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(scala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logaritmica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) 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600200"/>
          <a:ext cx="5669280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1645920"/>
            <a:ext cx="5303520" cy="17373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0" y="1645920"/>
            <a:ext cx="82296" cy="173736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0" y="1810512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E07A2D"/>
                </a:solidFill>
                <a:latin typeface="Calibri"/>
              </a:rPr>
              <a:t>Con l'oggetto precompilato (AOT)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221992"/>
            <a:ext cx="4892040" cy="11155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Sul nodo si carica un file pronto: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5–8 ms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, come P2 e P3. Anche compilando,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meno di 0,15 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. Compilando sul nodo con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BCC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servirebbero ~0,7 s, perché BCC rilegge gli header del kernel a ogni compilazione.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3566160"/>
            <a:ext cx="5303520" cy="17373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0" y="3566160"/>
            <a:ext cx="82296" cy="1737360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75120" y="3730752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2E9C6E"/>
                </a:solidFill>
                <a:latin typeface="Calibri"/>
              </a:rPr>
              <a:t>Il vantaggio che resta a P2 e P3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4142232"/>
            <a:ext cx="4892040" cy="11155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Un modello nuovo si installa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scrivendo una tabella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: nessun compilatore, da nessuna parte. P1 ne vuole uno per ogni modello nuovo, su qualche macchina.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557784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Il tempo per cambiare modello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non è più un criterio di scelta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: millisecondi per tutte. Si sceglie sul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costo per pacchetto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(~50 ns di rete con i pesi compilati, ~220–380 con quelli da tabella) e su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dove serve un compilatore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UN PARAMETRO ALLA VOLTA · TAGLIA DELLA RETE, LARGHEZZA DEL MODELLO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La rete può crescere quanto vuole. Il modello 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>
                <a:solidFill>
                  <a:srgbClr val="6B7C93"/>
                </a:solidFill>
                <a:latin typeface="Calibri"/>
              </a:rPr>
              <a:t>BPF_PROG_TEST_RUN,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minimo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su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7 prove  · P1 come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oggetto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AOT  · 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cifre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assolute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valide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per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questa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VM,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rapporti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fra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pipeline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stabili</a:t>
            </a:r>
            <a:endParaRPr sz="1100" b="0" i="1" dirty="0">
              <a:solidFill>
                <a:srgbClr val="6B7C93"/>
              </a:solidFill>
              <a:latin typeface="Calibri"/>
            </a:endParaRP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00600"/>
            <a:ext cx="5394960" cy="6991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1400" b="1" i="0" dirty="0">
                <a:solidFill>
                  <a:srgbClr val="222B36"/>
                </a:solidFill>
                <a:latin typeface="Calibri"/>
              </a:rPr>
              <a:t>L'identità del nodo attiva una colonna sola di pesi. </a:t>
            </a:r>
            <a:r>
              <a:rPr lang="it-IT" sz="1400" b="0" i="0" dirty="0">
                <a:solidFill>
                  <a:srgbClr val="222B36"/>
                </a:solidFill>
                <a:latin typeface="Calibri"/>
              </a:rPr>
              <a:t>P1 statica la conosce già alla compilazione e la somma al </a:t>
            </a:r>
            <a:r>
              <a:rPr lang="it-IT" sz="1400" b="0" i="0" dirty="0" err="1">
                <a:solidFill>
                  <a:srgbClr val="222B36"/>
                </a:solidFill>
                <a:latin typeface="Calibri"/>
              </a:rPr>
              <a:t>bias</a:t>
            </a:r>
            <a:r>
              <a:rPr lang="it-IT" sz="1400" b="0" i="0" dirty="0">
                <a:solidFill>
                  <a:srgbClr val="222B36"/>
                </a:solidFill>
                <a:latin typeface="Calibri"/>
              </a:rPr>
              <a:t>; le altre la leggono da tabella. In nessun caso il lavoro per pacchetto dipende dalla taglia della rete.</a:t>
            </a:r>
            <a:endParaRPr sz="1400" b="0" i="0" dirty="0">
              <a:solidFill>
                <a:srgbClr val="222B36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309360" y="480060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Da 2 a 8 neuroni sale su tutte e quattro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: P1 24 → 58 ns, P3 239 → 298 ns. Un neurone in più è lavoro vero, a ogni pacchetto.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57784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Una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rete più grande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(più nodi) non rallenta nessuna pipeline: basta una riga in più in tabella. Un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modello più largo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rallenta tutte, a ogni pacchetto. Si può far crescere la rete; il modello va tenuto piccolo.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UN PARAMETRO ALLA VOLTA · PROFONDITÀ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Uno strato in più: P2 lo paga in spazio, P3 in tempo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Quattro neuroni per strato, da 1 a 6 strati  ·  il resto del modello fermo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5388094"/>
              </p:ext>
            </p:extLst>
          </p:nvPr>
        </p:nvGraphicFramePr>
        <p:xfrm>
          <a:off x="457200" y="1463040"/>
          <a:ext cx="566928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00600"/>
            <a:ext cx="5394960" cy="4621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Dimensione.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P2 ricompila e srotola: </a:t>
            </a:r>
            <a:r>
              <a:rPr lang="it-IT" sz="1400" b="0" i="0">
                <a:solidFill>
                  <a:srgbClr val="222B36"/>
                </a:solidFill>
                <a:latin typeface="Calibri"/>
              </a:rPr>
              <a:t>14 676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→ </a:t>
            </a:r>
            <a:r>
              <a:rPr lang="it-IT" sz="1400" b="0" i="0">
                <a:solidFill>
                  <a:srgbClr val="222B36"/>
                </a:solidFill>
                <a:latin typeface="Calibri"/>
              </a:rPr>
              <a:t>18 613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istruzioni. P3 non si muove: </a:t>
            </a:r>
            <a:r>
              <a:rPr lang="it-IT" sz="1400" b="0" i="0">
                <a:solidFill>
                  <a:srgbClr val="222B36"/>
                </a:solidFill>
                <a:latin typeface="Calibri"/>
              </a:rPr>
              <a:t>12 374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a ogni profondità.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80060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Tempo.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P3 paga: 204 → 413 ns da 1 a 6 strati, perché ogni strato è un salto fra programmi (da 2 a 7).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728991"/>
            <a:ext cx="9677095" cy="4749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Un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modello profondo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si paga sempre: con P2 in un programma più grande da ricompilare (</a:t>
            </a:r>
            <a:r>
              <a:rPr lang="it-IT" sz="1500" b="0" i="0">
                <a:solidFill>
                  <a:srgbClr val="222B36"/>
                </a:solidFill>
                <a:latin typeface="Calibri"/>
              </a:rPr>
              <a:t>~790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istruzioni per strato), con P3 in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~42 ns per pacchetto a ogni strato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. P3 è la più flessibile, ed è quella che la profondità rallenta di più.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UN PARAMETRO ALLA VOLTA · A PARITÀ DI PESI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«Meglio larga o profonda?» dipende da chi la esegue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Cinque forme con circa 592 pesi: uno strato largo, oppure cinque stretti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676656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498079" y="1600200"/>
            <a:ext cx="4206240" cy="17830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498079" y="1600200"/>
            <a:ext cx="82296" cy="1783080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399" y="1764792"/>
            <a:ext cx="3794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2E9C6E"/>
                </a:solidFill>
                <a:latin typeface="Calibri"/>
              </a:rPr>
              <a:t>Generiche: la profondità si paga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399" y="2176272"/>
            <a:ext cx="3794760" cy="1161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Da 1 a 5 strati, a pesi fermi: P2 138 → 235 ns, P3 232 → 406 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3566160"/>
            <a:ext cx="4206240" cy="17830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498079" y="3566160"/>
            <a:ext cx="82296" cy="178308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399" y="3730752"/>
            <a:ext cx="3794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E07A2D"/>
                </a:solidFill>
                <a:latin typeface="Calibri"/>
              </a:rPr>
              <a:t>Specializzate: indifferenti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399" y="4142232"/>
            <a:ext cx="3794760" cy="1161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41–62 ns senza un andamento: srotolano tutto in una funzione sola.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53212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56052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553212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Con le versioni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specializzate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la forma della rete si sceglie solo per l'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accuratezza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. Con le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generiche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, a parità di pesi, conviene una rete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larga e poco profonda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: da 1 a 5 strati la latenza sale del 70–75 %.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CONTARE IL LAVORO GIUSTO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Il costo per moltiplicazione è una costante della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 err="1">
                <a:solidFill>
                  <a:srgbClr val="6B7C93"/>
                </a:solidFill>
                <a:latin typeface="Calibri"/>
              </a:rPr>
              <a:t>Contando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le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moltiplicazioni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dalla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forma del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modello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, per P3 la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retta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spiega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l'11 %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dei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punti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;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contando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quelle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eseguite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, il 92 % </a:t>
            </a:r>
          </a:p>
        </p:txBody>
      </p:sp>
      <p:pic>
        <p:nvPicPr>
          <p:cNvPr id="7" name="Picture 6" descr="campaign_macs_eff_laten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217920" cy="388620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223760" y="1645920"/>
          <a:ext cx="4480560" cy="2377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162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43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Versione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ns per moltiplicazione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P1 statica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>
                          <a:solidFill>
                            <a:srgbClr val="222B36"/>
                          </a:solidFill>
                          <a:latin typeface="Calibri"/>
                        </a:rPr>
                        <a:t>0,17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P1.5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>
                          <a:solidFill>
                            <a:srgbClr val="222B36"/>
                          </a:solidFill>
                          <a:latin typeface="Calibri"/>
                        </a:rPr>
                        <a:t>0,23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>
                          <a:solidFill>
                            <a:srgbClr val="222B36"/>
                          </a:solidFill>
                          <a:latin typeface="Calibri"/>
                        </a:rPr>
                        <a:t>0,45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P3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>
                          <a:solidFill>
                            <a:srgbClr val="222B36"/>
                          </a:solidFill>
                          <a:latin typeface="Calibri"/>
                        </a:rPr>
                        <a:t>0,91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223760" y="4160520"/>
            <a:ext cx="44805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 dirty="0" err="1">
                <a:solidFill>
                  <a:srgbClr val="222B36"/>
                </a:solidFill>
                <a:latin typeface="Calibri"/>
              </a:rPr>
              <a:t>Contando</a:t>
            </a:r>
            <a:r>
              <a:rPr sz="1400" b="0" i="0" dirty="0">
                <a:solidFill>
                  <a:srgbClr val="222B36"/>
                </a:solidFill>
                <a:latin typeface="Calibri"/>
              </a:rPr>
              <a:t> le </a:t>
            </a:r>
            <a:r>
              <a:rPr sz="1400" b="0" i="0" dirty="0" err="1">
                <a:solidFill>
                  <a:srgbClr val="222B36"/>
                </a:solidFill>
                <a:latin typeface="Calibri"/>
              </a:rPr>
              <a:t>moltiplicazioni</a:t>
            </a:r>
            <a:r>
              <a:rPr sz="1400" b="0" i="0" dirty="0">
                <a:solidFill>
                  <a:srgbClr val="222B36"/>
                </a:solidFill>
                <a:latin typeface="Calibri"/>
              </a:rPr>
              <a:t> </a:t>
            </a:r>
            <a:r>
              <a:rPr sz="1400" b="1" i="0" dirty="0" err="1">
                <a:solidFill>
                  <a:srgbClr val="222B36"/>
                </a:solidFill>
                <a:latin typeface="Calibri"/>
              </a:rPr>
              <a:t>davvero</a:t>
            </a:r>
            <a:r>
              <a:rPr sz="1400" b="1" i="0" dirty="0">
                <a:solidFill>
                  <a:srgbClr val="222B36"/>
                </a:solidFill>
                <a:latin typeface="Calibri"/>
              </a:rPr>
              <a:t> </a:t>
            </a:r>
            <a:r>
              <a:rPr sz="1400" b="1" i="0" dirty="0" err="1">
                <a:solidFill>
                  <a:srgbClr val="222B36"/>
                </a:solidFill>
                <a:latin typeface="Calibri"/>
              </a:rPr>
              <a:t>eseguite</a:t>
            </a:r>
            <a:r>
              <a:rPr sz="1400" b="0" i="0" dirty="0">
                <a:solidFill>
                  <a:srgbClr val="222B36"/>
                </a:solidFill>
                <a:latin typeface="Calibri"/>
              </a:rPr>
              <a:t>, quattro </a:t>
            </a:r>
            <a:r>
              <a:rPr sz="1400" b="0" i="0" dirty="0" err="1">
                <a:solidFill>
                  <a:srgbClr val="222B36"/>
                </a:solidFill>
                <a:latin typeface="Calibri"/>
              </a:rPr>
              <a:t>esperimenti</a:t>
            </a:r>
            <a:r>
              <a:rPr sz="1400" b="0" i="0" dirty="0">
                <a:solidFill>
                  <a:srgbClr val="222B3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22B36"/>
                </a:solidFill>
                <a:latin typeface="Calibri"/>
              </a:rPr>
              <a:t>diversi</a:t>
            </a:r>
            <a:r>
              <a:rPr sz="1400" b="0" i="0" dirty="0">
                <a:solidFill>
                  <a:srgbClr val="222B3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22B36"/>
                </a:solidFill>
                <a:latin typeface="Calibri"/>
              </a:rPr>
              <a:t>cadono</a:t>
            </a:r>
            <a:r>
              <a:rPr sz="1400" b="0" i="0" dirty="0">
                <a:solidFill>
                  <a:srgbClr val="222B3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22B36"/>
                </a:solidFill>
                <a:latin typeface="Calibri"/>
              </a:rPr>
              <a:t>sulla</a:t>
            </a:r>
            <a:r>
              <a:rPr sz="1400" b="0" i="0" dirty="0">
                <a:solidFill>
                  <a:srgbClr val="222B3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22B36"/>
                </a:solidFill>
                <a:latin typeface="Calibri"/>
              </a:rPr>
              <a:t>stessa</a:t>
            </a:r>
            <a:r>
              <a:rPr sz="1400" b="0" i="0" dirty="0">
                <a:solidFill>
                  <a:srgbClr val="222B3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22B36"/>
                </a:solidFill>
                <a:latin typeface="Calibri"/>
              </a:rPr>
              <a:t>retta</a:t>
            </a:r>
            <a:r>
              <a:rPr sz="1400" b="0" i="0" dirty="0">
                <a:solidFill>
                  <a:srgbClr val="222B36"/>
                </a:solidFill>
                <a:latin typeface="Calibri"/>
              </a:rPr>
              <a:t>. Un </a:t>
            </a:r>
            <a:r>
              <a:rPr sz="1400" b="0" i="0" dirty="0" err="1">
                <a:solidFill>
                  <a:srgbClr val="222B36"/>
                </a:solidFill>
                <a:latin typeface="Calibri"/>
              </a:rPr>
              <a:t>ingresso</a:t>
            </a:r>
            <a:r>
              <a:rPr sz="1400" b="0" i="0" dirty="0">
                <a:solidFill>
                  <a:srgbClr val="222B36"/>
                </a:solidFill>
                <a:latin typeface="Calibri"/>
              </a:rPr>
              <a:t> «a </a:t>
            </a:r>
            <a:r>
              <a:rPr sz="1400" b="0" i="0" dirty="0" err="1">
                <a:solidFill>
                  <a:srgbClr val="222B36"/>
                </a:solidFill>
                <a:latin typeface="Calibri"/>
              </a:rPr>
              <a:t>una</a:t>
            </a:r>
            <a:r>
              <a:rPr sz="1400" b="0" i="0" dirty="0">
                <a:solidFill>
                  <a:srgbClr val="222B3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22B36"/>
                </a:solidFill>
                <a:latin typeface="Calibri"/>
              </a:rPr>
              <a:t>casella</a:t>
            </a:r>
            <a:r>
              <a:rPr sz="1400" b="0" i="0" dirty="0">
                <a:solidFill>
                  <a:srgbClr val="222B3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22B36"/>
                </a:solidFill>
                <a:latin typeface="Calibri"/>
              </a:rPr>
              <a:t>accesa</a:t>
            </a:r>
            <a:r>
              <a:rPr sz="1400" b="0" i="0" dirty="0">
                <a:solidFill>
                  <a:srgbClr val="222B36"/>
                </a:solidFill>
                <a:latin typeface="Calibri"/>
              </a:rPr>
              <a:t>» ne </a:t>
            </a:r>
            <a:r>
              <a:rPr sz="1400" b="0" i="0" dirty="0" err="1">
                <a:solidFill>
                  <a:srgbClr val="222B36"/>
                </a:solidFill>
                <a:latin typeface="Calibri"/>
              </a:rPr>
              <a:t>attiva</a:t>
            </a:r>
            <a:r>
              <a:rPr sz="1400" b="0" i="0" dirty="0">
                <a:solidFill>
                  <a:srgbClr val="222B36"/>
                </a:solidFill>
                <a:latin typeface="Calibri"/>
              </a:rPr>
              <a:t> </a:t>
            </a:r>
            <a:r>
              <a:rPr sz="1400" b="1" i="0" dirty="0" err="1">
                <a:solidFill>
                  <a:srgbClr val="222B36"/>
                </a:solidFill>
                <a:latin typeface="Calibri"/>
              </a:rPr>
              <a:t>una</a:t>
            </a:r>
            <a:r>
              <a:rPr sz="1400" b="0" i="0" dirty="0">
                <a:solidFill>
                  <a:srgbClr val="222B3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22B36"/>
                </a:solidFill>
                <a:latin typeface="Calibri"/>
              </a:rPr>
              <a:t>colonna</a:t>
            </a:r>
            <a:r>
              <a:rPr sz="1400" b="0" i="0" dirty="0">
                <a:solidFill>
                  <a:srgbClr val="222B36"/>
                </a:solidFill>
                <a:latin typeface="Calibri"/>
              </a:rPr>
              <a:t> sola.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53212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56052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553212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Il costo di un modello si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stima prima di misurarlo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: moltiplicazioni eseguite ×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~0,2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(pesi compilati) o ×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~0,9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(pesi da tabella), più il costo fisso della pipeline. Una feature one-hot conta una colonna, qualunque sia la sua larghezza.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QUANDO LA SPECIALIZZAZIONE PAGA DAVVERO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Pesi a zero: una versione dimagrisce, le altre non se ne accorgono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È l'unico esperimento in cui scendono insieme dimensione e tempo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676656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498079" y="1600200"/>
            <a:ext cx="4206240" cy="17830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498079" y="1600200"/>
            <a:ext cx="82296" cy="178308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399" y="1764792"/>
            <a:ext cx="3794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E07A2D"/>
                </a:solidFill>
                <a:latin typeface="Calibri"/>
              </a:rPr>
              <a:t>P1.5, da 0 a 90 % di zeri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399" y="2176272"/>
            <a:ext cx="3794760" cy="1161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1 028 → 223 istruzioni, 45 → 23 ns. Il compilatore vede lo zero e cancella la moltiplicazione.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3566160"/>
            <a:ext cx="4206240" cy="17830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498079" y="3566160"/>
            <a:ext cx="82296" cy="1783080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399" y="3730752"/>
            <a:ext cx="3794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2E9C6E"/>
                </a:solidFill>
                <a:latin typeface="Calibri"/>
              </a:rPr>
              <a:t>P2 e P3, stessi pesi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399" y="4142232"/>
            <a:ext cx="3794760" cy="1161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Dimensione e latenza invariate: zero, letto da una tabella, è un numero come un altro.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53212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56052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553212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222B36"/>
                </a:solidFill>
                <a:latin typeface="Calibri"/>
              </a:rPr>
              <a:t>Potare il modello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(pesi a zero) rende più veloce solo le versioni specializzate: al 90 % di zeri P1.5 dimezza la latenza e scende a un quinto delle istruzioni. Con P2 e P3 la potatura non dà niente: va giustificata solo dall'accuratezza.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VALIDAZIONE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Un modello solo non basta a provare che il codice è generico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Pesi casuali, nessun rapporto con il modello di riferimento  ·  300 ingressi per modello, sempre gli stessi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5669279" cy="41148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811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766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Modello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Forma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Pesi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ones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11-2-3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small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15-4-4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mixed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18-6-5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149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ipa_like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65-4-4-7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319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ipa_ttl16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65-4-4-7  (TTL/16)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319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sparse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65-4-4-7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319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deep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65-4-4-4-7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339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large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117-8-8-9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1 097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0" y="1600200"/>
            <a:ext cx="5029200" cy="10613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6600" b="1" i="0">
                <a:solidFill>
                  <a:srgbClr val="2E9C6E"/>
                </a:solidFill>
                <a:latin typeface="Calibri"/>
              </a:rPr>
              <a:t>100 %</a:t>
            </a:r>
            <a:endParaRPr sz="6600" b="1" i="0">
              <a:solidFill>
                <a:srgbClr val="2E9C6E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675120" y="2606040"/>
            <a:ext cx="5029200" cy="848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1700" b="0" i="0">
                <a:solidFill>
                  <a:srgbClr val="222B36"/>
                </a:solidFill>
                <a:latin typeface="Calibri"/>
              </a:rPr>
              <a:t>delle decisioni identiche fra il riferimento in Python e il programma nel kernel, su tutti e otto i modelli (2 400 su 2 400).</a:t>
            </a:r>
            <a:endParaRPr sz="1700" b="0" i="0">
              <a:solidFill>
                <a:srgbClr val="222B36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675120" y="3840480"/>
            <a:ext cx="5029200" cy="21945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675120" y="3840480"/>
            <a:ext cx="82296" cy="2194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949440" y="4005072"/>
            <a:ext cx="4617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1F3A5F"/>
                </a:solidFill>
                <a:latin typeface="Calibri"/>
              </a:rPr>
              <a:t>E un controllo in più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4416552"/>
            <a:ext cx="4617720" cy="15727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Il riferimento Python e il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codice C generato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per P1 vengono confrontati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direttamente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, numero per numero: due implementazioni coerenti con sé stesse ma diverse fra loro non passerebbero più.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CHE COSA HANNO TROVATO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Due bug che il modello di riferimento non faceva vedere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Entrambi corretti: la scala viaggia nella scheda del modello, la traduzione classe → azione è dichiarata e validata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5440680" cy="35661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600200"/>
            <a:ext cx="82296" cy="3566160"/>
          </a:xfrm>
          <a:prstGeom prst="rect">
            <a:avLst/>
          </a:prstGeom>
          <a:solidFill>
            <a:srgbClr val="C04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1764792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C0443C"/>
                </a:solidFill>
                <a:latin typeface="Calibri"/>
              </a:rPr>
              <a:t>1 · La scala del TTL era nel codice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176272"/>
            <a:ext cx="5029200" cy="2944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Il TTL entra nella rete diviso per una costante, scelta durante l'addestramento. Tutte e tre le pipeline la fissavano a 30 nel programma.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Modello addestrato su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TTL/16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, eseguito nel kernel con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TTL/30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1">
                <a:solidFill>
                  <a:srgbClr val="222B36"/>
                </a:solidFill>
                <a:latin typeface="Calibri"/>
              </a:rPr>
              <a:t>Il modello di riferimento usa proprio 30: su di lui il bug è invisibile.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600200"/>
            <a:ext cx="5440680" cy="35661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63640" y="1600200"/>
            <a:ext cx="82296" cy="3566160"/>
          </a:xfrm>
          <a:prstGeom prst="rect">
            <a:avLst/>
          </a:prstGeom>
          <a:solidFill>
            <a:srgbClr val="C04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60" y="1764792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C0443C"/>
                </a:solidFill>
                <a:latin typeface="Calibri"/>
              </a:rPr>
              <a:t>2 · La classe non è la porta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176272"/>
            <a:ext cx="5029200" cy="2944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La rete produce un numero. Che cosa significhi lo dichiara la configurazione, non la rete.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Il codice dava per scontato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classe 0 → porta 0, classe 1 → porta 1…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e «scarta» = ultima classe.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1">
                <a:solidFill>
                  <a:srgbClr val="222B36"/>
                </a:solidFill>
                <a:latin typeface="Calibri"/>
              </a:rPr>
              <a:t>Nel modello ricevuto le classi sono sette e quella che scarta è la sesta.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44068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5440680"/>
            <a:ext cx="1054577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Due assunzioni vere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per coincidenza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 su un modello solo. Sono i modelli sintetici ad averle fatte cadere.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COME SONO STATI CORRETTI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Tutto ciò che dipende dal modello sta nella scheda del modello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La scheda del modello è ipa/model_meta.json: il codice non assume più niente su scala e classi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08760"/>
            <a:ext cx="5440680" cy="3977639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508760"/>
            <a:ext cx="5440680" cy="82296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1691640"/>
            <a:ext cx="4937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 i="0">
                <a:solidFill>
                  <a:srgbClr val="E07A2D"/>
                </a:solidFill>
                <a:latin typeface="Calibri"/>
              </a:rPr>
              <a:t>1 · La scala del TTL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14884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6B7C93"/>
                </a:solidFill>
                <a:latin typeface="Calibri"/>
              </a:rPr>
              <a:t>LA SOLUZIONE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423160"/>
            <a:ext cx="493776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La scala di ogni feature è un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dato del modello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</a:t>
            </a:r>
            <a:r>
              <a:rPr sz="1400" b="0" i="0">
                <a:solidFill>
                  <a:srgbClr val="222B36"/>
                </a:solidFill>
                <a:latin typeface="Consolas"/>
              </a:rPr>
              <a:t>feature_scales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nella scheda), non una costante del codice.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P1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la compila dal descrittore;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P2 e P3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la leggono a runtime dal descrittore, in un byte che era già libero: nessun cambio di formato.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16052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6B7C93"/>
                </a:solidFill>
                <a:latin typeface="Calibri"/>
              </a:rPr>
              <a:t>LA PROVA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434840"/>
            <a:ext cx="49377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Modello sintetico addestrato su TTL/16: con la scala giusta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300 decisioni su 300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identiche al riferimento; alterandola nella tabella del nodo le decisioni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cambiano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(controllo negativo).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508760"/>
            <a:ext cx="5440680" cy="3977639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17920" y="1508760"/>
            <a:ext cx="5440680" cy="82296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1691640"/>
            <a:ext cx="4937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 i="0">
                <a:solidFill>
                  <a:srgbClr val="2E9C6E"/>
                </a:solidFill>
                <a:latin typeface="Calibri"/>
              </a:rPr>
              <a:t>2 · La classe non è la porta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14884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6B7C93"/>
                </a:solidFill>
                <a:latin typeface="Calibri"/>
              </a:rPr>
              <a:t>LA SOLUZIONE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423160"/>
            <a:ext cx="4937760" cy="14870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Il modello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dichiara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cosa significa ogni classe, e il nodo dichiara quale interfaccia realizza ogni porta: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classe → azione → porta logica → interfaccia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(slide successiva).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P1 compila la catena, P2 e P3 la leggono dalla tabella </a:t>
            </a:r>
            <a:r>
              <a:rPr sz="1400" b="0" i="0">
                <a:solidFill>
                  <a:srgbClr val="222B36"/>
                </a:solidFill>
                <a:latin typeface="Consolas"/>
              </a:rPr>
              <a:t>class_action</a:t>
            </a:r>
            <a:r>
              <a:rPr lang="it-IT" sz="1400" b="0" i="0">
                <a:solidFill>
                  <a:srgbClr val="222B36"/>
                </a:solidFill>
                <a:latin typeface="Calibri"/>
              </a:rPr>
              <a:t> per (modello, classe): modelli con semantiche diverse </a:t>
            </a:r>
            <a:r>
              <a:rPr lang="it-IT" sz="1400" b="1" i="0">
                <a:solidFill>
                  <a:srgbClr val="222B36"/>
                </a:solidFill>
                <a:latin typeface="Calibri"/>
              </a:rPr>
              <a:t>convivono</a:t>
            </a:r>
            <a:r>
              <a:rPr lang="it-IT" sz="1400" b="0" i="0">
                <a:solidFill>
                  <a:srgbClr val="222B36"/>
                </a:solidFill>
                <a:latin typeface="Calibri"/>
              </a:rPr>
              <a:t> nello stesso programma.</a:t>
            </a:r>
            <a:endParaRPr sz="1400" b="0" i="0">
              <a:solidFill>
                <a:srgbClr val="222B36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492240" y="416052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6B7C93"/>
                </a:solidFill>
                <a:latin typeface="Calibri"/>
              </a:rPr>
              <a:t>LA PROVA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434840"/>
            <a:ext cx="49377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onsolas"/>
              </a:rPr>
              <a:t>test_class_semantics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: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69 controlli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su cinque schemi di classi diversi da quello del modello di riferimento, più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72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eseguiti nel kernel.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62356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48640" y="5623560"/>
            <a:ext cx="82296" cy="73152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60" y="56967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5623560"/>
            <a:ext cx="967709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Scala delle feature e significato delle classi ora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viaggiano con il modello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: cambiare modello non richiede di toccare il codice, e un modello incoerente viene rifiutato al caricamento invece di dare decisioni sbagliate.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LA CLASSE NON È LA PORTA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Classe → azione → porta logica → interfaccia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Esempio con la configurazione reale del modello: 7 classi, 0–4 inoltrano sulle porte logiche 0–4, 5 scarta, 6 non usata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2514600" cy="14173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2514600" cy="7315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600200"/>
            <a:ext cx="2514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F3A5F"/>
                </a:solidFill>
                <a:latin typeface="Calibri"/>
              </a:rPr>
              <a:t>Classe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222B36"/>
                </a:solidFill>
                <a:latin typeface="Calibri"/>
              </a:rPr>
              <a:t>l'uscita della rete: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222B36"/>
                </a:solidFill>
                <a:latin typeface="Calibri"/>
              </a:rPr>
              <a:t>un numero da 0 a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926080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decide: la rete neurale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108960" y="2011680"/>
            <a:ext cx="246888" cy="274320"/>
          </a:xfrm>
          <a:prstGeom prst="rightArrow">
            <a:avLst/>
          </a:prstGeom>
          <a:solidFill>
            <a:srgbClr val="6B7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401568" y="1463040"/>
            <a:ext cx="2514600" cy="14173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401568" y="1463040"/>
            <a:ext cx="2514600" cy="73152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01568" y="1600200"/>
            <a:ext cx="2514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E07A2D"/>
                </a:solidFill>
                <a:latin typeface="Calibri"/>
              </a:rPr>
              <a:t>Azione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3008" y="2011680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222B36"/>
                </a:solidFill>
                <a:latin typeface="Calibri"/>
              </a:rPr>
              <a:t>inoltra, scarta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222B36"/>
                </a:solidFill>
                <a:latin typeface="Calibri"/>
              </a:rPr>
              <a:t>o non usata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01568" y="2926080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decide: la scheda del modello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961888" y="2011680"/>
            <a:ext cx="246888" cy="274320"/>
          </a:xfrm>
          <a:prstGeom prst="rightArrow">
            <a:avLst/>
          </a:prstGeom>
          <a:solidFill>
            <a:srgbClr val="6B7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254496" y="1463040"/>
            <a:ext cx="2514600" cy="14173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54496" y="1463040"/>
            <a:ext cx="2514600" cy="73152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54496" y="1600200"/>
            <a:ext cx="2514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E07A2D"/>
                </a:solidFill>
                <a:latin typeface="Calibri"/>
              </a:rPr>
              <a:t>Porta logica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011680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222B36"/>
                </a:solidFill>
                <a:latin typeface="Calibri"/>
              </a:rPr>
              <a:t>l'uscita come la intende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222B36"/>
                </a:solidFill>
                <a:latin typeface="Calibri"/>
              </a:rPr>
              <a:t>il modello, uguale su ogni nodo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4496" y="2926080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decide: la scheda del modello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814816" y="2011680"/>
            <a:ext cx="246888" cy="274320"/>
          </a:xfrm>
          <a:prstGeom prst="rightArrow">
            <a:avLst/>
          </a:prstGeom>
          <a:solidFill>
            <a:srgbClr val="6B7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9107424" y="1463040"/>
            <a:ext cx="2514600" cy="14173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107424" y="1463040"/>
            <a:ext cx="2514600" cy="73152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07424" y="1600200"/>
            <a:ext cx="2514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2E9C6E"/>
                </a:solidFill>
                <a:latin typeface="Calibri"/>
              </a:rPr>
              <a:t>Interfaccia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98864" y="2011680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222B36"/>
                </a:solidFill>
                <a:latin typeface="Calibri"/>
              </a:rPr>
              <a:t>nome, ifindex e MAC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222B36"/>
                </a:solidFill>
                <a:latin typeface="Calibri"/>
              </a:rPr>
              <a:t>del vicino su QUESTO nodo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7424" y="2926080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decide: la configurazione del nodo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3101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6B7C93"/>
                </a:solidFill>
                <a:latin typeface="Calibri"/>
              </a:rPr>
              <a:t>TRE ESEMPI, SU UN NODO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548640" y="3611880"/>
          <a:ext cx="11064240" cy="160934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La rete decide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Azione (modello)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Porta logica (modello)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Interfaccia (nodo)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Il programma XDP fa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22B36"/>
                          </a:solidFill>
                          <a:latin typeface="Calibri"/>
                        </a:rPr>
                        <a:t>classe 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inoltra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porta 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per es. eth3, ifindex 209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riscrive i MAC, bpf_redirect(209)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22B36"/>
                          </a:solidFill>
                          <a:latin typeface="Calibri"/>
                        </a:rPr>
                        <a:t>classe 5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scarta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XDP_DROP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22B36"/>
                          </a:solidFill>
                          <a:latin typeface="Calibri"/>
                        </a:rPr>
                        <a:t>classe 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non usata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XDP_PASS: decide lo stack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548640" y="5440680"/>
            <a:ext cx="11094415" cy="82296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48640" y="5440680"/>
            <a:ext cx="82296" cy="82296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22960" y="551383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83080" y="5440680"/>
            <a:ext cx="9677095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Il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modello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dice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cosa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fare, il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nodo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dice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dove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. Lo stesso modello funziona su nodi con interfacce diverse (su un altro nodo la porta 2 può essere eth1, ifindex 17), e nessuna delle due parti deve indovinare l'altra: niente più «classe k = interfaccia k».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TEST REALE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Il banco: misurare il costo del nodo su traffico vero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Una macchina virtuale, quattro processori: generatore, nodo e nodo successivo ciascuno sul proprio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1920240" cy="13258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764792"/>
            <a:ext cx="1920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Generatore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1920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6B7C93"/>
                </a:solidFill>
                <a:latin typeface="Calibri"/>
              </a:rPr>
              <a:t>crea i pacchetti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6B7C93"/>
                </a:solidFill>
                <a:latin typeface="Calibri"/>
              </a:rPr>
              <a:t>CPU 1 e 2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23744" y="2148840"/>
            <a:ext cx="274320" cy="274320"/>
          </a:xfrm>
          <a:prstGeom prst="rightArrow">
            <a:avLst/>
          </a:prstGeom>
          <a:solidFill>
            <a:srgbClr val="6B7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852928" y="1600200"/>
            <a:ext cx="1920240" cy="13258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852928" y="1764792"/>
            <a:ext cx="1920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Coda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28" y="2212848"/>
            <a:ext cx="1920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6B7C93"/>
                </a:solidFill>
                <a:latin typeface="Calibri"/>
              </a:rPr>
              <a:t>256 posti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6B7C93"/>
                </a:solidFill>
                <a:latin typeface="Calibri"/>
              </a:rPr>
              <a:t>(cavo virtuale)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828032" y="2148840"/>
            <a:ext cx="274320" cy="274320"/>
          </a:xfrm>
          <a:prstGeom prst="rightArrow">
            <a:avLst/>
          </a:prstGeom>
          <a:solidFill>
            <a:srgbClr val="6B7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157216" y="1600200"/>
            <a:ext cx="1920240" cy="1325880"/>
          </a:xfrm>
          <a:prstGeom prst="roundRect">
            <a:avLst>
              <a:gd name="adj" fmla="val 6000"/>
            </a:avLst>
          </a:prstGeom>
          <a:solidFill>
            <a:srgbClr val="FDEBDB"/>
          </a:solidFill>
          <a:ln w="15875">
            <a:solidFill>
              <a:srgbClr val="E07A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157216" y="1764792"/>
            <a:ext cx="1920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E07A2D"/>
                </a:solidFill>
                <a:latin typeface="Calibri"/>
              </a:rPr>
              <a:t>NODO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57216" y="2212848"/>
            <a:ext cx="1920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6B7C93"/>
                </a:solidFill>
                <a:latin typeface="Calibri"/>
              </a:rPr>
              <a:t>la pipeline in XDP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6B7C93"/>
                </a:solidFill>
                <a:latin typeface="Calibri"/>
              </a:rPr>
              <a:t>CPU 3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132320" y="2148840"/>
            <a:ext cx="274320" cy="274320"/>
          </a:xfrm>
          <a:prstGeom prst="rightArrow">
            <a:avLst/>
          </a:prstGeom>
          <a:solidFill>
            <a:srgbClr val="6B7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461504" y="1600200"/>
            <a:ext cx="1920240" cy="13258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61504" y="1764792"/>
            <a:ext cx="1920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Coda d'uscita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61504" y="2212848"/>
            <a:ext cx="1920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6B7C93"/>
                </a:solidFill>
                <a:latin typeface="Calibri"/>
              </a:rPr>
              <a:t>verso il nodo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6B7C93"/>
                </a:solidFill>
                <a:latin typeface="Calibri"/>
              </a:rPr>
              <a:t>successivo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436608" y="2148840"/>
            <a:ext cx="274320" cy="274320"/>
          </a:xfrm>
          <a:prstGeom prst="rightArrow">
            <a:avLst/>
          </a:prstGeom>
          <a:solidFill>
            <a:srgbClr val="6B7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65792" y="1600200"/>
            <a:ext cx="1920240" cy="13258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65792" y="1764792"/>
            <a:ext cx="1920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Nodo successivo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65792" y="2212848"/>
            <a:ext cx="1920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6B7C93"/>
                </a:solidFill>
                <a:latin typeface="Calibri"/>
              </a:rPr>
              <a:t>conta e scarta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6B7C93"/>
                </a:solidFill>
                <a:latin typeface="Calibri"/>
              </a:rPr>
              <a:t>CPU 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2928" y="2990088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 i="0">
                <a:solidFill>
                  <a:srgbClr val="C0443C"/>
                </a:solidFill>
                <a:latin typeface="Calibri"/>
              </a:rPr>
              <a:t>se è piena: </a:t>
            </a:r>
            <a:r>
              <a:rPr sz="1200" b="1" i="0">
                <a:solidFill>
                  <a:srgbClr val="C0443C"/>
                </a:solidFill>
                <a:latin typeface="Calibri"/>
              </a:rPr>
              <a:t>respinto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520440"/>
            <a:ext cx="3520440" cy="16002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Oval 27"/>
          <p:cNvSpPr/>
          <p:nvPr/>
        </p:nvSpPr>
        <p:spPr>
          <a:xfrm>
            <a:off x="731520" y="3675887"/>
            <a:ext cx="475488" cy="475488"/>
          </a:xfrm>
          <a:prstGeom prst="ellipse">
            <a:avLst/>
          </a:prstGeom>
          <a:solidFill>
            <a:srgbClr val="E07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3721608"/>
            <a:ext cx="2651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1F3A5F"/>
                </a:solidFill>
                <a:latin typeface="Calibri"/>
              </a:rPr>
              <a:t>Coda sempre piena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297680"/>
            <a:ext cx="31089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Il generatore offre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più pacchetti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di quanti il nodo riesca a elaborare.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79" y="3520440"/>
            <a:ext cx="3520440" cy="16002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Oval 31"/>
          <p:cNvSpPr/>
          <p:nvPr/>
        </p:nvSpPr>
        <p:spPr>
          <a:xfrm>
            <a:off x="4480559" y="3675887"/>
            <a:ext cx="475488" cy="475488"/>
          </a:xfrm>
          <a:prstGeom prst="ellipse">
            <a:avLst/>
          </a:prstGeom>
          <a:solidFill>
            <a:srgbClr val="E07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74919" y="3721608"/>
            <a:ext cx="2651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1F3A5F"/>
                </a:solidFill>
                <a:latin typeface="Calibri"/>
              </a:rPr>
              <a:t>Nodo sempre occupato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26279" y="4297680"/>
            <a:ext cx="31089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La CPU 3 non resta mai senza lavoro: il suo ritmo di elaborazione è la sua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capacità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46718" y="3520440"/>
            <a:ext cx="3520440" cy="16002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Oval 35"/>
          <p:cNvSpPr/>
          <p:nvPr/>
        </p:nvSpPr>
        <p:spPr>
          <a:xfrm>
            <a:off x="8229598" y="3675887"/>
            <a:ext cx="475488" cy="475488"/>
          </a:xfrm>
          <a:prstGeom prst="ellipse">
            <a:avLst/>
          </a:prstGeom>
          <a:solidFill>
            <a:srgbClr val="E07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58" y="3721608"/>
            <a:ext cx="2651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1F3A5F"/>
                </a:solidFill>
                <a:latin typeface="Calibri"/>
              </a:rPr>
              <a:t>Costo = 1 / capacità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18" y="4297680"/>
            <a:ext cx="31089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Se elabora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6 milioni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di pacchetti al secondo, spende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1/6 000 000 s ≈ 167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per ciascuno.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534924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548640" y="5349240"/>
            <a:ext cx="82296" cy="73152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22960" y="54223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83080" y="5349240"/>
            <a:ext cx="967709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Si misura per 300 ms quanti pacchetti il programma del nodo ha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elaborato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(inoltrati, scartati o passati allo stack):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costo per pacchetto = tempo / pacchetti elaborati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TEST REALE · LA FINESTRA DI MISURA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Si misura solo mentre il sistema è a regime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19</a:t>
            </a:r>
            <a:endParaRPr sz="1100" b="0" i="0">
              <a:solidFill>
                <a:srgbClr val="6B7C93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Rate = differenze dei contatori (generatore e nodo) divise per l'intervallo fra le due letture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48840"/>
            <a:ext cx="1783080" cy="685800"/>
          </a:xfrm>
          <a:prstGeom prst="rect">
            <a:avLst/>
          </a:prstGeom>
          <a:solidFill>
            <a:srgbClr val="D5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78308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222B36"/>
                </a:solidFill>
                <a:latin typeface="Calibri"/>
              </a:rPr>
              <a:t>avvio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1783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B7C93"/>
                </a:solidFill>
                <a:latin typeface="Calibri"/>
              </a:rPr>
              <a:t>i thread del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B7C93"/>
                </a:solidFill>
                <a:latin typeface="Calibri"/>
              </a:rPr>
              <a:t>generatore partono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0" y="2148840"/>
            <a:ext cx="1783080" cy="685800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377440" y="2148840"/>
            <a:ext cx="178308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600" b="1" i="0" dirty="0" err="1">
                <a:solidFill>
                  <a:srgbClr val="222B36"/>
                </a:solidFill>
                <a:latin typeface="Calibri"/>
              </a:rPr>
              <a:t>assestamento</a:t>
            </a:r>
            <a:endParaRPr sz="1600" b="1" i="0" dirty="0">
              <a:solidFill>
                <a:srgbClr val="222B36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377440" y="2926080"/>
            <a:ext cx="1783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B7C93"/>
                </a:solidFill>
                <a:latin typeface="Calibri"/>
              </a:rPr>
              <a:t>100 ms: la coda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B7C93"/>
                </a:solidFill>
                <a:latin typeface="Calibri"/>
              </a:rPr>
              <a:t>si riempie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2148840"/>
            <a:ext cx="777240" cy="68580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06240" y="2148840"/>
            <a:ext cx="7772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2926080"/>
            <a:ext cx="777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B7C93"/>
                </a:solidFill>
                <a:latin typeface="Calibri"/>
              </a:rPr>
              <a:t>lettura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0" y="2148840"/>
            <a:ext cx="3886200" cy="685800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0" y="2148840"/>
            <a:ext cx="38862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misura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926080"/>
            <a:ext cx="3886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B7C93"/>
                </a:solidFill>
                <a:latin typeface="Calibri"/>
              </a:rPr>
              <a:t>300 ms a regime: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B7C93"/>
                </a:solidFill>
                <a:latin typeface="Calibri"/>
              </a:rPr>
              <a:t>tutti trasmettono, coda piena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61120" y="2148840"/>
            <a:ext cx="777240" cy="68580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961120" y="2148840"/>
            <a:ext cx="7772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2926080"/>
            <a:ext cx="777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B7C93"/>
                </a:solidFill>
                <a:latin typeface="Calibri"/>
              </a:rPr>
              <a:t>lettura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84080" y="2148840"/>
            <a:ext cx="1417320" cy="685800"/>
          </a:xfrm>
          <a:prstGeom prst="rect">
            <a:avLst/>
          </a:prstGeom>
          <a:solidFill>
            <a:srgbClr val="D5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784080" y="2148840"/>
            <a:ext cx="141732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222B36"/>
                </a:solidFill>
                <a:latin typeface="Calibri"/>
              </a:rPr>
              <a:t>stop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84080" y="2926080"/>
            <a:ext cx="1417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B7C93"/>
                </a:solidFill>
                <a:latin typeface="Calibri"/>
              </a:rPr>
              <a:t>generatore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B7C93"/>
                </a:solidFill>
                <a:latin typeface="Calibri"/>
              </a:rPr>
              <a:t>fermato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548640" y="1645920"/>
            <a:ext cx="11064240" cy="256032"/>
          </a:xfrm>
          <a:prstGeom prst="rightArrow">
            <a:avLst/>
          </a:prstGeom>
          <a:solidFill>
            <a:srgbClr val="D5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48640" y="13716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 i="1">
                <a:solidFill>
                  <a:srgbClr val="6B7C93"/>
                </a:solidFill>
                <a:latin typeface="Calibri"/>
              </a:rPr>
              <a:t>tempo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840480"/>
            <a:ext cx="5486400" cy="237744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48640" y="3840480"/>
            <a:ext cx="82296" cy="23774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2960" y="4005072"/>
            <a:ext cx="5074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1F3A5F"/>
                </a:solidFill>
                <a:latin typeface="Calibri"/>
              </a:rPr>
              <a:t>Perché così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416552"/>
            <a:ext cx="5074920" cy="17556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Avvio e arresto del generatore restano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fuori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dalla misura: i suoi thread partono con fino a 100 ms di sfasamento.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Le due letture sono istantanee (&lt; 3 ms): se l'host sospende la VM durante una lettura, la lettura si rifà.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La durata non dipende da nessuna stima del rate.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6309360" y="3840480"/>
          <a:ext cx="5394960" cy="153619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ns per pacchetto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sess. 1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sess. 2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sess. 3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sess. 4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22B36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121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121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122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22B36"/>
                          </a:solidFill>
                          <a:latin typeface="Calibri"/>
                        </a:rPr>
                        <a:t>P1.5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168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169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171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169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22B36"/>
                          </a:solidFill>
                          <a:latin typeface="Calibri"/>
                        </a:rPr>
                        <a:t>P3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493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493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497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466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6309360" y="5440680"/>
            <a:ext cx="5394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Stesso costo del nodo in quattro sessioni con condizioni diverse (pacchetto fisso, TTL variabile, taglie diverse, classi diverse): scarti di pochi punti percentuali.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RISULTATO PRINCIPALE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Quanto costa un pacchetto al nodo, dalla ricezione all'inoltro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20</a:t>
            </a:r>
            <a:endParaRPr sz="1100" b="0" i="0">
              <a:solidFill>
                <a:srgbClr val="6B7C93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5 giri, 64 byte, controllo di validità superato  ·  stessa sessione per tutte le righe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17320"/>
          <a:ext cx="7223760" cy="4160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955279" y="1554480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955279" y="1554480"/>
            <a:ext cx="82296" cy="914400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83879" y="1664208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1600200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117 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2103120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8,5 M pacchetti/s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2578608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955279" y="2578608"/>
            <a:ext cx="82296" cy="914400"/>
          </a:xfrm>
          <a:prstGeom prst="rect">
            <a:avLst/>
          </a:prstGeom>
          <a:solidFill>
            <a:srgbClr val="F0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83879" y="2688336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P1 / P1.5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0" y="2624328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~170 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3127248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6 M pacchetti/s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79" y="3602736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955279" y="3602736"/>
            <a:ext cx="82296" cy="914400"/>
          </a:xfrm>
          <a:prstGeom prst="rect">
            <a:avLst/>
          </a:prstGeom>
          <a:solidFill>
            <a:srgbClr val="2E9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183879" y="3712464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P2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3648456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335 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4151376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3 M pacchetti/s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79" y="4626864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955279" y="4626864"/>
            <a:ext cx="82296" cy="914400"/>
          </a:xfrm>
          <a:prstGeom prst="rect">
            <a:avLst/>
          </a:prstGeom>
          <a:solidFill>
            <a:srgbClr val="1F5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183879" y="4736592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P3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9760" y="4672584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493 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5175504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2 M pacchetti/s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669280"/>
            <a:ext cx="11094415" cy="68580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48640" y="5669280"/>
            <a:ext cx="82296" cy="68580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2960" y="574243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83080" y="5669280"/>
            <a:ext cx="9677095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Ricevere e inoltrare costano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~120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a tutte. La rete neurale aggiunge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~50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con i pesi compilati,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~220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se la forma è letta da tabella,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~375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se anche la profondità: un nodo regge da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6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2 milioni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di pacchetti al secondo per CPU.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DENTRO IL NODO · TRE OROLOGI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Quanto del tempo è il programma XDP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21</a:t>
            </a:r>
            <a:endParaRPr sz="1100" b="0" i="0">
              <a:solidFill>
                <a:srgbClr val="6B7C93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T1 all'ingresso del programma, T2 prima di bpf_redirect, T3 all'arrivo dall'altra parte  ·  T2−T1 è il minimo osservato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17320"/>
          <a:ext cx="7223760" cy="4160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955279" y="1554480"/>
            <a:ext cx="3749039" cy="192024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955279" y="1554480"/>
            <a:ext cx="82296" cy="192024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599" y="1719072"/>
            <a:ext cx="333755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E07A2D"/>
                </a:solidFill>
                <a:latin typeface="Calibri"/>
              </a:rPr>
              <a:t>Il programma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9" y="2130552"/>
            <a:ext cx="3337559" cy="1298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Parse, lettura delle feature, rete neurale, decisione: da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27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(baseline) 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271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(P3).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3611880"/>
            <a:ext cx="3749039" cy="192024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955279" y="3611880"/>
            <a:ext cx="82296" cy="1920240"/>
          </a:xfrm>
          <a:prstGeom prst="rect">
            <a:avLst/>
          </a:prstGeom>
          <a:solidFill>
            <a:srgbClr val="6B7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599" y="3776472"/>
            <a:ext cx="333755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6B7C93"/>
                </a:solidFill>
                <a:latin typeface="Calibri"/>
              </a:rPr>
              <a:t>Il resto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9" y="4187952"/>
            <a:ext cx="3337559" cy="1298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Ricezione, redirect e accodamento, più il costo di tabelle e salti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sotto carico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: cresce con la pipeline, da 90 a 222 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669280"/>
            <a:ext cx="11094415" cy="68580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5669280"/>
            <a:ext cx="82296" cy="68580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574243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5669280"/>
            <a:ext cx="9677095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T2−T1 è il caso più fortunato del solo programma; il costo del nodo è la media sotto carico continuo.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Per dimensionare un nodo vale il costo del nodo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; per capire dove va il tempo dentro il programma vale T2−T1.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QUANTO È SOLIDO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Il costo dipende dalla pipeline, e da niente altro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22</a:t>
            </a:r>
            <a:endParaRPr sz="1100" b="0" i="0">
              <a:solidFill>
                <a:srgbClr val="6B7C93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Sei classi: stato dei collegamenti e TTL scelti perché la rete decida proprio quella classe; verificato su ogni pipeline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Taglia del pacchetto: nessun effetto.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Il nodo legge solo l'intestazione, come su una scheda di rete vera.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Classe e porta d'uscita: nessun effetto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oltre il ±10 % di rumore fra sessioni.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62356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623560"/>
            <a:ext cx="82296" cy="73152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967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623560"/>
            <a:ext cx="967709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Basta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un numero per pipeline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a descrivere il costo del nodo: non dipende da taglia del pacchetto, classe decisa, porta d'uscita o TTL. Il traffico in bit al secondo cresce quindi con la taglia del pacchetto.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372</TotalTime>
  <Words>3473</Words>
  <Application>Microsoft Office PowerPoint</Application>
  <PresentationFormat>Widescreen</PresentationFormat>
  <Paragraphs>437</Paragraphs>
  <Slides>22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22</vt:i4>
      </vt:variant>
    </vt:vector>
  </HeadingPairs>
  <TitlesOfParts>
    <vt:vector size="27" baseType="lpstr">
      <vt:lpstr>Aptos</vt:lpstr>
      <vt:lpstr>Arial</vt:lpstr>
      <vt:lpstr>Calibri</vt:lpstr>
      <vt:lpstr>Consolas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Ettore Cantile</cp:lastModifiedBy>
  <cp:revision>1</cp:revision>
  <dcterms:created xsi:type="dcterms:W3CDTF">2013-01-27T09:14:16Z</dcterms:created>
  <dcterms:modified xsi:type="dcterms:W3CDTF">2026-09-25T15:18:16Z</dcterms:modified>
  <cp:category/>
</cp:coreProperties>
</file>