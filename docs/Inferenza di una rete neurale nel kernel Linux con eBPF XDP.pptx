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1" d="100"/>
          <a:sy n="81" d="100"/>
        </p:scale>
        <p:origin x="84" y="2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ttore Cantile" userId="2f5e44afd0b03182" providerId="LiveId" clId="{E1385F0F-24B1-4705-8EF7-8D82C33CA9CE}"/>
    <pc:docChg chg="delSld modSld">
      <pc:chgData name="Ettore Cantile" userId="2f5e44afd0b03182" providerId="LiveId" clId="{E1385F0F-24B1-4705-8EF7-8D82C33CA9CE}" dt="2026-09-22T21:35:26.805" v="8" actId="47"/>
      <pc:docMkLst>
        <pc:docMk/>
      </pc:docMkLst>
      <pc:sldChg chg="modSp mod">
        <pc:chgData name="Ettore Cantile" userId="2f5e44afd0b03182" providerId="LiveId" clId="{E1385F0F-24B1-4705-8EF7-8D82C33CA9CE}" dt="2026-09-22T21:25:22.702" v="3" actId="115"/>
        <pc:sldMkLst>
          <pc:docMk/>
          <pc:sldMk cId="0" sldId="260"/>
        </pc:sldMkLst>
        <pc:spChg chg="mod">
          <ac:chgData name="Ettore Cantile" userId="2f5e44afd0b03182" providerId="LiveId" clId="{E1385F0F-24B1-4705-8EF7-8D82C33CA9CE}" dt="2026-09-22T21:25:22.702" v="3" actId="115"/>
          <ac:spMkLst>
            <pc:docMk/>
            <pc:sldMk cId="0" sldId="260"/>
            <ac:spMk id="8" creationId="{00000000-0000-0000-0000-000000000000}"/>
          </ac:spMkLst>
        </pc:spChg>
      </pc:sldChg>
      <pc:sldChg chg="del">
        <pc:chgData name="Ettore Cantile" userId="2f5e44afd0b03182" providerId="LiveId" clId="{E1385F0F-24B1-4705-8EF7-8D82C33CA9CE}" dt="2026-09-22T21:34:56.581" v="5" actId="47"/>
        <pc:sldMkLst>
          <pc:docMk/>
          <pc:sldMk cId="0" sldId="274"/>
        </pc:sldMkLst>
      </pc:sldChg>
      <pc:sldChg chg="del">
        <pc:chgData name="Ettore Cantile" userId="2f5e44afd0b03182" providerId="LiveId" clId="{E1385F0F-24B1-4705-8EF7-8D82C33CA9CE}" dt="2026-09-22T21:35:00.784" v="6" actId="47"/>
        <pc:sldMkLst>
          <pc:docMk/>
          <pc:sldMk cId="0" sldId="275"/>
        </pc:sldMkLst>
      </pc:sldChg>
      <pc:sldChg chg="del">
        <pc:chgData name="Ettore Cantile" userId="2f5e44afd0b03182" providerId="LiveId" clId="{E1385F0F-24B1-4705-8EF7-8D82C33CA9CE}" dt="2026-09-22T21:35:26.805" v="8" actId="47"/>
        <pc:sldMkLst>
          <pc:docMk/>
          <pc:sldMk cId="0" sldId="276"/>
        </pc:sldMkLst>
      </pc:sldChg>
      <pc:sldChg chg="del">
        <pc:chgData name="Ettore Cantile" userId="2f5e44afd0b03182" providerId="LiveId" clId="{E1385F0F-24B1-4705-8EF7-8D82C33CA9CE}" dt="2026-09-22T21:35:25.889" v="7" actId="47"/>
        <pc:sldMkLst>
          <pc:docMk/>
          <pc:sldMk cId="0" sldId="277"/>
        </pc:sldMkLst>
      </pc:sldChg>
      <pc:sldChg chg="del">
        <pc:chgData name="Ettore Cantile" userId="2f5e44afd0b03182" providerId="LiveId" clId="{E1385F0F-24B1-4705-8EF7-8D82C33CA9CE}" dt="2026-09-22T21:34:48.573" v="4" actId="47"/>
        <pc:sldMkLst>
          <pc:docMk/>
          <pc:sldMk cId="0" sldId="278"/>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9257257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Apro dicendo in una frase di che cosa parlo: una rete neurale che decide dove mandare i pacchetti, eseguita dentro il kernel Linux, sul percorso XDP. La domanda della tesi non e' "si puo' fare" -- si puo' -- ma "quanto costa, e che cosa si guadagna in cambio". Ho costruito quattro versioni che si distinguono per una cosa sola: quanto sanno gia' quando vengono compilate. E ho misurato il prezzo di quella differenza.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al professore il quadro in trenta secondi. Il pacchetto viene intercettato prima che il kernel gli allochi qualunque cosa: e' il punto piu' veloce possibile, ed e' anche il piu' vincolato. La rete legge quattro feature dallo stato del nodo, calcola, e produce un numero -- che poi la configurazione traduce in un'azione. Il punto da fissare subito e' il budget: tutto deve chiudersi in nanosecondi, per ogni pacchetto. Da li' nasce la domanda che ho misurato: quanto posso rendere configurabile senza pagarlo troppo.</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e' la slide a cui torno piu' volte. Non sto dicendo che una versione sia migliore: sto mostrando che cosa succede quando sposto informazioni dalla compilazione all'esecuzione. P1 conosce tutto in anticipo, quindi il compilatore puo' ottimizzare il calcolo come vuole. P3 all'altro estremo deve leggere anche la forma della rete mentre gira, quindi paga piu' letture e piu' salti fra programmi. P1.5 e P2 stanno in mezzo, e servono a vedere dove il costo cambia davvero. Tutti i numeri che mostro dopo misurano il prezzo di questa scala.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 mostro concretamente da dove nasce tutto il resto. A sinistra i pesi sono costanti nel sorgente: il compilatore puo' fare aritmetica a compile time, e se un peso e' zero la moltiplicazione sparisce del tutto. A destra i pesi arrivano da una tabella riempita mentre il nodo gira: il compilatore deve emettere il ciclo completo, dimensionato sul caso peggiore che accetta. Questa e' la ragione tecnica per cui piu' avanti vedremo che la sparsita' dei pesi fa dimagrire solo la versione specializzata. Vale la pena fermarsi dieci secondi su queste due righe di codice.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Questo e' il primo numero che risponde alla domanda della tesi. Le quattro versioni calcolano la stessa rete sullo stesso modello, quindi l'unica differenza e' quanto e' configurabile ciascuna. Il costo per pacchetto va da 59 a 428 nanosecondi, circa sette volte. La cosa interessante e' dove sta il salto: rendere configurabile il nodo costa venti nanosecondi, rendere configurabile la forma della rete ne costa quasi duecento. E le due colonne di destra dicono perche': non e' che si facciano piu' moltiplicazioni, e' che si fanno piu' letture da tabella e piu' salti da un programma all'altro.</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e' la slide che completa la precedente, e insieme sono il cuore della tesi. Prima ho mostrato che la configurabilita' costa sette volte per pacchetto. Qui mostro che cosa si compra con quel costo: il tempo per installare un modello nuovo passa da un secondo e mezzo a sette millisecondi, cioe' oltre duecento volte. Il primo caso vuol dire rigenerare codice C e chiamare il compilatore sul nodo; il secondo e' scrivere dei byte in una tabella. Non dico quale sia meglio, perche' dipende da quanto spesso si cambia modello. La tesi misura il compromesso, non lo risolve.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 c'e' il risultato che secondo me e' il piu' utile da tenere a mente. P3 e' il diciotto per cento piu' piccola di P2 ed e' il sessantacinque per cento piu' lenta. Se qualcuno usasse il conteggio di istruzioni come misura di costo, concluderebbe l'opposto della realta'. Il motivo sta nelle due righe in fondo: in P3 ogni strato della rete e' un programma separato, quindi approfondire vuol dire aggiungere un salto e un gruppo di letture, e quel costo si paga a ogni pacchetto. Allargare uno strato invece costa dentro il programma, dove e' solo aritmetica. La conclusione e' che dimensione e tempo vanno misurati separatamente.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 due esperimenti rispondono a una domanda pratica: se la rete di comunicazione diventa piu' grande, il nodo rallenta? La risposta e' no. L'identita' del nodo entra nel modello come una casella singola fra tante, e il programma ne legge una sola qualunque sia il numero di nodi -- quindi il tempo non cambia. Cresce solo la dimensione del programma, e solo nella versione che tiene tutta la rete in un binario. Allargare gli strati nascosti e' un'altra cosa: quello e' lavoro vero che si paga su ogni pacchetto, e infatti sale su tutte e quattro. La conclusione e' che si puo' scalare la topologia senza pagare, ma non il modello.</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 si vede la differenza di progetto fra le due versioni generiche. P2 tiene la profondita' compilata: per una rete piu' profonda rigenera il programma, che infatti cresce di quasi cinquemila istruzioni. P3 legge anche la profondita' da una tabella, quindi il programma resta identico a ogni punto -- ma ogni strato in piu' e' un salto verso un altro programma, e quel costo si paga a ogni pacchetto. Sono due modi opposti di risolvere lo stesso problema, e il grafico mostra che ciascuno lo paga in una valuta diversa. E' anche il motivo per cui il numero di istruzioni da solo non dice quale sia piu' veloce.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Questo e' il risultato utile a chi deve scegliere l'architettura del modello. Tengo fermo il numero di pesi, circa seicento, e cambio solo come sono disposti: da uno strato largo a cinque stretti. Se il costo dipendesse solo da quanti pesi ci sono, tutte le curve sarebbero piatte. Sulle due versioni generiche invece sale nettamente, perche' ogni strato aggiunge un salto e delle letture. Sulle due specializzate non cambia niente, perche' srotolano tutto in una funzione sola. Quindi la domanda "meglio larga o profonda" non ha una risposta assoluta: dipende da quale versione gira sul nodo.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e' la slide piu' tecnica, e vale la pena spiegarla piano. Volevo mettere in relazione la complessita' del modello e il tempo, ma contando le moltiplicazioni dalla forma della rete non veniva niente: i punti erano una nuvola. Il motivo e' che una feature codificata a colonna singola occupa molte colonne nella matrice dei pesi, ma per ogni pacchetto ne attiva una sola -- quindi quelle colonne esistono nei pesi e non vengono mai moltiplicate. Contando solo le moltiplicazioni davvero eseguite, i quattro esperimenti si allineano sulla stessa retta e il costo per moltiplicazione diventa una costante di ciascuna versione. E' quello che rende confrontabili esperimenti diversi.</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Questo esperimento chiude il discorso sulla specializzazione. Prendo lo stesso modello e metto a zero una frazione crescente dei pesi, fino al novanta per cento, senza cambiare la forma della rete. La versione con i pesi nel codice si riduce di quasi cinque volte e diventa anche piu' veloce; le due generiche non si muovono di un'istruzione. Il motivo e' quello della slide sul codice: uno zero visibile al compilatore sparisce, uno zero in tabella e' un byte che va letto comunque. E' anche l'unico caso in cui dimensione e tempo calano insieme -- di solito le due misure non vanno nella stessa direzione.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 spiego perche' non mi bastava il modello che mi e' stato dato. Se testo solo quello, ogni assunzione che per caso e' vera su quel modello resta invisibile: il test passa e il codice sembra generico senza esserlo. Ho quindi generato sette modelli con forme e tipi di ingresso diversi, calcolando a parte la risposta attesa per ognuno. Il risultato e' duemilacento decisioni identiche fra il riferimento in Python e il programma nel kernel. Ma la parte interessante non e' che siano tutte uguali: e' che per arrivarci ho dovuto correggere due bug, ed e' la slide dopo.</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 due bug sono il motivo per cui i modelli sintetici valgono la fatica. Il primo: il TTL viene diviso per una costante scelta durante l'addestramento, e tutte le pipeline la avevano scritta nel codice invece di leggerla dal modello. Un modello addestrato con una scala diversa veniva eseguito male, ma il modello di riferimento usa proprio quella compilata, quindi il test passava. Il secondo: il codice dava per scontato che la classe numero k corrispondesse alla porta numero k e che scartare fosse l'ultima classe. Nel modello che ho ricevuto le classi sono sette e quella che scarta e' la sesta, quindi l'assunzione era gia' falsa. Entrambe funzionavano per coincidenza, ed e' esattamente il tipo di errore che un test su un modello solo non puo' trovare.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 di mostrare i numeri sotto traffico devo dire come li misuro, perche' i tre banchi rispondono a domande diverse e confonderli e' l'errore che ho commesso per primo. Il primo esegue solo il programma eBPF in un ciclo: e' il costo dell'inferenza nel modo piu' pulito possibile. Il secondo manda pacchetti veri attraverso un cavo virtuale fino alla pipeline: aggiunge il trasporto. Il terzo e' la chiave -- e' lo stesso percorso ma senza nessuna rete neurale, solo un programma che conta e scarta. Serve a sapere quanto regge il banco stesso, ed e' quello che mi ha fatto capire come leggere i risultati di throughput.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slide serve a non far dire ai numeri piu' di quello che dicono. Le pipeline ricevono fra uno e uno virgola quattro milioni di pacchetti al secondo e non ne perdono nessuno. La tentazione e' concludere che reggano fino a li': sarebbe sbagliato. Il generatore prova a offrirne cinque milioni, ma il cavo virtuale ne accetta solo tre virgola sette, e il resto viene rifiutato prima ancora di arrivare alla pipeline. L'ho verificato togliendo del tutto la rete neurale: il tetto non si muove, quindi il limite e' del banco. La conclusione onesta e' che il nodo non e' mai andato in saturazione, e quei numeri vanno citati come limite inferiore.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 chiudo la parte sulle misure sotto traffico. Ho messo tre marcature temporali dentro il percorso: quando il pacchetto entra, quando l'inferenza finisce, quando arriva dall'altra parte. La differenza fra le prime due e' il costo della pipeline, fra le ultime due e' il costo del trasporto -- redirect, cavo virtuale, risveglio del kernel. Il controllo che la separazione funzioni e' la terza colonna: il trasporto e' praticamente uguale per tutte e quattro, come deve essere, perche' non dipende da quanto lavora la rete. Il punto pratico e' che una misura da capo a capo dice che la baseline costa duecentoventiquattro nanosecondi, mentre l'inferenza vera ne costa ventisette.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Chiudo senza dichiarare un vincitore, perche' non ce n'e' uno. Le quattro versioni occupano punti diversi dello stesso compromesso: da una parte il costo per pacchetto, dall'altra il costo di cambiare modello, e fra i due estremi ci sono circa sette volte e duecento volte rispettivamente. Quale convenga dipende da quanto spesso si aggiorna il modello, ed e' una scelta di chi progetta il sistema, non un risultato di misura. La seconda meta' del contributo e' metodologica: separare il costo dell'inferenza dal trasporto e dai limiti del banco, perche' senza quella separazione i numeri dicono cose che non sono vere.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307"/>
          </a:xfrm>
          <a:prstGeom prst="rect">
            <a:avLst/>
          </a:prstGeom>
          <a:noFill/>
          <a:ln/>
        </p:spPr>
        <p:txBody>
          <a:bodyPr wrap="square" lIns="0" tIns="0" rIns="0" bIns="0" rtlCol="0" anchor="t">
            <a:normAutofit/>
          </a:bodyPr>
          <a:lstStyle/>
          <a:p>
            <a:pPr marL="0" indent="0" algn="l">
              <a:lnSpc>
                <a:spcPts val="1960"/>
              </a:lnSpc>
              <a:buNone/>
            </a:pPr>
            <a:r>
              <a:rPr lang="en-US" sz="1400" kern="0" spc="100" dirty="0">
                <a:solidFill>
                  <a:srgbClr val="E8A87C"/>
                </a:solidFill>
                <a:latin typeface="JetBrains Mono" pitchFamily="34" charset="0"/>
                <a:ea typeface="JetBrains Mono" pitchFamily="34" charset="-122"/>
                <a:cs typeface="JetBrains Mono" pitchFamily="34" charset="-120"/>
              </a:rPr>
              <a:t>TESI · EBPF / XDP</a:t>
            </a:r>
            <a:endParaRPr lang="en-US" sz="1400" dirty="0"/>
          </a:p>
        </p:txBody>
      </p:sp>
      <p:sp>
        <p:nvSpPr>
          <p:cNvPr id="3" name="Text 1"/>
          <p:cNvSpPr/>
          <p:nvPr/>
        </p:nvSpPr>
        <p:spPr>
          <a:xfrm>
            <a:off x="812800" y="2150070"/>
            <a:ext cx="10883392" cy="1342099"/>
          </a:xfrm>
          <a:prstGeom prst="rect">
            <a:avLst/>
          </a:prstGeom>
          <a:noFill/>
          <a:ln/>
        </p:spPr>
        <p:txBody>
          <a:bodyPr wrap="square" lIns="0" tIns="0" rIns="0" bIns="0" rtlCol="0" anchor="t">
            <a:normAutofit/>
          </a:bodyPr>
          <a:lstStyle/>
          <a:p>
            <a:pPr marL="0" indent="0" algn="l">
              <a:lnSpc>
                <a:spcPts val="5184"/>
              </a:lnSpc>
              <a:buNone/>
            </a:pPr>
            <a:r>
              <a:rPr lang="en-US" sz="4800" b="1" dirty="0">
                <a:solidFill>
                  <a:srgbClr val="FBFBF8"/>
                </a:solidFill>
                <a:latin typeface="IBM Plex Sans" pitchFamily="34" charset="0"/>
                <a:ea typeface="IBM Plex Sans" pitchFamily="34" charset="-122"/>
                <a:cs typeface="IBM Plex Sans" pitchFamily="34" charset="-120"/>
              </a:rPr>
              <a:t>Inferenza di una rete neurale</a:t>
            </a:r>
            <a:endParaRPr lang="en-US" sz="4800" dirty="0"/>
          </a:p>
          <a:p>
            <a:pPr marL="0" indent="0" algn="l">
              <a:lnSpc>
                <a:spcPts val="5184"/>
              </a:lnSpc>
              <a:buNone/>
            </a:pPr>
            <a:r>
              <a:rPr lang="en-US" sz="4800" b="1" dirty="0">
                <a:solidFill>
                  <a:srgbClr val="FBFBF8"/>
                </a:solidFill>
                <a:latin typeface="IBM Plex Sans" pitchFamily="34" charset="0"/>
                <a:ea typeface="IBM Plex Sans" pitchFamily="34" charset="-122"/>
                <a:cs typeface="IBM Plex Sans" pitchFamily="34" charset="-120"/>
              </a:rPr>
              <a:t>nel kernel Linux con eBPF/XDP</a:t>
            </a:r>
            <a:endParaRPr lang="en-US" sz="4800" dirty="0"/>
          </a:p>
        </p:txBody>
      </p:sp>
      <p:sp>
        <p:nvSpPr>
          <p:cNvPr id="4" name="Text 2"/>
          <p:cNvSpPr/>
          <p:nvPr/>
        </p:nvSpPr>
        <p:spPr>
          <a:xfrm>
            <a:off x="812800" y="3695369"/>
            <a:ext cx="9483725" cy="1002506"/>
          </a:xfrm>
          <a:prstGeom prst="rect">
            <a:avLst/>
          </a:prstGeom>
          <a:noFill/>
          <a:ln/>
        </p:spPr>
        <p:txBody>
          <a:bodyPr wrap="square" lIns="0" tIns="0" rIns="0" bIns="0" rtlCol="0" anchor="t">
            <a:normAutofit/>
          </a:bodyPr>
          <a:lstStyle/>
          <a:p>
            <a:pPr marL="0" indent="0" algn="l">
              <a:lnSpc>
                <a:spcPts val="2565"/>
              </a:lnSpc>
              <a:buNone/>
            </a:pPr>
            <a:r>
              <a:rPr lang="en-US" sz="1900" dirty="0">
                <a:solidFill>
                  <a:srgbClr val="BFD8D5"/>
                </a:solidFill>
                <a:latin typeface="IBM Plex Sans" pitchFamily="34" charset="0"/>
                <a:ea typeface="IBM Plex Sans" pitchFamily="34" charset="-122"/>
                <a:cs typeface="IBM Plex Sans" pitchFamily="34" charset="-120"/>
              </a:rPr>
              <a:t>Quattro versioni della stessa rete, da completamente compilata a completamente configurabile. Misuro che cosa costa spostare le decisioni dalla compilazione all’esecuzione.</a:t>
            </a:r>
            <a:endParaRPr lang="en-US" sz="1900" dirty="0"/>
          </a:p>
        </p:txBody>
      </p:sp>
      <p:sp>
        <p:nvSpPr>
          <p:cNvPr id="5" name="Text 3"/>
          <p:cNvSpPr/>
          <p:nvPr/>
        </p:nvSpPr>
        <p:spPr>
          <a:xfrm>
            <a:off x="812800" y="5760773"/>
            <a:ext cx="1345803" cy="309827"/>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FBFBF8"/>
                </a:solidFill>
                <a:latin typeface="IBM Plex Sans" pitchFamily="34" charset="0"/>
                <a:ea typeface="IBM Plex Sans" pitchFamily="34" charset="-122"/>
                <a:cs typeface="IBM Plex Sans" pitchFamily="34" charset="-120"/>
              </a:rPr>
              <a:t>Ettore Cantile</a:t>
            </a:r>
            <a:endParaRPr lang="en-US" sz="1600" dirty="0"/>
          </a:p>
        </p:txBody>
      </p:sp>
      <p:sp>
        <p:nvSpPr>
          <p:cNvPr id="6" name="Text 4"/>
          <p:cNvSpPr/>
          <p:nvPr/>
        </p:nvSpPr>
        <p:spPr>
          <a:xfrm>
            <a:off x="2514203" y="5803106"/>
            <a:ext cx="1437680" cy="25651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8FA3BF"/>
                </a:solidFill>
                <a:latin typeface="JetBrains Mono" pitchFamily="34" charset="0"/>
                <a:ea typeface="JetBrains Mono" pitchFamily="34" charset="-122"/>
                <a:cs typeface="JetBrains Mono" pitchFamily="34" charset="-120"/>
              </a:rPr>
              <a:t>settembre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marL="0" indent="0" algn="l">
              <a:lnSpc>
                <a:spcPts val="1820"/>
              </a:lnSpc>
              <a:buNone/>
            </a:pPr>
            <a:r>
              <a:rPr lang="en-US" sz="1300" kern="0" spc="100" dirty="0">
                <a:solidFill>
                  <a:srgbClr val="C2410C"/>
                </a:solidFill>
                <a:latin typeface="JetBrains Mono" pitchFamily="34" charset="0"/>
                <a:ea typeface="JetBrains Mono" pitchFamily="34" charset="-122"/>
                <a:cs typeface="JetBrains Mono" pitchFamily="34" charset="-120"/>
              </a:rPr>
              <a:t>IL PROBLEMA</a:t>
            </a:r>
            <a:endParaRPr lang="en-US" sz="1300" dirty="0"/>
          </a:p>
        </p:txBody>
      </p:sp>
      <p:sp>
        <p:nvSpPr>
          <p:cNvPr id="3" name="Text 1"/>
          <p:cNvSpPr/>
          <p:nvPr/>
        </p:nvSpPr>
        <p:spPr>
          <a:xfrm>
            <a:off x="812800" y="1107414"/>
            <a:ext cx="10883392" cy="835554"/>
          </a:xfrm>
          <a:prstGeom prst="rect">
            <a:avLst/>
          </a:prstGeom>
          <a:noFill/>
          <a:ln/>
        </p:spPr>
        <p:txBody>
          <a:bodyPr wrap="square" lIns="0" tIns="0" rIns="0" bIns="0" rtlCol="0" anchor="t">
            <a:normAutofit/>
          </a:bodyPr>
          <a:lstStyle/>
          <a:p>
            <a:pPr marL="0" indent="0" algn="l">
              <a:lnSpc>
                <a:spcPts val="3190"/>
              </a:lnSpc>
              <a:buNone/>
            </a:pPr>
            <a:r>
              <a:rPr lang="en-US" sz="2900" b="1" dirty="0">
                <a:solidFill>
                  <a:srgbClr val="14213D"/>
                </a:solidFill>
                <a:latin typeface="IBM Plex Sans" pitchFamily="34" charset="0"/>
                <a:ea typeface="IBM Plex Sans" pitchFamily="34" charset="-122"/>
                <a:cs typeface="IBM Plex Sans" pitchFamily="34" charset="-120"/>
              </a:rPr>
              <a:t>Decidere dove mandare un pacchetto, prima che entri nel sistema</a:t>
            </a:r>
            <a:endParaRPr lang="en-US" sz="2900" dirty="0"/>
          </a:p>
        </p:txBody>
      </p:sp>
      <p:sp>
        <p:nvSpPr>
          <p:cNvPr id="4" name="Text 2"/>
          <p:cNvSpPr/>
          <p:nvPr/>
        </p:nvSpPr>
        <p:spPr>
          <a:xfrm>
            <a:off x="812800" y="2146168"/>
            <a:ext cx="10595610" cy="540941"/>
          </a:xfrm>
          <a:prstGeom prst="rect">
            <a:avLst/>
          </a:prstGeom>
          <a:noFill/>
          <a:ln/>
        </p:spPr>
        <p:txBody>
          <a:bodyPr wrap="square" lIns="0" tIns="0" rIns="0" bIns="0" rtlCol="0" anchor="t">
            <a:normAutofit/>
          </a:bodyPr>
          <a:lstStyle/>
          <a:p>
            <a:pPr marL="0" indent="0" algn="l">
              <a:lnSpc>
                <a:spcPts val="2030"/>
              </a:lnSpc>
              <a:buNone/>
            </a:pPr>
            <a:r>
              <a:rPr lang="en-US" sz="1450" dirty="0">
                <a:solidFill>
                  <a:srgbClr val="4A5568"/>
                </a:solidFill>
                <a:latin typeface="IBM Plex Sans" pitchFamily="34" charset="0"/>
                <a:ea typeface="IBM Plex Sans" pitchFamily="34" charset="-122"/>
                <a:cs typeface="IBM Plex Sans" pitchFamily="34" charset="-120"/>
              </a:rPr>
              <a:t>XDP è il primo punto in cui il kernel vede un pacchetto: prima dello stack di rete, prima di qualunque allocazione. Ci eseguiamo l’inferenza di una piccola rete neurale, e la decisione arriva in quel punto.</a:t>
            </a:r>
            <a:endParaRPr lang="en-US" sz="1450" dirty="0"/>
          </a:p>
        </p:txBody>
      </p:sp>
      <p:sp>
        <p:nvSpPr>
          <p:cNvPr id="5" name="Shape 3"/>
          <p:cNvSpPr/>
          <p:nvPr/>
        </p:nvSpPr>
        <p:spPr>
          <a:xfrm>
            <a:off x="812800" y="2890309"/>
            <a:ext cx="1737320" cy="1617861"/>
          </a:xfrm>
          <a:prstGeom prst="roundRect">
            <a:avLst>
              <a:gd name="adj" fmla="val 5495"/>
            </a:avLst>
          </a:prstGeom>
          <a:solidFill>
            <a:srgbClr val="EEF1F5"/>
          </a:solidFill>
          <a:ln/>
        </p:spPr>
      </p:sp>
      <p:sp>
        <p:nvSpPr>
          <p:cNvPr id="6" name="Text 4"/>
          <p:cNvSpPr/>
          <p:nvPr/>
        </p:nvSpPr>
        <p:spPr>
          <a:xfrm>
            <a:off x="939800" y="3042709"/>
            <a:ext cx="153412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IBM Plex Sans" pitchFamily="34" charset="0"/>
                <a:ea typeface="IBM Plex Sans" pitchFamily="34" charset="-122"/>
                <a:cs typeface="IBM Plex Sans" pitchFamily="34" charset="-120"/>
              </a:rPr>
              <a:t>1</a:t>
            </a:r>
            <a:endParaRPr lang="en-US" sz="1200" dirty="0"/>
          </a:p>
        </p:txBody>
      </p:sp>
      <p:sp>
        <p:nvSpPr>
          <p:cNvPr id="7" name="Text 5"/>
          <p:cNvSpPr/>
          <p:nvPr/>
        </p:nvSpPr>
        <p:spPr>
          <a:xfrm>
            <a:off x="939800" y="3306829"/>
            <a:ext cx="1534120" cy="231114"/>
          </a:xfrm>
          <a:prstGeom prst="rect">
            <a:avLst/>
          </a:prstGeom>
          <a:noFill/>
          <a:ln/>
        </p:spPr>
        <p:txBody>
          <a:bodyPr wrap="square" lIns="0" tIns="0" rIns="0" bIns="0" rtlCol="0" anchor="t">
            <a:normAutofit/>
          </a:bodyPr>
          <a:lstStyle/>
          <a:p>
            <a:pPr marL="0" indent="0" algn="l">
              <a:lnSpc>
                <a:spcPts val="1620"/>
              </a:lnSpc>
              <a:buNone/>
            </a:pPr>
            <a:r>
              <a:rPr lang="en-US" sz="1350" b="1" dirty="0">
                <a:solidFill>
                  <a:srgbClr val="14213D"/>
                </a:solidFill>
                <a:latin typeface="IBM Plex Sans" pitchFamily="34" charset="0"/>
                <a:ea typeface="IBM Plex Sans" pitchFamily="34" charset="-122"/>
                <a:cs typeface="IBM Plex Sans" pitchFamily="34" charset="-120"/>
              </a:rPr>
              <a:t>Arriva il pacchetto</a:t>
            </a:r>
            <a:endParaRPr lang="en-US" sz="1350" dirty="0"/>
          </a:p>
        </p:txBody>
      </p:sp>
      <p:sp>
        <p:nvSpPr>
          <p:cNvPr id="8" name="Text 6"/>
          <p:cNvSpPr/>
          <p:nvPr/>
        </p:nvSpPr>
        <p:spPr>
          <a:xfrm>
            <a:off x="939800" y="3563342"/>
            <a:ext cx="1534120" cy="421614"/>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4A5568"/>
                </a:solidFill>
                <a:latin typeface="IBM Plex Sans" pitchFamily="34" charset="0"/>
                <a:ea typeface="IBM Plex Sans" pitchFamily="34" charset="-122"/>
                <a:cs typeface="IBM Plex Sans" pitchFamily="34" charset="-120"/>
              </a:rPr>
              <a:t>XDP lo intercetta sulla scheda di rete</a:t>
            </a:r>
            <a:endParaRPr lang="en-US" sz="1200" dirty="0"/>
          </a:p>
        </p:txBody>
      </p:sp>
      <p:pic>
        <p:nvPicPr>
          <p:cNvPr id="9" name="Image 0" descr="arrow-right"/>
          <p:cNvPicPr>
            <a:picLocks noChangeAspect="1"/>
          </p:cNvPicPr>
          <p:nvPr/>
        </p:nvPicPr>
        <p:blipFill>
          <a:blip r:embed="rId3"/>
          <a:srcRect/>
          <a:stretch/>
        </p:blipFill>
        <p:spPr>
          <a:xfrm>
            <a:off x="2639020" y="3635706"/>
            <a:ext cx="292100" cy="127000"/>
          </a:xfrm>
          <a:prstGeom prst="rect">
            <a:avLst/>
          </a:prstGeom>
        </p:spPr>
      </p:pic>
      <p:sp>
        <p:nvSpPr>
          <p:cNvPr id="10" name="Shape 7"/>
          <p:cNvSpPr/>
          <p:nvPr/>
        </p:nvSpPr>
        <p:spPr>
          <a:xfrm>
            <a:off x="3020020" y="2890309"/>
            <a:ext cx="1737387" cy="1617861"/>
          </a:xfrm>
          <a:prstGeom prst="roundRect">
            <a:avLst>
              <a:gd name="adj" fmla="val 5495"/>
            </a:avLst>
          </a:prstGeom>
          <a:solidFill>
            <a:srgbClr val="EEF1F5"/>
          </a:solidFill>
          <a:ln/>
        </p:spPr>
      </p:sp>
      <p:sp>
        <p:nvSpPr>
          <p:cNvPr id="11" name="Text 8"/>
          <p:cNvSpPr/>
          <p:nvPr/>
        </p:nvSpPr>
        <p:spPr>
          <a:xfrm>
            <a:off x="3147020" y="3042709"/>
            <a:ext cx="153418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IBM Plex Sans" pitchFamily="34" charset="0"/>
                <a:ea typeface="IBM Plex Sans" pitchFamily="34" charset="-122"/>
                <a:cs typeface="IBM Plex Sans" pitchFamily="34" charset="-120"/>
              </a:rPr>
              <a:t>2</a:t>
            </a:r>
            <a:endParaRPr lang="en-US" sz="1200" dirty="0"/>
          </a:p>
        </p:txBody>
      </p:sp>
      <p:sp>
        <p:nvSpPr>
          <p:cNvPr id="12" name="Text 9"/>
          <p:cNvSpPr/>
          <p:nvPr/>
        </p:nvSpPr>
        <p:spPr>
          <a:xfrm>
            <a:off x="3147020" y="3306829"/>
            <a:ext cx="1534186" cy="231114"/>
          </a:xfrm>
          <a:prstGeom prst="rect">
            <a:avLst/>
          </a:prstGeom>
          <a:noFill/>
          <a:ln/>
        </p:spPr>
        <p:txBody>
          <a:bodyPr wrap="square" lIns="0" tIns="0" rIns="0" bIns="0" rtlCol="0" anchor="t">
            <a:normAutofit/>
          </a:bodyPr>
          <a:lstStyle/>
          <a:p>
            <a:pPr marL="0" indent="0" algn="l">
              <a:lnSpc>
                <a:spcPts val="1620"/>
              </a:lnSpc>
              <a:buNone/>
            </a:pPr>
            <a:r>
              <a:rPr lang="en-US" sz="1350" b="1" dirty="0">
                <a:solidFill>
                  <a:srgbClr val="14213D"/>
                </a:solidFill>
                <a:latin typeface="IBM Plex Sans" pitchFamily="34" charset="0"/>
                <a:ea typeface="IBM Plex Sans" pitchFamily="34" charset="-122"/>
                <a:cs typeface="IBM Plex Sans" pitchFamily="34" charset="-120"/>
              </a:rPr>
              <a:t>Legge le feature</a:t>
            </a:r>
            <a:endParaRPr lang="en-US" sz="1350" dirty="0"/>
          </a:p>
        </p:txBody>
      </p:sp>
      <p:sp>
        <p:nvSpPr>
          <p:cNvPr id="13" name="Text 10"/>
          <p:cNvSpPr/>
          <p:nvPr/>
        </p:nvSpPr>
        <p:spPr>
          <a:xfrm>
            <a:off x="3147020" y="3563342"/>
            <a:ext cx="1534186" cy="817827"/>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4A5568"/>
                </a:solidFill>
                <a:latin typeface="IBM Plex Sans" pitchFamily="34" charset="0"/>
                <a:ea typeface="IBM Plex Sans" pitchFamily="34" charset="-122"/>
                <a:cs typeface="IBM Plex Sans" pitchFamily="34" charset="-120"/>
              </a:rPr>
              <a:t>stato dei collegamenti, porta d’ingresso, TTL, identità del nodo</a:t>
            </a:r>
            <a:endParaRPr lang="en-US" sz="1200" dirty="0"/>
          </a:p>
        </p:txBody>
      </p:sp>
      <p:pic>
        <p:nvPicPr>
          <p:cNvPr id="14" name="Image 1" descr="arrow-right"/>
          <p:cNvPicPr>
            <a:picLocks noChangeAspect="1"/>
          </p:cNvPicPr>
          <p:nvPr/>
        </p:nvPicPr>
        <p:blipFill>
          <a:blip r:embed="rId3"/>
          <a:srcRect/>
          <a:stretch/>
        </p:blipFill>
        <p:spPr>
          <a:xfrm>
            <a:off x="4846307" y="3635706"/>
            <a:ext cx="292100" cy="127000"/>
          </a:xfrm>
          <a:prstGeom prst="rect">
            <a:avLst/>
          </a:prstGeom>
        </p:spPr>
      </p:pic>
      <p:sp>
        <p:nvSpPr>
          <p:cNvPr id="15" name="Shape 11"/>
          <p:cNvSpPr/>
          <p:nvPr/>
        </p:nvSpPr>
        <p:spPr>
          <a:xfrm>
            <a:off x="5227307" y="2890309"/>
            <a:ext cx="1737320" cy="1617861"/>
          </a:xfrm>
          <a:prstGeom prst="roundRect">
            <a:avLst>
              <a:gd name="adj" fmla="val 5495"/>
            </a:avLst>
          </a:prstGeom>
          <a:solidFill>
            <a:srgbClr val="14213D"/>
          </a:solidFill>
          <a:ln/>
        </p:spPr>
      </p:sp>
      <p:sp>
        <p:nvSpPr>
          <p:cNvPr id="16" name="Text 12"/>
          <p:cNvSpPr/>
          <p:nvPr/>
        </p:nvSpPr>
        <p:spPr>
          <a:xfrm>
            <a:off x="5354307" y="3042709"/>
            <a:ext cx="153412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FA3BF"/>
                </a:solidFill>
                <a:latin typeface="IBM Plex Sans" pitchFamily="34" charset="0"/>
                <a:ea typeface="IBM Plex Sans" pitchFamily="34" charset="-122"/>
                <a:cs typeface="IBM Plex Sans" pitchFamily="34" charset="-120"/>
              </a:rPr>
              <a:t>3</a:t>
            </a:r>
            <a:endParaRPr lang="en-US" sz="1200" dirty="0"/>
          </a:p>
        </p:txBody>
      </p:sp>
      <p:sp>
        <p:nvSpPr>
          <p:cNvPr id="17" name="Text 13"/>
          <p:cNvSpPr/>
          <p:nvPr/>
        </p:nvSpPr>
        <p:spPr>
          <a:xfrm>
            <a:off x="5354307" y="3306829"/>
            <a:ext cx="1534120" cy="231114"/>
          </a:xfrm>
          <a:prstGeom prst="rect">
            <a:avLst/>
          </a:prstGeom>
          <a:noFill/>
          <a:ln/>
        </p:spPr>
        <p:txBody>
          <a:bodyPr wrap="square" lIns="0" tIns="0" rIns="0" bIns="0" rtlCol="0" anchor="t">
            <a:normAutofit/>
          </a:bodyPr>
          <a:lstStyle/>
          <a:p>
            <a:pPr marL="0" indent="0" algn="l">
              <a:lnSpc>
                <a:spcPts val="1620"/>
              </a:lnSpc>
              <a:buNone/>
            </a:pPr>
            <a:r>
              <a:rPr lang="en-US" sz="1350" b="1" dirty="0">
                <a:solidFill>
                  <a:srgbClr val="FBFBF8"/>
                </a:solidFill>
                <a:latin typeface="IBM Plex Sans" pitchFamily="34" charset="0"/>
                <a:ea typeface="IBM Plex Sans" pitchFamily="34" charset="-122"/>
                <a:cs typeface="IBM Plex Sans" pitchFamily="34" charset="-120"/>
              </a:rPr>
              <a:t>La rete calcola</a:t>
            </a:r>
            <a:endParaRPr lang="en-US" sz="1350" dirty="0"/>
          </a:p>
        </p:txBody>
      </p:sp>
      <p:sp>
        <p:nvSpPr>
          <p:cNvPr id="18" name="Text 14"/>
          <p:cNvSpPr/>
          <p:nvPr/>
        </p:nvSpPr>
        <p:spPr>
          <a:xfrm>
            <a:off x="5354307" y="3563342"/>
            <a:ext cx="1534120" cy="61972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BFD8D5"/>
                </a:solidFill>
                <a:latin typeface="IBM Plex Sans" pitchFamily="34" charset="0"/>
                <a:ea typeface="IBM Plex Sans" pitchFamily="34" charset="-122"/>
                <a:cs typeface="IBM Plex Sans" pitchFamily="34" charset="-120"/>
              </a:rPr>
              <a:t>solo numeri interi: nel kernel non c’è la virgola mobile</a:t>
            </a:r>
            <a:endParaRPr lang="en-US" sz="1200" dirty="0"/>
          </a:p>
        </p:txBody>
      </p:sp>
      <p:pic>
        <p:nvPicPr>
          <p:cNvPr id="19" name="Image 2" descr="arrow-right"/>
          <p:cNvPicPr>
            <a:picLocks noChangeAspect="1"/>
          </p:cNvPicPr>
          <p:nvPr/>
        </p:nvPicPr>
        <p:blipFill>
          <a:blip r:embed="rId3"/>
          <a:srcRect/>
          <a:stretch/>
        </p:blipFill>
        <p:spPr>
          <a:xfrm>
            <a:off x="7053528" y="3635706"/>
            <a:ext cx="292100" cy="127000"/>
          </a:xfrm>
          <a:prstGeom prst="rect">
            <a:avLst/>
          </a:prstGeom>
        </p:spPr>
      </p:pic>
      <p:sp>
        <p:nvSpPr>
          <p:cNvPr id="20" name="Shape 15"/>
          <p:cNvSpPr/>
          <p:nvPr/>
        </p:nvSpPr>
        <p:spPr>
          <a:xfrm>
            <a:off x="7434528" y="2890309"/>
            <a:ext cx="1737387" cy="1617861"/>
          </a:xfrm>
          <a:prstGeom prst="roundRect">
            <a:avLst>
              <a:gd name="adj" fmla="val 5495"/>
            </a:avLst>
          </a:prstGeom>
          <a:solidFill>
            <a:srgbClr val="EEF1F5"/>
          </a:solidFill>
          <a:ln/>
        </p:spPr>
      </p:sp>
      <p:sp>
        <p:nvSpPr>
          <p:cNvPr id="21" name="Text 16"/>
          <p:cNvSpPr/>
          <p:nvPr/>
        </p:nvSpPr>
        <p:spPr>
          <a:xfrm>
            <a:off x="7561528" y="3042709"/>
            <a:ext cx="153418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IBM Plex Sans" pitchFamily="34" charset="0"/>
                <a:ea typeface="IBM Plex Sans" pitchFamily="34" charset="-122"/>
                <a:cs typeface="IBM Plex Sans" pitchFamily="34" charset="-120"/>
              </a:rPr>
              <a:t>4</a:t>
            </a:r>
            <a:endParaRPr lang="en-US" sz="1200" dirty="0"/>
          </a:p>
        </p:txBody>
      </p:sp>
      <p:sp>
        <p:nvSpPr>
          <p:cNvPr id="22" name="Text 17"/>
          <p:cNvSpPr/>
          <p:nvPr/>
        </p:nvSpPr>
        <p:spPr>
          <a:xfrm>
            <a:off x="7561528" y="3306829"/>
            <a:ext cx="1534186" cy="231114"/>
          </a:xfrm>
          <a:prstGeom prst="rect">
            <a:avLst/>
          </a:prstGeom>
          <a:noFill/>
          <a:ln/>
        </p:spPr>
        <p:txBody>
          <a:bodyPr wrap="square" lIns="0" tIns="0" rIns="0" bIns="0" rtlCol="0" anchor="t">
            <a:normAutofit/>
          </a:bodyPr>
          <a:lstStyle/>
          <a:p>
            <a:pPr marL="0" indent="0" algn="l">
              <a:lnSpc>
                <a:spcPts val="1620"/>
              </a:lnSpc>
              <a:buNone/>
            </a:pPr>
            <a:r>
              <a:rPr lang="en-US" sz="1350" b="1" dirty="0">
                <a:solidFill>
                  <a:srgbClr val="14213D"/>
                </a:solidFill>
                <a:latin typeface="IBM Plex Sans" pitchFamily="34" charset="0"/>
                <a:ea typeface="IBM Plex Sans" pitchFamily="34" charset="-122"/>
                <a:cs typeface="IBM Plex Sans" pitchFamily="34" charset="-120"/>
              </a:rPr>
              <a:t>Esce una classe</a:t>
            </a:r>
            <a:endParaRPr lang="en-US" sz="1350" dirty="0"/>
          </a:p>
        </p:txBody>
      </p:sp>
      <p:sp>
        <p:nvSpPr>
          <p:cNvPr id="23" name="Text 18"/>
          <p:cNvSpPr/>
          <p:nvPr/>
        </p:nvSpPr>
        <p:spPr>
          <a:xfrm>
            <a:off x="7561528" y="3563342"/>
            <a:ext cx="1534186" cy="619720"/>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4A5568"/>
                </a:solidFill>
                <a:latin typeface="IBM Plex Sans" pitchFamily="34" charset="0"/>
                <a:ea typeface="IBM Plex Sans" pitchFamily="34" charset="-122"/>
                <a:cs typeface="IBM Plex Sans" pitchFamily="34" charset="-120"/>
              </a:rPr>
              <a:t>un numero, che da solo non significa niente</a:t>
            </a:r>
            <a:endParaRPr lang="en-US" sz="1200" dirty="0"/>
          </a:p>
        </p:txBody>
      </p:sp>
      <p:pic>
        <p:nvPicPr>
          <p:cNvPr id="24" name="Image 3" descr="arrow-right"/>
          <p:cNvPicPr>
            <a:picLocks noChangeAspect="1"/>
          </p:cNvPicPr>
          <p:nvPr/>
        </p:nvPicPr>
        <p:blipFill>
          <a:blip r:embed="rId3"/>
          <a:srcRect/>
          <a:stretch/>
        </p:blipFill>
        <p:spPr>
          <a:xfrm>
            <a:off x="9260814" y="3635706"/>
            <a:ext cx="292100" cy="127000"/>
          </a:xfrm>
          <a:prstGeom prst="rect">
            <a:avLst/>
          </a:prstGeom>
        </p:spPr>
      </p:pic>
      <p:sp>
        <p:nvSpPr>
          <p:cNvPr id="25" name="Shape 19"/>
          <p:cNvSpPr/>
          <p:nvPr/>
        </p:nvSpPr>
        <p:spPr>
          <a:xfrm>
            <a:off x="9641814" y="2890309"/>
            <a:ext cx="1737387" cy="1617861"/>
          </a:xfrm>
          <a:prstGeom prst="roundRect">
            <a:avLst>
              <a:gd name="adj" fmla="val 5495"/>
            </a:avLst>
          </a:prstGeom>
          <a:solidFill>
            <a:srgbClr val="EEF1F5"/>
          </a:solidFill>
          <a:ln/>
        </p:spPr>
      </p:sp>
      <p:sp>
        <p:nvSpPr>
          <p:cNvPr id="26" name="Text 20"/>
          <p:cNvSpPr/>
          <p:nvPr/>
        </p:nvSpPr>
        <p:spPr>
          <a:xfrm>
            <a:off x="9768814" y="3042709"/>
            <a:ext cx="153418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IBM Plex Sans" pitchFamily="34" charset="0"/>
                <a:ea typeface="IBM Plex Sans" pitchFamily="34" charset="-122"/>
                <a:cs typeface="IBM Plex Sans" pitchFamily="34" charset="-120"/>
              </a:rPr>
              <a:t>5</a:t>
            </a:r>
            <a:endParaRPr lang="en-US" sz="1200" dirty="0"/>
          </a:p>
        </p:txBody>
      </p:sp>
      <p:sp>
        <p:nvSpPr>
          <p:cNvPr id="27" name="Text 21"/>
          <p:cNvSpPr/>
          <p:nvPr/>
        </p:nvSpPr>
        <p:spPr>
          <a:xfrm>
            <a:off x="9768814" y="3306829"/>
            <a:ext cx="1534186" cy="231114"/>
          </a:xfrm>
          <a:prstGeom prst="rect">
            <a:avLst/>
          </a:prstGeom>
          <a:noFill/>
          <a:ln/>
        </p:spPr>
        <p:txBody>
          <a:bodyPr wrap="square" lIns="0" tIns="0" rIns="0" bIns="0" rtlCol="0" anchor="t">
            <a:normAutofit/>
          </a:bodyPr>
          <a:lstStyle/>
          <a:p>
            <a:pPr marL="0" indent="0" algn="l">
              <a:lnSpc>
                <a:spcPts val="1620"/>
              </a:lnSpc>
              <a:buNone/>
            </a:pPr>
            <a:r>
              <a:rPr lang="en-US" sz="1350" b="1" dirty="0">
                <a:solidFill>
                  <a:srgbClr val="14213D"/>
                </a:solidFill>
                <a:latin typeface="IBM Plex Sans" pitchFamily="34" charset="0"/>
                <a:ea typeface="IBM Plex Sans" pitchFamily="34" charset="-122"/>
                <a:cs typeface="IBM Plex Sans" pitchFamily="34" charset="-120"/>
              </a:rPr>
              <a:t>Azione</a:t>
            </a:r>
            <a:endParaRPr lang="en-US" sz="1350" dirty="0"/>
          </a:p>
        </p:txBody>
      </p:sp>
      <p:sp>
        <p:nvSpPr>
          <p:cNvPr id="28" name="Text 22"/>
          <p:cNvSpPr/>
          <p:nvPr/>
        </p:nvSpPr>
        <p:spPr>
          <a:xfrm>
            <a:off x="9768814" y="3563342"/>
            <a:ext cx="1534186" cy="817827"/>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4A5568"/>
                </a:solidFill>
                <a:latin typeface="IBM Plex Sans" pitchFamily="34" charset="0"/>
                <a:ea typeface="IBM Plex Sans" pitchFamily="34" charset="-122"/>
                <a:cs typeface="IBM Plex Sans" pitchFamily="34" charset="-120"/>
              </a:rPr>
              <a:t>la configurazione traduce la classe in porta, oppure in scarta</a:t>
            </a:r>
            <a:endParaRPr lang="en-US" sz="1200" dirty="0"/>
          </a:p>
        </p:txBody>
      </p:sp>
      <p:sp>
        <p:nvSpPr>
          <p:cNvPr id="29" name="Shape 23"/>
          <p:cNvSpPr/>
          <p:nvPr/>
        </p:nvSpPr>
        <p:spPr>
          <a:xfrm>
            <a:off x="812800" y="4736770"/>
            <a:ext cx="10566400" cy="1051520"/>
          </a:xfrm>
          <a:prstGeom prst="roundRect">
            <a:avLst>
              <a:gd name="adj" fmla="val 7247"/>
            </a:avLst>
          </a:prstGeom>
          <a:solidFill>
            <a:srgbClr val="EEF1F5"/>
          </a:solidFill>
          <a:ln/>
        </p:spPr>
      </p:sp>
      <p:sp>
        <p:nvSpPr>
          <p:cNvPr id="30" name="Shape 24"/>
          <p:cNvSpPr/>
          <p:nvPr/>
        </p:nvSpPr>
        <p:spPr>
          <a:xfrm>
            <a:off x="831850" y="4736770"/>
            <a:ext cx="0" cy="1051520"/>
          </a:xfrm>
          <a:prstGeom prst="line">
            <a:avLst/>
          </a:prstGeom>
          <a:noFill/>
          <a:ln w="38100">
            <a:solidFill>
              <a:srgbClr val="C2410C"/>
            </a:solidFill>
            <a:prstDash val="solid"/>
          </a:ln>
        </p:spPr>
      </p:sp>
      <p:sp>
        <p:nvSpPr>
          <p:cNvPr id="31" name="Text 25"/>
          <p:cNvSpPr/>
          <p:nvPr/>
        </p:nvSpPr>
        <p:spPr>
          <a:xfrm>
            <a:off x="1041400" y="4889170"/>
            <a:ext cx="10451719" cy="7721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4213D"/>
                </a:solidFill>
                <a:latin typeface="IBM Plex Sans" pitchFamily="34" charset="0"/>
                <a:ea typeface="IBM Plex Sans" pitchFamily="34" charset="-122"/>
                <a:cs typeface="IBM Plex Sans" pitchFamily="34" charset="-120"/>
              </a:rPr>
              <a:t>Tutto questo deve stare in </a:t>
            </a:r>
            <a:r>
              <a:rPr lang="en-US" sz="1400" b="1" dirty="0">
                <a:solidFill>
                  <a:srgbClr val="14213D"/>
                </a:solidFill>
                <a:latin typeface="IBM Plex Sans" pitchFamily="34" charset="0"/>
                <a:ea typeface="IBM Plex Sans" pitchFamily="34" charset="-122"/>
                <a:cs typeface="IBM Plex Sans" pitchFamily="34" charset="-120"/>
              </a:rPr>
              <a:t>qualche decina o centinaio di nanosecondi</a:t>
            </a:r>
            <a:r>
              <a:rPr lang="en-US" sz="1400" dirty="0">
                <a:solidFill>
                  <a:srgbClr val="14213D"/>
                </a:solidFill>
                <a:latin typeface="IBM Plex Sans" pitchFamily="34" charset="0"/>
                <a:ea typeface="IBM Plex Sans" pitchFamily="34" charset="-122"/>
                <a:cs typeface="IBM Plex Sans" pitchFamily="34" charset="-120"/>
              </a:rPr>
              <a:t>, perché accade una volta per ogni pacchetto. Ed è qui che nasce la domanda della tesi: </a:t>
            </a:r>
            <a:r>
              <a:rPr lang="en-US" sz="1400" b="1" dirty="0">
                <a:solidFill>
                  <a:srgbClr val="14213D"/>
                </a:solidFill>
                <a:latin typeface="IBM Plex Sans" pitchFamily="34" charset="0"/>
                <a:ea typeface="IBM Plex Sans" pitchFamily="34" charset="-122"/>
                <a:cs typeface="IBM Plex Sans" pitchFamily="34" charset="-120"/>
              </a:rPr>
              <a:t>quanto del programma posso lasciare configurabile, prima che il costo diventi inaccettabile?</a:t>
            </a:r>
            <a:endParaRPr lang="en-US" sz="1400" dirty="0"/>
          </a:p>
        </p:txBody>
      </p:sp>
      <p:sp>
        <p:nvSpPr>
          <p:cNvPr id="32" name="Text 26"/>
          <p:cNvSpPr/>
          <p:nvPr/>
        </p:nvSpPr>
        <p:spPr>
          <a:xfrm>
            <a:off x="812800" y="6238280"/>
            <a:ext cx="842327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IBM Plex Sans" pitchFamily="34" charset="0"/>
                <a:ea typeface="IBM Plex Sans" pitchFamily="34" charset="-122"/>
                <a:cs typeface="IBM Plex Sans" pitchFamily="34" charset="-120"/>
              </a:rPr>
              <a:t>Il kernel accetta il programma solo dopo averlo verificato riga per riga: niente cicli non limitati, niente memoria arbitraria</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EF1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marL="0" indent="0" algn="l">
              <a:lnSpc>
                <a:spcPts val="1820"/>
              </a:lnSpc>
              <a:buNone/>
            </a:pPr>
            <a:r>
              <a:rPr lang="en-US" sz="1300" kern="0" spc="100" dirty="0">
                <a:solidFill>
                  <a:srgbClr val="C2410C"/>
                </a:solidFill>
                <a:latin typeface="JetBrains Mono" pitchFamily="34" charset="0"/>
                <a:ea typeface="JetBrains Mono" pitchFamily="34" charset="-122"/>
                <a:cs typeface="JetBrains Mono" pitchFamily="34" charset="-120"/>
              </a:rPr>
              <a:t>LA CHIAVE DI TUTTA LA PRESENTAZIONE</a:t>
            </a:r>
            <a:endParaRPr lang="en-US" sz="1300" dirty="0"/>
          </a:p>
        </p:txBody>
      </p:sp>
      <p:sp>
        <p:nvSpPr>
          <p:cNvPr id="3" name="Text 1"/>
          <p:cNvSpPr/>
          <p:nvPr/>
        </p:nvSpPr>
        <p:spPr>
          <a:xfrm>
            <a:off x="812800" y="1107415"/>
            <a:ext cx="10883392" cy="430477"/>
          </a:xfrm>
          <a:prstGeom prst="rect">
            <a:avLst/>
          </a:prstGeom>
          <a:noFill/>
          <a:ln/>
        </p:spPr>
        <p:txBody>
          <a:bodyPr wrap="square" lIns="0" tIns="0" rIns="0" bIns="0" rtlCol="0" anchor="t">
            <a:normAutofit/>
          </a:bodyPr>
          <a:lstStyle/>
          <a:p>
            <a:pPr marL="0" indent="0" algn="l">
              <a:lnSpc>
                <a:spcPts val="3190"/>
              </a:lnSpc>
              <a:buNone/>
            </a:pPr>
            <a:r>
              <a:rPr lang="en-US" sz="2900" b="1" dirty="0">
                <a:solidFill>
                  <a:srgbClr val="14213D"/>
                </a:solidFill>
                <a:latin typeface="IBM Plex Sans" pitchFamily="34" charset="0"/>
                <a:ea typeface="IBM Plex Sans" pitchFamily="34" charset="-122"/>
                <a:cs typeface="IBM Plex Sans" pitchFamily="34" charset="-120"/>
              </a:rPr>
              <a:t>Quattro versioni, che cambiano per una cosa sola</a:t>
            </a:r>
            <a:endParaRPr lang="en-US" sz="2900" dirty="0"/>
          </a:p>
        </p:txBody>
      </p:sp>
      <p:sp>
        <p:nvSpPr>
          <p:cNvPr id="4" name="Text 2"/>
          <p:cNvSpPr/>
          <p:nvPr/>
        </p:nvSpPr>
        <p:spPr>
          <a:xfrm>
            <a:off x="812800" y="1690291"/>
            <a:ext cx="10595610" cy="540941"/>
          </a:xfrm>
          <a:prstGeom prst="rect">
            <a:avLst/>
          </a:prstGeom>
          <a:noFill/>
          <a:ln/>
        </p:spPr>
        <p:txBody>
          <a:bodyPr wrap="square" lIns="0" tIns="0" rIns="0" bIns="0" rtlCol="0" anchor="t">
            <a:normAutofit/>
          </a:bodyPr>
          <a:lstStyle/>
          <a:p>
            <a:pPr marL="0" indent="0" algn="l">
              <a:lnSpc>
                <a:spcPts val="2030"/>
              </a:lnSpc>
              <a:buNone/>
            </a:pPr>
            <a:r>
              <a:rPr lang="en-US" sz="1450" dirty="0">
                <a:solidFill>
                  <a:srgbClr val="4A5568"/>
                </a:solidFill>
                <a:latin typeface="IBM Plex Sans" pitchFamily="34" charset="0"/>
                <a:ea typeface="IBM Plex Sans" pitchFamily="34" charset="-122"/>
                <a:cs typeface="IBM Plex Sans" pitchFamily="34" charset="-120"/>
              </a:rPr>
              <a:t>Tutte e quattro calcolano la </a:t>
            </a:r>
            <a:r>
              <a:rPr lang="en-US" sz="1450" b="1" dirty="0">
                <a:solidFill>
                  <a:srgbClr val="4A5568"/>
                </a:solidFill>
                <a:latin typeface="IBM Plex Sans" pitchFamily="34" charset="0"/>
                <a:ea typeface="IBM Plex Sans" pitchFamily="34" charset="-122"/>
                <a:cs typeface="IBM Plex Sans" pitchFamily="34" charset="-120"/>
              </a:rPr>
              <a:t>stessa rete</a:t>
            </a:r>
            <a:r>
              <a:rPr lang="en-US" sz="1450" dirty="0">
                <a:solidFill>
                  <a:srgbClr val="4A5568"/>
                </a:solidFill>
                <a:latin typeface="IBM Plex Sans" pitchFamily="34" charset="0"/>
                <a:ea typeface="IBM Plex Sans" pitchFamily="34" charset="-122"/>
                <a:cs typeface="IBM Plex Sans" pitchFamily="34" charset="-120"/>
              </a:rPr>
              <a:t> e prendono la </a:t>
            </a:r>
            <a:r>
              <a:rPr lang="en-US" sz="1450" b="1" dirty="0">
                <a:solidFill>
                  <a:srgbClr val="4A5568"/>
                </a:solidFill>
                <a:latin typeface="IBM Plex Sans" pitchFamily="34" charset="0"/>
                <a:ea typeface="IBM Plex Sans" pitchFamily="34" charset="-122"/>
                <a:cs typeface="IBM Plex Sans" pitchFamily="34" charset="-120"/>
              </a:rPr>
              <a:t>stessa decisione</a:t>
            </a:r>
            <a:r>
              <a:rPr lang="en-US" sz="1450" dirty="0">
                <a:solidFill>
                  <a:srgbClr val="4A5568"/>
                </a:solidFill>
                <a:latin typeface="IBM Plex Sans" pitchFamily="34" charset="0"/>
                <a:ea typeface="IBM Plex Sans" pitchFamily="34" charset="-122"/>
                <a:cs typeface="IBM Plex Sans" pitchFamily="34" charset="-120"/>
              </a:rPr>
              <a:t>. Cambia solo </a:t>
            </a:r>
            <a:r>
              <a:rPr lang="en-US" sz="1450" b="1" dirty="0">
                <a:solidFill>
                  <a:srgbClr val="4A5568"/>
                </a:solidFill>
                <a:latin typeface="IBM Plex Sans" pitchFamily="34" charset="0"/>
                <a:ea typeface="IBM Plex Sans" pitchFamily="34" charset="-122"/>
                <a:cs typeface="IBM Plex Sans" pitchFamily="34" charset="-120"/>
              </a:rPr>
              <a:t>quanto sanno già quando vengono compilate</a:t>
            </a:r>
            <a:r>
              <a:rPr lang="en-US" sz="1450" dirty="0">
                <a:solidFill>
                  <a:srgbClr val="4A5568"/>
                </a:solidFill>
                <a:latin typeface="IBM Plex Sans" pitchFamily="34" charset="0"/>
                <a:ea typeface="IBM Plex Sans" pitchFamily="34" charset="-122"/>
                <a:cs typeface="IBM Plex Sans" pitchFamily="34" charset="-120"/>
              </a:rPr>
              <a:t>.</a:t>
            </a:r>
            <a:endParaRPr lang="en-US" sz="14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12800" y="2383631"/>
          <a:ext cx="10566400" cy="1929805"/>
        </p:xfrm>
        <a:graphic>
          <a:graphicData uri="http://schemas.openxmlformats.org/drawingml/2006/table">
            <a:tbl>
              <a:tblPr/>
              <a:tblGrid>
                <a:gridCol w="2535936">
                  <a:extLst>
                    <a:ext uri="{9D8B030D-6E8A-4147-A177-3AD203B41FA5}">
                      <a16:colId xmlns:a16="http://schemas.microsoft.com/office/drawing/2014/main" val="20000"/>
                    </a:ext>
                  </a:extLst>
                </a:gridCol>
                <a:gridCol w="2007616">
                  <a:extLst>
                    <a:ext uri="{9D8B030D-6E8A-4147-A177-3AD203B41FA5}">
                      <a16:colId xmlns:a16="http://schemas.microsoft.com/office/drawing/2014/main" val="20001"/>
                    </a:ext>
                  </a:extLst>
                </a:gridCol>
                <a:gridCol w="2007616">
                  <a:extLst>
                    <a:ext uri="{9D8B030D-6E8A-4147-A177-3AD203B41FA5}">
                      <a16:colId xmlns:a16="http://schemas.microsoft.com/office/drawing/2014/main" val="20002"/>
                    </a:ext>
                  </a:extLst>
                </a:gridCol>
                <a:gridCol w="2007616">
                  <a:extLst>
                    <a:ext uri="{9D8B030D-6E8A-4147-A177-3AD203B41FA5}">
                      <a16:colId xmlns:a16="http://schemas.microsoft.com/office/drawing/2014/main" val="20003"/>
                    </a:ext>
                  </a:extLst>
                </a:gridCol>
                <a:gridCol w="2007616">
                  <a:extLst>
                    <a:ext uri="{9D8B030D-6E8A-4147-A177-3AD203B41FA5}">
                      <a16:colId xmlns:a16="http://schemas.microsoft.com/office/drawing/2014/main" val="20004"/>
                    </a:ext>
                  </a:extLst>
                </a:gridCol>
              </a:tblGrid>
              <a:tr h="385961">
                <a:tc>
                  <a:txBody>
                    <a:bodyPr/>
                    <a:lstStyle/>
                    <a:p>
                      <a:pPr marL="0" indent="0">
                        <a:lnSpc>
                          <a:spcPts val="1960"/>
                        </a:lnSpc>
                        <a:buNone/>
                      </a:pPr>
                      <a:r>
                        <a:rPr lang="en-US" sz="1400" b="1" dirty="0">
                          <a:solidFill>
                            <a:srgbClr val="FBFBF8"/>
                          </a:solidFill>
                          <a:latin typeface="IBM Plex Sans" pitchFamily="34" charset="0"/>
                          <a:ea typeface="IBM Plex Sans" pitchFamily="34" charset="-122"/>
                          <a:cs typeface="IBM Plex Sans" pitchFamily="34" charset="-120"/>
                        </a:rPr>
                        <a:t>Versione</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marL="0" indent="0">
                        <a:lnSpc>
                          <a:spcPts val="1960"/>
                        </a:lnSpc>
                        <a:buNone/>
                      </a:pPr>
                      <a:r>
                        <a:rPr lang="en-US" sz="1400" b="1" dirty="0">
                          <a:solidFill>
                            <a:srgbClr val="FBFBF8"/>
                          </a:solidFill>
                          <a:latin typeface="IBM Plex Sans" pitchFamily="34" charset="0"/>
                          <a:ea typeface="IBM Plex Sans" pitchFamily="34" charset="-122"/>
                          <a:cs typeface="IBM Plex Sans" pitchFamily="34" charset="-120"/>
                        </a:rPr>
                        <a:t>Pesi</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marL="0" indent="0">
                        <a:lnSpc>
                          <a:spcPts val="1960"/>
                        </a:lnSpc>
                        <a:buNone/>
                      </a:pPr>
                      <a:r>
                        <a:rPr lang="en-US" sz="1400" b="1" dirty="0">
                          <a:solidFill>
                            <a:srgbClr val="FBFBF8"/>
                          </a:solidFill>
                          <a:latin typeface="IBM Plex Sans" pitchFamily="34" charset="0"/>
                          <a:ea typeface="IBM Plex Sans" pitchFamily="34" charset="-122"/>
                          <a:cs typeface="IBM Plex Sans" pitchFamily="34" charset="-120"/>
                        </a:rPr>
                        <a:t>Nodo</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marL="0" indent="0">
                        <a:lnSpc>
                          <a:spcPts val="1960"/>
                        </a:lnSpc>
                        <a:buNone/>
                      </a:pPr>
                      <a:r>
                        <a:rPr lang="en-US" sz="1400" b="1" dirty="0">
                          <a:solidFill>
                            <a:srgbClr val="FBFBF8"/>
                          </a:solidFill>
                          <a:latin typeface="IBM Plex Sans" pitchFamily="34" charset="0"/>
                          <a:ea typeface="IBM Plex Sans" pitchFamily="34" charset="-122"/>
                          <a:cs typeface="IBM Plex Sans" pitchFamily="34" charset="-120"/>
                        </a:rPr>
                        <a:t>Forma della rete</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marL="0" indent="0">
                        <a:lnSpc>
                          <a:spcPts val="1960"/>
                        </a:lnSpc>
                        <a:buNone/>
                      </a:pPr>
                      <a:r>
                        <a:rPr lang="en-US" sz="1400" b="1" dirty="0">
                          <a:solidFill>
                            <a:srgbClr val="FBFBF8"/>
                          </a:solidFill>
                          <a:latin typeface="IBM Plex Sans" pitchFamily="34" charset="0"/>
                          <a:ea typeface="IBM Plex Sans" pitchFamily="34" charset="-122"/>
                          <a:cs typeface="IBM Plex Sans" pitchFamily="34" charset="-120"/>
                        </a:rPr>
                        <a:t>Profondità</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385961">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P1  p1_static</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nSpc>
                          <a:spcPts val="1960"/>
                        </a:lnSpc>
                        <a:buNone/>
                      </a:pPr>
                      <a:r>
                        <a:rPr lang="en-US" sz="1400" dirty="0">
                          <a:solidFill>
                            <a:srgbClr val="C2410C"/>
                          </a:solidFill>
                          <a:latin typeface="IBM Plex Sans" pitchFamily="34" charset="0"/>
                          <a:ea typeface="IBM Plex Sans" pitchFamily="34" charset="-122"/>
                          <a:cs typeface="IBM Plex Sans" pitchFamily="34" charset="-120"/>
                        </a:rPr>
                        <a:t>compilati</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nSpc>
                          <a:spcPts val="1960"/>
                        </a:lnSpc>
                        <a:buNone/>
                      </a:pPr>
                      <a:r>
                        <a:rPr lang="en-US" sz="1400" dirty="0">
                          <a:solidFill>
                            <a:srgbClr val="C2410C"/>
                          </a:solidFill>
                          <a:latin typeface="IBM Plex Sans" pitchFamily="34" charset="0"/>
                          <a:ea typeface="IBM Plex Sans" pitchFamily="34" charset="-122"/>
                          <a:cs typeface="IBM Plex Sans" pitchFamily="34" charset="-120"/>
                        </a:rPr>
                        <a:t>compilato</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nSpc>
                          <a:spcPts val="1960"/>
                        </a:lnSpc>
                        <a:buNone/>
                      </a:pPr>
                      <a:r>
                        <a:rPr lang="en-US" sz="1400" dirty="0">
                          <a:solidFill>
                            <a:srgbClr val="C2410C"/>
                          </a:solidFill>
                          <a:latin typeface="IBM Plex Sans" pitchFamily="34" charset="0"/>
                          <a:ea typeface="IBM Plex Sans" pitchFamily="34" charset="-122"/>
                          <a:cs typeface="IBM Plex Sans" pitchFamily="34" charset="-120"/>
                        </a:rPr>
                        <a:t>compilata</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nSpc>
                          <a:spcPts val="1960"/>
                        </a:lnSpc>
                        <a:buNone/>
                      </a:pPr>
                      <a:r>
                        <a:rPr lang="en-US" sz="1400" dirty="0">
                          <a:solidFill>
                            <a:srgbClr val="C2410C"/>
                          </a:solidFill>
                          <a:latin typeface="IBM Plex Sans" pitchFamily="34" charset="0"/>
                          <a:ea typeface="IBM Plex Sans" pitchFamily="34" charset="-122"/>
                          <a:cs typeface="IBM Plex Sans" pitchFamily="34" charset="-120"/>
                        </a:rPr>
                        <a:t>compilata</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extLst>
                  <a:ext uri="{0D108BD9-81ED-4DB2-BD59-A6C34878D82A}">
                    <a16:rowId xmlns:a16="http://schemas.microsoft.com/office/drawing/2014/main" val="10001"/>
                  </a:ext>
                </a:extLst>
              </a:tr>
              <a:tr h="385961">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P1.5  hardcoded</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nSpc>
                          <a:spcPts val="1960"/>
                        </a:lnSpc>
                        <a:buNone/>
                      </a:pPr>
                      <a:r>
                        <a:rPr lang="en-US" sz="1400" dirty="0">
                          <a:solidFill>
                            <a:srgbClr val="C2410C"/>
                          </a:solidFill>
                          <a:latin typeface="IBM Plex Sans" pitchFamily="34" charset="0"/>
                          <a:ea typeface="IBM Plex Sans" pitchFamily="34" charset="-122"/>
                          <a:cs typeface="IBM Plex Sans" pitchFamily="34" charset="-120"/>
                        </a:rPr>
                        <a:t>compilati</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nSpc>
                          <a:spcPts val="1960"/>
                        </a:lnSpc>
                        <a:buNone/>
                      </a:pPr>
                      <a:r>
                        <a:rPr lang="en-US" sz="1400" dirty="0">
                          <a:solidFill>
                            <a:srgbClr val="2E7D52"/>
                          </a:solidFill>
                          <a:latin typeface="IBM Plex Sans" pitchFamily="34" charset="0"/>
                          <a:ea typeface="IBM Plex Sans" pitchFamily="34" charset="-122"/>
                          <a:cs typeface="IBM Plex Sans" pitchFamily="34" charset="-120"/>
                        </a:rPr>
                        <a:t>da tabella</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nSpc>
                          <a:spcPts val="1960"/>
                        </a:lnSpc>
                        <a:buNone/>
                      </a:pPr>
                      <a:r>
                        <a:rPr lang="en-US" sz="1400" dirty="0">
                          <a:solidFill>
                            <a:srgbClr val="C2410C"/>
                          </a:solidFill>
                          <a:latin typeface="IBM Plex Sans" pitchFamily="34" charset="0"/>
                          <a:ea typeface="IBM Plex Sans" pitchFamily="34" charset="-122"/>
                          <a:cs typeface="IBM Plex Sans" pitchFamily="34" charset="-120"/>
                        </a:rPr>
                        <a:t>compilata</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nSpc>
                          <a:spcPts val="1960"/>
                        </a:lnSpc>
                        <a:buNone/>
                      </a:pPr>
                      <a:r>
                        <a:rPr lang="en-US" sz="1400" dirty="0">
                          <a:solidFill>
                            <a:srgbClr val="C2410C"/>
                          </a:solidFill>
                          <a:latin typeface="IBM Plex Sans" pitchFamily="34" charset="0"/>
                          <a:ea typeface="IBM Plex Sans" pitchFamily="34" charset="-122"/>
                          <a:cs typeface="IBM Plex Sans" pitchFamily="34" charset="-120"/>
                        </a:rPr>
                        <a:t>compilata</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extLst>
                  <a:ext uri="{0D108BD9-81ED-4DB2-BD59-A6C34878D82A}">
                    <a16:rowId xmlns:a16="http://schemas.microsoft.com/office/drawing/2014/main" val="10002"/>
                  </a:ext>
                </a:extLst>
              </a:tr>
              <a:tr h="385961">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P2  template</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nSpc>
                          <a:spcPts val="1960"/>
                        </a:lnSpc>
                        <a:buNone/>
                      </a:pPr>
                      <a:r>
                        <a:rPr lang="en-US" sz="1400" dirty="0">
                          <a:solidFill>
                            <a:srgbClr val="2E7D52"/>
                          </a:solidFill>
                          <a:latin typeface="IBM Plex Sans" pitchFamily="34" charset="0"/>
                          <a:ea typeface="IBM Plex Sans" pitchFamily="34" charset="-122"/>
                          <a:cs typeface="IBM Plex Sans" pitchFamily="34" charset="-120"/>
                        </a:rPr>
                        <a:t>da tabella</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nSpc>
                          <a:spcPts val="1960"/>
                        </a:lnSpc>
                        <a:buNone/>
                      </a:pPr>
                      <a:r>
                        <a:rPr lang="en-US" sz="1400" dirty="0">
                          <a:solidFill>
                            <a:srgbClr val="2E7D52"/>
                          </a:solidFill>
                          <a:latin typeface="IBM Plex Sans" pitchFamily="34" charset="0"/>
                          <a:ea typeface="IBM Plex Sans" pitchFamily="34" charset="-122"/>
                          <a:cs typeface="IBM Plex Sans" pitchFamily="34" charset="-120"/>
                        </a:rPr>
                        <a:t>da tabella</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nSpc>
                          <a:spcPts val="1960"/>
                        </a:lnSpc>
                        <a:buNone/>
                      </a:pPr>
                      <a:r>
                        <a:rPr lang="en-US" sz="1400" dirty="0">
                          <a:solidFill>
                            <a:srgbClr val="2E7D52"/>
                          </a:solidFill>
                          <a:latin typeface="IBM Plex Sans" pitchFamily="34" charset="0"/>
                          <a:ea typeface="IBM Plex Sans" pitchFamily="34" charset="-122"/>
                          <a:cs typeface="IBM Plex Sans" pitchFamily="34" charset="-120"/>
                        </a:rPr>
                        <a:t>entro limiti fissi</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nSpc>
                          <a:spcPts val="1960"/>
                        </a:lnSpc>
                        <a:buNone/>
                      </a:pPr>
                      <a:r>
                        <a:rPr lang="en-US" sz="1400" dirty="0">
                          <a:solidFill>
                            <a:srgbClr val="C2410C"/>
                          </a:solidFill>
                          <a:latin typeface="IBM Plex Sans" pitchFamily="34" charset="0"/>
                          <a:ea typeface="IBM Plex Sans" pitchFamily="34" charset="-122"/>
                          <a:cs typeface="IBM Plex Sans" pitchFamily="34" charset="-120"/>
                        </a:rPr>
                        <a:t>compilata</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extLst>
                  <a:ext uri="{0D108BD9-81ED-4DB2-BD59-A6C34878D82A}">
                    <a16:rowId xmlns:a16="http://schemas.microsoft.com/office/drawing/2014/main" val="10003"/>
                  </a:ext>
                </a:extLst>
              </a:tr>
              <a:tr h="385961">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P3  modular</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nSpc>
                          <a:spcPts val="1960"/>
                        </a:lnSpc>
                        <a:buNone/>
                      </a:pPr>
                      <a:r>
                        <a:rPr lang="en-US" sz="1400" dirty="0">
                          <a:solidFill>
                            <a:srgbClr val="2E7D52"/>
                          </a:solidFill>
                          <a:latin typeface="IBM Plex Sans" pitchFamily="34" charset="0"/>
                          <a:ea typeface="IBM Plex Sans" pitchFamily="34" charset="-122"/>
                          <a:cs typeface="IBM Plex Sans" pitchFamily="34" charset="-120"/>
                        </a:rPr>
                        <a:t>da tabella</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nSpc>
                          <a:spcPts val="1960"/>
                        </a:lnSpc>
                        <a:buNone/>
                      </a:pPr>
                      <a:r>
                        <a:rPr lang="en-US" sz="1400" dirty="0">
                          <a:solidFill>
                            <a:srgbClr val="2E7D52"/>
                          </a:solidFill>
                          <a:latin typeface="IBM Plex Sans" pitchFamily="34" charset="0"/>
                          <a:ea typeface="IBM Plex Sans" pitchFamily="34" charset="-122"/>
                          <a:cs typeface="IBM Plex Sans" pitchFamily="34" charset="-120"/>
                        </a:rPr>
                        <a:t>da tabella</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nSpc>
                          <a:spcPts val="1960"/>
                        </a:lnSpc>
                        <a:buNone/>
                      </a:pPr>
                      <a:r>
                        <a:rPr lang="en-US" sz="1400" dirty="0">
                          <a:solidFill>
                            <a:srgbClr val="2E7D52"/>
                          </a:solidFill>
                          <a:latin typeface="IBM Plex Sans" pitchFamily="34" charset="0"/>
                          <a:ea typeface="IBM Plex Sans" pitchFamily="34" charset="-122"/>
                          <a:cs typeface="IBM Plex Sans" pitchFamily="34" charset="-120"/>
                        </a:rPr>
                        <a:t>da tabella</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nSpc>
                          <a:spcPts val="1960"/>
                        </a:lnSpc>
                        <a:buNone/>
                      </a:pPr>
                      <a:r>
                        <a:rPr lang="en-US" sz="1400" dirty="0">
                          <a:solidFill>
                            <a:srgbClr val="2E7D52"/>
                          </a:solidFill>
                          <a:latin typeface="IBM Plex Sans" pitchFamily="34" charset="0"/>
                          <a:ea typeface="IBM Plex Sans" pitchFamily="34" charset="-122"/>
                          <a:cs typeface="IBM Plex Sans" pitchFamily="34" charset="-120"/>
                        </a:rPr>
                        <a:t>da tabella</a:t>
                      </a:r>
                      <a:endParaRPr lang="en-US" sz="1400" dirty="0">
                        <a:latin typeface="IBM Plex Sans" charset="0"/>
                        <a:ea typeface="IBM Plex Sans" charset="0"/>
                        <a:cs typeface="IBM Plex Sans" charset="0"/>
                      </a:endParaRPr>
                    </a:p>
                  </a:txBody>
                  <a:tcPr marL="62230" marR="62230" marT="62230" marB="62230">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6" name="Shape 3"/>
          <p:cNvSpPr/>
          <p:nvPr/>
        </p:nvSpPr>
        <p:spPr>
          <a:xfrm>
            <a:off x="812800" y="4707136"/>
            <a:ext cx="10566400" cy="949854"/>
          </a:xfrm>
          <a:prstGeom prst="roundRect">
            <a:avLst>
              <a:gd name="adj" fmla="val 10696"/>
            </a:avLst>
          </a:prstGeom>
          <a:solidFill>
            <a:srgbClr val="14213D"/>
          </a:solidFill>
          <a:ln/>
        </p:spPr>
      </p:sp>
      <p:sp>
        <p:nvSpPr>
          <p:cNvPr id="7" name="Text 4"/>
          <p:cNvSpPr/>
          <p:nvPr/>
        </p:nvSpPr>
        <p:spPr>
          <a:xfrm>
            <a:off x="889762" y="4897636"/>
            <a:ext cx="10412476" cy="594254"/>
          </a:xfrm>
          <a:prstGeom prst="rect">
            <a:avLst/>
          </a:prstGeom>
          <a:noFill/>
          <a:ln/>
        </p:spPr>
        <p:txBody>
          <a:bodyPr wrap="square" lIns="0" tIns="0" rIns="0" bIns="0" rtlCol="0" anchor="t">
            <a:normAutofit/>
          </a:bodyPr>
          <a:lstStyle/>
          <a:p>
            <a:pPr marL="0" indent="0" algn="ctr">
              <a:lnSpc>
                <a:spcPts val="2240"/>
              </a:lnSpc>
              <a:buNone/>
            </a:pPr>
            <a:r>
              <a:rPr lang="en-US" sz="1600" dirty="0">
                <a:solidFill>
                  <a:srgbClr val="FBFBF8"/>
                </a:solidFill>
                <a:latin typeface="IBM Plex Sans" pitchFamily="34" charset="0"/>
                <a:ea typeface="IBM Plex Sans" pitchFamily="34" charset="-122"/>
                <a:cs typeface="IBM Plex Sans" pitchFamily="34" charset="-120"/>
              </a:rPr>
              <a:t>Più informazioni sposto dalla </a:t>
            </a:r>
            <a:r>
              <a:rPr lang="en-US" sz="1600" b="1" dirty="0">
                <a:solidFill>
                  <a:srgbClr val="FBFBF8"/>
                </a:solidFill>
                <a:latin typeface="IBM Plex Sans" pitchFamily="34" charset="0"/>
                <a:ea typeface="IBM Plex Sans" pitchFamily="34" charset="-122"/>
                <a:cs typeface="IBM Plex Sans" pitchFamily="34" charset="-120"/>
              </a:rPr>
              <a:t>compilazione</a:t>
            </a:r>
            <a:r>
              <a:rPr lang="en-US" sz="1600" dirty="0">
                <a:solidFill>
                  <a:srgbClr val="FBFBF8"/>
                </a:solidFill>
                <a:latin typeface="IBM Plex Sans" pitchFamily="34" charset="0"/>
                <a:ea typeface="IBM Plex Sans" pitchFamily="34" charset="-122"/>
                <a:cs typeface="IBM Plex Sans" pitchFamily="34" charset="-120"/>
              </a:rPr>
              <a:t> all’</a:t>
            </a:r>
            <a:r>
              <a:rPr lang="en-US" sz="1600" b="1" dirty="0">
                <a:solidFill>
                  <a:srgbClr val="FBFBF8"/>
                </a:solidFill>
                <a:latin typeface="IBM Plex Sans" pitchFamily="34" charset="0"/>
                <a:ea typeface="IBM Plex Sans" pitchFamily="34" charset="-122"/>
                <a:cs typeface="IBM Plex Sans" pitchFamily="34" charset="-120"/>
              </a:rPr>
              <a:t>esecuzione</a:t>
            </a:r>
            <a:r>
              <a:rPr lang="en-US" sz="1600" dirty="0">
                <a:solidFill>
                  <a:srgbClr val="FBFBF8"/>
                </a:solidFill>
                <a:latin typeface="IBM Plex Sans" pitchFamily="34" charset="0"/>
                <a:ea typeface="IBM Plex Sans" pitchFamily="34" charset="-122"/>
                <a:cs typeface="IBM Plex Sans" pitchFamily="34" charset="-120"/>
              </a:rPr>
              <a:t>, più il programma diventa riutilizzabile — e più cresce il costo per pacchetto.</a:t>
            </a:r>
            <a:endParaRPr lang="en-US" sz="1600" dirty="0"/>
          </a:p>
        </p:txBody>
      </p:sp>
      <p:sp>
        <p:nvSpPr>
          <p:cNvPr id="8" name="Text 5"/>
          <p:cNvSpPr/>
          <p:nvPr/>
        </p:nvSpPr>
        <p:spPr>
          <a:xfrm>
            <a:off x="812800" y="6238280"/>
            <a:ext cx="513551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IBM Plex Sans" pitchFamily="34" charset="0"/>
                <a:ea typeface="IBM Plex Sans" pitchFamily="34" charset="-122"/>
                <a:cs typeface="IBM Plex Sans" pitchFamily="34" charset="-120"/>
              </a:rPr>
              <a:t>Arancione = già noto quando si compila · verde = letto mentre il nodo gira</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marL="0" indent="0" algn="l">
              <a:lnSpc>
                <a:spcPts val="1820"/>
              </a:lnSpc>
              <a:buNone/>
            </a:pPr>
            <a:r>
              <a:rPr lang="en-US" sz="1300" kern="0" spc="100" dirty="0">
                <a:solidFill>
                  <a:srgbClr val="C2410C"/>
                </a:solidFill>
                <a:latin typeface="JetBrains Mono" pitchFamily="34" charset="0"/>
                <a:ea typeface="JetBrains Mono" pitchFamily="34" charset="-122"/>
                <a:cs typeface="JetBrains Mono" pitchFamily="34" charset="-120"/>
              </a:rPr>
              <a:t>DA DOVE VIENE LA DIFFERENZA</a:t>
            </a:r>
            <a:endParaRPr lang="en-US" sz="1300" dirty="0"/>
          </a:p>
        </p:txBody>
      </p:sp>
      <p:sp>
        <p:nvSpPr>
          <p:cNvPr id="3" name="Text 1"/>
          <p:cNvSpPr/>
          <p:nvPr/>
        </p:nvSpPr>
        <p:spPr>
          <a:xfrm>
            <a:off x="812800" y="1107415"/>
            <a:ext cx="10883392" cy="430477"/>
          </a:xfrm>
          <a:prstGeom prst="rect">
            <a:avLst/>
          </a:prstGeom>
          <a:noFill/>
          <a:ln/>
        </p:spPr>
        <p:txBody>
          <a:bodyPr wrap="square" lIns="0" tIns="0" rIns="0" bIns="0" rtlCol="0" anchor="t">
            <a:normAutofit/>
          </a:bodyPr>
          <a:lstStyle/>
          <a:p>
            <a:pPr marL="0" indent="0" algn="l">
              <a:lnSpc>
                <a:spcPts val="3190"/>
              </a:lnSpc>
              <a:buNone/>
            </a:pPr>
            <a:r>
              <a:rPr lang="en-US" sz="2900" b="1" dirty="0">
                <a:solidFill>
                  <a:srgbClr val="14213D"/>
                </a:solidFill>
                <a:latin typeface="IBM Plex Sans" pitchFamily="34" charset="0"/>
                <a:ea typeface="IBM Plex Sans" pitchFamily="34" charset="-122"/>
                <a:cs typeface="IBM Plex Sans" pitchFamily="34" charset="-120"/>
              </a:rPr>
              <a:t>Il compilatore vede i pesi, oppure no</a:t>
            </a:r>
            <a:endParaRPr lang="en-US" sz="2900" dirty="0"/>
          </a:p>
        </p:txBody>
      </p:sp>
      <p:sp>
        <p:nvSpPr>
          <p:cNvPr id="4" name="Shape 2"/>
          <p:cNvSpPr/>
          <p:nvPr/>
        </p:nvSpPr>
        <p:spPr>
          <a:xfrm>
            <a:off x="812800" y="1715691"/>
            <a:ext cx="5181600" cy="2207750"/>
          </a:xfrm>
          <a:prstGeom prst="roundRect">
            <a:avLst>
              <a:gd name="adj" fmla="val 4602"/>
            </a:avLst>
          </a:prstGeom>
          <a:solidFill>
            <a:srgbClr val="EEF1F5"/>
          </a:solidFill>
          <a:ln/>
        </p:spPr>
      </p:sp>
      <p:sp>
        <p:nvSpPr>
          <p:cNvPr id="5" name="Text 3"/>
          <p:cNvSpPr/>
          <p:nvPr/>
        </p:nvSpPr>
        <p:spPr>
          <a:xfrm>
            <a:off x="1028700" y="1931591"/>
            <a:ext cx="4892294" cy="261607"/>
          </a:xfrm>
          <a:prstGeom prst="rect">
            <a:avLst/>
          </a:prstGeom>
          <a:noFill/>
          <a:ln/>
        </p:spPr>
        <p:txBody>
          <a:bodyPr wrap="square" lIns="0" tIns="0" rIns="0" bIns="0" rtlCol="0" anchor="t">
            <a:normAutofit/>
          </a:bodyPr>
          <a:lstStyle/>
          <a:p>
            <a:pPr marL="0" indent="0" algn="l">
              <a:lnSpc>
                <a:spcPts val="1860"/>
              </a:lnSpc>
              <a:buNone/>
            </a:pPr>
            <a:r>
              <a:rPr lang="en-US" sz="1550" b="1" dirty="0">
                <a:solidFill>
                  <a:srgbClr val="C2410C"/>
                </a:solidFill>
                <a:latin typeface="IBM Plex Sans" pitchFamily="34" charset="0"/>
                <a:ea typeface="IBM Plex Sans" pitchFamily="34" charset="-122"/>
                <a:cs typeface="IBM Plex Sans" pitchFamily="34" charset="-120"/>
              </a:rPr>
              <a:t>Specializzata</a:t>
            </a:r>
            <a:endParaRPr lang="en-US" sz="1550" dirty="0"/>
          </a:p>
        </p:txBody>
      </p:sp>
      <p:sp>
        <p:nvSpPr>
          <p:cNvPr id="6" name="Text 4"/>
          <p:cNvSpPr/>
          <p:nvPr/>
        </p:nvSpPr>
        <p:spPr>
          <a:xfrm>
            <a:off x="1028700" y="2269398"/>
            <a:ext cx="4892294" cy="899716"/>
          </a:xfrm>
          <a:prstGeom prst="rect">
            <a:avLst/>
          </a:prstGeom>
          <a:noFill/>
          <a:ln/>
        </p:spPr>
        <p:txBody>
          <a:bodyPr wrap="square" lIns="0" tIns="0" rIns="0" bIns="0" rtlCol="0" anchor="t">
            <a:normAutofit/>
          </a:bodyPr>
          <a:lstStyle/>
          <a:p>
            <a:pPr marL="0" indent="0" algn="l">
              <a:lnSpc>
                <a:spcPts val="2295"/>
              </a:lnSpc>
              <a:buNone/>
            </a:pPr>
            <a:r>
              <a:rPr lang="en-US" sz="1350" dirty="0">
                <a:solidFill>
                  <a:srgbClr val="14213D"/>
                </a:solidFill>
                <a:latin typeface="JetBrains Mono" pitchFamily="34" charset="0"/>
                <a:ea typeface="JetBrains Mono" pitchFamily="34" charset="-122"/>
                <a:cs typeface="JetBrains Mono" pitchFamily="34" charset="-120"/>
              </a:rPr>
              <a:t>h[j] += 37 * x0;</a:t>
            </a:r>
            <a:endParaRPr lang="en-US" sz="1350" dirty="0"/>
          </a:p>
          <a:p>
            <a:pPr marL="0" indent="0" algn="l">
              <a:lnSpc>
                <a:spcPts val="2295"/>
              </a:lnSpc>
              <a:buNone/>
            </a:pPr>
            <a:r>
              <a:rPr lang="en-US" sz="1350" dirty="0">
                <a:solidFill>
                  <a:srgbClr val="14213D"/>
                </a:solidFill>
                <a:latin typeface="JetBrains Mono" pitchFamily="34" charset="0"/>
                <a:ea typeface="JetBrains Mono" pitchFamily="34" charset="-122"/>
                <a:cs typeface="JetBrains Mono" pitchFamily="34" charset="-120"/>
              </a:rPr>
              <a:t>h[j] += -12 * x1;</a:t>
            </a:r>
            <a:endParaRPr lang="en-US" sz="1350" dirty="0"/>
          </a:p>
          <a:p>
            <a:pPr marL="0" indent="0" algn="l">
              <a:lnSpc>
                <a:spcPts val="2295"/>
              </a:lnSpc>
              <a:buNone/>
            </a:pPr>
            <a:r>
              <a:rPr lang="en-US" sz="1350" dirty="0">
                <a:solidFill>
                  <a:srgbClr val="14213D"/>
                </a:solidFill>
                <a:latin typeface="JetBrains Mono" pitchFamily="34" charset="0"/>
                <a:ea typeface="JetBrains Mono" pitchFamily="34" charset="-122"/>
                <a:cs typeface="JetBrains Mono" pitchFamily="34" charset="-120"/>
              </a:rPr>
              <a:t>…</a:t>
            </a:r>
            <a:endParaRPr lang="en-US" sz="1350" dirty="0"/>
          </a:p>
        </p:txBody>
      </p:sp>
      <p:sp>
        <p:nvSpPr>
          <p:cNvPr id="7" name="Text 5"/>
          <p:cNvSpPr/>
          <p:nvPr/>
        </p:nvSpPr>
        <p:spPr>
          <a:xfrm>
            <a:off x="1028700" y="3245314"/>
            <a:ext cx="4892294"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568"/>
                </a:solidFill>
                <a:latin typeface="IBM Plex Sans" pitchFamily="34" charset="0"/>
                <a:ea typeface="IBM Plex Sans" pitchFamily="34" charset="-122"/>
                <a:cs typeface="IBM Plex Sans" pitchFamily="34" charset="-120"/>
              </a:rPr>
              <a:t>I pesi sono </a:t>
            </a:r>
            <a:r>
              <a:rPr lang="en-US" sz="1300" b="1" dirty="0">
                <a:solidFill>
                  <a:srgbClr val="4A5568"/>
                </a:solidFill>
                <a:latin typeface="IBM Plex Sans" pitchFamily="34" charset="0"/>
                <a:ea typeface="IBM Plex Sans" pitchFamily="34" charset="-122"/>
                <a:cs typeface="IBM Plex Sans" pitchFamily="34" charset="-120"/>
              </a:rPr>
              <a:t>numeri scritti nel programma</a:t>
            </a:r>
            <a:r>
              <a:rPr lang="en-US" sz="1300" dirty="0">
                <a:solidFill>
                  <a:srgbClr val="4A5568"/>
                </a:solidFill>
                <a:latin typeface="IBM Plex Sans" pitchFamily="34" charset="0"/>
                <a:ea typeface="IBM Plex Sans" pitchFamily="34" charset="-122"/>
                <a:cs typeface="IBM Plex Sans" pitchFamily="34" charset="-120"/>
              </a:rPr>
              <a:t>. Il compilatore li vede: cancella le moltiplicazioni per zero, semplifica le altre.</a:t>
            </a:r>
            <a:endParaRPr lang="en-US" sz="1300" dirty="0"/>
          </a:p>
        </p:txBody>
      </p:sp>
      <p:sp>
        <p:nvSpPr>
          <p:cNvPr id="8" name="Shape 6"/>
          <p:cNvSpPr/>
          <p:nvPr/>
        </p:nvSpPr>
        <p:spPr>
          <a:xfrm>
            <a:off x="6197600" y="1715691"/>
            <a:ext cx="5181600" cy="2207750"/>
          </a:xfrm>
          <a:prstGeom prst="roundRect">
            <a:avLst>
              <a:gd name="adj" fmla="val 4602"/>
            </a:avLst>
          </a:prstGeom>
          <a:solidFill>
            <a:srgbClr val="EEF1F5"/>
          </a:solidFill>
          <a:ln/>
        </p:spPr>
      </p:sp>
      <p:sp>
        <p:nvSpPr>
          <p:cNvPr id="9" name="Text 7"/>
          <p:cNvSpPr/>
          <p:nvPr/>
        </p:nvSpPr>
        <p:spPr>
          <a:xfrm>
            <a:off x="6413500" y="1931591"/>
            <a:ext cx="4892294" cy="261607"/>
          </a:xfrm>
          <a:prstGeom prst="rect">
            <a:avLst/>
          </a:prstGeom>
          <a:noFill/>
          <a:ln/>
        </p:spPr>
        <p:txBody>
          <a:bodyPr wrap="square" lIns="0" tIns="0" rIns="0" bIns="0" rtlCol="0" anchor="t">
            <a:normAutofit/>
          </a:bodyPr>
          <a:lstStyle/>
          <a:p>
            <a:pPr marL="0" indent="0" algn="l">
              <a:lnSpc>
                <a:spcPts val="1860"/>
              </a:lnSpc>
              <a:buNone/>
            </a:pPr>
            <a:r>
              <a:rPr lang="en-US" sz="1550" b="1" dirty="0">
                <a:solidFill>
                  <a:srgbClr val="2E7D52"/>
                </a:solidFill>
                <a:latin typeface="IBM Plex Sans" pitchFamily="34" charset="0"/>
                <a:ea typeface="IBM Plex Sans" pitchFamily="34" charset="-122"/>
                <a:cs typeface="IBM Plex Sans" pitchFamily="34" charset="-120"/>
              </a:rPr>
              <a:t>Generica</a:t>
            </a:r>
            <a:endParaRPr lang="en-US" sz="1550" dirty="0"/>
          </a:p>
        </p:txBody>
      </p:sp>
      <p:sp>
        <p:nvSpPr>
          <p:cNvPr id="10" name="Text 8"/>
          <p:cNvSpPr/>
          <p:nvPr/>
        </p:nvSpPr>
        <p:spPr>
          <a:xfrm>
            <a:off x="6413500" y="2269398"/>
            <a:ext cx="4892294" cy="608277"/>
          </a:xfrm>
          <a:prstGeom prst="rect">
            <a:avLst/>
          </a:prstGeom>
          <a:noFill/>
          <a:ln/>
        </p:spPr>
        <p:txBody>
          <a:bodyPr wrap="square" lIns="0" tIns="0" rIns="0" bIns="0" rtlCol="0" anchor="t">
            <a:normAutofit/>
          </a:bodyPr>
          <a:lstStyle/>
          <a:p>
            <a:pPr marL="0" indent="0" algn="l">
              <a:lnSpc>
                <a:spcPts val="2295"/>
              </a:lnSpc>
              <a:buNone/>
            </a:pPr>
            <a:r>
              <a:rPr lang="en-US" sz="1350" dirty="0">
                <a:solidFill>
                  <a:srgbClr val="14213D"/>
                </a:solidFill>
                <a:latin typeface="JetBrains Mono" pitchFamily="34" charset="0"/>
                <a:ea typeface="JetBrains Mono" pitchFamily="34" charset="-122"/>
                <a:cs typeface="JetBrains Mono" pitchFamily="34" charset="-120"/>
              </a:rPr>
              <a:t>for (i …)</a:t>
            </a:r>
            <a:endParaRPr lang="en-US" sz="1350" dirty="0"/>
          </a:p>
          <a:p>
            <a:pPr marL="0" indent="0" algn="l">
              <a:lnSpc>
                <a:spcPts val="2295"/>
              </a:lnSpc>
              <a:buNone/>
            </a:pPr>
            <a:r>
              <a:rPr lang="en-US" sz="1350" dirty="0">
                <a:solidFill>
                  <a:srgbClr val="14213D"/>
                </a:solidFill>
                <a:latin typeface="JetBrains Mono" pitchFamily="34" charset="0"/>
                <a:ea typeface="JetBrains Mono" pitchFamily="34" charset="-122"/>
                <a:cs typeface="JetBrains Mono" pitchFamily="34" charset="-120"/>
              </a:rPr>
              <a:t>  h[j] += W[…] * x[i];</a:t>
            </a:r>
            <a:endParaRPr lang="en-US" sz="1350" dirty="0"/>
          </a:p>
        </p:txBody>
      </p:sp>
      <p:sp>
        <p:nvSpPr>
          <p:cNvPr id="11" name="Text 9"/>
          <p:cNvSpPr/>
          <p:nvPr/>
        </p:nvSpPr>
        <p:spPr>
          <a:xfrm>
            <a:off x="6413500" y="2953876"/>
            <a:ext cx="4892294"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568"/>
                </a:solidFill>
                <a:latin typeface="IBM Plex Sans" pitchFamily="34" charset="0"/>
                <a:ea typeface="IBM Plex Sans" pitchFamily="34" charset="-122"/>
                <a:cs typeface="IBM Plex Sans" pitchFamily="34" charset="-120"/>
              </a:rPr>
              <a:t>I pesi stanno in una </a:t>
            </a:r>
            <a:r>
              <a:rPr lang="en-US" sz="1300" b="1" dirty="0">
                <a:solidFill>
                  <a:srgbClr val="4A5568"/>
                </a:solidFill>
                <a:latin typeface="IBM Plex Sans" pitchFamily="34" charset="0"/>
                <a:ea typeface="IBM Plex Sans" pitchFamily="34" charset="-122"/>
                <a:cs typeface="IBM Plex Sans" pitchFamily="34" charset="-120"/>
              </a:rPr>
              <a:t>tabella</a:t>
            </a:r>
            <a:r>
              <a:rPr lang="en-US" sz="1300" dirty="0">
                <a:solidFill>
                  <a:srgbClr val="4A5568"/>
                </a:solidFill>
                <a:latin typeface="IBM Plex Sans" pitchFamily="34" charset="0"/>
                <a:ea typeface="IBM Plex Sans" pitchFamily="34" charset="-122"/>
                <a:cs typeface="IBM Plex Sans" pitchFamily="34" charset="-120"/>
              </a:rPr>
              <a:t>, e il compilatore non li vede. Il ciclo è scritto per il caso peggiore ammesso, non per la forma vera.</a:t>
            </a:r>
            <a:endParaRPr lang="en-US" sz="1300" dirty="0"/>
          </a:p>
        </p:txBody>
      </p:sp>
      <p:sp>
        <p:nvSpPr>
          <p:cNvPr id="12" name="Shape 10"/>
          <p:cNvSpPr/>
          <p:nvPr/>
        </p:nvSpPr>
        <p:spPr>
          <a:xfrm>
            <a:off x="812800" y="4126641"/>
            <a:ext cx="10566400" cy="871141"/>
          </a:xfrm>
          <a:prstGeom prst="roundRect">
            <a:avLst>
              <a:gd name="adj" fmla="val 11663"/>
            </a:avLst>
          </a:prstGeom>
          <a:solidFill>
            <a:srgbClr val="14213D"/>
          </a:solidFill>
          <a:ln/>
        </p:spPr>
      </p:sp>
      <p:sp>
        <p:nvSpPr>
          <p:cNvPr id="13" name="Text 11"/>
          <p:cNvSpPr/>
          <p:nvPr/>
        </p:nvSpPr>
        <p:spPr>
          <a:xfrm>
            <a:off x="889762" y="4304441"/>
            <a:ext cx="10412476" cy="540941"/>
          </a:xfrm>
          <a:prstGeom prst="rect">
            <a:avLst/>
          </a:prstGeom>
          <a:noFill/>
          <a:ln/>
        </p:spPr>
        <p:txBody>
          <a:bodyPr wrap="square" lIns="0" tIns="0" rIns="0" bIns="0" rtlCol="0" anchor="t">
            <a:normAutofit/>
          </a:bodyPr>
          <a:lstStyle/>
          <a:p>
            <a:pPr marL="0" indent="0" algn="ctr">
              <a:lnSpc>
                <a:spcPts val="2030"/>
              </a:lnSpc>
              <a:buNone/>
            </a:pPr>
            <a:r>
              <a:rPr lang="en-US" sz="1450" dirty="0">
                <a:solidFill>
                  <a:srgbClr val="FBFBF8"/>
                </a:solidFill>
                <a:latin typeface="IBM Plex Sans" pitchFamily="34" charset="0"/>
                <a:ea typeface="IBM Plex Sans" pitchFamily="34" charset="-122"/>
                <a:cs typeface="IBM Plex Sans" pitchFamily="34" charset="-120"/>
              </a:rPr>
              <a:t>Nel primo caso il programma </a:t>
            </a:r>
            <a:r>
              <a:rPr lang="en-US" sz="1450" b="1" dirty="0">
                <a:solidFill>
                  <a:srgbClr val="FBFBF8"/>
                </a:solidFill>
                <a:latin typeface="IBM Plex Sans" pitchFamily="34" charset="0"/>
                <a:ea typeface="IBM Plex Sans" pitchFamily="34" charset="-122"/>
                <a:cs typeface="IBM Plex Sans" pitchFamily="34" charset="-120"/>
              </a:rPr>
              <a:t>è</a:t>
            </a:r>
            <a:r>
              <a:rPr lang="en-US" sz="1450" dirty="0">
                <a:solidFill>
                  <a:srgbClr val="FBFBF8"/>
                </a:solidFill>
                <a:latin typeface="IBM Plex Sans" pitchFamily="34" charset="0"/>
                <a:ea typeface="IBM Plex Sans" pitchFamily="34" charset="-122"/>
                <a:cs typeface="IBM Plex Sans" pitchFamily="34" charset="-120"/>
              </a:rPr>
              <a:t> quel modello, e vale solo per lui.</a:t>
            </a:r>
            <a:endParaRPr lang="en-US" sz="1450" dirty="0"/>
          </a:p>
          <a:p>
            <a:pPr marL="0" indent="0" algn="ctr">
              <a:lnSpc>
                <a:spcPts val="2030"/>
              </a:lnSpc>
              <a:buNone/>
            </a:pPr>
            <a:r>
              <a:rPr lang="en-US" sz="1450" dirty="0">
                <a:solidFill>
                  <a:srgbClr val="FBFBF8"/>
                </a:solidFill>
                <a:latin typeface="IBM Plex Sans" pitchFamily="34" charset="0"/>
                <a:ea typeface="IBM Plex Sans" pitchFamily="34" charset="-122"/>
                <a:cs typeface="IBM Plex Sans" pitchFamily="34" charset="-120"/>
              </a:rPr>
              <a:t>Nel secondo un programma solo serve </a:t>
            </a:r>
            <a:r>
              <a:rPr lang="en-US" sz="1450" b="1" dirty="0">
                <a:solidFill>
                  <a:srgbClr val="FBFBF8"/>
                </a:solidFill>
                <a:latin typeface="IBM Plex Sans" pitchFamily="34" charset="0"/>
                <a:ea typeface="IBM Plex Sans" pitchFamily="34" charset="-122"/>
                <a:cs typeface="IBM Plex Sans" pitchFamily="34" charset="-120"/>
              </a:rPr>
              <a:t>qualunque</a:t>
            </a:r>
            <a:r>
              <a:rPr lang="en-US" sz="1450" dirty="0">
                <a:solidFill>
                  <a:srgbClr val="FBFBF8"/>
                </a:solidFill>
                <a:latin typeface="IBM Plex Sans" pitchFamily="34" charset="0"/>
                <a:ea typeface="IBM Plex Sans" pitchFamily="34" charset="-122"/>
                <a:cs typeface="IBM Plex Sans" pitchFamily="34" charset="-120"/>
              </a:rPr>
              <a:t> modello, ma deve leggere tutto ogni volta.</a:t>
            </a:r>
            <a:endParaRPr lang="en-US" sz="1450" dirty="0"/>
          </a:p>
        </p:txBody>
      </p:sp>
      <p:sp>
        <p:nvSpPr>
          <p:cNvPr id="14" name="Text 12"/>
          <p:cNvSpPr/>
          <p:nvPr/>
        </p:nvSpPr>
        <p:spPr>
          <a:xfrm>
            <a:off x="812800" y="6238280"/>
            <a:ext cx="508830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IBM Plex Sans" pitchFamily="34" charset="0"/>
                <a:ea typeface="IBM Plex Sans" pitchFamily="34" charset="-122"/>
                <a:cs typeface="IBM Plex Sans" pitchFamily="34" charset="-120"/>
              </a:rPr>
              <a:t>Da questa differenza discendono tre risultati che arrivano fra poche slide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EF1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marL="0" indent="0" algn="l">
              <a:lnSpc>
                <a:spcPts val="1820"/>
              </a:lnSpc>
              <a:buNone/>
            </a:pPr>
            <a:r>
              <a:rPr lang="en-US" sz="1300" kern="0" spc="100" dirty="0">
                <a:solidFill>
                  <a:srgbClr val="C2410C"/>
                </a:solidFill>
                <a:latin typeface="JetBrains Mono" pitchFamily="34" charset="0"/>
                <a:ea typeface="JetBrains Mono" pitchFamily="34" charset="-122"/>
                <a:cs typeface="JetBrains Mono" pitchFamily="34" charset="-120"/>
              </a:rPr>
              <a:t>PRIMO RISULTATO</a:t>
            </a:r>
            <a:endParaRPr lang="en-US" sz="1300" dirty="0"/>
          </a:p>
        </p:txBody>
      </p:sp>
      <p:sp>
        <p:nvSpPr>
          <p:cNvPr id="3" name="Text 1"/>
          <p:cNvSpPr/>
          <p:nvPr/>
        </p:nvSpPr>
        <p:spPr>
          <a:xfrm>
            <a:off x="812800" y="1107415"/>
            <a:ext cx="10883392" cy="430477"/>
          </a:xfrm>
          <a:prstGeom prst="rect">
            <a:avLst/>
          </a:prstGeom>
          <a:noFill/>
          <a:ln/>
        </p:spPr>
        <p:txBody>
          <a:bodyPr wrap="square" lIns="0" tIns="0" rIns="0" bIns="0" rtlCol="0" anchor="t">
            <a:normAutofit/>
          </a:bodyPr>
          <a:lstStyle/>
          <a:p>
            <a:pPr marL="0" indent="0" algn="l">
              <a:lnSpc>
                <a:spcPts val="3190"/>
              </a:lnSpc>
              <a:buNone/>
            </a:pPr>
            <a:r>
              <a:rPr lang="en-US" sz="2900" b="1" dirty="0">
                <a:solidFill>
                  <a:srgbClr val="14213D"/>
                </a:solidFill>
                <a:latin typeface="IBM Plex Sans" pitchFamily="34" charset="0"/>
                <a:ea typeface="IBM Plex Sans" pitchFamily="34" charset="-122"/>
                <a:cs typeface="IBM Plex Sans" pitchFamily="34" charset="-120"/>
              </a:rPr>
              <a:t>La configurabilità si paga per pacchetto: 59 → 428 ns</a:t>
            </a:r>
            <a:endParaRPr lang="en-US" sz="29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12800" y="1715691"/>
          <a:ext cx="10566400" cy="2405459"/>
        </p:xfrm>
        <a:graphic>
          <a:graphicData uri="http://schemas.openxmlformats.org/drawingml/2006/table">
            <a:tbl>
              <a:tblPr/>
              <a:tblGrid>
                <a:gridCol w="2958592">
                  <a:extLst>
                    <a:ext uri="{9D8B030D-6E8A-4147-A177-3AD203B41FA5}">
                      <a16:colId xmlns:a16="http://schemas.microsoft.com/office/drawing/2014/main" val="20000"/>
                    </a:ext>
                  </a:extLst>
                </a:gridCol>
                <a:gridCol w="2113280">
                  <a:extLst>
                    <a:ext uri="{9D8B030D-6E8A-4147-A177-3AD203B41FA5}">
                      <a16:colId xmlns:a16="http://schemas.microsoft.com/office/drawing/2014/main" val="20001"/>
                    </a:ext>
                  </a:extLst>
                </a:gridCol>
                <a:gridCol w="1901952">
                  <a:extLst>
                    <a:ext uri="{9D8B030D-6E8A-4147-A177-3AD203B41FA5}">
                      <a16:colId xmlns:a16="http://schemas.microsoft.com/office/drawing/2014/main" val="20002"/>
                    </a:ext>
                  </a:extLst>
                </a:gridCol>
                <a:gridCol w="1796288">
                  <a:extLst>
                    <a:ext uri="{9D8B030D-6E8A-4147-A177-3AD203B41FA5}">
                      <a16:colId xmlns:a16="http://schemas.microsoft.com/office/drawing/2014/main" val="20003"/>
                    </a:ext>
                  </a:extLst>
                </a:gridCol>
                <a:gridCol w="1796288">
                  <a:extLst>
                    <a:ext uri="{9D8B030D-6E8A-4147-A177-3AD203B41FA5}">
                      <a16:colId xmlns:a16="http://schemas.microsoft.com/office/drawing/2014/main" val="20004"/>
                    </a:ext>
                  </a:extLst>
                </a:gridCol>
              </a:tblGrid>
              <a:tr h="701543">
                <a:tc>
                  <a:txBody>
                    <a:bodyPr/>
                    <a:lstStyle/>
                    <a:p>
                      <a:pPr marL="0" indent="0">
                        <a:lnSpc>
                          <a:spcPts val="2170"/>
                        </a:lnSpc>
                        <a:buNone/>
                      </a:pPr>
                      <a:r>
                        <a:rPr lang="en-US" sz="1550" b="1" dirty="0">
                          <a:solidFill>
                            <a:srgbClr val="FBFBF8"/>
                          </a:solidFill>
                          <a:latin typeface="IBM Plex Sans" pitchFamily="34" charset="0"/>
                          <a:ea typeface="IBM Plex Sans" pitchFamily="34" charset="-122"/>
                          <a:cs typeface="IBM Plex Sans" pitchFamily="34" charset="-120"/>
                        </a:rPr>
                        <a:t>Versione</a:t>
                      </a:r>
                      <a:endParaRPr lang="en-US" sz="1550" dirty="0">
                        <a:latin typeface="IBM Plex Sans" charset="0"/>
                        <a:ea typeface="IBM Plex Sans" charset="0"/>
                        <a:cs typeface="IBM Plex Sans" charset="0"/>
                      </a:endParaRPr>
                    </a:p>
                  </a:txBody>
                  <a:tcPr marL="68898" marR="68898" marT="68898" marB="68898">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marL="0" indent="0" algn="r">
                        <a:lnSpc>
                          <a:spcPts val="2170"/>
                        </a:lnSpc>
                        <a:buNone/>
                      </a:pPr>
                      <a:r>
                        <a:rPr lang="en-US" sz="1550" b="1" dirty="0">
                          <a:solidFill>
                            <a:srgbClr val="FBFBF8"/>
                          </a:solidFill>
                          <a:latin typeface="IBM Plex Sans" pitchFamily="34" charset="0"/>
                          <a:ea typeface="IBM Plex Sans" pitchFamily="34" charset="-122"/>
                          <a:cs typeface="IBM Plex Sans" pitchFamily="34" charset="-120"/>
                        </a:rPr>
                        <a:t>Latenza</a:t>
                      </a:r>
                      <a:endParaRPr lang="en-US" sz="1550" dirty="0">
                        <a:latin typeface="IBM Plex Sans" charset="0"/>
                        <a:ea typeface="IBM Plex Sans" charset="0"/>
                        <a:cs typeface="IBM Plex Sans" charset="0"/>
                      </a:endParaRPr>
                    </a:p>
                  </a:txBody>
                  <a:tcPr marL="68898" marR="68898" marT="68898" marB="68898">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marL="0" indent="0" algn="r">
                        <a:lnSpc>
                          <a:spcPts val="2170"/>
                        </a:lnSpc>
                        <a:buNone/>
                      </a:pPr>
                      <a:r>
                        <a:rPr lang="en-US" sz="1550" b="1" dirty="0">
                          <a:solidFill>
                            <a:srgbClr val="FBFBF8"/>
                          </a:solidFill>
                          <a:latin typeface="IBM Plex Sans" pitchFamily="34" charset="0"/>
                          <a:ea typeface="IBM Plex Sans" pitchFamily="34" charset="-122"/>
                          <a:cs typeface="IBM Plex Sans" pitchFamily="34" charset="-120"/>
                        </a:rPr>
                        <a:t>Istruzioni</a:t>
                      </a:r>
                      <a:endParaRPr lang="en-US" sz="1550" dirty="0">
                        <a:latin typeface="IBM Plex Sans" charset="0"/>
                        <a:ea typeface="IBM Plex Sans" charset="0"/>
                        <a:cs typeface="IBM Plex Sans" charset="0"/>
                      </a:endParaRPr>
                    </a:p>
                  </a:txBody>
                  <a:tcPr marL="68898" marR="68898" marT="68898" marB="68898">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marL="0" indent="0" algn="r">
                        <a:lnSpc>
                          <a:spcPts val="2170"/>
                        </a:lnSpc>
                        <a:buNone/>
                      </a:pPr>
                      <a:r>
                        <a:rPr lang="en-US" sz="1550" b="1" dirty="0">
                          <a:solidFill>
                            <a:srgbClr val="FBFBF8"/>
                          </a:solidFill>
                          <a:latin typeface="IBM Plex Sans" pitchFamily="34" charset="0"/>
                          <a:ea typeface="IBM Plex Sans" pitchFamily="34" charset="-122"/>
                          <a:cs typeface="IBM Plex Sans" pitchFamily="34" charset="-120"/>
                        </a:rPr>
                        <a:t>Letture di tabella</a:t>
                      </a:r>
                      <a:endParaRPr lang="en-US" sz="1550" dirty="0">
                        <a:latin typeface="IBM Plex Sans" charset="0"/>
                        <a:ea typeface="IBM Plex Sans" charset="0"/>
                        <a:cs typeface="IBM Plex Sans" charset="0"/>
                      </a:endParaRPr>
                    </a:p>
                  </a:txBody>
                  <a:tcPr marL="68898" marR="68898" marT="68898" marB="68898">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marL="0" indent="0" algn="r">
                        <a:lnSpc>
                          <a:spcPts val="2170"/>
                        </a:lnSpc>
                        <a:buNone/>
                      </a:pPr>
                      <a:r>
                        <a:rPr lang="en-US" sz="1550" b="1" dirty="0">
                          <a:solidFill>
                            <a:srgbClr val="FBFBF8"/>
                          </a:solidFill>
                          <a:latin typeface="IBM Plex Sans" pitchFamily="34" charset="0"/>
                          <a:ea typeface="IBM Plex Sans" pitchFamily="34" charset="-122"/>
                          <a:cs typeface="IBM Plex Sans" pitchFamily="34" charset="-120"/>
                        </a:rPr>
                        <a:t>Salti fra programmi</a:t>
                      </a:r>
                      <a:endParaRPr lang="en-US" sz="1550" dirty="0">
                        <a:latin typeface="IBM Plex Sans" charset="0"/>
                        <a:ea typeface="IBM Plex Sans" charset="0"/>
                        <a:cs typeface="IBM Plex Sans" charset="0"/>
                      </a:endParaRPr>
                    </a:p>
                  </a:txBody>
                  <a:tcPr marL="68898" marR="68898" marT="68898" marB="68898">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425979">
                <a:tc>
                  <a:txBody>
                    <a:bodyPr/>
                    <a:lstStyle/>
                    <a:p>
                      <a:pPr marL="0" indent="0">
                        <a:lnSpc>
                          <a:spcPts val="2170"/>
                        </a:lnSpc>
                        <a:buNone/>
                      </a:pPr>
                      <a:r>
                        <a:rPr lang="en-US" sz="1550" dirty="0">
                          <a:solidFill>
                            <a:srgbClr val="14213D"/>
                          </a:solidFill>
                          <a:latin typeface="IBM Plex Sans" pitchFamily="34" charset="0"/>
                          <a:ea typeface="IBM Plex Sans" pitchFamily="34" charset="-122"/>
                          <a:cs typeface="IBM Plex Sans" pitchFamily="34" charset="-120"/>
                        </a:rPr>
                        <a:t>P1 p1_static</a:t>
                      </a:r>
                      <a:endParaRPr lang="en-US" sz="1550" dirty="0">
                        <a:latin typeface="IBM Plex Sans" charset="0"/>
                        <a:ea typeface="IBM Plex Sans" charset="0"/>
                        <a:cs typeface="IBM Plex Sans" charset="0"/>
                      </a:endParaRPr>
                    </a:p>
                  </a:txBody>
                  <a:tcPr marL="68898" marR="68898" marT="68898" marB="68898">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2170"/>
                        </a:lnSpc>
                        <a:buNone/>
                      </a:pPr>
                      <a:r>
                        <a:rPr lang="en-US" sz="1550" dirty="0">
                          <a:solidFill>
                            <a:srgbClr val="14213D"/>
                          </a:solidFill>
                          <a:latin typeface="IBM Plex Sans" pitchFamily="34" charset="0"/>
                          <a:ea typeface="IBM Plex Sans" pitchFamily="34" charset="-122"/>
                          <a:cs typeface="IBM Plex Sans" pitchFamily="34" charset="-120"/>
                        </a:rPr>
                        <a:t>59 ns</a:t>
                      </a:r>
                      <a:endParaRPr lang="en-US" sz="1550" dirty="0">
                        <a:latin typeface="IBM Plex Sans" charset="0"/>
                        <a:ea typeface="IBM Plex Sans" charset="0"/>
                        <a:cs typeface="IBM Plex Sans" charset="0"/>
                      </a:endParaRPr>
                    </a:p>
                  </a:txBody>
                  <a:tcPr marL="68898" marR="68898" marT="68898" marB="68898">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2170"/>
                        </a:lnSpc>
                        <a:buNone/>
                      </a:pPr>
                      <a:r>
                        <a:rPr lang="en-US" sz="1550" dirty="0">
                          <a:solidFill>
                            <a:srgbClr val="14213D"/>
                          </a:solidFill>
                          <a:latin typeface="IBM Plex Sans" pitchFamily="34" charset="0"/>
                          <a:ea typeface="IBM Plex Sans" pitchFamily="34" charset="-122"/>
                          <a:cs typeface="IBM Plex Sans" pitchFamily="34" charset="-120"/>
                        </a:rPr>
                        <a:t>614</a:t>
                      </a:r>
                      <a:endParaRPr lang="en-US" sz="1550" dirty="0">
                        <a:latin typeface="IBM Plex Sans" charset="0"/>
                        <a:ea typeface="IBM Plex Sans" charset="0"/>
                        <a:cs typeface="IBM Plex Sans" charset="0"/>
                      </a:endParaRPr>
                    </a:p>
                  </a:txBody>
                  <a:tcPr marL="68898" marR="68898" marT="68898" marB="68898">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2170"/>
                        </a:lnSpc>
                        <a:buNone/>
                      </a:pPr>
                      <a:r>
                        <a:rPr lang="en-US" sz="1550" dirty="0">
                          <a:solidFill>
                            <a:srgbClr val="14213D"/>
                          </a:solidFill>
                          <a:latin typeface="IBM Plex Sans" pitchFamily="34" charset="0"/>
                          <a:ea typeface="IBM Plex Sans" pitchFamily="34" charset="-122"/>
                          <a:cs typeface="IBM Plex Sans" pitchFamily="34" charset="-120"/>
                        </a:rPr>
                        <a:t>—</a:t>
                      </a:r>
                      <a:endParaRPr lang="en-US" sz="1550" dirty="0">
                        <a:latin typeface="IBM Plex Sans" charset="0"/>
                        <a:ea typeface="IBM Plex Sans" charset="0"/>
                        <a:cs typeface="IBM Plex Sans" charset="0"/>
                      </a:endParaRPr>
                    </a:p>
                  </a:txBody>
                  <a:tcPr marL="68898" marR="68898" marT="68898" marB="68898">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2170"/>
                        </a:lnSpc>
                        <a:buNone/>
                      </a:pPr>
                      <a:r>
                        <a:rPr lang="en-US" sz="1550" dirty="0">
                          <a:solidFill>
                            <a:srgbClr val="14213D"/>
                          </a:solidFill>
                          <a:latin typeface="IBM Plex Sans" pitchFamily="34" charset="0"/>
                          <a:ea typeface="IBM Plex Sans" pitchFamily="34" charset="-122"/>
                          <a:cs typeface="IBM Plex Sans" pitchFamily="34" charset="-120"/>
                        </a:rPr>
                        <a:t>1</a:t>
                      </a:r>
                      <a:endParaRPr lang="en-US" sz="1550" dirty="0">
                        <a:latin typeface="IBM Plex Sans" charset="0"/>
                        <a:ea typeface="IBM Plex Sans" charset="0"/>
                        <a:cs typeface="IBM Plex Sans" charset="0"/>
                      </a:endParaRPr>
                    </a:p>
                  </a:txBody>
                  <a:tcPr marL="68898" marR="68898" marT="68898" marB="68898">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extLst>
                  <a:ext uri="{0D108BD9-81ED-4DB2-BD59-A6C34878D82A}">
                    <a16:rowId xmlns:a16="http://schemas.microsoft.com/office/drawing/2014/main" val="10001"/>
                  </a:ext>
                </a:extLst>
              </a:tr>
              <a:tr h="425979">
                <a:tc>
                  <a:txBody>
                    <a:bodyPr/>
                    <a:lstStyle/>
                    <a:p>
                      <a:pPr marL="0" indent="0">
                        <a:lnSpc>
                          <a:spcPts val="2170"/>
                        </a:lnSpc>
                        <a:buNone/>
                      </a:pPr>
                      <a:r>
                        <a:rPr lang="en-US" sz="1550" dirty="0">
                          <a:solidFill>
                            <a:srgbClr val="14213D"/>
                          </a:solidFill>
                          <a:latin typeface="IBM Plex Sans" pitchFamily="34" charset="0"/>
                          <a:ea typeface="IBM Plex Sans" pitchFamily="34" charset="-122"/>
                          <a:cs typeface="IBM Plex Sans" pitchFamily="34" charset="-120"/>
                        </a:rPr>
                        <a:t>P1.5 hardcoded</a:t>
                      </a:r>
                      <a:endParaRPr lang="en-US" sz="1550" dirty="0">
                        <a:latin typeface="IBM Plex Sans" charset="0"/>
                        <a:ea typeface="IBM Plex Sans" charset="0"/>
                        <a:cs typeface="IBM Plex Sans" charset="0"/>
                      </a:endParaRPr>
                    </a:p>
                  </a:txBody>
                  <a:tcPr marL="68898" marR="68898" marT="68898" marB="68898">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gn="r">
                        <a:lnSpc>
                          <a:spcPts val="2170"/>
                        </a:lnSpc>
                        <a:buNone/>
                      </a:pPr>
                      <a:r>
                        <a:rPr lang="en-US" sz="1550" dirty="0">
                          <a:solidFill>
                            <a:srgbClr val="14213D"/>
                          </a:solidFill>
                          <a:latin typeface="IBM Plex Sans" pitchFamily="34" charset="0"/>
                          <a:ea typeface="IBM Plex Sans" pitchFamily="34" charset="-122"/>
                          <a:cs typeface="IBM Plex Sans" pitchFamily="34" charset="-120"/>
                        </a:rPr>
                        <a:t>79 ns</a:t>
                      </a:r>
                      <a:endParaRPr lang="en-US" sz="1550" dirty="0">
                        <a:latin typeface="IBM Plex Sans" charset="0"/>
                        <a:ea typeface="IBM Plex Sans" charset="0"/>
                        <a:cs typeface="IBM Plex Sans" charset="0"/>
                      </a:endParaRPr>
                    </a:p>
                  </a:txBody>
                  <a:tcPr marL="68898" marR="68898" marT="68898" marB="68898">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gn="r">
                        <a:lnSpc>
                          <a:spcPts val="2170"/>
                        </a:lnSpc>
                        <a:buNone/>
                      </a:pPr>
                      <a:r>
                        <a:rPr lang="en-US" sz="1550" dirty="0">
                          <a:solidFill>
                            <a:srgbClr val="14213D"/>
                          </a:solidFill>
                          <a:latin typeface="IBM Plex Sans" pitchFamily="34" charset="0"/>
                          <a:ea typeface="IBM Plex Sans" pitchFamily="34" charset="-122"/>
                          <a:cs typeface="IBM Plex Sans" pitchFamily="34" charset="-120"/>
                        </a:rPr>
                        <a:t>1 071</a:t>
                      </a:r>
                      <a:endParaRPr lang="en-US" sz="1550" dirty="0">
                        <a:latin typeface="IBM Plex Sans" charset="0"/>
                        <a:ea typeface="IBM Plex Sans" charset="0"/>
                        <a:cs typeface="IBM Plex Sans" charset="0"/>
                      </a:endParaRPr>
                    </a:p>
                  </a:txBody>
                  <a:tcPr marL="68898" marR="68898" marT="68898" marB="68898">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gn="r">
                        <a:lnSpc>
                          <a:spcPts val="2170"/>
                        </a:lnSpc>
                        <a:buNone/>
                      </a:pPr>
                      <a:r>
                        <a:rPr lang="en-US" sz="1550" dirty="0">
                          <a:solidFill>
                            <a:srgbClr val="14213D"/>
                          </a:solidFill>
                          <a:latin typeface="IBM Plex Sans" pitchFamily="34" charset="0"/>
                          <a:ea typeface="IBM Plex Sans" pitchFamily="34" charset="-122"/>
                          <a:cs typeface="IBM Plex Sans" pitchFamily="34" charset="-120"/>
                        </a:rPr>
                        <a:t>6</a:t>
                      </a:r>
                      <a:endParaRPr lang="en-US" sz="1550" dirty="0">
                        <a:latin typeface="IBM Plex Sans" charset="0"/>
                        <a:ea typeface="IBM Plex Sans" charset="0"/>
                        <a:cs typeface="IBM Plex Sans" charset="0"/>
                      </a:endParaRPr>
                    </a:p>
                  </a:txBody>
                  <a:tcPr marL="68898" marR="68898" marT="68898" marB="68898">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gn="r">
                        <a:lnSpc>
                          <a:spcPts val="2170"/>
                        </a:lnSpc>
                        <a:buNone/>
                      </a:pPr>
                      <a:r>
                        <a:rPr lang="en-US" sz="1550" dirty="0">
                          <a:solidFill>
                            <a:srgbClr val="14213D"/>
                          </a:solidFill>
                          <a:latin typeface="IBM Plex Sans" pitchFamily="34" charset="0"/>
                          <a:ea typeface="IBM Plex Sans" pitchFamily="34" charset="-122"/>
                          <a:cs typeface="IBM Plex Sans" pitchFamily="34" charset="-120"/>
                        </a:rPr>
                        <a:t>1</a:t>
                      </a:r>
                      <a:endParaRPr lang="en-US" sz="1550" dirty="0">
                        <a:latin typeface="IBM Plex Sans" charset="0"/>
                        <a:ea typeface="IBM Plex Sans" charset="0"/>
                        <a:cs typeface="IBM Plex Sans" charset="0"/>
                      </a:endParaRPr>
                    </a:p>
                  </a:txBody>
                  <a:tcPr marL="68898" marR="68898" marT="68898" marB="68898">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extLst>
                  <a:ext uri="{0D108BD9-81ED-4DB2-BD59-A6C34878D82A}">
                    <a16:rowId xmlns:a16="http://schemas.microsoft.com/office/drawing/2014/main" val="10002"/>
                  </a:ext>
                </a:extLst>
              </a:tr>
              <a:tr h="425979">
                <a:tc>
                  <a:txBody>
                    <a:bodyPr/>
                    <a:lstStyle/>
                    <a:p>
                      <a:pPr marL="0" indent="0">
                        <a:lnSpc>
                          <a:spcPts val="2170"/>
                        </a:lnSpc>
                        <a:buNone/>
                      </a:pPr>
                      <a:r>
                        <a:rPr lang="en-US" sz="1550" dirty="0">
                          <a:solidFill>
                            <a:srgbClr val="14213D"/>
                          </a:solidFill>
                          <a:latin typeface="IBM Plex Sans" pitchFamily="34" charset="0"/>
                          <a:ea typeface="IBM Plex Sans" pitchFamily="34" charset="-122"/>
                          <a:cs typeface="IBM Plex Sans" pitchFamily="34" charset="-120"/>
                        </a:rPr>
                        <a:t>P2 template</a:t>
                      </a:r>
                      <a:endParaRPr lang="en-US" sz="1550" dirty="0">
                        <a:latin typeface="IBM Plex Sans" charset="0"/>
                        <a:ea typeface="IBM Plex Sans" charset="0"/>
                        <a:cs typeface="IBM Plex Sans" charset="0"/>
                      </a:endParaRPr>
                    </a:p>
                  </a:txBody>
                  <a:tcPr marL="68898" marR="68898" marT="68898" marB="68898">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2170"/>
                        </a:lnSpc>
                        <a:buNone/>
                      </a:pPr>
                      <a:r>
                        <a:rPr lang="en-US" sz="1550" dirty="0">
                          <a:solidFill>
                            <a:srgbClr val="14213D"/>
                          </a:solidFill>
                          <a:latin typeface="IBM Plex Sans" pitchFamily="34" charset="0"/>
                          <a:ea typeface="IBM Plex Sans" pitchFamily="34" charset="-122"/>
                          <a:cs typeface="IBM Plex Sans" pitchFamily="34" charset="-120"/>
                        </a:rPr>
                        <a:t>271 ns</a:t>
                      </a:r>
                      <a:endParaRPr lang="en-US" sz="1550" dirty="0">
                        <a:latin typeface="IBM Plex Sans" charset="0"/>
                        <a:ea typeface="IBM Plex Sans" charset="0"/>
                        <a:cs typeface="IBM Plex Sans" charset="0"/>
                      </a:endParaRPr>
                    </a:p>
                  </a:txBody>
                  <a:tcPr marL="68898" marR="68898" marT="68898" marB="68898">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2170"/>
                        </a:lnSpc>
                        <a:buNone/>
                      </a:pPr>
                      <a:r>
                        <a:rPr lang="en-US" sz="1550" dirty="0">
                          <a:solidFill>
                            <a:srgbClr val="14213D"/>
                          </a:solidFill>
                          <a:latin typeface="IBM Plex Sans" pitchFamily="34" charset="0"/>
                          <a:ea typeface="IBM Plex Sans" pitchFamily="34" charset="-122"/>
                          <a:cs typeface="IBM Plex Sans" pitchFamily="34" charset="-120"/>
                        </a:rPr>
                        <a:t>14 985</a:t>
                      </a:r>
                      <a:endParaRPr lang="en-US" sz="1550" dirty="0">
                        <a:latin typeface="IBM Plex Sans" charset="0"/>
                        <a:ea typeface="IBM Plex Sans" charset="0"/>
                        <a:cs typeface="IBM Plex Sans" charset="0"/>
                      </a:endParaRPr>
                    </a:p>
                  </a:txBody>
                  <a:tcPr marL="68898" marR="68898" marT="68898" marB="68898">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2170"/>
                        </a:lnSpc>
                        <a:buNone/>
                      </a:pPr>
                      <a:r>
                        <a:rPr lang="en-US" sz="1550" dirty="0">
                          <a:solidFill>
                            <a:srgbClr val="14213D"/>
                          </a:solidFill>
                          <a:latin typeface="IBM Plex Sans" pitchFamily="34" charset="0"/>
                          <a:ea typeface="IBM Plex Sans" pitchFamily="34" charset="-122"/>
                          <a:cs typeface="IBM Plex Sans" pitchFamily="34" charset="-120"/>
                        </a:rPr>
                        <a:t>11</a:t>
                      </a:r>
                      <a:endParaRPr lang="en-US" sz="1550" dirty="0">
                        <a:latin typeface="IBM Plex Sans" charset="0"/>
                        <a:ea typeface="IBM Plex Sans" charset="0"/>
                        <a:cs typeface="IBM Plex Sans" charset="0"/>
                      </a:endParaRPr>
                    </a:p>
                  </a:txBody>
                  <a:tcPr marL="68898" marR="68898" marT="68898" marB="68898">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2170"/>
                        </a:lnSpc>
                        <a:buNone/>
                      </a:pPr>
                      <a:r>
                        <a:rPr lang="en-US" sz="1550" dirty="0">
                          <a:solidFill>
                            <a:srgbClr val="14213D"/>
                          </a:solidFill>
                          <a:latin typeface="IBM Plex Sans" pitchFamily="34" charset="0"/>
                          <a:ea typeface="IBM Plex Sans" pitchFamily="34" charset="-122"/>
                          <a:cs typeface="IBM Plex Sans" pitchFamily="34" charset="-120"/>
                        </a:rPr>
                        <a:t>1</a:t>
                      </a:r>
                      <a:endParaRPr lang="en-US" sz="1550" dirty="0">
                        <a:latin typeface="IBM Plex Sans" charset="0"/>
                        <a:ea typeface="IBM Plex Sans" charset="0"/>
                        <a:cs typeface="IBM Plex Sans" charset="0"/>
                      </a:endParaRPr>
                    </a:p>
                  </a:txBody>
                  <a:tcPr marL="68898" marR="68898" marT="68898" marB="68898">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extLst>
                  <a:ext uri="{0D108BD9-81ED-4DB2-BD59-A6C34878D82A}">
                    <a16:rowId xmlns:a16="http://schemas.microsoft.com/office/drawing/2014/main" val="10003"/>
                  </a:ext>
                </a:extLst>
              </a:tr>
              <a:tr h="425979">
                <a:tc>
                  <a:txBody>
                    <a:bodyPr/>
                    <a:lstStyle/>
                    <a:p>
                      <a:pPr marL="0" indent="0">
                        <a:lnSpc>
                          <a:spcPts val="2170"/>
                        </a:lnSpc>
                        <a:buNone/>
                      </a:pPr>
                      <a:r>
                        <a:rPr lang="en-US" sz="1550" dirty="0">
                          <a:solidFill>
                            <a:srgbClr val="14213D"/>
                          </a:solidFill>
                          <a:latin typeface="IBM Plex Sans" pitchFamily="34" charset="0"/>
                          <a:ea typeface="IBM Plex Sans" pitchFamily="34" charset="-122"/>
                          <a:cs typeface="IBM Plex Sans" pitchFamily="34" charset="-120"/>
                        </a:rPr>
                        <a:t>P3 modular</a:t>
                      </a:r>
                      <a:endParaRPr lang="en-US" sz="1550" dirty="0">
                        <a:latin typeface="IBM Plex Sans" charset="0"/>
                        <a:ea typeface="IBM Plex Sans" charset="0"/>
                        <a:cs typeface="IBM Plex Sans" charset="0"/>
                      </a:endParaRPr>
                    </a:p>
                  </a:txBody>
                  <a:tcPr marL="68898" marR="68898" marT="68898" marB="68898">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gn="r">
                        <a:lnSpc>
                          <a:spcPts val="2170"/>
                        </a:lnSpc>
                        <a:buNone/>
                      </a:pPr>
                      <a:r>
                        <a:rPr lang="en-US" sz="1550" dirty="0">
                          <a:solidFill>
                            <a:srgbClr val="14213D"/>
                          </a:solidFill>
                          <a:latin typeface="IBM Plex Sans" pitchFamily="34" charset="0"/>
                          <a:ea typeface="IBM Plex Sans" pitchFamily="34" charset="-122"/>
                          <a:cs typeface="IBM Plex Sans" pitchFamily="34" charset="-120"/>
                        </a:rPr>
                        <a:t>428 ns</a:t>
                      </a:r>
                      <a:endParaRPr lang="en-US" sz="1550" dirty="0">
                        <a:latin typeface="IBM Plex Sans" charset="0"/>
                        <a:ea typeface="IBM Plex Sans" charset="0"/>
                        <a:cs typeface="IBM Plex Sans" charset="0"/>
                      </a:endParaRPr>
                    </a:p>
                  </a:txBody>
                  <a:tcPr marL="68898" marR="68898" marT="68898" marB="68898">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gn="r">
                        <a:lnSpc>
                          <a:spcPts val="2170"/>
                        </a:lnSpc>
                        <a:buNone/>
                      </a:pPr>
                      <a:r>
                        <a:rPr lang="en-US" sz="1550" dirty="0">
                          <a:solidFill>
                            <a:srgbClr val="14213D"/>
                          </a:solidFill>
                          <a:latin typeface="IBM Plex Sans" pitchFamily="34" charset="0"/>
                          <a:ea typeface="IBM Plex Sans" pitchFamily="34" charset="-122"/>
                          <a:cs typeface="IBM Plex Sans" pitchFamily="34" charset="-120"/>
                        </a:rPr>
                        <a:t>12 349</a:t>
                      </a:r>
                      <a:endParaRPr lang="en-US" sz="1550" dirty="0">
                        <a:latin typeface="IBM Plex Sans" charset="0"/>
                        <a:ea typeface="IBM Plex Sans" charset="0"/>
                        <a:cs typeface="IBM Plex Sans" charset="0"/>
                      </a:endParaRPr>
                    </a:p>
                  </a:txBody>
                  <a:tcPr marL="68898" marR="68898" marT="68898" marB="68898">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gn="r">
                        <a:lnSpc>
                          <a:spcPts val="2170"/>
                        </a:lnSpc>
                        <a:buNone/>
                      </a:pPr>
                      <a:r>
                        <a:rPr lang="en-US" sz="1550" dirty="0">
                          <a:solidFill>
                            <a:srgbClr val="14213D"/>
                          </a:solidFill>
                          <a:latin typeface="IBM Plex Sans" pitchFamily="34" charset="0"/>
                          <a:ea typeface="IBM Plex Sans" pitchFamily="34" charset="-122"/>
                          <a:cs typeface="IBM Plex Sans" pitchFamily="34" charset="-120"/>
                        </a:rPr>
                        <a:t>29</a:t>
                      </a:r>
                      <a:endParaRPr lang="en-US" sz="1550" dirty="0">
                        <a:latin typeface="IBM Plex Sans" charset="0"/>
                        <a:ea typeface="IBM Plex Sans" charset="0"/>
                        <a:cs typeface="IBM Plex Sans" charset="0"/>
                      </a:endParaRPr>
                    </a:p>
                  </a:txBody>
                  <a:tcPr marL="68898" marR="68898" marT="68898" marB="68898">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gn="r">
                        <a:lnSpc>
                          <a:spcPts val="2170"/>
                        </a:lnSpc>
                        <a:buNone/>
                      </a:pPr>
                      <a:r>
                        <a:rPr lang="en-US" sz="1550" dirty="0">
                          <a:solidFill>
                            <a:srgbClr val="14213D"/>
                          </a:solidFill>
                          <a:latin typeface="IBM Plex Sans" pitchFamily="34" charset="0"/>
                          <a:ea typeface="IBM Plex Sans" pitchFamily="34" charset="-122"/>
                          <a:cs typeface="IBM Plex Sans" pitchFamily="34" charset="-120"/>
                        </a:rPr>
                        <a:t>3</a:t>
                      </a:r>
                      <a:endParaRPr lang="en-US" sz="1550" dirty="0">
                        <a:latin typeface="IBM Plex Sans" charset="0"/>
                        <a:ea typeface="IBM Plex Sans" charset="0"/>
                        <a:cs typeface="IBM Plex Sans" charset="0"/>
                      </a:endParaRPr>
                    </a:p>
                  </a:txBody>
                  <a:tcPr marL="68898" marR="68898" marT="68898" marB="68898">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Shape 2"/>
          <p:cNvSpPr/>
          <p:nvPr/>
        </p:nvSpPr>
        <p:spPr>
          <a:xfrm>
            <a:off x="815975" y="4568825"/>
            <a:ext cx="5185833" cy="1131028"/>
          </a:xfrm>
          <a:prstGeom prst="roundRect">
            <a:avLst>
              <a:gd name="adj" fmla="val 8702"/>
            </a:avLst>
          </a:prstGeom>
          <a:solidFill>
            <a:srgbClr val="FBFBF8"/>
          </a:solidFill>
          <a:ln w="6350">
            <a:solidFill>
              <a:srgbClr val="D7DEE7"/>
            </a:solidFill>
            <a:prstDash val="solid"/>
          </a:ln>
        </p:spPr>
      </p:sp>
      <p:sp>
        <p:nvSpPr>
          <p:cNvPr id="6" name="Text 3"/>
          <p:cNvSpPr/>
          <p:nvPr/>
        </p:nvSpPr>
        <p:spPr>
          <a:xfrm>
            <a:off x="1020233" y="4747685"/>
            <a:ext cx="4920636" cy="798711"/>
          </a:xfrm>
          <a:prstGeom prst="rect">
            <a:avLst/>
          </a:prstGeom>
          <a:noFill/>
          <a:ln/>
        </p:spPr>
        <p:txBody>
          <a:bodyPr wrap="square" lIns="0" tIns="0" rIns="0" bIns="0" rtlCol="0" anchor="t">
            <a:normAutofit/>
          </a:bodyPr>
          <a:lstStyle/>
          <a:p>
            <a:pPr marL="0" indent="0" algn="l">
              <a:lnSpc>
                <a:spcPts val="2030"/>
              </a:lnSpc>
              <a:buNone/>
            </a:pPr>
            <a:r>
              <a:rPr lang="en-US" sz="1400" dirty="0">
                <a:solidFill>
                  <a:srgbClr val="4A5568"/>
                </a:solidFill>
                <a:latin typeface="IBM Plex Sans" pitchFamily="34" charset="0"/>
                <a:ea typeface="IBM Plex Sans" pitchFamily="34" charset="-122"/>
                <a:cs typeface="IBM Plex Sans" pitchFamily="34" charset="-120"/>
              </a:rPr>
              <a:t>Fra i due estremi il costo per pacchetto cresce di </a:t>
            </a:r>
            <a:r>
              <a:rPr lang="en-US" sz="1400" b="1" dirty="0">
                <a:solidFill>
                  <a:srgbClr val="4A5568"/>
                </a:solidFill>
                <a:latin typeface="IBM Plex Sans" pitchFamily="34" charset="0"/>
                <a:ea typeface="IBM Plex Sans" pitchFamily="34" charset="-122"/>
                <a:cs typeface="IBM Plex Sans" pitchFamily="34" charset="-120"/>
              </a:rPr>
              <a:t>circa 7×</a:t>
            </a:r>
            <a:r>
              <a:rPr lang="en-US" sz="1400" dirty="0">
                <a:solidFill>
                  <a:srgbClr val="4A5568"/>
                </a:solidFill>
                <a:latin typeface="IBM Plex Sans" pitchFamily="34" charset="0"/>
                <a:ea typeface="IBM Plex Sans" pitchFamily="34" charset="-122"/>
                <a:cs typeface="IBM Plex Sans" pitchFamily="34" charset="-120"/>
              </a:rPr>
              <a:t>. Il salto grande non è fra P1 e P1.5 — lì sono 20 ns — ma quando anche la </a:t>
            </a:r>
            <a:r>
              <a:rPr lang="en-US" sz="1400" b="1" dirty="0">
                <a:solidFill>
                  <a:srgbClr val="4A5568"/>
                </a:solidFill>
                <a:latin typeface="IBM Plex Sans" pitchFamily="34" charset="0"/>
                <a:ea typeface="IBM Plex Sans" pitchFamily="34" charset="-122"/>
                <a:cs typeface="IBM Plex Sans" pitchFamily="34" charset="-120"/>
              </a:rPr>
              <a:t>forma della rete</a:t>
            </a:r>
            <a:r>
              <a:rPr lang="en-US" sz="1400" dirty="0">
                <a:solidFill>
                  <a:srgbClr val="4A5568"/>
                </a:solidFill>
                <a:latin typeface="IBM Plex Sans" pitchFamily="34" charset="0"/>
                <a:ea typeface="IBM Plex Sans" pitchFamily="34" charset="-122"/>
                <a:cs typeface="IBM Plex Sans" pitchFamily="34" charset="-120"/>
              </a:rPr>
              <a:t> diventa configurabile.</a:t>
            </a:r>
            <a:endParaRPr lang="en-US" sz="1400" dirty="0"/>
          </a:p>
        </p:txBody>
      </p:sp>
      <p:sp>
        <p:nvSpPr>
          <p:cNvPr id="7" name="Shape 4"/>
          <p:cNvSpPr/>
          <p:nvPr/>
        </p:nvSpPr>
        <p:spPr>
          <a:xfrm>
            <a:off x="6195483" y="4565650"/>
            <a:ext cx="5183717" cy="1137378"/>
          </a:xfrm>
          <a:prstGeom prst="roundRect">
            <a:avLst>
              <a:gd name="adj" fmla="val 8933"/>
            </a:avLst>
          </a:prstGeom>
          <a:solidFill>
            <a:srgbClr val="14213D"/>
          </a:solidFill>
          <a:ln/>
        </p:spPr>
      </p:sp>
      <p:sp>
        <p:nvSpPr>
          <p:cNvPr id="8" name="Text 5"/>
          <p:cNvSpPr/>
          <p:nvPr/>
        </p:nvSpPr>
        <p:spPr>
          <a:xfrm>
            <a:off x="6398683" y="4743450"/>
            <a:ext cx="4920636" cy="798711"/>
          </a:xfrm>
          <a:prstGeom prst="rect">
            <a:avLst/>
          </a:prstGeom>
          <a:noFill/>
          <a:ln/>
        </p:spPr>
        <p:txBody>
          <a:bodyPr wrap="square" lIns="0" tIns="0" rIns="0" bIns="0" rtlCol="0" anchor="t">
            <a:normAutofit/>
          </a:bodyPr>
          <a:lstStyle/>
          <a:p>
            <a:pPr marL="0" indent="0" algn="l">
              <a:lnSpc>
                <a:spcPts val="2030"/>
              </a:lnSpc>
              <a:buNone/>
            </a:pPr>
            <a:r>
              <a:rPr lang="en-US" sz="1400" dirty="0">
                <a:solidFill>
                  <a:srgbClr val="BFD8D5"/>
                </a:solidFill>
                <a:latin typeface="IBM Plex Sans" pitchFamily="34" charset="0"/>
                <a:ea typeface="IBM Plex Sans" pitchFamily="34" charset="-122"/>
                <a:cs typeface="IBM Plex Sans" pitchFamily="34" charset="-120"/>
              </a:rPr>
              <a:t>E il costo non è nell’aritmetica: le moltiplicazioni sono le stesse. </a:t>
            </a:r>
            <a:r>
              <a:rPr lang="en-US" sz="1400" u="sng" dirty="0">
                <a:solidFill>
                  <a:srgbClr val="BFD8D5"/>
                </a:solidFill>
                <a:latin typeface="IBM Plex Sans" pitchFamily="34" charset="0"/>
                <a:ea typeface="IBM Plex Sans" pitchFamily="34" charset="-122"/>
                <a:cs typeface="IBM Plex Sans" pitchFamily="34" charset="-120"/>
              </a:rPr>
              <a:t>Nelle</a:t>
            </a:r>
            <a:r>
              <a:rPr lang="en-US" sz="1400" dirty="0">
                <a:solidFill>
                  <a:srgbClr val="BFD8D5"/>
                </a:solidFill>
                <a:latin typeface="IBM Plex Sans" pitchFamily="34" charset="0"/>
                <a:ea typeface="IBM Plex Sans" pitchFamily="34" charset="-122"/>
                <a:cs typeface="IBM Plex Sans" pitchFamily="34" charset="-120"/>
              </a:rPr>
              <a:t> </a:t>
            </a:r>
            <a:r>
              <a:rPr lang="en-US" sz="1400" b="1" dirty="0">
                <a:solidFill>
                  <a:srgbClr val="BFD8D5"/>
                </a:solidFill>
                <a:latin typeface="IBM Plex Sans" pitchFamily="34" charset="0"/>
                <a:ea typeface="IBM Plex Sans" pitchFamily="34" charset="-122"/>
                <a:cs typeface="IBM Plex Sans" pitchFamily="34" charset="-120"/>
              </a:rPr>
              <a:t>letture di tabella</a:t>
            </a:r>
            <a:r>
              <a:rPr lang="en-US" sz="1400" dirty="0">
                <a:solidFill>
                  <a:srgbClr val="BFD8D5"/>
                </a:solidFill>
                <a:latin typeface="IBM Plex Sans" pitchFamily="34" charset="0"/>
                <a:ea typeface="IBM Plex Sans" pitchFamily="34" charset="-122"/>
                <a:cs typeface="IBM Plex Sans" pitchFamily="34" charset="-120"/>
              </a:rPr>
              <a:t> (6→29) e nei </a:t>
            </a:r>
            <a:r>
              <a:rPr lang="en-US" sz="1400" b="1" dirty="0">
                <a:solidFill>
                  <a:srgbClr val="BFD8D5"/>
                </a:solidFill>
                <a:latin typeface="IBM Plex Sans" pitchFamily="34" charset="0"/>
                <a:ea typeface="IBM Plex Sans" pitchFamily="34" charset="-122"/>
                <a:cs typeface="IBM Plex Sans" pitchFamily="34" charset="-120"/>
              </a:rPr>
              <a:t>salti fra programmi</a:t>
            </a:r>
            <a:r>
              <a:rPr lang="en-US" sz="1400" dirty="0">
                <a:solidFill>
                  <a:srgbClr val="BFD8D5"/>
                </a:solidFill>
                <a:latin typeface="IBM Plex Sans" pitchFamily="34" charset="0"/>
                <a:ea typeface="IBM Plex Sans" pitchFamily="34" charset="-122"/>
                <a:cs typeface="IBM Plex Sans" pitchFamily="34" charset="-120"/>
              </a:rPr>
              <a:t> (1→3).</a:t>
            </a:r>
            <a:endParaRPr lang="en-US" sz="1400" dirty="0"/>
          </a:p>
        </p:txBody>
      </p:sp>
      <p:sp>
        <p:nvSpPr>
          <p:cNvPr id="9" name="Text 6"/>
          <p:cNvSpPr/>
          <p:nvPr/>
        </p:nvSpPr>
        <p:spPr>
          <a:xfrm>
            <a:off x="812800" y="6238280"/>
            <a:ext cx="7252938"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IBM Plex Sans" pitchFamily="34" charset="0"/>
                <a:ea typeface="IBM Plex Sans" pitchFamily="34" charset="-122"/>
                <a:cs typeface="IBM Plex Sans" pitchFamily="34" charset="-120"/>
              </a:rPr>
              <a:t>Stesso modello, 319 pesi · minimo su 7 prove · le cifre assolute dipendono dalla macchina, i rapporti no</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41631"/>
          </a:xfrm>
          <a:prstGeom prst="rect">
            <a:avLst/>
          </a:prstGeom>
          <a:noFill/>
          <a:ln/>
        </p:spPr>
        <p:txBody>
          <a:bodyPr wrap="square" lIns="0" tIns="0" rIns="0" bIns="0" rtlCol="0" anchor="t">
            <a:normAutofit/>
          </a:bodyPr>
          <a:lstStyle/>
          <a:p>
            <a:pPr marL="0" indent="0" algn="l">
              <a:lnSpc>
                <a:spcPts val="1723"/>
              </a:lnSpc>
              <a:buNone/>
            </a:pPr>
            <a:r>
              <a:rPr lang="en-US" sz="1231" kern="0" spc="100" dirty="0">
                <a:solidFill>
                  <a:srgbClr val="C2410C"/>
                </a:solidFill>
                <a:latin typeface="JetBrains Mono" pitchFamily="34" charset="0"/>
                <a:ea typeface="JetBrains Mono" pitchFamily="34" charset="-122"/>
                <a:cs typeface="JetBrains Mono" pitchFamily="34" charset="-120"/>
              </a:rPr>
              <a:t>IL COMPROMESSO</a:t>
            </a:r>
            <a:endParaRPr lang="en-US" sz="1231" dirty="0"/>
          </a:p>
        </p:txBody>
      </p:sp>
      <p:sp>
        <p:nvSpPr>
          <p:cNvPr id="3" name="Text 1"/>
          <p:cNvSpPr/>
          <p:nvPr/>
        </p:nvSpPr>
        <p:spPr>
          <a:xfrm>
            <a:off x="812800" y="1092532"/>
            <a:ext cx="10883392" cy="783497"/>
          </a:xfrm>
          <a:prstGeom prst="rect">
            <a:avLst/>
          </a:prstGeom>
          <a:noFill/>
          <a:ln/>
        </p:spPr>
        <p:txBody>
          <a:bodyPr wrap="square" lIns="0" tIns="0" rIns="0" bIns="0" rtlCol="0" anchor="t">
            <a:normAutofit/>
          </a:bodyPr>
          <a:lstStyle/>
          <a:p>
            <a:pPr marL="0" indent="0" algn="l">
              <a:lnSpc>
                <a:spcPts val="2981"/>
              </a:lnSpc>
              <a:buNone/>
            </a:pPr>
            <a:r>
              <a:rPr lang="en-US" sz="2710" b="1" dirty="0">
                <a:solidFill>
                  <a:srgbClr val="14213D"/>
                </a:solidFill>
                <a:latin typeface="IBM Plex Sans" pitchFamily="34" charset="0"/>
                <a:ea typeface="IBM Plex Sans" pitchFamily="34" charset="-122"/>
                <a:cs typeface="IBM Plex Sans" pitchFamily="34" charset="-120"/>
              </a:rPr>
              <a:t>Quello che si perde per pacchetto si guadagna nel cambiare modello</a:t>
            </a:r>
            <a:endParaRPr lang="en-US" sz="2710" dirty="0"/>
          </a:p>
        </p:txBody>
      </p:sp>
      <p:sp>
        <p:nvSpPr>
          <p:cNvPr id="4" name="Shape 2"/>
          <p:cNvSpPr/>
          <p:nvPr/>
        </p:nvSpPr>
        <p:spPr>
          <a:xfrm>
            <a:off x="815975" y="2011232"/>
            <a:ext cx="5581650" cy="2897717"/>
          </a:xfrm>
          <a:prstGeom prst="roundRect">
            <a:avLst>
              <a:gd name="adj" fmla="val 3397"/>
            </a:avLst>
          </a:prstGeom>
          <a:solidFill>
            <a:srgbClr val="FFFFFF"/>
          </a:solidFill>
          <a:ln w="6350">
            <a:solidFill>
              <a:srgbClr val="D7DEE7"/>
            </a:solidFill>
            <a:prstDash val="solid"/>
          </a:ln>
        </p:spPr>
      </p:sp>
      <p:pic>
        <p:nvPicPr>
          <p:cNvPr id="5" name="Image 0" descr="Costo di installare un modello nuovo, scala logaritmica: le versioni specializzate stanno intorno a 1500 millisecondi, le generiche intorno a 7"/>
          <p:cNvPicPr>
            <a:picLocks noChangeAspect="1"/>
          </p:cNvPicPr>
          <p:nvPr/>
        </p:nvPicPr>
        <p:blipFill>
          <a:blip r:embed="rId3"/>
          <a:srcRect l="-14592" r="-14592"/>
          <a:stretch/>
        </p:blipFill>
        <p:spPr>
          <a:xfrm>
            <a:off x="931333" y="2126590"/>
            <a:ext cx="5359400" cy="2667000"/>
          </a:xfrm>
          <a:prstGeom prst="rect">
            <a:avLst/>
          </a:prstGeom>
        </p:spPr>
      </p:pic>
      <p:sp>
        <p:nvSpPr>
          <p:cNvPr id="6" name="Shape 3"/>
          <p:cNvSpPr/>
          <p:nvPr/>
        </p:nvSpPr>
        <p:spPr>
          <a:xfrm>
            <a:off x="6591300" y="1936223"/>
            <a:ext cx="4787900" cy="1454018"/>
          </a:xfrm>
          <a:prstGeom prst="roundRect">
            <a:avLst>
              <a:gd name="adj" fmla="val 6988"/>
            </a:avLst>
          </a:prstGeom>
          <a:solidFill>
            <a:srgbClr val="EEF1F5"/>
          </a:solidFill>
          <a:ln/>
        </p:spPr>
      </p:sp>
      <p:sp>
        <p:nvSpPr>
          <p:cNvPr id="7" name="Text 4"/>
          <p:cNvSpPr/>
          <p:nvPr/>
        </p:nvSpPr>
        <p:spPr>
          <a:xfrm>
            <a:off x="6781800" y="2101323"/>
            <a:ext cx="4539107" cy="246327"/>
          </a:xfrm>
          <a:prstGeom prst="rect">
            <a:avLst/>
          </a:prstGeom>
          <a:noFill/>
          <a:ln/>
        </p:spPr>
        <p:txBody>
          <a:bodyPr wrap="square" lIns="0" tIns="0" rIns="0" bIns="0" rtlCol="0" anchor="t">
            <a:normAutofit/>
          </a:bodyPr>
          <a:lstStyle/>
          <a:p>
            <a:pPr marL="0" indent="0" algn="l">
              <a:lnSpc>
                <a:spcPts val="1740"/>
              </a:lnSpc>
              <a:buNone/>
            </a:pPr>
            <a:r>
              <a:rPr lang="en-US" sz="1450" b="1" dirty="0">
                <a:solidFill>
                  <a:srgbClr val="C2410C"/>
                </a:solidFill>
                <a:latin typeface="IBM Plex Sans" pitchFamily="34" charset="0"/>
                <a:ea typeface="IBM Plex Sans" pitchFamily="34" charset="-122"/>
                <a:cs typeface="IBM Plex Sans" pitchFamily="34" charset="-120"/>
              </a:rPr>
              <a:t>Specializzate</a:t>
            </a:r>
            <a:endParaRPr lang="en-US" sz="1450" dirty="0"/>
          </a:p>
        </p:txBody>
      </p:sp>
      <p:sp>
        <p:nvSpPr>
          <p:cNvPr id="8" name="Text 5"/>
          <p:cNvSpPr/>
          <p:nvPr/>
        </p:nvSpPr>
        <p:spPr>
          <a:xfrm>
            <a:off x="6781800" y="2373049"/>
            <a:ext cx="4539107"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14213D"/>
                </a:solidFill>
                <a:latin typeface="IBM Plex Sans" pitchFamily="34" charset="0"/>
                <a:ea typeface="IBM Plex Sans" pitchFamily="34" charset="-122"/>
                <a:cs typeface="IBM Plex Sans" pitchFamily="34" charset="-120"/>
              </a:rPr>
              <a:t>~1,5 s</a:t>
            </a:r>
            <a:endParaRPr lang="en-US" sz="2000" dirty="0"/>
          </a:p>
        </p:txBody>
      </p:sp>
      <p:sp>
        <p:nvSpPr>
          <p:cNvPr id="9" name="Text 6"/>
          <p:cNvSpPr/>
          <p:nvPr/>
        </p:nvSpPr>
        <p:spPr>
          <a:xfrm>
            <a:off x="6781800" y="2779449"/>
            <a:ext cx="4539107" cy="471091"/>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per cambiare modello: riscrivere il programma e ricompilarlo. Ma </a:t>
            </a:r>
            <a:r>
              <a:rPr lang="en-US" sz="1300" b="1" dirty="0">
                <a:solidFill>
                  <a:srgbClr val="4A5568"/>
                </a:solidFill>
                <a:latin typeface="IBM Plex Sans" pitchFamily="34" charset="0"/>
                <a:ea typeface="IBM Plex Sans" pitchFamily="34" charset="-122"/>
                <a:cs typeface="IBM Plex Sans" pitchFamily="34" charset="-120"/>
              </a:rPr>
              <a:t>59–79 ns</a:t>
            </a:r>
            <a:r>
              <a:rPr lang="en-US" sz="1300" dirty="0">
                <a:solidFill>
                  <a:srgbClr val="4A5568"/>
                </a:solidFill>
                <a:latin typeface="IBM Plex Sans" pitchFamily="34" charset="0"/>
                <a:ea typeface="IBM Plex Sans" pitchFamily="34" charset="-122"/>
                <a:cs typeface="IBM Plex Sans" pitchFamily="34" charset="-120"/>
              </a:rPr>
              <a:t> per pacchetto.</a:t>
            </a:r>
            <a:endParaRPr lang="en-US" sz="1300" dirty="0"/>
          </a:p>
        </p:txBody>
      </p:sp>
      <p:sp>
        <p:nvSpPr>
          <p:cNvPr id="10" name="Shape 7"/>
          <p:cNvSpPr/>
          <p:nvPr/>
        </p:nvSpPr>
        <p:spPr>
          <a:xfrm>
            <a:off x="6591300" y="3529940"/>
            <a:ext cx="4787900" cy="1454018"/>
          </a:xfrm>
          <a:prstGeom prst="roundRect">
            <a:avLst>
              <a:gd name="adj" fmla="val 6988"/>
            </a:avLst>
          </a:prstGeom>
          <a:solidFill>
            <a:srgbClr val="14213D"/>
          </a:solidFill>
          <a:ln/>
        </p:spPr>
      </p:sp>
      <p:sp>
        <p:nvSpPr>
          <p:cNvPr id="11" name="Text 8"/>
          <p:cNvSpPr/>
          <p:nvPr/>
        </p:nvSpPr>
        <p:spPr>
          <a:xfrm>
            <a:off x="6781800" y="3695040"/>
            <a:ext cx="4539107" cy="246327"/>
          </a:xfrm>
          <a:prstGeom prst="rect">
            <a:avLst/>
          </a:prstGeom>
          <a:noFill/>
          <a:ln/>
        </p:spPr>
        <p:txBody>
          <a:bodyPr wrap="square" lIns="0" tIns="0" rIns="0" bIns="0" rtlCol="0" anchor="t">
            <a:normAutofit/>
          </a:bodyPr>
          <a:lstStyle/>
          <a:p>
            <a:pPr marL="0" indent="0" algn="l">
              <a:lnSpc>
                <a:spcPts val="1740"/>
              </a:lnSpc>
              <a:buNone/>
            </a:pPr>
            <a:r>
              <a:rPr lang="en-US" sz="1450" b="1" dirty="0">
                <a:solidFill>
                  <a:srgbClr val="E8A87C"/>
                </a:solidFill>
                <a:latin typeface="IBM Plex Sans" pitchFamily="34" charset="0"/>
                <a:ea typeface="IBM Plex Sans" pitchFamily="34" charset="-122"/>
                <a:cs typeface="IBM Plex Sans" pitchFamily="34" charset="-120"/>
              </a:rPr>
              <a:t>Generiche</a:t>
            </a:r>
            <a:endParaRPr lang="en-US" sz="1450" dirty="0"/>
          </a:p>
        </p:txBody>
      </p:sp>
      <p:sp>
        <p:nvSpPr>
          <p:cNvPr id="12" name="Text 9"/>
          <p:cNvSpPr/>
          <p:nvPr/>
        </p:nvSpPr>
        <p:spPr>
          <a:xfrm>
            <a:off x="6781800" y="3966766"/>
            <a:ext cx="4539107"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FBFBF8"/>
                </a:solidFill>
                <a:latin typeface="IBM Plex Sans" pitchFamily="34" charset="0"/>
                <a:ea typeface="IBM Plex Sans" pitchFamily="34" charset="-122"/>
                <a:cs typeface="IBM Plex Sans" pitchFamily="34" charset="-120"/>
              </a:rPr>
              <a:t>~7 ms</a:t>
            </a:r>
            <a:endParaRPr lang="en-US" sz="2000" dirty="0"/>
          </a:p>
        </p:txBody>
      </p:sp>
      <p:sp>
        <p:nvSpPr>
          <p:cNvPr id="13" name="Text 10"/>
          <p:cNvSpPr/>
          <p:nvPr/>
        </p:nvSpPr>
        <p:spPr>
          <a:xfrm>
            <a:off x="6781800" y="4373166"/>
            <a:ext cx="4539107" cy="471091"/>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BFD8D5"/>
                </a:solidFill>
                <a:latin typeface="IBM Plex Sans" pitchFamily="34" charset="0"/>
                <a:ea typeface="IBM Plex Sans" pitchFamily="34" charset="-122"/>
                <a:cs typeface="IBM Plex Sans" pitchFamily="34" charset="-120"/>
              </a:rPr>
              <a:t>per cambiare modello: riempire una tabella, nessun compilatore sul nodo. Ma </a:t>
            </a:r>
            <a:r>
              <a:rPr lang="en-US" sz="1300" b="1" dirty="0">
                <a:solidFill>
                  <a:srgbClr val="BFD8D5"/>
                </a:solidFill>
                <a:latin typeface="IBM Plex Sans" pitchFamily="34" charset="0"/>
                <a:ea typeface="IBM Plex Sans" pitchFamily="34" charset="-122"/>
                <a:cs typeface="IBM Plex Sans" pitchFamily="34" charset="-120"/>
              </a:rPr>
              <a:t>271–428 ns</a:t>
            </a:r>
            <a:r>
              <a:rPr lang="en-US" sz="1300" dirty="0">
                <a:solidFill>
                  <a:srgbClr val="BFD8D5"/>
                </a:solidFill>
                <a:latin typeface="IBM Plex Sans" pitchFamily="34" charset="0"/>
                <a:ea typeface="IBM Plex Sans" pitchFamily="34" charset="-122"/>
                <a:cs typeface="IBM Plex Sans" pitchFamily="34" charset="-120"/>
              </a:rPr>
              <a:t> per pacchetto.</a:t>
            </a:r>
            <a:endParaRPr lang="en-US" sz="1300" dirty="0"/>
          </a:p>
        </p:txBody>
      </p:sp>
      <p:sp>
        <p:nvSpPr>
          <p:cNvPr id="14" name="Shape 11"/>
          <p:cNvSpPr/>
          <p:nvPr/>
        </p:nvSpPr>
        <p:spPr>
          <a:xfrm>
            <a:off x="812800" y="5069551"/>
            <a:ext cx="10566400" cy="772451"/>
          </a:xfrm>
          <a:prstGeom prst="roundRect">
            <a:avLst>
              <a:gd name="adj" fmla="val 9865"/>
            </a:avLst>
          </a:prstGeom>
          <a:solidFill>
            <a:srgbClr val="EEF1F5"/>
          </a:solidFill>
          <a:ln/>
        </p:spPr>
      </p:sp>
      <p:sp>
        <p:nvSpPr>
          <p:cNvPr id="15" name="Shape 12"/>
          <p:cNvSpPr/>
          <p:nvPr/>
        </p:nvSpPr>
        <p:spPr>
          <a:xfrm>
            <a:off x="831850" y="5069551"/>
            <a:ext cx="0" cy="772451"/>
          </a:xfrm>
          <a:prstGeom prst="line">
            <a:avLst/>
          </a:prstGeom>
          <a:noFill/>
          <a:ln w="38100">
            <a:solidFill>
              <a:srgbClr val="C2410C"/>
            </a:solidFill>
            <a:prstDash val="solid"/>
          </a:ln>
        </p:spPr>
      </p:sp>
      <p:sp>
        <p:nvSpPr>
          <p:cNvPr id="16" name="Text 13"/>
          <p:cNvSpPr/>
          <p:nvPr/>
        </p:nvSpPr>
        <p:spPr>
          <a:xfrm>
            <a:off x="1041400" y="5221951"/>
            <a:ext cx="10451719" cy="493051"/>
          </a:xfrm>
          <a:prstGeom prst="rect">
            <a:avLst/>
          </a:prstGeom>
          <a:noFill/>
          <a:ln/>
        </p:spPr>
        <p:txBody>
          <a:bodyPr wrap="square" lIns="0" tIns="0" rIns="0" bIns="0" rtlCol="0" anchor="t">
            <a:normAutofit/>
          </a:bodyPr>
          <a:lstStyle/>
          <a:p>
            <a:pPr marL="0" indent="0" algn="l">
              <a:lnSpc>
                <a:spcPts val="1862"/>
              </a:lnSpc>
              <a:buNone/>
            </a:pPr>
            <a:r>
              <a:rPr lang="en-US" sz="1330" dirty="0">
                <a:solidFill>
                  <a:srgbClr val="14213D"/>
                </a:solidFill>
                <a:latin typeface="IBM Plex Sans" pitchFamily="34" charset="0"/>
                <a:ea typeface="IBM Plex Sans" pitchFamily="34" charset="-122"/>
                <a:cs typeface="IBM Plex Sans" pitchFamily="34" charset="-120"/>
              </a:rPr>
              <a:t>Se il modello cambia </a:t>
            </a:r>
            <a:r>
              <a:rPr lang="en-US" sz="1330" b="1" dirty="0">
                <a:solidFill>
                  <a:srgbClr val="14213D"/>
                </a:solidFill>
                <a:latin typeface="IBM Plex Sans" pitchFamily="34" charset="0"/>
                <a:ea typeface="IBM Plex Sans" pitchFamily="34" charset="-122"/>
                <a:cs typeface="IBM Plex Sans" pitchFamily="34" charset="-120"/>
              </a:rPr>
              <a:t>una volta al giorno</a:t>
            </a:r>
            <a:r>
              <a:rPr lang="en-US" sz="1330" dirty="0">
                <a:solidFill>
                  <a:srgbClr val="14213D"/>
                </a:solidFill>
                <a:latin typeface="IBM Plex Sans" pitchFamily="34" charset="0"/>
                <a:ea typeface="IBM Plex Sans" pitchFamily="34" charset="-122"/>
                <a:cs typeface="IBM Plex Sans" pitchFamily="34" charset="-120"/>
              </a:rPr>
              <a:t>, ricompilare è accettabile. Se deve cambiare </a:t>
            </a:r>
            <a:r>
              <a:rPr lang="en-US" sz="1330" b="1" dirty="0">
                <a:solidFill>
                  <a:srgbClr val="14213D"/>
                </a:solidFill>
                <a:latin typeface="IBM Plex Sans" pitchFamily="34" charset="0"/>
                <a:ea typeface="IBM Plex Sans" pitchFamily="34" charset="-122"/>
                <a:cs typeface="IBM Plex Sans" pitchFamily="34" charset="-120"/>
              </a:rPr>
              <a:t>spesso, senza fermare il nodo</a:t>
            </a:r>
            <a:r>
              <a:rPr lang="en-US" sz="1330" dirty="0">
                <a:solidFill>
                  <a:srgbClr val="14213D"/>
                </a:solidFill>
                <a:latin typeface="IBM Plex Sans" pitchFamily="34" charset="0"/>
                <a:ea typeface="IBM Plex Sans" pitchFamily="34" charset="-122"/>
                <a:cs typeface="IBM Plex Sans" pitchFamily="34" charset="-120"/>
              </a:rPr>
              <a:t>, i duecento nanosecondi in più comprano qualcosa che altrimenti non si ha.</a:t>
            </a:r>
            <a:endParaRPr lang="en-US" sz="1330" dirty="0"/>
          </a:p>
        </p:txBody>
      </p:sp>
      <p:sp>
        <p:nvSpPr>
          <p:cNvPr id="17" name="Text 14"/>
          <p:cNvSpPr/>
          <p:nvPr/>
        </p:nvSpPr>
        <p:spPr>
          <a:xfrm>
            <a:off x="812800" y="6238280"/>
            <a:ext cx="385780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IBM Plex Sans" pitchFamily="34" charset="0"/>
                <a:ea typeface="IBM Plex Sans" pitchFamily="34" charset="-122"/>
                <a:cs typeface="IBM Plex Sans" pitchFamily="34" charset="-120"/>
              </a:rPr>
              <a:t>Scala logaritmica: le due coppie distano oltre 200 volte</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EF1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2545"/>
          </a:xfrm>
          <a:prstGeom prst="rect">
            <a:avLst/>
          </a:prstGeom>
          <a:noFill/>
          <a:ln/>
        </p:spPr>
        <p:txBody>
          <a:bodyPr wrap="square" lIns="0" tIns="0" rIns="0" bIns="0" rtlCol="0" anchor="t">
            <a:normAutofit/>
          </a:bodyPr>
          <a:lstStyle/>
          <a:p>
            <a:pPr marL="0" indent="0" algn="l">
              <a:lnSpc>
                <a:spcPts val="1820"/>
              </a:lnSpc>
              <a:buNone/>
            </a:pPr>
            <a:r>
              <a:rPr lang="en-US" sz="1300" kern="0" spc="100" dirty="0">
                <a:solidFill>
                  <a:srgbClr val="C2410C"/>
                </a:solidFill>
                <a:latin typeface="JetBrains Mono" pitchFamily="34" charset="0"/>
                <a:ea typeface="JetBrains Mono" pitchFamily="34" charset="-122"/>
                <a:cs typeface="JetBrains Mono" pitchFamily="34" charset="-120"/>
              </a:rPr>
              <a:t>COME CRESCE IL COSTO DEL MODELLO</a:t>
            </a:r>
            <a:endParaRPr lang="en-US" sz="1300" dirty="0"/>
          </a:p>
        </p:txBody>
      </p:sp>
      <p:sp>
        <p:nvSpPr>
          <p:cNvPr id="3" name="Text 1"/>
          <p:cNvSpPr/>
          <p:nvPr/>
        </p:nvSpPr>
        <p:spPr>
          <a:xfrm>
            <a:off x="812800" y="1103446"/>
            <a:ext cx="10883392" cy="423532"/>
          </a:xfrm>
          <a:prstGeom prst="rect">
            <a:avLst/>
          </a:prstGeom>
          <a:noFill/>
          <a:ln/>
        </p:spPr>
        <p:txBody>
          <a:bodyPr wrap="square" lIns="0" tIns="0" rIns="0" bIns="0" rtlCol="0" anchor="t">
            <a:normAutofit/>
          </a:bodyPr>
          <a:lstStyle/>
          <a:p>
            <a:pPr marL="0" indent="0" algn="l">
              <a:lnSpc>
                <a:spcPts val="3170"/>
              </a:lnSpc>
              <a:buNone/>
            </a:pPr>
            <a:r>
              <a:rPr lang="en-US" sz="2882" b="1" dirty="0">
                <a:solidFill>
                  <a:srgbClr val="14213D"/>
                </a:solidFill>
                <a:latin typeface="IBM Plex Sans" pitchFamily="34" charset="0"/>
                <a:ea typeface="IBM Plex Sans" pitchFamily="34" charset="-122"/>
                <a:cs typeface="IBM Plex Sans" pitchFamily="34" charset="-120"/>
              </a:rPr>
              <a:t>Meno istruzioni, e più lenta</a:t>
            </a:r>
            <a:endParaRPr lang="en-US" sz="2882" dirty="0"/>
          </a:p>
        </p:txBody>
      </p:sp>
      <p:sp>
        <p:nvSpPr>
          <p:cNvPr id="4" name="Text 2"/>
          <p:cNvSpPr/>
          <p:nvPr/>
        </p:nvSpPr>
        <p:spPr>
          <a:xfrm>
            <a:off x="812800" y="1692077"/>
            <a:ext cx="10595610" cy="532871"/>
          </a:xfrm>
          <a:prstGeom prst="rect">
            <a:avLst/>
          </a:prstGeom>
          <a:noFill/>
          <a:ln/>
        </p:spPr>
        <p:txBody>
          <a:bodyPr wrap="square" lIns="0" tIns="0" rIns="0" bIns="0" rtlCol="0" anchor="t">
            <a:normAutofit/>
          </a:bodyPr>
          <a:lstStyle/>
          <a:p>
            <a:pPr marL="0" indent="0" algn="l">
              <a:lnSpc>
                <a:spcPts val="2011"/>
              </a:lnSpc>
              <a:buNone/>
            </a:pPr>
            <a:r>
              <a:rPr lang="en-US" sz="1436" dirty="0">
                <a:solidFill>
                  <a:srgbClr val="4A5568"/>
                </a:solidFill>
                <a:latin typeface="IBM Plex Sans" pitchFamily="34" charset="0"/>
                <a:ea typeface="IBM Plex Sans" pitchFamily="34" charset="-122"/>
                <a:cs typeface="IBM Plex Sans" pitchFamily="34" charset="-120"/>
              </a:rPr>
              <a:t>A </a:t>
            </a:r>
            <a:r>
              <a:rPr lang="en-US" sz="1436" b="1" dirty="0">
                <a:solidFill>
                  <a:srgbClr val="4A5568"/>
                </a:solidFill>
                <a:latin typeface="IBM Plex Sans" pitchFamily="34" charset="0"/>
                <a:ea typeface="IBM Plex Sans" pitchFamily="34" charset="-122"/>
                <a:cs typeface="IBM Plex Sans" pitchFamily="34" charset="-120"/>
              </a:rPr>
              <a:t>parità di numero di pesi</a:t>
            </a:r>
            <a:r>
              <a:rPr lang="en-US" sz="1436" dirty="0">
                <a:solidFill>
                  <a:srgbClr val="4A5568"/>
                </a:solidFill>
                <a:latin typeface="IBM Plex Sans" pitchFamily="34" charset="0"/>
                <a:ea typeface="IBM Plex Sans" pitchFamily="34" charset="-122"/>
                <a:cs typeface="IBM Plex Sans" pitchFamily="34" charset="-120"/>
              </a:rPr>
              <a:t>, una rete più profonda non costa come una più larga. E il confronto fra P2 e P3 mostra una cosa che vale la pena fissare.</a:t>
            </a:r>
            <a:endParaRPr lang="en-US" sz="1436"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12800" y="2390049"/>
          <a:ext cx="10566400" cy="2097485"/>
        </p:xfrm>
        <a:graphic>
          <a:graphicData uri="http://schemas.openxmlformats.org/drawingml/2006/table">
            <a:tbl>
              <a:tblPr/>
              <a:tblGrid>
                <a:gridCol w="3592576">
                  <a:extLst>
                    <a:ext uri="{9D8B030D-6E8A-4147-A177-3AD203B41FA5}">
                      <a16:colId xmlns:a16="http://schemas.microsoft.com/office/drawing/2014/main" val="20000"/>
                    </a:ext>
                  </a:extLst>
                </a:gridCol>
                <a:gridCol w="2324608">
                  <a:extLst>
                    <a:ext uri="{9D8B030D-6E8A-4147-A177-3AD203B41FA5}">
                      <a16:colId xmlns:a16="http://schemas.microsoft.com/office/drawing/2014/main" val="20001"/>
                    </a:ext>
                  </a:extLst>
                </a:gridCol>
                <a:gridCol w="2324608">
                  <a:extLst>
                    <a:ext uri="{9D8B030D-6E8A-4147-A177-3AD203B41FA5}">
                      <a16:colId xmlns:a16="http://schemas.microsoft.com/office/drawing/2014/main" val="20002"/>
                    </a:ext>
                  </a:extLst>
                </a:gridCol>
                <a:gridCol w="2324608">
                  <a:extLst>
                    <a:ext uri="{9D8B030D-6E8A-4147-A177-3AD203B41FA5}">
                      <a16:colId xmlns:a16="http://schemas.microsoft.com/office/drawing/2014/main" val="20003"/>
                    </a:ext>
                  </a:extLst>
                </a:gridCol>
              </a:tblGrid>
              <a:tr h="419497">
                <a:tc>
                  <a:txBody>
                    <a:bodyPr/>
                    <a:lstStyle/>
                    <a:p>
                      <a:pPr marL="0" indent="0">
                        <a:lnSpc>
                          <a:spcPts val="2136"/>
                        </a:lnSpc>
                        <a:buNone/>
                      </a:pPr>
                      <a:r>
                        <a:rPr lang="en-US" sz="1526" b="1" dirty="0">
                          <a:solidFill>
                            <a:srgbClr val="FBFBF8"/>
                          </a:solidFill>
                          <a:latin typeface="IBM Plex Sans" pitchFamily="34" charset="0"/>
                          <a:ea typeface="IBM Plex Sans" pitchFamily="34" charset="-122"/>
                          <a:cs typeface="IBM Plex Sans" pitchFamily="34" charset="-120"/>
                        </a:rPr>
                        <a:t>A parità di pesi</a:t>
                      </a:r>
                      <a:endParaRPr lang="en-US" sz="1526" dirty="0">
                        <a:latin typeface="IBM Plex Sans" charset="0"/>
                        <a:ea typeface="IBM Plex Sans" charset="0"/>
                        <a:cs typeface="IBM Plex Sans" charset="0"/>
                      </a:endParaRPr>
                    </a:p>
                  </a:txBody>
                  <a:tcPr marL="67821" marR="67821" marT="67821" marB="67821">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marL="0" indent="0" algn="r">
                        <a:lnSpc>
                          <a:spcPts val="2136"/>
                        </a:lnSpc>
                        <a:buNone/>
                      </a:pPr>
                      <a:r>
                        <a:rPr lang="en-US" sz="1526" b="1" dirty="0">
                          <a:solidFill>
                            <a:srgbClr val="FBFBF8"/>
                          </a:solidFill>
                          <a:latin typeface="IBM Plex Sans" pitchFamily="34" charset="0"/>
                          <a:ea typeface="IBM Plex Sans" pitchFamily="34" charset="-122"/>
                          <a:cs typeface="IBM Plex Sans" pitchFamily="34" charset="-120"/>
                        </a:rPr>
                        <a:t>P2 template</a:t>
                      </a:r>
                      <a:endParaRPr lang="en-US" sz="1526" dirty="0">
                        <a:latin typeface="IBM Plex Sans" charset="0"/>
                        <a:ea typeface="IBM Plex Sans" charset="0"/>
                        <a:cs typeface="IBM Plex Sans" charset="0"/>
                      </a:endParaRPr>
                    </a:p>
                  </a:txBody>
                  <a:tcPr marL="67821" marR="67821" marT="67821" marB="67821">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marL="0" indent="0" algn="r">
                        <a:lnSpc>
                          <a:spcPts val="2136"/>
                        </a:lnSpc>
                        <a:buNone/>
                      </a:pPr>
                      <a:r>
                        <a:rPr lang="en-US" sz="1526" b="1" dirty="0">
                          <a:solidFill>
                            <a:srgbClr val="FBFBF8"/>
                          </a:solidFill>
                          <a:latin typeface="IBM Plex Sans" pitchFamily="34" charset="0"/>
                          <a:ea typeface="IBM Plex Sans" pitchFamily="34" charset="-122"/>
                          <a:cs typeface="IBM Plex Sans" pitchFamily="34" charset="-120"/>
                        </a:rPr>
                        <a:t>P3 modular</a:t>
                      </a:r>
                      <a:endParaRPr lang="en-US" sz="1526" dirty="0">
                        <a:latin typeface="IBM Plex Sans" charset="0"/>
                        <a:ea typeface="IBM Plex Sans" charset="0"/>
                        <a:cs typeface="IBM Plex Sans" charset="0"/>
                      </a:endParaRPr>
                    </a:p>
                  </a:txBody>
                  <a:tcPr marL="67821" marR="67821" marT="67821" marB="67821">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marL="0" indent="0" algn="r">
                        <a:lnSpc>
                          <a:spcPts val="2136"/>
                        </a:lnSpc>
                        <a:buNone/>
                      </a:pPr>
                      <a:r>
                        <a:rPr lang="en-US" sz="1526" b="1" dirty="0">
                          <a:solidFill>
                            <a:srgbClr val="FBFBF8"/>
                          </a:solidFill>
                          <a:latin typeface="IBM Plex Sans" pitchFamily="34" charset="0"/>
                          <a:ea typeface="IBM Plex Sans" pitchFamily="34" charset="-122"/>
                          <a:cs typeface="IBM Plex Sans" pitchFamily="34" charset="-120"/>
                        </a:rPr>
                        <a:t>Differenza</a:t>
                      </a:r>
                      <a:endParaRPr lang="en-US" sz="1526" dirty="0">
                        <a:latin typeface="IBM Plex Sans" charset="0"/>
                        <a:ea typeface="IBM Plex Sans" charset="0"/>
                        <a:cs typeface="IBM Plex Sans" charset="0"/>
                      </a:endParaRPr>
                    </a:p>
                  </a:txBody>
                  <a:tcPr marL="67821" marR="67821" marT="67821" marB="67821">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419497">
                <a:tc>
                  <a:txBody>
                    <a:bodyPr/>
                    <a:lstStyle/>
                    <a:p>
                      <a:pPr marL="0" indent="0">
                        <a:lnSpc>
                          <a:spcPts val="2136"/>
                        </a:lnSpc>
                        <a:buNone/>
                      </a:pPr>
                      <a:r>
                        <a:rPr lang="en-US" sz="1526" dirty="0">
                          <a:solidFill>
                            <a:srgbClr val="14213D"/>
                          </a:solidFill>
                          <a:latin typeface="IBM Plex Sans" pitchFamily="34" charset="0"/>
                          <a:ea typeface="IBM Plex Sans" pitchFamily="34" charset="-122"/>
                          <a:cs typeface="IBM Plex Sans" pitchFamily="34" charset="-120"/>
                        </a:rPr>
                        <a:t>Istruzioni del programma</a:t>
                      </a:r>
                      <a:endParaRPr lang="en-US" sz="1526" dirty="0">
                        <a:latin typeface="IBM Plex Sans" charset="0"/>
                        <a:ea typeface="IBM Plex Sans" charset="0"/>
                        <a:cs typeface="IBM Plex Sans" charset="0"/>
                      </a:endParaRPr>
                    </a:p>
                  </a:txBody>
                  <a:tcPr marL="67821" marR="67821" marT="67821" marB="67821">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2136"/>
                        </a:lnSpc>
                        <a:buNone/>
                      </a:pPr>
                      <a:r>
                        <a:rPr lang="en-US" sz="1526" dirty="0">
                          <a:solidFill>
                            <a:srgbClr val="14213D"/>
                          </a:solidFill>
                          <a:latin typeface="IBM Plex Sans" pitchFamily="34" charset="0"/>
                          <a:ea typeface="IBM Plex Sans" pitchFamily="34" charset="-122"/>
                          <a:cs typeface="IBM Plex Sans" pitchFamily="34" charset="-120"/>
                        </a:rPr>
                        <a:t>14 985</a:t>
                      </a:r>
                      <a:endParaRPr lang="en-US" sz="1526" dirty="0">
                        <a:latin typeface="IBM Plex Sans" charset="0"/>
                        <a:ea typeface="IBM Plex Sans" charset="0"/>
                        <a:cs typeface="IBM Plex Sans" charset="0"/>
                      </a:endParaRPr>
                    </a:p>
                  </a:txBody>
                  <a:tcPr marL="67821" marR="67821" marT="67821" marB="67821">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2136"/>
                        </a:lnSpc>
                        <a:buNone/>
                      </a:pPr>
                      <a:r>
                        <a:rPr lang="en-US" sz="1526" dirty="0">
                          <a:solidFill>
                            <a:srgbClr val="14213D"/>
                          </a:solidFill>
                          <a:latin typeface="IBM Plex Sans" pitchFamily="34" charset="0"/>
                          <a:ea typeface="IBM Plex Sans" pitchFamily="34" charset="-122"/>
                          <a:cs typeface="IBM Plex Sans" pitchFamily="34" charset="-120"/>
                        </a:rPr>
                        <a:t>12 349</a:t>
                      </a:r>
                      <a:endParaRPr lang="en-US" sz="1526" dirty="0">
                        <a:latin typeface="IBM Plex Sans" charset="0"/>
                        <a:ea typeface="IBM Plex Sans" charset="0"/>
                        <a:cs typeface="IBM Plex Sans" charset="0"/>
                      </a:endParaRPr>
                    </a:p>
                  </a:txBody>
                  <a:tcPr marL="67821" marR="67821" marT="67821" marB="67821">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2136"/>
                        </a:lnSpc>
                        <a:buNone/>
                      </a:pPr>
                      <a:r>
                        <a:rPr lang="en-US" sz="1526" dirty="0">
                          <a:solidFill>
                            <a:srgbClr val="2E7D52"/>
                          </a:solidFill>
                          <a:latin typeface="IBM Plex Sans" pitchFamily="34" charset="0"/>
                          <a:ea typeface="IBM Plex Sans" pitchFamily="34" charset="-122"/>
                          <a:cs typeface="IBM Plex Sans" pitchFamily="34" charset="-120"/>
                        </a:rPr>
                        <a:t>−18 %</a:t>
                      </a:r>
                      <a:endParaRPr lang="en-US" sz="1526" dirty="0">
                        <a:latin typeface="IBM Plex Sans" charset="0"/>
                        <a:ea typeface="IBM Plex Sans" charset="0"/>
                        <a:cs typeface="IBM Plex Sans" charset="0"/>
                      </a:endParaRPr>
                    </a:p>
                  </a:txBody>
                  <a:tcPr marL="67821" marR="67821" marT="67821" marB="67821">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extLst>
                  <a:ext uri="{0D108BD9-81ED-4DB2-BD59-A6C34878D82A}">
                    <a16:rowId xmlns:a16="http://schemas.microsoft.com/office/drawing/2014/main" val="10001"/>
                  </a:ext>
                </a:extLst>
              </a:tr>
              <a:tr h="419497">
                <a:tc>
                  <a:txBody>
                    <a:bodyPr/>
                    <a:lstStyle/>
                    <a:p>
                      <a:pPr marL="0" indent="0">
                        <a:lnSpc>
                          <a:spcPts val="2136"/>
                        </a:lnSpc>
                        <a:buNone/>
                      </a:pPr>
                      <a:r>
                        <a:rPr lang="en-US" sz="1526" dirty="0">
                          <a:solidFill>
                            <a:srgbClr val="14213D"/>
                          </a:solidFill>
                          <a:latin typeface="IBM Plex Sans" pitchFamily="34" charset="0"/>
                          <a:ea typeface="IBM Plex Sans" pitchFamily="34" charset="-122"/>
                          <a:cs typeface="IBM Plex Sans" pitchFamily="34" charset="-120"/>
                        </a:rPr>
                        <a:t>Latenza per pacchetto</a:t>
                      </a:r>
                      <a:endParaRPr lang="en-US" sz="1526" dirty="0">
                        <a:latin typeface="IBM Plex Sans" charset="0"/>
                        <a:ea typeface="IBM Plex Sans" charset="0"/>
                        <a:cs typeface="IBM Plex Sans" charset="0"/>
                      </a:endParaRPr>
                    </a:p>
                  </a:txBody>
                  <a:tcPr marL="67821" marR="67821" marT="67821" marB="67821">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gn="r">
                        <a:lnSpc>
                          <a:spcPts val="2136"/>
                        </a:lnSpc>
                        <a:buNone/>
                      </a:pPr>
                      <a:r>
                        <a:rPr lang="en-US" sz="1526" dirty="0">
                          <a:solidFill>
                            <a:srgbClr val="14213D"/>
                          </a:solidFill>
                          <a:latin typeface="IBM Plex Sans" pitchFamily="34" charset="0"/>
                          <a:ea typeface="IBM Plex Sans" pitchFamily="34" charset="-122"/>
                          <a:cs typeface="IBM Plex Sans" pitchFamily="34" charset="-120"/>
                        </a:rPr>
                        <a:t>271 ns</a:t>
                      </a:r>
                      <a:endParaRPr lang="en-US" sz="1526" dirty="0">
                        <a:latin typeface="IBM Plex Sans" charset="0"/>
                        <a:ea typeface="IBM Plex Sans" charset="0"/>
                        <a:cs typeface="IBM Plex Sans" charset="0"/>
                      </a:endParaRPr>
                    </a:p>
                  </a:txBody>
                  <a:tcPr marL="67821" marR="67821" marT="67821" marB="67821">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gn="r">
                        <a:lnSpc>
                          <a:spcPts val="2136"/>
                        </a:lnSpc>
                        <a:buNone/>
                      </a:pPr>
                      <a:r>
                        <a:rPr lang="en-US" sz="1526" dirty="0">
                          <a:solidFill>
                            <a:srgbClr val="14213D"/>
                          </a:solidFill>
                          <a:latin typeface="IBM Plex Sans" pitchFamily="34" charset="0"/>
                          <a:ea typeface="IBM Plex Sans" pitchFamily="34" charset="-122"/>
                          <a:cs typeface="IBM Plex Sans" pitchFamily="34" charset="-120"/>
                        </a:rPr>
                        <a:t>448 ns</a:t>
                      </a:r>
                      <a:endParaRPr lang="en-US" sz="1526" dirty="0">
                        <a:latin typeface="IBM Plex Sans" charset="0"/>
                        <a:ea typeface="IBM Plex Sans" charset="0"/>
                        <a:cs typeface="IBM Plex Sans" charset="0"/>
                      </a:endParaRPr>
                    </a:p>
                  </a:txBody>
                  <a:tcPr marL="67821" marR="67821" marT="67821" marB="67821">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gn="r">
                        <a:lnSpc>
                          <a:spcPts val="2136"/>
                        </a:lnSpc>
                        <a:buNone/>
                      </a:pPr>
                      <a:r>
                        <a:rPr lang="en-US" sz="1526" dirty="0">
                          <a:solidFill>
                            <a:srgbClr val="C2410C"/>
                          </a:solidFill>
                          <a:latin typeface="IBM Plex Sans" pitchFamily="34" charset="0"/>
                          <a:ea typeface="IBM Plex Sans" pitchFamily="34" charset="-122"/>
                          <a:cs typeface="IBM Plex Sans" pitchFamily="34" charset="-120"/>
                        </a:rPr>
                        <a:t>+65 %</a:t>
                      </a:r>
                      <a:endParaRPr lang="en-US" sz="1526" dirty="0">
                        <a:latin typeface="IBM Plex Sans" charset="0"/>
                        <a:ea typeface="IBM Plex Sans" charset="0"/>
                        <a:cs typeface="IBM Plex Sans" charset="0"/>
                      </a:endParaRPr>
                    </a:p>
                  </a:txBody>
                  <a:tcPr marL="67821" marR="67821" marT="67821" marB="67821">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extLst>
                  <a:ext uri="{0D108BD9-81ED-4DB2-BD59-A6C34878D82A}">
                    <a16:rowId xmlns:a16="http://schemas.microsoft.com/office/drawing/2014/main" val="10002"/>
                  </a:ext>
                </a:extLst>
              </a:tr>
              <a:tr h="419497">
                <a:tc>
                  <a:txBody>
                    <a:bodyPr/>
                    <a:lstStyle/>
                    <a:p>
                      <a:pPr marL="0" indent="0">
                        <a:lnSpc>
                          <a:spcPts val="2136"/>
                        </a:lnSpc>
                        <a:buNone/>
                      </a:pPr>
                      <a:r>
                        <a:rPr lang="en-US" sz="1526" dirty="0">
                          <a:solidFill>
                            <a:srgbClr val="14213D"/>
                          </a:solidFill>
                          <a:latin typeface="IBM Plex Sans" pitchFamily="34" charset="0"/>
                          <a:ea typeface="IBM Plex Sans" pitchFamily="34" charset="-122"/>
                          <a:cs typeface="IBM Plex Sans" pitchFamily="34" charset="-120"/>
                        </a:rPr>
                        <a:t>Salti fra programmi</a:t>
                      </a:r>
                      <a:endParaRPr lang="en-US" sz="1526" dirty="0">
                        <a:latin typeface="IBM Plex Sans" charset="0"/>
                        <a:ea typeface="IBM Plex Sans" charset="0"/>
                        <a:cs typeface="IBM Plex Sans" charset="0"/>
                      </a:endParaRPr>
                    </a:p>
                  </a:txBody>
                  <a:tcPr marL="67821" marR="67821" marT="67821" marB="67821">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2136"/>
                        </a:lnSpc>
                        <a:buNone/>
                      </a:pPr>
                      <a:r>
                        <a:rPr lang="en-US" sz="1526" dirty="0">
                          <a:solidFill>
                            <a:srgbClr val="14213D"/>
                          </a:solidFill>
                          <a:latin typeface="IBM Plex Sans" pitchFamily="34" charset="0"/>
                          <a:ea typeface="IBM Plex Sans" pitchFamily="34" charset="-122"/>
                          <a:cs typeface="IBM Plex Sans" pitchFamily="34" charset="-120"/>
                        </a:rPr>
                        <a:t>1</a:t>
                      </a:r>
                      <a:endParaRPr lang="en-US" sz="1526" dirty="0">
                        <a:latin typeface="IBM Plex Sans" charset="0"/>
                        <a:ea typeface="IBM Plex Sans" charset="0"/>
                        <a:cs typeface="IBM Plex Sans" charset="0"/>
                      </a:endParaRPr>
                    </a:p>
                  </a:txBody>
                  <a:tcPr marL="67821" marR="67821" marT="67821" marB="67821">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2136"/>
                        </a:lnSpc>
                        <a:buNone/>
                      </a:pPr>
                      <a:r>
                        <a:rPr lang="en-US" sz="1526" dirty="0">
                          <a:solidFill>
                            <a:srgbClr val="14213D"/>
                          </a:solidFill>
                          <a:latin typeface="IBM Plex Sans" pitchFamily="34" charset="0"/>
                          <a:ea typeface="IBM Plex Sans" pitchFamily="34" charset="-122"/>
                          <a:cs typeface="IBM Plex Sans" pitchFamily="34" charset="-120"/>
                        </a:rPr>
                        <a:t>3</a:t>
                      </a:r>
                      <a:endParaRPr lang="en-US" sz="1526" dirty="0">
                        <a:latin typeface="IBM Plex Sans" charset="0"/>
                        <a:ea typeface="IBM Plex Sans" charset="0"/>
                        <a:cs typeface="IBM Plex Sans" charset="0"/>
                      </a:endParaRPr>
                    </a:p>
                  </a:txBody>
                  <a:tcPr marL="67821" marR="67821" marT="67821" marB="67821">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marL="0" indent="0" algn="r">
                        <a:lnSpc>
                          <a:spcPts val="2136"/>
                        </a:lnSpc>
                        <a:buNone/>
                      </a:pPr>
                      <a:r>
                        <a:rPr lang="en-US" sz="1526" dirty="0">
                          <a:solidFill>
                            <a:srgbClr val="14213D"/>
                          </a:solidFill>
                          <a:latin typeface="IBM Plex Sans" pitchFamily="34" charset="0"/>
                          <a:ea typeface="IBM Plex Sans" pitchFamily="34" charset="-122"/>
                          <a:cs typeface="IBM Plex Sans" pitchFamily="34" charset="-120"/>
                        </a:rPr>
                        <a:t>×3</a:t>
                      </a:r>
                      <a:endParaRPr lang="en-US" sz="1526" dirty="0">
                        <a:latin typeface="IBM Plex Sans" charset="0"/>
                        <a:ea typeface="IBM Plex Sans" charset="0"/>
                        <a:cs typeface="IBM Plex Sans" charset="0"/>
                      </a:endParaRPr>
                    </a:p>
                  </a:txBody>
                  <a:tcPr marL="67821" marR="67821" marT="67821" marB="67821">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extLst>
                  <a:ext uri="{0D108BD9-81ED-4DB2-BD59-A6C34878D82A}">
                    <a16:rowId xmlns:a16="http://schemas.microsoft.com/office/drawing/2014/main" val="10003"/>
                  </a:ext>
                </a:extLst>
              </a:tr>
              <a:tr h="419497">
                <a:tc>
                  <a:txBody>
                    <a:bodyPr/>
                    <a:lstStyle/>
                    <a:p>
                      <a:pPr marL="0" indent="0">
                        <a:lnSpc>
                          <a:spcPts val="2136"/>
                        </a:lnSpc>
                        <a:buNone/>
                      </a:pPr>
                      <a:r>
                        <a:rPr lang="en-US" sz="1526" dirty="0">
                          <a:solidFill>
                            <a:srgbClr val="14213D"/>
                          </a:solidFill>
                          <a:latin typeface="IBM Plex Sans" pitchFamily="34" charset="0"/>
                          <a:ea typeface="IBM Plex Sans" pitchFamily="34" charset="-122"/>
                          <a:cs typeface="IBM Plex Sans" pitchFamily="34" charset="-120"/>
                        </a:rPr>
                        <a:t>Letture di tabella</a:t>
                      </a:r>
                      <a:endParaRPr lang="en-US" sz="1526" dirty="0">
                        <a:latin typeface="IBM Plex Sans" charset="0"/>
                        <a:ea typeface="IBM Plex Sans" charset="0"/>
                        <a:cs typeface="IBM Plex Sans" charset="0"/>
                      </a:endParaRPr>
                    </a:p>
                  </a:txBody>
                  <a:tcPr marL="67821" marR="67821" marT="67821" marB="67821">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gn="r">
                        <a:lnSpc>
                          <a:spcPts val="2136"/>
                        </a:lnSpc>
                        <a:buNone/>
                      </a:pPr>
                      <a:r>
                        <a:rPr lang="en-US" sz="1526" dirty="0">
                          <a:solidFill>
                            <a:srgbClr val="14213D"/>
                          </a:solidFill>
                          <a:latin typeface="IBM Plex Sans" pitchFamily="34" charset="0"/>
                          <a:ea typeface="IBM Plex Sans" pitchFamily="34" charset="-122"/>
                          <a:cs typeface="IBM Plex Sans" pitchFamily="34" charset="-120"/>
                        </a:rPr>
                        <a:t>11</a:t>
                      </a:r>
                      <a:endParaRPr lang="en-US" sz="1526" dirty="0">
                        <a:latin typeface="IBM Plex Sans" charset="0"/>
                        <a:ea typeface="IBM Plex Sans" charset="0"/>
                        <a:cs typeface="IBM Plex Sans" charset="0"/>
                      </a:endParaRPr>
                    </a:p>
                  </a:txBody>
                  <a:tcPr marL="67821" marR="67821" marT="67821" marB="67821">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gn="r">
                        <a:lnSpc>
                          <a:spcPts val="2136"/>
                        </a:lnSpc>
                        <a:buNone/>
                      </a:pPr>
                      <a:r>
                        <a:rPr lang="en-US" sz="1526" dirty="0">
                          <a:solidFill>
                            <a:srgbClr val="14213D"/>
                          </a:solidFill>
                          <a:latin typeface="IBM Plex Sans" pitchFamily="34" charset="0"/>
                          <a:ea typeface="IBM Plex Sans" pitchFamily="34" charset="-122"/>
                          <a:cs typeface="IBM Plex Sans" pitchFamily="34" charset="-120"/>
                        </a:rPr>
                        <a:t>29</a:t>
                      </a:r>
                      <a:endParaRPr lang="en-US" sz="1526" dirty="0">
                        <a:latin typeface="IBM Plex Sans" charset="0"/>
                        <a:ea typeface="IBM Plex Sans" charset="0"/>
                        <a:cs typeface="IBM Plex Sans" charset="0"/>
                      </a:endParaRPr>
                    </a:p>
                  </a:txBody>
                  <a:tcPr marL="67821" marR="67821" marT="67821" marB="67821">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marL="0" indent="0" algn="r">
                        <a:lnSpc>
                          <a:spcPts val="2136"/>
                        </a:lnSpc>
                        <a:buNone/>
                      </a:pPr>
                      <a:r>
                        <a:rPr lang="en-US" sz="1526" dirty="0">
                          <a:solidFill>
                            <a:srgbClr val="14213D"/>
                          </a:solidFill>
                          <a:latin typeface="IBM Plex Sans" pitchFamily="34" charset="0"/>
                          <a:ea typeface="IBM Plex Sans" pitchFamily="34" charset="-122"/>
                          <a:cs typeface="IBM Plex Sans" pitchFamily="34" charset="-120"/>
                        </a:rPr>
                        <a:t>×2,6</a:t>
                      </a:r>
                      <a:endParaRPr lang="en-US" sz="1526" dirty="0">
                        <a:latin typeface="IBM Plex Sans" charset="0"/>
                        <a:ea typeface="IBM Plex Sans" charset="0"/>
                        <a:cs typeface="IBM Plex Sans" charset="0"/>
                      </a:endParaRPr>
                    </a:p>
                  </a:txBody>
                  <a:tcPr marL="67821" marR="67821" marT="67821" marB="67821">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6" name="Shape 3"/>
          <p:cNvSpPr/>
          <p:nvPr/>
        </p:nvSpPr>
        <p:spPr>
          <a:xfrm>
            <a:off x="812800" y="4918472"/>
            <a:ext cx="10566400" cy="923528"/>
          </a:xfrm>
          <a:prstGeom prst="roundRect">
            <a:avLst>
              <a:gd name="adj" fmla="val 11001"/>
            </a:avLst>
          </a:prstGeom>
          <a:solidFill>
            <a:srgbClr val="14213D"/>
          </a:solidFill>
          <a:ln/>
        </p:spPr>
      </p:sp>
      <p:sp>
        <p:nvSpPr>
          <p:cNvPr id="7" name="Text 4"/>
          <p:cNvSpPr/>
          <p:nvPr/>
        </p:nvSpPr>
        <p:spPr>
          <a:xfrm>
            <a:off x="889762" y="5108972"/>
            <a:ext cx="10412476" cy="567928"/>
          </a:xfrm>
          <a:prstGeom prst="rect">
            <a:avLst/>
          </a:prstGeom>
          <a:noFill/>
          <a:ln/>
        </p:spPr>
        <p:txBody>
          <a:bodyPr wrap="square" lIns="0" tIns="0" rIns="0" bIns="0" rtlCol="0" anchor="t">
            <a:normAutofit/>
          </a:bodyPr>
          <a:lstStyle/>
          <a:p>
            <a:pPr marL="0" indent="0" algn="ctr">
              <a:lnSpc>
                <a:spcPts val="2136"/>
              </a:lnSpc>
              <a:buNone/>
            </a:pPr>
            <a:r>
              <a:rPr lang="en-US" sz="1526" dirty="0">
                <a:solidFill>
                  <a:srgbClr val="FBFBF8"/>
                </a:solidFill>
                <a:latin typeface="IBM Plex Sans" pitchFamily="34" charset="0"/>
                <a:ea typeface="IBM Plex Sans" pitchFamily="34" charset="-122"/>
                <a:cs typeface="IBM Plex Sans" pitchFamily="34" charset="-120"/>
              </a:rPr>
              <a:t>Il numero di istruzioni descrive </a:t>
            </a:r>
            <a:r>
              <a:rPr lang="en-US" sz="1526" b="1" dirty="0">
                <a:solidFill>
                  <a:srgbClr val="FBFBF8"/>
                </a:solidFill>
                <a:latin typeface="IBM Plex Sans" pitchFamily="34" charset="0"/>
                <a:ea typeface="IBM Plex Sans" pitchFamily="34" charset="-122"/>
                <a:cs typeface="IBM Plex Sans" pitchFamily="34" charset="-120"/>
              </a:rPr>
              <a:t>la dimensione del programma</a:t>
            </a:r>
            <a:r>
              <a:rPr lang="en-US" sz="1526" dirty="0">
                <a:solidFill>
                  <a:srgbClr val="FBFBF8"/>
                </a:solidFill>
                <a:latin typeface="IBM Plex Sans" pitchFamily="34" charset="0"/>
                <a:ea typeface="IBM Plex Sans" pitchFamily="34" charset="-122"/>
                <a:cs typeface="IBM Plex Sans" pitchFamily="34" charset="-120"/>
              </a:rPr>
              <a:t>,</a:t>
            </a:r>
            <a:endParaRPr lang="en-US" sz="1526" dirty="0"/>
          </a:p>
          <a:p>
            <a:pPr marL="0" indent="0" algn="ctr">
              <a:lnSpc>
                <a:spcPts val="2136"/>
              </a:lnSpc>
              <a:buNone/>
            </a:pPr>
            <a:r>
              <a:rPr lang="en-US" sz="1526" dirty="0">
                <a:solidFill>
                  <a:srgbClr val="FBFBF8"/>
                </a:solidFill>
                <a:latin typeface="IBM Plex Sans" pitchFamily="34" charset="0"/>
                <a:ea typeface="IBM Plex Sans" pitchFamily="34" charset="-122"/>
                <a:cs typeface="IBM Plex Sans" pitchFamily="34" charset="-120"/>
              </a:rPr>
              <a:t>non il lavoro che fa su ogni pacchetto. Sono due misure diverse.</a:t>
            </a:r>
            <a:endParaRPr lang="en-US" sz="1526" dirty="0"/>
          </a:p>
        </p:txBody>
      </p:sp>
      <p:sp>
        <p:nvSpPr>
          <p:cNvPr id="8" name="Text 5"/>
          <p:cNvSpPr/>
          <p:nvPr/>
        </p:nvSpPr>
        <p:spPr>
          <a:xfrm>
            <a:off x="812800" y="6238280"/>
            <a:ext cx="863979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IBM Plex Sans" pitchFamily="34" charset="0"/>
                <a:ea typeface="IBM Plex Sans" pitchFamily="34" charset="-122"/>
                <a:cs typeface="IBM Plex Sans" pitchFamily="34" charset="-120"/>
              </a:rPr>
              <a:t>In P3 ogni strato è un programma a sé: allargare costa dentro un programma, approfondire costa fra un programma e l’altro</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marL="0" indent="0" algn="l">
              <a:lnSpc>
                <a:spcPts val="1820"/>
              </a:lnSpc>
              <a:buNone/>
            </a:pPr>
            <a:r>
              <a:rPr lang="en-US" sz="1300" kern="0" spc="100" dirty="0">
                <a:solidFill>
                  <a:srgbClr val="C2410C"/>
                </a:solidFill>
                <a:latin typeface="JetBrains Mono" pitchFamily="34" charset="0"/>
                <a:ea typeface="JetBrains Mono" pitchFamily="34" charset="-122"/>
                <a:cs typeface="JetBrains Mono" pitchFamily="34" charset="-120"/>
              </a:rPr>
              <a:t>UN PARAMETRO ALLA VOLTA · TAGLIA DELLA RETE, LARGHEZZA DEL MODELLO</a:t>
            </a:r>
            <a:endParaRPr lang="en-US" sz="1300" dirty="0"/>
          </a:p>
        </p:txBody>
      </p:sp>
      <p:sp>
        <p:nvSpPr>
          <p:cNvPr id="3" name="Text 1"/>
          <p:cNvSpPr/>
          <p:nvPr/>
        </p:nvSpPr>
        <p:spPr>
          <a:xfrm>
            <a:off x="812800" y="1107415"/>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dirty="0">
                <a:solidFill>
                  <a:srgbClr val="14213D"/>
                </a:solidFill>
                <a:latin typeface="IBM Plex Sans" pitchFamily="34" charset="0"/>
                <a:ea typeface="IBM Plex Sans" pitchFamily="34" charset="-122"/>
                <a:cs typeface="IBM Plex Sans" pitchFamily="34" charset="-120"/>
              </a:rPr>
              <a:t>La rete può crescere quanto vuole. Il modello no.</a:t>
            </a:r>
            <a:endParaRPr lang="en-US" sz="2800" dirty="0"/>
          </a:p>
        </p:txBody>
      </p:sp>
      <p:sp>
        <p:nvSpPr>
          <p:cNvPr id="4" name="Shape 2"/>
          <p:cNvSpPr/>
          <p:nvPr/>
        </p:nvSpPr>
        <p:spPr>
          <a:xfrm>
            <a:off x="815975" y="1666810"/>
            <a:ext cx="5194300" cy="2529417"/>
          </a:xfrm>
          <a:prstGeom prst="roundRect">
            <a:avLst>
              <a:gd name="adj" fmla="val 3891"/>
            </a:avLst>
          </a:prstGeom>
          <a:solidFill>
            <a:srgbClr val="FFFFFF"/>
          </a:solidFill>
          <a:ln w="6350">
            <a:solidFill>
              <a:srgbClr val="D7DEE7"/>
            </a:solidFill>
            <a:prstDash val="solid"/>
          </a:ln>
        </p:spPr>
      </p:sp>
      <p:pic>
        <p:nvPicPr>
          <p:cNvPr id="5" name="Image 0" descr="Istruzioni del programma, scala logaritmica, al crescere del numero di nodi della rete: P1.5 sale, le altre restano piatte"/>
          <p:cNvPicPr>
            <a:picLocks noChangeAspect="1"/>
          </p:cNvPicPr>
          <p:nvPr/>
        </p:nvPicPr>
        <p:blipFill>
          <a:blip r:embed="rId3"/>
          <a:srcRect l="-17066" r="-17066"/>
          <a:stretch/>
        </p:blipFill>
        <p:spPr>
          <a:xfrm>
            <a:off x="905933" y="1756767"/>
            <a:ext cx="4902200" cy="2349500"/>
          </a:xfrm>
          <a:prstGeom prst="rect">
            <a:avLst/>
          </a:prstGeom>
        </p:spPr>
      </p:pic>
      <p:sp>
        <p:nvSpPr>
          <p:cNvPr id="6" name="Shape 3"/>
          <p:cNvSpPr/>
          <p:nvPr/>
        </p:nvSpPr>
        <p:spPr>
          <a:xfrm>
            <a:off x="812800" y="4275603"/>
            <a:ext cx="5200650" cy="897136"/>
          </a:xfrm>
          <a:prstGeom prst="roundRect">
            <a:avLst>
              <a:gd name="adj" fmla="val 8494"/>
            </a:avLst>
          </a:prstGeom>
          <a:solidFill>
            <a:srgbClr val="EEF1F5"/>
          </a:solidFill>
          <a:ln/>
        </p:spPr>
      </p:sp>
      <p:sp>
        <p:nvSpPr>
          <p:cNvPr id="7" name="Shape 4"/>
          <p:cNvSpPr/>
          <p:nvPr/>
        </p:nvSpPr>
        <p:spPr>
          <a:xfrm>
            <a:off x="831850" y="4275603"/>
            <a:ext cx="0" cy="897136"/>
          </a:xfrm>
          <a:prstGeom prst="line">
            <a:avLst/>
          </a:prstGeom>
          <a:noFill/>
          <a:ln w="38100">
            <a:solidFill>
              <a:srgbClr val="2E7D52"/>
            </a:solidFill>
            <a:prstDash val="solid"/>
          </a:ln>
        </p:spPr>
      </p:sp>
      <p:sp>
        <p:nvSpPr>
          <p:cNvPr id="8" name="Text 5"/>
          <p:cNvSpPr/>
          <p:nvPr/>
        </p:nvSpPr>
        <p:spPr>
          <a:xfrm>
            <a:off x="1003300" y="4389903"/>
            <a:ext cx="5003483" cy="693936"/>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14213D"/>
                </a:solidFill>
                <a:latin typeface="IBM Plex Sans" pitchFamily="34" charset="0"/>
                <a:ea typeface="IBM Plex Sans" pitchFamily="34" charset="-122"/>
                <a:cs typeface="IBM Plex Sans" pitchFamily="34" charset="-120"/>
              </a:rPr>
              <a:t>Da 10 a 100 nodi: </a:t>
            </a:r>
            <a:r>
              <a:rPr lang="en-US" sz="1300" b="1" dirty="0">
                <a:solidFill>
                  <a:srgbClr val="14213D"/>
                </a:solidFill>
                <a:latin typeface="IBM Plex Sans" pitchFamily="34" charset="0"/>
                <a:ea typeface="IBM Plex Sans" pitchFamily="34" charset="-122"/>
                <a:cs typeface="IBM Plex Sans" pitchFamily="34" charset="-120"/>
              </a:rPr>
              <a:t>la latenza non si muove</a:t>
            </a:r>
            <a:r>
              <a:rPr lang="en-US" sz="1300" dirty="0">
                <a:solidFill>
                  <a:srgbClr val="14213D"/>
                </a:solidFill>
                <a:latin typeface="IBM Plex Sans" pitchFamily="34" charset="0"/>
                <a:ea typeface="IBM Plex Sans" pitchFamily="34" charset="-122"/>
                <a:cs typeface="IBM Plex Sans" pitchFamily="34" charset="-120"/>
              </a:rPr>
              <a:t> su nessuna delle quattro. Solo P1.5 cresce in </a:t>
            </a:r>
            <a:r>
              <a:rPr lang="en-US" sz="1300" i="1" dirty="0">
                <a:solidFill>
                  <a:srgbClr val="14213D"/>
                </a:solidFill>
                <a:latin typeface="IBM Plex Sans" pitchFamily="34" charset="0"/>
                <a:ea typeface="IBM Plex Sans" pitchFamily="34" charset="-122"/>
                <a:cs typeface="IBM Plex Sans" pitchFamily="34" charset="-120"/>
              </a:rPr>
              <a:t>dimensione</a:t>
            </a:r>
            <a:r>
              <a:rPr lang="en-US" sz="1300" dirty="0">
                <a:solidFill>
                  <a:srgbClr val="14213D"/>
                </a:solidFill>
                <a:latin typeface="IBM Plex Sans" pitchFamily="34" charset="0"/>
                <a:ea typeface="IBM Plex Sans" pitchFamily="34" charset="-122"/>
                <a:cs typeface="IBM Plex Sans" pitchFamily="34" charset="-120"/>
              </a:rPr>
              <a:t>, da 746 a 1 692 istruzioni — e congelando anche il nodo, sparisce anche quella.</a:t>
            </a:r>
            <a:endParaRPr lang="en-US" sz="1300" dirty="0"/>
          </a:p>
        </p:txBody>
      </p:sp>
      <p:sp>
        <p:nvSpPr>
          <p:cNvPr id="9" name="Shape 6"/>
          <p:cNvSpPr/>
          <p:nvPr/>
        </p:nvSpPr>
        <p:spPr>
          <a:xfrm>
            <a:off x="6181725" y="1666810"/>
            <a:ext cx="5194300" cy="2529417"/>
          </a:xfrm>
          <a:prstGeom prst="roundRect">
            <a:avLst>
              <a:gd name="adj" fmla="val 3891"/>
            </a:avLst>
          </a:prstGeom>
          <a:solidFill>
            <a:srgbClr val="FFFFFF"/>
          </a:solidFill>
          <a:ln w="6350">
            <a:solidFill>
              <a:srgbClr val="D7DEE7"/>
            </a:solidFill>
            <a:prstDash val="solid"/>
          </a:ln>
        </p:spPr>
      </p:sp>
      <p:pic>
        <p:nvPicPr>
          <p:cNvPr id="10" name="Image 1" descr="Latenza al crescere dei neuroni per strato nascosto: tutte e quattro le curve salgono"/>
          <p:cNvPicPr>
            <a:picLocks noChangeAspect="1"/>
          </p:cNvPicPr>
          <p:nvPr/>
        </p:nvPicPr>
        <p:blipFill>
          <a:blip r:embed="rId4"/>
          <a:srcRect l="-17066" r="-17066"/>
          <a:stretch/>
        </p:blipFill>
        <p:spPr>
          <a:xfrm>
            <a:off x="6271683" y="1756767"/>
            <a:ext cx="4902200" cy="2349500"/>
          </a:xfrm>
          <a:prstGeom prst="rect">
            <a:avLst/>
          </a:prstGeom>
        </p:spPr>
      </p:pic>
      <p:sp>
        <p:nvSpPr>
          <p:cNvPr id="11" name="Shape 7"/>
          <p:cNvSpPr/>
          <p:nvPr/>
        </p:nvSpPr>
        <p:spPr>
          <a:xfrm>
            <a:off x="6178550" y="4275603"/>
            <a:ext cx="5200650" cy="674291"/>
          </a:xfrm>
          <a:prstGeom prst="roundRect">
            <a:avLst>
              <a:gd name="adj" fmla="val 11301"/>
            </a:avLst>
          </a:prstGeom>
          <a:solidFill>
            <a:srgbClr val="EEF1F5"/>
          </a:solidFill>
          <a:ln/>
        </p:spPr>
      </p:sp>
      <p:sp>
        <p:nvSpPr>
          <p:cNvPr id="12" name="Shape 8"/>
          <p:cNvSpPr/>
          <p:nvPr/>
        </p:nvSpPr>
        <p:spPr>
          <a:xfrm>
            <a:off x="6197600" y="4275603"/>
            <a:ext cx="0" cy="674291"/>
          </a:xfrm>
          <a:prstGeom prst="line">
            <a:avLst/>
          </a:prstGeom>
          <a:noFill/>
          <a:ln w="38100">
            <a:solidFill>
              <a:srgbClr val="C2410C"/>
            </a:solidFill>
            <a:prstDash val="solid"/>
          </a:ln>
        </p:spPr>
      </p:sp>
      <p:sp>
        <p:nvSpPr>
          <p:cNvPr id="13" name="Text 9"/>
          <p:cNvSpPr/>
          <p:nvPr/>
        </p:nvSpPr>
        <p:spPr>
          <a:xfrm>
            <a:off x="6369050" y="4389903"/>
            <a:ext cx="5003483" cy="471091"/>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14213D"/>
                </a:solidFill>
                <a:latin typeface="IBM Plex Sans" pitchFamily="34" charset="0"/>
                <a:ea typeface="IBM Plex Sans" pitchFamily="34" charset="-122"/>
                <a:cs typeface="IBM Plex Sans" pitchFamily="34" charset="-120"/>
              </a:rPr>
              <a:t>Da 2 a 8 neuroni per strato: </a:t>
            </a:r>
            <a:r>
              <a:rPr lang="en-US" sz="1300" b="1" dirty="0">
                <a:solidFill>
                  <a:srgbClr val="14213D"/>
                </a:solidFill>
                <a:latin typeface="IBM Plex Sans" pitchFamily="34" charset="0"/>
                <a:ea typeface="IBM Plex Sans" pitchFamily="34" charset="-122"/>
                <a:cs typeface="IBM Plex Sans" pitchFamily="34" charset="-120"/>
              </a:rPr>
              <a:t>sale su tutte e quattro</a:t>
            </a:r>
            <a:r>
              <a:rPr lang="en-US" sz="1300" dirty="0">
                <a:solidFill>
                  <a:srgbClr val="14213D"/>
                </a:solidFill>
                <a:latin typeface="IBM Plex Sans" pitchFamily="34" charset="0"/>
                <a:ea typeface="IBM Plex Sans" pitchFamily="34" charset="-122"/>
                <a:cs typeface="IBM Plex Sans" pitchFamily="34" charset="-120"/>
              </a:rPr>
              <a:t>. P1 41→109 ns, P3 401→530.</a:t>
            </a:r>
            <a:endParaRPr lang="en-US" sz="1300" dirty="0"/>
          </a:p>
        </p:txBody>
      </p:sp>
      <p:sp>
        <p:nvSpPr>
          <p:cNvPr id="14" name="Text 10"/>
          <p:cNvSpPr/>
          <p:nvPr/>
        </p:nvSpPr>
        <p:spPr>
          <a:xfrm>
            <a:off x="812800" y="6024959"/>
            <a:ext cx="11720576"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IBM Plex Sans" pitchFamily="34" charset="0"/>
                <a:ea typeface="IBM Plex Sans" pitchFamily="34" charset="-122"/>
                <a:cs typeface="IBM Plex Sans" pitchFamily="34" charset="-120"/>
              </a:rPr>
              <a:t>L’identità del nodo entra come una casella singola: il programma ne legge </a:t>
            </a:r>
            <a:r>
              <a:rPr lang="en-US" sz="1200" b="1" dirty="0">
                <a:solidFill>
                  <a:srgbClr val="6A7179"/>
                </a:solidFill>
                <a:latin typeface="IBM Plex Sans" pitchFamily="34" charset="0"/>
                <a:ea typeface="IBM Plex Sans" pitchFamily="34" charset="-122"/>
                <a:cs typeface="IBM Plex Sans" pitchFamily="34" charset="-120"/>
              </a:rPr>
              <a:t>una</a:t>
            </a:r>
            <a:r>
              <a:rPr lang="en-US" sz="1200" dirty="0">
                <a:solidFill>
                  <a:srgbClr val="6A7179"/>
                </a:solidFill>
                <a:latin typeface="IBM Plex Sans" pitchFamily="34" charset="0"/>
                <a:ea typeface="IBM Plex Sans" pitchFamily="34" charset="-122"/>
                <a:cs typeface="IBM Plex Sans" pitchFamily="34" charset="-120"/>
              </a:rPr>
              <a:t>, qualunque sia la taglia della rete. Un neurone in più è invece lavoro vero, a ogni pacchetto</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EF1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3669"/>
          </a:xfrm>
          <a:prstGeom prst="rect">
            <a:avLst/>
          </a:prstGeom>
          <a:noFill/>
          <a:ln/>
        </p:spPr>
        <p:txBody>
          <a:bodyPr wrap="square" lIns="0" tIns="0" rIns="0" bIns="0" rtlCol="0" anchor="t">
            <a:normAutofit/>
          </a:bodyPr>
          <a:lstStyle/>
          <a:p>
            <a:pPr marL="0" indent="0" algn="l">
              <a:lnSpc>
                <a:spcPts val="1820"/>
              </a:lnSpc>
              <a:buNone/>
            </a:pPr>
            <a:r>
              <a:rPr lang="en-US" sz="1300" kern="0" spc="100" dirty="0">
                <a:solidFill>
                  <a:srgbClr val="C2410C"/>
                </a:solidFill>
                <a:latin typeface="JetBrains Mono" pitchFamily="34" charset="0"/>
                <a:ea typeface="JetBrains Mono" pitchFamily="34" charset="-122"/>
                <a:cs typeface="JetBrains Mono" pitchFamily="34" charset="-120"/>
              </a:rPr>
              <a:t>UN PARAMETRO ALLA VOLTA · PROFONDITÀ DELLA RETE</a:t>
            </a:r>
            <a:endParaRPr lang="en-US" sz="1300" dirty="0"/>
          </a:p>
        </p:txBody>
      </p:sp>
      <p:sp>
        <p:nvSpPr>
          <p:cNvPr id="3" name="Text 1"/>
          <p:cNvSpPr/>
          <p:nvPr/>
        </p:nvSpPr>
        <p:spPr>
          <a:xfrm>
            <a:off x="812800" y="1104571"/>
            <a:ext cx="10883392" cy="411692"/>
          </a:xfrm>
          <a:prstGeom prst="rect">
            <a:avLst/>
          </a:prstGeom>
          <a:noFill/>
          <a:ln/>
        </p:spPr>
        <p:txBody>
          <a:bodyPr wrap="square" lIns="0" tIns="0" rIns="0" bIns="0" rtlCol="0" anchor="t">
            <a:normAutofit/>
          </a:bodyPr>
          <a:lstStyle/>
          <a:p>
            <a:pPr marL="0" indent="0" algn="l">
              <a:lnSpc>
                <a:spcPts val="3070"/>
              </a:lnSpc>
              <a:buNone/>
            </a:pPr>
            <a:r>
              <a:rPr lang="en-US" sz="2791" b="1" dirty="0">
                <a:solidFill>
                  <a:srgbClr val="14213D"/>
                </a:solidFill>
                <a:latin typeface="IBM Plex Sans" pitchFamily="34" charset="0"/>
                <a:ea typeface="IBM Plex Sans" pitchFamily="34" charset="-122"/>
                <a:cs typeface="IBM Plex Sans" pitchFamily="34" charset="-120"/>
              </a:rPr>
              <a:t>Uno strato in più: P2 lo paga in spazio, P3 in tempo</a:t>
            </a:r>
            <a:endParaRPr lang="en-US" sz="2791" dirty="0"/>
          </a:p>
        </p:txBody>
      </p:sp>
      <p:sp>
        <p:nvSpPr>
          <p:cNvPr id="4" name="Shape 2"/>
          <p:cNvSpPr/>
          <p:nvPr/>
        </p:nvSpPr>
        <p:spPr>
          <a:xfrm>
            <a:off x="815975" y="1659136"/>
            <a:ext cx="5194300" cy="2498394"/>
          </a:xfrm>
          <a:prstGeom prst="roundRect">
            <a:avLst>
              <a:gd name="adj" fmla="val 3940"/>
            </a:avLst>
          </a:prstGeom>
          <a:solidFill>
            <a:srgbClr val="FFFFFF"/>
          </a:solidFill>
          <a:ln w="6350">
            <a:solidFill>
              <a:srgbClr val="D7DEE7"/>
            </a:solidFill>
            <a:prstDash val="solid"/>
          </a:ln>
        </p:spPr>
      </p:sp>
      <p:pic>
        <p:nvPicPr>
          <p:cNvPr id="5" name="Image 0" descr="Istruzioni del programma al crescere del numero di strati: P2 sale, P3 resta piatta"/>
          <p:cNvPicPr>
            <a:picLocks noChangeAspect="1"/>
          </p:cNvPicPr>
          <p:nvPr/>
        </p:nvPicPr>
        <p:blipFill>
          <a:blip r:embed="rId3"/>
          <a:srcRect l="-17963" r="-17963"/>
          <a:stretch/>
        </p:blipFill>
        <p:spPr>
          <a:xfrm>
            <a:off x="905933" y="1749096"/>
            <a:ext cx="4902200" cy="2318478"/>
          </a:xfrm>
          <a:prstGeom prst="rect">
            <a:avLst/>
          </a:prstGeom>
        </p:spPr>
      </p:pic>
      <p:sp>
        <p:nvSpPr>
          <p:cNvPr id="6" name="Shape 3"/>
          <p:cNvSpPr/>
          <p:nvPr/>
        </p:nvSpPr>
        <p:spPr>
          <a:xfrm>
            <a:off x="812800" y="4236907"/>
            <a:ext cx="5200650" cy="668404"/>
          </a:xfrm>
          <a:prstGeom prst="roundRect">
            <a:avLst>
              <a:gd name="adj" fmla="val 11400"/>
            </a:avLst>
          </a:prstGeom>
          <a:solidFill>
            <a:srgbClr val="FBFBF8"/>
          </a:solidFill>
          <a:ln/>
        </p:spPr>
      </p:sp>
      <p:sp>
        <p:nvSpPr>
          <p:cNvPr id="7" name="Shape 4"/>
          <p:cNvSpPr/>
          <p:nvPr/>
        </p:nvSpPr>
        <p:spPr>
          <a:xfrm>
            <a:off x="831850" y="4236907"/>
            <a:ext cx="0" cy="668404"/>
          </a:xfrm>
          <a:prstGeom prst="line">
            <a:avLst/>
          </a:prstGeom>
          <a:noFill/>
          <a:ln w="38100">
            <a:solidFill>
              <a:srgbClr val="C2410C"/>
            </a:solidFill>
            <a:prstDash val="solid"/>
          </a:ln>
        </p:spPr>
      </p:sp>
      <p:sp>
        <p:nvSpPr>
          <p:cNvPr id="8" name="Text 5"/>
          <p:cNvSpPr/>
          <p:nvPr/>
        </p:nvSpPr>
        <p:spPr>
          <a:xfrm>
            <a:off x="1003300" y="4351207"/>
            <a:ext cx="5003483" cy="465204"/>
          </a:xfrm>
          <a:prstGeom prst="rect">
            <a:avLst/>
          </a:prstGeom>
          <a:noFill/>
          <a:ln/>
        </p:spPr>
        <p:txBody>
          <a:bodyPr wrap="square" lIns="0" tIns="0" rIns="0" bIns="0" rtlCol="0" anchor="t">
            <a:normAutofit/>
          </a:bodyPr>
          <a:lstStyle/>
          <a:p>
            <a:pPr marL="0" indent="0" algn="l">
              <a:lnSpc>
                <a:spcPts val="1733"/>
              </a:lnSpc>
              <a:buNone/>
            </a:pPr>
            <a:r>
              <a:rPr lang="en-US" sz="1284" b="1" dirty="0">
                <a:solidFill>
                  <a:srgbClr val="14213D"/>
                </a:solidFill>
                <a:latin typeface="IBM Plex Sans" pitchFamily="34" charset="0"/>
                <a:ea typeface="IBM Plex Sans" pitchFamily="34" charset="-122"/>
                <a:cs typeface="IBM Plex Sans" pitchFamily="34" charset="-120"/>
              </a:rPr>
              <a:t>Dimensione.</a:t>
            </a:r>
            <a:r>
              <a:rPr lang="en-US" sz="1284" dirty="0">
                <a:solidFill>
                  <a:srgbClr val="14213D"/>
                </a:solidFill>
                <a:latin typeface="IBM Plex Sans" pitchFamily="34" charset="0"/>
                <a:ea typeface="IBM Plex Sans" pitchFamily="34" charset="-122"/>
                <a:cs typeface="IBM Plex Sans" pitchFamily="34" charset="-120"/>
              </a:rPr>
              <a:t> P2 ricompila e srotola: 14 668 → 18 801 istruzioni. P3 </a:t>
            </a:r>
            <a:r>
              <a:rPr lang="en-US" sz="1284" b="1" dirty="0">
                <a:solidFill>
                  <a:srgbClr val="14213D"/>
                </a:solidFill>
                <a:latin typeface="IBM Plex Sans" pitchFamily="34" charset="0"/>
                <a:ea typeface="IBM Plex Sans" pitchFamily="34" charset="-122"/>
                <a:cs typeface="IBM Plex Sans" pitchFamily="34" charset="-120"/>
              </a:rPr>
              <a:t>non si muove</a:t>
            </a:r>
            <a:r>
              <a:rPr lang="en-US" sz="1284" dirty="0">
                <a:solidFill>
                  <a:srgbClr val="14213D"/>
                </a:solidFill>
                <a:latin typeface="IBM Plex Sans" pitchFamily="34" charset="0"/>
                <a:ea typeface="IBM Plex Sans" pitchFamily="34" charset="-122"/>
                <a:cs typeface="IBM Plex Sans" pitchFamily="34" charset="-120"/>
              </a:rPr>
              <a:t>: 12 349 a ogni profondità.</a:t>
            </a:r>
            <a:endParaRPr lang="en-US" sz="1284" dirty="0"/>
          </a:p>
        </p:txBody>
      </p:sp>
      <p:sp>
        <p:nvSpPr>
          <p:cNvPr id="9" name="Shape 6"/>
          <p:cNvSpPr/>
          <p:nvPr/>
        </p:nvSpPr>
        <p:spPr>
          <a:xfrm>
            <a:off x="6181725" y="1659136"/>
            <a:ext cx="5194300" cy="2498394"/>
          </a:xfrm>
          <a:prstGeom prst="roundRect">
            <a:avLst>
              <a:gd name="adj" fmla="val 3940"/>
            </a:avLst>
          </a:prstGeom>
          <a:solidFill>
            <a:srgbClr val="FFFFFF"/>
          </a:solidFill>
          <a:ln w="6350">
            <a:solidFill>
              <a:srgbClr val="D7DEE7"/>
            </a:solidFill>
            <a:prstDash val="solid"/>
          </a:ln>
        </p:spPr>
      </p:sp>
      <p:pic>
        <p:nvPicPr>
          <p:cNvPr id="10" name="Image 1" descr="Latenza al crescere del numero di strati: tutte salgono, P3 piu' ripida"/>
          <p:cNvPicPr>
            <a:picLocks noChangeAspect="1"/>
          </p:cNvPicPr>
          <p:nvPr/>
        </p:nvPicPr>
        <p:blipFill>
          <a:blip r:embed="rId4"/>
          <a:srcRect l="-17963" r="-17963"/>
          <a:stretch/>
        </p:blipFill>
        <p:spPr>
          <a:xfrm>
            <a:off x="6271683" y="1749096"/>
            <a:ext cx="4902200" cy="2318478"/>
          </a:xfrm>
          <a:prstGeom prst="rect">
            <a:avLst/>
          </a:prstGeom>
        </p:spPr>
      </p:pic>
      <p:sp>
        <p:nvSpPr>
          <p:cNvPr id="11" name="Shape 7"/>
          <p:cNvSpPr/>
          <p:nvPr/>
        </p:nvSpPr>
        <p:spPr>
          <a:xfrm>
            <a:off x="6178550" y="4236907"/>
            <a:ext cx="5200650" cy="668404"/>
          </a:xfrm>
          <a:prstGeom prst="roundRect">
            <a:avLst>
              <a:gd name="adj" fmla="val 11400"/>
            </a:avLst>
          </a:prstGeom>
          <a:solidFill>
            <a:srgbClr val="FBFBF8"/>
          </a:solidFill>
          <a:ln/>
        </p:spPr>
      </p:sp>
      <p:sp>
        <p:nvSpPr>
          <p:cNvPr id="12" name="Shape 8"/>
          <p:cNvSpPr/>
          <p:nvPr/>
        </p:nvSpPr>
        <p:spPr>
          <a:xfrm>
            <a:off x="6197600" y="4236907"/>
            <a:ext cx="0" cy="668404"/>
          </a:xfrm>
          <a:prstGeom prst="line">
            <a:avLst/>
          </a:prstGeom>
          <a:noFill/>
          <a:ln w="38100">
            <a:solidFill>
              <a:srgbClr val="C2410C"/>
            </a:solidFill>
            <a:prstDash val="solid"/>
          </a:ln>
        </p:spPr>
      </p:sp>
      <p:sp>
        <p:nvSpPr>
          <p:cNvPr id="13" name="Text 9"/>
          <p:cNvSpPr/>
          <p:nvPr/>
        </p:nvSpPr>
        <p:spPr>
          <a:xfrm>
            <a:off x="6369050" y="4351207"/>
            <a:ext cx="5003483" cy="465204"/>
          </a:xfrm>
          <a:prstGeom prst="rect">
            <a:avLst/>
          </a:prstGeom>
          <a:noFill/>
          <a:ln/>
        </p:spPr>
        <p:txBody>
          <a:bodyPr wrap="square" lIns="0" tIns="0" rIns="0" bIns="0" rtlCol="0" anchor="t">
            <a:normAutofit/>
          </a:bodyPr>
          <a:lstStyle/>
          <a:p>
            <a:pPr marL="0" indent="0" algn="l">
              <a:lnSpc>
                <a:spcPts val="1733"/>
              </a:lnSpc>
              <a:buNone/>
            </a:pPr>
            <a:r>
              <a:rPr lang="en-US" sz="1284" b="1" dirty="0">
                <a:solidFill>
                  <a:srgbClr val="14213D"/>
                </a:solidFill>
                <a:latin typeface="IBM Plex Sans" pitchFamily="34" charset="0"/>
                <a:ea typeface="IBM Plex Sans" pitchFamily="34" charset="-122"/>
                <a:cs typeface="IBM Plex Sans" pitchFamily="34" charset="-120"/>
              </a:rPr>
              <a:t>Tempo.</a:t>
            </a:r>
            <a:r>
              <a:rPr lang="en-US" sz="1284" dirty="0">
                <a:solidFill>
                  <a:srgbClr val="14213D"/>
                </a:solidFill>
                <a:latin typeface="IBM Plex Sans" pitchFamily="34" charset="0"/>
                <a:ea typeface="IBM Plex Sans" pitchFamily="34" charset="-122"/>
                <a:cs typeface="IBM Plex Sans" pitchFamily="34" charset="-120"/>
              </a:rPr>
              <a:t> P3 paga: 347 → 699 ns da 1 a 6 strati, e i salti fra programmi vanno da </a:t>
            </a:r>
            <a:r>
              <a:rPr lang="en-US" sz="1284" b="1" dirty="0">
                <a:solidFill>
                  <a:srgbClr val="14213D"/>
                </a:solidFill>
                <a:latin typeface="IBM Plex Sans" pitchFamily="34" charset="0"/>
                <a:ea typeface="IBM Plex Sans" pitchFamily="34" charset="-122"/>
                <a:cs typeface="IBM Plex Sans" pitchFamily="34" charset="-120"/>
              </a:rPr>
              <a:t>2 a 7</a:t>
            </a:r>
            <a:r>
              <a:rPr lang="en-US" sz="1284" dirty="0">
                <a:solidFill>
                  <a:srgbClr val="14213D"/>
                </a:solidFill>
                <a:latin typeface="IBM Plex Sans" pitchFamily="34" charset="0"/>
                <a:ea typeface="IBM Plex Sans" pitchFamily="34" charset="-122"/>
                <a:cs typeface="IBM Plex Sans" pitchFamily="34" charset="-120"/>
              </a:rPr>
              <a:t>.</a:t>
            </a:r>
            <a:endParaRPr lang="en-US" sz="1284" dirty="0"/>
          </a:p>
        </p:txBody>
      </p:sp>
      <p:sp>
        <p:nvSpPr>
          <p:cNvPr id="14" name="Shape 10"/>
          <p:cNvSpPr/>
          <p:nvPr/>
        </p:nvSpPr>
        <p:spPr>
          <a:xfrm>
            <a:off x="812800" y="5070413"/>
            <a:ext cx="10566400" cy="771591"/>
          </a:xfrm>
          <a:prstGeom prst="roundRect">
            <a:avLst>
              <a:gd name="adj" fmla="val 11522"/>
            </a:avLst>
          </a:prstGeom>
          <a:solidFill>
            <a:srgbClr val="14213D"/>
          </a:solidFill>
          <a:ln/>
        </p:spPr>
      </p:sp>
      <p:sp>
        <p:nvSpPr>
          <p:cNvPr id="15" name="Text 11"/>
          <p:cNvSpPr/>
          <p:nvPr/>
        </p:nvSpPr>
        <p:spPr>
          <a:xfrm>
            <a:off x="850519" y="5210113"/>
            <a:ext cx="10490962" cy="517591"/>
          </a:xfrm>
          <a:prstGeom prst="rect">
            <a:avLst/>
          </a:prstGeom>
          <a:noFill/>
          <a:ln/>
        </p:spPr>
        <p:txBody>
          <a:bodyPr wrap="square" lIns="0" tIns="0" rIns="0" bIns="0" rtlCol="0" anchor="t">
            <a:normAutofit/>
          </a:bodyPr>
          <a:lstStyle/>
          <a:p>
            <a:pPr marL="0" indent="0" algn="ctr">
              <a:lnSpc>
                <a:spcPts val="1960"/>
              </a:lnSpc>
              <a:buNone/>
            </a:pPr>
            <a:r>
              <a:rPr lang="en-US" sz="1400" dirty="0">
                <a:solidFill>
                  <a:srgbClr val="FBFBF8"/>
                </a:solidFill>
                <a:latin typeface="IBM Plex Sans" pitchFamily="34" charset="0"/>
                <a:ea typeface="IBM Plex Sans" pitchFamily="34" charset="-122"/>
                <a:cs typeface="IBM Plex Sans" pitchFamily="34" charset="-120"/>
              </a:rPr>
              <a:t>Due modi opposti di essere generici: P2 rigenera il programma per la profondità, P3 la legge da una tabella e aggiunge un salto per strato.</a:t>
            </a:r>
            <a:endParaRPr lang="en-US" sz="1400" dirty="0"/>
          </a:p>
        </p:txBody>
      </p:sp>
      <p:sp>
        <p:nvSpPr>
          <p:cNvPr id="16" name="Text 12"/>
          <p:cNvSpPr/>
          <p:nvPr/>
        </p:nvSpPr>
        <p:spPr>
          <a:xfrm>
            <a:off x="812800" y="6238280"/>
            <a:ext cx="4801953"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IBM Plex Sans" pitchFamily="34" charset="0"/>
                <a:ea typeface="IBM Plex Sans" pitchFamily="34" charset="-122"/>
                <a:cs typeface="IBM Plex Sans" pitchFamily="34" charset="-120"/>
              </a:rPr>
              <a:t>Quattro neuroni per strato, da 1 a 6 strati · il resto del modello fermo</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marL="0" indent="0" algn="l">
              <a:lnSpc>
                <a:spcPts val="1820"/>
              </a:lnSpc>
              <a:buNone/>
            </a:pPr>
            <a:r>
              <a:rPr lang="en-US" sz="1300" kern="0" spc="100" dirty="0">
                <a:solidFill>
                  <a:srgbClr val="C2410C"/>
                </a:solidFill>
                <a:latin typeface="JetBrains Mono" pitchFamily="34" charset="0"/>
                <a:ea typeface="JetBrains Mono" pitchFamily="34" charset="-122"/>
                <a:cs typeface="JetBrains Mono" pitchFamily="34" charset="-120"/>
              </a:rPr>
              <a:t>UN PARAMETRO ALLA VOLTA · A PARITÀ DI PESI</a:t>
            </a:r>
            <a:endParaRPr lang="en-US" sz="1300" dirty="0"/>
          </a:p>
        </p:txBody>
      </p:sp>
      <p:sp>
        <p:nvSpPr>
          <p:cNvPr id="3" name="Text 1"/>
          <p:cNvSpPr/>
          <p:nvPr/>
        </p:nvSpPr>
        <p:spPr>
          <a:xfrm>
            <a:off x="812800" y="1107418"/>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dirty="0">
                <a:solidFill>
                  <a:srgbClr val="14213D"/>
                </a:solidFill>
                <a:latin typeface="IBM Plex Sans" pitchFamily="34" charset="0"/>
                <a:ea typeface="IBM Plex Sans" pitchFamily="34" charset="-122"/>
                <a:cs typeface="IBM Plex Sans" pitchFamily="34" charset="-120"/>
              </a:rPr>
              <a:t>«Meglio larga o profonda?» dipende da chi la esegue</a:t>
            </a:r>
            <a:endParaRPr lang="en-US" sz="2800" dirty="0"/>
          </a:p>
        </p:txBody>
      </p:sp>
      <p:sp>
        <p:nvSpPr>
          <p:cNvPr id="4" name="Text 2"/>
          <p:cNvSpPr/>
          <p:nvPr/>
        </p:nvSpPr>
        <p:spPr>
          <a:xfrm>
            <a:off x="812800" y="1676338"/>
            <a:ext cx="10595610" cy="52321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Cinque forme con lo </a:t>
            </a:r>
            <a:r>
              <a:rPr lang="en-US" sz="1400" b="1" dirty="0">
                <a:solidFill>
                  <a:srgbClr val="4A5568"/>
                </a:solidFill>
                <a:latin typeface="IBM Plex Sans" pitchFamily="34" charset="0"/>
                <a:ea typeface="IBM Plex Sans" pitchFamily="34" charset="-122"/>
                <a:cs typeface="IBM Plex Sans" pitchFamily="34" charset="-120"/>
              </a:rPr>
              <a:t>stesso numero di pesi</a:t>
            </a:r>
            <a:r>
              <a:rPr lang="en-US" sz="1400" dirty="0">
                <a:solidFill>
                  <a:srgbClr val="4A5568"/>
                </a:solidFill>
                <a:latin typeface="IBM Plex Sans" pitchFamily="34" charset="0"/>
                <a:ea typeface="IBM Plex Sans" pitchFamily="34" charset="-122"/>
                <a:cs typeface="IBM Plex Sans" pitchFamily="34" charset="-120"/>
              </a:rPr>
              <a:t> (~592): uno strato largo, oppure cinque stretti. Se il costo dipendesse solo dai pesi, le curve sarebbero piatte.</a:t>
            </a:r>
            <a:endParaRPr lang="en-US" sz="1400" dirty="0"/>
          </a:p>
        </p:txBody>
      </p:sp>
      <p:sp>
        <p:nvSpPr>
          <p:cNvPr id="5" name="Shape 3"/>
          <p:cNvSpPr/>
          <p:nvPr/>
        </p:nvSpPr>
        <p:spPr>
          <a:xfrm>
            <a:off x="815975" y="2355124"/>
            <a:ext cx="5581650" cy="2770717"/>
          </a:xfrm>
          <a:prstGeom prst="roundRect">
            <a:avLst>
              <a:gd name="adj" fmla="val 3552"/>
            </a:avLst>
          </a:prstGeom>
          <a:solidFill>
            <a:srgbClr val="FFFFFF"/>
          </a:solidFill>
          <a:ln w="6350">
            <a:solidFill>
              <a:srgbClr val="D7DEE7"/>
            </a:solidFill>
            <a:prstDash val="solid"/>
          </a:ln>
        </p:spPr>
      </p:sp>
      <p:pic>
        <p:nvPicPr>
          <p:cNvPr id="6" name="Image 0" descr="Latenza al crescere del numero di strati a parita' di pesi: le due versioni generiche salgono nettamente, le due specializzate restano sullo stesso valore"/>
          <p:cNvPicPr>
            <a:picLocks noChangeAspect="1"/>
          </p:cNvPicPr>
          <p:nvPr/>
        </p:nvPicPr>
        <p:blipFill>
          <a:blip r:embed="rId3"/>
          <a:srcRect l="-17821" r="-17821"/>
          <a:stretch/>
        </p:blipFill>
        <p:spPr>
          <a:xfrm>
            <a:off x="931333" y="2470485"/>
            <a:ext cx="5359400" cy="2540000"/>
          </a:xfrm>
          <a:prstGeom prst="rect">
            <a:avLst/>
          </a:prstGeom>
        </p:spPr>
      </p:pic>
      <p:sp>
        <p:nvSpPr>
          <p:cNvPr id="7" name="Shape 4"/>
          <p:cNvSpPr/>
          <p:nvPr/>
        </p:nvSpPr>
        <p:spPr>
          <a:xfrm>
            <a:off x="6578600" y="2668724"/>
            <a:ext cx="4800600" cy="791766"/>
          </a:xfrm>
          <a:prstGeom prst="roundRect">
            <a:avLst>
              <a:gd name="adj" fmla="val 12832"/>
            </a:avLst>
          </a:prstGeom>
          <a:solidFill>
            <a:srgbClr val="14213D"/>
          </a:solidFill>
          <a:ln/>
        </p:spPr>
      </p:sp>
      <p:sp>
        <p:nvSpPr>
          <p:cNvPr id="8" name="Text 5"/>
          <p:cNvSpPr/>
          <p:nvPr/>
        </p:nvSpPr>
        <p:spPr>
          <a:xfrm>
            <a:off x="6756400" y="2821124"/>
            <a:ext cx="4578350"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E8A87C"/>
                </a:solidFill>
                <a:latin typeface="IBM Plex Sans" pitchFamily="34" charset="0"/>
                <a:ea typeface="IBM Plex Sans" pitchFamily="34" charset="-122"/>
                <a:cs typeface="IBM Plex Sans" pitchFamily="34" charset="-120"/>
              </a:rPr>
              <a:t>Generiche: la profondità si paga</a:t>
            </a:r>
            <a:endParaRPr lang="en-US" sz="1400" dirty="0"/>
          </a:p>
        </p:txBody>
      </p:sp>
      <p:sp>
        <p:nvSpPr>
          <p:cNvPr id="9" name="Text 6"/>
          <p:cNvSpPr/>
          <p:nvPr/>
        </p:nvSpPr>
        <p:spPr>
          <a:xfrm>
            <a:off x="6756400" y="3085244"/>
            <a:ext cx="4578350"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BFD8D5"/>
                </a:solidFill>
                <a:latin typeface="IBM Plex Sans" pitchFamily="34" charset="0"/>
                <a:ea typeface="IBM Plex Sans" pitchFamily="34" charset="-122"/>
                <a:cs typeface="IBM Plex Sans" pitchFamily="34" charset="-120"/>
              </a:rPr>
              <a:t>Da 1 a 5 strati, a pesi fermi: </a:t>
            </a:r>
            <a:r>
              <a:rPr lang="en-US" sz="1300" b="1" dirty="0">
                <a:solidFill>
                  <a:srgbClr val="BFD8D5"/>
                </a:solidFill>
                <a:latin typeface="IBM Plex Sans" pitchFamily="34" charset="0"/>
                <a:ea typeface="IBM Plex Sans" pitchFamily="34" charset="-122"/>
                <a:cs typeface="IBM Plex Sans" pitchFamily="34" charset="-120"/>
              </a:rPr>
              <a:t>279 → 382 ns</a:t>
            </a:r>
            <a:r>
              <a:rPr lang="en-US" sz="1300" dirty="0">
                <a:solidFill>
                  <a:srgbClr val="BFD8D5"/>
                </a:solidFill>
                <a:latin typeface="IBM Plex Sans" pitchFamily="34" charset="0"/>
                <a:ea typeface="IBM Plex Sans" pitchFamily="34" charset="-122"/>
                <a:cs typeface="IBM Plex Sans" pitchFamily="34" charset="-120"/>
              </a:rPr>
              <a:t> e </a:t>
            </a:r>
            <a:r>
              <a:rPr lang="en-US" sz="1300" b="1" dirty="0">
                <a:solidFill>
                  <a:srgbClr val="BFD8D5"/>
                </a:solidFill>
                <a:latin typeface="IBM Plex Sans" pitchFamily="34" charset="0"/>
                <a:ea typeface="IBM Plex Sans" pitchFamily="34" charset="-122"/>
                <a:cs typeface="IBM Plex Sans" pitchFamily="34" charset="-120"/>
              </a:rPr>
              <a:t>392 → 661 ns</a:t>
            </a:r>
            <a:r>
              <a:rPr lang="en-US" sz="1300" dirty="0">
                <a:solidFill>
                  <a:srgbClr val="BFD8D5"/>
                </a:solidFill>
                <a:latin typeface="IBM Plex Sans" pitchFamily="34" charset="0"/>
                <a:ea typeface="IBM Plex Sans" pitchFamily="34" charset="-122"/>
                <a:cs typeface="IBM Plex Sans" pitchFamily="34" charset="-120"/>
              </a:rPr>
              <a:t>.</a:t>
            </a:r>
            <a:endParaRPr lang="en-US" sz="1300" dirty="0"/>
          </a:p>
        </p:txBody>
      </p:sp>
      <p:sp>
        <p:nvSpPr>
          <p:cNvPr id="10" name="Shape 7"/>
          <p:cNvSpPr/>
          <p:nvPr/>
        </p:nvSpPr>
        <p:spPr>
          <a:xfrm>
            <a:off x="6578600" y="3574790"/>
            <a:ext cx="4800600" cy="1237456"/>
          </a:xfrm>
          <a:prstGeom prst="roundRect">
            <a:avLst>
              <a:gd name="adj" fmla="val 8210"/>
            </a:avLst>
          </a:prstGeom>
          <a:solidFill>
            <a:srgbClr val="EEF1F5"/>
          </a:solidFill>
          <a:ln/>
        </p:spPr>
      </p:sp>
      <p:sp>
        <p:nvSpPr>
          <p:cNvPr id="11" name="Text 8"/>
          <p:cNvSpPr/>
          <p:nvPr/>
        </p:nvSpPr>
        <p:spPr>
          <a:xfrm>
            <a:off x="6756400" y="3727190"/>
            <a:ext cx="4578350"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2E7D52"/>
                </a:solidFill>
                <a:latin typeface="IBM Plex Sans" pitchFamily="34" charset="0"/>
                <a:ea typeface="IBM Plex Sans" pitchFamily="34" charset="-122"/>
                <a:cs typeface="IBM Plex Sans" pitchFamily="34" charset="-120"/>
              </a:rPr>
              <a:t>Specializzate: indifferenti</a:t>
            </a:r>
            <a:endParaRPr lang="en-US" sz="1400" dirty="0"/>
          </a:p>
        </p:txBody>
      </p:sp>
      <p:sp>
        <p:nvSpPr>
          <p:cNvPr id="12" name="Text 9"/>
          <p:cNvSpPr/>
          <p:nvPr/>
        </p:nvSpPr>
        <p:spPr>
          <a:xfrm>
            <a:off x="6756400" y="3991310"/>
            <a:ext cx="4578350" cy="693936"/>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70–98 ns senza un andamento: srotolano tutto in una funzione sola, e cinque strati stretti o uno largo sono lo stesso conto.</a:t>
            </a:r>
            <a:endParaRPr lang="en-US" sz="1300" dirty="0"/>
          </a:p>
        </p:txBody>
      </p:sp>
      <p:sp>
        <p:nvSpPr>
          <p:cNvPr id="13" name="Text 10"/>
          <p:cNvSpPr/>
          <p:nvPr/>
        </p:nvSpPr>
        <p:spPr>
          <a:xfrm>
            <a:off x="812800" y="6238280"/>
            <a:ext cx="852894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IBM Plex Sans" pitchFamily="34" charset="0"/>
                <a:ea typeface="IBM Plex Sans" pitchFamily="34" charset="-122"/>
                <a:cs typeface="IBM Plex Sans" pitchFamily="34" charset="-120"/>
              </a:rPr>
              <a:t>Chi usa una versione generica paga la profondità; chi ne usa una specializzata sceglie la forma solo in base all’accuratezza</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45732"/>
          </a:xfrm>
          <a:prstGeom prst="rect">
            <a:avLst/>
          </a:prstGeom>
          <a:noFill/>
          <a:ln/>
        </p:spPr>
        <p:txBody>
          <a:bodyPr wrap="square" lIns="0" tIns="0" rIns="0" bIns="0" rtlCol="0" anchor="t">
            <a:normAutofit/>
          </a:bodyPr>
          <a:lstStyle/>
          <a:p>
            <a:pPr marL="0" indent="0" algn="l">
              <a:lnSpc>
                <a:spcPts val="1774"/>
              </a:lnSpc>
              <a:buNone/>
            </a:pPr>
            <a:r>
              <a:rPr lang="en-US" sz="1268" kern="0" spc="100" dirty="0">
                <a:solidFill>
                  <a:srgbClr val="C2410C"/>
                </a:solidFill>
                <a:latin typeface="JetBrains Mono" pitchFamily="34" charset="0"/>
                <a:ea typeface="JetBrains Mono" pitchFamily="34" charset="-122"/>
                <a:cs typeface="JetBrains Mono" pitchFamily="34" charset="-120"/>
              </a:rPr>
              <a:t>CONTARE IL LAVORO GIUSTO</a:t>
            </a:r>
            <a:endParaRPr lang="en-US" sz="1268" dirty="0"/>
          </a:p>
        </p:txBody>
      </p:sp>
      <p:sp>
        <p:nvSpPr>
          <p:cNvPr id="3" name="Text 1"/>
          <p:cNvSpPr/>
          <p:nvPr/>
        </p:nvSpPr>
        <p:spPr>
          <a:xfrm>
            <a:off x="812800" y="1096634"/>
            <a:ext cx="10883392" cy="411758"/>
          </a:xfrm>
          <a:prstGeom prst="rect">
            <a:avLst/>
          </a:prstGeom>
          <a:noFill/>
          <a:ln/>
        </p:spPr>
        <p:txBody>
          <a:bodyPr wrap="square" lIns="0" tIns="0" rIns="0" bIns="0" rtlCol="0" anchor="t">
            <a:normAutofit/>
          </a:bodyPr>
          <a:lstStyle/>
          <a:p>
            <a:pPr marL="0" indent="0" algn="l">
              <a:lnSpc>
                <a:spcPts val="3070"/>
              </a:lnSpc>
              <a:buNone/>
            </a:pPr>
            <a:r>
              <a:rPr lang="en-US" sz="2791" b="1" dirty="0">
                <a:solidFill>
                  <a:srgbClr val="14213D"/>
                </a:solidFill>
                <a:latin typeface="IBM Plex Sans" pitchFamily="34" charset="0"/>
                <a:ea typeface="IBM Plex Sans" pitchFamily="34" charset="-122"/>
                <a:cs typeface="IBM Plex Sans" pitchFamily="34" charset="-120"/>
              </a:rPr>
              <a:t>Una colonna che c’è nei pesi ma non viene mai moltiplicata</a:t>
            </a:r>
            <a:endParaRPr lang="en-US" sz="2791" dirty="0"/>
          </a:p>
        </p:txBody>
      </p:sp>
      <p:sp>
        <p:nvSpPr>
          <p:cNvPr id="4" name="Shape 2"/>
          <p:cNvSpPr/>
          <p:nvPr/>
        </p:nvSpPr>
        <p:spPr>
          <a:xfrm>
            <a:off x="815975" y="1779786"/>
            <a:ext cx="5200650" cy="2745317"/>
          </a:xfrm>
          <a:prstGeom prst="roundRect">
            <a:avLst>
              <a:gd name="adj" fmla="val 3585"/>
            </a:avLst>
          </a:prstGeom>
          <a:solidFill>
            <a:srgbClr val="FFFFFF"/>
          </a:solidFill>
          <a:ln w="6350">
            <a:solidFill>
              <a:srgbClr val="D7DEE7"/>
            </a:solidFill>
            <a:prstDash val="solid"/>
          </a:ln>
        </p:spPr>
      </p:sp>
      <p:pic>
        <p:nvPicPr>
          <p:cNvPr id="5" name="Image 0" descr="Latenza in funzione delle moltiplicazioni davvero eseguite: i punti dei quattro esperimenti cadono su una retta per ciascuna versione"/>
          <p:cNvPicPr>
            <a:picLocks noChangeAspect="1"/>
          </p:cNvPicPr>
          <p:nvPr/>
        </p:nvPicPr>
        <p:blipFill>
          <a:blip r:embed="rId3"/>
          <a:srcRect l="-11562" r="-11562"/>
          <a:stretch/>
        </p:blipFill>
        <p:spPr>
          <a:xfrm>
            <a:off x="918633" y="1882446"/>
            <a:ext cx="5003800" cy="2540000"/>
          </a:xfrm>
          <a:prstGeom prst="rect">
            <a:avLst/>
          </a:prstGeom>
        </p:spPr>
      </p:pic>
      <p:sp>
        <p:nvSpPr>
          <p:cNvPr id="6" name="Shape 3"/>
          <p:cNvSpPr/>
          <p:nvPr/>
        </p:nvSpPr>
        <p:spPr>
          <a:xfrm>
            <a:off x="6197600" y="1582012"/>
            <a:ext cx="5181600" cy="998141"/>
          </a:xfrm>
          <a:prstGeom prst="roundRect">
            <a:avLst>
              <a:gd name="adj" fmla="val 10179"/>
            </a:avLst>
          </a:prstGeom>
          <a:solidFill>
            <a:srgbClr val="EEF1F5"/>
          </a:solidFill>
          <a:ln/>
        </p:spPr>
      </p:sp>
      <p:sp>
        <p:nvSpPr>
          <p:cNvPr id="7" name="Text 4"/>
          <p:cNvSpPr/>
          <p:nvPr/>
        </p:nvSpPr>
        <p:spPr>
          <a:xfrm>
            <a:off x="6375400" y="1734412"/>
            <a:ext cx="4970780" cy="718741"/>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568"/>
                </a:solidFill>
                <a:latin typeface="IBM Plex Sans" pitchFamily="34" charset="0"/>
                <a:ea typeface="IBM Plex Sans" pitchFamily="34" charset="-122"/>
                <a:cs typeface="IBM Plex Sans" pitchFamily="34" charset="-120"/>
              </a:rPr>
              <a:t>Una feature «una sola casella accesa» può occupare </a:t>
            </a:r>
            <a:r>
              <a:rPr lang="en-US" sz="1300" b="1" dirty="0">
                <a:solidFill>
                  <a:srgbClr val="4A5568"/>
                </a:solidFill>
                <a:latin typeface="IBM Plex Sans" pitchFamily="34" charset="0"/>
                <a:ea typeface="IBM Plex Sans" pitchFamily="34" charset="-122"/>
                <a:cs typeface="IBM Plex Sans" pitchFamily="34" charset="-120"/>
              </a:rPr>
              <a:t>60 colonne</a:t>
            </a:r>
            <a:r>
              <a:rPr lang="en-US" sz="1300" dirty="0">
                <a:solidFill>
                  <a:srgbClr val="4A5568"/>
                </a:solidFill>
                <a:latin typeface="IBM Plex Sans" pitchFamily="34" charset="0"/>
                <a:ea typeface="IBM Plex Sans" pitchFamily="34" charset="-122"/>
                <a:cs typeface="IBM Plex Sans" pitchFamily="34" charset="-120"/>
              </a:rPr>
              <a:t> nella matrice dei pesi. Ma per ogni pacchetto ne è attiva </a:t>
            </a:r>
            <a:r>
              <a:rPr lang="en-US" sz="1300" b="1" dirty="0">
                <a:solidFill>
                  <a:srgbClr val="4A5568"/>
                </a:solidFill>
                <a:latin typeface="IBM Plex Sans" pitchFamily="34" charset="0"/>
                <a:ea typeface="IBM Plex Sans" pitchFamily="34" charset="-122"/>
                <a:cs typeface="IBM Plex Sans" pitchFamily="34" charset="-120"/>
              </a:rPr>
              <a:t>una</a:t>
            </a:r>
            <a:r>
              <a:rPr lang="en-US" sz="1300" dirty="0">
                <a:solidFill>
                  <a:srgbClr val="4A5568"/>
                </a:solidFill>
                <a:latin typeface="IBM Plex Sans" pitchFamily="34" charset="0"/>
                <a:ea typeface="IBM Plex Sans" pitchFamily="34" charset="-122"/>
                <a:cs typeface="IBM Plex Sans" pitchFamily="34" charset="-120"/>
              </a:rPr>
              <a:t>: le altre 59 non vengono moltiplicate.</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197600" y="2694453"/>
          <a:ext cx="5181600" cy="1863330"/>
        </p:xfrm>
        <a:graphic>
          <a:graphicData uri="http://schemas.openxmlformats.org/drawingml/2006/table">
            <a:tbl>
              <a:tblPr/>
              <a:tblGrid>
                <a:gridCol w="2901696">
                  <a:extLst>
                    <a:ext uri="{9D8B030D-6E8A-4147-A177-3AD203B41FA5}">
                      <a16:colId xmlns:a16="http://schemas.microsoft.com/office/drawing/2014/main" val="20000"/>
                    </a:ext>
                  </a:extLst>
                </a:gridCol>
                <a:gridCol w="2279904">
                  <a:extLst>
                    <a:ext uri="{9D8B030D-6E8A-4147-A177-3AD203B41FA5}">
                      <a16:colId xmlns:a16="http://schemas.microsoft.com/office/drawing/2014/main" val="20001"/>
                    </a:ext>
                  </a:extLst>
                </a:gridCol>
              </a:tblGrid>
              <a:tr h="372666">
                <a:tc>
                  <a:txBody>
                    <a:bodyPr/>
                    <a:lstStyle/>
                    <a:p>
                      <a:pPr marL="0" indent="0">
                        <a:lnSpc>
                          <a:spcPts val="1890"/>
                        </a:lnSpc>
                        <a:buNone/>
                      </a:pPr>
                      <a:r>
                        <a:rPr lang="en-US" sz="1350" b="1" dirty="0">
                          <a:solidFill>
                            <a:srgbClr val="FBFBF8"/>
                          </a:solidFill>
                          <a:latin typeface="IBM Plex Sans" pitchFamily="34" charset="0"/>
                          <a:ea typeface="IBM Plex Sans" pitchFamily="34" charset="-122"/>
                          <a:cs typeface="IBM Plex Sans" pitchFamily="34" charset="-120"/>
                        </a:rPr>
                        <a:t>Versione</a:t>
                      </a:r>
                      <a:endParaRPr lang="en-US" sz="1350" dirty="0">
                        <a:latin typeface="IBM Plex Sans" charset="0"/>
                        <a:ea typeface="IBM Plex Sans" charset="0"/>
                        <a:cs typeface="IBM Plex Sans" charset="0"/>
                      </a:endParaRPr>
                    </a:p>
                  </a:txBody>
                  <a:tcPr marL="60007" marR="60007" marT="60007" marB="60007">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marL="0" indent="0" algn="r">
                        <a:lnSpc>
                          <a:spcPts val="1890"/>
                        </a:lnSpc>
                        <a:buNone/>
                      </a:pPr>
                      <a:r>
                        <a:rPr lang="en-US" sz="1350" b="1" dirty="0">
                          <a:solidFill>
                            <a:srgbClr val="FBFBF8"/>
                          </a:solidFill>
                          <a:latin typeface="IBM Plex Sans" pitchFamily="34" charset="0"/>
                          <a:ea typeface="IBM Plex Sans" pitchFamily="34" charset="-122"/>
                          <a:cs typeface="IBM Plex Sans" pitchFamily="34" charset="-120"/>
                        </a:rPr>
                        <a:t>ns per moltiplicazione</a:t>
                      </a:r>
                      <a:endParaRPr lang="en-US" sz="1350" dirty="0">
                        <a:latin typeface="IBM Plex Sans" charset="0"/>
                        <a:ea typeface="IBM Plex Sans" charset="0"/>
                        <a:cs typeface="IBM Plex Sans" charset="0"/>
                      </a:endParaRPr>
                    </a:p>
                  </a:txBody>
                  <a:tcPr marL="60007" marR="60007" marT="60007" marB="60007">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372666">
                <a:tc>
                  <a:txBody>
                    <a:bodyPr/>
                    <a:lstStyle/>
                    <a:p>
                      <a:pPr marL="0" indent="0">
                        <a:lnSpc>
                          <a:spcPts val="1890"/>
                        </a:lnSpc>
                        <a:buNone/>
                      </a:pPr>
                      <a:r>
                        <a:rPr lang="en-US" sz="1350" dirty="0">
                          <a:solidFill>
                            <a:srgbClr val="14213D"/>
                          </a:solidFill>
                          <a:latin typeface="IBM Plex Sans" pitchFamily="34" charset="0"/>
                          <a:ea typeface="IBM Plex Sans" pitchFamily="34" charset="-122"/>
                          <a:cs typeface="IBM Plex Sans" pitchFamily="34" charset="-120"/>
                        </a:rPr>
                        <a:t>P1 p1_static</a:t>
                      </a:r>
                      <a:endParaRPr lang="en-US" sz="1350" dirty="0">
                        <a:latin typeface="IBM Plex Sans" charset="0"/>
                        <a:ea typeface="IBM Plex Sans" charset="0"/>
                        <a:cs typeface="IBM Plex Sans" charset="0"/>
                      </a:endParaRPr>
                    </a:p>
                  </a:txBody>
                  <a:tcPr marL="60007" marR="60007" marT="60007" marB="60007">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marL="0" indent="0" algn="r">
                        <a:lnSpc>
                          <a:spcPts val="1890"/>
                        </a:lnSpc>
                        <a:buNone/>
                      </a:pPr>
                      <a:r>
                        <a:rPr lang="en-US" sz="1350" dirty="0">
                          <a:solidFill>
                            <a:srgbClr val="14213D"/>
                          </a:solidFill>
                          <a:latin typeface="IBM Plex Sans" pitchFamily="34" charset="0"/>
                          <a:ea typeface="IBM Plex Sans" pitchFamily="34" charset="-122"/>
                          <a:cs typeface="IBM Plex Sans" pitchFamily="34" charset="-120"/>
                        </a:rPr>
                        <a:t>0,32</a:t>
                      </a:r>
                      <a:endParaRPr lang="en-US" sz="1350" dirty="0">
                        <a:latin typeface="IBM Plex Sans" charset="0"/>
                        <a:ea typeface="IBM Plex Sans" charset="0"/>
                        <a:cs typeface="IBM Plex Sans" charset="0"/>
                      </a:endParaRPr>
                    </a:p>
                  </a:txBody>
                  <a:tcPr marL="60007" marR="60007" marT="60007" marB="60007">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extLst>
                  <a:ext uri="{0D108BD9-81ED-4DB2-BD59-A6C34878D82A}">
                    <a16:rowId xmlns:a16="http://schemas.microsoft.com/office/drawing/2014/main" val="10001"/>
                  </a:ext>
                </a:extLst>
              </a:tr>
              <a:tr h="372666">
                <a:tc>
                  <a:txBody>
                    <a:bodyPr/>
                    <a:lstStyle/>
                    <a:p>
                      <a:pPr marL="0" indent="0">
                        <a:lnSpc>
                          <a:spcPts val="1890"/>
                        </a:lnSpc>
                        <a:buNone/>
                      </a:pPr>
                      <a:r>
                        <a:rPr lang="en-US" sz="1350" dirty="0">
                          <a:solidFill>
                            <a:srgbClr val="14213D"/>
                          </a:solidFill>
                          <a:latin typeface="IBM Plex Sans" pitchFamily="34" charset="0"/>
                          <a:ea typeface="IBM Plex Sans" pitchFamily="34" charset="-122"/>
                          <a:cs typeface="IBM Plex Sans" pitchFamily="34" charset="-120"/>
                        </a:rPr>
                        <a:t>P1.5 hardcoded</a:t>
                      </a:r>
                      <a:endParaRPr lang="en-US" sz="1350" dirty="0">
                        <a:latin typeface="IBM Plex Sans" charset="0"/>
                        <a:ea typeface="IBM Plex Sans" charset="0"/>
                        <a:cs typeface="IBM Plex Sans" charset="0"/>
                      </a:endParaRPr>
                    </a:p>
                  </a:txBody>
                  <a:tcPr marL="60007" marR="60007" marT="60007" marB="60007">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1890"/>
                        </a:lnSpc>
                        <a:buNone/>
                      </a:pPr>
                      <a:r>
                        <a:rPr lang="en-US" sz="1350" dirty="0">
                          <a:solidFill>
                            <a:srgbClr val="14213D"/>
                          </a:solidFill>
                          <a:latin typeface="IBM Plex Sans" pitchFamily="34" charset="0"/>
                          <a:ea typeface="IBM Plex Sans" pitchFamily="34" charset="-122"/>
                          <a:cs typeface="IBM Plex Sans" pitchFamily="34" charset="-120"/>
                        </a:rPr>
                        <a:t>0,35</a:t>
                      </a:r>
                      <a:endParaRPr lang="en-US" sz="1350" dirty="0">
                        <a:latin typeface="IBM Plex Sans" charset="0"/>
                        <a:ea typeface="IBM Plex Sans" charset="0"/>
                        <a:cs typeface="IBM Plex Sans" charset="0"/>
                      </a:endParaRPr>
                    </a:p>
                  </a:txBody>
                  <a:tcPr marL="60007" marR="60007" marT="60007" marB="60007">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extLst>
                  <a:ext uri="{0D108BD9-81ED-4DB2-BD59-A6C34878D82A}">
                    <a16:rowId xmlns:a16="http://schemas.microsoft.com/office/drawing/2014/main" val="10002"/>
                  </a:ext>
                </a:extLst>
              </a:tr>
              <a:tr h="372666">
                <a:tc>
                  <a:txBody>
                    <a:bodyPr/>
                    <a:lstStyle/>
                    <a:p>
                      <a:pPr marL="0" indent="0">
                        <a:lnSpc>
                          <a:spcPts val="1890"/>
                        </a:lnSpc>
                        <a:buNone/>
                      </a:pPr>
                      <a:r>
                        <a:rPr lang="en-US" sz="1350" dirty="0">
                          <a:solidFill>
                            <a:srgbClr val="14213D"/>
                          </a:solidFill>
                          <a:latin typeface="IBM Plex Sans" pitchFamily="34" charset="0"/>
                          <a:ea typeface="IBM Plex Sans" pitchFamily="34" charset="-122"/>
                          <a:cs typeface="IBM Plex Sans" pitchFamily="34" charset="-120"/>
                        </a:rPr>
                        <a:t>P2 template</a:t>
                      </a:r>
                      <a:endParaRPr lang="en-US" sz="1350" dirty="0">
                        <a:latin typeface="IBM Plex Sans" charset="0"/>
                        <a:ea typeface="IBM Plex Sans" charset="0"/>
                        <a:cs typeface="IBM Plex Sans" charset="0"/>
                      </a:endParaRPr>
                    </a:p>
                  </a:txBody>
                  <a:tcPr marL="60007" marR="60007" marT="60007" marB="60007">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marL="0" indent="0" algn="r">
                        <a:lnSpc>
                          <a:spcPts val="1890"/>
                        </a:lnSpc>
                        <a:buNone/>
                      </a:pPr>
                      <a:r>
                        <a:rPr lang="en-US" sz="1350" dirty="0">
                          <a:solidFill>
                            <a:srgbClr val="14213D"/>
                          </a:solidFill>
                          <a:latin typeface="IBM Plex Sans" pitchFamily="34" charset="0"/>
                          <a:ea typeface="IBM Plex Sans" pitchFamily="34" charset="-122"/>
                          <a:cs typeface="IBM Plex Sans" pitchFamily="34" charset="-120"/>
                        </a:rPr>
                        <a:t>0,81</a:t>
                      </a:r>
                      <a:endParaRPr lang="en-US" sz="1350" dirty="0">
                        <a:latin typeface="IBM Plex Sans" charset="0"/>
                        <a:ea typeface="IBM Plex Sans" charset="0"/>
                        <a:cs typeface="IBM Plex Sans" charset="0"/>
                      </a:endParaRPr>
                    </a:p>
                  </a:txBody>
                  <a:tcPr marL="60007" marR="60007" marT="60007" marB="60007">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extLst>
                  <a:ext uri="{0D108BD9-81ED-4DB2-BD59-A6C34878D82A}">
                    <a16:rowId xmlns:a16="http://schemas.microsoft.com/office/drawing/2014/main" val="10003"/>
                  </a:ext>
                </a:extLst>
              </a:tr>
              <a:tr h="372666">
                <a:tc>
                  <a:txBody>
                    <a:bodyPr/>
                    <a:lstStyle/>
                    <a:p>
                      <a:pPr marL="0" indent="0">
                        <a:lnSpc>
                          <a:spcPts val="1890"/>
                        </a:lnSpc>
                        <a:buNone/>
                      </a:pPr>
                      <a:r>
                        <a:rPr lang="en-US" sz="1350" dirty="0">
                          <a:solidFill>
                            <a:srgbClr val="14213D"/>
                          </a:solidFill>
                          <a:latin typeface="IBM Plex Sans" pitchFamily="34" charset="0"/>
                          <a:ea typeface="IBM Plex Sans" pitchFamily="34" charset="-122"/>
                          <a:cs typeface="IBM Plex Sans" pitchFamily="34" charset="-120"/>
                        </a:rPr>
                        <a:t>P3 modular</a:t>
                      </a:r>
                      <a:endParaRPr lang="en-US" sz="1350" dirty="0">
                        <a:latin typeface="IBM Plex Sans" charset="0"/>
                        <a:ea typeface="IBM Plex Sans" charset="0"/>
                        <a:cs typeface="IBM Plex Sans" charset="0"/>
                      </a:endParaRPr>
                    </a:p>
                  </a:txBody>
                  <a:tcPr marL="60007" marR="60007" marT="60007" marB="60007">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1890"/>
                        </a:lnSpc>
                        <a:buNone/>
                      </a:pPr>
                      <a:r>
                        <a:rPr lang="en-US" sz="1350" dirty="0">
                          <a:solidFill>
                            <a:srgbClr val="14213D"/>
                          </a:solidFill>
                          <a:latin typeface="IBM Plex Sans" pitchFamily="34" charset="0"/>
                          <a:ea typeface="IBM Plex Sans" pitchFamily="34" charset="-122"/>
                          <a:cs typeface="IBM Plex Sans" pitchFamily="34" charset="-120"/>
                        </a:rPr>
                        <a:t>1,46</a:t>
                      </a:r>
                      <a:endParaRPr lang="en-US" sz="1350" dirty="0">
                        <a:latin typeface="IBM Plex Sans" charset="0"/>
                        <a:ea typeface="IBM Plex Sans" charset="0"/>
                        <a:cs typeface="IBM Plex Sans" charset="0"/>
                      </a:endParaRPr>
                    </a:p>
                  </a:txBody>
                  <a:tcPr marL="60007" marR="60007" marT="60007" marB="60007">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9" name="Shape 5"/>
          <p:cNvSpPr/>
          <p:nvPr/>
        </p:nvSpPr>
        <p:spPr>
          <a:xfrm>
            <a:off x="812800" y="4821901"/>
            <a:ext cx="10566400" cy="1020101"/>
          </a:xfrm>
          <a:prstGeom prst="roundRect">
            <a:avLst>
              <a:gd name="adj" fmla="val 7470"/>
            </a:avLst>
          </a:prstGeom>
          <a:solidFill>
            <a:srgbClr val="EEF1F5"/>
          </a:solidFill>
          <a:ln/>
        </p:spPr>
      </p:sp>
      <p:sp>
        <p:nvSpPr>
          <p:cNvPr id="10" name="Shape 6"/>
          <p:cNvSpPr/>
          <p:nvPr/>
        </p:nvSpPr>
        <p:spPr>
          <a:xfrm>
            <a:off x="831850" y="4821901"/>
            <a:ext cx="0" cy="1020101"/>
          </a:xfrm>
          <a:prstGeom prst="line">
            <a:avLst/>
          </a:prstGeom>
          <a:noFill/>
          <a:ln w="38100">
            <a:solidFill>
              <a:srgbClr val="2E7D52"/>
            </a:solidFill>
            <a:prstDash val="solid"/>
          </a:ln>
        </p:spPr>
      </p:sp>
      <p:sp>
        <p:nvSpPr>
          <p:cNvPr id="11" name="Text 7"/>
          <p:cNvSpPr/>
          <p:nvPr/>
        </p:nvSpPr>
        <p:spPr>
          <a:xfrm>
            <a:off x="1041400" y="4974301"/>
            <a:ext cx="10451719" cy="740701"/>
          </a:xfrm>
          <a:prstGeom prst="rect">
            <a:avLst/>
          </a:prstGeom>
          <a:noFill/>
          <a:ln/>
        </p:spPr>
        <p:txBody>
          <a:bodyPr wrap="square" lIns="0" tIns="0" rIns="0" bIns="0" rtlCol="0" anchor="t">
            <a:normAutofit/>
          </a:bodyPr>
          <a:lstStyle/>
          <a:p>
            <a:pPr marL="0" indent="0" algn="l">
              <a:lnSpc>
                <a:spcPts val="1929"/>
              </a:lnSpc>
              <a:buNone/>
            </a:pPr>
            <a:r>
              <a:rPr lang="en-US" sz="1378" dirty="0">
                <a:solidFill>
                  <a:srgbClr val="14213D"/>
                </a:solidFill>
                <a:latin typeface="IBM Plex Sans" pitchFamily="34" charset="0"/>
                <a:ea typeface="IBM Plex Sans" pitchFamily="34" charset="-122"/>
                <a:cs typeface="IBM Plex Sans" pitchFamily="34" charset="-120"/>
              </a:rPr>
              <a:t>Contando le moltiplicazioni </a:t>
            </a:r>
            <a:r>
              <a:rPr lang="en-US" sz="1378" b="1" dirty="0">
                <a:solidFill>
                  <a:srgbClr val="14213D"/>
                </a:solidFill>
                <a:latin typeface="IBM Plex Sans" pitchFamily="34" charset="0"/>
                <a:ea typeface="IBM Plex Sans" pitchFamily="34" charset="-122"/>
                <a:cs typeface="IBM Plex Sans" pitchFamily="34" charset="-120"/>
              </a:rPr>
              <a:t>davvero eseguite</a:t>
            </a:r>
            <a:r>
              <a:rPr lang="en-US" sz="1378" dirty="0">
                <a:solidFill>
                  <a:srgbClr val="14213D"/>
                </a:solidFill>
                <a:latin typeface="IBM Plex Sans" pitchFamily="34" charset="0"/>
                <a:ea typeface="IBM Plex Sans" pitchFamily="34" charset="-122"/>
                <a:cs typeface="IBM Plex Sans" pitchFamily="34" charset="-120"/>
              </a:rPr>
              <a:t>, quattro esperimenti costruiti in modi diversi cadono sulla </a:t>
            </a:r>
            <a:r>
              <a:rPr lang="en-US" sz="1378" b="1" dirty="0">
                <a:solidFill>
                  <a:srgbClr val="14213D"/>
                </a:solidFill>
                <a:latin typeface="IBM Plex Sans" pitchFamily="34" charset="0"/>
                <a:ea typeface="IBM Plex Sans" pitchFamily="34" charset="-122"/>
                <a:cs typeface="IBM Plex Sans" pitchFamily="34" charset="-120"/>
              </a:rPr>
              <a:t>stessa retta</a:t>
            </a:r>
            <a:r>
              <a:rPr lang="en-US" sz="1378" dirty="0">
                <a:solidFill>
                  <a:srgbClr val="14213D"/>
                </a:solidFill>
                <a:latin typeface="IBM Plex Sans" pitchFamily="34" charset="0"/>
                <a:ea typeface="IBM Plex Sans" pitchFamily="34" charset="-122"/>
                <a:cs typeface="IBM Plex Sans" pitchFamily="34" charset="-120"/>
              </a:rPr>
              <a:t> per ciascuna versione. Il costo per moltiplicazione diventa una </a:t>
            </a:r>
            <a:r>
              <a:rPr lang="en-US" sz="1378" b="1" dirty="0">
                <a:solidFill>
                  <a:srgbClr val="14213D"/>
                </a:solidFill>
                <a:latin typeface="IBM Plex Sans" pitchFamily="34" charset="0"/>
                <a:ea typeface="IBM Plex Sans" pitchFamily="34" charset="-122"/>
                <a:cs typeface="IBM Plex Sans" pitchFamily="34" charset="-120"/>
              </a:rPr>
              <a:t>costante misurabile</a:t>
            </a:r>
            <a:r>
              <a:rPr lang="en-US" sz="1378" dirty="0">
                <a:solidFill>
                  <a:srgbClr val="14213D"/>
                </a:solidFill>
                <a:latin typeface="IBM Plex Sans" pitchFamily="34" charset="0"/>
                <a:ea typeface="IBM Plex Sans" pitchFamily="34" charset="-122"/>
                <a:cs typeface="IBM Plex Sans" pitchFamily="34" charset="-120"/>
              </a:rPr>
              <a:t>: </a:t>
            </a:r>
            <a:r>
              <a:rPr lang="en-US" sz="1378" b="1" dirty="0">
                <a:solidFill>
                  <a:srgbClr val="14213D"/>
                </a:solidFill>
                <a:latin typeface="IBM Plex Sans" pitchFamily="34" charset="0"/>
                <a:ea typeface="IBM Plex Sans" pitchFamily="34" charset="-122"/>
                <a:cs typeface="IBM Plex Sans" pitchFamily="34" charset="-120"/>
              </a:rPr>
              <a:t>0,32 ns</a:t>
            </a:r>
            <a:r>
              <a:rPr lang="en-US" sz="1378" dirty="0">
                <a:solidFill>
                  <a:srgbClr val="14213D"/>
                </a:solidFill>
                <a:latin typeface="IBM Plex Sans" pitchFamily="34" charset="0"/>
                <a:ea typeface="IBM Plex Sans" pitchFamily="34" charset="-122"/>
                <a:cs typeface="IBM Plex Sans" pitchFamily="34" charset="-120"/>
              </a:rPr>
              <a:t> con i pesi compilati, </a:t>
            </a:r>
            <a:r>
              <a:rPr lang="en-US" sz="1378" b="1" dirty="0">
                <a:solidFill>
                  <a:srgbClr val="14213D"/>
                </a:solidFill>
                <a:latin typeface="IBM Plex Sans" pitchFamily="34" charset="0"/>
                <a:ea typeface="IBM Plex Sans" pitchFamily="34" charset="-122"/>
                <a:cs typeface="IBM Plex Sans" pitchFamily="34" charset="-120"/>
              </a:rPr>
              <a:t>1,46 ns</a:t>
            </a:r>
            <a:r>
              <a:rPr lang="en-US" sz="1378" dirty="0">
                <a:solidFill>
                  <a:srgbClr val="14213D"/>
                </a:solidFill>
                <a:latin typeface="IBM Plex Sans" pitchFamily="34" charset="0"/>
                <a:ea typeface="IBM Plex Sans" pitchFamily="34" charset="-122"/>
                <a:cs typeface="IBM Plex Sans" pitchFamily="34" charset="-120"/>
              </a:rPr>
              <a:t> con i pesi da tabella.</a:t>
            </a:r>
            <a:endParaRPr lang="en-US" sz="1378" dirty="0"/>
          </a:p>
        </p:txBody>
      </p:sp>
      <p:sp>
        <p:nvSpPr>
          <p:cNvPr id="12" name="Text 8"/>
          <p:cNvSpPr/>
          <p:nvPr/>
        </p:nvSpPr>
        <p:spPr>
          <a:xfrm>
            <a:off x="812800" y="6238280"/>
            <a:ext cx="808378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IBM Plex Sans" pitchFamily="34" charset="0"/>
                <a:ea typeface="IBM Plex Sans" pitchFamily="34" charset="-122"/>
                <a:cs typeface="IBM Plex Sans" pitchFamily="34" charset="-120"/>
              </a:rPr>
              <a:t>Contandole invece dalla forma del modello, per P3 la retta spiega il 9 % dei punti; contando quelle eseguite, il 91 %</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EF1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45269"/>
          </a:xfrm>
          <a:prstGeom prst="rect">
            <a:avLst/>
          </a:prstGeom>
          <a:noFill/>
          <a:ln/>
        </p:spPr>
        <p:txBody>
          <a:bodyPr wrap="square" lIns="0" tIns="0" rIns="0" bIns="0" rtlCol="0" anchor="t">
            <a:normAutofit/>
          </a:bodyPr>
          <a:lstStyle/>
          <a:p>
            <a:pPr marL="0" indent="0" algn="l">
              <a:lnSpc>
                <a:spcPts val="1774"/>
              </a:lnSpc>
              <a:buNone/>
            </a:pPr>
            <a:r>
              <a:rPr lang="en-US" sz="1268" kern="0" spc="100" dirty="0">
                <a:solidFill>
                  <a:srgbClr val="C2410C"/>
                </a:solidFill>
                <a:latin typeface="JetBrains Mono" pitchFamily="34" charset="0"/>
                <a:ea typeface="JetBrains Mono" pitchFamily="34" charset="-122"/>
                <a:cs typeface="JetBrains Mono" pitchFamily="34" charset="-120"/>
              </a:rPr>
              <a:t>QUANDO LA SPECIALIZZAZIONE PAGA DAVVERO</a:t>
            </a:r>
            <a:endParaRPr lang="en-US" sz="1268" dirty="0"/>
          </a:p>
        </p:txBody>
      </p:sp>
      <p:sp>
        <p:nvSpPr>
          <p:cNvPr id="3" name="Text 1"/>
          <p:cNvSpPr/>
          <p:nvPr/>
        </p:nvSpPr>
        <p:spPr>
          <a:xfrm>
            <a:off x="812800" y="1096169"/>
            <a:ext cx="10883392" cy="796330"/>
          </a:xfrm>
          <a:prstGeom prst="rect">
            <a:avLst/>
          </a:prstGeom>
          <a:noFill/>
          <a:ln/>
        </p:spPr>
        <p:txBody>
          <a:bodyPr wrap="square" lIns="0" tIns="0" rIns="0" bIns="0" rtlCol="0" anchor="t">
            <a:normAutofit/>
          </a:bodyPr>
          <a:lstStyle/>
          <a:p>
            <a:pPr marL="0" indent="0" algn="l">
              <a:lnSpc>
                <a:spcPts val="3031"/>
              </a:lnSpc>
              <a:buNone/>
            </a:pPr>
            <a:r>
              <a:rPr lang="en-US" sz="2755" b="1" dirty="0">
                <a:solidFill>
                  <a:srgbClr val="14213D"/>
                </a:solidFill>
                <a:latin typeface="IBM Plex Sans" pitchFamily="34" charset="0"/>
                <a:ea typeface="IBM Plex Sans" pitchFamily="34" charset="-122"/>
                <a:cs typeface="IBM Plex Sans" pitchFamily="34" charset="-120"/>
              </a:rPr>
              <a:t>Pesi a zero: una versione dimagrisce, le altre non se ne accorgono</a:t>
            </a:r>
            <a:endParaRPr lang="en-US" sz="2755" dirty="0"/>
          </a:p>
        </p:txBody>
      </p:sp>
      <p:sp>
        <p:nvSpPr>
          <p:cNvPr id="4" name="Shape 2"/>
          <p:cNvSpPr/>
          <p:nvPr/>
        </p:nvSpPr>
        <p:spPr>
          <a:xfrm>
            <a:off x="815975" y="1981864"/>
            <a:ext cx="5581650" cy="2897717"/>
          </a:xfrm>
          <a:prstGeom prst="roundRect">
            <a:avLst>
              <a:gd name="adj" fmla="val 3397"/>
            </a:avLst>
          </a:prstGeom>
          <a:solidFill>
            <a:srgbClr val="FFFFFF"/>
          </a:solidFill>
          <a:ln w="6350">
            <a:solidFill>
              <a:srgbClr val="D7DEE7"/>
            </a:solidFill>
            <a:prstDash val="solid"/>
          </a:ln>
        </p:spPr>
      </p:sp>
      <p:pic>
        <p:nvPicPr>
          <p:cNvPr id="5" name="Image 0" descr="Istruzioni del programma, scala logaritmica, al crescere della frazione di pesi uguali a zero: le curve specializzate scendono, le generiche restano piatte"/>
          <p:cNvPicPr>
            <a:picLocks noChangeAspect="1"/>
          </p:cNvPicPr>
          <p:nvPr/>
        </p:nvPicPr>
        <p:blipFill>
          <a:blip r:embed="rId3"/>
          <a:srcRect l="-14592" r="-14592"/>
          <a:stretch/>
        </p:blipFill>
        <p:spPr>
          <a:xfrm>
            <a:off x="931333" y="2097224"/>
            <a:ext cx="5359400" cy="2667000"/>
          </a:xfrm>
          <a:prstGeom prst="rect">
            <a:avLst/>
          </a:prstGeom>
        </p:spPr>
      </p:pic>
      <p:sp>
        <p:nvSpPr>
          <p:cNvPr id="6" name="Shape 3"/>
          <p:cNvSpPr/>
          <p:nvPr/>
        </p:nvSpPr>
        <p:spPr>
          <a:xfrm>
            <a:off x="6578600" y="2405329"/>
            <a:ext cx="4800600" cy="1081881"/>
          </a:xfrm>
          <a:prstGeom prst="roundRect">
            <a:avLst>
              <a:gd name="adj" fmla="val 9391"/>
            </a:avLst>
          </a:prstGeom>
          <a:solidFill>
            <a:srgbClr val="FBFBF8"/>
          </a:solidFill>
          <a:ln/>
        </p:spPr>
      </p:sp>
      <p:sp>
        <p:nvSpPr>
          <p:cNvPr id="7" name="Text 4"/>
          <p:cNvSpPr/>
          <p:nvPr/>
        </p:nvSpPr>
        <p:spPr>
          <a:xfrm>
            <a:off x="6769100" y="2570429"/>
            <a:ext cx="4552188" cy="246327"/>
          </a:xfrm>
          <a:prstGeom prst="rect">
            <a:avLst/>
          </a:prstGeom>
          <a:noFill/>
          <a:ln/>
        </p:spPr>
        <p:txBody>
          <a:bodyPr wrap="square" lIns="0" tIns="0" rIns="0" bIns="0" rtlCol="0" anchor="t">
            <a:normAutofit/>
          </a:bodyPr>
          <a:lstStyle/>
          <a:p>
            <a:pPr marL="0" indent="0" algn="l">
              <a:lnSpc>
                <a:spcPts val="1740"/>
              </a:lnSpc>
              <a:buNone/>
            </a:pPr>
            <a:r>
              <a:rPr lang="en-US" sz="1450" b="1" dirty="0">
                <a:solidFill>
                  <a:srgbClr val="2E7D52"/>
                </a:solidFill>
                <a:latin typeface="IBM Plex Sans" pitchFamily="34" charset="0"/>
                <a:ea typeface="IBM Plex Sans" pitchFamily="34" charset="-122"/>
                <a:cs typeface="IBM Plex Sans" pitchFamily="34" charset="-120"/>
              </a:rPr>
              <a:t>P1.5, da 0 a 90 % di zeri</a:t>
            </a:r>
            <a:endParaRPr lang="en-US" sz="1450" dirty="0"/>
          </a:p>
        </p:txBody>
      </p:sp>
      <p:sp>
        <p:nvSpPr>
          <p:cNvPr id="8" name="Text 5"/>
          <p:cNvSpPr/>
          <p:nvPr/>
        </p:nvSpPr>
        <p:spPr>
          <a:xfrm>
            <a:off x="6769100" y="2842158"/>
            <a:ext cx="4552188" cy="505354"/>
          </a:xfrm>
          <a:prstGeom prst="rect">
            <a:avLst/>
          </a:prstGeom>
          <a:noFill/>
          <a:ln/>
        </p:spPr>
        <p:txBody>
          <a:bodyPr wrap="square" lIns="0" tIns="0" rIns="0" bIns="0" rtlCol="0" anchor="t">
            <a:normAutofit/>
          </a:bodyPr>
          <a:lstStyle/>
          <a:p>
            <a:pPr marL="0" indent="0" algn="l">
              <a:lnSpc>
                <a:spcPts val="1890"/>
              </a:lnSpc>
              <a:buNone/>
            </a:pPr>
            <a:r>
              <a:rPr lang="en-US" sz="1350" dirty="0">
                <a:solidFill>
                  <a:srgbClr val="14213D"/>
                </a:solidFill>
                <a:latin typeface="IBM Plex Sans" pitchFamily="34" charset="0"/>
                <a:ea typeface="IBM Plex Sans" pitchFamily="34" charset="-122"/>
                <a:cs typeface="IBM Plex Sans" pitchFamily="34" charset="-120"/>
              </a:rPr>
              <a:t>1 071 → </a:t>
            </a:r>
            <a:r>
              <a:rPr lang="en-US" sz="1350" b="1" dirty="0">
                <a:solidFill>
                  <a:srgbClr val="14213D"/>
                </a:solidFill>
                <a:latin typeface="IBM Plex Sans" pitchFamily="34" charset="0"/>
                <a:ea typeface="IBM Plex Sans" pitchFamily="34" charset="-122"/>
                <a:cs typeface="IBM Plex Sans" pitchFamily="34" charset="-120"/>
              </a:rPr>
              <a:t>224 istruzioni</a:t>
            </a:r>
            <a:endParaRPr lang="en-US" sz="1350" dirty="0"/>
          </a:p>
          <a:p>
            <a:pPr marL="0" indent="0" algn="l">
              <a:lnSpc>
                <a:spcPts val="1890"/>
              </a:lnSpc>
              <a:buNone/>
            </a:pPr>
            <a:r>
              <a:rPr lang="en-US" sz="1350" dirty="0">
                <a:solidFill>
                  <a:srgbClr val="14213D"/>
                </a:solidFill>
                <a:latin typeface="IBM Plex Sans" pitchFamily="34" charset="0"/>
                <a:ea typeface="IBM Plex Sans" pitchFamily="34" charset="-122"/>
                <a:cs typeface="IBM Plex Sans" pitchFamily="34" charset="-120"/>
              </a:rPr>
              <a:t>68 → </a:t>
            </a:r>
            <a:r>
              <a:rPr lang="en-US" sz="1350" b="1" dirty="0">
                <a:solidFill>
                  <a:srgbClr val="14213D"/>
                </a:solidFill>
                <a:latin typeface="IBM Plex Sans" pitchFamily="34" charset="0"/>
                <a:ea typeface="IBM Plex Sans" pitchFamily="34" charset="-122"/>
                <a:cs typeface="IBM Plex Sans" pitchFamily="34" charset="-120"/>
              </a:rPr>
              <a:t>40 ns</a:t>
            </a:r>
            <a:endParaRPr lang="en-US" sz="1350" dirty="0"/>
          </a:p>
        </p:txBody>
      </p:sp>
      <p:sp>
        <p:nvSpPr>
          <p:cNvPr id="9" name="Shape 6"/>
          <p:cNvSpPr/>
          <p:nvPr/>
        </p:nvSpPr>
        <p:spPr>
          <a:xfrm>
            <a:off x="6578600" y="3614210"/>
            <a:ext cx="4800600" cy="841904"/>
          </a:xfrm>
          <a:prstGeom prst="roundRect">
            <a:avLst>
              <a:gd name="adj" fmla="val 12068"/>
            </a:avLst>
          </a:prstGeom>
          <a:solidFill>
            <a:srgbClr val="FBFBF8"/>
          </a:solidFill>
          <a:ln/>
        </p:spPr>
      </p:sp>
      <p:sp>
        <p:nvSpPr>
          <p:cNvPr id="10" name="Text 7"/>
          <p:cNvSpPr/>
          <p:nvPr/>
        </p:nvSpPr>
        <p:spPr>
          <a:xfrm>
            <a:off x="6769100" y="3779310"/>
            <a:ext cx="4552188" cy="246327"/>
          </a:xfrm>
          <a:prstGeom prst="rect">
            <a:avLst/>
          </a:prstGeom>
          <a:noFill/>
          <a:ln/>
        </p:spPr>
        <p:txBody>
          <a:bodyPr wrap="square" lIns="0" tIns="0" rIns="0" bIns="0" rtlCol="0" anchor="t">
            <a:normAutofit/>
          </a:bodyPr>
          <a:lstStyle/>
          <a:p>
            <a:pPr marL="0" indent="0" algn="l">
              <a:lnSpc>
                <a:spcPts val="1740"/>
              </a:lnSpc>
              <a:buNone/>
            </a:pPr>
            <a:r>
              <a:rPr lang="en-US" sz="1450" b="1" dirty="0">
                <a:solidFill>
                  <a:srgbClr val="C2410C"/>
                </a:solidFill>
                <a:latin typeface="IBM Plex Sans" pitchFamily="34" charset="0"/>
                <a:ea typeface="IBM Plex Sans" pitchFamily="34" charset="-122"/>
                <a:cs typeface="IBM Plex Sans" pitchFamily="34" charset="-120"/>
              </a:rPr>
              <a:t>P2 e P3, stessi punti</a:t>
            </a:r>
            <a:endParaRPr lang="en-US" sz="1450" dirty="0"/>
          </a:p>
        </p:txBody>
      </p:sp>
      <p:sp>
        <p:nvSpPr>
          <p:cNvPr id="11" name="Text 8"/>
          <p:cNvSpPr/>
          <p:nvPr/>
        </p:nvSpPr>
        <p:spPr>
          <a:xfrm>
            <a:off x="6769100" y="4051040"/>
            <a:ext cx="4552188" cy="265377"/>
          </a:xfrm>
          <a:prstGeom prst="rect">
            <a:avLst/>
          </a:prstGeom>
          <a:noFill/>
          <a:ln/>
        </p:spPr>
        <p:txBody>
          <a:bodyPr wrap="square" lIns="0" tIns="0" rIns="0" bIns="0" rtlCol="0" anchor="t">
            <a:normAutofit/>
          </a:bodyPr>
          <a:lstStyle/>
          <a:p>
            <a:pPr marL="0" indent="0" algn="l">
              <a:lnSpc>
                <a:spcPts val="1890"/>
              </a:lnSpc>
              <a:buNone/>
            </a:pPr>
            <a:r>
              <a:rPr lang="en-US" sz="1350" dirty="0">
                <a:solidFill>
                  <a:srgbClr val="14213D"/>
                </a:solidFill>
                <a:latin typeface="IBM Plex Sans" pitchFamily="34" charset="0"/>
                <a:ea typeface="IBM Plex Sans" pitchFamily="34" charset="-122"/>
                <a:cs typeface="IBM Plex Sans" pitchFamily="34" charset="-120"/>
              </a:rPr>
              <a:t>dimensione e latenza </a:t>
            </a:r>
            <a:r>
              <a:rPr lang="en-US" sz="1350" b="1" dirty="0">
                <a:solidFill>
                  <a:srgbClr val="14213D"/>
                </a:solidFill>
                <a:latin typeface="IBM Plex Sans" pitchFamily="34" charset="0"/>
                <a:ea typeface="IBM Plex Sans" pitchFamily="34" charset="-122"/>
                <a:cs typeface="IBM Plex Sans" pitchFamily="34" charset="-120"/>
              </a:rPr>
              <a:t>invariate</a:t>
            </a:r>
            <a:endParaRPr lang="en-US" sz="1350" dirty="0"/>
          </a:p>
        </p:txBody>
      </p:sp>
      <p:sp>
        <p:nvSpPr>
          <p:cNvPr id="12" name="Shape 9"/>
          <p:cNvSpPr/>
          <p:nvPr/>
        </p:nvSpPr>
        <p:spPr>
          <a:xfrm>
            <a:off x="812800" y="4994343"/>
            <a:ext cx="10566400" cy="847659"/>
          </a:xfrm>
          <a:prstGeom prst="roundRect">
            <a:avLst>
              <a:gd name="adj" fmla="val 11986"/>
            </a:avLst>
          </a:prstGeom>
          <a:solidFill>
            <a:srgbClr val="14213D"/>
          </a:solidFill>
          <a:ln/>
        </p:spPr>
      </p:sp>
      <p:sp>
        <p:nvSpPr>
          <p:cNvPr id="13" name="Text 10"/>
          <p:cNvSpPr/>
          <p:nvPr/>
        </p:nvSpPr>
        <p:spPr>
          <a:xfrm>
            <a:off x="889762" y="5172143"/>
            <a:ext cx="10412476" cy="517459"/>
          </a:xfrm>
          <a:prstGeom prst="rect">
            <a:avLst/>
          </a:prstGeom>
          <a:noFill/>
          <a:ln/>
        </p:spPr>
        <p:txBody>
          <a:bodyPr wrap="square" lIns="0" tIns="0" rIns="0" bIns="0" rtlCol="0" anchor="t">
            <a:normAutofit/>
          </a:bodyPr>
          <a:lstStyle/>
          <a:p>
            <a:pPr marL="0" indent="0" algn="ctr">
              <a:lnSpc>
                <a:spcPts val="1935"/>
              </a:lnSpc>
              <a:buNone/>
            </a:pPr>
            <a:r>
              <a:rPr lang="en-US" sz="1382" dirty="0">
                <a:solidFill>
                  <a:srgbClr val="FBFBF8"/>
                </a:solidFill>
                <a:latin typeface="IBM Plex Sans" pitchFamily="34" charset="0"/>
                <a:ea typeface="IBM Plex Sans" pitchFamily="34" charset="-122"/>
                <a:cs typeface="IBM Plex Sans" pitchFamily="34" charset="-120"/>
              </a:rPr>
              <a:t>Se il peso è </a:t>
            </a:r>
            <a:r>
              <a:rPr lang="en-US" sz="1382" b="1" dirty="0">
                <a:solidFill>
                  <a:srgbClr val="FBFBF8"/>
                </a:solidFill>
                <a:latin typeface="IBM Plex Sans" pitchFamily="34" charset="0"/>
                <a:ea typeface="IBM Plex Sans" pitchFamily="34" charset="-122"/>
                <a:cs typeface="IBM Plex Sans" pitchFamily="34" charset="-120"/>
              </a:rPr>
              <a:t>scritto nel programma</a:t>
            </a:r>
            <a:r>
              <a:rPr lang="en-US" sz="1382" dirty="0">
                <a:solidFill>
                  <a:srgbClr val="FBFBF8"/>
                </a:solidFill>
                <a:latin typeface="IBM Plex Sans" pitchFamily="34" charset="0"/>
                <a:ea typeface="IBM Plex Sans" pitchFamily="34" charset="-122"/>
                <a:cs typeface="IBM Plex Sans" pitchFamily="34" charset="-120"/>
              </a:rPr>
              <a:t>, il compilatore vede che vale zero e cancella la moltiplicazione.</a:t>
            </a:r>
            <a:endParaRPr lang="en-US" sz="1382" dirty="0"/>
          </a:p>
          <a:p>
            <a:pPr marL="0" indent="0" algn="ctr">
              <a:lnSpc>
                <a:spcPts val="1935"/>
              </a:lnSpc>
              <a:buNone/>
            </a:pPr>
            <a:r>
              <a:rPr lang="en-US" sz="1382" dirty="0">
                <a:solidFill>
                  <a:srgbClr val="FBFBF8"/>
                </a:solidFill>
                <a:latin typeface="IBM Plex Sans" pitchFamily="34" charset="0"/>
                <a:ea typeface="IBM Plex Sans" pitchFamily="34" charset="-122"/>
                <a:cs typeface="IBM Plex Sans" pitchFamily="34" charset="-120"/>
              </a:rPr>
              <a:t>Se sta in una </a:t>
            </a:r>
            <a:r>
              <a:rPr lang="en-US" sz="1382" b="1" dirty="0">
                <a:solidFill>
                  <a:srgbClr val="FBFBF8"/>
                </a:solidFill>
                <a:latin typeface="IBM Plex Sans" pitchFamily="34" charset="0"/>
                <a:ea typeface="IBM Plex Sans" pitchFamily="34" charset="-122"/>
                <a:cs typeface="IBM Plex Sans" pitchFamily="34" charset="-120"/>
              </a:rPr>
              <a:t>tabella</a:t>
            </a:r>
            <a:r>
              <a:rPr lang="en-US" sz="1382" dirty="0">
                <a:solidFill>
                  <a:srgbClr val="FBFBF8"/>
                </a:solidFill>
                <a:latin typeface="IBM Plex Sans" pitchFamily="34" charset="0"/>
                <a:ea typeface="IBM Plex Sans" pitchFamily="34" charset="-122"/>
                <a:cs typeface="IBM Plex Sans" pitchFamily="34" charset="-120"/>
              </a:rPr>
              <a:t>, zero è un dato come un altro, letto a runtime.</a:t>
            </a:r>
            <a:endParaRPr lang="en-US" sz="1382" dirty="0"/>
          </a:p>
        </p:txBody>
      </p:sp>
      <p:sp>
        <p:nvSpPr>
          <p:cNvPr id="14" name="Text 11"/>
          <p:cNvSpPr/>
          <p:nvPr/>
        </p:nvSpPr>
        <p:spPr>
          <a:xfrm>
            <a:off x="812800" y="6238280"/>
            <a:ext cx="5260334"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IBM Plex Sans" pitchFamily="34" charset="0"/>
                <a:ea typeface="IBM Plex Sans" pitchFamily="34" charset="-122"/>
                <a:cs typeface="IBM Plex Sans" pitchFamily="34" charset="-120"/>
              </a:rPr>
              <a:t>&amp;Egrave; l’unico esperimento in cui scendono insieme dimensione e tempo</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marL="0" indent="0" algn="l">
              <a:lnSpc>
                <a:spcPts val="1820"/>
              </a:lnSpc>
              <a:buNone/>
            </a:pPr>
            <a:r>
              <a:rPr lang="en-US" sz="1300" kern="0" spc="100" dirty="0">
                <a:solidFill>
                  <a:srgbClr val="C2410C"/>
                </a:solidFill>
                <a:latin typeface="JetBrains Mono" pitchFamily="34" charset="0"/>
                <a:ea typeface="JetBrains Mono" pitchFamily="34" charset="-122"/>
                <a:cs typeface="JetBrains Mono" pitchFamily="34" charset="-120"/>
              </a:rPr>
              <a:t>VALIDAZIONE</a:t>
            </a:r>
            <a:endParaRPr lang="en-US" sz="1300" dirty="0"/>
          </a:p>
        </p:txBody>
      </p:sp>
      <p:sp>
        <p:nvSpPr>
          <p:cNvPr id="3" name="Text 1"/>
          <p:cNvSpPr/>
          <p:nvPr/>
        </p:nvSpPr>
        <p:spPr>
          <a:xfrm>
            <a:off x="812800" y="1107418"/>
            <a:ext cx="10883392" cy="430477"/>
          </a:xfrm>
          <a:prstGeom prst="rect">
            <a:avLst/>
          </a:prstGeom>
          <a:noFill/>
          <a:ln/>
        </p:spPr>
        <p:txBody>
          <a:bodyPr wrap="square" lIns="0" tIns="0" rIns="0" bIns="0" rtlCol="0" anchor="t">
            <a:normAutofit/>
          </a:bodyPr>
          <a:lstStyle/>
          <a:p>
            <a:pPr marL="0" indent="0" algn="l">
              <a:lnSpc>
                <a:spcPts val="3190"/>
              </a:lnSpc>
              <a:buNone/>
            </a:pPr>
            <a:r>
              <a:rPr lang="en-US" sz="2900" b="1" dirty="0">
                <a:solidFill>
                  <a:srgbClr val="14213D"/>
                </a:solidFill>
                <a:latin typeface="IBM Plex Sans" pitchFamily="34" charset="0"/>
                <a:ea typeface="IBM Plex Sans" pitchFamily="34" charset="-122"/>
                <a:cs typeface="IBM Plex Sans" pitchFamily="34" charset="-120"/>
              </a:rPr>
              <a:t>Un modello solo non basta a provare che il codice è generico</a:t>
            </a:r>
            <a:endParaRPr lang="en-US" sz="2900" dirty="0"/>
          </a:p>
        </p:txBody>
      </p:sp>
      <p:sp>
        <p:nvSpPr>
          <p:cNvPr id="4" name="Text 2"/>
          <p:cNvSpPr/>
          <p:nvPr/>
        </p:nvSpPr>
        <p:spPr>
          <a:xfrm>
            <a:off x="812800" y="1702991"/>
            <a:ext cx="10595610" cy="540941"/>
          </a:xfrm>
          <a:prstGeom prst="rect">
            <a:avLst/>
          </a:prstGeom>
          <a:noFill/>
          <a:ln/>
        </p:spPr>
        <p:txBody>
          <a:bodyPr wrap="square" lIns="0" tIns="0" rIns="0" bIns="0" rtlCol="0" anchor="t">
            <a:normAutofit/>
          </a:bodyPr>
          <a:lstStyle/>
          <a:p>
            <a:pPr marL="0" indent="0" algn="l">
              <a:lnSpc>
                <a:spcPts val="2030"/>
              </a:lnSpc>
              <a:buNone/>
            </a:pPr>
            <a:r>
              <a:rPr lang="en-US" sz="1450" dirty="0">
                <a:solidFill>
                  <a:srgbClr val="4A5568"/>
                </a:solidFill>
                <a:latin typeface="IBM Plex Sans" pitchFamily="34" charset="0"/>
                <a:ea typeface="IBM Plex Sans" pitchFamily="34" charset="-122"/>
                <a:cs typeface="IBM Plex Sans" pitchFamily="34" charset="-120"/>
              </a:rPr>
              <a:t>Testando solo il modello ricevuto, un errore che </a:t>
            </a:r>
            <a:r>
              <a:rPr lang="en-US" sz="1450" i="1" dirty="0">
                <a:solidFill>
                  <a:srgbClr val="4A5568"/>
                </a:solidFill>
                <a:latin typeface="IBM Plex Sans" pitchFamily="34" charset="0"/>
                <a:ea typeface="IBM Plex Sans" pitchFamily="34" charset="-122"/>
                <a:cs typeface="IBM Plex Sans" pitchFamily="34" charset="-120"/>
              </a:rPr>
              <a:t>quel</a:t>
            </a:r>
            <a:r>
              <a:rPr lang="en-US" sz="1450" dirty="0">
                <a:solidFill>
                  <a:srgbClr val="4A5568"/>
                </a:solidFill>
                <a:latin typeface="IBM Plex Sans" pitchFamily="34" charset="0"/>
                <a:ea typeface="IBM Plex Sans" pitchFamily="34" charset="-122"/>
                <a:cs typeface="IBM Plex Sans" pitchFamily="34" charset="-120"/>
              </a:rPr>
              <a:t> modello non fa emergere resta invisibile. Ho quindi costruito </a:t>
            </a:r>
            <a:r>
              <a:rPr lang="en-US" sz="1450" b="1" dirty="0">
                <a:solidFill>
                  <a:srgbClr val="4A5568"/>
                </a:solidFill>
                <a:latin typeface="IBM Plex Sans" pitchFamily="34" charset="0"/>
                <a:ea typeface="IBM Plex Sans" pitchFamily="34" charset="-122"/>
                <a:cs typeface="IBM Plex Sans" pitchFamily="34" charset="-120"/>
              </a:rPr>
              <a:t>sette modelli sintetici</a:t>
            </a:r>
            <a:r>
              <a:rPr lang="en-US" sz="1450" dirty="0">
                <a:solidFill>
                  <a:srgbClr val="4A5568"/>
                </a:solidFill>
                <a:latin typeface="IBM Plex Sans" pitchFamily="34" charset="0"/>
                <a:ea typeface="IBM Plex Sans" pitchFamily="34" charset="-122"/>
                <a:cs typeface="IBM Plex Sans" pitchFamily="34" charset="-120"/>
              </a:rPr>
              <a:t>, con forme e tipi di ingresso diversi, e le risposte attese calcolate a parte.</a:t>
            </a:r>
            <a:endParaRPr lang="en-US" sz="14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12800" y="2409031"/>
          <a:ext cx="5207000" cy="3087688"/>
        </p:xfrm>
        <a:graphic>
          <a:graphicData uri="http://schemas.openxmlformats.org/drawingml/2006/table">
            <a:tbl>
              <a:tblPr/>
              <a:tblGrid>
                <a:gridCol w="1874520">
                  <a:extLst>
                    <a:ext uri="{9D8B030D-6E8A-4147-A177-3AD203B41FA5}">
                      <a16:colId xmlns:a16="http://schemas.microsoft.com/office/drawing/2014/main" val="20000"/>
                    </a:ext>
                  </a:extLst>
                </a:gridCol>
                <a:gridCol w="1978660">
                  <a:extLst>
                    <a:ext uri="{9D8B030D-6E8A-4147-A177-3AD203B41FA5}">
                      <a16:colId xmlns:a16="http://schemas.microsoft.com/office/drawing/2014/main" val="20001"/>
                    </a:ext>
                  </a:extLst>
                </a:gridCol>
                <a:gridCol w="1353820">
                  <a:extLst>
                    <a:ext uri="{9D8B030D-6E8A-4147-A177-3AD203B41FA5}">
                      <a16:colId xmlns:a16="http://schemas.microsoft.com/office/drawing/2014/main" val="20002"/>
                    </a:ext>
                  </a:extLst>
                </a:gridCol>
              </a:tblGrid>
              <a:tr h="385961">
                <a:tc>
                  <a:txBody>
                    <a:bodyPr/>
                    <a:lstStyle/>
                    <a:p>
                      <a:pPr marL="0" indent="0">
                        <a:lnSpc>
                          <a:spcPts val="1960"/>
                        </a:lnSpc>
                        <a:buNone/>
                      </a:pPr>
                      <a:r>
                        <a:rPr lang="en-US" sz="1400" b="1" dirty="0">
                          <a:solidFill>
                            <a:srgbClr val="FBFBF8"/>
                          </a:solidFill>
                          <a:latin typeface="IBM Plex Sans" pitchFamily="34" charset="0"/>
                          <a:ea typeface="IBM Plex Sans" pitchFamily="34" charset="-122"/>
                          <a:cs typeface="IBM Plex Sans" pitchFamily="34" charset="-120"/>
                        </a:rPr>
                        <a:t>Modello</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marL="0" indent="0">
                        <a:lnSpc>
                          <a:spcPts val="1960"/>
                        </a:lnSpc>
                        <a:buNone/>
                      </a:pPr>
                      <a:r>
                        <a:rPr lang="en-US" sz="1400" b="1" dirty="0">
                          <a:solidFill>
                            <a:srgbClr val="FBFBF8"/>
                          </a:solidFill>
                          <a:latin typeface="IBM Plex Sans" pitchFamily="34" charset="0"/>
                          <a:ea typeface="IBM Plex Sans" pitchFamily="34" charset="-122"/>
                          <a:cs typeface="IBM Plex Sans" pitchFamily="34" charset="-120"/>
                        </a:rPr>
                        <a:t>Forma</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marL="0" indent="0" algn="r">
                        <a:lnSpc>
                          <a:spcPts val="1960"/>
                        </a:lnSpc>
                        <a:buNone/>
                      </a:pPr>
                      <a:r>
                        <a:rPr lang="en-US" sz="1400" b="1" dirty="0">
                          <a:solidFill>
                            <a:srgbClr val="FBFBF8"/>
                          </a:solidFill>
                          <a:latin typeface="IBM Plex Sans" pitchFamily="34" charset="0"/>
                          <a:ea typeface="IBM Plex Sans" pitchFamily="34" charset="-122"/>
                          <a:cs typeface="IBM Plex Sans" pitchFamily="34" charset="-120"/>
                        </a:rPr>
                        <a:t>Pesi</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385961">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ones</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11-2-3</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33</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extLst>
                  <a:ext uri="{0D108BD9-81ED-4DB2-BD59-A6C34878D82A}">
                    <a16:rowId xmlns:a16="http://schemas.microsoft.com/office/drawing/2014/main" val="10001"/>
                  </a:ext>
                </a:extLst>
              </a:tr>
              <a:tr h="385961">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small</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15-4-4</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84</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extLst>
                  <a:ext uri="{0D108BD9-81ED-4DB2-BD59-A6C34878D82A}">
                    <a16:rowId xmlns:a16="http://schemas.microsoft.com/office/drawing/2014/main" val="10002"/>
                  </a:ext>
                </a:extLst>
              </a:tr>
              <a:tr h="385961">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mixed</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18-6-5</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149</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extLst>
                  <a:ext uri="{0D108BD9-81ED-4DB2-BD59-A6C34878D82A}">
                    <a16:rowId xmlns:a16="http://schemas.microsoft.com/office/drawing/2014/main" val="10003"/>
                  </a:ext>
                </a:extLst>
              </a:tr>
              <a:tr h="385961">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ipa_like</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65-4-4-7</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319</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extLst>
                  <a:ext uri="{0D108BD9-81ED-4DB2-BD59-A6C34878D82A}">
                    <a16:rowId xmlns:a16="http://schemas.microsoft.com/office/drawing/2014/main" val="10004"/>
                  </a:ext>
                </a:extLst>
              </a:tr>
              <a:tr h="385961">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sparse</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65-4-4-7</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319</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extLst>
                  <a:ext uri="{0D108BD9-81ED-4DB2-BD59-A6C34878D82A}">
                    <a16:rowId xmlns:a16="http://schemas.microsoft.com/office/drawing/2014/main" val="10005"/>
                  </a:ext>
                </a:extLst>
              </a:tr>
              <a:tr h="385961">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deep</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65-4-4-4-7</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339</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extLst>
                  <a:ext uri="{0D108BD9-81ED-4DB2-BD59-A6C34878D82A}">
                    <a16:rowId xmlns:a16="http://schemas.microsoft.com/office/drawing/2014/main" val="10006"/>
                  </a:ext>
                </a:extLst>
              </a:tr>
              <a:tr h="385961">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large</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117-8-8-9</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1 097</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extLst>
                  <a:ext uri="{0D108BD9-81ED-4DB2-BD59-A6C34878D82A}">
                    <a16:rowId xmlns:a16="http://schemas.microsoft.com/office/drawing/2014/main" val="10007"/>
                  </a:ext>
                </a:extLst>
              </a:tr>
            </a:tbl>
          </a:graphicData>
        </a:graphic>
      </p:graphicFrame>
      <p:sp>
        <p:nvSpPr>
          <p:cNvPr id="6" name="Shape 3"/>
          <p:cNvSpPr/>
          <p:nvPr/>
        </p:nvSpPr>
        <p:spPr>
          <a:xfrm>
            <a:off x="6223000" y="2901690"/>
            <a:ext cx="5156200" cy="1386152"/>
          </a:xfrm>
          <a:prstGeom prst="roundRect">
            <a:avLst>
              <a:gd name="adj" fmla="val 7330"/>
            </a:avLst>
          </a:prstGeom>
          <a:solidFill>
            <a:srgbClr val="14213D"/>
          </a:solidFill>
          <a:ln/>
        </p:spPr>
      </p:sp>
      <p:sp>
        <p:nvSpPr>
          <p:cNvPr id="7" name="Text 4"/>
          <p:cNvSpPr/>
          <p:nvPr/>
        </p:nvSpPr>
        <p:spPr>
          <a:xfrm>
            <a:off x="6451600" y="3104890"/>
            <a:ext cx="4839970" cy="431800"/>
          </a:xfrm>
          <a:prstGeom prst="rect">
            <a:avLst/>
          </a:prstGeom>
          <a:noFill/>
          <a:ln/>
        </p:spPr>
        <p:txBody>
          <a:bodyPr wrap="square" lIns="0" tIns="0" rIns="0" bIns="0" rtlCol="0" anchor="t">
            <a:normAutofit/>
          </a:bodyPr>
          <a:lstStyle/>
          <a:p>
            <a:pPr marL="0" indent="0" algn="l">
              <a:lnSpc>
                <a:spcPts val="3200"/>
              </a:lnSpc>
              <a:buNone/>
            </a:pPr>
            <a:r>
              <a:rPr lang="en-US" sz="3200" b="1" dirty="0">
                <a:solidFill>
                  <a:srgbClr val="7FD1A4"/>
                </a:solidFill>
                <a:latin typeface="IBM Plex Sans" pitchFamily="34" charset="0"/>
                <a:ea typeface="IBM Plex Sans" pitchFamily="34" charset="-122"/>
                <a:cs typeface="IBM Plex Sans" pitchFamily="34" charset="-120"/>
              </a:rPr>
              <a:t>2 100</a:t>
            </a:r>
            <a:endParaRPr lang="en-US" sz="3200" dirty="0"/>
          </a:p>
        </p:txBody>
      </p:sp>
      <p:sp>
        <p:nvSpPr>
          <p:cNvPr id="8" name="Text 5"/>
          <p:cNvSpPr/>
          <p:nvPr/>
        </p:nvSpPr>
        <p:spPr>
          <a:xfrm>
            <a:off x="6451600" y="3587490"/>
            <a:ext cx="4839970" cy="522552"/>
          </a:xfrm>
          <a:prstGeom prst="rect">
            <a:avLst/>
          </a:prstGeom>
          <a:noFill/>
          <a:ln/>
        </p:spPr>
        <p:txBody>
          <a:bodyPr wrap="square" lIns="0" tIns="0" rIns="0" bIns="0" rtlCol="0" anchor="t">
            <a:normAutofit/>
          </a:bodyPr>
          <a:lstStyle/>
          <a:p>
            <a:pPr marL="0" indent="0" algn="l">
              <a:lnSpc>
                <a:spcPts val="1958"/>
              </a:lnSpc>
              <a:buNone/>
            </a:pPr>
            <a:r>
              <a:rPr lang="en-US" sz="1450" dirty="0">
                <a:solidFill>
                  <a:srgbClr val="FBFBF8"/>
                </a:solidFill>
                <a:latin typeface="IBM Plex Sans" pitchFamily="34" charset="0"/>
                <a:ea typeface="IBM Plex Sans" pitchFamily="34" charset="-122"/>
                <a:cs typeface="IBM Plex Sans" pitchFamily="34" charset="-120"/>
              </a:rPr>
              <a:t>decisioni </a:t>
            </a:r>
            <a:r>
              <a:rPr lang="en-US" sz="1450" b="1" dirty="0">
                <a:solidFill>
                  <a:srgbClr val="FBFBF8"/>
                </a:solidFill>
                <a:latin typeface="IBM Plex Sans" pitchFamily="34" charset="0"/>
                <a:ea typeface="IBM Plex Sans" pitchFamily="34" charset="-122"/>
                <a:cs typeface="IBM Plex Sans" pitchFamily="34" charset="-120"/>
              </a:rPr>
              <a:t>identiche</a:t>
            </a:r>
            <a:r>
              <a:rPr lang="en-US" sz="1450" dirty="0">
                <a:solidFill>
                  <a:srgbClr val="FBFBF8"/>
                </a:solidFill>
                <a:latin typeface="IBM Plex Sans" pitchFamily="34" charset="0"/>
                <a:ea typeface="IBM Plex Sans" pitchFamily="34" charset="-122"/>
                <a:cs typeface="IBM Plex Sans" pitchFamily="34" charset="-120"/>
              </a:rPr>
              <a:t> fra il riferimento in Python e il programma nel kernel, su tutti e sette i modelli.</a:t>
            </a:r>
            <a:endParaRPr lang="en-US" sz="1450" dirty="0"/>
          </a:p>
        </p:txBody>
      </p:sp>
      <p:sp>
        <p:nvSpPr>
          <p:cNvPr id="9" name="Shape 6"/>
          <p:cNvSpPr/>
          <p:nvPr/>
        </p:nvSpPr>
        <p:spPr>
          <a:xfrm>
            <a:off x="6223000" y="4427538"/>
            <a:ext cx="5156200" cy="767027"/>
          </a:xfrm>
          <a:prstGeom prst="roundRect">
            <a:avLst>
              <a:gd name="adj" fmla="val 13246"/>
            </a:avLst>
          </a:prstGeom>
          <a:solidFill>
            <a:srgbClr val="EEF1F5"/>
          </a:solidFill>
          <a:ln/>
        </p:spPr>
      </p:sp>
      <p:sp>
        <p:nvSpPr>
          <p:cNvPr id="10" name="Text 7"/>
          <p:cNvSpPr/>
          <p:nvPr/>
        </p:nvSpPr>
        <p:spPr>
          <a:xfrm>
            <a:off x="6400800" y="4579938"/>
            <a:ext cx="4944618"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568"/>
                </a:solidFill>
                <a:latin typeface="IBM Plex Sans" pitchFamily="34" charset="0"/>
                <a:ea typeface="IBM Plex Sans" pitchFamily="34" charset="-122"/>
                <a:cs typeface="IBM Plex Sans" pitchFamily="34" charset="-120"/>
              </a:rPr>
              <a:t>Servono a testare la </a:t>
            </a:r>
            <a:r>
              <a:rPr lang="en-US" sz="1300" b="1" dirty="0">
                <a:solidFill>
                  <a:srgbClr val="4A5568"/>
                </a:solidFill>
                <a:latin typeface="IBM Plex Sans" pitchFamily="34" charset="0"/>
                <a:ea typeface="IBM Plex Sans" pitchFamily="34" charset="-122"/>
                <a:cs typeface="IBM Plex Sans" pitchFamily="34" charset="-120"/>
              </a:rPr>
              <a:t>generalità</a:t>
            </a:r>
            <a:r>
              <a:rPr lang="en-US" sz="1300" dirty="0">
                <a:solidFill>
                  <a:srgbClr val="4A5568"/>
                </a:solidFill>
                <a:latin typeface="IBM Plex Sans" pitchFamily="34" charset="0"/>
                <a:ea typeface="IBM Plex Sans" pitchFamily="34" charset="-122"/>
                <a:cs typeface="IBM Plex Sans" pitchFamily="34" charset="-120"/>
              </a:rPr>
              <a:t> dell’implementazione, non a fare semplicemente più test.</a:t>
            </a:r>
            <a:endParaRPr lang="en-US" sz="1300" dirty="0"/>
          </a:p>
        </p:txBody>
      </p:sp>
      <p:sp>
        <p:nvSpPr>
          <p:cNvPr id="11" name="Text 8"/>
          <p:cNvSpPr/>
          <p:nvPr/>
        </p:nvSpPr>
        <p:spPr>
          <a:xfrm>
            <a:off x="812800" y="6238280"/>
            <a:ext cx="8439153"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IBM Plex Sans" pitchFamily="34" charset="0"/>
                <a:ea typeface="IBM Plex Sans" pitchFamily="34" charset="-122"/>
                <a:cs typeface="IBM Plex Sans" pitchFamily="34" charset="-120"/>
              </a:rPr>
              <a:t>Pesi casuali, nessun rapporto con il modello di riferimento · 300 ingressi per modello, sempre gli stessi a ogni ripetizione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EF1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marL="0" indent="0" algn="l">
              <a:lnSpc>
                <a:spcPts val="1820"/>
              </a:lnSpc>
              <a:buNone/>
            </a:pPr>
            <a:r>
              <a:rPr lang="en-US" sz="1300" kern="0" spc="100" dirty="0">
                <a:solidFill>
                  <a:srgbClr val="C2410C"/>
                </a:solidFill>
                <a:latin typeface="JetBrains Mono" pitchFamily="34" charset="0"/>
                <a:ea typeface="JetBrains Mono" pitchFamily="34" charset="-122"/>
                <a:cs typeface="JetBrains Mono" pitchFamily="34" charset="-120"/>
              </a:rPr>
              <a:t>CHE COSA HANNO TROVATO</a:t>
            </a:r>
            <a:endParaRPr lang="en-US" sz="1300" dirty="0"/>
          </a:p>
        </p:txBody>
      </p:sp>
      <p:sp>
        <p:nvSpPr>
          <p:cNvPr id="3" name="Text 1"/>
          <p:cNvSpPr/>
          <p:nvPr/>
        </p:nvSpPr>
        <p:spPr>
          <a:xfrm>
            <a:off x="812800" y="1107418"/>
            <a:ext cx="10883392" cy="430477"/>
          </a:xfrm>
          <a:prstGeom prst="rect">
            <a:avLst/>
          </a:prstGeom>
          <a:noFill/>
          <a:ln/>
        </p:spPr>
        <p:txBody>
          <a:bodyPr wrap="square" lIns="0" tIns="0" rIns="0" bIns="0" rtlCol="0" anchor="t">
            <a:normAutofit/>
          </a:bodyPr>
          <a:lstStyle/>
          <a:p>
            <a:pPr marL="0" indent="0" algn="l">
              <a:lnSpc>
                <a:spcPts val="3190"/>
              </a:lnSpc>
              <a:buNone/>
            </a:pPr>
            <a:r>
              <a:rPr lang="en-US" sz="2900" b="1" dirty="0">
                <a:solidFill>
                  <a:srgbClr val="14213D"/>
                </a:solidFill>
                <a:latin typeface="IBM Plex Sans" pitchFamily="34" charset="0"/>
                <a:ea typeface="IBM Plex Sans" pitchFamily="34" charset="-122"/>
                <a:cs typeface="IBM Plex Sans" pitchFamily="34" charset="-120"/>
              </a:rPr>
              <a:t>Due bug che il modello di riferimento non faceva vedere</a:t>
            </a:r>
            <a:endParaRPr lang="en-US" sz="2900" dirty="0"/>
          </a:p>
        </p:txBody>
      </p:sp>
      <p:sp>
        <p:nvSpPr>
          <p:cNvPr id="4" name="Shape 2"/>
          <p:cNvSpPr/>
          <p:nvPr/>
        </p:nvSpPr>
        <p:spPr>
          <a:xfrm>
            <a:off x="815975" y="1693466"/>
            <a:ext cx="5181600" cy="2759009"/>
          </a:xfrm>
          <a:prstGeom prst="roundRect">
            <a:avLst>
              <a:gd name="adj" fmla="val 3567"/>
            </a:avLst>
          </a:prstGeom>
          <a:solidFill>
            <a:srgbClr val="FBFBF8"/>
          </a:solidFill>
          <a:ln w="6350">
            <a:solidFill>
              <a:srgbClr val="D7DEE7"/>
            </a:solidFill>
            <a:prstDash val="solid"/>
          </a:ln>
        </p:spPr>
      </p:sp>
      <p:sp>
        <p:nvSpPr>
          <p:cNvPr id="5" name="Text 3"/>
          <p:cNvSpPr/>
          <p:nvPr/>
        </p:nvSpPr>
        <p:spPr>
          <a:xfrm>
            <a:off x="1032933" y="1885026"/>
            <a:ext cx="4890114" cy="261607"/>
          </a:xfrm>
          <a:prstGeom prst="rect">
            <a:avLst/>
          </a:prstGeom>
          <a:noFill/>
          <a:ln/>
        </p:spPr>
        <p:txBody>
          <a:bodyPr wrap="square" lIns="0" tIns="0" rIns="0" bIns="0" rtlCol="0" anchor="t">
            <a:normAutofit/>
          </a:bodyPr>
          <a:lstStyle/>
          <a:p>
            <a:pPr marL="0" indent="0" algn="l">
              <a:lnSpc>
                <a:spcPts val="1860"/>
              </a:lnSpc>
              <a:buNone/>
            </a:pPr>
            <a:r>
              <a:rPr lang="en-US" sz="1550" b="1" dirty="0">
                <a:solidFill>
                  <a:srgbClr val="C2410C"/>
                </a:solidFill>
                <a:latin typeface="IBM Plex Sans" pitchFamily="34" charset="0"/>
                <a:ea typeface="IBM Plex Sans" pitchFamily="34" charset="-122"/>
                <a:cs typeface="IBM Plex Sans" pitchFamily="34" charset="-120"/>
              </a:rPr>
              <a:t>1 · La scala del TTL era nel codice</a:t>
            </a:r>
            <a:endParaRPr lang="en-US" sz="1550" dirty="0"/>
          </a:p>
        </p:txBody>
      </p:sp>
      <p:sp>
        <p:nvSpPr>
          <p:cNvPr id="6" name="Text 4"/>
          <p:cNvSpPr/>
          <p:nvPr/>
        </p:nvSpPr>
        <p:spPr>
          <a:xfrm>
            <a:off x="1032933" y="2210135"/>
            <a:ext cx="4890114" cy="745331"/>
          </a:xfrm>
          <a:prstGeom prst="rect">
            <a:avLst/>
          </a:prstGeom>
          <a:noFill/>
          <a:ln/>
        </p:spPr>
        <p:txBody>
          <a:bodyPr wrap="square" lIns="0" tIns="0" rIns="0" bIns="0" rtlCol="0" anchor="t">
            <a:normAutofit/>
          </a:bodyPr>
          <a:lstStyle/>
          <a:p>
            <a:pPr marL="0" indent="0" algn="l">
              <a:lnSpc>
                <a:spcPts val="1890"/>
              </a:lnSpc>
              <a:buNone/>
            </a:pPr>
            <a:r>
              <a:rPr lang="en-US" sz="1350" dirty="0">
                <a:solidFill>
                  <a:srgbClr val="4A5568"/>
                </a:solidFill>
                <a:latin typeface="IBM Plex Sans" pitchFamily="34" charset="0"/>
                <a:ea typeface="IBM Plex Sans" pitchFamily="34" charset="-122"/>
                <a:cs typeface="IBM Plex Sans" pitchFamily="34" charset="-120"/>
              </a:rPr>
              <a:t>Il TTL entra nella rete diviso per una costante, che è una scelta fatta </a:t>
            </a:r>
            <a:r>
              <a:rPr lang="en-US" sz="1350" b="1" dirty="0">
                <a:solidFill>
                  <a:srgbClr val="4A5568"/>
                </a:solidFill>
                <a:latin typeface="IBM Plex Sans" pitchFamily="34" charset="0"/>
                <a:ea typeface="IBM Plex Sans" pitchFamily="34" charset="-122"/>
                <a:cs typeface="IBM Plex Sans" pitchFamily="34" charset="-120"/>
              </a:rPr>
              <a:t>durante l’addestramento</a:t>
            </a:r>
            <a:r>
              <a:rPr lang="en-US" sz="1350" dirty="0">
                <a:solidFill>
                  <a:srgbClr val="4A5568"/>
                </a:solidFill>
                <a:latin typeface="IBM Plex Sans" pitchFamily="34" charset="0"/>
                <a:ea typeface="IBM Plex Sans" pitchFamily="34" charset="-122"/>
                <a:cs typeface="IBM Plex Sans" pitchFamily="34" charset="-120"/>
              </a:rPr>
              <a:t>. Tutte e tre le pipeline la fissavano nel programma.</a:t>
            </a:r>
            <a:endParaRPr lang="en-US" sz="1350" dirty="0"/>
          </a:p>
        </p:txBody>
      </p:sp>
      <p:sp>
        <p:nvSpPr>
          <p:cNvPr id="7" name="Shape 5"/>
          <p:cNvSpPr/>
          <p:nvPr/>
        </p:nvSpPr>
        <p:spPr>
          <a:xfrm>
            <a:off x="1032933" y="3018966"/>
            <a:ext cx="4747683" cy="690827"/>
          </a:xfrm>
          <a:prstGeom prst="roundRect">
            <a:avLst>
              <a:gd name="adj" fmla="val 11030"/>
            </a:avLst>
          </a:prstGeom>
          <a:solidFill>
            <a:srgbClr val="EEF1F5"/>
          </a:solidFill>
          <a:ln/>
        </p:spPr>
      </p:sp>
      <p:sp>
        <p:nvSpPr>
          <p:cNvPr id="8" name="Text 6"/>
          <p:cNvSpPr/>
          <p:nvPr/>
        </p:nvSpPr>
        <p:spPr>
          <a:xfrm>
            <a:off x="1172633" y="3133266"/>
            <a:ext cx="4602332"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4213D"/>
                </a:solidFill>
                <a:latin typeface="IBM Plex Sans" pitchFamily="34" charset="0"/>
                <a:ea typeface="IBM Plex Sans" pitchFamily="34" charset="-122"/>
                <a:cs typeface="IBM Plex Sans" pitchFamily="34" charset="-120"/>
              </a:rPr>
              <a:t>Modello addestrato su </a:t>
            </a:r>
            <a:r>
              <a:rPr lang="en-US" sz="1300" b="1" dirty="0">
                <a:solidFill>
                  <a:srgbClr val="14213D"/>
                </a:solidFill>
                <a:latin typeface="IBM Plex Sans" pitchFamily="34" charset="0"/>
                <a:ea typeface="IBM Plex Sans" pitchFamily="34" charset="-122"/>
                <a:cs typeface="IBM Plex Sans" pitchFamily="34" charset="-120"/>
              </a:rPr>
              <a:t>TTL/16</a:t>
            </a:r>
            <a:endParaRPr lang="en-US" sz="1300" dirty="0"/>
          </a:p>
          <a:p>
            <a:pPr marL="0" indent="0" algn="l">
              <a:lnSpc>
                <a:spcPts val="1820"/>
              </a:lnSpc>
              <a:buNone/>
            </a:pPr>
            <a:r>
              <a:rPr lang="en-US" sz="1300" dirty="0">
                <a:solidFill>
                  <a:srgbClr val="14213D"/>
                </a:solidFill>
                <a:latin typeface="IBM Plex Sans" pitchFamily="34" charset="0"/>
                <a:ea typeface="IBM Plex Sans" pitchFamily="34" charset="-122"/>
                <a:cs typeface="IBM Plex Sans" pitchFamily="34" charset="-120"/>
              </a:rPr>
              <a:t>eseguito nel kernel con </a:t>
            </a:r>
            <a:r>
              <a:rPr lang="en-US" sz="1300" b="1" dirty="0">
                <a:solidFill>
                  <a:srgbClr val="14213D"/>
                </a:solidFill>
                <a:latin typeface="IBM Plex Sans" pitchFamily="34" charset="0"/>
                <a:ea typeface="IBM Plex Sans" pitchFamily="34" charset="-122"/>
                <a:cs typeface="IBM Plex Sans" pitchFamily="34" charset="-120"/>
              </a:rPr>
              <a:t>TTL/30</a:t>
            </a:r>
            <a:endParaRPr lang="en-US" sz="1300" dirty="0"/>
          </a:p>
        </p:txBody>
      </p:sp>
      <p:sp>
        <p:nvSpPr>
          <p:cNvPr id="9" name="Text 7"/>
          <p:cNvSpPr/>
          <p:nvPr/>
        </p:nvSpPr>
        <p:spPr>
          <a:xfrm>
            <a:off x="1032933" y="3798689"/>
            <a:ext cx="4890114"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568"/>
                </a:solidFill>
                <a:latin typeface="IBM Plex Sans" pitchFamily="34" charset="0"/>
                <a:ea typeface="IBM Plex Sans" pitchFamily="34" charset="-122"/>
                <a:cs typeface="IBM Plex Sans" pitchFamily="34" charset="-120"/>
              </a:rPr>
              <a:t>Il modello di riferimento usa proprio 30: su di lui il bug è </a:t>
            </a:r>
            <a:r>
              <a:rPr lang="en-US" sz="1300" b="1" dirty="0">
                <a:solidFill>
                  <a:srgbClr val="4A5568"/>
                </a:solidFill>
                <a:latin typeface="IBM Plex Sans" pitchFamily="34" charset="0"/>
                <a:ea typeface="IBM Plex Sans" pitchFamily="34" charset="-122"/>
                <a:cs typeface="IBM Plex Sans" pitchFamily="34" charset="-120"/>
              </a:rPr>
              <a:t>invisibile</a:t>
            </a:r>
            <a:r>
              <a:rPr lang="en-US" sz="1300" dirty="0">
                <a:solidFill>
                  <a:srgbClr val="4A5568"/>
                </a:solidFill>
                <a:latin typeface="IBM Plex Sans" pitchFamily="34" charset="0"/>
                <a:ea typeface="IBM Plex Sans" pitchFamily="34" charset="-122"/>
                <a:cs typeface="IBM Plex Sans" pitchFamily="34" charset="-120"/>
              </a:rPr>
              <a:t>.</a:t>
            </a:r>
            <a:endParaRPr lang="en-US" sz="1300" dirty="0"/>
          </a:p>
        </p:txBody>
      </p:sp>
      <p:sp>
        <p:nvSpPr>
          <p:cNvPr id="10" name="Shape 8"/>
          <p:cNvSpPr/>
          <p:nvPr/>
        </p:nvSpPr>
        <p:spPr>
          <a:xfrm>
            <a:off x="6194425" y="1693466"/>
            <a:ext cx="5181600" cy="2759009"/>
          </a:xfrm>
          <a:prstGeom prst="roundRect">
            <a:avLst>
              <a:gd name="adj" fmla="val 3567"/>
            </a:avLst>
          </a:prstGeom>
          <a:solidFill>
            <a:srgbClr val="FBFBF8"/>
          </a:solidFill>
          <a:ln w="6350">
            <a:solidFill>
              <a:srgbClr val="D7DEE7"/>
            </a:solidFill>
            <a:prstDash val="solid"/>
          </a:ln>
        </p:spPr>
      </p:sp>
      <p:sp>
        <p:nvSpPr>
          <p:cNvPr id="11" name="Text 9"/>
          <p:cNvSpPr/>
          <p:nvPr/>
        </p:nvSpPr>
        <p:spPr>
          <a:xfrm>
            <a:off x="6411383" y="1885026"/>
            <a:ext cx="4890114" cy="261607"/>
          </a:xfrm>
          <a:prstGeom prst="rect">
            <a:avLst/>
          </a:prstGeom>
          <a:noFill/>
          <a:ln/>
        </p:spPr>
        <p:txBody>
          <a:bodyPr wrap="square" lIns="0" tIns="0" rIns="0" bIns="0" rtlCol="0" anchor="t">
            <a:normAutofit/>
          </a:bodyPr>
          <a:lstStyle/>
          <a:p>
            <a:pPr marL="0" indent="0" algn="l">
              <a:lnSpc>
                <a:spcPts val="1860"/>
              </a:lnSpc>
              <a:buNone/>
            </a:pPr>
            <a:r>
              <a:rPr lang="en-US" sz="1550" b="1" dirty="0">
                <a:solidFill>
                  <a:srgbClr val="C2410C"/>
                </a:solidFill>
                <a:latin typeface="IBM Plex Sans" pitchFamily="34" charset="0"/>
                <a:ea typeface="IBM Plex Sans" pitchFamily="34" charset="-122"/>
                <a:cs typeface="IBM Plex Sans" pitchFamily="34" charset="-120"/>
              </a:rPr>
              <a:t>2 · La classe non è la porta</a:t>
            </a:r>
            <a:endParaRPr lang="en-US" sz="1550" dirty="0"/>
          </a:p>
        </p:txBody>
      </p:sp>
      <p:sp>
        <p:nvSpPr>
          <p:cNvPr id="12" name="Text 10"/>
          <p:cNvSpPr/>
          <p:nvPr/>
        </p:nvSpPr>
        <p:spPr>
          <a:xfrm>
            <a:off x="6411383" y="2210135"/>
            <a:ext cx="4890114" cy="505354"/>
          </a:xfrm>
          <a:prstGeom prst="rect">
            <a:avLst/>
          </a:prstGeom>
          <a:noFill/>
          <a:ln/>
        </p:spPr>
        <p:txBody>
          <a:bodyPr wrap="square" lIns="0" tIns="0" rIns="0" bIns="0" rtlCol="0" anchor="t">
            <a:normAutofit/>
          </a:bodyPr>
          <a:lstStyle/>
          <a:p>
            <a:pPr marL="0" indent="0" algn="l">
              <a:lnSpc>
                <a:spcPts val="1890"/>
              </a:lnSpc>
              <a:buNone/>
            </a:pPr>
            <a:r>
              <a:rPr lang="en-US" sz="1350" dirty="0">
                <a:solidFill>
                  <a:srgbClr val="4A5568"/>
                </a:solidFill>
                <a:latin typeface="IBM Plex Sans" pitchFamily="34" charset="0"/>
                <a:ea typeface="IBM Plex Sans" pitchFamily="34" charset="-122"/>
                <a:cs typeface="IBM Plex Sans" pitchFamily="34" charset="-120"/>
              </a:rPr>
              <a:t>La rete produce un numero. Che cosa significhi lo dichiara la </a:t>
            </a:r>
            <a:r>
              <a:rPr lang="en-US" sz="1350" b="1" dirty="0">
                <a:solidFill>
                  <a:srgbClr val="4A5568"/>
                </a:solidFill>
                <a:latin typeface="IBM Plex Sans" pitchFamily="34" charset="0"/>
                <a:ea typeface="IBM Plex Sans" pitchFamily="34" charset="-122"/>
                <a:cs typeface="IBM Plex Sans" pitchFamily="34" charset="-120"/>
              </a:rPr>
              <a:t>configurazione del modello</a:t>
            </a:r>
            <a:r>
              <a:rPr lang="en-US" sz="1350" dirty="0">
                <a:solidFill>
                  <a:srgbClr val="4A5568"/>
                </a:solidFill>
                <a:latin typeface="IBM Plex Sans" pitchFamily="34" charset="0"/>
                <a:ea typeface="IBM Plex Sans" pitchFamily="34" charset="-122"/>
                <a:cs typeface="IBM Plex Sans" pitchFamily="34" charset="-120"/>
              </a:rPr>
              <a:t>, non la rete.</a:t>
            </a:r>
            <a:endParaRPr lang="en-US" sz="1350" dirty="0"/>
          </a:p>
        </p:txBody>
      </p:sp>
      <p:sp>
        <p:nvSpPr>
          <p:cNvPr id="13" name="Shape 11"/>
          <p:cNvSpPr/>
          <p:nvPr/>
        </p:nvSpPr>
        <p:spPr>
          <a:xfrm>
            <a:off x="6411383" y="2778987"/>
            <a:ext cx="4747683" cy="921941"/>
          </a:xfrm>
          <a:prstGeom prst="roundRect">
            <a:avLst>
              <a:gd name="adj" fmla="val 8265"/>
            </a:avLst>
          </a:prstGeom>
          <a:solidFill>
            <a:srgbClr val="EEF1F5"/>
          </a:solidFill>
          <a:ln/>
        </p:spPr>
      </p:sp>
      <p:sp>
        <p:nvSpPr>
          <p:cNvPr id="14" name="Text 12"/>
          <p:cNvSpPr/>
          <p:nvPr/>
        </p:nvSpPr>
        <p:spPr>
          <a:xfrm>
            <a:off x="6551084" y="2893287"/>
            <a:ext cx="4602332" cy="718741"/>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4213D"/>
                </a:solidFill>
                <a:latin typeface="IBM Plex Sans" pitchFamily="34" charset="0"/>
                <a:ea typeface="IBM Plex Sans" pitchFamily="34" charset="-122"/>
                <a:cs typeface="IBM Plex Sans" pitchFamily="34" charset="-120"/>
              </a:rPr>
              <a:t>Il codice dava per scontato</a:t>
            </a:r>
            <a:endParaRPr lang="en-US" sz="1300" dirty="0"/>
          </a:p>
          <a:p>
            <a:pPr marL="0" indent="0" algn="l">
              <a:lnSpc>
                <a:spcPts val="1820"/>
              </a:lnSpc>
              <a:buNone/>
            </a:pPr>
            <a:r>
              <a:rPr lang="en-US" sz="1300" dirty="0">
                <a:solidFill>
                  <a:srgbClr val="14213D"/>
                </a:solidFill>
                <a:latin typeface="IBM Plex Sans" pitchFamily="34" charset="0"/>
                <a:ea typeface="IBM Plex Sans" pitchFamily="34" charset="-122"/>
                <a:cs typeface="IBM Plex Sans" pitchFamily="34" charset="-120"/>
              </a:rPr>
              <a:t>classe 0 → porta 0, classe 1 → porta 1…</a:t>
            </a:r>
            <a:endParaRPr lang="en-US" sz="1300" dirty="0"/>
          </a:p>
          <a:p>
            <a:pPr marL="0" indent="0" algn="l">
              <a:lnSpc>
                <a:spcPts val="1820"/>
              </a:lnSpc>
              <a:buNone/>
            </a:pPr>
            <a:r>
              <a:rPr lang="en-US" sz="1300" dirty="0">
                <a:solidFill>
                  <a:srgbClr val="14213D"/>
                </a:solidFill>
                <a:latin typeface="IBM Plex Sans" pitchFamily="34" charset="0"/>
                <a:ea typeface="IBM Plex Sans" pitchFamily="34" charset="-122"/>
                <a:cs typeface="IBM Plex Sans" pitchFamily="34" charset="-120"/>
              </a:rPr>
              <a:t>e </a:t>
            </a:r>
            <a:r>
              <a:rPr lang="en-US" sz="1300" b="1" dirty="0">
                <a:solidFill>
                  <a:srgbClr val="14213D"/>
                </a:solidFill>
                <a:latin typeface="IBM Plex Sans" pitchFamily="34" charset="0"/>
                <a:ea typeface="IBM Plex Sans" pitchFamily="34" charset="-122"/>
                <a:cs typeface="IBM Plex Sans" pitchFamily="34" charset="-120"/>
              </a:rPr>
              <a:t>scarta = ultima classe</a:t>
            </a:r>
            <a:endParaRPr lang="en-US" sz="1300" dirty="0"/>
          </a:p>
        </p:txBody>
      </p:sp>
      <p:sp>
        <p:nvSpPr>
          <p:cNvPr id="15" name="Text 13"/>
          <p:cNvSpPr/>
          <p:nvPr/>
        </p:nvSpPr>
        <p:spPr>
          <a:xfrm>
            <a:off x="6411383" y="3789828"/>
            <a:ext cx="4890114"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568"/>
                </a:solidFill>
                <a:latin typeface="IBM Plex Sans" pitchFamily="34" charset="0"/>
                <a:ea typeface="IBM Plex Sans" pitchFamily="34" charset="-122"/>
                <a:cs typeface="IBM Plex Sans" pitchFamily="34" charset="-120"/>
              </a:rPr>
              <a:t>Nel modello ricevuto le classi sono </a:t>
            </a:r>
            <a:r>
              <a:rPr lang="en-US" sz="1300" b="1" dirty="0">
                <a:solidFill>
                  <a:srgbClr val="4A5568"/>
                </a:solidFill>
                <a:latin typeface="IBM Plex Sans" pitchFamily="34" charset="0"/>
                <a:ea typeface="IBM Plex Sans" pitchFamily="34" charset="-122"/>
                <a:cs typeface="IBM Plex Sans" pitchFamily="34" charset="-120"/>
              </a:rPr>
              <a:t>sette</a:t>
            </a:r>
            <a:r>
              <a:rPr lang="en-US" sz="1300" dirty="0">
                <a:solidFill>
                  <a:srgbClr val="4A5568"/>
                </a:solidFill>
                <a:latin typeface="IBM Plex Sans" pitchFamily="34" charset="0"/>
                <a:ea typeface="IBM Plex Sans" pitchFamily="34" charset="-122"/>
                <a:cs typeface="IBM Plex Sans" pitchFamily="34" charset="-120"/>
              </a:rPr>
              <a:t> e quella che scarta è la </a:t>
            </a:r>
            <a:r>
              <a:rPr lang="en-US" sz="1300" b="1" dirty="0">
                <a:solidFill>
                  <a:srgbClr val="4A5568"/>
                </a:solidFill>
                <a:latin typeface="IBM Plex Sans" pitchFamily="34" charset="0"/>
                <a:ea typeface="IBM Plex Sans" pitchFamily="34" charset="-122"/>
                <a:cs typeface="IBM Plex Sans" pitchFamily="34" charset="-120"/>
              </a:rPr>
              <a:t>sesta</a:t>
            </a:r>
            <a:r>
              <a:rPr lang="en-US" sz="1300" dirty="0">
                <a:solidFill>
                  <a:srgbClr val="4A5568"/>
                </a:solidFill>
                <a:latin typeface="IBM Plex Sans" pitchFamily="34" charset="0"/>
                <a:ea typeface="IBM Plex Sans" pitchFamily="34" charset="-122"/>
                <a:cs typeface="IBM Plex Sans" pitchFamily="34" charset="-120"/>
              </a:rPr>
              <a:t>: l’assunzione era falsa fin dall’inizio.</a:t>
            </a:r>
            <a:endParaRPr lang="en-US" sz="1300" dirty="0"/>
          </a:p>
        </p:txBody>
      </p:sp>
      <p:sp>
        <p:nvSpPr>
          <p:cNvPr id="16" name="Shape 14"/>
          <p:cNvSpPr/>
          <p:nvPr/>
        </p:nvSpPr>
        <p:spPr>
          <a:xfrm>
            <a:off x="812800" y="4633454"/>
            <a:ext cx="10566400" cy="889000"/>
          </a:xfrm>
          <a:prstGeom prst="roundRect">
            <a:avLst>
              <a:gd name="adj" fmla="val 11429"/>
            </a:avLst>
          </a:prstGeom>
          <a:solidFill>
            <a:srgbClr val="14213D"/>
          </a:solidFill>
          <a:ln/>
        </p:spPr>
      </p:sp>
      <p:sp>
        <p:nvSpPr>
          <p:cNvPr id="17" name="Text 15"/>
          <p:cNvSpPr/>
          <p:nvPr/>
        </p:nvSpPr>
        <p:spPr>
          <a:xfrm>
            <a:off x="889762" y="4811254"/>
            <a:ext cx="10412476" cy="558800"/>
          </a:xfrm>
          <a:prstGeom prst="rect">
            <a:avLst/>
          </a:prstGeom>
          <a:noFill/>
          <a:ln/>
        </p:spPr>
        <p:txBody>
          <a:bodyPr wrap="square" lIns="0" tIns="0" rIns="0" bIns="0" rtlCol="0" anchor="t">
            <a:normAutofit/>
          </a:bodyPr>
          <a:lstStyle/>
          <a:p>
            <a:pPr marL="0" indent="0" algn="ctr">
              <a:lnSpc>
                <a:spcPts val="2100"/>
              </a:lnSpc>
              <a:buNone/>
            </a:pPr>
            <a:r>
              <a:rPr lang="en-US" sz="1500" dirty="0">
                <a:solidFill>
                  <a:srgbClr val="FBFBF8"/>
                </a:solidFill>
                <a:latin typeface="IBM Plex Sans" pitchFamily="34" charset="0"/>
                <a:ea typeface="IBM Plex Sans" pitchFamily="34" charset="-122"/>
                <a:cs typeface="IBM Plex Sans" pitchFamily="34" charset="-120"/>
              </a:rPr>
              <a:t>Due assunzioni che erano vere </a:t>
            </a:r>
            <a:r>
              <a:rPr lang="en-US" sz="1500" b="1" dirty="0">
                <a:solidFill>
                  <a:srgbClr val="FBFBF8"/>
                </a:solidFill>
                <a:latin typeface="IBM Plex Sans" pitchFamily="34" charset="0"/>
                <a:ea typeface="IBM Plex Sans" pitchFamily="34" charset="-122"/>
                <a:cs typeface="IBM Plex Sans" pitchFamily="34" charset="-120"/>
              </a:rPr>
              <a:t>per coincidenza</a:t>
            </a:r>
            <a:r>
              <a:rPr lang="en-US" sz="1500" dirty="0">
                <a:solidFill>
                  <a:srgbClr val="FBFBF8"/>
                </a:solidFill>
                <a:latin typeface="IBM Plex Sans" pitchFamily="34" charset="0"/>
                <a:ea typeface="IBM Plex Sans" pitchFamily="34" charset="-122"/>
                <a:cs typeface="IBM Plex Sans" pitchFamily="34" charset="-120"/>
              </a:rPr>
              <a:t> su un modello solo.</a:t>
            </a:r>
            <a:endParaRPr lang="en-US" sz="1500" dirty="0"/>
          </a:p>
          <a:p>
            <a:pPr marL="0" indent="0" algn="ctr">
              <a:lnSpc>
                <a:spcPts val="2100"/>
              </a:lnSpc>
              <a:buNone/>
            </a:pPr>
            <a:r>
              <a:rPr lang="en-US" sz="1500" dirty="0">
                <a:solidFill>
                  <a:srgbClr val="FBFBF8"/>
                </a:solidFill>
                <a:latin typeface="IBM Plex Sans" pitchFamily="34" charset="0"/>
                <a:ea typeface="IBM Plex Sans" pitchFamily="34" charset="-122"/>
                <a:cs typeface="IBM Plex Sans" pitchFamily="34" charset="-120"/>
              </a:rPr>
              <a:t>Sono i modelli sintetici ad averle fatte cadere.</a:t>
            </a:r>
            <a:endParaRPr lang="en-US" sz="1500" dirty="0"/>
          </a:p>
        </p:txBody>
      </p:sp>
      <p:sp>
        <p:nvSpPr>
          <p:cNvPr id="18" name="Text 16"/>
          <p:cNvSpPr/>
          <p:nvPr/>
        </p:nvSpPr>
        <p:spPr>
          <a:xfrm>
            <a:off x="812800" y="6238280"/>
            <a:ext cx="9108328"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IBM Plex Sans" pitchFamily="34" charset="0"/>
                <a:ea typeface="IBM Plex Sans" pitchFamily="34" charset="-122"/>
                <a:cs typeface="IBM Plex Sans" pitchFamily="34" charset="-120"/>
              </a:rPr>
              <a:t>Entrambi corretti: la scala viaggia ora nella scheda del modello, e la traduzione classe→azione è dichiarata e validata nei due versi</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marL="0" indent="0" algn="l">
              <a:lnSpc>
                <a:spcPts val="1820"/>
              </a:lnSpc>
              <a:buNone/>
            </a:pPr>
            <a:r>
              <a:rPr lang="en-US" sz="1300" kern="0" spc="100" dirty="0">
                <a:solidFill>
                  <a:srgbClr val="C2410C"/>
                </a:solidFill>
                <a:latin typeface="JetBrains Mono" pitchFamily="34" charset="0"/>
                <a:ea typeface="JetBrains Mono" pitchFamily="34" charset="-122"/>
                <a:cs typeface="JetBrains Mono" pitchFamily="34" charset="-120"/>
              </a:rPr>
              <a:t>ARCHITETTURA DI MISURA</a:t>
            </a:r>
            <a:endParaRPr lang="en-US" sz="1300" dirty="0"/>
          </a:p>
        </p:txBody>
      </p:sp>
      <p:sp>
        <p:nvSpPr>
          <p:cNvPr id="3" name="Text 1"/>
          <p:cNvSpPr/>
          <p:nvPr/>
        </p:nvSpPr>
        <p:spPr>
          <a:xfrm>
            <a:off x="812800" y="1107418"/>
            <a:ext cx="10883392" cy="430477"/>
          </a:xfrm>
          <a:prstGeom prst="rect">
            <a:avLst/>
          </a:prstGeom>
          <a:noFill/>
          <a:ln/>
        </p:spPr>
        <p:txBody>
          <a:bodyPr wrap="square" lIns="0" tIns="0" rIns="0" bIns="0" rtlCol="0" anchor="t">
            <a:normAutofit/>
          </a:bodyPr>
          <a:lstStyle/>
          <a:p>
            <a:pPr marL="0" indent="0" algn="l">
              <a:lnSpc>
                <a:spcPts val="3190"/>
              </a:lnSpc>
              <a:buNone/>
            </a:pPr>
            <a:r>
              <a:rPr lang="en-US" sz="2900" b="1" dirty="0">
                <a:solidFill>
                  <a:srgbClr val="14213D"/>
                </a:solidFill>
                <a:latin typeface="IBM Plex Sans" pitchFamily="34" charset="0"/>
                <a:ea typeface="IBM Plex Sans" pitchFamily="34" charset="-122"/>
                <a:cs typeface="IBM Plex Sans" pitchFamily="34" charset="-120"/>
              </a:rPr>
              <a:t>Tre banchi, perché le domande sono tre</a:t>
            </a:r>
            <a:endParaRPr lang="en-US" sz="2900" dirty="0"/>
          </a:p>
        </p:txBody>
      </p:sp>
      <p:sp>
        <p:nvSpPr>
          <p:cNvPr id="4" name="Shape 2"/>
          <p:cNvSpPr/>
          <p:nvPr/>
        </p:nvSpPr>
        <p:spPr>
          <a:xfrm>
            <a:off x="812800" y="1715691"/>
            <a:ext cx="10566400" cy="750491"/>
          </a:xfrm>
          <a:prstGeom prst="roundRect">
            <a:avLst>
              <a:gd name="adj" fmla="val 13538"/>
            </a:avLst>
          </a:prstGeom>
          <a:solidFill>
            <a:srgbClr val="EEF1F5"/>
          </a:solidFill>
          <a:ln/>
        </p:spPr>
      </p:sp>
      <p:sp>
        <p:nvSpPr>
          <p:cNvPr id="5" name="Text 3"/>
          <p:cNvSpPr/>
          <p:nvPr/>
        </p:nvSpPr>
        <p:spPr>
          <a:xfrm>
            <a:off x="1003300" y="1870013"/>
            <a:ext cx="1896745" cy="467254"/>
          </a:xfrm>
          <a:prstGeom prst="rect">
            <a:avLst/>
          </a:prstGeom>
          <a:noFill/>
          <a:ln/>
        </p:spPr>
        <p:txBody>
          <a:bodyPr wrap="square" lIns="0" tIns="0" rIns="0" bIns="0" rtlCol="0" anchor="t">
            <a:normAutofit/>
          </a:bodyPr>
          <a:lstStyle/>
          <a:p>
            <a:pPr marL="0" indent="0" algn="l">
              <a:lnSpc>
                <a:spcPts val="1740"/>
              </a:lnSpc>
              <a:buNone/>
            </a:pPr>
            <a:r>
              <a:rPr lang="en-US" sz="1450" b="1" dirty="0">
                <a:solidFill>
                  <a:srgbClr val="14213D"/>
                </a:solidFill>
                <a:latin typeface="IBM Plex Sans" pitchFamily="34" charset="0"/>
                <a:ea typeface="IBM Plex Sans" pitchFamily="34" charset="-122"/>
                <a:cs typeface="IBM Plex Sans" pitchFamily="34" charset="-120"/>
              </a:rPr>
              <a:t>1 · Programma isolato</a:t>
            </a:r>
            <a:endParaRPr lang="en-US" sz="1450" dirty="0"/>
          </a:p>
        </p:txBody>
      </p:sp>
      <p:sp>
        <p:nvSpPr>
          <p:cNvPr id="6" name="Shape 4"/>
          <p:cNvSpPr/>
          <p:nvPr/>
        </p:nvSpPr>
        <p:spPr>
          <a:xfrm>
            <a:off x="3022600" y="1903611"/>
            <a:ext cx="2278393" cy="374650"/>
          </a:xfrm>
          <a:prstGeom prst="roundRect">
            <a:avLst>
              <a:gd name="adj" fmla="val 16949"/>
            </a:avLst>
          </a:prstGeom>
          <a:solidFill>
            <a:srgbClr val="14213D"/>
          </a:solidFill>
          <a:ln/>
        </p:spPr>
      </p:sp>
      <p:sp>
        <p:nvSpPr>
          <p:cNvPr id="7" name="Text 5"/>
          <p:cNvSpPr/>
          <p:nvPr/>
        </p:nvSpPr>
        <p:spPr>
          <a:xfrm>
            <a:off x="3149600" y="1979811"/>
            <a:ext cx="2085125" cy="2476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FBFBF8"/>
                </a:solidFill>
                <a:latin typeface="IBM Plex Sans" pitchFamily="34" charset="0"/>
                <a:ea typeface="IBM Plex Sans" pitchFamily="34" charset="-122"/>
                <a:cs typeface="IBM Plex Sans" pitchFamily="34" charset="-120"/>
              </a:rPr>
              <a:t>programma eBPF, in un ciclo</a:t>
            </a:r>
            <a:endParaRPr lang="en-US" sz="1250" dirty="0"/>
          </a:p>
        </p:txBody>
      </p:sp>
      <p:sp>
        <p:nvSpPr>
          <p:cNvPr id="8" name="Text 6"/>
          <p:cNvSpPr/>
          <p:nvPr/>
        </p:nvSpPr>
        <p:spPr>
          <a:xfrm>
            <a:off x="8204200" y="1868091"/>
            <a:ext cx="3074035" cy="471091"/>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Quanto costa </a:t>
            </a:r>
            <a:r>
              <a:rPr lang="en-US" sz="1300" b="1" dirty="0">
                <a:solidFill>
                  <a:srgbClr val="4A5568"/>
                </a:solidFill>
                <a:latin typeface="IBM Plex Sans" pitchFamily="34" charset="0"/>
                <a:ea typeface="IBM Plex Sans" pitchFamily="34" charset="-122"/>
                <a:cs typeface="IBM Plex Sans" pitchFamily="34" charset="-120"/>
              </a:rPr>
              <a:t>l’inferenza</a:t>
            </a:r>
            <a:r>
              <a:rPr lang="en-US" sz="1300" dirty="0">
                <a:solidFill>
                  <a:srgbClr val="4A5568"/>
                </a:solidFill>
                <a:latin typeface="IBM Plex Sans" pitchFamily="34" charset="0"/>
                <a:ea typeface="IBM Plex Sans" pitchFamily="34" charset="-122"/>
                <a:cs typeface="IBM Plex Sans" pitchFamily="34" charset="-120"/>
              </a:rPr>
              <a:t>, senza scheda né code.</a:t>
            </a:r>
            <a:endParaRPr lang="en-US" sz="1300" dirty="0"/>
          </a:p>
        </p:txBody>
      </p:sp>
      <p:sp>
        <p:nvSpPr>
          <p:cNvPr id="9" name="Shape 7"/>
          <p:cNvSpPr/>
          <p:nvPr/>
        </p:nvSpPr>
        <p:spPr>
          <a:xfrm>
            <a:off x="812800" y="2593181"/>
            <a:ext cx="10566400" cy="750491"/>
          </a:xfrm>
          <a:prstGeom prst="roundRect">
            <a:avLst>
              <a:gd name="adj" fmla="val 13538"/>
            </a:avLst>
          </a:prstGeom>
          <a:solidFill>
            <a:srgbClr val="EEF1F5"/>
          </a:solidFill>
          <a:ln/>
        </p:spPr>
      </p:sp>
      <p:sp>
        <p:nvSpPr>
          <p:cNvPr id="10" name="Text 8"/>
          <p:cNvSpPr/>
          <p:nvPr/>
        </p:nvSpPr>
        <p:spPr>
          <a:xfrm>
            <a:off x="1003300" y="2857965"/>
            <a:ext cx="1896745" cy="246327"/>
          </a:xfrm>
          <a:prstGeom prst="rect">
            <a:avLst/>
          </a:prstGeom>
          <a:noFill/>
          <a:ln/>
        </p:spPr>
        <p:txBody>
          <a:bodyPr wrap="square" lIns="0" tIns="0" rIns="0" bIns="0" rtlCol="0" anchor="t">
            <a:normAutofit/>
          </a:bodyPr>
          <a:lstStyle/>
          <a:p>
            <a:pPr marL="0" indent="0" algn="l">
              <a:lnSpc>
                <a:spcPts val="1740"/>
              </a:lnSpc>
              <a:buNone/>
            </a:pPr>
            <a:r>
              <a:rPr lang="en-US" sz="1450" b="1" dirty="0">
                <a:solidFill>
                  <a:srgbClr val="14213D"/>
                </a:solidFill>
                <a:latin typeface="IBM Plex Sans" pitchFamily="34" charset="0"/>
                <a:ea typeface="IBM Plex Sans" pitchFamily="34" charset="-122"/>
                <a:cs typeface="IBM Plex Sans" pitchFamily="34" charset="-120"/>
              </a:rPr>
              <a:t>2 · Traffico reale</a:t>
            </a:r>
            <a:endParaRPr lang="en-US" sz="1450" dirty="0"/>
          </a:p>
        </p:txBody>
      </p:sp>
      <p:sp>
        <p:nvSpPr>
          <p:cNvPr id="11" name="Shape 9"/>
          <p:cNvSpPr/>
          <p:nvPr/>
        </p:nvSpPr>
        <p:spPr>
          <a:xfrm>
            <a:off x="3028950" y="2796319"/>
            <a:ext cx="906595" cy="344157"/>
          </a:xfrm>
          <a:prstGeom prst="roundRect">
            <a:avLst>
              <a:gd name="adj" fmla="val 16606"/>
            </a:avLst>
          </a:prstGeom>
          <a:solidFill>
            <a:srgbClr val="FBFBF8"/>
          </a:solidFill>
          <a:ln w="12700">
            <a:solidFill>
              <a:srgbClr val="14213D"/>
            </a:solidFill>
            <a:prstDash val="solid"/>
          </a:ln>
        </p:spPr>
      </p:sp>
      <p:sp>
        <p:nvSpPr>
          <p:cNvPr id="12" name="Text 10"/>
          <p:cNvSpPr/>
          <p:nvPr/>
        </p:nvSpPr>
        <p:spPr>
          <a:xfrm>
            <a:off x="3124200" y="2866169"/>
            <a:ext cx="766895" cy="229857"/>
          </a:xfrm>
          <a:prstGeom prst="rect">
            <a:avLst/>
          </a:prstGeom>
          <a:noFill/>
          <a:ln/>
        </p:spPr>
        <p:txBody>
          <a:bodyPr wrap="square" lIns="0" tIns="0" rIns="0" bIns="0" rtlCol="0" anchor="t">
            <a:normAutofit/>
          </a:bodyPr>
          <a:lstStyle/>
          <a:p>
            <a:pPr marL="0" indent="0" algn="l">
              <a:lnSpc>
                <a:spcPts val="1610"/>
              </a:lnSpc>
              <a:buNone/>
            </a:pPr>
            <a:r>
              <a:rPr lang="en-US" sz="1150" dirty="0">
                <a:solidFill>
                  <a:srgbClr val="14213D"/>
                </a:solidFill>
                <a:latin typeface="IBM Plex Sans" pitchFamily="34" charset="0"/>
                <a:ea typeface="IBM Plex Sans" pitchFamily="34" charset="-122"/>
                <a:cs typeface="IBM Plex Sans" pitchFamily="34" charset="-120"/>
              </a:rPr>
              <a:t>generatore</a:t>
            </a:r>
            <a:endParaRPr lang="en-US" sz="1150" dirty="0"/>
          </a:p>
        </p:txBody>
      </p:sp>
      <p:pic>
        <p:nvPicPr>
          <p:cNvPr id="13" name="Image 0" descr="arrow-right"/>
          <p:cNvPicPr>
            <a:picLocks noChangeAspect="1"/>
          </p:cNvPicPr>
          <p:nvPr/>
        </p:nvPicPr>
        <p:blipFill>
          <a:blip r:embed="rId3"/>
          <a:srcRect/>
          <a:stretch/>
        </p:blipFill>
        <p:spPr>
          <a:xfrm>
            <a:off x="3992695" y="2917565"/>
            <a:ext cx="215900" cy="101600"/>
          </a:xfrm>
          <a:prstGeom prst="rect">
            <a:avLst/>
          </a:prstGeom>
        </p:spPr>
      </p:pic>
      <p:sp>
        <p:nvSpPr>
          <p:cNvPr id="14" name="Shape 11"/>
          <p:cNvSpPr/>
          <p:nvPr/>
        </p:nvSpPr>
        <p:spPr>
          <a:xfrm>
            <a:off x="4265745" y="2796319"/>
            <a:ext cx="1022416" cy="344157"/>
          </a:xfrm>
          <a:prstGeom prst="roundRect">
            <a:avLst>
              <a:gd name="adj" fmla="val 16606"/>
            </a:avLst>
          </a:prstGeom>
          <a:solidFill>
            <a:srgbClr val="FBFBF8"/>
          </a:solidFill>
          <a:ln w="12700">
            <a:solidFill>
              <a:srgbClr val="14213D"/>
            </a:solidFill>
            <a:prstDash val="solid"/>
          </a:ln>
        </p:spPr>
      </p:sp>
      <p:sp>
        <p:nvSpPr>
          <p:cNvPr id="15" name="Text 12"/>
          <p:cNvSpPr/>
          <p:nvPr/>
        </p:nvSpPr>
        <p:spPr>
          <a:xfrm>
            <a:off x="4360995" y="2866169"/>
            <a:ext cx="882716" cy="229857"/>
          </a:xfrm>
          <a:prstGeom prst="rect">
            <a:avLst/>
          </a:prstGeom>
          <a:noFill/>
          <a:ln/>
        </p:spPr>
        <p:txBody>
          <a:bodyPr wrap="square" lIns="0" tIns="0" rIns="0" bIns="0" rtlCol="0" anchor="t">
            <a:normAutofit/>
          </a:bodyPr>
          <a:lstStyle/>
          <a:p>
            <a:pPr marL="0" indent="0" algn="l">
              <a:lnSpc>
                <a:spcPts val="1610"/>
              </a:lnSpc>
              <a:buNone/>
            </a:pPr>
            <a:r>
              <a:rPr lang="en-US" sz="1150" dirty="0">
                <a:solidFill>
                  <a:srgbClr val="14213D"/>
                </a:solidFill>
                <a:latin typeface="IBM Plex Sans" pitchFamily="34" charset="0"/>
                <a:ea typeface="IBM Plex Sans" pitchFamily="34" charset="-122"/>
                <a:cs typeface="IBM Plex Sans" pitchFamily="34" charset="-120"/>
              </a:rPr>
              <a:t>cavo virtuale</a:t>
            </a:r>
            <a:endParaRPr lang="en-US" sz="1150" dirty="0"/>
          </a:p>
        </p:txBody>
      </p:sp>
      <p:pic>
        <p:nvPicPr>
          <p:cNvPr id="16" name="Image 1" descr="arrow-right"/>
          <p:cNvPicPr>
            <a:picLocks noChangeAspect="1"/>
          </p:cNvPicPr>
          <p:nvPr/>
        </p:nvPicPr>
        <p:blipFill>
          <a:blip r:embed="rId3"/>
          <a:srcRect/>
          <a:stretch/>
        </p:blipFill>
        <p:spPr>
          <a:xfrm>
            <a:off x="5345311" y="2917565"/>
            <a:ext cx="215900" cy="101600"/>
          </a:xfrm>
          <a:prstGeom prst="rect">
            <a:avLst/>
          </a:prstGeom>
        </p:spPr>
      </p:pic>
      <p:sp>
        <p:nvSpPr>
          <p:cNvPr id="17" name="Shape 13"/>
          <p:cNvSpPr/>
          <p:nvPr/>
        </p:nvSpPr>
        <p:spPr>
          <a:xfrm>
            <a:off x="5612011" y="2802669"/>
            <a:ext cx="1013817" cy="331457"/>
          </a:xfrm>
          <a:prstGeom prst="roundRect">
            <a:avLst>
              <a:gd name="adj" fmla="val 19158"/>
            </a:avLst>
          </a:prstGeom>
          <a:solidFill>
            <a:srgbClr val="14213D"/>
          </a:solidFill>
          <a:ln/>
        </p:spPr>
      </p:sp>
      <p:sp>
        <p:nvSpPr>
          <p:cNvPr id="18" name="Text 14"/>
          <p:cNvSpPr/>
          <p:nvPr/>
        </p:nvSpPr>
        <p:spPr>
          <a:xfrm>
            <a:off x="5700911" y="2866169"/>
            <a:ext cx="886817" cy="229857"/>
          </a:xfrm>
          <a:prstGeom prst="rect">
            <a:avLst/>
          </a:prstGeom>
          <a:noFill/>
          <a:ln/>
        </p:spPr>
        <p:txBody>
          <a:bodyPr wrap="square" lIns="0" tIns="0" rIns="0" bIns="0" rtlCol="0" anchor="t">
            <a:normAutofit/>
          </a:bodyPr>
          <a:lstStyle/>
          <a:p>
            <a:pPr marL="0" indent="0" algn="l">
              <a:lnSpc>
                <a:spcPts val="1610"/>
              </a:lnSpc>
              <a:buNone/>
            </a:pPr>
            <a:r>
              <a:rPr lang="en-US" sz="1150" dirty="0">
                <a:solidFill>
                  <a:srgbClr val="FBFBF8"/>
                </a:solidFill>
                <a:latin typeface="IBM Plex Sans" pitchFamily="34" charset="0"/>
                <a:ea typeface="IBM Plex Sans" pitchFamily="34" charset="-122"/>
                <a:cs typeface="IBM Plex Sans" pitchFamily="34" charset="-120"/>
              </a:rPr>
              <a:t>pipeline XDP</a:t>
            </a:r>
            <a:endParaRPr lang="en-US" sz="1150" dirty="0"/>
          </a:p>
        </p:txBody>
      </p:sp>
      <p:pic>
        <p:nvPicPr>
          <p:cNvPr id="19" name="Image 2" descr="arrow-right"/>
          <p:cNvPicPr>
            <a:picLocks noChangeAspect="1"/>
          </p:cNvPicPr>
          <p:nvPr/>
        </p:nvPicPr>
        <p:blipFill>
          <a:blip r:embed="rId3"/>
          <a:srcRect/>
          <a:stretch/>
        </p:blipFill>
        <p:spPr>
          <a:xfrm>
            <a:off x="6676628" y="2917565"/>
            <a:ext cx="215900" cy="101600"/>
          </a:xfrm>
          <a:prstGeom prst="rect">
            <a:avLst/>
          </a:prstGeom>
        </p:spPr>
      </p:pic>
      <p:sp>
        <p:nvSpPr>
          <p:cNvPr id="20" name="Shape 15"/>
          <p:cNvSpPr/>
          <p:nvPr/>
        </p:nvSpPr>
        <p:spPr>
          <a:xfrm>
            <a:off x="6949678" y="2796319"/>
            <a:ext cx="822656" cy="344157"/>
          </a:xfrm>
          <a:prstGeom prst="roundRect">
            <a:avLst>
              <a:gd name="adj" fmla="val 16606"/>
            </a:avLst>
          </a:prstGeom>
          <a:solidFill>
            <a:srgbClr val="FBFBF8"/>
          </a:solidFill>
          <a:ln w="12700">
            <a:solidFill>
              <a:srgbClr val="14213D"/>
            </a:solidFill>
            <a:prstDash val="solid"/>
          </a:ln>
        </p:spPr>
      </p:sp>
      <p:sp>
        <p:nvSpPr>
          <p:cNvPr id="21" name="Text 16"/>
          <p:cNvSpPr/>
          <p:nvPr/>
        </p:nvSpPr>
        <p:spPr>
          <a:xfrm>
            <a:off x="7044928" y="2866169"/>
            <a:ext cx="682956" cy="229857"/>
          </a:xfrm>
          <a:prstGeom prst="rect">
            <a:avLst/>
          </a:prstGeom>
          <a:noFill/>
          <a:ln/>
        </p:spPr>
        <p:txBody>
          <a:bodyPr wrap="square" lIns="0" tIns="0" rIns="0" bIns="0" rtlCol="0" anchor="t">
            <a:normAutofit/>
          </a:bodyPr>
          <a:lstStyle/>
          <a:p>
            <a:pPr marL="0" indent="0" algn="l">
              <a:lnSpc>
                <a:spcPts val="1610"/>
              </a:lnSpc>
              <a:buNone/>
            </a:pPr>
            <a:r>
              <a:rPr lang="en-US" sz="1150" dirty="0">
                <a:solidFill>
                  <a:srgbClr val="14213D"/>
                </a:solidFill>
                <a:latin typeface="IBM Plex Sans" pitchFamily="34" charset="0"/>
                <a:ea typeface="IBM Plex Sans" pitchFamily="34" charset="-122"/>
                <a:cs typeface="IBM Plex Sans" pitchFamily="34" charset="-120"/>
              </a:rPr>
              <a:t>contatore</a:t>
            </a:r>
            <a:endParaRPr lang="en-US" sz="1150" dirty="0"/>
          </a:p>
        </p:txBody>
      </p:sp>
      <p:sp>
        <p:nvSpPr>
          <p:cNvPr id="22" name="Text 17"/>
          <p:cNvSpPr/>
          <p:nvPr/>
        </p:nvSpPr>
        <p:spPr>
          <a:xfrm>
            <a:off x="8204200" y="2745581"/>
            <a:ext cx="3074035" cy="471091"/>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Come si comporta </a:t>
            </a:r>
            <a:r>
              <a:rPr lang="en-US" sz="1300" b="1" dirty="0">
                <a:solidFill>
                  <a:srgbClr val="4A5568"/>
                </a:solidFill>
                <a:latin typeface="IBM Plex Sans" pitchFamily="34" charset="0"/>
                <a:ea typeface="IBM Plex Sans" pitchFamily="34" charset="-122"/>
                <a:cs typeface="IBM Plex Sans" pitchFamily="34" charset="-120"/>
              </a:rPr>
              <a:t>sotto traffico vero</a:t>
            </a:r>
            <a:r>
              <a:rPr lang="en-US" sz="1300" dirty="0">
                <a:solidFill>
                  <a:srgbClr val="4A5568"/>
                </a:solidFill>
                <a:latin typeface="IBM Plex Sans" pitchFamily="34" charset="0"/>
                <a:ea typeface="IBM Plex Sans" pitchFamily="34" charset="-122"/>
                <a:cs typeface="IBM Plex Sans" pitchFamily="34" charset="-120"/>
              </a:rPr>
              <a:t>, e quanto del costo è trasporto.</a:t>
            </a:r>
            <a:endParaRPr lang="en-US" sz="1300" dirty="0"/>
          </a:p>
        </p:txBody>
      </p:sp>
      <p:sp>
        <p:nvSpPr>
          <p:cNvPr id="23" name="Shape 18"/>
          <p:cNvSpPr/>
          <p:nvPr/>
        </p:nvSpPr>
        <p:spPr>
          <a:xfrm>
            <a:off x="812800" y="3470672"/>
            <a:ext cx="10566400" cy="750491"/>
          </a:xfrm>
          <a:prstGeom prst="roundRect">
            <a:avLst>
              <a:gd name="adj" fmla="val 13538"/>
            </a:avLst>
          </a:prstGeom>
          <a:solidFill>
            <a:srgbClr val="14213D"/>
          </a:solidFill>
          <a:ln/>
        </p:spPr>
      </p:sp>
      <p:sp>
        <p:nvSpPr>
          <p:cNvPr id="24" name="Text 19"/>
          <p:cNvSpPr/>
          <p:nvPr/>
        </p:nvSpPr>
        <p:spPr>
          <a:xfrm>
            <a:off x="1003300" y="3735456"/>
            <a:ext cx="1896745" cy="246327"/>
          </a:xfrm>
          <a:prstGeom prst="rect">
            <a:avLst/>
          </a:prstGeom>
          <a:noFill/>
          <a:ln/>
        </p:spPr>
        <p:txBody>
          <a:bodyPr wrap="square" lIns="0" tIns="0" rIns="0" bIns="0" rtlCol="0" anchor="t">
            <a:normAutofit/>
          </a:bodyPr>
          <a:lstStyle/>
          <a:p>
            <a:pPr marL="0" indent="0" algn="l">
              <a:lnSpc>
                <a:spcPts val="1740"/>
              </a:lnSpc>
              <a:buNone/>
            </a:pPr>
            <a:r>
              <a:rPr lang="en-US" sz="1450" b="1" dirty="0">
                <a:solidFill>
                  <a:srgbClr val="E8A87C"/>
                </a:solidFill>
                <a:latin typeface="IBM Plex Sans" pitchFamily="34" charset="0"/>
                <a:ea typeface="IBM Plex Sans" pitchFamily="34" charset="-122"/>
                <a:cs typeface="IBM Plex Sans" pitchFamily="34" charset="-120"/>
              </a:rPr>
              <a:t>3 · Prova di controllo</a:t>
            </a:r>
            <a:endParaRPr lang="en-US" sz="1450" dirty="0"/>
          </a:p>
        </p:txBody>
      </p:sp>
      <p:sp>
        <p:nvSpPr>
          <p:cNvPr id="25" name="Shape 20"/>
          <p:cNvSpPr/>
          <p:nvPr/>
        </p:nvSpPr>
        <p:spPr>
          <a:xfrm>
            <a:off x="3022600" y="3680160"/>
            <a:ext cx="1215099" cy="331457"/>
          </a:xfrm>
          <a:prstGeom prst="roundRect">
            <a:avLst>
              <a:gd name="adj" fmla="val 19158"/>
            </a:avLst>
          </a:prstGeom>
          <a:solidFill>
            <a:srgbClr val="1C2C4F"/>
          </a:solidFill>
          <a:ln/>
        </p:spPr>
      </p:sp>
      <p:sp>
        <p:nvSpPr>
          <p:cNvPr id="26" name="Text 21"/>
          <p:cNvSpPr/>
          <p:nvPr/>
        </p:nvSpPr>
        <p:spPr>
          <a:xfrm>
            <a:off x="3111500" y="3743660"/>
            <a:ext cx="1088099" cy="229857"/>
          </a:xfrm>
          <a:prstGeom prst="rect">
            <a:avLst/>
          </a:prstGeom>
          <a:noFill/>
          <a:ln/>
        </p:spPr>
        <p:txBody>
          <a:bodyPr wrap="square" lIns="0" tIns="0" rIns="0" bIns="0" rtlCol="0" anchor="t">
            <a:normAutofit/>
          </a:bodyPr>
          <a:lstStyle/>
          <a:p>
            <a:pPr marL="0" indent="0" algn="l">
              <a:lnSpc>
                <a:spcPts val="1610"/>
              </a:lnSpc>
              <a:buNone/>
            </a:pPr>
            <a:r>
              <a:rPr lang="en-US" sz="1150" dirty="0">
                <a:solidFill>
                  <a:srgbClr val="BFD8D5"/>
                </a:solidFill>
                <a:latin typeface="IBM Plex Sans" pitchFamily="34" charset="0"/>
                <a:ea typeface="IBM Plex Sans" pitchFamily="34" charset="-122"/>
                <a:cs typeface="IBM Plex Sans" pitchFamily="34" charset="-120"/>
              </a:rPr>
              <a:t>stesso percorso</a:t>
            </a:r>
            <a:endParaRPr lang="en-US" sz="1150" dirty="0"/>
          </a:p>
        </p:txBody>
      </p:sp>
      <p:pic>
        <p:nvPicPr>
          <p:cNvPr id="27" name="Image 3" descr="arrow-right"/>
          <p:cNvPicPr>
            <a:picLocks noChangeAspect="1"/>
          </p:cNvPicPr>
          <p:nvPr/>
        </p:nvPicPr>
        <p:blipFill>
          <a:blip r:embed="rId3"/>
          <a:srcRect/>
          <a:stretch/>
        </p:blipFill>
        <p:spPr>
          <a:xfrm>
            <a:off x="4288499" y="3795055"/>
            <a:ext cx="215900" cy="101600"/>
          </a:xfrm>
          <a:prstGeom prst="rect">
            <a:avLst/>
          </a:prstGeom>
        </p:spPr>
      </p:pic>
      <p:sp>
        <p:nvSpPr>
          <p:cNvPr id="28" name="Shape 22"/>
          <p:cNvSpPr/>
          <p:nvPr/>
        </p:nvSpPr>
        <p:spPr>
          <a:xfrm>
            <a:off x="4555199" y="3680160"/>
            <a:ext cx="1601126" cy="331457"/>
          </a:xfrm>
          <a:prstGeom prst="roundRect">
            <a:avLst>
              <a:gd name="adj" fmla="val 19158"/>
            </a:avLst>
          </a:prstGeom>
          <a:solidFill>
            <a:srgbClr val="1C2C4F"/>
          </a:solidFill>
          <a:ln/>
        </p:spPr>
      </p:sp>
      <p:sp>
        <p:nvSpPr>
          <p:cNvPr id="29" name="Text 23"/>
          <p:cNvSpPr/>
          <p:nvPr/>
        </p:nvSpPr>
        <p:spPr>
          <a:xfrm>
            <a:off x="4644099" y="3743660"/>
            <a:ext cx="1474126" cy="229857"/>
          </a:xfrm>
          <a:prstGeom prst="rect">
            <a:avLst/>
          </a:prstGeom>
          <a:noFill/>
          <a:ln/>
        </p:spPr>
        <p:txBody>
          <a:bodyPr wrap="square" lIns="0" tIns="0" rIns="0" bIns="0" rtlCol="0" anchor="t">
            <a:normAutofit/>
          </a:bodyPr>
          <a:lstStyle/>
          <a:p>
            <a:pPr marL="0" indent="0" algn="l">
              <a:lnSpc>
                <a:spcPts val="1610"/>
              </a:lnSpc>
              <a:buNone/>
            </a:pPr>
            <a:r>
              <a:rPr lang="en-US" sz="1150" b="1" dirty="0">
                <a:solidFill>
                  <a:srgbClr val="E8A87C"/>
                </a:solidFill>
                <a:latin typeface="IBM Plex Sans" pitchFamily="34" charset="0"/>
                <a:ea typeface="IBM Plex Sans" pitchFamily="34" charset="-122"/>
                <a:cs typeface="IBM Plex Sans" pitchFamily="34" charset="-120"/>
              </a:rPr>
              <a:t>nessuna rete neurale</a:t>
            </a:r>
            <a:endParaRPr lang="en-US" sz="1150" dirty="0"/>
          </a:p>
        </p:txBody>
      </p:sp>
      <p:pic>
        <p:nvPicPr>
          <p:cNvPr id="30" name="Image 4" descr="arrow-right"/>
          <p:cNvPicPr>
            <a:picLocks noChangeAspect="1"/>
          </p:cNvPicPr>
          <p:nvPr/>
        </p:nvPicPr>
        <p:blipFill>
          <a:blip r:embed="rId3"/>
          <a:srcRect/>
          <a:stretch/>
        </p:blipFill>
        <p:spPr>
          <a:xfrm>
            <a:off x="6207125" y="3795055"/>
            <a:ext cx="215900" cy="101600"/>
          </a:xfrm>
          <a:prstGeom prst="rect">
            <a:avLst/>
          </a:prstGeom>
        </p:spPr>
      </p:pic>
      <p:sp>
        <p:nvSpPr>
          <p:cNvPr id="31" name="Shape 24"/>
          <p:cNvSpPr/>
          <p:nvPr/>
        </p:nvSpPr>
        <p:spPr>
          <a:xfrm>
            <a:off x="6473825" y="3680160"/>
            <a:ext cx="1099542" cy="331457"/>
          </a:xfrm>
          <a:prstGeom prst="roundRect">
            <a:avLst>
              <a:gd name="adj" fmla="val 19158"/>
            </a:avLst>
          </a:prstGeom>
          <a:solidFill>
            <a:srgbClr val="1C2C4F"/>
          </a:solidFill>
          <a:ln/>
        </p:spPr>
      </p:sp>
      <p:sp>
        <p:nvSpPr>
          <p:cNvPr id="32" name="Text 25"/>
          <p:cNvSpPr/>
          <p:nvPr/>
        </p:nvSpPr>
        <p:spPr>
          <a:xfrm>
            <a:off x="6562725" y="3743660"/>
            <a:ext cx="972542" cy="229857"/>
          </a:xfrm>
          <a:prstGeom prst="rect">
            <a:avLst/>
          </a:prstGeom>
          <a:noFill/>
          <a:ln/>
        </p:spPr>
        <p:txBody>
          <a:bodyPr wrap="square" lIns="0" tIns="0" rIns="0" bIns="0" rtlCol="0" anchor="t">
            <a:normAutofit/>
          </a:bodyPr>
          <a:lstStyle/>
          <a:p>
            <a:pPr marL="0" indent="0" algn="l">
              <a:lnSpc>
                <a:spcPts val="1610"/>
              </a:lnSpc>
              <a:buNone/>
            </a:pPr>
            <a:r>
              <a:rPr lang="en-US" sz="1150" dirty="0">
                <a:solidFill>
                  <a:srgbClr val="BFD8D5"/>
                </a:solidFill>
                <a:latin typeface="IBM Plex Sans" pitchFamily="34" charset="0"/>
                <a:ea typeface="IBM Plex Sans" pitchFamily="34" charset="-122"/>
                <a:cs typeface="IBM Plex Sans" pitchFamily="34" charset="-120"/>
              </a:rPr>
              <a:t>scarta e conta</a:t>
            </a:r>
            <a:endParaRPr lang="en-US" sz="1150" dirty="0"/>
          </a:p>
        </p:txBody>
      </p:sp>
      <p:sp>
        <p:nvSpPr>
          <p:cNvPr id="33" name="Text 26"/>
          <p:cNvSpPr/>
          <p:nvPr/>
        </p:nvSpPr>
        <p:spPr>
          <a:xfrm>
            <a:off x="8204200" y="3623072"/>
            <a:ext cx="3074035" cy="471091"/>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BFD8D5"/>
                </a:solidFill>
                <a:latin typeface="IBM Plex Sans" pitchFamily="34" charset="0"/>
                <a:ea typeface="IBM Plex Sans" pitchFamily="34" charset="-122"/>
                <a:cs typeface="IBM Plex Sans" pitchFamily="34" charset="-120"/>
              </a:rPr>
              <a:t>Qual è il </a:t>
            </a:r>
            <a:r>
              <a:rPr lang="en-US" sz="1300" b="1" dirty="0">
                <a:solidFill>
                  <a:srgbClr val="BFD8D5"/>
                </a:solidFill>
                <a:latin typeface="IBM Plex Sans" pitchFamily="34" charset="0"/>
                <a:ea typeface="IBM Plex Sans" pitchFamily="34" charset="-122"/>
                <a:cs typeface="IBM Plex Sans" pitchFamily="34" charset="-120"/>
              </a:rPr>
              <a:t>limite del banco</a:t>
            </a:r>
            <a:r>
              <a:rPr lang="en-US" sz="1300" dirty="0">
                <a:solidFill>
                  <a:srgbClr val="BFD8D5"/>
                </a:solidFill>
                <a:latin typeface="IBM Plex Sans" pitchFamily="34" charset="0"/>
                <a:ea typeface="IBM Plex Sans" pitchFamily="34" charset="-122"/>
                <a:cs typeface="IBM Plex Sans" pitchFamily="34" charset="-120"/>
              </a:rPr>
              <a:t>, anche se l’inferenza costasse zero.</a:t>
            </a:r>
            <a:endParaRPr lang="en-US" sz="1300" dirty="0"/>
          </a:p>
        </p:txBody>
      </p:sp>
      <p:sp>
        <p:nvSpPr>
          <p:cNvPr id="34" name="Text 27"/>
          <p:cNvSpPr/>
          <p:nvPr/>
        </p:nvSpPr>
        <p:spPr>
          <a:xfrm>
            <a:off x="812800" y="6238280"/>
            <a:ext cx="603783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IBM Plex Sans" pitchFamily="34" charset="0"/>
                <a:ea typeface="IBM Plex Sans" pitchFamily="34" charset="-122"/>
                <a:cs typeface="IBM Plex Sans" pitchFamily="34" charset="-120"/>
              </a:rPr>
              <a:t>I tre risultati restano separati: latenza × pacchetti al secondo </a:t>
            </a:r>
            <a:r>
              <a:rPr lang="en-US" sz="1200" b="1" dirty="0">
                <a:solidFill>
                  <a:srgbClr val="6A7179"/>
                </a:solidFill>
                <a:latin typeface="IBM Plex Sans" pitchFamily="34" charset="0"/>
                <a:ea typeface="IBM Plex Sans" pitchFamily="34" charset="-122"/>
                <a:cs typeface="IBM Plex Sans" pitchFamily="34" charset="-120"/>
              </a:rPr>
              <a:t>non</a:t>
            </a:r>
            <a:r>
              <a:rPr lang="en-US" sz="1200" dirty="0">
                <a:solidFill>
                  <a:srgbClr val="6A7179"/>
                </a:solidFill>
                <a:latin typeface="IBM Plex Sans" pitchFamily="34" charset="0"/>
                <a:ea typeface="IBM Plex Sans" pitchFamily="34" charset="-122"/>
                <a:cs typeface="IBM Plex Sans" pitchFamily="34" charset="-120"/>
              </a:rPr>
              <a:t> è il throughput reale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EF1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marL="0" indent="0" algn="l">
              <a:lnSpc>
                <a:spcPts val="1820"/>
              </a:lnSpc>
              <a:buNone/>
            </a:pPr>
            <a:r>
              <a:rPr lang="en-US" sz="1300" kern="0" spc="100" dirty="0">
                <a:solidFill>
                  <a:srgbClr val="C2410C"/>
                </a:solidFill>
                <a:latin typeface="JetBrains Mono" pitchFamily="34" charset="0"/>
                <a:ea typeface="JetBrains Mono" pitchFamily="34" charset="-122"/>
                <a:cs typeface="JetBrains Mono" pitchFamily="34" charset="-120"/>
              </a:rPr>
              <a:t>COME NON LEGGERE I NUMERI DI THROUGHPUT</a:t>
            </a:r>
            <a:endParaRPr lang="en-US" sz="1300" dirty="0"/>
          </a:p>
        </p:txBody>
      </p:sp>
      <p:sp>
        <p:nvSpPr>
          <p:cNvPr id="3" name="Text 1"/>
          <p:cNvSpPr/>
          <p:nvPr/>
        </p:nvSpPr>
        <p:spPr>
          <a:xfrm>
            <a:off x="812800" y="1107418"/>
            <a:ext cx="10883392" cy="430477"/>
          </a:xfrm>
          <a:prstGeom prst="rect">
            <a:avLst/>
          </a:prstGeom>
          <a:noFill/>
          <a:ln/>
        </p:spPr>
        <p:txBody>
          <a:bodyPr wrap="square" lIns="0" tIns="0" rIns="0" bIns="0" rtlCol="0" anchor="t">
            <a:normAutofit/>
          </a:bodyPr>
          <a:lstStyle/>
          <a:p>
            <a:pPr marL="0" indent="0" algn="l">
              <a:lnSpc>
                <a:spcPts val="3190"/>
              </a:lnSpc>
              <a:buNone/>
            </a:pPr>
            <a:r>
              <a:rPr lang="en-US" sz="2900" b="1" dirty="0">
                <a:solidFill>
                  <a:srgbClr val="14213D"/>
                </a:solidFill>
                <a:latin typeface="IBM Plex Sans" pitchFamily="34" charset="0"/>
                <a:ea typeface="IBM Plex Sans" pitchFamily="34" charset="-122"/>
                <a:cs typeface="IBM Plex Sans" pitchFamily="34" charset="-120"/>
              </a:rPr>
              <a:t>Il limite misurato è del banco, non del nodo</a:t>
            </a:r>
            <a:endParaRPr lang="en-US" sz="2900" dirty="0"/>
          </a:p>
        </p:txBody>
      </p:sp>
      <p:sp>
        <p:nvSpPr>
          <p:cNvPr id="4" name="Shape 2"/>
          <p:cNvSpPr/>
          <p:nvPr/>
        </p:nvSpPr>
        <p:spPr>
          <a:xfrm>
            <a:off x="819150" y="1916311"/>
            <a:ext cx="3052233" cy="1012164"/>
          </a:xfrm>
          <a:prstGeom prst="roundRect">
            <a:avLst>
              <a:gd name="adj" fmla="val 9411"/>
            </a:avLst>
          </a:prstGeom>
          <a:solidFill>
            <a:srgbClr val="FBFBF8"/>
          </a:solidFill>
          <a:ln w="12700">
            <a:solidFill>
              <a:srgbClr val="14213D"/>
            </a:solidFill>
            <a:prstDash val="solid"/>
          </a:ln>
        </p:spPr>
      </p:sp>
      <p:sp>
        <p:nvSpPr>
          <p:cNvPr id="5" name="Text 3"/>
          <p:cNvSpPr/>
          <p:nvPr/>
        </p:nvSpPr>
        <p:spPr>
          <a:xfrm>
            <a:off x="1016000" y="2087761"/>
            <a:ext cx="2738289" cy="2476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6A7179"/>
                </a:solidFill>
                <a:latin typeface="IBM Plex Sans" pitchFamily="34" charset="0"/>
                <a:ea typeface="IBM Plex Sans" pitchFamily="34" charset="-122"/>
                <a:cs typeface="IBM Plex Sans" pitchFamily="34" charset="-120"/>
              </a:rPr>
              <a:t>il generatore prova a offrire</a:t>
            </a:r>
            <a:endParaRPr lang="en-US" sz="1250" dirty="0"/>
          </a:p>
        </p:txBody>
      </p:sp>
      <p:sp>
        <p:nvSpPr>
          <p:cNvPr id="6" name="Text 4"/>
          <p:cNvSpPr/>
          <p:nvPr/>
        </p:nvSpPr>
        <p:spPr>
          <a:xfrm>
            <a:off x="1016000" y="2348111"/>
            <a:ext cx="2738289" cy="434314"/>
          </a:xfrm>
          <a:prstGeom prst="rect">
            <a:avLst/>
          </a:prstGeom>
          <a:noFill/>
          <a:ln/>
        </p:spPr>
        <p:txBody>
          <a:bodyPr wrap="square" lIns="0" tIns="0" rIns="0" bIns="0" rtlCol="0" anchor="t">
            <a:normAutofit/>
          </a:bodyPr>
          <a:lstStyle/>
          <a:p>
            <a:pPr marL="0" indent="0" algn="l">
              <a:lnSpc>
                <a:spcPts val="3220"/>
              </a:lnSpc>
              <a:buNone/>
            </a:pPr>
            <a:r>
              <a:rPr lang="en-US" sz="2300" b="1" dirty="0">
                <a:solidFill>
                  <a:srgbClr val="14213D"/>
                </a:solidFill>
                <a:latin typeface="IBM Plex Sans" pitchFamily="34" charset="0"/>
                <a:ea typeface="IBM Plex Sans" pitchFamily="34" charset="-122"/>
                <a:cs typeface="IBM Plex Sans" pitchFamily="34" charset="-120"/>
              </a:rPr>
              <a:t>~5 Mpps</a:t>
            </a:r>
            <a:endParaRPr lang="en-US" sz="2300" dirty="0"/>
          </a:p>
        </p:txBody>
      </p:sp>
      <p:pic>
        <p:nvPicPr>
          <p:cNvPr id="7" name="Image 0" descr="arrow-right"/>
          <p:cNvPicPr>
            <a:picLocks noChangeAspect="1"/>
          </p:cNvPicPr>
          <p:nvPr/>
        </p:nvPicPr>
        <p:blipFill>
          <a:blip r:embed="rId3"/>
          <a:srcRect/>
          <a:stretch/>
        </p:blipFill>
        <p:spPr>
          <a:xfrm>
            <a:off x="4004733" y="2346201"/>
            <a:ext cx="444500" cy="152400"/>
          </a:xfrm>
          <a:prstGeom prst="rect">
            <a:avLst/>
          </a:prstGeom>
        </p:spPr>
      </p:pic>
      <p:sp>
        <p:nvSpPr>
          <p:cNvPr id="8" name="Shape 5"/>
          <p:cNvSpPr/>
          <p:nvPr/>
        </p:nvSpPr>
        <p:spPr>
          <a:xfrm>
            <a:off x="4576233" y="1690291"/>
            <a:ext cx="3039533" cy="1464204"/>
          </a:xfrm>
          <a:prstGeom prst="roundRect">
            <a:avLst>
              <a:gd name="adj" fmla="val 6939"/>
            </a:avLst>
          </a:prstGeom>
          <a:solidFill>
            <a:srgbClr val="14213D"/>
          </a:solidFill>
          <a:ln/>
        </p:spPr>
      </p:sp>
      <p:sp>
        <p:nvSpPr>
          <p:cNvPr id="9" name="Text 6"/>
          <p:cNvSpPr/>
          <p:nvPr/>
        </p:nvSpPr>
        <p:spPr>
          <a:xfrm>
            <a:off x="4766733" y="1855391"/>
            <a:ext cx="2738289" cy="2476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8FA3BF"/>
                </a:solidFill>
                <a:latin typeface="IBM Plex Sans" pitchFamily="34" charset="0"/>
                <a:ea typeface="IBM Plex Sans" pitchFamily="34" charset="-122"/>
                <a:cs typeface="IBM Plex Sans" pitchFamily="34" charset="-120"/>
              </a:rPr>
              <a:t>il cavo virtuale ne accetta</a:t>
            </a:r>
            <a:endParaRPr lang="en-US" sz="1250" dirty="0"/>
          </a:p>
        </p:txBody>
      </p:sp>
      <p:sp>
        <p:nvSpPr>
          <p:cNvPr id="10" name="Text 7"/>
          <p:cNvSpPr/>
          <p:nvPr/>
        </p:nvSpPr>
        <p:spPr>
          <a:xfrm>
            <a:off x="4766733" y="2115741"/>
            <a:ext cx="2738289" cy="434314"/>
          </a:xfrm>
          <a:prstGeom prst="rect">
            <a:avLst/>
          </a:prstGeom>
          <a:noFill/>
          <a:ln/>
        </p:spPr>
        <p:txBody>
          <a:bodyPr wrap="square" lIns="0" tIns="0" rIns="0" bIns="0" rtlCol="0" anchor="t">
            <a:normAutofit/>
          </a:bodyPr>
          <a:lstStyle/>
          <a:p>
            <a:pPr marL="0" indent="0" algn="l">
              <a:lnSpc>
                <a:spcPts val="3220"/>
              </a:lnSpc>
              <a:buNone/>
            </a:pPr>
            <a:r>
              <a:rPr lang="en-US" sz="2300" b="1" dirty="0">
                <a:solidFill>
                  <a:srgbClr val="E8A87C"/>
                </a:solidFill>
                <a:latin typeface="IBM Plex Sans" pitchFamily="34" charset="0"/>
                <a:ea typeface="IBM Plex Sans" pitchFamily="34" charset="-122"/>
                <a:cs typeface="IBM Plex Sans" pitchFamily="34" charset="-120"/>
              </a:rPr>
              <a:t>~3,7 Mpps</a:t>
            </a:r>
            <a:endParaRPr lang="en-US" sz="2300" dirty="0"/>
          </a:p>
        </p:txBody>
      </p:sp>
      <p:sp>
        <p:nvSpPr>
          <p:cNvPr id="11" name="Text 8"/>
          <p:cNvSpPr/>
          <p:nvPr/>
        </p:nvSpPr>
        <p:spPr>
          <a:xfrm>
            <a:off x="4766733" y="2562758"/>
            <a:ext cx="2738289"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BFD8D5"/>
                </a:solidFill>
                <a:latin typeface="IBM Plex Sans" pitchFamily="34" charset="0"/>
                <a:ea typeface="IBM Plex Sans" pitchFamily="34" charset="-122"/>
                <a:cs typeface="IBM Plex Sans" pitchFamily="34" charset="-120"/>
              </a:rPr>
              <a:t>il resto è </a:t>
            </a:r>
            <a:r>
              <a:rPr lang="en-US" sz="1200" b="1" dirty="0">
                <a:solidFill>
                  <a:srgbClr val="BFD8D5"/>
                </a:solidFill>
                <a:latin typeface="IBM Plex Sans" pitchFamily="34" charset="0"/>
                <a:ea typeface="IBM Plex Sans" pitchFamily="34" charset="-122"/>
                <a:cs typeface="IBM Plex Sans" pitchFamily="34" charset="-120"/>
              </a:rPr>
              <a:t>rifiutato prima</a:t>
            </a:r>
            <a:r>
              <a:rPr lang="en-US" sz="1200" dirty="0">
                <a:solidFill>
                  <a:srgbClr val="BFD8D5"/>
                </a:solidFill>
                <a:latin typeface="IBM Plex Sans" pitchFamily="34" charset="0"/>
                <a:ea typeface="IBM Plex Sans" pitchFamily="34" charset="-122"/>
                <a:cs typeface="IBM Plex Sans" pitchFamily="34" charset="-120"/>
              </a:rPr>
              <a:t> di arrivare alla pipeline</a:t>
            </a:r>
            <a:endParaRPr lang="en-US" sz="1200" dirty="0"/>
          </a:p>
        </p:txBody>
      </p:sp>
      <p:pic>
        <p:nvPicPr>
          <p:cNvPr id="12" name="Image 1" descr="arrow-right"/>
          <p:cNvPicPr>
            <a:picLocks noChangeAspect="1"/>
          </p:cNvPicPr>
          <p:nvPr/>
        </p:nvPicPr>
        <p:blipFill>
          <a:blip r:embed="rId3"/>
          <a:srcRect/>
          <a:stretch/>
        </p:blipFill>
        <p:spPr>
          <a:xfrm>
            <a:off x="7742767" y="2346201"/>
            <a:ext cx="444500" cy="152400"/>
          </a:xfrm>
          <a:prstGeom prst="rect">
            <a:avLst/>
          </a:prstGeom>
        </p:spPr>
      </p:pic>
      <p:sp>
        <p:nvSpPr>
          <p:cNvPr id="13" name="Shape 9"/>
          <p:cNvSpPr/>
          <p:nvPr/>
        </p:nvSpPr>
        <p:spPr>
          <a:xfrm>
            <a:off x="8320617" y="1790576"/>
            <a:ext cx="3052233" cy="1263584"/>
          </a:xfrm>
          <a:prstGeom prst="roundRect">
            <a:avLst>
              <a:gd name="adj" fmla="val 7538"/>
            </a:avLst>
          </a:prstGeom>
          <a:solidFill>
            <a:srgbClr val="FBFBF8"/>
          </a:solidFill>
          <a:ln w="12700">
            <a:solidFill>
              <a:srgbClr val="14213D"/>
            </a:solidFill>
            <a:prstDash val="solid"/>
          </a:ln>
        </p:spPr>
      </p:sp>
      <p:sp>
        <p:nvSpPr>
          <p:cNvPr id="14" name="Text 10"/>
          <p:cNvSpPr/>
          <p:nvPr/>
        </p:nvSpPr>
        <p:spPr>
          <a:xfrm>
            <a:off x="8517467" y="1962026"/>
            <a:ext cx="2738289" cy="2476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6A7179"/>
                </a:solidFill>
                <a:latin typeface="IBM Plex Sans" pitchFamily="34" charset="0"/>
                <a:ea typeface="IBM Plex Sans" pitchFamily="34" charset="-122"/>
                <a:cs typeface="IBM Plex Sans" pitchFamily="34" charset="-120"/>
              </a:rPr>
              <a:t>le pipeline ricevono</a:t>
            </a:r>
            <a:endParaRPr lang="en-US" sz="1250" dirty="0"/>
          </a:p>
        </p:txBody>
      </p:sp>
      <p:sp>
        <p:nvSpPr>
          <p:cNvPr id="15" name="Text 11"/>
          <p:cNvSpPr/>
          <p:nvPr/>
        </p:nvSpPr>
        <p:spPr>
          <a:xfrm>
            <a:off x="8517467" y="2222376"/>
            <a:ext cx="2738289" cy="434314"/>
          </a:xfrm>
          <a:prstGeom prst="rect">
            <a:avLst/>
          </a:prstGeom>
          <a:noFill/>
          <a:ln/>
        </p:spPr>
        <p:txBody>
          <a:bodyPr wrap="square" lIns="0" tIns="0" rIns="0" bIns="0" rtlCol="0" anchor="t">
            <a:normAutofit/>
          </a:bodyPr>
          <a:lstStyle/>
          <a:p>
            <a:pPr marL="0" indent="0" algn="l">
              <a:lnSpc>
                <a:spcPts val="3220"/>
              </a:lnSpc>
              <a:buNone/>
            </a:pPr>
            <a:r>
              <a:rPr lang="en-US" sz="2300" b="1" dirty="0">
                <a:solidFill>
                  <a:srgbClr val="14213D"/>
                </a:solidFill>
                <a:latin typeface="IBM Plex Sans" pitchFamily="34" charset="0"/>
                <a:ea typeface="IBM Plex Sans" pitchFamily="34" charset="-122"/>
                <a:cs typeface="IBM Plex Sans" pitchFamily="34" charset="-120"/>
              </a:rPr>
              <a:t>1,1–1,4 Mpps</a:t>
            </a:r>
            <a:endParaRPr lang="en-US" sz="2300" dirty="0"/>
          </a:p>
        </p:txBody>
      </p:sp>
      <p:sp>
        <p:nvSpPr>
          <p:cNvPr id="16" name="Text 12"/>
          <p:cNvSpPr/>
          <p:nvPr/>
        </p:nvSpPr>
        <p:spPr>
          <a:xfrm>
            <a:off x="8517467" y="2669381"/>
            <a:ext cx="2738289"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2E7D52"/>
                </a:solidFill>
                <a:latin typeface="IBM Plex Sans" pitchFamily="34" charset="0"/>
                <a:ea typeface="IBM Plex Sans" pitchFamily="34" charset="-122"/>
                <a:cs typeface="IBM Plex Sans" pitchFamily="34" charset="-120"/>
              </a:rPr>
              <a:t>perdita 0,000 %</a:t>
            </a:r>
            <a:endParaRPr lang="en-US" sz="1200" dirty="0"/>
          </a:p>
        </p:txBody>
      </p:sp>
      <p:sp>
        <p:nvSpPr>
          <p:cNvPr id="17" name="Shape 13"/>
          <p:cNvSpPr/>
          <p:nvPr/>
        </p:nvSpPr>
        <p:spPr>
          <a:xfrm>
            <a:off x="812800" y="3332299"/>
            <a:ext cx="5194300" cy="1069247"/>
          </a:xfrm>
          <a:prstGeom prst="roundRect">
            <a:avLst>
              <a:gd name="adj" fmla="val 9502"/>
            </a:avLst>
          </a:prstGeom>
          <a:solidFill>
            <a:srgbClr val="FBFBF8"/>
          </a:solidFill>
          <a:ln/>
        </p:spPr>
      </p:sp>
      <p:sp>
        <p:nvSpPr>
          <p:cNvPr id="18" name="Text 14"/>
          <p:cNvSpPr/>
          <p:nvPr/>
        </p:nvSpPr>
        <p:spPr>
          <a:xfrm>
            <a:off x="1003300" y="3497399"/>
            <a:ext cx="4957699"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4213D"/>
                </a:solidFill>
                <a:latin typeface="IBM Plex Sans" pitchFamily="34" charset="0"/>
                <a:ea typeface="IBM Plex Sans" pitchFamily="34" charset="-122"/>
                <a:cs typeface="IBM Plex Sans" pitchFamily="34" charset="-120"/>
              </a:rPr>
              <a:t>La </a:t>
            </a:r>
            <a:r>
              <a:rPr lang="en-US" sz="1400" b="1" i="1" dirty="0">
                <a:solidFill>
                  <a:srgbClr val="14213D"/>
                </a:solidFill>
                <a:latin typeface="IBM Plex Sans" pitchFamily="34" charset="0"/>
                <a:ea typeface="IBM Plex Sans" pitchFamily="34" charset="-122"/>
                <a:cs typeface="IBM Plex Sans" pitchFamily="34" charset="-120"/>
              </a:rPr>
              <a:t>resa</a:t>
            </a:r>
            <a:endParaRPr lang="en-US" sz="1400" dirty="0"/>
          </a:p>
        </p:txBody>
      </p:sp>
      <p:sp>
        <p:nvSpPr>
          <p:cNvPr id="19" name="Text 15"/>
          <p:cNvSpPr/>
          <p:nvPr/>
        </p:nvSpPr>
        <p:spPr>
          <a:xfrm>
            <a:off x="1003300" y="3774219"/>
            <a:ext cx="4957699"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568"/>
                </a:solidFill>
                <a:latin typeface="IBM Plex Sans" pitchFamily="34" charset="0"/>
                <a:ea typeface="IBM Plex Sans" pitchFamily="34" charset="-122"/>
                <a:cs typeface="IBM Plex Sans" pitchFamily="34" charset="-120"/>
              </a:rPr>
              <a:t>pacchetti accettati diviso pacchetti chiesti. Chiedendone 20 Mpps e vedendone accettare 3,4, la resa è circa il </a:t>
            </a:r>
            <a:r>
              <a:rPr lang="en-US" sz="1300" b="1" dirty="0">
                <a:solidFill>
                  <a:srgbClr val="4A5568"/>
                </a:solidFill>
                <a:latin typeface="IBM Plex Sans" pitchFamily="34" charset="0"/>
                <a:ea typeface="IBM Plex Sans" pitchFamily="34" charset="-122"/>
                <a:cs typeface="IBM Plex Sans" pitchFamily="34" charset="-120"/>
              </a:rPr>
              <a:t>17 %</a:t>
            </a:r>
            <a:r>
              <a:rPr lang="en-US" sz="1300" dirty="0">
                <a:solidFill>
                  <a:srgbClr val="4A5568"/>
                </a:solidFill>
                <a:latin typeface="IBM Plex Sans" pitchFamily="34" charset="0"/>
                <a:ea typeface="IBM Plex Sans" pitchFamily="34" charset="-122"/>
                <a:cs typeface="IBM Plex Sans" pitchFamily="34" charset="-120"/>
              </a:rPr>
              <a:t>.</a:t>
            </a:r>
            <a:endParaRPr lang="en-US" sz="1300" dirty="0"/>
          </a:p>
        </p:txBody>
      </p:sp>
      <p:sp>
        <p:nvSpPr>
          <p:cNvPr id="20" name="Shape 16"/>
          <p:cNvSpPr/>
          <p:nvPr/>
        </p:nvSpPr>
        <p:spPr>
          <a:xfrm>
            <a:off x="6184900" y="3332299"/>
            <a:ext cx="5194300" cy="1069247"/>
          </a:xfrm>
          <a:prstGeom prst="roundRect">
            <a:avLst>
              <a:gd name="adj" fmla="val 9502"/>
            </a:avLst>
          </a:prstGeom>
          <a:solidFill>
            <a:srgbClr val="FBFBF8"/>
          </a:solidFill>
          <a:ln/>
        </p:spPr>
      </p:sp>
      <p:sp>
        <p:nvSpPr>
          <p:cNvPr id="21" name="Text 17"/>
          <p:cNvSpPr/>
          <p:nvPr/>
        </p:nvSpPr>
        <p:spPr>
          <a:xfrm>
            <a:off x="6375400" y="3497399"/>
            <a:ext cx="4957699"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4213D"/>
                </a:solidFill>
                <a:latin typeface="IBM Plex Sans" pitchFamily="34" charset="0"/>
                <a:ea typeface="IBM Plex Sans" pitchFamily="34" charset="-122"/>
                <a:cs typeface="IBM Plex Sans" pitchFamily="34" charset="-120"/>
              </a:rPr>
              <a:t>Come l’ho verificato</a:t>
            </a:r>
            <a:endParaRPr lang="en-US" sz="1400" dirty="0"/>
          </a:p>
        </p:txBody>
      </p:sp>
      <p:sp>
        <p:nvSpPr>
          <p:cNvPr id="22" name="Text 18"/>
          <p:cNvSpPr/>
          <p:nvPr/>
        </p:nvSpPr>
        <p:spPr>
          <a:xfrm>
            <a:off x="6375400" y="3774219"/>
            <a:ext cx="4957699" cy="48762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568"/>
                </a:solidFill>
                <a:latin typeface="IBM Plex Sans" pitchFamily="34" charset="0"/>
                <a:ea typeface="IBM Plex Sans" pitchFamily="34" charset="-122"/>
                <a:cs typeface="IBM Plex Sans" pitchFamily="34" charset="-120"/>
              </a:rPr>
              <a:t>Rimisurando lo stesso percorso </a:t>
            </a:r>
            <a:r>
              <a:rPr lang="en-US" sz="1300" b="1" dirty="0">
                <a:solidFill>
                  <a:srgbClr val="4A5568"/>
                </a:solidFill>
                <a:latin typeface="IBM Plex Sans" pitchFamily="34" charset="0"/>
                <a:ea typeface="IBM Plex Sans" pitchFamily="34" charset="-122"/>
                <a:cs typeface="IBM Plex Sans" pitchFamily="34" charset="-120"/>
              </a:rPr>
              <a:t>senza nessuna rete neurale</a:t>
            </a:r>
            <a:r>
              <a:rPr lang="en-US" sz="1300" dirty="0">
                <a:solidFill>
                  <a:srgbClr val="4A5568"/>
                </a:solidFill>
                <a:latin typeface="IBM Plex Sans" pitchFamily="34" charset="0"/>
                <a:ea typeface="IBM Plex Sans" pitchFamily="34" charset="-122"/>
                <a:cs typeface="IBM Plex Sans" pitchFamily="34" charset="-120"/>
              </a:rPr>
              <a:t>: il tetto resta 3,7 Mpps. Quindi non è l’inferenza a fermarlo.</a:t>
            </a:r>
            <a:endParaRPr lang="en-US" sz="1300" dirty="0"/>
          </a:p>
        </p:txBody>
      </p:sp>
      <p:sp>
        <p:nvSpPr>
          <p:cNvPr id="23" name="Shape 19"/>
          <p:cNvSpPr/>
          <p:nvPr/>
        </p:nvSpPr>
        <p:spPr>
          <a:xfrm>
            <a:off x="812800" y="4579342"/>
            <a:ext cx="10566400" cy="845741"/>
          </a:xfrm>
          <a:prstGeom prst="roundRect">
            <a:avLst>
              <a:gd name="adj" fmla="val 12013"/>
            </a:avLst>
          </a:prstGeom>
          <a:solidFill>
            <a:srgbClr val="14213D"/>
          </a:solidFill>
          <a:ln/>
        </p:spPr>
      </p:sp>
      <p:sp>
        <p:nvSpPr>
          <p:cNvPr id="24" name="Text 20"/>
          <p:cNvSpPr/>
          <p:nvPr/>
        </p:nvSpPr>
        <p:spPr>
          <a:xfrm>
            <a:off x="889762" y="4744442"/>
            <a:ext cx="10412476" cy="540941"/>
          </a:xfrm>
          <a:prstGeom prst="rect">
            <a:avLst/>
          </a:prstGeom>
          <a:noFill/>
          <a:ln/>
        </p:spPr>
        <p:txBody>
          <a:bodyPr wrap="square" lIns="0" tIns="0" rIns="0" bIns="0" rtlCol="0" anchor="t">
            <a:normAutofit/>
          </a:bodyPr>
          <a:lstStyle/>
          <a:p>
            <a:pPr marL="0" indent="0" algn="ctr">
              <a:lnSpc>
                <a:spcPts val="2030"/>
              </a:lnSpc>
              <a:buNone/>
            </a:pPr>
            <a:r>
              <a:rPr lang="en-US" sz="1450" dirty="0">
                <a:solidFill>
                  <a:srgbClr val="FBFBF8"/>
                </a:solidFill>
                <a:latin typeface="IBM Plex Sans" pitchFamily="34" charset="0"/>
                <a:ea typeface="IBM Plex Sans" pitchFamily="34" charset="-122"/>
                <a:cs typeface="IBM Plex Sans" pitchFamily="34" charset="-120"/>
              </a:rPr>
              <a:t>Gli 1,1–1,4 Mpps </a:t>
            </a:r>
            <a:r>
              <a:rPr lang="en-US" sz="1450" b="1" dirty="0">
                <a:solidFill>
                  <a:srgbClr val="FBFBF8"/>
                </a:solidFill>
                <a:latin typeface="IBM Plex Sans" pitchFamily="34" charset="0"/>
                <a:ea typeface="IBM Plex Sans" pitchFamily="34" charset="-122"/>
                <a:cs typeface="IBM Plex Sans" pitchFamily="34" charset="-120"/>
              </a:rPr>
              <a:t>non sono il massimo del nodo</a:t>
            </a:r>
            <a:r>
              <a:rPr lang="en-US" sz="1450" dirty="0">
                <a:solidFill>
                  <a:srgbClr val="FBFBF8"/>
                </a:solidFill>
                <a:latin typeface="IBM Plex Sans" pitchFamily="34" charset="0"/>
                <a:ea typeface="IBM Plex Sans" pitchFamily="34" charset="-122"/>
                <a:cs typeface="IBM Plex Sans" pitchFamily="34" charset="-120"/>
              </a:rPr>
              <a:t>: sono tutto ciò che il banco riesce a consegnargli.</a:t>
            </a:r>
            <a:endParaRPr lang="en-US" sz="1450" dirty="0"/>
          </a:p>
          <a:p>
            <a:pPr marL="0" indent="0" algn="ctr">
              <a:lnSpc>
                <a:spcPts val="2030"/>
              </a:lnSpc>
              <a:buNone/>
            </a:pPr>
            <a:r>
              <a:rPr lang="en-US" sz="1450" dirty="0">
                <a:solidFill>
                  <a:srgbClr val="FBFBF8"/>
                </a:solidFill>
                <a:latin typeface="IBM Plex Sans" pitchFamily="34" charset="0"/>
                <a:ea typeface="IBM Plex Sans" pitchFamily="34" charset="-122"/>
                <a:cs typeface="IBM Plex Sans" pitchFamily="34" charset="-120"/>
              </a:rPr>
              <a:t>Con perdita nulla ovunque, il nodo non è mai stato messo sotto sforzo.</a:t>
            </a:r>
            <a:endParaRPr lang="en-US" sz="1450" dirty="0"/>
          </a:p>
        </p:txBody>
      </p:sp>
      <p:sp>
        <p:nvSpPr>
          <p:cNvPr id="25" name="Text 21"/>
          <p:cNvSpPr/>
          <p:nvPr/>
        </p:nvSpPr>
        <p:spPr>
          <a:xfrm>
            <a:off x="812800" y="6238280"/>
            <a:ext cx="5448237"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IBM Plex Sans" pitchFamily="34" charset="0"/>
                <a:ea typeface="IBM Plex Sans" pitchFamily="34" charset="-122"/>
                <a:cs typeface="IBM Plex Sans" pitchFamily="34" charset="-120"/>
              </a:rPr>
              <a:t>Generatore, nodo e contatore sulla stessa macchina virtuale, su CPU separate</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BFBF8"/>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43284"/>
          </a:xfrm>
          <a:prstGeom prst="rect">
            <a:avLst/>
          </a:prstGeom>
          <a:noFill/>
          <a:ln/>
        </p:spPr>
        <p:txBody>
          <a:bodyPr wrap="square" lIns="0" tIns="0" rIns="0" bIns="0" rtlCol="0" anchor="t">
            <a:normAutofit/>
          </a:bodyPr>
          <a:lstStyle/>
          <a:p>
            <a:pPr marL="0" indent="0" algn="l">
              <a:lnSpc>
                <a:spcPts val="1723"/>
              </a:lnSpc>
              <a:buNone/>
            </a:pPr>
            <a:r>
              <a:rPr lang="en-US" sz="1231" kern="0" spc="100" dirty="0">
                <a:solidFill>
                  <a:srgbClr val="C2410C"/>
                </a:solidFill>
                <a:latin typeface="JetBrains Mono" pitchFamily="34" charset="0"/>
                <a:ea typeface="JetBrains Mono" pitchFamily="34" charset="-122"/>
                <a:cs typeface="JetBrains Mono" pitchFamily="34" charset="-120"/>
              </a:rPr>
              <a:t>SEPARARE DUE COSTI</a:t>
            </a:r>
            <a:endParaRPr lang="en-US" sz="1231" dirty="0"/>
          </a:p>
        </p:txBody>
      </p:sp>
      <p:sp>
        <p:nvSpPr>
          <p:cNvPr id="3" name="Text 1"/>
          <p:cNvSpPr/>
          <p:nvPr/>
        </p:nvSpPr>
        <p:spPr>
          <a:xfrm>
            <a:off x="812800" y="1094184"/>
            <a:ext cx="10883392" cy="789384"/>
          </a:xfrm>
          <a:prstGeom prst="rect">
            <a:avLst/>
          </a:prstGeom>
          <a:noFill/>
          <a:ln/>
        </p:spPr>
        <p:txBody>
          <a:bodyPr wrap="square" lIns="0" tIns="0" rIns="0" bIns="0" rtlCol="0" anchor="t">
            <a:normAutofit/>
          </a:bodyPr>
          <a:lstStyle/>
          <a:p>
            <a:pPr marL="0" indent="0" algn="l">
              <a:lnSpc>
                <a:spcPts val="3011"/>
              </a:lnSpc>
              <a:buNone/>
            </a:pPr>
            <a:r>
              <a:rPr lang="en-US" sz="2737" b="1" dirty="0">
                <a:solidFill>
                  <a:srgbClr val="14213D"/>
                </a:solidFill>
                <a:latin typeface="IBM Plex Sans" pitchFamily="34" charset="0"/>
                <a:ea typeface="IBM Plex Sans" pitchFamily="34" charset="-122"/>
                <a:cs typeface="IBM Plex Sans" pitchFamily="34" charset="-120"/>
              </a:rPr>
              <a:t>Una misura da capo a capo attribuisce all’inferenza ciò che è trasporto</a:t>
            </a:r>
            <a:endParaRPr lang="en-US" sz="2737" dirty="0"/>
          </a:p>
        </p:txBody>
      </p:sp>
      <p:sp>
        <p:nvSpPr>
          <p:cNvPr id="4" name="Shape 2"/>
          <p:cNvSpPr/>
          <p:nvPr/>
        </p:nvSpPr>
        <p:spPr>
          <a:xfrm>
            <a:off x="812800" y="2035448"/>
            <a:ext cx="983655" cy="493977"/>
          </a:xfrm>
          <a:prstGeom prst="roundRect">
            <a:avLst>
              <a:gd name="adj" fmla="val 17997"/>
            </a:avLst>
          </a:prstGeom>
          <a:solidFill>
            <a:srgbClr val="14213D"/>
          </a:solidFill>
          <a:ln/>
        </p:spPr>
      </p:sp>
      <p:sp>
        <p:nvSpPr>
          <p:cNvPr id="5" name="Text 3"/>
          <p:cNvSpPr/>
          <p:nvPr/>
        </p:nvSpPr>
        <p:spPr>
          <a:xfrm>
            <a:off x="977900" y="2162448"/>
            <a:ext cx="704255" cy="265377"/>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BFBF8"/>
                </a:solidFill>
                <a:latin typeface="IBM Plex Sans" pitchFamily="34" charset="0"/>
                <a:ea typeface="IBM Plex Sans" pitchFamily="34" charset="-122"/>
                <a:cs typeface="IBM Plex Sans" pitchFamily="34" charset="-120"/>
              </a:rPr>
              <a:t>T₁</a:t>
            </a:r>
            <a:r>
              <a:rPr lang="en-US" sz="1350" dirty="0">
                <a:solidFill>
                  <a:srgbClr val="FBFBF8"/>
                </a:solidFill>
                <a:latin typeface="IBM Plex Sans" pitchFamily="34" charset="0"/>
                <a:ea typeface="IBM Plex Sans" pitchFamily="34" charset="-122"/>
                <a:cs typeface="IBM Plex Sans" pitchFamily="34" charset="-120"/>
              </a:rPr>
              <a:t>  entra</a:t>
            </a:r>
            <a:endParaRPr lang="en-US" sz="1350" dirty="0"/>
          </a:p>
        </p:txBody>
      </p:sp>
      <p:sp>
        <p:nvSpPr>
          <p:cNvPr id="6" name="Text 4"/>
          <p:cNvSpPr/>
          <p:nvPr/>
        </p:nvSpPr>
        <p:spPr>
          <a:xfrm>
            <a:off x="2785666" y="2077975"/>
            <a:ext cx="1448792" cy="256514"/>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C2410C"/>
                </a:solidFill>
                <a:latin typeface="IBM Plex Sans" pitchFamily="34" charset="0"/>
                <a:ea typeface="IBM Plex Sans" pitchFamily="34" charset="-122"/>
                <a:cs typeface="IBM Plex Sans" pitchFamily="34" charset="-120"/>
              </a:rPr>
              <a:t>T₂−T₁ = la pipeline</a:t>
            </a:r>
            <a:endParaRPr lang="en-US" sz="1300" dirty="0"/>
          </a:p>
        </p:txBody>
      </p:sp>
      <p:pic>
        <p:nvPicPr>
          <p:cNvPr id="7" name="Image 0" descr="arrow-right"/>
          <p:cNvPicPr>
            <a:picLocks noChangeAspect="1"/>
          </p:cNvPicPr>
          <p:nvPr/>
        </p:nvPicPr>
        <p:blipFill>
          <a:blip r:embed="rId3"/>
          <a:srcRect/>
          <a:stretch/>
        </p:blipFill>
        <p:spPr>
          <a:xfrm>
            <a:off x="2722629" y="2347193"/>
            <a:ext cx="1524000" cy="139700"/>
          </a:xfrm>
          <a:prstGeom prst="rect">
            <a:avLst/>
          </a:prstGeom>
        </p:spPr>
      </p:pic>
      <p:sp>
        <p:nvSpPr>
          <p:cNvPr id="8" name="Shape 5"/>
          <p:cNvSpPr/>
          <p:nvPr/>
        </p:nvSpPr>
        <p:spPr>
          <a:xfrm>
            <a:off x="5172869" y="2035448"/>
            <a:ext cx="1815240" cy="493977"/>
          </a:xfrm>
          <a:prstGeom prst="roundRect">
            <a:avLst>
              <a:gd name="adj" fmla="val 17997"/>
            </a:avLst>
          </a:prstGeom>
          <a:solidFill>
            <a:srgbClr val="14213D"/>
          </a:solidFill>
          <a:ln/>
        </p:spPr>
      </p:sp>
      <p:sp>
        <p:nvSpPr>
          <p:cNvPr id="9" name="Text 6"/>
          <p:cNvSpPr/>
          <p:nvPr/>
        </p:nvSpPr>
        <p:spPr>
          <a:xfrm>
            <a:off x="5337969" y="2162448"/>
            <a:ext cx="1535840" cy="265377"/>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BFBF8"/>
                </a:solidFill>
                <a:latin typeface="IBM Plex Sans" pitchFamily="34" charset="0"/>
                <a:ea typeface="IBM Plex Sans" pitchFamily="34" charset="-122"/>
                <a:cs typeface="IBM Plex Sans" pitchFamily="34" charset="-120"/>
              </a:rPr>
              <a:t>T₂</a:t>
            </a:r>
            <a:r>
              <a:rPr lang="en-US" sz="1350" dirty="0">
                <a:solidFill>
                  <a:srgbClr val="FBFBF8"/>
                </a:solidFill>
                <a:latin typeface="IBM Plex Sans" pitchFamily="34" charset="0"/>
                <a:ea typeface="IBM Plex Sans" pitchFamily="34" charset="-122"/>
                <a:cs typeface="IBM Plex Sans" pitchFamily="34" charset="-120"/>
              </a:rPr>
              <a:t>  finita l’inferenza</a:t>
            </a:r>
            <a:endParaRPr lang="en-US" sz="1350" dirty="0"/>
          </a:p>
        </p:txBody>
      </p:sp>
      <p:sp>
        <p:nvSpPr>
          <p:cNvPr id="10" name="Text 7"/>
          <p:cNvSpPr/>
          <p:nvPr/>
        </p:nvSpPr>
        <p:spPr>
          <a:xfrm>
            <a:off x="7953772" y="2077975"/>
            <a:ext cx="1495888" cy="256514"/>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6A7179"/>
                </a:solidFill>
                <a:latin typeface="IBM Plex Sans" pitchFamily="34" charset="0"/>
                <a:ea typeface="IBM Plex Sans" pitchFamily="34" charset="-122"/>
                <a:cs typeface="IBM Plex Sans" pitchFamily="34" charset="-120"/>
              </a:rPr>
              <a:t>T₃−T₂ = il trasporto</a:t>
            </a:r>
            <a:endParaRPr lang="en-US" sz="1300" dirty="0"/>
          </a:p>
        </p:txBody>
      </p:sp>
      <p:pic>
        <p:nvPicPr>
          <p:cNvPr id="11" name="Image 1" descr="arrow-right"/>
          <p:cNvPicPr>
            <a:picLocks noChangeAspect="1"/>
          </p:cNvPicPr>
          <p:nvPr/>
        </p:nvPicPr>
        <p:blipFill>
          <a:blip r:embed="rId4"/>
          <a:srcRect/>
          <a:stretch/>
        </p:blipFill>
        <p:spPr>
          <a:xfrm>
            <a:off x="7914349" y="2347193"/>
            <a:ext cx="1524000" cy="139700"/>
          </a:xfrm>
          <a:prstGeom prst="rect">
            <a:avLst/>
          </a:prstGeom>
        </p:spPr>
      </p:pic>
      <p:sp>
        <p:nvSpPr>
          <p:cNvPr id="12" name="Shape 8"/>
          <p:cNvSpPr/>
          <p:nvPr/>
        </p:nvSpPr>
        <p:spPr>
          <a:xfrm>
            <a:off x="10364589" y="2035448"/>
            <a:ext cx="1014611" cy="493977"/>
          </a:xfrm>
          <a:prstGeom prst="roundRect">
            <a:avLst>
              <a:gd name="adj" fmla="val 17997"/>
            </a:avLst>
          </a:prstGeom>
          <a:solidFill>
            <a:srgbClr val="14213D"/>
          </a:solidFill>
          <a:ln/>
        </p:spPr>
      </p:sp>
      <p:sp>
        <p:nvSpPr>
          <p:cNvPr id="13" name="Text 9"/>
          <p:cNvSpPr/>
          <p:nvPr/>
        </p:nvSpPr>
        <p:spPr>
          <a:xfrm>
            <a:off x="10529689" y="2162448"/>
            <a:ext cx="735211" cy="265377"/>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BFBF8"/>
                </a:solidFill>
                <a:latin typeface="IBM Plex Sans" pitchFamily="34" charset="0"/>
                <a:ea typeface="IBM Plex Sans" pitchFamily="34" charset="-122"/>
                <a:cs typeface="IBM Plex Sans" pitchFamily="34" charset="-120"/>
              </a:rPr>
              <a:t>T₃</a:t>
            </a:r>
            <a:r>
              <a:rPr lang="en-US" sz="1350" dirty="0">
                <a:solidFill>
                  <a:srgbClr val="FBFBF8"/>
                </a:solidFill>
                <a:latin typeface="IBM Plex Sans" pitchFamily="34" charset="0"/>
                <a:ea typeface="IBM Plex Sans" pitchFamily="34" charset="-122"/>
                <a:cs typeface="IBM Plex Sans" pitchFamily="34" charset="-120"/>
              </a:rPr>
              <a:t>  arriva</a:t>
            </a:r>
            <a:endParaRPr lang="en-US" sz="13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812800" y="2706688"/>
          <a:ext cx="10566400" cy="1956925"/>
        </p:xfrm>
        <a:graphic>
          <a:graphicData uri="http://schemas.openxmlformats.org/drawingml/2006/table">
            <a:tbl>
              <a:tblPr/>
              <a:tblGrid>
                <a:gridCol w="3592576">
                  <a:extLst>
                    <a:ext uri="{9D8B030D-6E8A-4147-A177-3AD203B41FA5}">
                      <a16:colId xmlns:a16="http://schemas.microsoft.com/office/drawing/2014/main" val="20000"/>
                    </a:ext>
                  </a:extLst>
                </a:gridCol>
                <a:gridCol w="2324608">
                  <a:extLst>
                    <a:ext uri="{9D8B030D-6E8A-4147-A177-3AD203B41FA5}">
                      <a16:colId xmlns:a16="http://schemas.microsoft.com/office/drawing/2014/main" val="20001"/>
                    </a:ext>
                  </a:extLst>
                </a:gridCol>
                <a:gridCol w="2324608">
                  <a:extLst>
                    <a:ext uri="{9D8B030D-6E8A-4147-A177-3AD203B41FA5}">
                      <a16:colId xmlns:a16="http://schemas.microsoft.com/office/drawing/2014/main" val="20002"/>
                    </a:ext>
                  </a:extLst>
                </a:gridCol>
                <a:gridCol w="2324608">
                  <a:extLst>
                    <a:ext uri="{9D8B030D-6E8A-4147-A177-3AD203B41FA5}">
                      <a16:colId xmlns:a16="http://schemas.microsoft.com/office/drawing/2014/main" val="20003"/>
                    </a:ext>
                  </a:extLst>
                </a:gridCol>
              </a:tblGrid>
              <a:tr h="391385">
                <a:tc>
                  <a:txBody>
                    <a:bodyPr/>
                    <a:lstStyle/>
                    <a:p>
                      <a:pPr marL="0" indent="0">
                        <a:lnSpc>
                          <a:spcPts val="1988"/>
                        </a:lnSpc>
                        <a:buNone/>
                      </a:pPr>
                      <a:r>
                        <a:rPr lang="en-US" sz="1420" b="1" dirty="0">
                          <a:solidFill>
                            <a:srgbClr val="FBFBF8"/>
                          </a:solidFill>
                          <a:latin typeface="IBM Plex Sans" pitchFamily="34" charset="0"/>
                          <a:ea typeface="IBM Plex Sans" pitchFamily="34" charset="-122"/>
                          <a:cs typeface="IBM Plex Sans" pitchFamily="34" charset="-120"/>
                        </a:rPr>
                        <a:t>Versione</a:t>
                      </a:r>
                      <a:endParaRPr lang="en-US" sz="1420" dirty="0">
                        <a:latin typeface="IBM Plex Sans" charset="0"/>
                        <a:ea typeface="IBM Plex Sans" charset="0"/>
                        <a:cs typeface="IBM Plex Sans" charset="0"/>
                      </a:endParaRPr>
                    </a:p>
                  </a:txBody>
                  <a:tcPr marL="63133" marR="63133" marT="63133" marB="63133">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marL="0" indent="0" algn="r">
                        <a:lnSpc>
                          <a:spcPts val="1988"/>
                        </a:lnSpc>
                        <a:buNone/>
                      </a:pPr>
                      <a:r>
                        <a:rPr lang="en-US" sz="1420" b="1" dirty="0">
                          <a:solidFill>
                            <a:srgbClr val="FBFBF8"/>
                          </a:solidFill>
                          <a:latin typeface="IBM Plex Sans" pitchFamily="34" charset="0"/>
                          <a:ea typeface="IBM Plex Sans" pitchFamily="34" charset="-122"/>
                          <a:cs typeface="IBM Plex Sans" pitchFamily="34" charset="-120"/>
                        </a:rPr>
                        <a:t>Pipeline</a:t>
                      </a:r>
                      <a:endParaRPr lang="en-US" sz="1420" dirty="0">
                        <a:latin typeface="IBM Plex Sans" charset="0"/>
                        <a:ea typeface="IBM Plex Sans" charset="0"/>
                        <a:cs typeface="IBM Plex Sans" charset="0"/>
                      </a:endParaRPr>
                    </a:p>
                  </a:txBody>
                  <a:tcPr marL="63133" marR="63133" marT="63133" marB="63133">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marL="0" indent="0" algn="r">
                        <a:lnSpc>
                          <a:spcPts val="1988"/>
                        </a:lnSpc>
                        <a:buNone/>
                      </a:pPr>
                      <a:r>
                        <a:rPr lang="en-US" sz="1420" b="1" dirty="0">
                          <a:solidFill>
                            <a:srgbClr val="FBFBF8"/>
                          </a:solidFill>
                          <a:latin typeface="IBM Plex Sans" pitchFamily="34" charset="0"/>
                          <a:ea typeface="IBM Plex Sans" pitchFamily="34" charset="-122"/>
                          <a:cs typeface="IBM Plex Sans" pitchFamily="34" charset="-120"/>
                        </a:rPr>
                        <a:t>Trasporto</a:t>
                      </a:r>
                      <a:endParaRPr lang="en-US" sz="1420" dirty="0">
                        <a:latin typeface="IBM Plex Sans" charset="0"/>
                        <a:ea typeface="IBM Plex Sans" charset="0"/>
                        <a:cs typeface="IBM Plex Sans" charset="0"/>
                      </a:endParaRPr>
                    </a:p>
                  </a:txBody>
                  <a:tcPr marL="63133" marR="63133" marT="63133" marB="63133">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marL="0" indent="0" algn="r">
                        <a:lnSpc>
                          <a:spcPts val="1988"/>
                        </a:lnSpc>
                        <a:buNone/>
                      </a:pPr>
                      <a:r>
                        <a:rPr lang="en-US" sz="1420" b="1" dirty="0">
                          <a:solidFill>
                            <a:srgbClr val="FBFBF8"/>
                          </a:solidFill>
                          <a:latin typeface="IBM Plex Sans" pitchFamily="34" charset="0"/>
                          <a:ea typeface="IBM Plex Sans" pitchFamily="34" charset="-122"/>
                          <a:cs typeface="IBM Plex Sans" pitchFamily="34" charset="-120"/>
                        </a:rPr>
                        <a:t>Da capo a capo</a:t>
                      </a:r>
                      <a:endParaRPr lang="en-US" sz="1420" dirty="0">
                        <a:latin typeface="IBM Plex Sans" charset="0"/>
                        <a:ea typeface="IBM Plex Sans" charset="0"/>
                        <a:cs typeface="IBM Plex Sans" charset="0"/>
                      </a:endParaRPr>
                    </a:p>
                  </a:txBody>
                  <a:tcPr marL="63133" marR="63133" marT="63133" marB="63133">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391385">
                <a:tc>
                  <a:txBody>
                    <a:bodyPr/>
                    <a:lstStyle/>
                    <a:p>
                      <a:pPr marL="0" indent="0">
                        <a:lnSpc>
                          <a:spcPts val="1988"/>
                        </a:lnSpc>
                        <a:buNone/>
                      </a:pPr>
                      <a:r>
                        <a:rPr lang="en-US" sz="1420" dirty="0">
                          <a:solidFill>
                            <a:srgbClr val="14213D"/>
                          </a:solidFill>
                          <a:latin typeface="IBM Plex Sans" pitchFamily="34" charset="0"/>
                          <a:ea typeface="IBM Plex Sans" pitchFamily="34" charset="-122"/>
                          <a:cs typeface="IBM Plex Sans" pitchFamily="34" charset="-120"/>
                        </a:rPr>
                        <a:t>baseline (nessuna rete)</a:t>
                      </a:r>
                      <a:endParaRPr lang="en-US" sz="1420" dirty="0">
                        <a:latin typeface="IBM Plex Sans" charset="0"/>
                        <a:ea typeface="IBM Plex Sans" charset="0"/>
                        <a:cs typeface="IBM Plex Sans" charset="0"/>
                      </a:endParaRPr>
                    </a:p>
                  </a:txBody>
                  <a:tcPr marL="63133" marR="63133" marT="63133" marB="63133">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marL="0" indent="0" algn="r">
                        <a:lnSpc>
                          <a:spcPts val="1988"/>
                        </a:lnSpc>
                        <a:buNone/>
                      </a:pPr>
                      <a:r>
                        <a:rPr lang="en-US" sz="1420" dirty="0">
                          <a:solidFill>
                            <a:srgbClr val="14213D"/>
                          </a:solidFill>
                          <a:latin typeface="IBM Plex Sans" pitchFamily="34" charset="0"/>
                          <a:ea typeface="IBM Plex Sans" pitchFamily="34" charset="-122"/>
                          <a:cs typeface="IBM Plex Sans" pitchFamily="34" charset="-120"/>
                        </a:rPr>
                        <a:t>27 ns</a:t>
                      </a:r>
                      <a:endParaRPr lang="en-US" sz="1420" dirty="0">
                        <a:latin typeface="IBM Plex Sans" charset="0"/>
                        <a:ea typeface="IBM Plex Sans" charset="0"/>
                        <a:cs typeface="IBM Plex Sans" charset="0"/>
                      </a:endParaRPr>
                    </a:p>
                  </a:txBody>
                  <a:tcPr marL="63133" marR="63133" marT="63133" marB="63133">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marL="0" indent="0" algn="r">
                        <a:lnSpc>
                          <a:spcPts val="1988"/>
                        </a:lnSpc>
                        <a:buNone/>
                      </a:pPr>
                      <a:r>
                        <a:rPr lang="en-US" sz="1420" dirty="0">
                          <a:solidFill>
                            <a:srgbClr val="14213D"/>
                          </a:solidFill>
                          <a:latin typeface="IBM Plex Sans" pitchFamily="34" charset="0"/>
                          <a:ea typeface="IBM Plex Sans" pitchFamily="34" charset="-122"/>
                          <a:cs typeface="IBM Plex Sans" pitchFamily="34" charset="-120"/>
                        </a:rPr>
                        <a:t>195 ns</a:t>
                      </a:r>
                      <a:endParaRPr lang="en-US" sz="1420" dirty="0">
                        <a:latin typeface="IBM Plex Sans" charset="0"/>
                        <a:ea typeface="IBM Plex Sans" charset="0"/>
                        <a:cs typeface="IBM Plex Sans" charset="0"/>
                      </a:endParaRPr>
                    </a:p>
                  </a:txBody>
                  <a:tcPr marL="63133" marR="63133" marT="63133" marB="63133">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marL="0" indent="0" algn="r">
                        <a:lnSpc>
                          <a:spcPts val="1988"/>
                        </a:lnSpc>
                        <a:buNone/>
                      </a:pPr>
                      <a:r>
                        <a:rPr lang="en-US" sz="1420" dirty="0">
                          <a:solidFill>
                            <a:srgbClr val="14213D"/>
                          </a:solidFill>
                          <a:latin typeface="IBM Plex Sans" pitchFamily="34" charset="0"/>
                          <a:ea typeface="IBM Plex Sans" pitchFamily="34" charset="-122"/>
                          <a:cs typeface="IBM Plex Sans" pitchFamily="34" charset="-120"/>
                        </a:rPr>
                        <a:t>224 ns</a:t>
                      </a:r>
                      <a:endParaRPr lang="en-US" sz="1420" dirty="0">
                        <a:latin typeface="IBM Plex Sans" charset="0"/>
                        <a:ea typeface="IBM Plex Sans" charset="0"/>
                        <a:cs typeface="IBM Plex Sans" charset="0"/>
                      </a:endParaRPr>
                    </a:p>
                  </a:txBody>
                  <a:tcPr marL="63133" marR="63133" marT="63133" marB="63133">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extLst>
                  <a:ext uri="{0D108BD9-81ED-4DB2-BD59-A6C34878D82A}">
                    <a16:rowId xmlns:a16="http://schemas.microsoft.com/office/drawing/2014/main" val="10001"/>
                  </a:ext>
                </a:extLst>
              </a:tr>
              <a:tr h="391385">
                <a:tc>
                  <a:txBody>
                    <a:bodyPr/>
                    <a:lstStyle/>
                    <a:p>
                      <a:pPr marL="0" indent="0">
                        <a:lnSpc>
                          <a:spcPts val="1988"/>
                        </a:lnSpc>
                        <a:buNone/>
                      </a:pPr>
                      <a:r>
                        <a:rPr lang="en-US" sz="1420" dirty="0">
                          <a:solidFill>
                            <a:srgbClr val="14213D"/>
                          </a:solidFill>
                          <a:latin typeface="IBM Plex Sans" pitchFamily="34" charset="0"/>
                          <a:ea typeface="IBM Plex Sans" pitchFamily="34" charset="-122"/>
                          <a:cs typeface="IBM Plex Sans" pitchFamily="34" charset="-120"/>
                        </a:rPr>
                        <a:t>P1 p1_static</a:t>
                      </a:r>
                      <a:endParaRPr lang="en-US" sz="1420" dirty="0">
                        <a:latin typeface="IBM Plex Sans" charset="0"/>
                        <a:ea typeface="IBM Plex Sans" charset="0"/>
                        <a:cs typeface="IBM Plex Sans" charset="0"/>
                      </a:endParaRPr>
                    </a:p>
                  </a:txBody>
                  <a:tcPr marL="63133" marR="63133" marT="63133" marB="63133">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1988"/>
                        </a:lnSpc>
                        <a:buNone/>
                      </a:pPr>
                      <a:r>
                        <a:rPr lang="en-US" sz="1420" dirty="0">
                          <a:solidFill>
                            <a:srgbClr val="14213D"/>
                          </a:solidFill>
                          <a:latin typeface="IBM Plex Sans" pitchFamily="34" charset="0"/>
                          <a:ea typeface="IBM Plex Sans" pitchFamily="34" charset="-122"/>
                          <a:cs typeface="IBM Plex Sans" pitchFamily="34" charset="-120"/>
                        </a:rPr>
                        <a:t>50 ns</a:t>
                      </a:r>
                      <a:endParaRPr lang="en-US" sz="1420" dirty="0">
                        <a:latin typeface="IBM Plex Sans" charset="0"/>
                        <a:ea typeface="IBM Plex Sans" charset="0"/>
                        <a:cs typeface="IBM Plex Sans" charset="0"/>
                      </a:endParaRPr>
                    </a:p>
                  </a:txBody>
                  <a:tcPr marL="63133" marR="63133" marT="63133" marB="63133">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1988"/>
                        </a:lnSpc>
                        <a:buNone/>
                      </a:pPr>
                      <a:r>
                        <a:rPr lang="en-US" sz="1420" dirty="0">
                          <a:solidFill>
                            <a:srgbClr val="14213D"/>
                          </a:solidFill>
                          <a:latin typeface="IBM Plex Sans" pitchFamily="34" charset="0"/>
                          <a:ea typeface="IBM Plex Sans" pitchFamily="34" charset="-122"/>
                          <a:cs typeface="IBM Plex Sans" pitchFamily="34" charset="-120"/>
                        </a:rPr>
                        <a:t>213 ns</a:t>
                      </a:r>
                      <a:endParaRPr lang="en-US" sz="1420" dirty="0">
                        <a:latin typeface="IBM Plex Sans" charset="0"/>
                        <a:ea typeface="IBM Plex Sans" charset="0"/>
                        <a:cs typeface="IBM Plex Sans" charset="0"/>
                      </a:endParaRPr>
                    </a:p>
                  </a:txBody>
                  <a:tcPr marL="63133" marR="63133" marT="63133" marB="63133">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1988"/>
                        </a:lnSpc>
                        <a:buNone/>
                      </a:pPr>
                      <a:r>
                        <a:rPr lang="en-US" sz="1420" dirty="0">
                          <a:solidFill>
                            <a:srgbClr val="14213D"/>
                          </a:solidFill>
                          <a:latin typeface="IBM Plex Sans" pitchFamily="34" charset="0"/>
                          <a:ea typeface="IBM Plex Sans" pitchFamily="34" charset="-122"/>
                          <a:cs typeface="IBM Plex Sans" pitchFamily="34" charset="-120"/>
                        </a:rPr>
                        <a:t>268 ns</a:t>
                      </a:r>
                      <a:endParaRPr lang="en-US" sz="1420" dirty="0">
                        <a:latin typeface="IBM Plex Sans" charset="0"/>
                        <a:ea typeface="IBM Plex Sans" charset="0"/>
                        <a:cs typeface="IBM Plex Sans" charset="0"/>
                      </a:endParaRPr>
                    </a:p>
                  </a:txBody>
                  <a:tcPr marL="63133" marR="63133" marT="63133" marB="63133">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extLst>
                  <a:ext uri="{0D108BD9-81ED-4DB2-BD59-A6C34878D82A}">
                    <a16:rowId xmlns:a16="http://schemas.microsoft.com/office/drawing/2014/main" val="10002"/>
                  </a:ext>
                </a:extLst>
              </a:tr>
              <a:tr h="391385">
                <a:tc>
                  <a:txBody>
                    <a:bodyPr/>
                    <a:lstStyle/>
                    <a:p>
                      <a:pPr marL="0" indent="0">
                        <a:lnSpc>
                          <a:spcPts val="1988"/>
                        </a:lnSpc>
                        <a:buNone/>
                      </a:pPr>
                      <a:r>
                        <a:rPr lang="en-US" sz="1420" dirty="0">
                          <a:solidFill>
                            <a:srgbClr val="14213D"/>
                          </a:solidFill>
                          <a:latin typeface="IBM Plex Sans" pitchFamily="34" charset="0"/>
                          <a:ea typeface="IBM Plex Sans" pitchFamily="34" charset="-122"/>
                          <a:cs typeface="IBM Plex Sans" pitchFamily="34" charset="-120"/>
                        </a:rPr>
                        <a:t>P2 template</a:t>
                      </a:r>
                      <a:endParaRPr lang="en-US" sz="1420" dirty="0">
                        <a:latin typeface="IBM Plex Sans" charset="0"/>
                        <a:ea typeface="IBM Plex Sans" charset="0"/>
                        <a:cs typeface="IBM Plex Sans" charset="0"/>
                      </a:endParaRPr>
                    </a:p>
                  </a:txBody>
                  <a:tcPr marL="63133" marR="63133" marT="63133" marB="63133">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marL="0" indent="0" algn="r">
                        <a:lnSpc>
                          <a:spcPts val="1988"/>
                        </a:lnSpc>
                        <a:buNone/>
                      </a:pPr>
                      <a:r>
                        <a:rPr lang="en-US" sz="1420" dirty="0">
                          <a:solidFill>
                            <a:srgbClr val="14213D"/>
                          </a:solidFill>
                          <a:latin typeface="IBM Plex Sans" pitchFamily="34" charset="0"/>
                          <a:ea typeface="IBM Plex Sans" pitchFamily="34" charset="-122"/>
                          <a:cs typeface="IBM Plex Sans" pitchFamily="34" charset="-120"/>
                        </a:rPr>
                        <a:t>183 ns</a:t>
                      </a:r>
                      <a:endParaRPr lang="en-US" sz="1420" dirty="0">
                        <a:latin typeface="IBM Plex Sans" charset="0"/>
                        <a:ea typeface="IBM Plex Sans" charset="0"/>
                        <a:cs typeface="IBM Plex Sans" charset="0"/>
                      </a:endParaRPr>
                    </a:p>
                  </a:txBody>
                  <a:tcPr marL="63133" marR="63133" marT="63133" marB="63133">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marL="0" indent="0" algn="r">
                        <a:lnSpc>
                          <a:spcPts val="1988"/>
                        </a:lnSpc>
                        <a:buNone/>
                      </a:pPr>
                      <a:r>
                        <a:rPr lang="en-US" sz="1420" dirty="0">
                          <a:solidFill>
                            <a:srgbClr val="14213D"/>
                          </a:solidFill>
                          <a:latin typeface="IBM Plex Sans" pitchFamily="34" charset="0"/>
                          <a:ea typeface="IBM Plex Sans" pitchFamily="34" charset="-122"/>
                          <a:cs typeface="IBM Plex Sans" pitchFamily="34" charset="-120"/>
                        </a:rPr>
                        <a:t>210 ns</a:t>
                      </a:r>
                      <a:endParaRPr lang="en-US" sz="1420" dirty="0">
                        <a:latin typeface="IBM Plex Sans" charset="0"/>
                        <a:ea typeface="IBM Plex Sans" charset="0"/>
                        <a:cs typeface="IBM Plex Sans" charset="0"/>
                      </a:endParaRPr>
                    </a:p>
                  </a:txBody>
                  <a:tcPr marL="63133" marR="63133" marT="63133" marB="63133">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marL="0" indent="0" algn="r">
                        <a:lnSpc>
                          <a:spcPts val="1988"/>
                        </a:lnSpc>
                        <a:buNone/>
                      </a:pPr>
                      <a:r>
                        <a:rPr lang="en-US" sz="1420" dirty="0">
                          <a:solidFill>
                            <a:srgbClr val="14213D"/>
                          </a:solidFill>
                          <a:latin typeface="IBM Plex Sans" pitchFamily="34" charset="0"/>
                          <a:ea typeface="IBM Plex Sans" pitchFamily="34" charset="-122"/>
                          <a:cs typeface="IBM Plex Sans" pitchFamily="34" charset="-120"/>
                        </a:rPr>
                        <a:t>405 ns</a:t>
                      </a:r>
                      <a:endParaRPr lang="en-US" sz="1420" dirty="0">
                        <a:latin typeface="IBM Plex Sans" charset="0"/>
                        <a:ea typeface="IBM Plex Sans" charset="0"/>
                        <a:cs typeface="IBM Plex Sans" charset="0"/>
                      </a:endParaRPr>
                    </a:p>
                  </a:txBody>
                  <a:tcPr marL="63133" marR="63133" marT="63133" marB="63133">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extLst>
                  <a:ext uri="{0D108BD9-81ED-4DB2-BD59-A6C34878D82A}">
                    <a16:rowId xmlns:a16="http://schemas.microsoft.com/office/drawing/2014/main" val="10003"/>
                  </a:ext>
                </a:extLst>
              </a:tr>
              <a:tr h="391385">
                <a:tc>
                  <a:txBody>
                    <a:bodyPr/>
                    <a:lstStyle/>
                    <a:p>
                      <a:pPr marL="0" indent="0">
                        <a:lnSpc>
                          <a:spcPts val="1988"/>
                        </a:lnSpc>
                        <a:buNone/>
                      </a:pPr>
                      <a:r>
                        <a:rPr lang="en-US" sz="1420" dirty="0">
                          <a:solidFill>
                            <a:srgbClr val="14213D"/>
                          </a:solidFill>
                          <a:latin typeface="IBM Plex Sans" pitchFamily="34" charset="0"/>
                          <a:ea typeface="IBM Plex Sans" pitchFamily="34" charset="-122"/>
                          <a:cs typeface="IBM Plex Sans" pitchFamily="34" charset="-120"/>
                        </a:rPr>
                        <a:t>P3 modular</a:t>
                      </a:r>
                      <a:endParaRPr lang="en-US" sz="1420" dirty="0">
                        <a:latin typeface="IBM Plex Sans" charset="0"/>
                        <a:ea typeface="IBM Plex Sans" charset="0"/>
                        <a:cs typeface="IBM Plex Sans" charset="0"/>
                      </a:endParaRPr>
                    </a:p>
                  </a:txBody>
                  <a:tcPr marL="63133" marR="63133" marT="63133" marB="63133">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1988"/>
                        </a:lnSpc>
                        <a:buNone/>
                      </a:pPr>
                      <a:r>
                        <a:rPr lang="en-US" sz="1420" dirty="0">
                          <a:solidFill>
                            <a:srgbClr val="14213D"/>
                          </a:solidFill>
                          <a:latin typeface="IBM Plex Sans" pitchFamily="34" charset="0"/>
                          <a:ea typeface="IBM Plex Sans" pitchFamily="34" charset="-122"/>
                          <a:cs typeface="IBM Plex Sans" pitchFamily="34" charset="-120"/>
                        </a:rPr>
                        <a:t>271 ns</a:t>
                      </a:r>
                      <a:endParaRPr lang="en-US" sz="1420" dirty="0">
                        <a:latin typeface="IBM Plex Sans" charset="0"/>
                        <a:ea typeface="IBM Plex Sans" charset="0"/>
                        <a:cs typeface="IBM Plex Sans" charset="0"/>
                      </a:endParaRPr>
                    </a:p>
                  </a:txBody>
                  <a:tcPr marL="63133" marR="63133" marT="63133" marB="63133">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1988"/>
                        </a:lnSpc>
                        <a:buNone/>
                      </a:pPr>
                      <a:r>
                        <a:rPr lang="en-US" sz="1420" dirty="0">
                          <a:solidFill>
                            <a:srgbClr val="14213D"/>
                          </a:solidFill>
                          <a:latin typeface="IBM Plex Sans" pitchFamily="34" charset="0"/>
                          <a:ea typeface="IBM Plex Sans" pitchFamily="34" charset="-122"/>
                          <a:cs typeface="IBM Plex Sans" pitchFamily="34" charset="-120"/>
                        </a:rPr>
                        <a:t>219 ns</a:t>
                      </a:r>
                      <a:endParaRPr lang="en-US" sz="1420" dirty="0">
                        <a:latin typeface="IBM Plex Sans" charset="0"/>
                        <a:ea typeface="IBM Plex Sans" charset="0"/>
                        <a:cs typeface="IBM Plex Sans" charset="0"/>
                      </a:endParaRPr>
                    </a:p>
                  </a:txBody>
                  <a:tcPr marL="63133" marR="63133" marT="63133" marB="63133">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marL="0" indent="0" algn="r">
                        <a:lnSpc>
                          <a:spcPts val="1988"/>
                        </a:lnSpc>
                        <a:buNone/>
                      </a:pPr>
                      <a:r>
                        <a:rPr lang="en-US" sz="1420" dirty="0">
                          <a:solidFill>
                            <a:srgbClr val="14213D"/>
                          </a:solidFill>
                          <a:latin typeface="IBM Plex Sans" pitchFamily="34" charset="0"/>
                          <a:ea typeface="IBM Plex Sans" pitchFamily="34" charset="-122"/>
                          <a:cs typeface="IBM Plex Sans" pitchFamily="34" charset="-120"/>
                        </a:rPr>
                        <a:t>509 ns</a:t>
                      </a:r>
                      <a:endParaRPr lang="en-US" sz="1420" dirty="0">
                        <a:latin typeface="IBM Plex Sans" charset="0"/>
                        <a:ea typeface="IBM Plex Sans" charset="0"/>
                        <a:cs typeface="IBM Plex Sans" charset="0"/>
                      </a:endParaRPr>
                    </a:p>
                  </a:txBody>
                  <a:tcPr marL="63133" marR="63133" marT="63133" marB="63133">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5" name="Shape 10"/>
          <p:cNvSpPr/>
          <p:nvPr/>
        </p:nvSpPr>
        <p:spPr>
          <a:xfrm>
            <a:off x="812800" y="5066184"/>
            <a:ext cx="10566400" cy="775824"/>
          </a:xfrm>
          <a:prstGeom prst="roundRect">
            <a:avLst>
              <a:gd name="adj" fmla="val 9822"/>
            </a:avLst>
          </a:prstGeom>
          <a:solidFill>
            <a:srgbClr val="EEF1F5"/>
          </a:solidFill>
          <a:ln/>
        </p:spPr>
      </p:sp>
      <p:sp>
        <p:nvSpPr>
          <p:cNvPr id="16" name="Shape 11"/>
          <p:cNvSpPr/>
          <p:nvPr/>
        </p:nvSpPr>
        <p:spPr>
          <a:xfrm>
            <a:off x="831850" y="5066184"/>
            <a:ext cx="0" cy="775824"/>
          </a:xfrm>
          <a:prstGeom prst="line">
            <a:avLst/>
          </a:prstGeom>
          <a:noFill/>
          <a:ln w="38100">
            <a:solidFill>
              <a:srgbClr val="2E7D52"/>
            </a:solidFill>
            <a:prstDash val="solid"/>
          </a:ln>
        </p:spPr>
      </p:sp>
      <p:sp>
        <p:nvSpPr>
          <p:cNvPr id="17" name="Text 12"/>
          <p:cNvSpPr/>
          <p:nvPr/>
        </p:nvSpPr>
        <p:spPr>
          <a:xfrm>
            <a:off x="1041400" y="5218584"/>
            <a:ext cx="10451719" cy="496424"/>
          </a:xfrm>
          <a:prstGeom prst="rect">
            <a:avLst/>
          </a:prstGeom>
          <a:noFill/>
          <a:ln/>
        </p:spPr>
        <p:txBody>
          <a:bodyPr wrap="square" lIns="0" tIns="0" rIns="0" bIns="0" rtlCol="0" anchor="t">
            <a:normAutofit/>
          </a:bodyPr>
          <a:lstStyle/>
          <a:p>
            <a:pPr marL="0" indent="0" algn="l">
              <a:lnSpc>
                <a:spcPts val="1862"/>
              </a:lnSpc>
              <a:buNone/>
            </a:pPr>
            <a:r>
              <a:rPr lang="en-US" sz="1330" dirty="0">
                <a:solidFill>
                  <a:srgbClr val="14213D"/>
                </a:solidFill>
                <a:latin typeface="IBM Plex Sans" pitchFamily="34" charset="0"/>
                <a:ea typeface="IBM Plex Sans" pitchFamily="34" charset="-122"/>
                <a:cs typeface="IBM Plex Sans" pitchFamily="34" charset="-120"/>
              </a:rPr>
              <a:t>Il trasporto sta fra </a:t>
            </a:r>
            <a:r>
              <a:rPr lang="en-US" sz="1330" b="1" dirty="0">
                <a:solidFill>
                  <a:srgbClr val="14213D"/>
                </a:solidFill>
                <a:latin typeface="IBM Plex Sans" pitchFamily="34" charset="0"/>
                <a:ea typeface="IBM Plex Sans" pitchFamily="34" charset="-122"/>
                <a:cs typeface="IBM Plex Sans" pitchFamily="34" charset="-120"/>
              </a:rPr>
              <a:t>195 e 219 ns per tutte</a:t>
            </a:r>
            <a:r>
              <a:rPr lang="en-US" sz="1330" dirty="0">
                <a:solidFill>
                  <a:srgbClr val="14213D"/>
                </a:solidFill>
                <a:latin typeface="IBM Plex Sans" pitchFamily="34" charset="0"/>
                <a:ea typeface="IBM Plex Sans" pitchFamily="34" charset="-122"/>
                <a:cs typeface="IBM Plex Sans" pitchFamily="34" charset="-120"/>
              </a:rPr>
              <a:t>, senza rapporto con il lavoro svolto: è la prova che le due metà misurano cose diverse. Senza separarle, la baseline sembrerebbe costare 224 ns invece di 27.</a:t>
            </a:r>
            <a:endParaRPr lang="en-US" sz="1330" dirty="0"/>
          </a:p>
        </p:txBody>
      </p:sp>
      <p:sp>
        <p:nvSpPr>
          <p:cNvPr id="18" name="Text 13"/>
          <p:cNvSpPr/>
          <p:nvPr/>
        </p:nvSpPr>
        <p:spPr>
          <a:xfrm>
            <a:off x="812800" y="6238280"/>
            <a:ext cx="4832271"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7179"/>
                </a:solidFill>
                <a:latin typeface="IBM Plex Sans" pitchFamily="34" charset="0"/>
                <a:ea typeface="IBM Plex Sans" pitchFamily="34" charset="-122"/>
                <a:cs typeface="IBM Plex Sans" pitchFamily="34" charset="-120"/>
              </a:rPr>
              <a:t>Riprodotto su quattro campagne di giorni diversi, con scarti di 1–2 ns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4213D"/>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430477"/>
          </a:xfrm>
          <a:prstGeom prst="rect">
            <a:avLst/>
          </a:prstGeom>
          <a:noFill/>
          <a:ln/>
        </p:spPr>
        <p:txBody>
          <a:bodyPr wrap="square" lIns="0" tIns="0" rIns="0" bIns="0" rtlCol="0" anchor="t">
            <a:normAutofit/>
          </a:bodyPr>
          <a:lstStyle/>
          <a:p>
            <a:pPr marL="0" indent="0" algn="l">
              <a:lnSpc>
                <a:spcPts val="3190"/>
              </a:lnSpc>
              <a:buNone/>
            </a:pPr>
            <a:r>
              <a:rPr lang="en-US" sz="2900" b="1" dirty="0">
                <a:solidFill>
                  <a:srgbClr val="FBFBF8"/>
                </a:solidFill>
                <a:latin typeface="IBM Plex Sans" pitchFamily="34" charset="0"/>
                <a:ea typeface="IBM Plex Sans" pitchFamily="34" charset="-122"/>
                <a:cs typeface="IBM Plex Sans" pitchFamily="34" charset="-120"/>
              </a:rPr>
              <a:t>Che cosa posso affermare</a:t>
            </a:r>
            <a:endParaRPr lang="en-US" sz="2900" dirty="0"/>
          </a:p>
        </p:txBody>
      </p:sp>
      <p:sp>
        <p:nvSpPr>
          <p:cNvPr id="3" name="Shape 1"/>
          <p:cNvSpPr/>
          <p:nvPr/>
        </p:nvSpPr>
        <p:spPr>
          <a:xfrm>
            <a:off x="812800" y="1408385"/>
            <a:ext cx="5187950" cy="2605881"/>
          </a:xfrm>
          <a:prstGeom prst="roundRect">
            <a:avLst>
              <a:gd name="adj" fmla="val 3899"/>
            </a:avLst>
          </a:prstGeom>
          <a:solidFill>
            <a:srgbClr val="1C2C4F"/>
          </a:solidFill>
          <a:ln/>
        </p:spPr>
      </p:sp>
      <p:sp>
        <p:nvSpPr>
          <p:cNvPr id="4" name="Text 2"/>
          <p:cNvSpPr/>
          <p:nvPr/>
        </p:nvSpPr>
        <p:spPr>
          <a:xfrm>
            <a:off x="1028700" y="1598885"/>
            <a:ext cx="4898835" cy="246327"/>
          </a:xfrm>
          <a:prstGeom prst="rect">
            <a:avLst/>
          </a:prstGeom>
          <a:noFill/>
          <a:ln/>
        </p:spPr>
        <p:txBody>
          <a:bodyPr wrap="square" lIns="0" tIns="0" rIns="0" bIns="0" rtlCol="0" anchor="t">
            <a:normAutofit/>
          </a:bodyPr>
          <a:lstStyle/>
          <a:p>
            <a:pPr marL="0" indent="0" algn="l">
              <a:lnSpc>
                <a:spcPts val="1740"/>
              </a:lnSpc>
              <a:buNone/>
            </a:pPr>
            <a:r>
              <a:rPr lang="en-US" sz="1450" b="1" dirty="0">
                <a:solidFill>
                  <a:srgbClr val="7FD1A4"/>
                </a:solidFill>
                <a:latin typeface="IBM Plex Sans" pitchFamily="34" charset="0"/>
                <a:ea typeface="IBM Plex Sans" pitchFamily="34" charset="-122"/>
                <a:cs typeface="IBM Plex Sans" pitchFamily="34" charset="-120"/>
              </a:rPr>
              <a:t>Sul costo</a:t>
            </a:r>
            <a:endParaRPr lang="en-US" sz="1450" dirty="0"/>
          </a:p>
        </p:txBody>
      </p:sp>
      <p:sp>
        <p:nvSpPr>
          <p:cNvPr id="5" name="Text 3"/>
          <p:cNvSpPr/>
          <p:nvPr/>
        </p:nvSpPr>
        <p:spPr>
          <a:xfrm>
            <a:off x="1028700" y="1908708"/>
            <a:ext cx="4898835" cy="1940454"/>
          </a:xfrm>
          <a:prstGeom prst="rect">
            <a:avLst/>
          </a:prstGeom>
          <a:noFill/>
          <a:ln/>
        </p:spPr>
        <p:txBody>
          <a:bodyPr wrap="square" lIns="0" tIns="0" rIns="0" bIns="0" rtlCol="0" anchor="t">
            <a:normAutofit/>
          </a:bodyPr>
          <a:lstStyle/>
          <a:p>
            <a:pPr marL="342900" indent="-342900" algn="l">
              <a:lnSpc>
                <a:spcPts val="1885"/>
              </a:lnSpc>
              <a:buSzPct val="100000"/>
              <a:buChar char="•"/>
            </a:pPr>
            <a:r>
              <a:rPr lang="en-US" sz="1300" dirty="0">
                <a:solidFill>
                  <a:srgbClr val="FBFBF8"/>
                </a:solidFill>
                <a:latin typeface="IBM Plex Sans" pitchFamily="34" charset="0"/>
                <a:ea typeface="IBM Plex Sans" pitchFamily="34" charset="-122"/>
                <a:cs typeface="IBM Plex Sans" pitchFamily="34" charset="-120"/>
              </a:rPr>
              <a:t>La specializzazione riduce il costo per pacchetto: </a:t>
            </a:r>
            <a:r>
              <a:rPr lang="en-US" sz="1300" b="1" dirty="0">
                <a:solidFill>
                  <a:srgbClr val="FBFBF8"/>
                </a:solidFill>
                <a:latin typeface="IBM Plex Sans" pitchFamily="34" charset="0"/>
                <a:ea typeface="IBM Plex Sans" pitchFamily="34" charset="-122"/>
                <a:cs typeface="IBM Plex Sans" pitchFamily="34" charset="-120"/>
              </a:rPr>
              <a:t>59 contro 428 ns</a:t>
            </a:r>
            <a:r>
              <a:rPr lang="en-US" sz="1300" dirty="0">
                <a:solidFill>
                  <a:srgbClr val="FBFBF8"/>
                </a:solidFill>
                <a:latin typeface="IBM Plex Sans" pitchFamily="34" charset="0"/>
                <a:ea typeface="IBM Plex Sans" pitchFamily="34" charset="-122"/>
                <a:cs typeface="IBM Plex Sans" pitchFamily="34" charset="-120"/>
              </a:rPr>
              <a:t> fra i due estremi.</a:t>
            </a:r>
            <a:endParaRPr lang="en-US" sz="1300" dirty="0"/>
          </a:p>
          <a:p>
            <a:pPr marL="342900" indent="-342900" algn="l">
              <a:lnSpc>
                <a:spcPts val="1885"/>
              </a:lnSpc>
              <a:buSzPct val="100000"/>
              <a:buChar char="•"/>
            </a:pPr>
            <a:r>
              <a:rPr lang="en-US" sz="1300" dirty="0">
                <a:solidFill>
                  <a:srgbClr val="FBFBF8"/>
                </a:solidFill>
                <a:latin typeface="IBM Plex Sans" pitchFamily="34" charset="0"/>
                <a:ea typeface="IBM Plex Sans" pitchFamily="34" charset="-122"/>
                <a:cs typeface="IBM Plex Sans" pitchFamily="34" charset="-120"/>
              </a:rPr>
              <a:t>La genericità riduce il costo di cambiare modello: </a:t>
            </a:r>
            <a:r>
              <a:rPr lang="en-US" sz="1300" b="1" dirty="0">
                <a:solidFill>
                  <a:srgbClr val="FBFBF8"/>
                </a:solidFill>
                <a:latin typeface="IBM Plex Sans" pitchFamily="34" charset="0"/>
                <a:ea typeface="IBM Plex Sans" pitchFamily="34" charset="-122"/>
                <a:cs typeface="IBM Plex Sans" pitchFamily="34" charset="-120"/>
              </a:rPr>
              <a:t>7 ms contro 1,5 s</a:t>
            </a:r>
            <a:r>
              <a:rPr lang="en-US" sz="1300" dirty="0">
                <a:solidFill>
                  <a:srgbClr val="FBFBF8"/>
                </a:solidFill>
                <a:latin typeface="IBM Plex Sans" pitchFamily="34" charset="0"/>
                <a:ea typeface="IBM Plex Sans" pitchFamily="34" charset="-122"/>
                <a:cs typeface="IBM Plex Sans" pitchFamily="34" charset="-120"/>
              </a:rPr>
              <a:t>.</a:t>
            </a:r>
            <a:endParaRPr lang="en-US" sz="1300" dirty="0"/>
          </a:p>
          <a:p>
            <a:pPr marL="342900" indent="-342900" algn="l">
              <a:lnSpc>
                <a:spcPts val="1885"/>
              </a:lnSpc>
              <a:buSzPct val="100000"/>
              <a:buChar char="•"/>
            </a:pPr>
            <a:r>
              <a:rPr lang="en-US" sz="1300" dirty="0">
                <a:solidFill>
                  <a:srgbClr val="FBFBF8"/>
                </a:solidFill>
                <a:latin typeface="IBM Plex Sans" pitchFamily="34" charset="0"/>
                <a:ea typeface="IBM Plex Sans" pitchFamily="34" charset="-122"/>
                <a:cs typeface="IBM Plex Sans" pitchFamily="34" charset="-120"/>
              </a:rPr>
              <a:t>La sparsità dei pesi la sfrutta solo chi li ha </a:t>
            </a:r>
            <a:r>
              <a:rPr lang="en-US" sz="1300" b="1" dirty="0">
                <a:solidFill>
                  <a:srgbClr val="FBFBF8"/>
                </a:solidFill>
                <a:latin typeface="IBM Plex Sans" pitchFamily="34" charset="0"/>
                <a:ea typeface="IBM Plex Sans" pitchFamily="34" charset="-122"/>
                <a:cs typeface="IBM Plex Sans" pitchFamily="34" charset="-120"/>
              </a:rPr>
              <a:t>visibili al compilatore</a:t>
            </a:r>
            <a:r>
              <a:rPr lang="en-US" sz="1300" dirty="0">
                <a:solidFill>
                  <a:srgbClr val="FBFBF8"/>
                </a:solidFill>
                <a:latin typeface="IBM Plex Sans" pitchFamily="34" charset="0"/>
                <a:ea typeface="IBM Plex Sans" pitchFamily="34" charset="-122"/>
                <a:cs typeface="IBM Plex Sans" pitchFamily="34" charset="-120"/>
              </a:rPr>
              <a:t>.</a:t>
            </a:r>
            <a:endParaRPr lang="en-US" sz="1300" dirty="0"/>
          </a:p>
          <a:p>
            <a:pPr marL="342900" indent="-342900" algn="l">
              <a:lnSpc>
                <a:spcPts val="1885"/>
              </a:lnSpc>
              <a:buSzPct val="100000"/>
              <a:buChar char="•"/>
            </a:pPr>
            <a:r>
              <a:rPr lang="en-US" sz="1300" dirty="0">
                <a:solidFill>
                  <a:srgbClr val="FBFBF8"/>
                </a:solidFill>
                <a:latin typeface="IBM Plex Sans" pitchFamily="34" charset="0"/>
                <a:ea typeface="IBM Plex Sans" pitchFamily="34" charset="-122"/>
                <a:cs typeface="IBM Plex Sans" pitchFamily="34" charset="-120"/>
              </a:rPr>
              <a:t>La profondità costa di più dove ogni strato è un programma a sé.</a:t>
            </a:r>
            <a:endParaRPr lang="en-US" sz="1300" dirty="0"/>
          </a:p>
        </p:txBody>
      </p:sp>
      <p:sp>
        <p:nvSpPr>
          <p:cNvPr id="6" name="Shape 4"/>
          <p:cNvSpPr/>
          <p:nvPr/>
        </p:nvSpPr>
        <p:spPr>
          <a:xfrm>
            <a:off x="6191250" y="1408385"/>
            <a:ext cx="5187950" cy="2605881"/>
          </a:xfrm>
          <a:prstGeom prst="roundRect">
            <a:avLst>
              <a:gd name="adj" fmla="val 3899"/>
            </a:avLst>
          </a:prstGeom>
          <a:solidFill>
            <a:srgbClr val="1C2C4F"/>
          </a:solidFill>
          <a:ln/>
        </p:spPr>
      </p:sp>
      <p:sp>
        <p:nvSpPr>
          <p:cNvPr id="7" name="Text 5"/>
          <p:cNvSpPr/>
          <p:nvPr/>
        </p:nvSpPr>
        <p:spPr>
          <a:xfrm>
            <a:off x="6407150" y="1598885"/>
            <a:ext cx="4898835" cy="246327"/>
          </a:xfrm>
          <a:prstGeom prst="rect">
            <a:avLst/>
          </a:prstGeom>
          <a:noFill/>
          <a:ln/>
        </p:spPr>
        <p:txBody>
          <a:bodyPr wrap="square" lIns="0" tIns="0" rIns="0" bIns="0" rtlCol="0" anchor="t">
            <a:normAutofit/>
          </a:bodyPr>
          <a:lstStyle/>
          <a:p>
            <a:pPr marL="0" indent="0" algn="l">
              <a:lnSpc>
                <a:spcPts val="1740"/>
              </a:lnSpc>
              <a:buNone/>
            </a:pPr>
            <a:r>
              <a:rPr lang="en-US" sz="1450" b="1" dirty="0">
                <a:solidFill>
                  <a:srgbClr val="7FD1A4"/>
                </a:solidFill>
                <a:latin typeface="IBM Plex Sans" pitchFamily="34" charset="0"/>
                <a:ea typeface="IBM Plex Sans" pitchFamily="34" charset="-122"/>
                <a:cs typeface="IBM Plex Sans" pitchFamily="34" charset="-120"/>
              </a:rPr>
              <a:t>Sul metodo</a:t>
            </a:r>
            <a:endParaRPr lang="en-US" sz="1450" dirty="0"/>
          </a:p>
        </p:txBody>
      </p:sp>
      <p:sp>
        <p:nvSpPr>
          <p:cNvPr id="8" name="Text 6"/>
          <p:cNvSpPr/>
          <p:nvPr/>
        </p:nvSpPr>
        <p:spPr>
          <a:xfrm>
            <a:off x="6407150" y="1908708"/>
            <a:ext cx="4898835" cy="1940454"/>
          </a:xfrm>
          <a:prstGeom prst="rect">
            <a:avLst/>
          </a:prstGeom>
          <a:noFill/>
          <a:ln/>
        </p:spPr>
        <p:txBody>
          <a:bodyPr wrap="square" lIns="0" tIns="0" rIns="0" bIns="0" rtlCol="0" anchor="t">
            <a:normAutofit/>
          </a:bodyPr>
          <a:lstStyle/>
          <a:p>
            <a:pPr marL="342900" indent="-342900" algn="l">
              <a:lnSpc>
                <a:spcPts val="1885"/>
              </a:lnSpc>
              <a:buSzPct val="100000"/>
              <a:buChar char="•"/>
            </a:pPr>
            <a:r>
              <a:rPr lang="en-US" sz="1300" dirty="0">
                <a:solidFill>
                  <a:srgbClr val="FBFBF8"/>
                </a:solidFill>
                <a:latin typeface="IBM Plex Sans" pitchFamily="34" charset="0"/>
                <a:ea typeface="IBM Plex Sans" pitchFamily="34" charset="-122"/>
                <a:cs typeface="IBM Plex Sans" pitchFamily="34" charset="-120"/>
              </a:rPr>
              <a:t>Istruzioni e latenza </a:t>
            </a:r>
            <a:r>
              <a:rPr lang="en-US" sz="1300" b="1" dirty="0">
                <a:solidFill>
                  <a:srgbClr val="FBFBF8"/>
                </a:solidFill>
                <a:latin typeface="IBM Plex Sans" pitchFamily="34" charset="0"/>
                <a:ea typeface="IBM Plex Sans" pitchFamily="34" charset="-122"/>
                <a:cs typeface="IBM Plex Sans" pitchFamily="34" charset="-120"/>
              </a:rPr>
              <a:t>non sono la stessa misura</a:t>
            </a:r>
            <a:r>
              <a:rPr lang="en-US" sz="1300" dirty="0">
                <a:solidFill>
                  <a:srgbClr val="FBFBF8"/>
                </a:solidFill>
                <a:latin typeface="IBM Plex Sans" pitchFamily="34" charset="0"/>
                <a:ea typeface="IBM Plex Sans" pitchFamily="34" charset="-122"/>
                <a:cs typeface="IBM Plex Sans" pitchFamily="34" charset="-120"/>
              </a:rPr>
              <a:t>: P3 è più piccola di P2 e più lenta.</a:t>
            </a:r>
            <a:endParaRPr lang="en-US" sz="1300" dirty="0"/>
          </a:p>
          <a:p>
            <a:pPr marL="342900" indent="-342900" algn="l">
              <a:lnSpc>
                <a:spcPts val="1885"/>
              </a:lnSpc>
              <a:buSzPct val="100000"/>
              <a:buChar char="•"/>
            </a:pPr>
            <a:r>
              <a:rPr lang="en-US" sz="1300" dirty="0">
                <a:solidFill>
                  <a:srgbClr val="FBFBF8"/>
                </a:solidFill>
                <a:latin typeface="IBM Plex Sans" pitchFamily="34" charset="0"/>
                <a:ea typeface="IBM Plex Sans" pitchFamily="34" charset="-122"/>
                <a:cs typeface="IBM Plex Sans" pitchFamily="34" charset="-120"/>
              </a:rPr>
              <a:t>I modelli sintetici hanno trovato </a:t>
            </a:r>
            <a:r>
              <a:rPr lang="en-US" sz="1300" b="1" dirty="0">
                <a:solidFill>
                  <a:srgbClr val="FBFBF8"/>
                </a:solidFill>
                <a:latin typeface="IBM Plex Sans" pitchFamily="34" charset="0"/>
                <a:ea typeface="IBM Plex Sans" pitchFamily="34" charset="-122"/>
                <a:cs typeface="IBM Plex Sans" pitchFamily="34" charset="-120"/>
              </a:rPr>
              <a:t>due bug</a:t>
            </a:r>
            <a:r>
              <a:rPr lang="en-US" sz="1300" dirty="0">
                <a:solidFill>
                  <a:srgbClr val="FBFBF8"/>
                </a:solidFill>
                <a:latin typeface="IBM Plex Sans" pitchFamily="34" charset="0"/>
                <a:ea typeface="IBM Plex Sans" pitchFamily="34" charset="-122"/>
                <a:cs typeface="IBM Plex Sans" pitchFamily="34" charset="-120"/>
              </a:rPr>
              <a:t> che il modello di riferimento non mostrava.</a:t>
            </a:r>
            <a:endParaRPr lang="en-US" sz="1300" dirty="0"/>
          </a:p>
          <a:p>
            <a:pPr marL="342900" indent="-342900" algn="l">
              <a:lnSpc>
                <a:spcPts val="1885"/>
              </a:lnSpc>
              <a:buSzPct val="100000"/>
              <a:buChar char="•"/>
            </a:pPr>
            <a:r>
              <a:rPr lang="en-US" sz="1300" dirty="0">
                <a:solidFill>
                  <a:srgbClr val="FBFBF8"/>
                </a:solidFill>
                <a:latin typeface="IBM Plex Sans" pitchFamily="34" charset="0"/>
                <a:ea typeface="IBM Plex Sans" pitchFamily="34" charset="-122"/>
                <a:cs typeface="IBM Plex Sans" pitchFamily="34" charset="-120"/>
              </a:rPr>
              <a:t>Il banco non permette di misurare il massimo del nodo: il limite è nel </a:t>
            </a:r>
            <a:r>
              <a:rPr lang="en-US" sz="1300" b="1" dirty="0">
                <a:solidFill>
                  <a:srgbClr val="FBFBF8"/>
                </a:solidFill>
                <a:latin typeface="IBM Plex Sans" pitchFamily="34" charset="0"/>
                <a:ea typeface="IBM Plex Sans" pitchFamily="34" charset="-122"/>
                <a:cs typeface="IBM Plex Sans" pitchFamily="34" charset="-120"/>
              </a:rPr>
              <a:t>percorso di generazione</a:t>
            </a:r>
            <a:r>
              <a:rPr lang="en-US" sz="1300" dirty="0">
                <a:solidFill>
                  <a:srgbClr val="FBFBF8"/>
                </a:solidFill>
                <a:latin typeface="IBM Plex Sans" pitchFamily="34" charset="0"/>
                <a:ea typeface="IBM Plex Sans" pitchFamily="34" charset="-122"/>
                <a:cs typeface="IBM Plex Sans" pitchFamily="34" charset="-120"/>
              </a:rPr>
              <a:t>.</a:t>
            </a:r>
            <a:endParaRPr lang="en-US" sz="1300" dirty="0"/>
          </a:p>
          <a:p>
            <a:pPr marL="342900" indent="-342900" algn="l">
              <a:lnSpc>
                <a:spcPts val="1885"/>
              </a:lnSpc>
              <a:buSzPct val="100000"/>
              <a:buChar char="•"/>
            </a:pPr>
            <a:r>
              <a:rPr lang="en-US" sz="1300" dirty="0">
                <a:solidFill>
                  <a:srgbClr val="FBFBF8"/>
                </a:solidFill>
                <a:latin typeface="IBM Plex Sans" pitchFamily="34" charset="0"/>
                <a:ea typeface="IBM Plex Sans" pitchFamily="34" charset="-122"/>
                <a:cs typeface="IBM Plex Sans" pitchFamily="34" charset="-120"/>
              </a:rPr>
              <a:t>Per confrontare le pipeline vanno separati </a:t>
            </a:r>
            <a:r>
              <a:rPr lang="en-US" sz="1300" b="1" dirty="0">
                <a:solidFill>
                  <a:srgbClr val="FBFBF8"/>
                </a:solidFill>
                <a:latin typeface="IBM Plex Sans" pitchFamily="34" charset="0"/>
                <a:ea typeface="IBM Plex Sans" pitchFamily="34" charset="-122"/>
                <a:cs typeface="IBM Plex Sans" pitchFamily="34" charset="-120"/>
              </a:rPr>
              <a:t>inferenza, trasporto e limite del banco</a:t>
            </a:r>
            <a:r>
              <a:rPr lang="en-US" sz="1300" dirty="0">
                <a:solidFill>
                  <a:srgbClr val="FBFBF8"/>
                </a:solidFill>
                <a:latin typeface="IBM Plex Sans" pitchFamily="34" charset="0"/>
                <a:ea typeface="IBM Plex Sans" pitchFamily="34" charset="-122"/>
                <a:cs typeface="IBM Plex Sans" pitchFamily="34" charset="-120"/>
              </a:rPr>
              <a:t>.</a:t>
            </a:r>
            <a:endParaRPr lang="en-US" sz="1300" dirty="0"/>
          </a:p>
        </p:txBody>
      </p:sp>
      <p:sp>
        <p:nvSpPr>
          <p:cNvPr id="9" name="Shape 7"/>
          <p:cNvSpPr/>
          <p:nvPr/>
        </p:nvSpPr>
        <p:spPr>
          <a:xfrm>
            <a:off x="812800" y="4204767"/>
            <a:ext cx="10566400" cy="933450"/>
          </a:xfrm>
          <a:prstGeom prst="roundRect">
            <a:avLst>
              <a:gd name="adj" fmla="val 10884"/>
            </a:avLst>
          </a:prstGeom>
          <a:solidFill>
            <a:srgbClr val="FBFBF8"/>
          </a:solidFill>
          <a:ln/>
        </p:spPr>
      </p:sp>
      <p:sp>
        <p:nvSpPr>
          <p:cNvPr id="10" name="Text 8"/>
          <p:cNvSpPr/>
          <p:nvPr/>
        </p:nvSpPr>
        <p:spPr>
          <a:xfrm>
            <a:off x="889762" y="4395267"/>
            <a:ext cx="10412476" cy="577850"/>
          </a:xfrm>
          <a:prstGeom prst="rect">
            <a:avLst/>
          </a:prstGeom>
          <a:noFill/>
          <a:ln/>
        </p:spPr>
        <p:txBody>
          <a:bodyPr wrap="square" lIns="0" tIns="0" rIns="0" bIns="0" rtlCol="0" anchor="t">
            <a:normAutofit/>
          </a:bodyPr>
          <a:lstStyle/>
          <a:p>
            <a:pPr marL="0" indent="0" algn="ctr">
              <a:lnSpc>
                <a:spcPts val="2175"/>
              </a:lnSpc>
              <a:buNone/>
            </a:pPr>
            <a:r>
              <a:rPr lang="en-US" sz="1500" dirty="0">
                <a:solidFill>
                  <a:srgbClr val="14213D"/>
                </a:solidFill>
                <a:latin typeface="IBM Plex Sans" pitchFamily="34" charset="0"/>
                <a:ea typeface="IBM Plex Sans" pitchFamily="34" charset="-122"/>
                <a:cs typeface="IBM Plex Sans" pitchFamily="34" charset="-120"/>
              </a:rPr>
              <a:t>Il risultato principale non è una pipeline vincente, ma la </a:t>
            </a:r>
            <a:r>
              <a:rPr lang="en-US" sz="1500" b="1" dirty="0">
                <a:solidFill>
                  <a:srgbClr val="14213D"/>
                </a:solidFill>
                <a:latin typeface="IBM Plex Sans" pitchFamily="34" charset="0"/>
                <a:ea typeface="IBM Plex Sans" pitchFamily="34" charset="-122"/>
                <a:cs typeface="IBM Plex Sans" pitchFamily="34" charset="-120"/>
              </a:rPr>
              <a:t>misura del compromesso</a:t>
            </a:r>
            <a:r>
              <a:rPr lang="en-US" sz="1500" dirty="0">
                <a:solidFill>
                  <a:srgbClr val="14213D"/>
                </a:solidFill>
                <a:latin typeface="IBM Plex Sans" pitchFamily="34" charset="0"/>
                <a:ea typeface="IBM Plex Sans" pitchFamily="34" charset="-122"/>
                <a:cs typeface="IBM Plex Sans" pitchFamily="34" charset="-120"/>
              </a:rPr>
              <a:t> fra specializzazione, flessibilità e costo per pacchetto — insieme a una metodologia che distingue il costo dell’inferenza dai limiti del banco di misura.</a:t>
            </a:r>
            <a:endParaRPr lang="en-US" sz="1500" dirty="0"/>
          </a:p>
        </p:txBody>
      </p:sp>
      <p:sp>
        <p:nvSpPr>
          <p:cNvPr id="11" name="Text 9"/>
          <p:cNvSpPr/>
          <p:nvPr/>
        </p:nvSpPr>
        <p:spPr>
          <a:xfrm>
            <a:off x="812800" y="6238280"/>
            <a:ext cx="8279047"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FA3BF"/>
                </a:solidFill>
                <a:latin typeface="IBM Plex Sans" pitchFamily="34" charset="0"/>
                <a:ea typeface="IBM Plex Sans" pitchFamily="34" charset="-122"/>
                <a:cs typeface="IBM Plex Sans" pitchFamily="34" charset="-120"/>
              </a:rPr>
              <a:t>Le cifre assolute valgono per questo percorso e questa macchina; i rapporti fra le versioni sono la parte che sopravvive</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TotalTime>
  <Words>4543</Words>
  <Application>Microsoft Office PowerPoint</Application>
  <PresentationFormat>Widescreen</PresentationFormat>
  <Paragraphs>339</Paragraphs>
  <Slides>18</Slides>
  <Notes>18</Notes>
  <HiddenSlides>0</HiddenSlides>
  <MMClips>0</MMClips>
  <ScaleCrop>false</ScaleCrop>
  <HeadingPairs>
    <vt:vector size="6" baseType="variant">
      <vt:variant>
        <vt:lpstr>Caratteri utilizzati</vt:lpstr>
      </vt:variant>
      <vt:variant>
        <vt:i4>3</vt:i4>
      </vt:variant>
      <vt:variant>
        <vt:lpstr>Tema</vt:lpstr>
      </vt:variant>
      <vt:variant>
        <vt:i4>1</vt:i4>
      </vt:variant>
      <vt:variant>
        <vt:lpstr>Titoli diapositive</vt:lpstr>
      </vt:variant>
      <vt:variant>
        <vt:i4>18</vt:i4>
      </vt:variant>
    </vt:vector>
  </HeadingPairs>
  <TitlesOfParts>
    <vt:vector size="22" baseType="lpstr">
      <vt:lpstr>Arial</vt:lpstr>
      <vt:lpstr>IBM Plex Sans</vt:lpstr>
      <vt:lpstr>JetBrains Mono</vt:lpstr>
      <vt:lpstr>Office Theme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Inferenza di una rete neurale nel kernel Linux con eBPF/XDP</dc:title>
  <dc:subject>PptxGenJS Presentation</dc:subject>
  <dc:creator>PptxGenJS</dc:creator>
  <cp:lastModifiedBy>Ettore Cantile</cp:lastModifiedBy>
  <cp:revision>1</cp:revision>
  <dcterms:created xsi:type="dcterms:W3CDTF">2026-09-22T16:37:40Z</dcterms:created>
  <dcterms:modified xsi:type="dcterms:W3CDTF">2026-09-22T21:35:32Z</dcterms:modified>
</cp:coreProperties>
</file>