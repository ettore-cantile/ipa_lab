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chart19.xml" ContentType="application/vnd.openxmlformats-officedocument.drawingml.chart+xml"/>
  <Override PartName="/ppt/charts/chart2.xml" ContentType="application/vnd.openxmlformats-officedocument.drawingml.chart+xml"/>
  <Override PartName="/ppt/charts/chart20.xml" ContentType="application/vnd.openxmlformats-officedocument.drawingml.chart+xml"/>
  <Override PartName="/ppt/charts/chart21.xml" ContentType="application/vnd.openxmlformats-officedocument.drawingml.chart+xml"/>
  <Override PartName="/ppt/charts/chart22.xml" ContentType="application/vnd.openxmlformats-officedocument.drawingml.chart+xml"/>
  <Override PartName="/ppt/charts/chart24.xml" ContentType="application/vnd.openxmlformats-officedocument.drawingml.chart+xml"/>
  <Override PartName="/ppt/charts/chart25.xml" ContentType="application/vnd.openxmlformats-officedocument.drawingml.chart+xml"/>
  <Override PartName="/ppt/charts/chart26.xml" ContentType="application/vnd.openxmlformats-officedocument.drawingml.chart+xml"/>
  <Override PartName="/ppt/charts/chart27.xml" ContentType="application/vnd.openxmlformats-officedocument.drawingml.chart+xml"/>
  <Override PartName="/ppt/charts/chart29.xml" ContentType="application/vnd.openxmlformats-officedocument.drawingml.chart+xml"/>
  <Override PartName="/ppt/charts/chart3.xml" ContentType="application/vnd.openxmlformats-officedocument.drawingml.chart+xml"/>
  <Override PartName="/ppt/charts/chart30.xml" ContentType="application/vnd.openxmlformats-officedocument.drawingml.chart+xml"/>
  <Override PartName="/ppt/charts/chart3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2.xml" ContentType="application/vnd.openxmlformats-officedocument.presentationml.slide+xml"/>
  <Override PartName="/ppt/slides/slide14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4"/>
  </p:notesMasterIdLst>
  <p:sldIdLst>
    <p:sldId id="256" r:id="rId2"/>
    <p:sldId id="258" r:id="rId4"/>
    <p:sldId id="293" r:id="rId20"/>
    <p:sldId id="276" r:id="rId21"/>
    <p:sldId id="285" r:id="rId34"/>
    <p:sldId id="283" r:id="rId32"/>
    <p:sldId id="284" r:id="rId33"/>
    <p:sldId id="287" r:id="rId36"/>
    <p:sldId id="281" r:id="rId30"/>
    <p:sldId id="288" r:id="rId37"/>
    <p:sldId id="278" r:id="rId23"/>
    <p:sldId id="290" r:id="rId39"/>
    <p:sldId id="292" r:id="rId22"/>
    <p:sldId id="261" r:id="rId8"/>
    <p:sldId id="262" r:id="rId9"/>
    <p:sldId id="264" r:id="rId10"/>
    <p:sldId id="265" r:id="rId11"/>
    <p:sldId id="267" r:id="rId13"/>
    <p:sldId id="268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0909" autoAdjust="0"/>
  </p:normalViewPr>
  <p:slideViewPr>
    <p:cSldViewPr snapToGrid="0" snapToObjects="1">
      <p:cViewPr varScale="1">
        <p:scale>
          <a:sx n="80" d="100"/>
          <a:sy n="80" d="100"/>
        </p:scale>
        <p:origin x="112" y="4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4" Type="http://schemas.openxmlformats.org/officeDocument/2006/relationships/slide" Target="slides/slide2.xml"/><Relationship Id="rId8" Type="http://schemas.openxmlformats.org/officeDocument/2006/relationships/slide" Target="slides/slide17.xml"/><Relationship Id="rId9" Type="http://schemas.openxmlformats.org/officeDocument/2006/relationships/slide" Target="slides/slide18.xml"/><Relationship Id="rId10" Type="http://schemas.openxmlformats.org/officeDocument/2006/relationships/slide" Target="slides/slide19.xml"/><Relationship Id="rId11" Type="http://schemas.openxmlformats.org/officeDocument/2006/relationships/slide" Target="slides/slide20.xml"/><Relationship Id="rId13" Type="http://schemas.openxmlformats.org/officeDocument/2006/relationships/slide" Target="slides/slide22.xml"/><Relationship Id="rId14" Type="http://schemas.openxmlformats.org/officeDocument/2006/relationships/slide" Target="slides/slide23.xml"/><Relationship Id="rId20" Type="http://schemas.openxmlformats.org/officeDocument/2006/relationships/slide" Target="slides/slide24.xml"/><Relationship Id="rId21" Type="http://schemas.openxmlformats.org/officeDocument/2006/relationships/slide" Target="slides/slide3.xml"/><Relationship Id="rId22" Type="http://schemas.openxmlformats.org/officeDocument/2006/relationships/slide" Target="slides/slide16.xml"/><Relationship Id="rId23" Type="http://schemas.openxmlformats.org/officeDocument/2006/relationships/slide" Target="slides/slide1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Relationship Id="rId29" Type="http://schemas.microsoft.com/office/2016/11/relationships/changesInfo" Target="changesInfos/changesInfo1.xml"/><Relationship Id="rId30" Type="http://schemas.openxmlformats.org/officeDocument/2006/relationships/slide" Target="slides/slide9.xml"/><Relationship Id="rId32" Type="http://schemas.openxmlformats.org/officeDocument/2006/relationships/slide" Target="slides/slide5.xml"/><Relationship Id="rId33" Type="http://schemas.openxmlformats.org/officeDocument/2006/relationships/slide" Target="slides/slide6.xml"/><Relationship Id="rId34" Type="http://schemas.openxmlformats.org/officeDocument/2006/relationships/slide" Target="slides/slide4.xml"/><Relationship Id="rId36" Type="http://schemas.openxmlformats.org/officeDocument/2006/relationships/slide" Target="slides/slide8.xml"/><Relationship Id="rId37" Type="http://schemas.openxmlformats.org/officeDocument/2006/relationships/slide" Target="slides/slide10.xml"/><Relationship Id="rId39" Type="http://schemas.openxmlformats.org/officeDocument/2006/relationships/slide" Target="slides/slide14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Ettore Cantile" userId="2f5e44afd0b03182" providerId="LiveId" clId="{E1385F0F-24B1-4705-8EF7-8D82C33CA9CE}"/>
    <pc:docChg chg="undo redo custSel addSld delSld modSld">
      <pc:chgData name="Ettore Cantile" userId="2f5e44afd0b03182" providerId="LiveId" clId="{E1385F0F-24B1-4705-8EF7-8D82C33CA9CE}" dt="2026-09-25T15:17:48.142" v="404" actId="47"/>
      <pc:docMkLst>
        <pc:docMk/>
      </pc:docMkLst>
      <pc:sldChg chg="modSp mod">
        <pc:chgData name="Ettore Cantile" userId="2f5e44afd0b03182" providerId="LiveId" clId="{E1385F0F-24B1-4705-8EF7-8D82C33CA9CE}" dt="2026-09-25T15:14:45.321" v="331" actId="20577"/>
        <pc:sldMkLst>
          <pc:docMk/>
          <pc:sldMk cId="0" sldId="256"/>
        </pc:sldMkLst>
        <pc:spChg chg="mod">
          <ac:chgData name="Ettore Cantile" userId="2f5e44afd0b03182" providerId="LiveId" clId="{E1385F0F-24B1-4705-8EF7-8D82C33CA9CE}" dt="2026-09-25T15:14:45.321" v="331" actId="20577"/>
          <ac:spMkLst>
            <pc:docMk/>
            <pc:sldMk cId="0" sldId="256"/>
            <ac:spMk id="7" creationId="{00000000-0000-0000-0000-000000000000}"/>
          </ac:spMkLst>
        </pc:spChg>
      </pc:sldChg>
      <pc:sldChg chg="modSp mod">
        <pc:chgData name="Ettore Cantile" userId="2f5e44afd0b03182" providerId="LiveId" clId="{E1385F0F-24B1-4705-8EF7-8D82C33CA9CE}" dt="2026-09-25T12:03:07.871" v="123" actId="20577"/>
        <pc:sldMkLst>
          <pc:docMk/>
          <pc:sldMk cId="0" sldId="257"/>
        </pc:sldMkLst>
        <pc:spChg chg="mod">
          <ac:chgData name="Ettore Cantile" userId="2f5e44afd0b03182" providerId="LiveId" clId="{E1385F0F-24B1-4705-8EF7-8D82C33CA9CE}" dt="2026-09-25T08:43:50.886" v="79" actId="20577"/>
          <ac:spMkLst>
            <pc:docMk/>
            <pc:sldMk cId="0" sldId="257"/>
            <ac:spMk id="7" creationId="{00000000-0000-0000-0000-000000000000}"/>
          </ac:spMkLst>
        </pc:spChg>
        <pc:spChg chg="mod">
          <ac:chgData name="Ettore Cantile" userId="2f5e44afd0b03182" providerId="LiveId" clId="{E1385F0F-24B1-4705-8EF7-8D82C33CA9CE}" dt="2026-09-25T12:03:07.871" v="123" actId="20577"/>
          <ac:spMkLst>
            <pc:docMk/>
            <pc:sldMk cId="0" sldId="257"/>
            <ac:spMk id="33" creationId="{00000000-0000-0000-0000-000000000000}"/>
          </ac:spMkLst>
        </pc:spChg>
      </pc:sldChg>
      <pc:sldChg chg="modSp mod">
        <pc:chgData name="Ettore Cantile" userId="2f5e44afd0b03182" providerId="LiveId" clId="{E1385F0F-24B1-4705-8EF7-8D82C33CA9CE}" dt="2026-09-25T14:24:40.828" v="303" actId="207"/>
        <pc:sldMkLst>
          <pc:docMk/>
          <pc:sldMk cId="0" sldId="258"/>
        </pc:sldMkLst>
        <pc:graphicFrameChg chg="modGraphic">
          <ac:chgData name="Ettore Cantile" userId="2f5e44afd0b03182" providerId="LiveId" clId="{E1385F0F-24B1-4705-8EF7-8D82C33CA9CE}" dt="2026-09-25T14:24:40.828" v="303" actId="207"/>
          <ac:graphicFrameMkLst>
            <pc:docMk/>
            <pc:sldMk cId="0" sldId="258"/>
            <ac:graphicFrameMk id="8" creationId="{00000000-0000-0000-0000-000000000000}"/>
          </ac:graphicFrameMkLst>
        </pc:graphicFrameChg>
      </pc:sldChg>
      <pc:sldChg chg="modSp mod">
        <pc:chgData name="Ettore Cantile" userId="2f5e44afd0b03182" providerId="LiveId" clId="{E1385F0F-24B1-4705-8EF7-8D82C33CA9CE}" dt="2026-09-24T16:05:13.005" v="54" actId="20577"/>
        <pc:sldMkLst>
          <pc:docMk/>
          <pc:sldMk cId="0" sldId="260"/>
        </pc:sldMkLst>
        <pc:spChg chg="mod">
          <ac:chgData name="Ettore Cantile" userId="2f5e44afd0b03182" providerId="LiveId" clId="{E1385F0F-24B1-4705-8EF7-8D82C33CA9CE}" dt="2026-09-24T16:05:13.005" v="54" actId="20577"/>
          <ac:spMkLst>
            <pc:docMk/>
            <pc:sldMk cId="0" sldId="260"/>
            <ac:spMk id="5" creationId="{00000000-0000-0000-0000-000000000000}"/>
          </ac:spMkLst>
        </pc:spChg>
      </pc:sldChg>
      <pc:sldChg chg="modSp mod">
        <pc:chgData name="Ettore Cantile" userId="2f5e44afd0b03182" providerId="LiveId" clId="{E1385F0F-24B1-4705-8EF7-8D82C33CA9CE}" dt="2026-09-25T09:10:24.986" v="80" actId="20577"/>
        <pc:sldMkLst>
          <pc:docMk/>
          <pc:sldMk cId="0" sldId="261"/>
        </pc:sldMkLst>
        <pc:spChg chg="mod">
          <ac:chgData name="Ettore Cantile" userId="2f5e44afd0b03182" providerId="LiveId" clId="{E1385F0F-24B1-4705-8EF7-8D82C33CA9CE}" dt="2026-09-24T16:05:13.089" v="55" actId="20577"/>
          <ac:spMkLst>
            <pc:docMk/>
            <pc:sldMk cId="0" sldId="261"/>
            <ac:spMk id="5" creationId="{00000000-0000-0000-0000-000000000000}"/>
          </ac:spMkLst>
        </pc:spChg>
        <pc:spChg chg="mod">
          <ac:chgData name="Ettore Cantile" userId="2f5e44afd0b03182" providerId="LiveId" clId="{E1385F0F-24B1-4705-8EF7-8D82C33CA9CE}" dt="2026-09-25T09:10:24.986" v="80" actId="20577"/>
          <ac:spMkLst>
            <pc:docMk/>
            <pc:sldMk cId="0" sldId="261"/>
            <ac:spMk id="6" creationId="{00000000-0000-0000-0000-000000000000}"/>
          </ac:spMkLst>
        </pc:spChg>
      </pc:sldChg>
      <pc:sldChg chg="modSp mod">
        <pc:chgData name="Ettore Cantile" userId="2f5e44afd0b03182" providerId="LiveId" clId="{E1385F0F-24B1-4705-8EF7-8D82C33CA9CE}" dt="2026-09-25T09:10:36.050" v="83" actId="20577"/>
        <pc:sldMkLst>
          <pc:docMk/>
          <pc:sldMk cId="0" sldId="262"/>
        </pc:sldMkLst>
        <pc:spChg chg="mod">
          <ac:chgData name="Ettore Cantile" userId="2f5e44afd0b03182" providerId="LiveId" clId="{E1385F0F-24B1-4705-8EF7-8D82C33CA9CE}" dt="2026-09-24T16:05:13.136" v="56" actId="20577"/>
          <ac:spMkLst>
            <pc:docMk/>
            <pc:sldMk cId="0" sldId="262"/>
            <ac:spMk id="5" creationId="{00000000-0000-0000-0000-000000000000}"/>
          </ac:spMkLst>
        </pc:spChg>
        <pc:spChg chg="mod">
          <ac:chgData name="Ettore Cantile" userId="2f5e44afd0b03182" providerId="LiveId" clId="{E1385F0F-24B1-4705-8EF7-8D82C33CA9CE}" dt="2026-09-25T09:10:36.050" v="83" actId="20577"/>
          <ac:spMkLst>
            <pc:docMk/>
            <pc:sldMk cId="0" sldId="262"/>
            <ac:spMk id="6" creationId="{00000000-0000-0000-0000-000000000000}"/>
          </ac:spMkLst>
        </pc:spChg>
      </pc:sldChg>
      <pc:sldChg chg="del">
        <pc:chgData name="Ettore Cantile" userId="2f5e44afd0b03182" providerId="LiveId" clId="{E1385F0F-24B1-4705-8EF7-8D82C33CA9CE}" dt="2026-09-24T16:05:12.626" v="52" actId="2696"/>
        <pc:sldMkLst>
          <pc:docMk/>
          <pc:sldMk cId="0" sldId="263"/>
        </pc:sldMkLst>
      </pc:sldChg>
      <pc:sldChg chg="modSp mod">
        <pc:chgData name="Ettore Cantile" userId="2f5e44afd0b03182" providerId="LiveId" clId="{E1385F0F-24B1-4705-8EF7-8D82C33CA9CE}" dt="2026-09-25T15:15:50.626" v="378" actId="20577"/>
        <pc:sldMkLst>
          <pc:docMk/>
          <pc:sldMk cId="0" sldId="264"/>
        </pc:sldMkLst>
        <pc:spChg chg="mod">
          <ac:chgData name="Ettore Cantile" userId="2f5e44afd0b03182" providerId="LiveId" clId="{E1385F0F-24B1-4705-8EF7-8D82C33CA9CE}" dt="2026-09-25T15:15:50.626" v="378" actId="20577"/>
          <ac:spMkLst>
            <pc:docMk/>
            <pc:sldMk cId="0" sldId="264"/>
            <ac:spMk id="6" creationId="{00000000-0000-0000-0000-000000000000}"/>
          </ac:spMkLst>
        </pc:spChg>
        <pc:spChg chg="mod">
          <ac:chgData name="Ettore Cantile" userId="2f5e44afd0b03182" providerId="LiveId" clId="{E1385F0F-24B1-4705-8EF7-8D82C33CA9CE}" dt="2026-09-25T09:20:14.077" v="90" actId="113"/>
          <ac:spMkLst>
            <pc:docMk/>
            <pc:sldMk cId="0" sldId="264"/>
            <ac:spMk id="9" creationId="{00000000-0000-0000-0000-000000000000}"/>
          </ac:spMkLst>
        </pc:spChg>
      </pc:sldChg>
      <pc:sldChg chg="modSp mod">
        <pc:chgData name="Ettore Cantile" userId="2f5e44afd0b03182" providerId="LiveId" clId="{E1385F0F-24B1-4705-8EF7-8D82C33CA9CE}" dt="2026-09-25T15:10:33.325" v="328" actId="20577"/>
        <pc:sldMkLst>
          <pc:docMk/>
          <pc:sldMk cId="0" sldId="265"/>
        </pc:sldMkLst>
        <pc:spChg chg="mod">
          <ac:chgData name="Ettore Cantile" userId="2f5e44afd0b03182" providerId="LiveId" clId="{E1385F0F-24B1-4705-8EF7-8D82C33CA9CE}" dt="2026-09-25T15:10:33.307" v="327" actId="20577"/>
          <ac:spMkLst>
            <pc:docMk/>
            <pc:sldMk cId="0" sldId="265"/>
            <ac:spMk id="9" creationId="{00000000-0000-0000-0000-000000000000}"/>
          </ac:spMkLst>
        </pc:spChg>
        <pc:spChg chg="mod">
          <ac:chgData name="Ettore Cantile" userId="2f5e44afd0b03182" providerId="LiveId" clId="{E1385F0F-24B1-4705-8EF7-8D82C33CA9CE}" dt="2026-09-25T15:10:33.325" v="328" actId="20577"/>
          <ac:spMkLst>
            <pc:docMk/>
            <pc:sldMk cId="0" sldId="265"/>
            <ac:spMk id="14" creationId="{00000000-0000-0000-0000-000000000000}"/>
          </ac:spMkLst>
        </pc:spChg>
      </pc:sldChg>
      <pc:sldChg chg="modSp mod">
        <pc:chgData name="Ettore Cantile" userId="2f5e44afd0b03182" providerId="LiveId" clId="{E1385F0F-24B1-4705-8EF7-8D82C33CA9CE}" dt="2026-09-25T15:17:02.618" v="400" actId="20577"/>
        <pc:sldMkLst>
          <pc:docMk/>
          <pc:sldMk cId="0" sldId="267"/>
        </pc:sldMkLst>
        <pc:spChg chg="mod">
          <ac:chgData name="Ettore Cantile" userId="2f5e44afd0b03182" providerId="LiveId" clId="{E1385F0F-24B1-4705-8EF7-8D82C33CA9CE}" dt="2026-09-25T15:17:02.618" v="400" actId="20577"/>
          <ac:spMkLst>
            <pc:docMk/>
            <pc:sldMk cId="0" sldId="267"/>
            <ac:spMk id="6" creationId="{00000000-0000-0000-0000-000000000000}"/>
          </ac:spMkLst>
        </pc:spChg>
      </pc:sldChg>
      <pc:sldChg chg="modSp mod">
        <pc:chgData name="Ettore Cantile" userId="2f5e44afd0b03182" providerId="LiveId" clId="{E1385F0F-24B1-4705-8EF7-8D82C33CA9CE}" dt="2026-09-25T14:25:17.961" v="311" actId="20577"/>
        <pc:sldMkLst>
          <pc:docMk/>
          <pc:sldMk cId="0" sldId="269"/>
        </pc:sldMkLst>
        <pc:spChg chg="mod">
          <ac:chgData name="Ettore Cantile" userId="2f5e44afd0b03182" providerId="LiveId" clId="{E1385F0F-24B1-4705-8EF7-8D82C33CA9CE}" dt="2026-09-25T14:24:40.852" v="304" actId="20577"/>
          <ac:spMkLst>
            <pc:docMk/>
            <pc:sldMk cId="0" sldId="269"/>
            <ac:spMk id="8" creationId="{00000000-0000-0000-0000-000000000000}"/>
          </ac:spMkLst>
        </pc:spChg>
        <pc:spChg chg="mod">
          <ac:chgData name="Ettore Cantile" userId="2f5e44afd0b03182" providerId="LiveId" clId="{E1385F0F-24B1-4705-8EF7-8D82C33CA9CE}" dt="2026-09-25T14:25:17.961" v="311" actId="20577"/>
          <ac:spMkLst>
            <pc:docMk/>
            <pc:sldMk cId="0" sldId="269"/>
            <ac:spMk id="9" creationId="{00000000-0000-0000-0000-000000000000}"/>
          </ac:spMkLst>
        </pc:spChg>
      </pc:sldChg>
      <pc:sldChg chg="modSp mod">
        <pc:chgData name="Ettore Cantile" userId="2f5e44afd0b03182" providerId="LiveId" clId="{E1385F0F-24B1-4705-8EF7-8D82C33CA9CE}" dt="2026-09-24T15:41:16.588" v="3" actId="947"/>
        <pc:sldMkLst>
          <pc:docMk/>
          <pc:sldMk cId="0" sldId="271"/>
        </pc:sldMkLst>
        <pc:spChg chg="mod">
          <ac:chgData name="Ettore Cantile" userId="2f5e44afd0b03182" providerId="LiveId" clId="{E1385F0F-24B1-4705-8EF7-8D82C33CA9CE}" dt="2026-09-24T15:41:16.588" v="3" actId="947"/>
          <ac:spMkLst>
            <pc:docMk/>
            <pc:sldMk cId="0" sldId="271"/>
            <ac:spMk id="18" creationId="{00000000-0000-0000-0000-000000000000}"/>
          </ac:spMkLst>
        </pc:spChg>
      </pc:sldChg>
      <pc:sldChg chg="del">
        <pc:chgData name="Ettore Cantile" userId="2f5e44afd0b03182" providerId="LiveId" clId="{E1385F0F-24B1-4705-8EF7-8D82C33CA9CE}" dt="2026-09-23T14:04:15.896" v="0" actId="47"/>
        <pc:sldMkLst>
          <pc:docMk/>
          <pc:sldMk cId="0" sldId="274"/>
        </pc:sldMkLst>
      </pc:sldChg>
      <pc:sldChg chg="modSp mod">
        <pc:chgData name="Ettore Cantile" userId="2f5e44afd0b03182" providerId="LiveId" clId="{E1385F0F-24B1-4705-8EF7-8D82C33CA9CE}" dt="2026-09-24T16:05:14.113" v="57" actId="20577"/>
        <pc:sldMkLst>
          <pc:docMk/>
          <pc:sldMk cId="0" sldId="275"/>
        </pc:sldMkLst>
        <pc:spChg chg="mod">
          <ac:chgData name="Ettore Cantile" userId="2f5e44afd0b03182" providerId="LiveId" clId="{E1385F0F-24B1-4705-8EF7-8D82C33CA9CE}" dt="2026-09-24T16:05:14.113" v="57" actId="20577"/>
          <ac:spMkLst>
            <pc:docMk/>
            <pc:sldMk cId="0" sldId="275"/>
            <ac:spMk id="5" creationId="{00000000-0000-0000-0000-000000000000}"/>
          </ac:spMkLst>
        </pc:spChg>
      </pc:sldChg>
      <pc:sldChg chg="modSp mod">
        <pc:chgData name="Ettore Cantile" userId="2f5e44afd0b03182" providerId="LiveId" clId="{E1385F0F-24B1-4705-8EF7-8D82C33CA9CE}" dt="2026-09-24T16:05:14.217" v="58" actId="20577"/>
        <pc:sldMkLst>
          <pc:docMk/>
          <pc:sldMk cId="0" sldId="276"/>
        </pc:sldMkLst>
        <pc:spChg chg="mod">
          <ac:chgData name="Ettore Cantile" userId="2f5e44afd0b03182" providerId="LiveId" clId="{E1385F0F-24B1-4705-8EF7-8D82C33CA9CE}" dt="2026-09-24T16:05:14.217" v="58" actId="20577"/>
          <ac:spMkLst>
            <pc:docMk/>
            <pc:sldMk cId="0" sldId="276"/>
            <ac:spMk id="5" creationId="{00000000-0000-0000-0000-000000000000}"/>
          </ac:spMkLst>
        </pc:spChg>
      </pc:sldChg>
      <pc:sldChg chg="modSp mod">
        <pc:chgData name="Ettore Cantile" userId="2f5e44afd0b03182" providerId="LiveId" clId="{E1385F0F-24B1-4705-8EF7-8D82C33CA9CE}" dt="2026-09-24T16:05:14.332" v="59" actId="20577"/>
        <pc:sldMkLst>
          <pc:docMk/>
          <pc:sldMk cId="0" sldId="277"/>
        </pc:sldMkLst>
        <pc:spChg chg="mod">
          <ac:chgData name="Ettore Cantile" userId="2f5e44afd0b03182" providerId="LiveId" clId="{E1385F0F-24B1-4705-8EF7-8D82C33CA9CE}" dt="2026-09-24T16:05:14.332" v="59" actId="20577"/>
          <ac:spMkLst>
            <pc:docMk/>
            <pc:sldMk cId="0" sldId="277"/>
            <ac:spMk id="5" creationId="{00000000-0000-0000-0000-000000000000}"/>
          </ac:spMkLst>
        </pc:spChg>
      </pc:sldChg>
      <pc:sldChg chg="modSp mod">
        <pc:chgData name="Ettore Cantile" userId="2f5e44afd0b03182" providerId="LiveId" clId="{E1385F0F-24B1-4705-8EF7-8D82C33CA9CE}" dt="2026-09-24T16:05:14.406" v="60" actId="20577"/>
        <pc:sldMkLst>
          <pc:docMk/>
          <pc:sldMk cId="0" sldId="278"/>
        </pc:sldMkLst>
        <pc:spChg chg="mod">
          <ac:chgData name="Ettore Cantile" userId="2f5e44afd0b03182" providerId="LiveId" clId="{E1385F0F-24B1-4705-8EF7-8D82C33CA9CE}" dt="2026-09-24T16:05:14.406" v="60" actId="20577"/>
          <ac:spMkLst>
            <pc:docMk/>
            <pc:sldMk cId="0" sldId="278"/>
            <ac:spMk id="5" creationId="{00000000-0000-0000-0000-000000000000}"/>
          </ac:spMkLst>
        </pc:spChg>
      </pc:sldChg>
      <pc:sldChg chg="modSp del mod">
        <pc:chgData name="Ettore Cantile" userId="2f5e44afd0b03182" providerId="LiveId" clId="{E1385F0F-24B1-4705-8EF7-8D82C33CA9CE}" dt="2026-09-25T15:17:48.142" v="404" actId="47"/>
        <pc:sldMkLst>
          <pc:docMk/>
          <pc:sldMk cId="0" sldId="279"/>
        </pc:sldMkLst>
        <pc:spChg chg="mod">
          <ac:chgData name="Ettore Cantile" userId="2f5e44afd0b03182" providerId="LiveId" clId="{E1385F0F-24B1-4705-8EF7-8D82C33CA9CE}" dt="2026-09-24T16:05:14.466" v="61" actId="20577"/>
          <ac:spMkLst>
            <pc:docMk/>
            <pc:sldMk cId="0" sldId="279"/>
            <ac:spMk id="5" creationId="{00000000-0000-0000-0000-000000000000}"/>
          </ac:spMkLst>
        </pc:spChg>
        <pc:spChg chg="mod">
          <ac:chgData name="Ettore Cantile" userId="2f5e44afd0b03182" providerId="LiveId" clId="{E1385F0F-24B1-4705-8EF7-8D82C33CA9CE}" dt="2026-09-25T15:17:38.689" v="403" actId="20577"/>
          <ac:spMkLst>
            <pc:docMk/>
            <pc:sldMk cId="0" sldId="279"/>
            <ac:spMk id="6" creationId="{00000000-0000-0000-0000-000000000000}"/>
          </ac:spMkLst>
        </pc:spChg>
        <pc:spChg chg="mod">
          <ac:chgData name="Ettore Cantile" userId="2f5e44afd0b03182" providerId="LiveId" clId="{E1385F0F-24B1-4705-8EF7-8D82C33CA9CE}" dt="2026-09-24T15:41:16.831" v="6" actId="20577"/>
          <ac:spMkLst>
            <pc:docMk/>
            <pc:sldMk cId="0" sldId="279"/>
            <ac:spMk id="14" creationId="{00000000-0000-0000-0000-000000000000}"/>
          </ac:spMkLst>
        </pc:spChg>
        <pc:spChg chg="mod">
          <ac:chgData name="Ettore Cantile" userId="2f5e44afd0b03182" providerId="LiveId" clId="{E1385F0F-24B1-4705-8EF7-8D82C33CA9CE}" dt="2026-09-24T15:41:16.770" v="5" actId="947"/>
          <ac:spMkLst>
            <pc:docMk/>
            <pc:sldMk cId="0" sldId="279"/>
            <ac:spMk id="22" creationId="{00000000-0000-0000-0000-000000000000}"/>
          </ac:spMkLst>
        </pc:spChg>
      </pc:sldChg>
      <pc:sldChg chg="modSp add del mod">
        <pc:chgData name="Ettore Cantile" userId="2f5e44afd0b03182" providerId="LiveId" clId="{E1385F0F-24B1-4705-8EF7-8D82C33CA9CE}" dt="2026-09-25T15:15:23.771" v="376" actId="20577"/>
        <pc:sldMkLst>
          <pc:docMk/>
          <pc:sldMk cId="4050059398" sldId="280"/>
        </pc:sldMkLst>
        <pc:spChg chg="mod">
          <ac:chgData name="Ettore Cantile" userId="2f5e44afd0b03182" providerId="LiveId" clId="{E1385F0F-24B1-4705-8EF7-8D82C33CA9CE}" dt="2026-09-24T16:04:51.379" v="11" actId="947"/>
          <ac:spMkLst>
            <pc:docMk/>
            <pc:sldMk cId="4050059398" sldId="280"/>
            <ac:spMk id="3" creationId="{00000000-0000-0000-0000-000000000000}"/>
          </ac:spMkLst>
        </pc:spChg>
        <pc:spChg chg="mod">
          <ac:chgData name="Ettore Cantile" userId="2f5e44afd0b03182" providerId="LiveId" clId="{E1385F0F-24B1-4705-8EF7-8D82C33CA9CE}" dt="2026-09-24T16:04:51.396" v="14" actId="947"/>
          <ac:spMkLst>
            <pc:docMk/>
            <pc:sldMk cId="4050059398" sldId="280"/>
            <ac:spMk id="4" creationId="{00000000-0000-0000-0000-000000000000}"/>
          </ac:spMkLst>
        </pc:spChg>
        <pc:spChg chg="mod">
          <ac:chgData name="Ettore Cantile" userId="2f5e44afd0b03182" providerId="LiveId" clId="{E1385F0F-24B1-4705-8EF7-8D82C33CA9CE}" dt="2026-09-24T16:05:12.951" v="53" actId="20577"/>
          <ac:spMkLst>
            <pc:docMk/>
            <pc:sldMk cId="4050059398" sldId="280"/>
            <ac:spMk id="5" creationId="{00000000-0000-0000-0000-000000000000}"/>
          </ac:spMkLst>
        </pc:spChg>
        <pc:spChg chg="mod">
          <ac:chgData name="Ettore Cantile" userId="2f5e44afd0b03182" providerId="LiveId" clId="{E1385F0F-24B1-4705-8EF7-8D82C33CA9CE}" dt="2026-09-25T15:15:23.771" v="376" actId="20577"/>
          <ac:spMkLst>
            <pc:docMk/>
            <pc:sldMk cId="4050059398" sldId="280"/>
            <ac:spMk id="6" creationId="{00000000-0000-0000-0000-000000000000}"/>
          </ac:spMkLst>
        </pc:spChg>
        <pc:spChg chg="mod">
          <ac:chgData name="Ettore Cantile" userId="2f5e44afd0b03182" providerId="LiveId" clId="{E1385F0F-24B1-4705-8EF7-8D82C33CA9CE}" dt="2026-09-24T16:05:32.922" v="63"/>
          <ac:spMkLst>
            <pc:docMk/>
            <pc:sldMk cId="4050059398" sldId="280"/>
            <ac:spMk id="7" creationId="{00000000-0000-0000-0000-000000000000}"/>
          </ac:spMkLst>
        </pc:spChg>
        <pc:spChg chg="mod">
          <ac:chgData name="Ettore Cantile" userId="2f5e44afd0b03182" providerId="LiveId" clId="{E1385F0F-24B1-4705-8EF7-8D82C33CA9CE}" dt="2026-09-24T16:04:51.414" v="17" actId="947"/>
          <ac:spMkLst>
            <pc:docMk/>
            <pc:sldMk cId="4050059398" sldId="280"/>
            <ac:spMk id="9" creationId="{00000000-0000-0000-0000-000000000000}"/>
          </ac:spMkLst>
        </pc:spChg>
        <pc:spChg chg="mod">
          <ac:chgData name="Ettore Cantile" userId="2f5e44afd0b03182" providerId="LiveId" clId="{E1385F0F-24B1-4705-8EF7-8D82C33CA9CE}" dt="2026-09-24T16:05:12.523" v="41"/>
          <ac:spMkLst>
            <pc:docMk/>
            <pc:sldMk cId="4050059398" sldId="280"/>
            <ac:spMk id="10" creationId="{00000000-0000-0000-0000-000000000000}"/>
          </ac:spMkLst>
        </pc:spChg>
        <pc:spChg chg="mod">
          <ac:chgData name="Ettore Cantile" userId="2f5e44afd0b03182" providerId="LiveId" clId="{E1385F0F-24B1-4705-8EF7-8D82C33CA9CE}" dt="2026-09-24T16:05:12.541" v="45"/>
          <ac:spMkLst>
            <pc:docMk/>
            <pc:sldMk cId="4050059398" sldId="280"/>
            <ac:spMk id="11" creationId="{00000000-0000-0000-0000-000000000000}"/>
          </ac:spMkLst>
        </pc:spChg>
        <pc:spChg chg="mod">
          <ac:chgData name="Ettore Cantile" userId="2f5e44afd0b03182" providerId="LiveId" clId="{E1385F0F-24B1-4705-8EF7-8D82C33CA9CE}" dt="2026-09-24T16:05:12.559" v="49"/>
          <ac:spMkLst>
            <pc:docMk/>
            <pc:sldMk cId="4050059398" sldId="280"/>
            <ac:spMk id="12" creationId="{00000000-0000-0000-0000-000000000000}"/>
          </ac:spMkLst>
        </pc:spChg>
        <pc:spChg chg="mod">
          <ac:chgData name="Ettore Cantile" userId="2f5e44afd0b03182" providerId="LiveId" clId="{E1385F0F-24B1-4705-8EF7-8D82C33CA9CE}" dt="2026-09-24T16:05:32.933" v="65"/>
          <ac:spMkLst>
            <pc:docMk/>
            <pc:sldMk cId="4050059398" sldId="280"/>
            <ac:spMk id="13" creationId="{00000000-0000-0000-0000-000000000000}"/>
          </ac:spMkLst>
        </pc:spChg>
        <pc:spChg chg="mod">
          <ac:chgData name="Ettore Cantile" userId="2f5e44afd0b03182" providerId="LiveId" clId="{E1385F0F-24B1-4705-8EF7-8D82C33CA9CE}" dt="2026-09-24T16:04:51.431" v="20" actId="947"/>
          <ac:spMkLst>
            <pc:docMk/>
            <pc:sldMk cId="4050059398" sldId="280"/>
            <ac:spMk id="15" creationId="{00000000-0000-0000-0000-000000000000}"/>
          </ac:spMkLst>
        </pc:spChg>
        <pc:spChg chg="mod">
          <ac:chgData name="Ettore Cantile" userId="2f5e44afd0b03182" providerId="LiveId" clId="{E1385F0F-24B1-4705-8EF7-8D82C33CA9CE}" dt="2026-09-24T16:05:12.534" v="43"/>
          <ac:spMkLst>
            <pc:docMk/>
            <pc:sldMk cId="4050059398" sldId="280"/>
            <ac:spMk id="16" creationId="{00000000-0000-0000-0000-000000000000}"/>
          </ac:spMkLst>
        </pc:spChg>
        <pc:spChg chg="mod">
          <ac:chgData name="Ettore Cantile" userId="2f5e44afd0b03182" providerId="LiveId" clId="{E1385F0F-24B1-4705-8EF7-8D82C33CA9CE}" dt="2026-09-24T16:05:12.542" v="47"/>
          <ac:spMkLst>
            <pc:docMk/>
            <pc:sldMk cId="4050059398" sldId="280"/>
            <ac:spMk id="17" creationId="{00000000-0000-0000-0000-000000000000}"/>
          </ac:spMkLst>
        </pc:spChg>
        <pc:spChg chg="mod">
          <ac:chgData name="Ettore Cantile" userId="2f5e44afd0b03182" providerId="LiveId" clId="{E1385F0F-24B1-4705-8EF7-8D82C33CA9CE}" dt="2026-09-24T16:05:12.561" v="51"/>
          <ac:spMkLst>
            <pc:docMk/>
            <pc:sldMk cId="4050059398" sldId="280"/>
            <ac:spMk id="18" creationId="{00000000-0000-0000-0000-000000000000}"/>
          </ac:spMkLst>
        </pc:spChg>
        <pc:spChg chg="mod">
          <ac:chgData name="Ettore Cantile" userId="2f5e44afd0b03182" providerId="LiveId" clId="{E1385F0F-24B1-4705-8EF7-8D82C33CA9CE}" dt="2026-09-24T16:05:32.939" v="67"/>
          <ac:spMkLst>
            <pc:docMk/>
            <pc:sldMk cId="4050059398" sldId="280"/>
            <ac:spMk id="19" creationId="{00000000-0000-0000-0000-000000000000}"/>
          </ac:spMkLst>
        </pc:spChg>
        <pc:spChg chg="mod">
          <ac:chgData name="Ettore Cantile" userId="2f5e44afd0b03182" providerId="LiveId" clId="{E1385F0F-24B1-4705-8EF7-8D82C33CA9CE}" dt="2026-09-24T16:05:47.995" v="75"/>
          <ac:spMkLst>
            <pc:docMk/>
            <pc:sldMk cId="4050059398" sldId="280"/>
            <ac:spMk id="20" creationId="{00000000-0000-0000-0000-000000000000}"/>
          </ac:spMkLst>
        </pc:spChg>
      </pc:sldChg>
    </pc:docChg>
  </pc:docChgLst>
</pc:chgInfo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0.xlsx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1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1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1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2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2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2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_rels/chart2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1.xlsx"/></Relationships>
</file>

<file path=ppt/charts/_rels/chart2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2.xlsx"/></Relationships>
</file>

<file path=ppt/charts/_rels/chart2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3.xlsx"/></Relationships>
</file>

<file path=ppt/charts/_rels/chart2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4.xlsx"/></Relationships>
</file>

<file path=ppt/charts/_rels/chart2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6.xlsx"/></Relationships>
</file>

<file path=ppt/charts/_rels/chart3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7.xlsx"/></Relationships>
</file>

<file path=ppt/charts/_rels/chart3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1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ns</c:v>
                </c:pt>
              </c:strCache>
            </c:strRef>
          </c:tx>
          <c:spPr>
            <a:solidFill>
              <a:srgbClr val="1F3A5F"/>
            </a:solidFill>
            <a:ln>
              <a:noFill/>
            </a:ln>
          </c:spPr>
          <c:invertIfNegative val="1"/>
          <c:dPt>
            <c:idx val="0"/>
            <c:invertIfNegative val="1"/>
            <c:bubble3D val="0"/>
            <c:spPr>
              <a:solidFill>
                <a:srgbClr val="8A94A6"/>
              </a:solidFill>
            </c:spPr>
            <c:extLst>
              <c:ext xmlns:c16="http://schemas.microsoft.com/office/drawing/2014/chart" uri="{C3380CC4-5D6E-409C-BE32-E72D297353CC}">
                <c16:uniqueId val="{00000001-B2EE-41DF-BD52-DB8D95671A71}"/>
              </c:ext>
            </c:extLst>
          </c:dPt>
          <c:dPt>
            <c:idx val="1"/>
            <c:invertIfNegative val="1"/>
            <c:bubble3D val="0"/>
            <c:spPr>
              <a:solidFill>
                <a:srgbClr val="C8551E"/>
              </a:solidFill>
            </c:spPr>
            <c:extLst>
              <c:ext xmlns:c16="http://schemas.microsoft.com/office/drawing/2014/chart" uri="{C3380CC4-5D6E-409C-BE32-E72D297353CC}">
                <c16:uniqueId val="{00000003-B2EE-41DF-BD52-DB8D95671A71}"/>
              </c:ext>
            </c:extLst>
          </c:dPt>
          <c:dPt>
            <c:idx val="2"/>
            <c:invertIfNegative val="1"/>
            <c:bubble3D val="0"/>
            <c:spPr>
              <a:solidFill>
                <a:srgbClr val="F09A3E"/>
              </a:solidFill>
            </c:spPr>
            <c:extLst>
              <c:ext xmlns:c16="http://schemas.microsoft.com/office/drawing/2014/chart" uri="{C3380CC4-5D6E-409C-BE32-E72D297353CC}">
                <c16:uniqueId val="{00000005-B2EE-41DF-BD52-DB8D95671A71}"/>
              </c:ext>
            </c:extLst>
          </c:dPt>
          <c:dPt>
            <c:idx val="3"/>
            <c:invertIfNegative val="1"/>
            <c:bubble3D val="0"/>
            <c:spPr>
              <a:solidFill>
                <a:srgbClr val="2E9C8F"/>
              </a:solidFill>
            </c:spPr>
            <c:extLst>
              <c:ext xmlns:c16="http://schemas.microsoft.com/office/drawing/2014/chart" uri="{C3380CC4-5D6E-409C-BE32-E72D297353CC}">
                <c16:uniqueId val="{00000007-B2EE-41DF-BD52-DB8D95671A71}"/>
              </c:ext>
            </c:extLst>
          </c:dPt>
          <c:dPt>
            <c:idx val="4"/>
            <c:invertIfNegative val="1"/>
            <c:bubble3D val="0"/>
            <c:spPr>
              <a:solidFill>
                <a:srgbClr val="1F5F8B"/>
              </a:solidFill>
            </c:spPr>
            <c:extLst>
              <c:ext xmlns:c16="http://schemas.microsoft.com/office/drawing/2014/chart" uri="{C3380CC4-5D6E-409C-BE32-E72D297353CC}">
                <c16:uniqueId val="{00000009-B2EE-41DF-BD52-DB8D95671A71}"/>
              </c:ext>
            </c:extLst>
          </c:dPt>
          <c:cat>
            <c:strRef>
              <c:f>Sheet1!$A$2:$A$6</c:f>
              <c:strCache>
                <c:ptCount val="5"/>
                <c:pt idx="0">
                  <c:v>senza rete</c:v>
                </c:pt>
                <c:pt idx="1">
                  <c:v>P1 statica</c:v>
                </c:pt>
                <c:pt idx="2">
                  <c:v>P1.5</c:v>
                </c:pt>
                <c:pt idx="3">
                  <c:v>P2</c:v>
                </c:pt>
                <c:pt idx="4">
                  <c:v>P3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66.4</c:v>
                </c:pt>
                <c:pt idx="1">
                  <c:v>118.5</c:v>
                </c:pt>
                <c:pt idx="2">
                  <c:v>124.3</c:v>
                </c:pt>
                <c:pt idx="3">
                  <c:v>291.8</c:v>
                </c:pt>
                <c:pt idx="4">
                  <c:v>487.2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A-B2EE-41DF-BD52-DB8D95671A71}"/>
            </c:ext>
          </c:extLst>
        </c:ser>
        <c:dLbls>
          <c:numFmt formatCode="0" sourceLinked="0"/>
          <c:txPr>
            <a:bodyPr/>
            <a:lstStyle/>
            <a:p>
              <a:pPr>
                <a:defRPr sz="800">
                  <a:solidFill>
                    <a:srgbClr val="4A5568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55"/>
        <c:overlap val="-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C8D0DA"/>
            </a:solidFill>
          </a:ln>
        </c:spPr>
        <c:txPr>
          <a:bodyPr/>
          <a:lstStyle/>
          <a:p>
            <a:pPr>
              <a:defRPr sz="900">
                <a:solidFill>
                  <a:srgbClr val="4A5568"/>
                </a:solidFill>
                <a:latin typeface="Calibri"/>
              </a:defRPr>
            </a:pPr>
            <a:endParaRPr lang="it-IT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in val="0.0"/>
        </c:scaling>
        <c:delete val="0"/>
        <c:axPos val="l"/>
        <c:majorGridlines>
          <c:spPr>
            <a:ln w="7620">
              <a:solidFill>
                <a:srgbClr val="E3E7ED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it-IT" sz="1100" b="0">
                    <a:solidFill>
                      <a:srgbClr val="6B7C93"/>
                    </a:solidFill>
                    <a:latin typeface="Calibri"/>
                  </a:rPr>
                  <a:t>tempo per pacchetto (ns)</a:t>
                </a:r>
              </a:p>
            </c:rich>
          </c:tx>
          <c:overlay val="0"/>
        </c:title>
        <c:numFmt formatCode="#,##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solidFill>
                  <a:srgbClr val="6B7C93"/>
                </a:solidFill>
                <a:latin typeface="Calibri"/>
              </a:defRPr>
            </a:pPr>
            <a:endParaRPr lang="it-IT"/>
          </a:p>
        </c:txPr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900">
          <a:solidFill>
            <a:srgbClr val="4A5568"/>
          </a:solidFill>
          <a:latin typeface="Calibri"/>
        </a:defRPr>
      </a:pPr>
      <a:endParaRPr lang="it-IT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1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ms</c:v>
                </c:pt>
              </c:strCache>
            </c:strRef>
          </c:tx>
          <c:spPr>
            <a:solidFill>
              <a:srgbClr val="1F3A5F"/>
            </a:solidFill>
            <a:ln>
              <a:noFill/>
            </a:ln>
          </c:spPr>
          <c:invertIfNegative val="1"/>
          <c:dPt>
            <c:idx val="0"/>
            <c:invertIfNegative val="1"/>
            <c:bubble3D val="0"/>
            <c:spPr>
              <a:solidFill>
                <a:srgbClr val="C0443C"/>
              </a:solidFill>
            </c:spPr>
            <c:extLst>
              <c:ext xmlns:c16="http://schemas.microsoft.com/office/drawing/2014/chart" uri="{C3380CC4-5D6E-409C-BE32-E72D297353CC}">
                <c16:uniqueId val="{00000001-22A5-49AE-B3BE-8258F9514AF6}"/>
              </c:ext>
            </c:extLst>
          </c:dPt>
          <c:dPt>
            <c:idx val="1"/>
            <c:invertIfNegative val="1"/>
            <c:bubble3D val="0"/>
            <c:spPr>
              <a:solidFill>
                <a:srgbClr val="C0443C"/>
              </a:solidFill>
            </c:spPr>
            <c:extLst>
              <c:ext xmlns:c16="http://schemas.microsoft.com/office/drawing/2014/chart" uri="{C3380CC4-5D6E-409C-BE32-E72D297353CC}">
                <c16:uniqueId val="{00000003-22A5-49AE-B3BE-8258F9514AF6}"/>
              </c:ext>
            </c:extLst>
          </c:dPt>
          <c:dPt>
            <c:idx val="2"/>
            <c:invertIfNegative val="1"/>
            <c:bubble3D val="0"/>
            <c:spPr>
              <a:solidFill>
                <a:srgbClr val="F2B134"/>
              </a:solidFill>
            </c:spPr>
            <c:extLst>
              <c:ext xmlns:c16="http://schemas.microsoft.com/office/drawing/2014/chart" uri="{C3380CC4-5D6E-409C-BE32-E72D297353CC}">
                <c16:uniqueId val="{00000005-22A5-49AE-B3BE-8258F9514AF6}"/>
              </c:ext>
            </c:extLst>
          </c:dPt>
          <c:dPt>
            <c:idx val="3"/>
            <c:invertIfNegative val="1"/>
            <c:bubble3D val="0"/>
            <c:spPr>
              <a:solidFill>
                <a:srgbClr val="E07A2D"/>
              </a:solidFill>
            </c:spPr>
            <c:extLst>
              <c:ext xmlns:c16="http://schemas.microsoft.com/office/drawing/2014/chart" uri="{C3380CC4-5D6E-409C-BE32-E72D297353CC}">
                <c16:uniqueId val="{00000007-22A5-49AE-B3BE-8258F9514AF6}"/>
              </c:ext>
            </c:extLst>
          </c:dPt>
          <c:dPt>
            <c:idx val="4"/>
            <c:spPr>
              <a:solidFill>
                <a:srgbClr val="2E9C6E"/>
              </a:solidFill>
            </c:spPr>
          </c:dPt>
          <c:cat>
            <c:strRef>
              <c:f>Sheet1!$A$2:$A$6</c:f>
              <c:strCache>
                <c:ptCount val="5"/>
                <c:pt idx="0">
                  <c:v>P2: compila
(una volta)
1 571 ms</c:v>
                </c:pt>
                <c:pt idx="1">
                  <c:v>P3: compila
(una volta)
1 217 ms</c:v>
                </c:pt>
                <c:pt idx="2">
                  <c:v>P1: genera
e compila
50 ms</c:v>
                </c:pt>
                <c:pt idx="3">
                  <c:v>P1: carica
sul nodo
0,6 ms</c:v>
                </c:pt>
                <c:pt idx="4">
                  <c:v>P2 / P3:
la tabella
0,3 ms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1571.412</c:v>
                </c:pt>
                <c:pt idx="1">
                  <c:v>1217.463</c:v>
                </c:pt>
                <c:pt idx="2">
                  <c:v>50.151</c:v>
                </c:pt>
                <c:pt idx="3">
                  <c:v>0.61</c:v>
                </c:pt>
                <c:pt idx="4">
                  <c:v>0.311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8-22A5-49AE-B3BE-8258F9514AF6}"/>
            </c:ext>
          </c:extLst>
        </c:ser>
        <c:gapWidth val="55"/>
        <c:overlap val="-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C8D0DA"/>
            </a:solidFill>
          </a:ln>
        </c:spPr>
        <c:txPr>
          <a:bodyPr/>
          <a:lstStyle/>
          <a:p>
            <a:pPr>
              <a:defRPr sz="900">
                <a:solidFill>
                  <a:srgbClr val="4A5568"/>
                </a:solidFill>
                <a:latin typeface="Calibri"/>
              </a:defRPr>
            </a:pPr>
            <a:endParaRPr lang="it-IT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logBase val="10"/>
          <c:orientation val="minMax"/>
          <c:min val="0.01"/>
        </c:scaling>
        <c:delete val="0"/>
        <c:axPos val="l"/>
        <c:majorGridlines>
          <c:spPr>
            <a:ln w="7620">
              <a:solidFill>
                <a:srgbClr val="E3E7ED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it-IT" sz="1100" b="0">
                    <a:solidFill>
                      <a:srgbClr val="6B7C93"/>
                    </a:solidFill>
                    <a:latin typeface="Calibri"/>
                  </a:rPr>
                  <a:t>millisecondi (scala log)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solidFill>
                  <a:srgbClr val="6B7C93"/>
                </a:solidFill>
                <a:latin typeface="Calibri"/>
              </a:defRPr>
            </a:pPr>
            <a:endParaRPr lang="it-IT"/>
          </a:p>
        </c:txPr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900">
          <a:solidFill>
            <a:srgbClr val="4A5568"/>
          </a:solidFill>
          <a:latin typeface="Calibri"/>
        </a:defRPr>
      </a:pPr>
      <a:endParaRPr lang="it-IT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P1 statica</c:v>
                </c:pt>
              </c:strCache>
            </c:strRef>
          </c:tx>
          <c:spPr>
            <a:ln w="28575">
              <a:solidFill>
                <a:srgbClr val="C8551E"/>
              </a:solidFill>
            </a:ln>
          </c:spPr>
          <c:marker>
            <c:symbol val="circle"/>
            <c:size val="6"/>
            <c:spPr>
              <a:solidFill>
                <a:srgbClr val="C8551E"/>
              </a:solidFill>
              <a:ln>
                <a:solidFill>
                  <a:srgbClr val="C8551E"/>
                </a:solidFill>
              </a:ln>
            </c:spPr>
          </c:marker>
          <c:cat>
            <c:strRef>
              <c:f>Sheet1!$A$2:$A$5</c:f>
              <c:strCache>
                <c:ptCount val="4"/>
                <c:pt idx="0">
                  <c:v>10</c:v>
                </c:pt>
                <c:pt idx="1">
                  <c:v>24</c:v>
                </c:pt>
                <c:pt idx="2">
                  <c:v>52</c:v>
                </c:pt>
                <c:pt idx="3">
                  <c:v>100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4.048</c:v>
                </c:pt>
                <c:pt idx="1">
                  <c:v>-2.533</c:v>
                </c:pt>
                <c:pt idx="2">
                  <c:v>3.781</c:v>
                </c:pt>
                <c:pt idx="3">
                  <c:v>0.937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A774-4ADD-9089-DB4FCCB8654F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P1.5</c:v>
                </c:pt>
              </c:strCache>
            </c:strRef>
          </c:tx>
          <c:spPr>
            <a:ln w="28575">
              <a:solidFill>
                <a:srgbClr val="F09A3E"/>
              </a:solidFill>
            </a:ln>
          </c:spPr>
          <c:marker>
            <c:symbol val="circle"/>
            <c:size val="6"/>
            <c:spPr>
              <a:solidFill>
                <a:srgbClr val="F09A3E"/>
              </a:solidFill>
              <a:ln>
                <a:solidFill>
                  <a:srgbClr val="F09A3E"/>
                </a:solidFill>
              </a:ln>
            </c:spPr>
          </c:marker>
          <c:cat>
            <c:strRef>
              <c:f>Sheet1!$A$2:$A$5</c:f>
              <c:strCache>
                <c:ptCount val="4"/>
                <c:pt idx="0">
                  <c:v>10</c:v>
                </c:pt>
                <c:pt idx="1">
                  <c:v>24</c:v>
                </c:pt>
                <c:pt idx="2">
                  <c:v>52</c:v>
                </c:pt>
                <c:pt idx="3">
                  <c:v>100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5.961</c:v>
                </c:pt>
                <c:pt idx="1">
                  <c:v>-1.119</c:v>
                </c:pt>
                <c:pt idx="2">
                  <c:v>8.476</c:v>
                </c:pt>
                <c:pt idx="3">
                  <c:v>1.694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A774-4ADD-9089-DB4FCCB8654F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P2</c:v>
                </c:pt>
              </c:strCache>
            </c:strRef>
          </c:tx>
          <c:spPr>
            <a:ln w="28575">
              <a:solidFill>
                <a:srgbClr val="2E9C8F"/>
              </a:solidFill>
            </a:ln>
          </c:spPr>
          <c:marker>
            <c:symbol val="circle"/>
            <c:size val="6"/>
            <c:spPr>
              <a:solidFill>
                <a:srgbClr val="2E9C8F"/>
              </a:solidFill>
              <a:ln>
                <a:solidFill>
                  <a:srgbClr val="2E9C8F"/>
                </a:solidFill>
              </a:ln>
            </c:spPr>
          </c:marker>
          <c:cat>
            <c:strRef>
              <c:f>Sheet1!$A$2:$A$5</c:f>
              <c:strCache>
                <c:ptCount val="4"/>
                <c:pt idx="0">
                  <c:v>10</c:v>
                </c:pt>
                <c:pt idx="1">
                  <c:v>24</c:v>
                </c:pt>
                <c:pt idx="2">
                  <c:v>52</c:v>
                </c:pt>
                <c:pt idx="3">
                  <c:v>100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-0.113</c:v>
                </c:pt>
                <c:pt idx="1">
                  <c:v>4.554</c:v>
                </c:pt>
                <c:pt idx="2">
                  <c:v>12.73</c:v>
                </c:pt>
                <c:pt idx="3">
                  <c:v>-5.327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A774-4ADD-9089-DB4FCCB8654F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P3</c:v>
                </c:pt>
              </c:strCache>
            </c:strRef>
          </c:tx>
          <c:spPr>
            <a:ln w="28575">
              <a:solidFill>
                <a:srgbClr val="1F5F8B"/>
              </a:solidFill>
            </a:ln>
          </c:spPr>
          <c:marker>
            <c:symbol val="circle"/>
            <c:size val="6"/>
            <c:spPr>
              <a:solidFill>
                <a:srgbClr val="1F5F8B"/>
              </a:solidFill>
              <a:ln>
                <a:solidFill>
                  <a:srgbClr val="1F5F8B"/>
                </a:solidFill>
              </a:ln>
            </c:spPr>
          </c:marker>
          <c:cat>
            <c:strRef>
              <c:f>Sheet1!$A$2:$A$5</c:f>
              <c:strCache>
                <c:ptCount val="4"/>
                <c:pt idx="0">
                  <c:v>10</c:v>
                </c:pt>
                <c:pt idx="1">
                  <c:v>24</c:v>
                </c:pt>
                <c:pt idx="2">
                  <c:v>52</c:v>
                </c:pt>
                <c:pt idx="3">
                  <c:v>100</c:v>
                </c:pt>
              </c:strCache>
            </c: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-7.836</c:v>
                </c:pt>
                <c:pt idx="1">
                  <c:v>11.875</c:v>
                </c:pt>
                <c:pt idx="2">
                  <c:v>-11.313</c:v>
                </c:pt>
                <c:pt idx="3">
                  <c:v>-2.276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A774-4ADD-9089-DB4FCCB8654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rPr lang="it-IT" sz="1200" b="0">
                    <a:solidFill>
                      <a:srgbClr val="6B7C93"/>
                    </a:solidFill>
                    <a:latin typeface="Calibri"/>
                  </a:rPr>
                  <a:t>nodi della rete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low"/>
        <c:spPr>
          <a:ln>
            <a:solidFill>
              <a:srgbClr val="C8D0DA"/>
            </a:solidFill>
          </a:ln>
        </c:spPr>
        <c:txPr>
          <a:bodyPr/>
          <a:lstStyle/>
          <a:p>
            <a:pPr>
              <a:defRPr sz="900">
                <a:solidFill>
                  <a:srgbClr val="4A5568"/>
                </a:solidFill>
                <a:latin typeface="Calibri"/>
              </a:defRPr>
            </a:pPr>
            <a:endParaRPr lang="it-IT"/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orientation val="minMax"/>
          <c:max val="40.0"/>
          <c:min val="-40.0"/>
        </c:scaling>
        <c:delete val="0"/>
        <c:axPos val="l"/>
        <c:majorGridlines>
          <c:spPr>
            <a:ln w="7620">
              <a:solidFill>
                <a:srgbClr val="E3E7ED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it-IT" sz="1100" b="0">
                    <a:solidFill>
                      <a:srgbClr val="6B7C93"/>
                    </a:solidFill>
                    <a:latin typeface="Calibri"/>
                  </a:rPr>
                  <a:t>scarto dalla legge (ns)</a:t>
                </a:r>
              </a:p>
            </c:rich>
          </c:tx>
          <c:overlay val="0"/>
        </c:title>
        <c:numFmt formatCode="#,##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solidFill>
                  <a:srgbClr val="6B7C93"/>
                </a:solidFill>
                <a:latin typeface="Calibri"/>
              </a:defRPr>
            </a:pPr>
            <a:endParaRPr lang="it-IT"/>
          </a:p>
        </c:txPr>
        <c:crossAx val="2118791784"/>
        <c:crosses val="autoZero"/>
        <c:crossBetween val="between"/>
      </c:valAx>
    </c:plotArea>
    <c:legend>
      <c:legendPos val="t"/>
      <c:overlay val="0"/>
      <c:txPr>
        <a:bodyPr/>
        <a:lstStyle/>
        <a:p>
          <a:pPr>
            <a:defRPr sz="900">
              <a:solidFill>
                <a:srgbClr val="222B36"/>
              </a:solidFill>
            </a:defRPr>
          </a:pPr>
          <a:endParaRPr lang="it-IT"/>
        </a:p>
      </c:txPr>
    </c:legend>
    <c:plotVisOnly val="1"/>
    <c:dispBlanksAs val="gap"/>
    <c:showDLblsOverMax val="0"/>
  </c:chart>
  <c:txPr>
    <a:bodyPr/>
    <a:lstStyle/>
    <a:p>
      <a:pPr>
        <a:defRPr sz="900">
          <a:solidFill>
            <a:srgbClr val="4A5568"/>
          </a:solidFill>
          <a:latin typeface="Calibri"/>
        </a:defRPr>
      </a:pPr>
      <a:endParaRPr lang="it-IT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P1 statica</c:v>
                </c:pt>
              </c:strCache>
            </c:strRef>
          </c:tx>
          <c:spPr>
            <a:ln w="28575">
              <a:solidFill>
                <a:srgbClr val="C8551E"/>
              </a:solidFill>
            </a:ln>
          </c:spPr>
          <c:marker>
            <c:symbol val="circle"/>
            <c:size val="6"/>
            <c:spPr>
              <a:solidFill>
                <a:srgbClr val="C8551E"/>
              </a:solidFill>
              <a:ln>
                <a:solidFill>
                  <a:srgbClr val="C8551E"/>
                </a:solidFill>
              </a:ln>
            </c:spPr>
          </c:marker>
          <c:cat>
            <c:strRef>
              <c:f>Sheet1!$A$2:$A$4</c:f>
              <c:strCache>
                <c:ptCount val="3"/>
                <c:pt idx="0">
                  <c:v>2</c:v>
                </c:pt>
                <c:pt idx="1">
                  <c:v>4</c:v>
                </c:pt>
                <c:pt idx="2">
                  <c:v>8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36.85</c:v>
                </c:pt>
                <c:pt idx="1">
                  <c:v>48.3</c:v>
                </c:pt>
                <c:pt idx="2">
                  <c:v>90.5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CB40-40F4-8AE4-87AB3DBEE21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P1.5</c:v>
                </c:pt>
              </c:strCache>
            </c:strRef>
          </c:tx>
          <c:spPr>
            <a:ln w="28575">
              <a:solidFill>
                <a:srgbClr val="F09A3E"/>
              </a:solidFill>
            </a:ln>
          </c:spPr>
          <c:marker>
            <c:symbol val="circle"/>
            <c:size val="6"/>
            <c:spPr>
              <a:solidFill>
                <a:srgbClr val="F09A3E"/>
              </a:solidFill>
              <a:ln>
                <a:solidFill>
                  <a:srgbClr val="F09A3E"/>
                </a:solidFill>
              </a:ln>
            </c:spPr>
          </c:marker>
          <c:cat>
            <c:strRef>
              <c:f>Sheet1!$A$2:$A$4</c:f>
              <c:strCache>
                <c:ptCount val="3"/>
                <c:pt idx="0">
                  <c:v>2</c:v>
                </c:pt>
                <c:pt idx="1">
                  <c:v>4</c:v>
                </c:pt>
                <c:pt idx="2">
                  <c:v>8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42.1</c:v>
                </c:pt>
                <c:pt idx="1">
                  <c:v>57.2</c:v>
                </c:pt>
                <c:pt idx="2">
                  <c:v>102.05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CB40-40F4-8AE4-87AB3DBEE21D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P2</c:v>
                </c:pt>
              </c:strCache>
            </c:strRef>
          </c:tx>
          <c:spPr>
            <a:ln w="28575">
              <a:solidFill>
                <a:srgbClr val="2E9C8F"/>
              </a:solidFill>
            </a:ln>
          </c:spPr>
          <c:marker>
            <c:symbol val="circle"/>
            <c:size val="6"/>
            <c:spPr>
              <a:solidFill>
                <a:srgbClr val="2E9C8F"/>
              </a:solidFill>
              <a:ln>
                <a:solidFill>
                  <a:srgbClr val="2E9C8F"/>
                </a:solidFill>
              </a:ln>
            </c:spPr>
          </c:marker>
          <c:cat>
            <c:strRef>
              <c:f>Sheet1!$A$2:$A$4</c:f>
              <c:strCache>
                <c:ptCount val="3"/>
                <c:pt idx="0">
                  <c:v>2</c:v>
                </c:pt>
                <c:pt idx="1">
                  <c:v>4</c:v>
                </c:pt>
                <c:pt idx="2">
                  <c:v>8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197.4</c:v>
                </c:pt>
                <c:pt idx="1">
                  <c:v>230.4</c:v>
                </c:pt>
                <c:pt idx="2">
                  <c:v>279.1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CB40-40F4-8AE4-87AB3DBEE21D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P3</c:v>
                </c:pt>
              </c:strCache>
            </c:strRef>
          </c:tx>
          <c:spPr>
            <a:ln w="28575">
              <a:solidFill>
                <a:srgbClr val="1F5F8B"/>
              </a:solidFill>
            </a:ln>
          </c:spPr>
          <c:marker>
            <c:symbol val="circle"/>
            <c:size val="6"/>
            <c:spPr>
              <a:solidFill>
                <a:srgbClr val="1F5F8B"/>
              </a:solidFill>
              <a:ln>
                <a:solidFill>
                  <a:srgbClr val="1F5F8B"/>
                </a:solidFill>
              </a:ln>
            </c:spPr>
          </c:marker>
          <c:cat>
            <c:strRef>
              <c:f>Sheet1!$A$2:$A$4</c:f>
              <c:strCache>
                <c:ptCount val="3"/>
                <c:pt idx="0">
                  <c:v>2</c:v>
                </c:pt>
                <c:pt idx="1">
                  <c:v>4</c:v>
                </c:pt>
                <c:pt idx="2">
                  <c:v>8</c:v>
                </c:pt>
              </c:strCache>
            </c: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389.05</c:v>
                </c:pt>
                <c:pt idx="1">
                  <c:v>415.1</c:v>
                </c:pt>
                <c:pt idx="2">
                  <c:v>537.15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CB40-40F4-8AE4-87AB3DBEE21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rPr lang="it-IT" sz="1200" b="0">
                    <a:solidFill>
                      <a:srgbClr val="6B7C93"/>
                    </a:solidFill>
                    <a:latin typeface="Calibri"/>
                  </a:rPr>
                  <a:t>neuroni per strato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nextTo"/>
        <c:spPr>
          <a:ln>
            <a:solidFill>
              <a:srgbClr val="C8D0DA"/>
            </a:solidFill>
          </a:ln>
        </c:spPr>
        <c:txPr>
          <a:bodyPr/>
          <a:lstStyle/>
          <a:p>
            <a:pPr>
              <a:defRPr sz="900">
                <a:solidFill>
                  <a:srgbClr val="4A5568"/>
                </a:solidFill>
                <a:latin typeface="Calibri"/>
              </a:defRPr>
            </a:pPr>
            <a:endParaRPr lang="it-IT"/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orientation val="minMax"/>
          <c:min val="0.0"/>
        </c:scaling>
        <c:delete val="0"/>
        <c:axPos val="l"/>
        <c:majorGridlines>
          <c:spPr>
            <a:ln w="7620">
              <a:solidFill>
                <a:srgbClr val="E3E7ED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it-IT" sz="1100" b="0">
                    <a:solidFill>
                      <a:srgbClr val="6B7C93"/>
                    </a:solidFill>
                    <a:latin typeface="Calibri"/>
                  </a:rPr>
                  <a:t>tempo della sola rete (ns)</a:t>
                </a:r>
              </a:p>
            </c:rich>
          </c:tx>
          <c:overlay val="0"/>
        </c:title>
        <c:numFmt formatCode="#,##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solidFill>
                  <a:srgbClr val="6B7C93"/>
                </a:solidFill>
                <a:latin typeface="Calibri"/>
              </a:defRPr>
            </a:pPr>
            <a:endParaRPr lang="it-IT"/>
          </a:p>
        </c:txPr>
        <c:crossAx val="2118791784"/>
        <c:crosses val="autoZero"/>
        <c:crossBetween val="between"/>
      </c:valAx>
    </c:plotArea>
    <c:legend>
      <c:legendPos val="t"/>
      <c:overlay val="0"/>
      <c:txPr>
        <a:bodyPr/>
        <a:lstStyle/>
        <a:p>
          <a:pPr>
            <a:defRPr sz="900">
              <a:solidFill>
                <a:srgbClr val="222B36"/>
              </a:solidFill>
            </a:defRPr>
          </a:pPr>
          <a:endParaRPr lang="it-IT"/>
        </a:p>
      </c:txPr>
    </c:legend>
    <c:plotVisOnly val="1"/>
    <c:dispBlanksAs val="gap"/>
    <c:showDLblsOverMax val="0"/>
  </c:chart>
  <c:txPr>
    <a:bodyPr/>
    <a:lstStyle/>
    <a:p>
      <a:pPr>
        <a:defRPr sz="900">
          <a:solidFill>
            <a:srgbClr val="4A5568"/>
          </a:solidFill>
          <a:latin typeface="Calibri"/>
        </a:defRPr>
      </a:pPr>
      <a:endParaRPr lang="it-IT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1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P1 statica</c:v>
                </c:pt>
              </c:strCache>
            </c:strRef>
          </c:tx>
          <c:spPr>
            <a:solidFill>
              <a:srgbClr val="C8551E"/>
            </a:solidFill>
            <a:ln>
              <a:noFill/>
            </a:ln>
          </c:spPr>
          <c:invertIfNegative val="1"/>
          <c:cat>
            <c:strRef>
              <c:f>Sheet1!$A$2:$A$7</c:f>
              <c:strCache>
                <c:ptCount val="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937.0</c:v>
                </c:pt>
                <c:pt idx="1">
                  <c:v>928.5</c:v>
                </c:pt>
                <c:pt idx="2">
                  <c:v>927.5</c:v>
                </c:pt>
                <c:pt idx="3">
                  <c:v>1106.5</c:v>
                </c:pt>
                <c:pt idx="4">
                  <c:v>1036.0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3ADE-4412-B047-C29A6E8602E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P1.5</c:v>
                </c:pt>
              </c:strCache>
            </c:strRef>
          </c:tx>
          <c:spPr>
            <a:solidFill>
              <a:srgbClr val="F09A3E"/>
            </a:solidFill>
            <a:ln>
              <a:noFill/>
            </a:ln>
          </c:spPr>
          <c:invertIfNegative val="1"/>
          <c:cat>
            <c:strRef>
              <c:f>Sheet1!$A$2:$A$7</c:f>
              <c:strCache>
                <c:ptCount val="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1500.0</c:v>
                </c:pt>
                <c:pt idx="1">
                  <c:v>1390.0</c:v>
                </c:pt>
                <c:pt idx="2">
                  <c:v>1363.0</c:v>
                </c:pt>
                <c:pt idx="3">
                  <c:v>1451.5</c:v>
                </c:pt>
                <c:pt idx="4">
                  <c:v>1369.0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3ADE-4412-B047-C29A6E8602E7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P2</c:v>
                </c:pt>
              </c:strCache>
            </c:strRef>
          </c:tx>
          <c:spPr>
            <a:solidFill>
              <a:srgbClr val="2E9C8F"/>
            </a:solidFill>
            <a:ln>
              <a:noFill/>
            </a:ln>
          </c:spPr>
          <c:invertIfNegative val="0"/>
          <c:cat>
            <c:strRef>
              <c:f>Sheet1!$A$2:$A$7</c:f>
              <c:strCache>
                <c:ptCount val="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14604.0</c:v>
                </c:pt>
                <c:pt idx="1">
                  <c:v>15089.0</c:v>
                </c:pt>
                <c:pt idx="2">
                  <c:v>16813.0</c:v>
                </c:pt>
                <c:pt idx="3">
                  <c:v>16945.0</c:v>
                </c:pt>
                <c:pt idx="4">
                  <c:v>17939.0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63F-4696-84CE-A75DF0F08176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P3</c:v>
                </c:pt>
              </c:strCache>
            </c:strRef>
          </c:tx>
          <c:spPr>
            <a:solidFill>
              <a:srgbClr val="1F5F8B"/>
            </a:solidFill>
            <a:ln>
              <a:noFill/>
            </a:ln>
          </c:spPr>
          <c:invertIfNegative val="0"/>
          <c:cat>
            <c:strRef>
              <c:f>Sheet1!$A$2:$A$7</c:f>
              <c:strCache>
                <c:ptCount val="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12288.0</c:v>
                </c:pt>
                <c:pt idx="1">
                  <c:v>12288.0</c:v>
                </c:pt>
                <c:pt idx="2">
                  <c:v>12288.0</c:v>
                </c:pt>
                <c:pt idx="3">
                  <c:v>12288.0</c:v>
                </c:pt>
                <c:pt idx="4">
                  <c:v>12288.0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A63F-4696-84CE-A75DF0F0817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55"/>
        <c:overlap val="-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rPr lang="it-IT" sz="1200" b="0">
                    <a:solidFill>
                      <a:srgbClr val="6B7C93"/>
                    </a:solidFill>
                    <a:latin typeface="Calibri"/>
                  </a:rPr>
                  <a:t>strati nascosti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nextTo"/>
        <c:spPr>
          <a:ln>
            <a:solidFill>
              <a:srgbClr val="C8D0DA"/>
            </a:solidFill>
          </a:ln>
        </c:spPr>
        <c:txPr>
          <a:bodyPr/>
          <a:lstStyle/>
          <a:p>
            <a:pPr>
              <a:defRPr sz="900">
                <a:solidFill>
                  <a:srgbClr val="4A5568"/>
                </a:solidFill>
                <a:latin typeface="Calibri"/>
              </a:defRPr>
            </a:pPr>
            <a:endParaRPr lang="it-IT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logBase val="10"/>
          <c:orientation val="minMax"/>
          <c:max val="30000"/>
          <c:min val="300"/>
        </c:scaling>
        <c:delete val="0"/>
        <c:axPos val="l"/>
        <c:majorGridlines>
          <c:spPr>
            <a:ln w="7620">
              <a:solidFill>
                <a:srgbClr val="E3E7ED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en-US" sz="1100" b="0">
                    <a:solidFill>
                      <a:srgbClr val="6B7C93"/>
                    </a:solidFill>
                    <a:latin typeface="Calibri"/>
                  </a:rPr>
                  <a:t>istruzioni del programma (scala log.)</a:t>
                </a:r>
              </a:p>
            </c:rich>
          </c:tx>
          <c:overlay val="0"/>
        </c:title>
        <c:numFmt formatCode="#,##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solidFill>
                  <a:srgbClr val="6B7C93"/>
                </a:solidFill>
                <a:latin typeface="Calibri"/>
              </a:defRPr>
            </a:pPr>
            <a:endParaRPr lang="it-IT"/>
          </a:p>
        </c:txPr>
        <c:crossAx val="-2068027336"/>
        <c:crosses val="autoZero"/>
        <c:crossBetween val="between"/>
      </c:valAx>
    </c:plotArea>
    <c:legend>
      <c:legendPos val="t"/>
      <c:overlay val="0"/>
      <c:txPr>
        <a:bodyPr/>
        <a:lstStyle/>
        <a:p>
          <a:pPr>
            <a:defRPr sz="900">
              <a:solidFill>
                <a:srgbClr val="222B36"/>
              </a:solidFill>
            </a:defRPr>
          </a:pPr>
          <a:endParaRPr lang="it-IT"/>
        </a:p>
      </c:txPr>
    </c:legend>
    <c:plotVisOnly val="1"/>
    <c:dispBlanksAs val="gap"/>
    <c:showDLblsOverMax val="1"/>
  </c:chart>
  <c:txPr>
    <a:bodyPr/>
    <a:lstStyle/>
    <a:p>
      <a:pPr>
        <a:defRPr sz="900">
          <a:solidFill>
            <a:srgbClr val="4A5568"/>
          </a:solidFill>
          <a:latin typeface="Calibri"/>
        </a:defRPr>
      </a:pPr>
      <a:endParaRPr lang="it-IT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P1 statica</c:v>
                </c:pt>
              </c:strCache>
            </c:strRef>
          </c:tx>
          <c:spPr>
            <a:ln w="28575">
              <a:solidFill>
                <a:srgbClr val="C8551E"/>
              </a:solidFill>
            </a:ln>
          </c:spPr>
          <c:marker>
            <c:symbol val="circle"/>
            <c:size val="6"/>
            <c:spPr>
              <a:solidFill>
                <a:srgbClr val="C8551E"/>
              </a:solidFill>
              <a:ln>
                <a:solidFill>
                  <a:srgbClr val="C8551E"/>
                </a:solidFill>
              </a:ln>
            </c:spPr>
          </c:marker>
          <c:cat>
            <c:strRef>
              <c:f>Sheet1!$A$2:$A$7</c:f>
              <c:strCache>
                <c:ptCount val="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69.1</c:v>
                </c:pt>
                <c:pt idx="1">
                  <c:v>70.7</c:v>
                </c:pt>
                <c:pt idx="2">
                  <c:v>71.2</c:v>
                </c:pt>
                <c:pt idx="3">
                  <c:v>83.25</c:v>
                </c:pt>
                <c:pt idx="4">
                  <c:v>81.25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EE24-4E76-9C4E-D10656651830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P1.5</c:v>
                </c:pt>
              </c:strCache>
            </c:strRef>
          </c:tx>
          <c:spPr>
            <a:ln w="28575">
              <a:solidFill>
                <a:srgbClr val="F09A3E"/>
              </a:solidFill>
            </a:ln>
          </c:spPr>
          <c:marker>
            <c:symbol val="circle"/>
            <c:size val="6"/>
            <c:spPr>
              <a:solidFill>
                <a:srgbClr val="F09A3E"/>
              </a:solidFill>
              <a:ln>
                <a:solidFill>
                  <a:srgbClr val="F09A3E"/>
                </a:solidFill>
              </a:ln>
            </c:spPr>
          </c:marker>
          <c:cat>
            <c:strRef>
              <c:f>Sheet1!$A$2:$A$7</c:f>
              <c:strCache>
                <c:ptCount val="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76.1</c:v>
                </c:pt>
                <c:pt idx="1">
                  <c:v>75.1</c:v>
                </c:pt>
                <c:pt idx="2">
                  <c:v>80.25</c:v>
                </c:pt>
                <c:pt idx="3">
                  <c:v>92.25</c:v>
                </c:pt>
                <c:pt idx="4">
                  <c:v>86.95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EE24-4E76-9C4E-D10656651830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P2</c:v>
                </c:pt>
              </c:strCache>
            </c:strRef>
          </c:tx>
          <c:spPr>
            <a:ln w="28575">
              <a:solidFill>
                <a:srgbClr val="2E9C8F"/>
              </a:solidFill>
            </a:ln>
          </c:spPr>
          <c:marker>
            <c:symbol val="circle"/>
            <c:size val="6"/>
            <c:spPr>
              <a:solidFill>
                <a:srgbClr val="2E9C8F"/>
              </a:solidFill>
              <a:ln>
                <a:solidFill>
                  <a:srgbClr val="2E9C8F"/>
                </a:solidFill>
              </a:ln>
            </c:spPr>
          </c:marker>
          <c:cat>
            <c:strRef>
              <c:f>Sheet1!$A$2:$A$7</c:f>
              <c:strCache>
                <c:ptCount val="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211.15</c:v>
                </c:pt>
                <c:pt idx="1">
                  <c:v>231.25</c:v>
                </c:pt>
                <c:pt idx="2">
                  <c:v>251.45</c:v>
                </c:pt>
                <c:pt idx="3">
                  <c:v>301.0</c:v>
                </c:pt>
                <c:pt idx="4">
                  <c:v>312.55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EE24-4E76-9C4E-D10656651830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P3</c:v>
                </c:pt>
              </c:strCache>
            </c:strRef>
          </c:tx>
          <c:spPr>
            <a:ln w="28575">
              <a:solidFill>
                <a:srgbClr val="1F5F8B"/>
              </a:solidFill>
            </a:ln>
          </c:spPr>
          <c:marker>
            <c:symbol val="circle"/>
            <c:size val="6"/>
            <c:spPr>
              <a:solidFill>
                <a:srgbClr val="1F5F8B"/>
              </a:solidFill>
              <a:ln>
                <a:solidFill>
                  <a:srgbClr val="1F5F8B"/>
                </a:solidFill>
              </a:ln>
            </c:spPr>
          </c:marker>
          <c:cat>
            <c:strRef>
              <c:f>Sheet1!$A$2:$A$7</c:f>
              <c:strCache>
                <c:ptCount val="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356.85</c:v>
                </c:pt>
                <c:pt idx="1">
                  <c:v>413.9</c:v>
                </c:pt>
                <c:pt idx="2">
                  <c:v>448.4</c:v>
                </c:pt>
                <c:pt idx="3">
                  <c:v>552.1</c:v>
                </c:pt>
                <c:pt idx="4">
                  <c:v>577.45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EE24-4E76-9C4E-D1065665183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rPr lang="it-IT" sz="1200" b="0">
                    <a:solidFill>
                      <a:srgbClr val="6B7C93"/>
                    </a:solidFill>
                    <a:latin typeface="Calibri"/>
                  </a:rPr>
                  <a:t>strati nascosti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nextTo"/>
        <c:spPr>
          <a:ln>
            <a:solidFill>
              <a:srgbClr val="C8D0DA"/>
            </a:solidFill>
          </a:ln>
        </c:spPr>
        <c:txPr>
          <a:bodyPr/>
          <a:lstStyle/>
          <a:p>
            <a:pPr>
              <a:defRPr sz="900">
                <a:solidFill>
                  <a:srgbClr val="4A5568"/>
                </a:solidFill>
                <a:latin typeface="Calibri"/>
              </a:defRPr>
            </a:pPr>
            <a:endParaRPr lang="it-IT"/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orientation val="minMax"/>
          <c:min val="0.0"/>
        </c:scaling>
        <c:delete val="0"/>
        <c:axPos val="l"/>
        <c:majorGridlines>
          <c:spPr>
            <a:ln w="7620">
              <a:solidFill>
                <a:srgbClr val="E3E7ED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it-IT" sz="1100" b="0">
                    <a:solidFill>
                      <a:srgbClr val="6B7C93"/>
                    </a:solidFill>
                    <a:latin typeface="Calibri"/>
                  </a:rPr>
                  <a:t>tempo della sola rete (ns)</a:t>
                </a:r>
              </a:p>
            </c:rich>
          </c:tx>
          <c:overlay val="0"/>
        </c:title>
        <c:numFmt formatCode="#,##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solidFill>
                  <a:srgbClr val="6B7C93"/>
                </a:solidFill>
                <a:latin typeface="Calibri"/>
              </a:defRPr>
            </a:pPr>
            <a:endParaRPr lang="it-IT"/>
          </a:p>
        </c:txPr>
        <c:crossAx val="2118791784"/>
        <c:crosses val="autoZero"/>
        <c:crossBetween val="between"/>
      </c:valAx>
    </c:plotArea>
    <c:legend>
      <c:legendPos val="t"/>
      <c:overlay val="0"/>
      <c:txPr>
        <a:bodyPr/>
        <a:lstStyle/>
        <a:p>
          <a:pPr>
            <a:defRPr sz="900">
              <a:solidFill>
                <a:srgbClr val="222B36"/>
              </a:solidFill>
            </a:defRPr>
          </a:pPr>
          <a:endParaRPr lang="it-IT"/>
        </a:p>
      </c:txPr>
    </c:legend>
    <c:plotVisOnly val="1"/>
    <c:dispBlanksAs val="gap"/>
    <c:showDLblsOverMax val="0"/>
  </c:chart>
  <c:txPr>
    <a:bodyPr/>
    <a:lstStyle/>
    <a:p>
      <a:pPr>
        <a:defRPr sz="900">
          <a:solidFill>
            <a:srgbClr val="4A5568"/>
          </a:solidFill>
          <a:latin typeface="Calibri"/>
        </a:defRPr>
      </a:pPr>
      <a:endParaRPr lang="it-IT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P1 statica</c:v>
                </c:pt>
              </c:strCache>
            </c:strRef>
          </c:tx>
          <c:spPr>
            <a:ln w="28575">
              <a:solidFill>
                <a:srgbClr val="C8551E"/>
              </a:solidFill>
            </a:ln>
          </c:spPr>
          <c:marker>
            <c:symbol val="circle"/>
            <c:size val="6"/>
            <c:spPr>
              <a:solidFill>
                <a:srgbClr val="C8551E"/>
              </a:solidFill>
              <a:ln>
                <a:solidFill>
                  <a:srgbClr val="C8551E"/>
                </a:solidFill>
              </a:ln>
            </c:spPr>
          </c:marker>
          <c:cat>
            <c:strRef>
              <c:f>Sheet1!$A$2:$A$4</c:f>
              <c:strCache>
                <c:ptCount val="3"/>
                <c:pt idx="0">
                  <c:v>0 %</c:v>
                </c:pt>
                <c:pt idx="1">
                  <c:v>50 %</c:v>
                </c:pt>
                <c:pt idx="2">
                  <c:v>90 %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44</c:v>
                </c:pt>
                <c:pt idx="1">
                  <c:v>36</c:v>
                </c:pt>
                <c:pt idx="2">
                  <c:v>27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63E1-43F5-8DA6-A90A1BC77E99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P1.5</c:v>
                </c:pt>
              </c:strCache>
            </c:strRef>
          </c:tx>
          <c:spPr>
            <a:ln w="28575">
              <a:solidFill>
                <a:srgbClr val="F09A3E"/>
              </a:solidFill>
            </a:ln>
          </c:spPr>
          <c:marker>
            <c:symbol val="circle"/>
            <c:size val="6"/>
            <c:spPr>
              <a:solidFill>
                <a:srgbClr val="F09A3E"/>
              </a:solidFill>
              <a:ln>
                <a:solidFill>
                  <a:srgbClr val="F09A3E"/>
                </a:solidFill>
              </a:ln>
            </c:spPr>
          </c:marker>
          <c:cat>
            <c:strRef>
              <c:f>Sheet1!$A$2:$A$4</c:f>
              <c:strCache>
                <c:ptCount val="3"/>
                <c:pt idx="0">
                  <c:v>0 %</c:v>
                </c:pt>
                <c:pt idx="1">
                  <c:v>50 %</c:v>
                </c:pt>
                <c:pt idx="2">
                  <c:v>90 %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52</c:v>
                </c:pt>
                <c:pt idx="1">
                  <c:v>45</c:v>
                </c:pt>
                <c:pt idx="2">
                  <c:v>39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63E1-43F5-8DA6-A90A1BC77E99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P2</c:v>
                </c:pt>
              </c:strCache>
            </c:strRef>
          </c:tx>
          <c:spPr>
            <a:ln w="28575">
              <a:solidFill>
                <a:srgbClr val="2E9C8F"/>
              </a:solidFill>
            </a:ln>
          </c:spPr>
          <c:marker>
            <c:symbol val="circle"/>
            <c:size val="6"/>
            <c:spPr>
              <a:solidFill>
                <a:srgbClr val="2E9C8F"/>
              </a:solidFill>
              <a:ln>
                <a:solidFill>
                  <a:srgbClr val="2E9C8F"/>
                </a:solidFill>
              </a:ln>
            </c:spPr>
          </c:marker>
          <c:cat>
            <c:strRef>
              <c:f>Sheet1!$A$2:$A$4</c:f>
              <c:strCache>
                <c:ptCount val="3"/>
                <c:pt idx="0">
                  <c:v>0 %</c:v>
                </c:pt>
                <c:pt idx="1">
                  <c:v>50 %</c:v>
                </c:pt>
                <c:pt idx="2">
                  <c:v>90 %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222</c:v>
                </c:pt>
                <c:pt idx="1">
                  <c:v>229</c:v>
                </c:pt>
                <c:pt idx="2">
                  <c:v>234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63E1-43F5-8DA6-A90A1BC77E99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P3</c:v>
                </c:pt>
              </c:strCache>
            </c:strRef>
          </c:tx>
          <c:spPr>
            <a:ln w="28575">
              <a:solidFill>
                <a:srgbClr val="1F5F8B"/>
              </a:solidFill>
            </a:ln>
          </c:spPr>
          <c:marker>
            <c:symbol val="circle"/>
            <c:size val="6"/>
            <c:spPr>
              <a:solidFill>
                <a:srgbClr val="1F5F8B"/>
              </a:solidFill>
              <a:ln>
                <a:solidFill>
                  <a:srgbClr val="1F5F8B"/>
                </a:solidFill>
              </a:ln>
            </c:spPr>
          </c:marker>
          <c:cat>
            <c:strRef>
              <c:f>Sheet1!$A$2:$A$4</c:f>
              <c:strCache>
                <c:ptCount val="3"/>
                <c:pt idx="0">
                  <c:v>0 %</c:v>
                </c:pt>
                <c:pt idx="1">
                  <c:v>50 %</c:v>
                </c:pt>
                <c:pt idx="2">
                  <c:v>90 %</c:v>
                </c:pt>
              </c:strCache>
            </c: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352</c:v>
                </c:pt>
                <c:pt idx="1">
                  <c:v>356</c:v>
                </c:pt>
                <c:pt idx="2">
                  <c:v>367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63E1-43F5-8DA6-A90A1BC77E9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rPr lang="it-IT" sz="1200" b="0">
                    <a:solidFill>
                      <a:srgbClr val="6B7C93"/>
                    </a:solidFill>
                    <a:latin typeface="Calibri"/>
                  </a:rPr>
                  <a:t>pesi uguali a zero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nextTo"/>
        <c:spPr>
          <a:ln>
            <a:solidFill>
              <a:srgbClr val="C8D0DA"/>
            </a:solidFill>
          </a:ln>
        </c:spPr>
        <c:txPr>
          <a:bodyPr/>
          <a:lstStyle/>
          <a:p>
            <a:pPr>
              <a:defRPr sz="900">
                <a:solidFill>
                  <a:srgbClr val="4A5568"/>
                </a:solidFill>
                <a:latin typeface="Calibri"/>
              </a:defRPr>
            </a:pPr>
            <a:endParaRPr lang="it-IT"/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orientation val="minMax"/>
          <c:min val="0.0"/>
        </c:scaling>
        <c:delete val="0"/>
        <c:axPos val="l"/>
        <c:majorGridlines>
          <c:spPr>
            <a:ln w="7620">
              <a:solidFill>
                <a:srgbClr val="E3E7ED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it-IT" sz="1100" b="0">
                    <a:solidFill>
                      <a:srgbClr val="6B7C93"/>
                    </a:solidFill>
                    <a:latin typeface="Calibri"/>
                  </a:rPr>
                  <a:t>ns di rete neurale per pacchetto</a:t>
                </a:r>
              </a:p>
            </c:rich>
          </c:tx>
          <c:overlay val="0"/>
        </c:title>
        <c:numFmt formatCode="#,##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solidFill>
                  <a:srgbClr val="6B7C93"/>
                </a:solidFill>
                <a:latin typeface="Calibri"/>
              </a:defRPr>
            </a:pPr>
            <a:endParaRPr lang="it-IT"/>
          </a:p>
        </c:txPr>
        <c:crossAx val="2118791784"/>
        <c:crosses val="autoZero"/>
        <c:crossBetween val="between"/>
      </c:valAx>
    </c:plotArea>
    <c:legend>
      <c:legendPos val="t"/>
      <c:overlay val="0"/>
      <c:txPr>
        <a:bodyPr/>
        <a:lstStyle/>
        <a:p>
          <a:pPr>
            <a:defRPr sz="900">
              <a:solidFill>
                <a:srgbClr val="222B36"/>
              </a:solidFill>
            </a:defRPr>
          </a:pPr>
          <a:endParaRPr lang="it-IT"/>
        </a:p>
      </c:txPr>
    </c:legend>
    <c:plotVisOnly val="1"/>
    <c:dispBlanksAs val="gap"/>
    <c:showDLblsOverMax val="0"/>
  </c:chart>
  <c:txPr>
    <a:bodyPr/>
    <a:lstStyle/>
    <a:p>
      <a:pPr>
        <a:defRPr sz="900">
          <a:solidFill>
            <a:srgbClr val="4A5568"/>
          </a:solidFill>
          <a:latin typeface="Calibri"/>
        </a:defRPr>
      </a:pPr>
      <a:endParaRPr lang="it-IT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1"/>
  <c:style val="2"/>
  <c:chart>
    <c:autoTitleDeleted val="1"/>
    <c:plotArea>
      <c:layout/>
      <c:barChart>
        <c:barDir val="bar"/>
        <c:grouping val="stack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ricevere il pacchetto</c:v>
                </c:pt>
              </c:strCache>
            </c:strRef>
          </c:tx>
          <c:spPr>
            <a:solidFill>
              <a:srgbClr val="B8C2CF"/>
            </a:solidFill>
            <a:ln>
              <a:noFill/>
            </a:ln>
          </c:spPr>
          <c:invertIfNegative val="1"/>
          <c:cat>
            <c:strRef>
              <c:f>Sheet1!$A$2:$A$7</c:f>
              <c:strCache>
                <c:ptCount val="6"/>
                <c:pt idx="0">
                  <c:v>solo ricezione</c:v>
                </c:pt>
                <c:pt idx="1">
                  <c:v>senza rete</c:v>
                </c:pt>
                <c:pt idx="2">
                  <c:v>P1 statica</c:v>
                </c:pt>
                <c:pt idx="3">
                  <c:v>P1.5</c:v>
                </c:pt>
                <c:pt idx="4">
                  <c:v>P2</c:v>
                </c:pt>
                <c:pt idx="5">
                  <c:v>P3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40.1</c:v>
                </c:pt>
                <c:pt idx="1">
                  <c:v>40.1</c:v>
                </c:pt>
                <c:pt idx="2">
                  <c:v>40.1</c:v>
                </c:pt>
                <c:pt idx="3">
                  <c:v>40.1</c:v>
                </c:pt>
                <c:pt idx="4">
                  <c:v>40.1</c:v>
                </c:pt>
                <c:pt idx="5">
                  <c:v>40.1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3529-44DC-BF74-5732F5E01C9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leggere l'intestazione e inoltrare</c:v>
                </c:pt>
              </c:strCache>
            </c:strRef>
          </c:tx>
          <c:spPr>
            <a:solidFill>
              <a:srgbClr val="8A94A6"/>
            </a:solidFill>
            <a:ln>
              <a:noFill/>
            </a:ln>
          </c:spPr>
          <c:invertIfNegative val="1"/>
          <c:cat>
            <c:strRef>
              <c:f>Sheet1!$A$2:$A$7</c:f>
              <c:strCache>
                <c:ptCount val="6"/>
                <c:pt idx="0">
                  <c:v>solo ricezione</c:v>
                </c:pt>
                <c:pt idx="1">
                  <c:v>senza rete</c:v>
                </c:pt>
                <c:pt idx="2">
                  <c:v>P1 statica</c:v>
                </c:pt>
                <c:pt idx="3">
                  <c:v>P1.5</c:v>
                </c:pt>
                <c:pt idx="4">
                  <c:v>P2</c:v>
                </c:pt>
                <c:pt idx="5">
                  <c:v>P3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</c:v>
                </c:pt>
                <c:pt idx="1">
                  <c:v>26.6</c:v>
                </c:pt>
                <c:pt idx="2">
                  <c:v>26.6</c:v>
                </c:pt>
                <c:pt idx="3">
                  <c:v>26.6</c:v>
                </c:pt>
                <c:pt idx="4">
                  <c:v>26.6</c:v>
                </c:pt>
                <c:pt idx="5">
                  <c:v>26.6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3529-44DC-BF74-5732F5E01C96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rete neurale</c:v>
                </c:pt>
              </c:strCache>
            </c:strRef>
          </c:tx>
          <c:spPr>
            <a:solidFill>
              <a:srgbClr val="E07A2D"/>
            </a:solidFill>
            <a:ln>
              <a:noFill/>
            </a:ln>
          </c:spPr>
          <c:invertIfNegative val="1"/>
          <c:cat>
            <c:strRef>
              <c:f>Sheet1!$A$2:$A$7</c:f>
              <c:strCache>
                <c:ptCount val="6"/>
                <c:pt idx="0">
                  <c:v>solo ricezione</c:v>
                </c:pt>
                <c:pt idx="1">
                  <c:v>senza rete</c:v>
                </c:pt>
                <c:pt idx="2">
                  <c:v>P1 statica</c:v>
                </c:pt>
                <c:pt idx="3">
                  <c:v>P1.5</c:v>
                </c:pt>
                <c:pt idx="4">
                  <c:v>P2</c:v>
                </c:pt>
                <c:pt idx="5">
                  <c:v>P3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0</c:v>
                </c:pt>
                <c:pt idx="1">
                  <c:v>0</c:v>
                </c:pt>
                <c:pt idx="2">
                  <c:v>52.6</c:v>
                </c:pt>
                <c:pt idx="3">
                  <c:v>57.6</c:v>
                </c:pt>
                <c:pt idx="4">
                  <c:v>226.0</c:v>
                </c:pt>
                <c:pt idx="5">
                  <c:v>420.6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3529-44DC-BF74-5732F5E01C96}"/>
            </c:ext>
          </c:extLst>
        </c:ser>
        <c:dLbls>
          <c:numFmt formatCode="0" sourceLinked="0"/>
          <c:txPr>
            <a:bodyPr/>
            <a:lstStyle/>
            <a:p>
              <a:pPr>
                <a:defRPr sz="800">
                  <a:solidFill>
                    <a:srgbClr val="FFFFFF"/>
                  </a:solidFill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55"/>
        <c:overlap val="10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numFmt formatCode="General" sourceLinked="0"/>
        <c:majorTickMark val="out"/>
        <c:minorTickMark val="none"/>
        <c:tickLblPos val="nextTo"/>
        <c:spPr>
          <a:ln>
            <a:solidFill>
              <a:srgbClr val="C8D0DA"/>
            </a:solidFill>
          </a:ln>
        </c:spPr>
        <c:txPr>
          <a:bodyPr/>
          <a:lstStyle/>
          <a:p>
            <a:pPr>
              <a:defRPr sz="900">
                <a:solidFill>
                  <a:srgbClr val="4A5568"/>
                </a:solidFill>
                <a:latin typeface="Calibri"/>
              </a:defRPr>
            </a:pPr>
            <a:endParaRPr lang="it-IT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t"/>
        <c:majorGridlines>
          <c:spPr>
            <a:ln w="7620">
              <a:solidFill>
                <a:srgbClr val="E3E7ED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it-IT" sz="1100" b="0">
                    <a:solidFill>
                      <a:srgbClr val="6B7C93"/>
                    </a:solidFill>
                    <a:latin typeface="Calibri"/>
                  </a:rPr>
                  <a:t>tempo per pacchetto (ns)</a:t>
                </a:r>
              </a:p>
            </c:rich>
          </c:tx>
          <c:overlay val="0"/>
        </c:title>
        <c:numFmt formatCode="#,##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solidFill>
                  <a:srgbClr val="6B7C93"/>
                </a:solidFill>
                <a:latin typeface="Calibri"/>
              </a:defRPr>
            </a:pPr>
            <a:endParaRPr lang="it-IT"/>
          </a:p>
        </c:txPr>
        <c:crossAx val="-2068027336"/>
        <c:crosses val="autoZero"/>
        <c:crossBetween val="between"/>
      </c:valAx>
    </c:plotArea>
    <c:legend>
      <c:legendPos val="t"/>
      <c:overlay val="0"/>
      <c:txPr>
        <a:bodyPr/>
        <a:lstStyle/>
        <a:p>
          <a:pPr>
            <a:defRPr sz="900">
              <a:solidFill>
                <a:srgbClr val="222B36"/>
              </a:solidFill>
            </a:defRPr>
          </a:pPr>
          <a:endParaRPr lang="it-IT"/>
        </a:p>
      </c:txPr>
    </c:legend>
    <c:plotVisOnly val="1"/>
    <c:dispBlanksAs val="gap"/>
    <c:showDLblsOverMax val="1"/>
  </c:chart>
  <c:txPr>
    <a:bodyPr/>
    <a:lstStyle/>
    <a:p>
      <a:pPr>
        <a:defRPr sz="900">
          <a:solidFill>
            <a:srgbClr val="4A5568"/>
          </a:solidFill>
          <a:latin typeface="Calibri"/>
        </a:defRPr>
      </a:pPr>
      <a:endParaRPr lang="it-IT"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nodo pieno</c:v>
                </c:pt>
              </c:strCache>
            </c:strRef>
          </c:tx>
          <c:spPr>
            <a:ln w="28575">
              <a:solidFill>
                <a:srgbClr val="8A96A8"/>
              </a:solidFill>
              <a:prstDash val="dash"/>
            </a:ln>
          </c:spPr>
          <c:marker>
            <c:symbol val="circle"/>
            <c:size val="6"/>
            <c:spPr>
              <a:solidFill>
                <a:srgbClr val="8A96A8"/>
              </a:solidFill>
              <a:ln>
                <a:solidFill>
                  <a:srgbClr val="8A96A8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6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299.1</c:v>
                </c:pt>
                <c:pt idx="1">
                  <c:v>362.65</c:v>
                </c:pt>
                <c:pt idx="2">
                  <c:v>415.1</c:v>
                </c:pt>
                <c:pt idx="3">
                  <c:v>475.3</c:v>
                </c:pt>
                <c:pt idx="4">
                  <c:v>559.4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A774-4ADD-9089-DB4FCCB8654F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poco traffico, il pacchetto più veloce</c:v>
                </c:pt>
              </c:strCache>
            </c:strRef>
          </c:tx>
          <c:spPr>
            <a:ln w="28575">
              <a:solidFill>
                <a:srgbClr val="8FB4D3"/>
              </a:solidFill>
            </a:ln>
          </c:spPr>
          <c:marker>
            <c:symbol val="circle"/>
            <c:size val="6"/>
            <c:spPr>
              <a:solidFill>
                <a:srgbClr val="8FB4D3"/>
              </a:solidFill>
              <a:ln>
                <a:solidFill>
                  <a:srgbClr val="8FB4D3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6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262.5</c:v>
                </c:pt>
                <c:pt idx="1">
                  <c:v>308.25</c:v>
                </c:pt>
                <c:pt idx="2">
                  <c:v>371.5</c:v>
                </c:pt>
                <c:pt idx="3">
                  <c:v>411.0</c:v>
                </c:pt>
                <c:pt idx="4">
                  <c:v>489.5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A774-4ADD-9089-DB4FCCB8654F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poco traffico, media</c:v>
                </c:pt>
              </c:strCache>
            </c:strRef>
          </c:tx>
          <c:spPr>
            <a:ln w="28575">
              <a:solidFill>
                <a:srgbClr val="1F5F8B"/>
              </a:solidFill>
            </a:ln>
          </c:spPr>
          <c:marker>
            <c:symbol val="circle"/>
            <c:size val="6"/>
            <c:spPr>
              <a:solidFill>
                <a:srgbClr val="1F5F8B"/>
              </a:solidFill>
              <a:ln>
                <a:solidFill>
                  <a:srgbClr val="1F5F8B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6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297.5</c:v>
                </c:pt>
                <c:pt idx="1">
                  <c:v>357.75</c:v>
                </c:pt>
                <c:pt idx="2">
                  <c:v>429.5</c:v>
                </c:pt>
                <c:pt idx="3">
                  <c:v>496.0</c:v>
                </c:pt>
                <c:pt idx="4">
                  <c:v>565.5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A774-4ADD-9089-DB4FCCB8654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rPr lang="it-IT" sz="1200" b="0">
                    <a:solidFill>
                      <a:srgbClr val="6B7C93"/>
                    </a:solidFill>
                    <a:latin typeface="Calibri"/>
                  </a:rPr>
                  <a:t>strati nascosti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nextTo"/>
        <c:spPr>
          <a:ln>
            <a:solidFill>
              <a:srgbClr val="C8D0DA"/>
            </a:solidFill>
          </a:ln>
        </c:spPr>
        <c:txPr>
          <a:bodyPr/>
          <a:lstStyle/>
          <a:p>
            <a:pPr>
              <a:defRPr sz="900">
                <a:solidFill>
                  <a:srgbClr val="4A5568"/>
                </a:solidFill>
                <a:latin typeface="Calibri"/>
              </a:defRPr>
            </a:pPr>
            <a:endParaRPr lang="it-IT"/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orientation val="minMax"/>
          <c:max val="700.0"/>
          <c:min val="0.0"/>
        </c:scaling>
        <c:delete val="0"/>
        <c:axPos val="l"/>
        <c:majorGridlines>
          <c:spPr>
            <a:ln w="7620">
              <a:solidFill>
                <a:srgbClr val="E3E7ED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it-IT" sz="1100" b="0">
                    <a:solidFill>
                      <a:srgbClr val="6B7C93"/>
                    </a:solidFill>
                    <a:latin typeface="Calibri"/>
                  </a:rPr>
                  <a:t>tempo della sola rete (ns)</a:t>
                </a:r>
              </a:p>
            </c:rich>
          </c:tx>
          <c:overlay val="0"/>
        </c:title>
        <c:numFmt formatCode="#,##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solidFill>
                  <a:srgbClr val="6B7C93"/>
                </a:solidFill>
                <a:latin typeface="Calibri"/>
              </a:defRPr>
            </a:pPr>
            <a:endParaRPr lang="it-IT"/>
          </a:p>
        </c:txPr>
        <c:crossAx val="2118791784"/>
        <c:crosses val="autoZero"/>
        <c:crossBetween val="between"/>
      </c:valAx>
    </c:plotArea>
    <c:legend>
      <c:legendPos val="t"/>
      <c:overlay val="0"/>
      <c:txPr>
        <a:bodyPr/>
        <a:lstStyle/>
        <a:p>
          <a:pPr>
            <a:defRPr sz="900">
              <a:solidFill>
                <a:srgbClr val="222B36"/>
              </a:solidFill>
            </a:defRPr>
          </a:pPr>
          <a:endParaRPr lang="it-IT"/>
        </a:p>
      </c:txPr>
    </c:legend>
    <c:plotVisOnly val="1"/>
    <c:dispBlanksAs val="gap"/>
    <c:showDLblsOverMax val="0"/>
  </c:chart>
  <c:txPr>
    <a:bodyPr/>
    <a:lstStyle/>
    <a:p>
      <a:pPr>
        <a:defRPr sz="900">
          <a:solidFill>
            <a:srgbClr val="4A5568"/>
          </a:solidFill>
          <a:latin typeface="Calibri"/>
        </a:defRPr>
      </a:pPr>
      <a:endParaRPr lang="it-IT"/>
    </a:p>
  </c:tx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1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64 byte</c:v>
                </c:pt>
              </c:strCache>
            </c:strRef>
          </c:tx>
          <c:spPr>
            <a:solidFill>
              <a:srgbClr val="C9D3DF"/>
            </a:solidFill>
            <a:ln>
              <a:noFill/>
            </a:ln>
          </c:spPr>
          <c:invertIfNegative val="1"/>
          <c:cat>
            <c:strRef>
              <c:f>Sheet1!$A$2:$A$6</c:f>
              <c:strCache>
                <c:ptCount val="5"/>
                <c:pt idx="0">
                  <c:v>senza rete</c:v>
                </c:pt>
                <c:pt idx="1">
                  <c:v>P1 statica</c:v>
                </c:pt>
                <c:pt idx="2">
                  <c:v>P1.5</c:v>
                </c:pt>
                <c:pt idx="3">
                  <c:v>P2</c:v>
                </c:pt>
                <c:pt idx="4">
                  <c:v>P3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65.7</c:v>
                </c:pt>
                <c:pt idx="1">
                  <c:v>131.8</c:v>
                </c:pt>
                <c:pt idx="2">
                  <c:v>135.2</c:v>
                </c:pt>
                <c:pt idx="3">
                  <c:v>264.25</c:v>
                </c:pt>
                <c:pt idx="4">
                  <c:v>475.95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F42E-472E-934F-5CC29ED7A81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512 byte</c:v>
                </c:pt>
              </c:strCache>
            </c:strRef>
          </c:tx>
          <c:spPr>
            <a:solidFill>
              <a:srgbClr val="7F93AD"/>
            </a:solidFill>
            <a:ln>
              <a:noFill/>
            </a:ln>
          </c:spPr>
          <c:invertIfNegative val="1"/>
          <c:cat>
            <c:strRef>
              <c:f>Sheet1!$A$2:$A$6</c:f>
              <c:strCache>
                <c:ptCount val="5"/>
                <c:pt idx="0">
                  <c:v>senza rete</c:v>
                </c:pt>
                <c:pt idx="1">
                  <c:v>P1 statica</c:v>
                </c:pt>
                <c:pt idx="2">
                  <c:v>P1.5</c:v>
                </c:pt>
                <c:pt idx="3">
                  <c:v>P2</c:v>
                </c:pt>
                <c:pt idx="4">
                  <c:v>P3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65.6</c:v>
                </c:pt>
                <c:pt idx="1">
                  <c:v>132.75</c:v>
                </c:pt>
                <c:pt idx="2">
                  <c:v>134.8</c:v>
                </c:pt>
                <c:pt idx="3">
                  <c:v>264.2</c:v>
                </c:pt>
                <c:pt idx="4">
                  <c:v>475.6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F42E-472E-934F-5CC29ED7A817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1514 byte</c:v>
                </c:pt>
              </c:strCache>
            </c:strRef>
          </c:tx>
          <c:spPr>
            <a:solidFill>
              <a:srgbClr val="1F3A5F"/>
            </a:solidFill>
            <a:ln>
              <a:noFill/>
            </a:ln>
          </c:spPr>
          <c:invertIfNegative val="1"/>
          <c:cat>
            <c:strRef>
              <c:f>Sheet1!$A$2:$A$6</c:f>
              <c:strCache>
                <c:ptCount val="5"/>
                <c:pt idx="0">
                  <c:v>senza rete</c:v>
                </c:pt>
                <c:pt idx="1">
                  <c:v>P1 statica</c:v>
                </c:pt>
                <c:pt idx="2">
                  <c:v>P1.5</c:v>
                </c:pt>
                <c:pt idx="3">
                  <c:v>P2</c:v>
                </c:pt>
                <c:pt idx="4">
                  <c:v>P3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65.6</c:v>
                </c:pt>
                <c:pt idx="1">
                  <c:v>134.0</c:v>
                </c:pt>
                <c:pt idx="2">
                  <c:v>131.9</c:v>
                </c:pt>
                <c:pt idx="3">
                  <c:v>263.5</c:v>
                </c:pt>
                <c:pt idx="4">
                  <c:v>474.2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F42E-472E-934F-5CC29ED7A81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55"/>
        <c:overlap val="-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C8D0DA"/>
            </a:solidFill>
          </a:ln>
        </c:spPr>
        <c:txPr>
          <a:bodyPr/>
          <a:lstStyle/>
          <a:p>
            <a:pPr>
              <a:defRPr sz="900">
                <a:solidFill>
                  <a:srgbClr val="4A5568"/>
                </a:solidFill>
                <a:latin typeface="Calibri"/>
              </a:defRPr>
            </a:pPr>
            <a:endParaRPr lang="it-IT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600"/>
          <c:min val="0"/>
        </c:scaling>
        <c:delete val="0"/>
        <c:axPos val="l"/>
        <c:majorGridlines>
          <c:spPr>
            <a:ln w="7620">
              <a:solidFill>
                <a:srgbClr val="E3E7ED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it-IT" sz="1100" b="0">
                    <a:solidFill>
                      <a:srgbClr val="6B7C93"/>
                    </a:solidFill>
                    <a:latin typeface="Calibri"/>
                  </a:rPr>
                  <a:t>tempo per pacchetto (ns)</a:t>
                </a:r>
              </a:p>
            </c:rich>
          </c:tx>
          <c:overlay val="0"/>
        </c:title>
        <c:numFmt formatCode="#,##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solidFill>
                  <a:srgbClr val="6B7C93"/>
                </a:solidFill>
                <a:latin typeface="Calibri"/>
              </a:defRPr>
            </a:pPr>
            <a:endParaRPr lang="it-IT"/>
          </a:p>
        </c:txPr>
        <c:crossAx val="-2068027336"/>
        <c:crosses val="autoZero"/>
        <c:crossBetween val="between"/>
      </c:valAx>
    </c:plotArea>
    <c:legend>
      <c:legendPos val="t"/>
      <c:overlay val="0"/>
      <c:txPr>
        <a:bodyPr/>
        <a:lstStyle/>
        <a:p>
          <a:pPr>
            <a:defRPr sz="900">
              <a:solidFill>
                <a:srgbClr val="222B36"/>
              </a:solidFill>
            </a:defRPr>
          </a:pPr>
          <a:endParaRPr lang="it-IT"/>
        </a:p>
      </c:txPr>
    </c:legend>
    <c:plotVisOnly val="1"/>
    <c:dispBlanksAs val="gap"/>
    <c:showDLblsOverMax val="1"/>
  </c:chart>
  <c:txPr>
    <a:bodyPr/>
    <a:lstStyle/>
    <a:p>
      <a:pPr>
        <a:defRPr sz="900">
          <a:solidFill>
            <a:srgbClr val="4A5568"/>
          </a:solidFill>
          <a:latin typeface="Calibri"/>
        </a:defRPr>
      </a:pPr>
      <a:endParaRPr lang="it-IT"/>
    </a:p>
  </c:tx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1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classi che inoltrano</c:v>
                </c:pt>
              </c:strCache>
            </c:strRef>
          </c:tx>
          <c:spPr>
            <a:solidFill>
              <a:srgbClr val="6C819C"/>
            </a:solidFill>
            <a:ln>
              <a:solidFill>
                <a:srgbClr val="6C819C"/>
              </a:solidFill>
            </a:ln>
          </c:spPr>
          <c:invertIfNegative val="1"/>
          <c:cat>
            <c:strRef>
              <c:f>Sheet1!$A$2:$A$6</c:f>
              <c:strCache>
                <c:ptCount val="5"/>
                <c:pt idx="0">
                  <c:v>senza rete</c:v>
                </c:pt>
                <c:pt idx="1">
                  <c:v>P1 statica</c:v>
                </c:pt>
                <c:pt idx="2">
                  <c:v>P1.5</c:v>
                </c:pt>
                <c:pt idx="3">
                  <c:v>P2</c:v>
                </c:pt>
                <c:pt idx="4">
                  <c:v>P3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64.95</c:v>
                </c:pt>
                <c:pt idx="1">
                  <c:v>110.05</c:v>
                </c:pt>
                <c:pt idx="2">
                  <c:v>119.2</c:v>
                </c:pt>
                <c:pt idx="3">
                  <c:v>261.675</c:v>
                </c:pt>
                <c:pt idx="4">
                  <c:v>470.875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DCC1-41C3-B47A-44DD6F14CF9B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scarta</c:v>
                </c:pt>
              </c:strCache>
            </c:strRef>
          </c:tx>
          <c:spPr>
            <a:solidFill>
              <a:srgbClr val="C0443C"/>
            </a:solidFill>
            <a:ln>
              <a:solidFill>
                <a:srgbClr val="C0443C"/>
              </a:solidFill>
            </a:ln>
          </c:spPr>
          <c:invertIfNegative val="1"/>
          <c:cat>
            <c:strRef>
              <c:f>Sheet1!$A$2:$A$6</c:f>
              <c:strCache>
                <c:ptCount val="5"/>
                <c:pt idx="0">
                  <c:v>senza rete</c:v>
                </c:pt>
                <c:pt idx="1">
                  <c:v>P1 statica</c:v>
                </c:pt>
                <c:pt idx="2">
                  <c:v>P1.5</c:v>
                </c:pt>
                <c:pt idx="3">
                  <c:v>P2</c:v>
                </c:pt>
                <c:pt idx="4">
                  <c:v>P3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65.9</c:v>
                </c:pt>
                <c:pt idx="1">
                  <c:v>181.1</c:v>
                </c:pt>
                <c:pt idx="2">
                  <c:v>184.4</c:v>
                </c:pt>
                <c:pt idx="3">
                  <c:v>317.0</c:v>
                </c:pt>
                <c:pt idx="4">
                  <c:v>590.9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DCC1-41C3-B47A-44DD6F14CF9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55"/>
        <c:overlap val="-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C8D0DA"/>
            </a:solidFill>
          </a:ln>
        </c:spPr>
        <c:txPr>
          <a:bodyPr/>
          <a:lstStyle/>
          <a:p>
            <a:pPr>
              <a:defRPr sz="900">
                <a:solidFill>
                  <a:srgbClr val="4A5568"/>
                </a:solidFill>
                <a:latin typeface="Calibri"/>
              </a:defRPr>
            </a:pPr>
            <a:endParaRPr lang="it-IT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600"/>
          <c:min val="0"/>
        </c:scaling>
        <c:delete val="0"/>
        <c:axPos val="l"/>
        <c:majorGridlines>
          <c:spPr>
            <a:ln w="7620">
              <a:solidFill>
                <a:srgbClr val="E3E7ED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it-IT" sz="1100" b="0">
                    <a:solidFill>
                      <a:srgbClr val="6B7C93"/>
                    </a:solidFill>
                    <a:latin typeface="Calibri"/>
                  </a:rPr>
                  <a:t>tempo per pacchetto (ns)</a:t>
                </a:r>
              </a:p>
            </c:rich>
          </c:tx>
          <c:overlay val="0"/>
        </c:title>
        <c:numFmt formatCode="#,##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solidFill>
                  <a:srgbClr val="6B7C93"/>
                </a:solidFill>
                <a:latin typeface="Calibri"/>
              </a:defRPr>
            </a:pPr>
            <a:endParaRPr lang="it-IT"/>
          </a:p>
        </c:txPr>
        <c:crossAx val="-2068027336"/>
        <c:crosses val="autoZero"/>
        <c:crossBetween val="between"/>
      </c:valAx>
    </c:plotArea>
    <c:legend>
      <c:legendPos val="t"/>
      <c:overlay val="0"/>
      <c:txPr>
        <a:bodyPr/>
        <a:lstStyle/>
        <a:p>
          <a:pPr>
            <a:defRPr sz="900">
              <a:solidFill>
                <a:srgbClr val="222B36"/>
              </a:solidFill>
            </a:defRPr>
          </a:pPr>
          <a:endParaRPr lang="it-IT"/>
        </a:p>
      </c:txPr>
    </c:legend>
    <c:plotVisOnly val="1"/>
    <c:dispBlanksAs val="gap"/>
    <c:showDLblsOverMax val="1"/>
  </c:chart>
  <c:txPr>
    <a:bodyPr/>
    <a:lstStyle/>
    <a:p>
      <a:pPr>
        <a:defRPr sz="900">
          <a:solidFill>
            <a:srgbClr val="4A5568"/>
          </a:solidFill>
          <a:latin typeface="Calibri"/>
        </a:defRPr>
      </a:pPr>
      <a:endParaRPr lang="it-IT"/>
    </a:p>
  </c:tx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P1 statica</c:v>
                </c:pt>
              </c:strCache>
            </c:strRef>
          </c:tx>
          <c:spPr>
            <a:ln w="28575">
              <a:solidFill>
                <a:srgbClr val="C8551E"/>
              </a:solidFill>
            </a:ln>
          </c:spPr>
          <c:marker>
            <c:symbol val="circle"/>
            <c:size val="6"/>
            <c:spPr>
              <a:solidFill>
                <a:srgbClr val="C8551E"/>
              </a:solidFill>
              <a:ln>
                <a:solidFill>
                  <a:srgbClr val="C8551E"/>
                </a:solidFill>
              </a:ln>
            </c:spPr>
          </c:marker>
          <c:cat>
            <c:strRef>
              <c:f>Sheet1!$A$2:$A$17</c:f>
              <c:strCache>
                <c:ptCount val="16"/>
                <c:pt idx="0">
                  <c:v>0,5</c:v>
                </c:pt>
                <c:pt idx="1">
                  <c:v>1</c:v>
                </c:pt>
                <c:pt idx="2">
                  <c:v>1,5</c:v>
                </c:pt>
                <c:pt idx="3">
                  <c:v>2</c:v>
                </c:pt>
                <c:pt idx="4">
                  <c:v>2,5</c:v>
                </c:pt>
                <c:pt idx="5">
                  <c:v>3</c:v>
                </c:pt>
                <c:pt idx="6">
                  <c:v>3,5</c:v>
                </c:pt>
                <c:pt idx="7">
                  <c:v>4</c:v>
                </c:pt>
                <c:pt idx="8">
                  <c:v>5</c:v>
                </c:pt>
                <c:pt idx="9">
                  <c:v>6</c:v>
                </c:pt>
                <c:pt idx="10">
                  <c:v>7</c:v>
                </c:pt>
                <c:pt idx="11">
                  <c:v>8</c:v>
                </c:pt>
                <c:pt idx="12">
                  <c:v>9</c:v>
                </c:pt>
                <c:pt idx="13">
                  <c:v>10</c:v>
                </c:pt>
                <c:pt idx="14">
                  <c:v>11</c:v>
                </c:pt>
                <c:pt idx="15">
                  <c:v>12</c:v>
                </c:pt>
              </c:strCache>
            </c:strRef>
          </c:cat>
          <c:val>
            <c:numRef>
              <c:f>Sheet1!$B$2:$B$17</c:f>
              <c:numCache>
                <c:formatCode>General</c:formatCode>
                <c:ptCount val="16"/>
                <c:pt idx="0">
                  <c:v>0.5</c:v>
                </c:pt>
                <c:pt idx="1">
                  <c:v>1</c:v>
                </c:pt>
                <c:pt idx="2">
                  <c:v>1.5</c:v>
                </c:pt>
                <c:pt idx="3">
                  <c:v>2</c:v>
                </c:pt>
                <c:pt idx="4">
                  <c:v>2.5</c:v>
                </c:pt>
                <c:pt idx="5">
                  <c:v>3</c:v>
                </c:pt>
                <c:pt idx="6">
                  <c:v>3.5</c:v>
                </c:pt>
                <c:pt idx="7">
                  <c:v>4</c:v>
                </c:pt>
                <c:pt idx="8">
                  <c:v>5</c:v>
                </c:pt>
                <c:pt idx="9">
                  <c:v>5.98</c:v>
                </c:pt>
                <c:pt idx="10">
                  <c:v>6.95</c:v>
                </c:pt>
                <c:pt idx="11">
                  <c:v>7.88</c:v>
                </c:pt>
                <c:pt idx="12">
                  <c:v>8.51</c:v>
                </c:pt>
                <c:pt idx="13">
                  <c:v>8.57</c:v>
                </c:pt>
                <c:pt idx="14">
                  <c:v>8.61</c:v>
                </c:pt>
                <c:pt idx="15">
                  <c:v>8.66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A774-4ADD-9089-DB4FCCB8654F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P1.5</c:v>
                </c:pt>
              </c:strCache>
            </c:strRef>
          </c:tx>
          <c:spPr>
            <a:ln w="28575">
              <a:solidFill>
                <a:srgbClr val="F09A3E"/>
              </a:solidFill>
            </a:ln>
          </c:spPr>
          <c:marker>
            <c:symbol val="circle"/>
            <c:size val="6"/>
            <c:spPr>
              <a:solidFill>
                <a:srgbClr val="F09A3E"/>
              </a:solidFill>
              <a:ln>
                <a:solidFill>
                  <a:srgbClr val="F09A3E"/>
                </a:solidFill>
              </a:ln>
            </c:spPr>
          </c:marker>
          <c:cat>
            <c:strRef>
              <c:f>Sheet1!$A$2:$A$17</c:f>
              <c:strCache>
                <c:ptCount val="16"/>
                <c:pt idx="0">
                  <c:v>0,5</c:v>
                </c:pt>
                <c:pt idx="1">
                  <c:v>1</c:v>
                </c:pt>
                <c:pt idx="2">
                  <c:v>1,5</c:v>
                </c:pt>
                <c:pt idx="3">
                  <c:v>2</c:v>
                </c:pt>
                <c:pt idx="4">
                  <c:v>2,5</c:v>
                </c:pt>
                <c:pt idx="5">
                  <c:v>3</c:v>
                </c:pt>
                <c:pt idx="6">
                  <c:v>3,5</c:v>
                </c:pt>
                <c:pt idx="7">
                  <c:v>4</c:v>
                </c:pt>
                <c:pt idx="8">
                  <c:v>5</c:v>
                </c:pt>
                <c:pt idx="9">
                  <c:v>6</c:v>
                </c:pt>
                <c:pt idx="10">
                  <c:v>7</c:v>
                </c:pt>
                <c:pt idx="11">
                  <c:v>8</c:v>
                </c:pt>
                <c:pt idx="12">
                  <c:v>9</c:v>
                </c:pt>
                <c:pt idx="13">
                  <c:v>10</c:v>
                </c:pt>
                <c:pt idx="14">
                  <c:v>11</c:v>
                </c:pt>
                <c:pt idx="15">
                  <c:v>12</c:v>
                </c:pt>
              </c:strCache>
            </c:strRef>
          </c:cat>
          <c:val>
            <c:numRef>
              <c:f>Sheet1!$C$2:$C$17</c:f>
              <c:numCache>
                <c:formatCode>General</c:formatCode>
                <c:ptCount val="16"/>
                <c:pt idx="0">
                  <c:v>0.5</c:v>
                </c:pt>
                <c:pt idx="1">
                  <c:v>1</c:v>
                </c:pt>
                <c:pt idx="2">
                  <c:v>1.5</c:v>
                </c:pt>
                <c:pt idx="3">
                  <c:v>2</c:v>
                </c:pt>
                <c:pt idx="4">
                  <c:v>2.5</c:v>
                </c:pt>
                <c:pt idx="5">
                  <c:v>3</c:v>
                </c:pt>
                <c:pt idx="6">
                  <c:v>3.5</c:v>
                </c:pt>
                <c:pt idx="7">
                  <c:v>4</c:v>
                </c:pt>
                <c:pt idx="8">
                  <c:v>5</c:v>
                </c:pt>
                <c:pt idx="9">
                  <c:v>5.98</c:v>
                </c:pt>
                <c:pt idx="10">
                  <c:v>6.93</c:v>
                </c:pt>
                <c:pt idx="11">
                  <c:v>7.96</c:v>
                </c:pt>
                <c:pt idx="12">
                  <c:v>8.09</c:v>
                </c:pt>
                <c:pt idx="13">
                  <c:v>8.11</c:v>
                </c:pt>
                <c:pt idx="14">
                  <c:v>8.14</c:v>
                </c:pt>
                <c:pt idx="15">
                  <c:v>8.17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A774-4ADD-9089-DB4FCCB8654F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P2</c:v>
                </c:pt>
              </c:strCache>
            </c:strRef>
          </c:tx>
          <c:spPr>
            <a:ln w="28575">
              <a:solidFill>
                <a:srgbClr val="2E9C8F"/>
              </a:solidFill>
            </a:ln>
          </c:spPr>
          <c:marker>
            <c:symbol val="circle"/>
            <c:size val="6"/>
            <c:spPr>
              <a:solidFill>
                <a:srgbClr val="2E9C8F"/>
              </a:solidFill>
              <a:ln>
                <a:solidFill>
                  <a:srgbClr val="2E9C8F"/>
                </a:solidFill>
              </a:ln>
            </c:spPr>
          </c:marker>
          <c:cat>
            <c:strRef>
              <c:f>Sheet1!$A$2:$A$17</c:f>
              <c:strCache>
                <c:ptCount val="16"/>
                <c:pt idx="0">
                  <c:v>0,5</c:v>
                </c:pt>
                <c:pt idx="1">
                  <c:v>1</c:v>
                </c:pt>
                <c:pt idx="2">
                  <c:v>1,5</c:v>
                </c:pt>
                <c:pt idx="3">
                  <c:v>2</c:v>
                </c:pt>
                <c:pt idx="4">
                  <c:v>2,5</c:v>
                </c:pt>
                <c:pt idx="5">
                  <c:v>3</c:v>
                </c:pt>
                <c:pt idx="6">
                  <c:v>3,5</c:v>
                </c:pt>
                <c:pt idx="7">
                  <c:v>4</c:v>
                </c:pt>
                <c:pt idx="8">
                  <c:v>5</c:v>
                </c:pt>
                <c:pt idx="9">
                  <c:v>6</c:v>
                </c:pt>
                <c:pt idx="10">
                  <c:v>7</c:v>
                </c:pt>
                <c:pt idx="11">
                  <c:v>8</c:v>
                </c:pt>
                <c:pt idx="12">
                  <c:v>9</c:v>
                </c:pt>
                <c:pt idx="13">
                  <c:v>10</c:v>
                </c:pt>
                <c:pt idx="14">
                  <c:v>11</c:v>
                </c:pt>
                <c:pt idx="15">
                  <c:v>12</c:v>
                </c:pt>
              </c:strCache>
            </c:strRef>
          </c:cat>
          <c:val>
            <c:numRef>
              <c:f>Sheet1!$D$2:$D$17</c:f>
              <c:numCache>
                <c:formatCode>General</c:formatCode>
                <c:ptCount val="16"/>
                <c:pt idx="0">
                  <c:v>0.5</c:v>
                </c:pt>
                <c:pt idx="1">
                  <c:v>1</c:v>
                </c:pt>
                <c:pt idx="2">
                  <c:v>1.5</c:v>
                </c:pt>
                <c:pt idx="3">
                  <c:v>2</c:v>
                </c:pt>
                <c:pt idx="4">
                  <c:v>2.5</c:v>
                </c:pt>
                <c:pt idx="5">
                  <c:v>3</c:v>
                </c:pt>
                <c:pt idx="6">
                  <c:v>3.4</c:v>
                </c:pt>
                <c:pt idx="7">
                  <c:v>3.45</c:v>
                </c:pt>
                <c:pt idx="8">
                  <c:v>3.4</c:v>
                </c:pt>
                <c:pt idx="9">
                  <c:v>3.41</c:v>
                </c:pt>
                <c:pt idx="10">
                  <c:v>3.41</c:v>
                </c:pt>
                <c:pt idx="11">
                  <c:v>3.45</c:v>
                </c:pt>
                <c:pt idx="12">
                  <c:v>3.42</c:v>
                </c:pt>
                <c:pt idx="13">
                  <c:v>3.43</c:v>
                </c:pt>
                <c:pt idx="14">
                  <c:v>3.42</c:v>
                </c:pt>
                <c:pt idx="15">
                  <c:v>3.41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A774-4ADD-9089-DB4FCCB8654F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P3</c:v>
                </c:pt>
              </c:strCache>
            </c:strRef>
          </c:tx>
          <c:spPr>
            <a:ln w="28575">
              <a:solidFill>
                <a:srgbClr val="1F5F8B"/>
              </a:solidFill>
            </a:ln>
          </c:spPr>
          <c:marker>
            <c:symbol val="circle"/>
            <c:size val="6"/>
            <c:spPr>
              <a:solidFill>
                <a:srgbClr val="1F5F8B"/>
              </a:solidFill>
              <a:ln>
                <a:solidFill>
                  <a:srgbClr val="1F5F8B"/>
                </a:solidFill>
              </a:ln>
            </c:spPr>
          </c:marker>
          <c:cat>
            <c:strRef>
              <c:f>Sheet1!$A$2:$A$17</c:f>
              <c:strCache>
                <c:ptCount val="16"/>
                <c:pt idx="0">
                  <c:v>0,5</c:v>
                </c:pt>
                <c:pt idx="1">
                  <c:v>1</c:v>
                </c:pt>
                <c:pt idx="2">
                  <c:v>1,5</c:v>
                </c:pt>
                <c:pt idx="3">
                  <c:v>2</c:v>
                </c:pt>
                <c:pt idx="4">
                  <c:v>2,5</c:v>
                </c:pt>
                <c:pt idx="5">
                  <c:v>3</c:v>
                </c:pt>
                <c:pt idx="6">
                  <c:v>3,5</c:v>
                </c:pt>
                <c:pt idx="7">
                  <c:v>4</c:v>
                </c:pt>
                <c:pt idx="8">
                  <c:v>5</c:v>
                </c:pt>
                <c:pt idx="9">
                  <c:v>6</c:v>
                </c:pt>
                <c:pt idx="10">
                  <c:v>7</c:v>
                </c:pt>
                <c:pt idx="11">
                  <c:v>8</c:v>
                </c:pt>
                <c:pt idx="12">
                  <c:v>9</c:v>
                </c:pt>
                <c:pt idx="13">
                  <c:v>10</c:v>
                </c:pt>
                <c:pt idx="14">
                  <c:v>11</c:v>
                </c:pt>
                <c:pt idx="15">
                  <c:v>12</c:v>
                </c:pt>
              </c:strCache>
            </c:strRef>
          </c:cat>
          <c:val>
            <c:numRef>
              <c:f>Sheet1!$E$2:$E$17</c:f>
              <c:numCache>
                <c:formatCode>General</c:formatCode>
                <c:ptCount val="16"/>
                <c:pt idx="0">
                  <c:v>0.5</c:v>
                </c:pt>
                <c:pt idx="1">
                  <c:v>1</c:v>
                </c:pt>
                <c:pt idx="2">
                  <c:v>1.5</c:v>
                </c:pt>
                <c:pt idx="3">
                  <c:v>2</c:v>
                </c:pt>
                <c:pt idx="4">
                  <c:v>2.36</c:v>
                </c:pt>
                <c:pt idx="5">
                  <c:v>2.35</c:v>
                </c:pt>
                <c:pt idx="6">
                  <c:v>2.37</c:v>
                </c:pt>
                <c:pt idx="7">
                  <c:v>2.34</c:v>
                </c:pt>
                <c:pt idx="8">
                  <c:v>2.34</c:v>
                </c:pt>
                <c:pt idx="9">
                  <c:v>2.34</c:v>
                </c:pt>
                <c:pt idx="10">
                  <c:v>2.33</c:v>
                </c:pt>
                <c:pt idx="11">
                  <c:v>2.35</c:v>
                </c:pt>
                <c:pt idx="12">
                  <c:v>2.35</c:v>
                </c:pt>
                <c:pt idx="13">
                  <c:v>2.34</c:v>
                </c:pt>
                <c:pt idx="14">
                  <c:v>2.36</c:v>
                </c:pt>
                <c:pt idx="15">
                  <c:v>2.33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A774-4ADD-9089-DB4FCCB8654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rPr lang="it-IT" sz="1200" b="0">
                    <a:solidFill>
                      <a:srgbClr val="6B7C93"/>
                    </a:solidFill>
                    <a:latin typeface="Calibri"/>
                  </a:rPr>
                  <a:t>M pacchetti/s chiesti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nextTo"/>
        <c:spPr>
          <a:ln>
            <a:solidFill>
              <a:srgbClr val="C8D0DA"/>
            </a:solidFill>
          </a:ln>
        </c:spPr>
        <c:txPr>
          <a:bodyPr/>
          <a:lstStyle/>
          <a:p>
            <a:pPr>
              <a:defRPr sz="900">
                <a:solidFill>
                  <a:srgbClr val="4A5568"/>
                </a:solidFill>
                <a:latin typeface="Calibri"/>
              </a:defRPr>
            </a:pPr>
            <a:endParaRPr lang="it-IT"/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orientation val="minMax"/>
        </c:scaling>
        <c:delete val="0"/>
        <c:axPos val="l"/>
        <c:majorGridlines>
          <c:spPr>
            <a:ln w="7620">
              <a:solidFill>
                <a:srgbClr val="E3E7ED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it-IT" sz="1100" b="0">
                    <a:solidFill>
                      <a:srgbClr val="6B7C93"/>
                    </a:solidFill>
                    <a:latin typeface="Calibri"/>
                  </a:rPr>
                  <a:t>M pacchetti/s inoltrati</a:t>
                </a:r>
              </a:p>
            </c:rich>
          </c:tx>
          <c:overlay val="0"/>
        </c:title>
        <c:numFmt formatCode="#,##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solidFill>
                  <a:srgbClr val="6B7C93"/>
                </a:solidFill>
                <a:latin typeface="Calibri"/>
              </a:defRPr>
            </a:pPr>
            <a:endParaRPr lang="it-IT"/>
          </a:p>
        </c:txPr>
        <c:crossAx val="2118791784"/>
        <c:crosses val="autoZero"/>
        <c:crossBetween val="between"/>
      </c:valAx>
    </c:plotArea>
    <c:legend>
      <c:legendPos val="t"/>
      <c:overlay val="0"/>
      <c:txPr>
        <a:bodyPr/>
        <a:lstStyle/>
        <a:p>
          <a:pPr>
            <a:defRPr sz="900">
              <a:solidFill>
                <a:srgbClr val="222B36"/>
              </a:solidFill>
            </a:defRPr>
          </a:pPr>
          <a:endParaRPr lang="it-IT"/>
        </a:p>
      </c:txPr>
    </c:legend>
    <c:plotVisOnly val="1"/>
    <c:dispBlanksAs val="gap"/>
    <c:showDLblsOverMax val="0"/>
  </c:chart>
  <c:txPr>
    <a:bodyPr/>
    <a:lstStyle/>
    <a:p>
      <a:pPr>
        <a:defRPr sz="900">
          <a:solidFill>
            <a:srgbClr val="4A5568"/>
          </a:solidFill>
          <a:latin typeface="Calibri"/>
        </a:defRPr>
      </a:pPr>
      <a:endParaRPr lang="it-IT"/>
    </a:p>
  </c:tx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P1 statica</c:v>
                </c:pt>
              </c:strCache>
            </c:strRef>
          </c:tx>
          <c:spPr>
            <a:ln w="28575">
              <a:solidFill>
                <a:srgbClr val="C8551E"/>
              </a:solidFill>
            </a:ln>
          </c:spPr>
          <c:marker>
            <c:symbol val="circle"/>
            <c:size val="6"/>
            <c:spPr>
              <a:solidFill>
                <a:srgbClr val="C8551E"/>
              </a:solidFill>
              <a:ln>
                <a:solidFill>
                  <a:srgbClr val="C8551E"/>
                </a:solidFill>
              </a:ln>
            </c:spPr>
          </c:marker>
          <c:cat>
            <c:strRef>
              <c:f>Sheet1!$A$2:$A$17</c:f>
              <c:strCache>
                <c:ptCount val="16"/>
                <c:pt idx="0">
                  <c:v>0,5</c:v>
                </c:pt>
                <c:pt idx="1">
                  <c:v>1</c:v>
                </c:pt>
                <c:pt idx="2">
                  <c:v>1,5</c:v>
                </c:pt>
                <c:pt idx="3">
                  <c:v>2</c:v>
                </c:pt>
                <c:pt idx="4">
                  <c:v>2,5</c:v>
                </c:pt>
                <c:pt idx="5">
                  <c:v>3</c:v>
                </c:pt>
                <c:pt idx="6">
                  <c:v>3,5</c:v>
                </c:pt>
                <c:pt idx="7">
                  <c:v>4</c:v>
                </c:pt>
                <c:pt idx="8">
                  <c:v>5</c:v>
                </c:pt>
                <c:pt idx="9">
                  <c:v>6</c:v>
                </c:pt>
                <c:pt idx="10">
                  <c:v>7</c:v>
                </c:pt>
                <c:pt idx="11">
                  <c:v>8</c:v>
                </c:pt>
                <c:pt idx="12">
                  <c:v>9</c:v>
                </c:pt>
                <c:pt idx="13">
                  <c:v>10</c:v>
                </c:pt>
                <c:pt idx="14">
                  <c:v>11</c:v>
                </c:pt>
                <c:pt idx="15">
                  <c:v>12</c:v>
                </c:pt>
              </c:strCache>
            </c:strRef>
          </c:cat>
          <c:val>
            <c:numRef>
              <c:f>Sheet1!$B$2:$B$17</c:f>
              <c:numCache>
                <c:formatCode>General</c:formatCode>
                <c:ptCount val="16"/>
                <c:pt idx="0">
                  <c:v>0.5</c:v>
                </c:pt>
                <c:pt idx="1">
                  <c:v>1</c:v>
                </c:pt>
                <c:pt idx="2">
                  <c:v>1.5</c:v>
                </c:pt>
                <c:pt idx="3">
                  <c:v>2</c:v>
                </c:pt>
                <c:pt idx="4">
                  <c:v>2.5</c:v>
                </c:pt>
                <c:pt idx="5">
                  <c:v>3</c:v>
                </c:pt>
                <c:pt idx="6">
                  <c:v>3.5</c:v>
                </c:pt>
                <c:pt idx="7">
                  <c:v>4</c:v>
                </c:pt>
                <c:pt idx="8">
                  <c:v>5</c:v>
                </c:pt>
                <c:pt idx="9">
                  <c:v>5.98</c:v>
                </c:pt>
                <c:pt idx="10">
                  <c:v>6.14</c:v>
                </c:pt>
                <c:pt idx="11">
                  <c:v>6.16</c:v>
                </c:pt>
                <c:pt idx="12">
                  <c:v>6.23</c:v>
                </c:pt>
                <c:pt idx="13">
                  <c:v>6.18</c:v>
                </c:pt>
                <c:pt idx="14">
                  <c:v>6.22</c:v>
                </c:pt>
                <c:pt idx="15">
                  <c:v>6.24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CB40-40F4-8AE4-87AB3DBEE21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P1.5</c:v>
                </c:pt>
              </c:strCache>
            </c:strRef>
          </c:tx>
          <c:spPr>
            <a:ln w="28575">
              <a:solidFill>
                <a:srgbClr val="F09A3E"/>
              </a:solidFill>
            </a:ln>
          </c:spPr>
          <c:marker>
            <c:symbol val="circle"/>
            <c:size val="6"/>
            <c:spPr>
              <a:solidFill>
                <a:srgbClr val="F09A3E"/>
              </a:solidFill>
              <a:ln>
                <a:solidFill>
                  <a:srgbClr val="F09A3E"/>
                </a:solidFill>
              </a:ln>
            </c:spPr>
          </c:marker>
          <c:cat>
            <c:strRef>
              <c:f>Sheet1!$A$2:$A$17</c:f>
              <c:strCache>
                <c:ptCount val="16"/>
                <c:pt idx="0">
                  <c:v>0,5</c:v>
                </c:pt>
                <c:pt idx="1">
                  <c:v>1</c:v>
                </c:pt>
                <c:pt idx="2">
                  <c:v>1,5</c:v>
                </c:pt>
                <c:pt idx="3">
                  <c:v>2</c:v>
                </c:pt>
                <c:pt idx="4">
                  <c:v>2,5</c:v>
                </c:pt>
                <c:pt idx="5">
                  <c:v>3</c:v>
                </c:pt>
                <c:pt idx="6">
                  <c:v>3,5</c:v>
                </c:pt>
                <c:pt idx="7">
                  <c:v>4</c:v>
                </c:pt>
                <c:pt idx="8">
                  <c:v>5</c:v>
                </c:pt>
                <c:pt idx="9">
                  <c:v>6</c:v>
                </c:pt>
                <c:pt idx="10">
                  <c:v>7</c:v>
                </c:pt>
                <c:pt idx="11">
                  <c:v>8</c:v>
                </c:pt>
                <c:pt idx="12">
                  <c:v>9</c:v>
                </c:pt>
                <c:pt idx="13">
                  <c:v>10</c:v>
                </c:pt>
                <c:pt idx="14">
                  <c:v>11</c:v>
                </c:pt>
                <c:pt idx="15">
                  <c:v>12</c:v>
                </c:pt>
              </c:strCache>
            </c:strRef>
          </c:cat>
          <c:val>
            <c:numRef>
              <c:f>Sheet1!$C$2:$C$17</c:f>
              <c:numCache>
                <c:formatCode>General</c:formatCode>
                <c:ptCount val="16"/>
                <c:pt idx="0">
                  <c:v>0.5</c:v>
                </c:pt>
                <c:pt idx="1">
                  <c:v>1</c:v>
                </c:pt>
                <c:pt idx="2">
                  <c:v>1.5</c:v>
                </c:pt>
                <c:pt idx="3">
                  <c:v>2</c:v>
                </c:pt>
                <c:pt idx="4">
                  <c:v>2.5</c:v>
                </c:pt>
                <c:pt idx="5">
                  <c:v>3</c:v>
                </c:pt>
                <c:pt idx="6">
                  <c:v>3.5</c:v>
                </c:pt>
                <c:pt idx="7">
                  <c:v>4</c:v>
                </c:pt>
                <c:pt idx="8">
                  <c:v>5</c:v>
                </c:pt>
                <c:pt idx="9">
                  <c:v>5.64</c:v>
                </c:pt>
                <c:pt idx="10">
                  <c:v>5.71</c:v>
                </c:pt>
                <c:pt idx="11">
                  <c:v>5.74</c:v>
                </c:pt>
                <c:pt idx="12">
                  <c:v>5.76</c:v>
                </c:pt>
                <c:pt idx="13">
                  <c:v>5.77</c:v>
                </c:pt>
                <c:pt idx="14">
                  <c:v>5.78</c:v>
                </c:pt>
                <c:pt idx="15">
                  <c:v>5.81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CB40-40F4-8AE4-87AB3DBEE21D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P2</c:v>
                </c:pt>
              </c:strCache>
            </c:strRef>
          </c:tx>
          <c:spPr>
            <a:ln w="28575">
              <a:solidFill>
                <a:srgbClr val="2E9C8F"/>
              </a:solidFill>
            </a:ln>
          </c:spPr>
          <c:marker>
            <c:symbol val="circle"/>
            <c:size val="6"/>
            <c:spPr>
              <a:solidFill>
                <a:srgbClr val="2E9C8F"/>
              </a:solidFill>
              <a:ln>
                <a:solidFill>
                  <a:srgbClr val="2E9C8F"/>
                </a:solidFill>
              </a:ln>
            </c:spPr>
          </c:marker>
          <c:cat>
            <c:strRef>
              <c:f>Sheet1!$A$2:$A$17</c:f>
              <c:strCache>
                <c:ptCount val="16"/>
                <c:pt idx="0">
                  <c:v>0,5</c:v>
                </c:pt>
                <c:pt idx="1">
                  <c:v>1</c:v>
                </c:pt>
                <c:pt idx="2">
                  <c:v>1,5</c:v>
                </c:pt>
                <c:pt idx="3">
                  <c:v>2</c:v>
                </c:pt>
                <c:pt idx="4">
                  <c:v>2,5</c:v>
                </c:pt>
                <c:pt idx="5">
                  <c:v>3</c:v>
                </c:pt>
                <c:pt idx="6">
                  <c:v>3,5</c:v>
                </c:pt>
                <c:pt idx="7">
                  <c:v>4</c:v>
                </c:pt>
                <c:pt idx="8">
                  <c:v>5</c:v>
                </c:pt>
                <c:pt idx="9">
                  <c:v>6</c:v>
                </c:pt>
                <c:pt idx="10">
                  <c:v>7</c:v>
                </c:pt>
                <c:pt idx="11">
                  <c:v>8</c:v>
                </c:pt>
                <c:pt idx="12">
                  <c:v>9</c:v>
                </c:pt>
                <c:pt idx="13">
                  <c:v>10</c:v>
                </c:pt>
                <c:pt idx="14">
                  <c:v>11</c:v>
                </c:pt>
                <c:pt idx="15">
                  <c:v>12</c:v>
                </c:pt>
              </c:strCache>
            </c:strRef>
          </c:cat>
          <c:val>
            <c:numRef>
              <c:f>Sheet1!$D$2:$D$17</c:f>
              <c:numCache>
                <c:formatCode>General</c:formatCode>
                <c:ptCount val="16"/>
                <c:pt idx="0">
                  <c:v>0.5</c:v>
                </c:pt>
                <c:pt idx="1">
                  <c:v>1</c:v>
                </c:pt>
                <c:pt idx="2">
                  <c:v>1.5</c:v>
                </c:pt>
                <c:pt idx="3">
                  <c:v>2</c:v>
                </c:pt>
                <c:pt idx="4">
                  <c:v>2.5</c:v>
                </c:pt>
                <c:pt idx="5">
                  <c:v>2.76</c:v>
                </c:pt>
                <c:pt idx="6">
                  <c:v>2.76</c:v>
                </c:pt>
                <c:pt idx="7">
                  <c:v>2.76</c:v>
                </c:pt>
                <c:pt idx="8">
                  <c:v>2.77</c:v>
                </c:pt>
                <c:pt idx="9">
                  <c:v>2.78</c:v>
                </c:pt>
                <c:pt idx="10">
                  <c:v>2.78</c:v>
                </c:pt>
                <c:pt idx="11">
                  <c:v>2.78</c:v>
                </c:pt>
                <c:pt idx="12">
                  <c:v>2.79</c:v>
                </c:pt>
                <c:pt idx="13">
                  <c:v>2.81</c:v>
                </c:pt>
                <c:pt idx="14">
                  <c:v>2.8</c:v>
                </c:pt>
                <c:pt idx="15">
                  <c:v>2.79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CB40-40F4-8AE4-87AB3DBEE21D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P3</c:v>
                </c:pt>
              </c:strCache>
            </c:strRef>
          </c:tx>
          <c:spPr>
            <a:ln w="28575">
              <a:solidFill>
                <a:srgbClr val="1F5F8B"/>
              </a:solidFill>
            </a:ln>
          </c:spPr>
          <c:marker>
            <c:symbol val="circle"/>
            <c:size val="6"/>
            <c:spPr>
              <a:solidFill>
                <a:srgbClr val="1F5F8B"/>
              </a:solidFill>
              <a:ln>
                <a:solidFill>
                  <a:srgbClr val="1F5F8B"/>
                </a:solidFill>
              </a:ln>
            </c:spPr>
          </c:marker>
          <c:cat>
            <c:strRef>
              <c:f>Sheet1!$A$2:$A$17</c:f>
              <c:strCache>
                <c:ptCount val="16"/>
                <c:pt idx="0">
                  <c:v>0,5</c:v>
                </c:pt>
                <c:pt idx="1">
                  <c:v>1</c:v>
                </c:pt>
                <c:pt idx="2">
                  <c:v>1,5</c:v>
                </c:pt>
                <c:pt idx="3">
                  <c:v>2</c:v>
                </c:pt>
                <c:pt idx="4">
                  <c:v>2,5</c:v>
                </c:pt>
                <c:pt idx="5">
                  <c:v>3</c:v>
                </c:pt>
                <c:pt idx="6">
                  <c:v>3,5</c:v>
                </c:pt>
                <c:pt idx="7">
                  <c:v>4</c:v>
                </c:pt>
                <c:pt idx="8">
                  <c:v>5</c:v>
                </c:pt>
                <c:pt idx="9">
                  <c:v>6</c:v>
                </c:pt>
                <c:pt idx="10">
                  <c:v>7</c:v>
                </c:pt>
                <c:pt idx="11">
                  <c:v>8</c:v>
                </c:pt>
                <c:pt idx="12">
                  <c:v>9</c:v>
                </c:pt>
                <c:pt idx="13">
                  <c:v>10</c:v>
                </c:pt>
                <c:pt idx="14">
                  <c:v>11</c:v>
                </c:pt>
                <c:pt idx="15">
                  <c:v>12</c:v>
                </c:pt>
              </c:strCache>
            </c:strRef>
          </c:cat>
          <c:val>
            <c:numRef>
              <c:f>Sheet1!$E$2:$E$17</c:f>
              <c:numCache>
                <c:formatCode>General</c:formatCode>
                <c:ptCount val="16"/>
                <c:pt idx="0">
                  <c:v>0.5</c:v>
                </c:pt>
                <c:pt idx="1">
                  <c:v>1</c:v>
                </c:pt>
                <c:pt idx="2">
                  <c:v>1.5</c:v>
                </c:pt>
                <c:pt idx="3">
                  <c:v>1.9</c:v>
                </c:pt>
                <c:pt idx="4">
                  <c:v>1.9</c:v>
                </c:pt>
                <c:pt idx="5">
                  <c:v>1.91</c:v>
                </c:pt>
                <c:pt idx="6">
                  <c:v>1.91</c:v>
                </c:pt>
                <c:pt idx="7">
                  <c:v>1.9</c:v>
                </c:pt>
                <c:pt idx="8">
                  <c:v>1.92</c:v>
                </c:pt>
                <c:pt idx="9">
                  <c:v>1.92</c:v>
                </c:pt>
                <c:pt idx="10">
                  <c:v>1.92</c:v>
                </c:pt>
                <c:pt idx="11">
                  <c:v>1.92</c:v>
                </c:pt>
                <c:pt idx="12">
                  <c:v>1.92</c:v>
                </c:pt>
                <c:pt idx="13">
                  <c:v>1.93</c:v>
                </c:pt>
                <c:pt idx="14">
                  <c:v>1.92</c:v>
                </c:pt>
                <c:pt idx="15">
                  <c:v>1.93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CB40-40F4-8AE4-87AB3DBEE21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rPr lang="it-IT" sz="1200" b="0">
                    <a:solidFill>
                      <a:srgbClr val="6B7C93"/>
                    </a:solidFill>
                    <a:latin typeface="Calibri"/>
                  </a:rPr>
                  <a:t>M pacchetti/s chiesti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nextTo"/>
        <c:spPr>
          <a:ln>
            <a:solidFill>
              <a:srgbClr val="C8D0DA"/>
            </a:solidFill>
          </a:ln>
        </c:spPr>
        <c:txPr>
          <a:bodyPr/>
          <a:lstStyle/>
          <a:p>
            <a:pPr>
              <a:defRPr sz="900">
                <a:solidFill>
                  <a:srgbClr val="4A5568"/>
                </a:solidFill>
                <a:latin typeface="Calibri"/>
              </a:defRPr>
            </a:pPr>
            <a:endParaRPr lang="it-IT"/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orientation val="minMax"/>
        </c:scaling>
        <c:delete val="0"/>
        <c:axPos val="l"/>
        <c:majorGridlines>
          <c:spPr>
            <a:ln w="7620">
              <a:solidFill>
                <a:srgbClr val="E3E7ED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it-IT" sz="1100" b="0">
                    <a:solidFill>
                      <a:srgbClr val="6B7C93"/>
                    </a:solidFill>
                    <a:latin typeface="Calibri"/>
                  </a:rPr>
                  <a:t>M pacchetti/s inoltrati</a:t>
                </a:r>
              </a:p>
            </c:rich>
          </c:tx>
          <c:overlay val="0"/>
        </c:title>
        <c:numFmt formatCode="#,##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solidFill>
                  <a:srgbClr val="6B7C93"/>
                </a:solidFill>
                <a:latin typeface="Calibri"/>
              </a:defRPr>
            </a:pPr>
            <a:endParaRPr lang="it-IT"/>
          </a:p>
        </c:txPr>
        <c:crossAx val="2118791784"/>
        <c:crosses val="autoZero"/>
        <c:crossBetween val="between"/>
      </c:valAx>
    </c:plotArea>
    <c:legend>
      <c:legendPos val="t"/>
      <c:overlay val="0"/>
      <c:txPr>
        <a:bodyPr/>
        <a:lstStyle/>
        <a:p>
          <a:pPr>
            <a:defRPr sz="900">
              <a:solidFill>
                <a:srgbClr val="222B36"/>
              </a:solidFill>
            </a:defRPr>
          </a:pPr>
          <a:endParaRPr lang="it-IT"/>
        </a:p>
      </c:txPr>
    </c:legend>
    <c:plotVisOnly val="1"/>
    <c:dispBlanksAs val="gap"/>
    <c:showDLblsOverMax val="0"/>
  </c:chart>
  <c:txPr>
    <a:bodyPr/>
    <a:lstStyle/>
    <a:p>
      <a:pPr>
        <a:defRPr sz="900">
          <a:solidFill>
            <a:srgbClr val="4A5568"/>
          </a:solidFill>
          <a:latin typeface="Calibri"/>
        </a:defRPr>
      </a:pPr>
      <a:endParaRPr lang="it-IT"/>
    </a:p>
  </c:tx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1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P-core</c:v>
                </c:pt>
              </c:strCache>
            </c:strRef>
          </c:tx>
          <c:spPr>
            <a:solidFill>
              <a:srgbClr val="1F3A5F"/>
            </a:solidFill>
            <a:ln>
              <a:noFill/>
            </a:ln>
          </c:spPr>
          <c:invertIfNegative val="1"/>
          <c:cat>
            <c:strRef>
              <c:f>Sheet1!$A$2:$A$6</c:f>
              <c:strCache>
                <c:ptCount val="5"/>
                <c:pt idx="0">
                  <c:v>senza rete</c:v>
                </c:pt>
                <c:pt idx="1">
                  <c:v>P1 statica</c:v>
                </c:pt>
                <c:pt idx="2">
                  <c:v>P1.5</c:v>
                </c:pt>
                <c:pt idx="3">
                  <c:v>P2</c:v>
                </c:pt>
                <c:pt idx="4">
                  <c:v>P3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14.97</c:v>
                </c:pt>
                <c:pt idx="1">
                  <c:v>8.746</c:v>
                </c:pt>
                <c:pt idx="2">
                  <c:v>8.318</c:v>
                </c:pt>
                <c:pt idx="3">
                  <c:v>3.508</c:v>
                </c:pt>
                <c:pt idx="4">
                  <c:v>2.165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F42E-472E-934F-5CC29ED7A81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E-core</c:v>
                </c:pt>
              </c:strCache>
            </c:strRef>
          </c:tx>
          <c:spPr>
            <a:solidFill>
              <a:srgbClr val="2E9C8F"/>
            </a:solidFill>
            <a:ln>
              <a:noFill/>
            </a:ln>
          </c:spPr>
          <c:invertIfNegative val="1"/>
          <c:cat>
            <c:strRef>
              <c:f>Sheet1!$A$2:$A$6</c:f>
              <c:strCache>
                <c:ptCount val="5"/>
                <c:pt idx="0">
                  <c:v>senza rete</c:v>
                </c:pt>
                <c:pt idx="1">
                  <c:v>P1 statica</c:v>
                </c:pt>
                <c:pt idx="2">
                  <c:v>P1.5</c:v>
                </c:pt>
                <c:pt idx="3">
                  <c:v>P2</c:v>
                </c:pt>
                <c:pt idx="4">
                  <c:v>P3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9.429</c:v>
                </c:pt>
                <c:pt idx="1">
                  <c:v>6.713</c:v>
                </c:pt>
                <c:pt idx="2">
                  <c:v>6.143</c:v>
                </c:pt>
                <c:pt idx="3">
                  <c:v>2.875</c:v>
                </c:pt>
                <c:pt idx="4">
                  <c:v>1.78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F42E-472E-934F-5CC29ED7A817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LP E-core</c:v>
                </c:pt>
              </c:strCache>
            </c:strRef>
          </c:tx>
          <c:spPr>
            <a:solidFill>
              <a:srgbClr val="E07A2D"/>
            </a:solidFill>
            <a:ln>
              <a:noFill/>
            </a:ln>
          </c:spPr>
          <c:invertIfNegative val="1"/>
          <c:cat>
            <c:strRef>
              <c:f>Sheet1!$A$2:$A$6</c:f>
              <c:strCache>
                <c:ptCount val="5"/>
                <c:pt idx="0">
                  <c:v>senza rete</c:v>
                </c:pt>
                <c:pt idx="1">
                  <c:v>P1 statica</c:v>
                </c:pt>
                <c:pt idx="2">
                  <c:v>P1.5</c:v>
                </c:pt>
                <c:pt idx="3">
                  <c:v>P2</c:v>
                </c:pt>
                <c:pt idx="4">
                  <c:v>P3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3.898</c:v>
                </c:pt>
                <c:pt idx="1">
                  <c:v>2.998</c:v>
                </c:pt>
                <c:pt idx="2">
                  <c:v>2.895</c:v>
                </c:pt>
                <c:pt idx="3">
                  <c:v>1.578</c:v>
                </c:pt>
                <c:pt idx="4">
                  <c:v>1.025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F42E-472E-934F-5CC29ED7A817}"/>
            </c:ext>
          </c:extLst>
        </c:ser>
        <c:dLbls>
          <c:numFmt formatCode="0.0" sourceLinked="0"/>
          <c:txPr>
            <a:bodyPr/>
            <a:lstStyle/>
            <a:p>
              <a:pPr>
                <a:defRPr sz="800">
                  <a:solidFill>
                    <a:srgbClr val="4A5568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55"/>
        <c:overlap val="-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C8D0DA"/>
            </a:solidFill>
          </a:ln>
        </c:spPr>
        <c:txPr>
          <a:bodyPr/>
          <a:lstStyle/>
          <a:p>
            <a:pPr>
              <a:defRPr sz="900">
                <a:solidFill>
                  <a:srgbClr val="4A5568"/>
                </a:solidFill>
                <a:latin typeface="Calibri"/>
              </a:defRPr>
            </a:pPr>
            <a:endParaRPr lang="it-IT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>
          <c:spPr>
            <a:ln w="7620">
              <a:solidFill>
                <a:srgbClr val="E3E7ED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it-IT" sz="1100" b="0">
                    <a:solidFill>
                      <a:srgbClr val="6B7C93"/>
                    </a:solidFill>
                    <a:latin typeface="Calibri"/>
                  </a:rPr>
                  <a:t>milioni di pacchetti al secondo</a:t>
                </a:r>
              </a:p>
            </c:rich>
          </c:tx>
          <c:overlay val="0"/>
        </c:title>
        <c:numFmt formatCode="#,##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solidFill>
                  <a:srgbClr val="6B7C93"/>
                </a:solidFill>
                <a:latin typeface="Calibri"/>
              </a:defRPr>
            </a:pPr>
            <a:endParaRPr lang="it-IT"/>
          </a:p>
        </c:txPr>
        <c:crossAx val="-2068027336"/>
        <c:crosses val="autoZero"/>
        <c:crossBetween val="between"/>
      </c:valAx>
    </c:plotArea>
    <c:legend>
      <c:legendPos val="t"/>
      <c:overlay val="0"/>
      <c:txPr>
        <a:bodyPr/>
        <a:lstStyle/>
        <a:p>
          <a:pPr>
            <a:defRPr sz="900">
              <a:solidFill>
                <a:srgbClr val="222B36"/>
              </a:solidFill>
            </a:defRPr>
          </a:pPr>
          <a:endParaRPr lang="it-IT"/>
        </a:p>
      </c:txPr>
    </c:legend>
    <c:plotVisOnly val="1"/>
    <c:dispBlanksAs val="gap"/>
    <c:showDLblsOverMax val="1"/>
  </c:chart>
  <c:txPr>
    <a:bodyPr/>
    <a:lstStyle/>
    <a:p>
      <a:pPr>
        <a:defRPr sz="900">
          <a:solidFill>
            <a:srgbClr val="4A5568"/>
          </a:solidFill>
          <a:latin typeface="Calibri"/>
        </a:defRPr>
      </a:pPr>
      <a:endParaRPr lang="it-IT"/>
    </a:p>
  </c:tx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1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P-core</c:v>
                </c:pt>
              </c:strCache>
            </c:strRef>
          </c:tx>
          <c:spPr>
            <a:solidFill>
              <a:srgbClr val="1F3A5F"/>
            </a:solidFill>
            <a:ln>
              <a:noFill/>
            </a:ln>
          </c:spPr>
          <c:invertIfNegative val="1"/>
          <c:cat>
            <c:strRef>
              <c:f>Sheet1!$A$2:$A$6</c:f>
              <c:strCache>
                <c:ptCount val="5"/>
                <c:pt idx="0">
                  <c:v>senza rete</c:v>
                </c:pt>
                <c:pt idx="1">
                  <c:v>P1 statica</c:v>
                </c:pt>
                <c:pt idx="2">
                  <c:v>P1.5</c:v>
                </c:pt>
                <c:pt idx="3">
                  <c:v>P2</c:v>
                </c:pt>
                <c:pt idx="4">
                  <c:v>P3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66.85</c:v>
                </c:pt>
                <c:pt idx="1">
                  <c:v>114.4</c:v>
                </c:pt>
                <c:pt idx="2">
                  <c:v>120.35</c:v>
                </c:pt>
                <c:pt idx="3">
                  <c:v>285.15</c:v>
                </c:pt>
                <c:pt idx="4">
                  <c:v>462.0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F42E-472E-934F-5CC29ED7A81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E-core</c:v>
                </c:pt>
              </c:strCache>
            </c:strRef>
          </c:tx>
          <c:spPr>
            <a:solidFill>
              <a:srgbClr val="2E9C8F"/>
            </a:solidFill>
            <a:ln>
              <a:noFill/>
            </a:ln>
          </c:spPr>
          <c:invertIfNegative val="1"/>
          <c:cat>
            <c:strRef>
              <c:f>Sheet1!$A$2:$A$6</c:f>
              <c:strCache>
                <c:ptCount val="5"/>
                <c:pt idx="0">
                  <c:v>senza rete</c:v>
                </c:pt>
                <c:pt idx="1">
                  <c:v>P1 statica</c:v>
                </c:pt>
                <c:pt idx="2">
                  <c:v>P1.5</c:v>
                </c:pt>
                <c:pt idx="3">
                  <c:v>P2</c:v>
                </c:pt>
                <c:pt idx="4">
                  <c:v>P3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106.05</c:v>
                </c:pt>
                <c:pt idx="1">
                  <c:v>149.0</c:v>
                </c:pt>
                <c:pt idx="2">
                  <c:v>162.8</c:v>
                </c:pt>
                <c:pt idx="3">
                  <c:v>347.8</c:v>
                </c:pt>
                <c:pt idx="4">
                  <c:v>561.85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F42E-472E-934F-5CC29ED7A817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LP E-core</c:v>
                </c:pt>
              </c:strCache>
            </c:strRef>
          </c:tx>
          <c:spPr>
            <a:solidFill>
              <a:srgbClr val="E07A2D"/>
            </a:solidFill>
            <a:ln>
              <a:noFill/>
            </a:ln>
          </c:spPr>
          <c:invertIfNegative val="1"/>
          <c:cat>
            <c:strRef>
              <c:f>Sheet1!$A$2:$A$6</c:f>
              <c:strCache>
                <c:ptCount val="5"/>
                <c:pt idx="0">
                  <c:v>senza rete</c:v>
                </c:pt>
                <c:pt idx="1">
                  <c:v>P1 statica</c:v>
                </c:pt>
                <c:pt idx="2">
                  <c:v>P1.5</c:v>
                </c:pt>
                <c:pt idx="3">
                  <c:v>P2</c:v>
                </c:pt>
                <c:pt idx="4">
                  <c:v>P3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256.6</c:v>
                </c:pt>
                <c:pt idx="1">
                  <c:v>333.6</c:v>
                </c:pt>
                <c:pt idx="2">
                  <c:v>345.45</c:v>
                </c:pt>
                <c:pt idx="3">
                  <c:v>633.8</c:v>
                </c:pt>
                <c:pt idx="4">
                  <c:v>976.0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F42E-472E-934F-5CC29ED7A817}"/>
            </c:ext>
          </c:extLst>
        </c:ser>
        <c:dLbls>
          <c:numFmt formatCode="0" sourceLinked="0"/>
          <c:txPr>
            <a:bodyPr/>
            <a:lstStyle/>
            <a:p>
              <a:pPr>
                <a:defRPr sz="800">
                  <a:solidFill>
                    <a:srgbClr val="4A5568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55"/>
        <c:overlap val="-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C8D0DA"/>
            </a:solidFill>
          </a:ln>
        </c:spPr>
        <c:txPr>
          <a:bodyPr/>
          <a:lstStyle/>
          <a:p>
            <a:pPr>
              <a:defRPr sz="900">
                <a:solidFill>
                  <a:srgbClr val="4A5568"/>
                </a:solidFill>
                <a:latin typeface="Calibri"/>
              </a:defRPr>
            </a:pPr>
            <a:endParaRPr lang="it-IT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>
          <c:spPr>
            <a:ln w="7620">
              <a:solidFill>
                <a:srgbClr val="E3E7ED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it-IT" sz="1100" b="0">
                    <a:solidFill>
                      <a:srgbClr val="6B7C93"/>
                    </a:solidFill>
                    <a:latin typeface="Calibri"/>
                  </a:rPr>
                  <a:t>tempo per pacchetto (ns)</a:t>
                </a:r>
              </a:p>
            </c:rich>
          </c:tx>
          <c:overlay val="0"/>
        </c:title>
        <c:numFmt formatCode="#,##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solidFill>
                  <a:srgbClr val="6B7C93"/>
                </a:solidFill>
                <a:latin typeface="Calibri"/>
              </a:defRPr>
            </a:pPr>
            <a:endParaRPr lang="it-IT"/>
          </a:p>
        </c:txPr>
        <c:crossAx val="-2068027336"/>
        <c:crosses val="autoZero"/>
        <c:crossBetween val="between"/>
      </c:valAx>
    </c:plotArea>
    <c:legend>
      <c:legendPos val="t"/>
      <c:overlay val="0"/>
      <c:txPr>
        <a:bodyPr/>
        <a:lstStyle/>
        <a:p>
          <a:pPr>
            <a:defRPr sz="900">
              <a:solidFill>
                <a:srgbClr val="222B36"/>
              </a:solidFill>
            </a:defRPr>
          </a:pPr>
          <a:endParaRPr lang="it-IT"/>
        </a:p>
      </c:txPr>
    </c:legend>
    <c:plotVisOnly val="1"/>
    <c:dispBlanksAs val="gap"/>
    <c:showDLblsOverMax val="1"/>
  </c:chart>
  <c:txPr>
    <a:bodyPr/>
    <a:lstStyle/>
    <a:p>
      <a:pPr>
        <a:defRPr sz="900">
          <a:solidFill>
            <a:srgbClr val="4A5568"/>
          </a:solidFill>
          <a:latin typeface="Calibri"/>
        </a:defRPr>
      </a:pPr>
      <a:endParaRPr lang="it-IT"/>
    </a:p>
  </c:tx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1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ns</c:v>
                </c:pt>
              </c:strCache>
            </c:strRef>
          </c:tx>
          <c:spPr>
            <a:solidFill>
              <a:srgbClr val="1F3A5F"/>
            </a:solidFill>
            <a:ln>
              <a:noFill/>
            </a:ln>
          </c:spPr>
          <c:invertIfNegative val="1"/>
          <c:dPt>
            <c:idx val="0"/>
            <c:invertIfNegative val="1"/>
            <c:bubble3D val="0"/>
            <c:spPr>
              <a:solidFill>
                <a:srgbClr val="9AA5B1"/>
              </a:solidFill>
            </c:spPr>
            <c:extLst>
              <c:ext xmlns:c16="http://schemas.microsoft.com/office/drawing/2014/chart" uri="{C3380CC4-5D6E-409C-BE32-E72D297353CC}">
                <c16:uniqueId val="{00000001-B2EE-41DF-BD52-DB8D95671A71}"/>
              </c:ext>
            </c:extLst>
          </c:dPt>
          <c:dPt>
            <c:idx val="1"/>
            <c:invertIfNegative val="1"/>
            <c:bubble3D val="0"/>
            <c:spPr>
              <a:solidFill>
                <a:srgbClr val="C8551E"/>
              </a:solidFill>
            </c:spPr>
            <c:extLst>
              <c:ext xmlns:c16="http://schemas.microsoft.com/office/drawing/2014/chart" uri="{C3380CC4-5D6E-409C-BE32-E72D297353CC}">
                <c16:uniqueId val="{00000003-B2EE-41DF-BD52-DB8D95671A71}"/>
              </c:ext>
            </c:extLst>
          </c:dPt>
          <c:dPt>
            <c:idx val="2"/>
            <c:invertIfNegative val="1"/>
            <c:bubble3D val="0"/>
            <c:spPr>
              <a:solidFill>
                <a:srgbClr val="F09A3E"/>
              </a:solidFill>
            </c:spPr>
            <c:extLst>
              <c:ext xmlns:c16="http://schemas.microsoft.com/office/drawing/2014/chart" uri="{C3380CC4-5D6E-409C-BE32-E72D297353CC}">
                <c16:uniqueId val="{00000005-B2EE-41DF-BD52-DB8D95671A71}"/>
              </c:ext>
            </c:extLst>
          </c:dPt>
          <c:dPt>
            <c:idx val="3"/>
            <c:invertIfNegative val="1"/>
            <c:bubble3D val="0"/>
            <c:spPr>
              <a:solidFill>
                <a:srgbClr val="2E9C8F"/>
              </a:solidFill>
            </c:spPr>
            <c:extLst>
              <c:ext xmlns:c16="http://schemas.microsoft.com/office/drawing/2014/chart" uri="{C3380CC4-5D6E-409C-BE32-E72D297353CC}">
                <c16:uniqueId val="{00000007-B2EE-41DF-BD52-DB8D95671A71}"/>
              </c:ext>
            </c:extLst>
          </c:dPt>
          <c:dPt>
            <c:idx val="4"/>
            <c:invertIfNegative val="1"/>
            <c:bubble3D val="0"/>
            <c:spPr>
              <a:solidFill>
                <a:srgbClr val="1F5F8B"/>
              </a:solidFill>
            </c:spPr>
            <c:extLst>
              <c:ext xmlns:c16="http://schemas.microsoft.com/office/drawing/2014/chart" uri="{C3380CC4-5D6E-409C-BE32-E72D297353CC}">
                <c16:uniqueId val="{00000009-B2EE-41DF-BD52-DB8D95671A71}"/>
              </c:ext>
            </c:extLst>
          </c:dPt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400">
                    <a:solidFill>
                      <a:srgbClr val="222B36"/>
                    </a:solidFill>
                    <a:latin typeface="Calibri"/>
                  </a:defRPr>
                </a:pPr>
                <a:endParaRPr lang="it-IT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baseline</c:v>
                </c:pt>
                <c:pt idx="1">
                  <c:v>P1 statica</c:v>
                </c:pt>
                <c:pt idx="2">
                  <c:v>P1.5</c:v>
                </c:pt>
                <c:pt idx="3">
                  <c:v>P2</c:v>
                </c:pt>
                <c:pt idx="4">
                  <c:v>P3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14</c:v>
                </c:pt>
                <c:pt idx="1">
                  <c:v>46</c:v>
                </c:pt>
                <c:pt idx="2">
                  <c:v>52</c:v>
                </c:pt>
                <c:pt idx="3">
                  <c:v>194</c:v>
                </c:pt>
                <c:pt idx="4">
                  <c:v>318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A-B2EE-41DF-BD52-DB8D95671A71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4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D5DBE3"/>
            </a:solidFill>
          </a:ln>
        </c:spPr>
        <c:txPr>
          <a:bodyPr/>
          <a:lstStyle/>
          <a:p>
            <a:pPr>
              <a:defRPr sz="1200">
                <a:solidFill>
                  <a:srgbClr val="6B7C93"/>
                </a:solidFill>
                <a:latin typeface="Calibri"/>
              </a:defRPr>
            </a:pPr>
            <a:endParaRPr lang="it-IT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>
          <c:spPr>
            <a:ln>
              <a:solidFill>
                <a:srgbClr val="E6EAEF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it-IT" sz="1100" b="0">
                    <a:solidFill>
                      <a:srgbClr val="6B7C93"/>
                    </a:solidFill>
                    <a:latin typeface="Calibri"/>
                  </a:rPr>
                  <a:t>ns per pacchetto</a:t>
                </a:r>
              </a:p>
            </c:rich>
          </c:tx>
          <c:overlay val="0"/>
        </c:title>
        <c:numFmt formatCode="#,##0" sourceLinked="0"/>
        <c:majorTickMark val="out"/>
        <c:minorTickMark val="none"/>
        <c:tickLblPos val="nextTo"/>
        <c:spPr>
          <a:ln>
            <a:solidFill>
              <a:srgbClr val="D5DBE3"/>
            </a:solidFill>
          </a:ln>
        </c:spPr>
        <c:txPr>
          <a:bodyPr/>
          <a:lstStyle/>
          <a:p>
            <a:pPr>
              <a:defRPr sz="1100">
                <a:solidFill>
                  <a:srgbClr val="6B7C93"/>
                </a:solidFill>
                <a:latin typeface="Calibri"/>
              </a:defRPr>
            </a:pPr>
            <a:endParaRPr lang="it-IT"/>
          </a:p>
        </c:txPr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100">
          <a:latin typeface="Calibri"/>
        </a:defRPr>
      </a:pPr>
      <a:endParaRPr lang="it-IT"/>
    </a:p>
  </c:txPr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1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P-core</c:v>
                </c:pt>
              </c:strCache>
            </c:strRef>
          </c:tx>
          <c:spPr>
            <a:solidFill>
              <a:srgbClr val="1F3A5F"/>
            </a:solidFill>
            <a:ln>
              <a:noFill/>
            </a:ln>
          </c:spPr>
          <c:invertIfNegative val="1"/>
          <c:cat>
            <c:strRef>
              <c:f>Sheet1!$A$2:$A$6</c:f>
              <c:strCache>
                <c:ptCount val="5"/>
                <c:pt idx="0">
                  <c:v>senza rete</c:v>
                </c:pt>
                <c:pt idx="1">
                  <c:v>P1 statica</c:v>
                </c:pt>
                <c:pt idx="2">
                  <c:v>P1.5</c:v>
                </c:pt>
                <c:pt idx="3">
                  <c:v>P2</c:v>
                </c:pt>
                <c:pt idx="4">
                  <c:v>P3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2.6</c:v>
                </c:pt>
                <c:pt idx="1">
                  <c:v>2.9</c:v>
                </c:pt>
                <c:pt idx="2">
                  <c:v>3.15</c:v>
                </c:pt>
                <c:pt idx="3">
                  <c:v>4.45</c:v>
                </c:pt>
                <c:pt idx="4">
                  <c:v>4.45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F42E-472E-934F-5CC29ED7A81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E-core</c:v>
                </c:pt>
              </c:strCache>
            </c:strRef>
          </c:tx>
          <c:spPr>
            <a:solidFill>
              <a:srgbClr val="2E9C8F"/>
            </a:solidFill>
            <a:ln>
              <a:noFill/>
            </a:ln>
          </c:spPr>
          <c:invertIfNegative val="1"/>
          <c:cat>
            <c:strRef>
              <c:f>Sheet1!$A$2:$A$6</c:f>
              <c:strCache>
                <c:ptCount val="5"/>
                <c:pt idx="0">
                  <c:v>senza rete</c:v>
                </c:pt>
                <c:pt idx="1">
                  <c:v>P1 statica</c:v>
                </c:pt>
                <c:pt idx="2">
                  <c:v>P1.5</c:v>
                </c:pt>
                <c:pt idx="3">
                  <c:v>P2</c:v>
                </c:pt>
                <c:pt idx="4">
                  <c:v>P3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1.7</c:v>
                </c:pt>
                <c:pt idx="1">
                  <c:v>2.2</c:v>
                </c:pt>
                <c:pt idx="2">
                  <c:v>2.3</c:v>
                </c:pt>
                <c:pt idx="3">
                  <c:v>3.75</c:v>
                </c:pt>
                <c:pt idx="4">
                  <c:v>3.7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F42E-472E-934F-5CC29ED7A817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LP E-core</c:v>
                </c:pt>
              </c:strCache>
            </c:strRef>
          </c:tx>
          <c:spPr>
            <a:solidFill>
              <a:srgbClr val="E07A2D"/>
            </a:solidFill>
            <a:ln>
              <a:noFill/>
            </a:ln>
          </c:spPr>
          <c:invertIfNegative val="1"/>
          <c:cat>
            <c:strRef>
              <c:f>Sheet1!$A$2:$A$6</c:f>
              <c:strCache>
                <c:ptCount val="5"/>
                <c:pt idx="0">
                  <c:v>senza rete</c:v>
                </c:pt>
                <c:pt idx="1">
                  <c:v>P1 statica</c:v>
                </c:pt>
                <c:pt idx="2">
                  <c:v>P1.5</c:v>
                </c:pt>
                <c:pt idx="3">
                  <c:v>P2</c:v>
                </c:pt>
                <c:pt idx="4">
                  <c:v>P3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1.0</c:v>
                </c:pt>
                <c:pt idx="1">
                  <c:v>1.35</c:v>
                </c:pt>
                <c:pt idx="2">
                  <c:v>1.5</c:v>
                </c:pt>
                <c:pt idx="3">
                  <c:v>2.8</c:v>
                </c:pt>
                <c:pt idx="4">
                  <c:v>3.0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F42E-472E-934F-5CC29ED7A817}"/>
            </c:ext>
          </c:extLst>
        </c:ser>
        <c:dLbls>
          <c:numFmt formatCode="0.0" sourceLinked="0"/>
          <c:txPr>
            <a:bodyPr/>
            <a:lstStyle/>
            <a:p>
              <a:pPr>
                <a:defRPr sz="800">
                  <a:solidFill>
                    <a:srgbClr val="4A5568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55"/>
        <c:overlap val="-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C8D0DA"/>
            </a:solidFill>
          </a:ln>
        </c:spPr>
        <c:txPr>
          <a:bodyPr/>
          <a:lstStyle/>
          <a:p>
            <a:pPr>
              <a:defRPr sz="900">
                <a:solidFill>
                  <a:srgbClr val="4A5568"/>
                </a:solidFill>
                <a:latin typeface="Calibri"/>
              </a:defRPr>
            </a:pPr>
            <a:endParaRPr lang="it-IT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>
          <c:spPr>
            <a:ln w="7620">
              <a:solidFill>
                <a:srgbClr val="E3E7ED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it-IT" sz="1100" b="0">
                    <a:solidFill>
                      <a:srgbClr val="6B7C93"/>
                    </a:solidFill>
                    <a:latin typeface="Calibri"/>
                  </a:rPr>
                  <a:t>istruzioni per ciclo di clock</a:t>
                </a:r>
              </a:p>
            </c:rich>
          </c:tx>
          <c:overlay val="0"/>
        </c:title>
        <c:numFmt formatCode="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solidFill>
                  <a:srgbClr val="6B7C93"/>
                </a:solidFill>
                <a:latin typeface="Calibri"/>
              </a:defRPr>
            </a:pPr>
            <a:endParaRPr lang="it-IT"/>
          </a:p>
        </c:txPr>
        <c:crossAx val="-2068027336"/>
        <c:crosses val="autoZero"/>
        <c:crossBetween val="between"/>
        <c:majorUnit val="1.0"/>
      </c:valAx>
    </c:plotArea>
    <c:legend>
      <c:legendPos val="t"/>
      <c:overlay val="0"/>
      <c:txPr>
        <a:bodyPr/>
        <a:lstStyle/>
        <a:p>
          <a:pPr>
            <a:defRPr sz="900">
              <a:solidFill>
                <a:srgbClr val="222B36"/>
              </a:solidFill>
            </a:defRPr>
          </a:pPr>
          <a:endParaRPr lang="it-IT"/>
        </a:p>
      </c:txPr>
    </c:legend>
    <c:plotVisOnly val="1"/>
    <c:dispBlanksAs val="gap"/>
    <c:showDLblsOverMax val="1"/>
  </c:chart>
  <c:txPr>
    <a:bodyPr/>
    <a:lstStyle/>
    <a:p>
      <a:pPr>
        <a:defRPr sz="900">
          <a:solidFill>
            <a:srgbClr val="4A5568"/>
          </a:solidFill>
          <a:latin typeface="Calibri"/>
        </a:defRPr>
      </a:pPr>
      <a:endParaRPr lang="it-IT"/>
    </a:p>
  </c:tx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1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caricate</c:v>
                </c:pt>
              </c:strCache>
            </c:strRef>
          </c:tx>
          <c:spPr>
            <a:solidFill>
              <a:srgbClr val="B8C2CF"/>
            </a:solidFill>
            <a:ln>
              <a:noFill/>
            </a:ln>
          </c:spPr>
          <c:invertIfNegative val="1"/>
          <c:cat>
            <c:strRef>
              <c:f>Sheet1!$A$2:$A$6</c:f>
              <c:strCache>
                <c:ptCount val="5"/>
                <c:pt idx="0">
                  <c:v>senza rete</c:v>
                </c:pt>
                <c:pt idx="1">
                  <c:v>P1 statica</c:v>
                </c:pt>
                <c:pt idx="2">
                  <c:v>P1.5</c:v>
                </c:pt>
                <c:pt idx="3">
                  <c:v>P2</c:v>
                </c:pt>
                <c:pt idx="4">
                  <c:v>P3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135.0</c:v>
                </c:pt>
                <c:pt idx="1">
                  <c:v>650.0</c:v>
                </c:pt>
                <c:pt idx="2">
                  <c:v>961.0</c:v>
                </c:pt>
                <c:pt idx="3">
                  <c:v>16813.0</c:v>
                </c:pt>
                <c:pt idx="4">
                  <c:v>12288.0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F42E-472E-934F-5CC29ED7A81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eseguite</c:v>
                </c:pt>
              </c:strCache>
            </c:strRef>
          </c:tx>
          <c:spPr>
            <a:solidFill>
              <a:srgbClr val="1F3A5F"/>
            </a:solidFill>
            <a:ln>
              <a:noFill/>
            </a:ln>
          </c:spPr>
          <c:invertIfNegative val="1"/>
          <c:cat>
            <c:strRef>
              <c:f>Sheet1!$A$2:$A$6</c:f>
              <c:strCache>
                <c:ptCount val="5"/>
                <c:pt idx="0">
                  <c:v>senza rete</c:v>
                </c:pt>
                <c:pt idx="1">
                  <c:v>P1 statica</c:v>
                </c:pt>
                <c:pt idx="2">
                  <c:v>P1.5</c:v>
                </c:pt>
                <c:pt idx="3">
                  <c:v>P2</c:v>
                </c:pt>
                <c:pt idx="4">
                  <c:v>P3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605.9</c:v>
                </c:pt>
                <c:pt idx="1">
                  <c:v>1167.6</c:v>
                </c:pt>
                <c:pt idx="2">
                  <c:v>1348.9</c:v>
                </c:pt>
                <c:pt idx="3">
                  <c:v>4578.2</c:v>
                </c:pt>
                <c:pt idx="4">
                  <c:v>7619.7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F42E-472E-934F-5CC29ED7A817}"/>
            </c:ext>
          </c:extLst>
        </c:ser>
        <c:dLbls>
          <c:numFmt formatCode="#,##0" sourceLinked="0"/>
          <c:txPr>
            <a:bodyPr/>
            <a:lstStyle/>
            <a:p>
              <a:pPr>
                <a:defRPr sz="800">
                  <a:solidFill>
                    <a:srgbClr val="4A5568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55"/>
        <c:overlap val="-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C8D0DA"/>
            </a:solidFill>
          </a:ln>
        </c:spPr>
        <c:txPr>
          <a:bodyPr/>
          <a:lstStyle/>
          <a:p>
            <a:pPr>
              <a:defRPr sz="900">
                <a:solidFill>
                  <a:srgbClr val="4A5568"/>
                </a:solidFill>
                <a:latin typeface="Calibri"/>
              </a:defRPr>
            </a:pPr>
            <a:endParaRPr lang="it-IT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>
          <c:spPr>
            <a:ln w="7620">
              <a:solidFill>
                <a:srgbClr val="E3E7ED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it-IT" sz="1100" b="0">
                    <a:solidFill>
                      <a:srgbClr val="6B7C93"/>
                    </a:solidFill>
                    <a:latin typeface="Calibri"/>
                  </a:rPr>
                  <a:t>istruzioni</a:t>
                </a:r>
              </a:p>
            </c:rich>
          </c:tx>
          <c:overlay val="0"/>
        </c:title>
        <c:numFmt formatCode="#,##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solidFill>
                  <a:srgbClr val="6B7C93"/>
                </a:solidFill>
                <a:latin typeface="Calibri"/>
              </a:defRPr>
            </a:pPr>
            <a:endParaRPr lang="it-IT"/>
          </a:p>
        </c:txPr>
        <c:crossAx val="-2068027336"/>
        <c:crosses val="autoZero"/>
        <c:crossBetween val="between"/>
      </c:valAx>
    </c:plotArea>
    <c:legend>
      <c:legendPos val="t"/>
      <c:overlay val="0"/>
      <c:txPr>
        <a:bodyPr/>
        <a:lstStyle/>
        <a:p>
          <a:pPr>
            <a:defRPr sz="900">
              <a:solidFill>
                <a:srgbClr val="222B36"/>
              </a:solidFill>
            </a:defRPr>
          </a:pPr>
          <a:endParaRPr lang="it-IT"/>
        </a:p>
      </c:txPr>
    </c:legend>
    <c:plotVisOnly val="1"/>
    <c:dispBlanksAs val="gap"/>
    <c:showDLblsOverMax val="1"/>
  </c:chart>
  <c:txPr>
    <a:bodyPr/>
    <a:lstStyle/>
    <a:p>
      <a:pPr>
        <a:defRPr sz="900">
          <a:solidFill>
            <a:srgbClr val="4A5568"/>
          </a:solidFill>
          <a:latin typeface="Calibri"/>
        </a:defRPr>
      </a:pPr>
      <a:endParaRPr lang="it-IT"/>
    </a:p>
  </c:tx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1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P-core</c:v>
                </c:pt>
              </c:strCache>
            </c:strRef>
          </c:tx>
          <c:spPr>
            <a:solidFill>
              <a:srgbClr val="1F3A5F"/>
            </a:solidFill>
            <a:ln>
              <a:noFill/>
            </a:ln>
          </c:spPr>
          <c:invertIfNegative val="1"/>
          <c:cat>
            <c:strRef>
              <c:f>Sheet1!$A$2:$A$6</c:f>
              <c:strCache>
                <c:ptCount val="5"/>
                <c:pt idx="0">
                  <c:v>senza rete</c:v>
                </c:pt>
                <c:pt idx="1">
                  <c:v>P1 statica</c:v>
                </c:pt>
                <c:pt idx="2">
                  <c:v>P1.5</c:v>
                </c:pt>
                <c:pt idx="3">
                  <c:v>P2</c:v>
                </c:pt>
                <c:pt idx="4">
                  <c:v>P3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605.9</c:v>
                </c:pt>
                <c:pt idx="1">
                  <c:v>1103.3</c:v>
                </c:pt>
                <c:pt idx="2">
                  <c:v>1284.65</c:v>
                </c:pt>
                <c:pt idx="3">
                  <c:v>4500.85</c:v>
                </c:pt>
                <c:pt idx="4">
                  <c:v>7210.0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DCC1-41C3-B47A-44DD6F14CF9B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E-core</c:v>
                </c:pt>
              </c:strCache>
            </c:strRef>
          </c:tx>
          <c:spPr>
            <a:solidFill>
              <a:srgbClr val="2E9C8F"/>
            </a:solidFill>
            <a:ln>
              <a:noFill/>
            </a:ln>
          </c:spPr>
          <c:invertIfNegative val="1"/>
          <c:cat>
            <c:strRef>
              <c:f>Sheet1!$A$2:$A$6</c:f>
              <c:strCache>
                <c:ptCount val="5"/>
                <c:pt idx="0">
                  <c:v>senza rete</c:v>
                </c:pt>
                <c:pt idx="1">
                  <c:v>P1 statica</c:v>
                </c:pt>
                <c:pt idx="2">
                  <c:v>P1.5</c:v>
                </c:pt>
                <c:pt idx="3">
                  <c:v>P2</c:v>
                </c:pt>
                <c:pt idx="4">
                  <c:v>P3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607.1</c:v>
                </c:pt>
                <c:pt idx="1">
                  <c:v>1104.7</c:v>
                </c:pt>
                <c:pt idx="2">
                  <c:v>1288.25</c:v>
                </c:pt>
                <c:pt idx="3">
                  <c:v>4501.1</c:v>
                </c:pt>
                <c:pt idx="4">
                  <c:v>7209.6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DCC1-41C3-B47A-44DD6F14CF9B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LP E-core</c:v>
                </c:pt>
              </c:strCache>
            </c:strRef>
          </c:tx>
          <c:spPr>
            <a:solidFill>
              <a:srgbClr val="E07A2D"/>
            </a:solidFill>
            <a:ln>
              <a:noFill/>
            </a:ln>
          </c:spPr>
          <c:invertIfNegative val="1"/>
          <c:cat>
            <c:strRef>
              <c:f>Sheet1!$A$2:$A$6</c:f>
              <c:strCache>
                <c:ptCount val="5"/>
                <c:pt idx="0">
                  <c:v>senza rete</c:v>
                </c:pt>
                <c:pt idx="1">
                  <c:v>P1 statica</c:v>
                </c:pt>
                <c:pt idx="2">
                  <c:v>P1.5</c:v>
                </c:pt>
                <c:pt idx="3">
                  <c:v>P2</c:v>
                </c:pt>
                <c:pt idx="4">
                  <c:v>P3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611.65</c:v>
                </c:pt>
                <c:pt idx="1">
                  <c:v>1108.95</c:v>
                </c:pt>
                <c:pt idx="2">
                  <c:v>1291.65</c:v>
                </c:pt>
                <c:pt idx="3">
                  <c:v>4502.85</c:v>
                </c:pt>
                <c:pt idx="4">
                  <c:v>7211.8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DCC1-41C3-B47A-44DD6F14CF9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55"/>
        <c:overlap val="-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C8D0DA"/>
            </a:solidFill>
          </a:ln>
        </c:spPr>
        <c:txPr>
          <a:bodyPr/>
          <a:lstStyle/>
          <a:p>
            <a:pPr>
              <a:defRPr sz="900">
                <a:solidFill>
                  <a:srgbClr val="4A5568"/>
                </a:solidFill>
                <a:latin typeface="Calibri"/>
              </a:defRPr>
            </a:pPr>
            <a:endParaRPr lang="it-IT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>
          <c:spPr>
            <a:ln w="7620">
              <a:solidFill>
                <a:srgbClr val="E3E7ED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it-IT" sz="1100" b="0">
                    <a:solidFill>
                      <a:srgbClr val="6B7C93"/>
                    </a:solidFill>
                    <a:latin typeface="Calibri"/>
                  </a:rPr>
                  <a:t>istruzioni eseguite per pacchetto</a:t>
                </a:r>
              </a:p>
            </c:rich>
          </c:tx>
          <c:overlay val="0"/>
        </c:title>
        <c:numFmt formatCode="#,##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solidFill>
                  <a:srgbClr val="6B7C93"/>
                </a:solidFill>
                <a:latin typeface="Calibri"/>
              </a:defRPr>
            </a:pPr>
            <a:endParaRPr lang="it-IT"/>
          </a:p>
        </c:txPr>
        <c:crossAx val="-2068027336"/>
        <c:crosses val="autoZero"/>
        <c:crossBetween val="between"/>
      </c:valAx>
    </c:plotArea>
    <c:legend>
      <c:legendPos val="t"/>
      <c:overlay val="0"/>
      <c:txPr>
        <a:bodyPr/>
        <a:lstStyle/>
        <a:p>
          <a:pPr>
            <a:defRPr sz="900">
              <a:solidFill>
                <a:srgbClr val="222B36"/>
              </a:solidFill>
            </a:defRPr>
          </a:pPr>
          <a:endParaRPr lang="it-IT"/>
        </a:p>
      </c:txPr>
    </c:legend>
    <c:plotVisOnly val="1"/>
    <c:dispBlanksAs val="gap"/>
    <c:showDLblsOverMax val="1"/>
  </c:chart>
  <c:txPr>
    <a:bodyPr/>
    <a:lstStyle/>
    <a:p>
      <a:pPr>
        <a:defRPr sz="900">
          <a:solidFill>
            <a:srgbClr val="4A5568"/>
          </a:solidFill>
          <a:latin typeface="Calibri"/>
        </a:defRPr>
      </a:pPr>
      <a:endParaRPr lang="it-IT"/>
    </a:p>
  </c:txPr>
  <c:externalData r:id="rId1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1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P-core</c:v>
                </c:pt>
              </c:strCache>
            </c:strRef>
          </c:tx>
          <c:spPr>
            <a:solidFill>
              <a:srgbClr val="1F3A5F"/>
            </a:solidFill>
            <a:ln>
              <a:noFill/>
            </a:ln>
          </c:spPr>
          <c:invertIfNegative val="1"/>
          <c:cat>
            <c:strRef>
              <c:f>Sheet1!$A$2:$A$6</c:f>
              <c:strCache>
                <c:ptCount val="5"/>
                <c:pt idx="0">
                  <c:v>senza rete</c:v>
                </c:pt>
                <c:pt idx="1">
                  <c:v>P1 statica</c:v>
                </c:pt>
                <c:pt idx="2">
                  <c:v>P1.5</c:v>
                </c:pt>
                <c:pt idx="3">
                  <c:v>P2</c:v>
                </c:pt>
                <c:pt idx="4">
                  <c:v>P3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F42E-472E-934F-5CC29ED7A81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E-core</c:v>
                </c:pt>
              </c:strCache>
            </c:strRef>
          </c:tx>
          <c:spPr>
            <a:solidFill>
              <a:srgbClr val="2E9C8F"/>
            </a:solidFill>
            <a:ln>
              <a:noFill/>
            </a:ln>
          </c:spPr>
          <c:invertIfNegative val="1"/>
          <c:cat>
            <c:strRef>
              <c:f>Sheet1!$A$2:$A$6</c:f>
              <c:strCache>
                <c:ptCount val="5"/>
                <c:pt idx="0">
                  <c:v>senza rete</c:v>
                </c:pt>
                <c:pt idx="1">
                  <c:v>P1 statica</c:v>
                </c:pt>
                <c:pt idx="2">
                  <c:v>P1.5</c:v>
                </c:pt>
                <c:pt idx="3">
                  <c:v>P2</c:v>
                </c:pt>
                <c:pt idx="4">
                  <c:v>P3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F42E-472E-934F-5CC29ED7A817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LP E-core</c:v>
                </c:pt>
              </c:strCache>
            </c:strRef>
          </c:tx>
          <c:spPr>
            <a:solidFill>
              <a:srgbClr val="E07A2D"/>
            </a:solidFill>
            <a:ln>
              <a:noFill/>
            </a:ln>
          </c:spPr>
          <c:invertIfNegative val="1"/>
          <c:cat>
            <c:strRef>
              <c:f>Sheet1!$A$2:$A$6</c:f>
              <c:strCache>
                <c:ptCount val="5"/>
                <c:pt idx="0">
                  <c:v>senza rete</c:v>
                </c:pt>
                <c:pt idx="1">
                  <c:v>P1 statica</c:v>
                </c:pt>
                <c:pt idx="2">
                  <c:v>P1.5</c:v>
                </c:pt>
                <c:pt idx="3">
                  <c:v>P2</c:v>
                </c:pt>
                <c:pt idx="4">
                  <c:v>P3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13.5</c:v>
                </c:pt>
                <c:pt idx="1">
                  <c:v>13.7</c:v>
                </c:pt>
                <c:pt idx="2">
                  <c:v>17.45</c:v>
                </c:pt>
                <c:pt idx="3">
                  <c:v>16.1</c:v>
                </c:pt>
                <c:pt idx="4">
                  <c:v>18.95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F42E-472E-934F-5CC29ED7A817}"/>
            </c:ext>
          </c:extLst>
        </c:ser>
        <c:dLbls>
          <c:numFmt formatCode="0;;0" sourceLinked="0"/>
          <c:txPr>
            <a:bodyPr/>
            <a:lstStyle/>
            <a:p>
              <a:pPr>
                <a:defRPr sz="800">
                  <a:solidFill>
                    <a:srgbClr val="4A5568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55"/>
        <c:overlap val="-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C8D0DA"/>
            </a:solidFill>
          </a:ln>
        </c:spPr>
        <c:txPr>
          <a:bodyPr/>
          <a:lstStyle/>
          <a:p>
            <a:pPr>
              <a:defRPr sz="900">
                <a:solidFill>
                  <a:srgbClr val="4A5568"/>
                </a:solidFill>
                <a:latin typeface="Calibri"/>
              </a:defRPr>
            </a:pPr>
            <a:endParaRPr lang="it-IT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>
          <c:spPr>
            <a:ln w="7620">
              <a:solidFill>
                <a:srgbClr val="E3E7ED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it-IT" sz="1100" b="0">
                    <a:solidFill>
                      <a:srgbClr val="6B7C93"/>
                    </a:solidFill>
                    <a:latin typeface="Calibri"/>
                  </a:rPr>
                  <a:t>letture andate in memoria, per pacchetto</a:t>
                </a:r>
              </a:p>
            </c:rich>
          </c:tx>
          <c:overlay val="0"/>
        </c:title>
        <c:numFmt formatCode="#,##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solidFill>
                  <a:srgbClr val="6B7C93"/>
                </a:solidFill>
                <a:latin typeface="Calibri"/>
              </a:defRPr>
            </a:pPr>
            <a:endParaRPr lang="it-IT"/>
          </a:p>
        </c:txPr>
        <c:crossAx val="-2068027336"/>
        <c:crosses val="autoZero"/>
        <c:crossBetween val="between"/>
      </c:valAx>
    </c:plotArea>
    <c:legend>
      <c:legendPos val="t"/>
      <c:overlay val="0"/>
      <c:txPr>
        <a:bodyPr/>
        <a:lstStyle/>
        <a:p>
          <a:pPr>
            <a:defRPr sz="900">
              <a:solidFill>
                <a:srgbClr val="222B36"/>
              </a:solidFill>
            </a:defRPr>
          </a:pPr>
          <a:endParaRPr lang="it-IT"/>
        </a:p>
      </c:txPr>
    </c:legend>
    <c:plotVisOnly val="1"/>
    <c:dispBlanksAs val="gap"/>
    <c:showDLblsOverMax val="1"/>
  </c:chart>
  <c:txPr>
    <a:bodyPr/>
    <a:lstStyle/>
    <a:p>
      <a:pPr>
        <a:defRPr sz="900">
          <a:solidFill>
            <a:srgbClr val="4A5568"/>
          </a:solidFill>
          <a:latin typeface="Calibri"/>
        </a:defRPr>
      </a:pPr>
      <a:endParaRPr lang="it-IT"/>
    </a:p>
  </c:txPr>
  <c:externalData r:id="rId1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1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P-core</c:v>
                </c:pt>
              </c:strCache>
            </c:strRef>
          </c:tx>
          <c:spPr>
            <a:solidFill>
              <a:srgbClr val="1F3A5F"/>
            </a:solidFill>
            <a:ln>
              <a:noFill/>
            </a:ln>
          </c:spPr>
          <c:invertIfNegative val="1"/>
          <c:cat>
            <c:strRef>
              <c:f>Sheet1!$A$2:$A$6</c:f>
              <c:strCache>
                <c:ptCount val="5"/>
                <c:pt idx="0">
                  <c:v>senza rete</c:v>
                </c:pt>
                <c:pt idx="1">
                  <c:v>P1 statica</c:v>
                </c:pt>
                <c:pt idx="2">
                  <c:v>P1.5</c:v>
                </c:pt>
                <c:pt idx="3">
                  <c:v>P2</c:v>
                </c:pt>
                <c:pt idx="4">
                  <c:v>P3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232.7</c:v>
                </c:pt>
                <c:pt idx="1">
                  <c:v>399.65</c:v>
                </c:pt>
                <c:pt idx="2">
                  <c:v>420.3</c:v>
                </c:pt>
                <c:pt idx="3">
                  <c:v>995.95</c:v>
                </c:pt>
                <c:pt idx="4">
                  <c:v>1613.9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F42E-472E-934F-5CC29ED7A81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E-core</c:v>
                </c:pt>
              </c:strCache>
            </c:strRef>
          </c:tx>
          <c:spPr>
            <a:solidFill>
              <a:srgbClr val="2E9C8F"/>
            </a:solidFill>
            <a:ln>
              <a:noFill/>
            </a:ln>
          </c:spPr>
          <c:invertIfNegative val="1"/>
          <c:cat>
            <c:strRef>
              <c:f>Sheet1!$A$2:$A$6</c:f>
              <c:strCache>
                <c:ptCount val="5"/>
                <c:pt idx="0">
                  <c:v>senza rete</c:v>
                </c:pt>
                <c:pt idx="1">
                  <c:v>P1 statica</c:v>
                </c:pt>
                <c:pt idx="2">
                  <c:v>P1.5</c:v>
                </c:pt>
                <c:pt idx="3">
                  <c:v>P2</c:v>
                </c:pt>
                <c:pt idx="4">
                  <c:v>P3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359.7</c:v>
                </c:pt>
                <c:pt idx="1">
                  <c:v>509.9</c:v>
                </c:pt>
                <c:pt idx="2">
                  <c:v>559.0</c:v>
                </c:pt>
                <c:pt idx="3">
                  <c:v>1200.95</c:v>
                </c:pt>
                <c:pt idx="4">
                  <c:v>1944.5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F42E-472E-934F-5CC29ED7A817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LP E-core</c:v>
                </c:pt>
              </c:strCache>
            </c:strRef>
          </c:tx>
          <c:spPr>
            <a:solidFill>
              <a:srgbClr val="E07A2D"/>
            </a:solidFill>
            <a:ln>
              <a:noFill/>
            </a:ln>
          </c:spPr>
          <c:invertIfNegative val="1"/>
          <c:cat>
            <c:strRef>
              <c:f>Sheet1!$A$2:$A$6</c:f>
              <c:strCache>
                <c:ptCount val="5"/>
                <c:pt idx="0">
                  <c:v>senza rete</c:v>
                </c:pt>
                <c:pt idx="1">
                  <c:v>P1 statica</c:v>
                </c:pt>
                <c:pt idx="2">
                  <c:v>P1.5</c:v>
                </c:pt>
                <c:pt idx="3">
                  <c:v>P2</c:v>
                </c:pt>
                <c:pt idx="4">
                  <c:v>P3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640.0</c:v>
                </c:pt>
                <c:pt idx="1">
                  <c:v>832.25</c:v>
                </c:pt>
                <c:pt idx="2">
                  <c:v>861.85</c:v>
                </c:pt>
                <c:pt idx="3">
                  <c:v>1580.8</c:v>
                </c:pt>
                <c:pt idx="4">
                  <c:v>2434.65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F42E-472E-934F-5CC29ED7A817}"/>
            </c:ext>
          </c:extLst>
        </c:ser>
        <c:dLbls>
          <c:numFmt formatCode="0" sourceLinked="0"/>
          <c:txPr>
            <a:bodyPr/>
            <a:lstStyle/>
            <a:p>
              <a:pPr>
                <a:defRPr sz="800">
                  <a:solidFill>
                    <a:srgbClr val="4A5568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55"/>
        <c:overlap val="-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C8D0DA"/>
            </a:solidFill>
          </a:ln>
        </c:spPr>
        <c:txPr>
          <a:bodyPr/>
          <a:lstStyle/>
          <a:p>
            <a:pPr>
              <a:defRPr sz="900">
                <a:solidFill>
                  <a:srgbClr val="4A5568"/>
                </a:solidFill>
                <a:latin typeface="Calibri"/>
              </a:defRPr>
            </a:pPr>
            <a:endParaRPr lang="it-IT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>
          <c:spPr>
            <a:ln w="7620">
              <a:solidFill>
                <a:srgbClr val="E3E7ED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it-IT" sz="1100" b="0">
                    <a:solidFill>
                      <a:srgbClr val="6B7C93"/>
                    </a:solidFill>
                    <a:latin typeface="Calibri"/>
                  </a:rPr>
                  <a:t>cicli di clock per pacchetto</a:t>
                </a:r>
              </a:p>
            </c:rich>
          </c:tx>
          <c:overlay val="0"/>
        </c:title>
        <c:numFmt formatCode="#,##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solidFill>
                  <a:srgbClr val="6B7C93"/>
                </a:solidFill>
                <a:latin typeface="Calibri"/>
              </a:defRPr>
            </a:pPr>
            <a:endParaRPr lang="it-IT"/>
          </a:p>
        </c:txPr>
        <c:crossAx val="-2068027336"/>
        <c:crosses val="autoZero"/>
        <c:crossBetween val="between"/>
      </c:valAx>
    </c:plotArea>
    <c:legend>
      <c:legendPos val="t"/>
      <c:overlay val="0"/>
      <c:txPr>
        <a:bodyPr/>
        <a:lstStyle/>
        <a:p>
          <a:pPr>
            <a:defRPr sz="900">
              <a:solidFill>
                <a:srgbClr val="222B36"/>
              </a:solidFill>
            </a:defRPr>
          </a:pPr>
          <a:endParaRPr lang="it-IT"/>
        </a:p>
      </c:txPr>
    </c:legend>
    <c:plotVisOnly val="1"/>
    <c:dispBlanksAs val="gap"/>
    <c:showDLblsOverMax val="1"/>
  </c:chart>
  <c:txPr>
    <a:bodyPr/>
    <a:lstStyle/>
    <a:p>
      <a:pPr>
        <a:defRPr sz="900">
          <a:solidFill>
            <a:srgbClr val="4A5568"/>
          </a:solidFill>
          <a:latin typeface="Calibri"/>
        </a:defRPr>
      </a:pPr>
      <a:endParaRPr lang="it-IT"/>
    </a:p>
  </c:txPr>
  <c:externalData r:id="rId1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1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1 core</c:v>
                </c:pt>
              </c:strCache>
            </c:strRef>
          </c:tx>
          <c:spPr>
            <a:solidFill>
              <a:srgbClr val="B8C2CF"/>
            </a:solidFill>
            <a:ln>
              <a:noFill/>
            </a:ln>
          </c:spPr>
          <c:invertIfNegative val="1"/>
          <c:cat>
            <c:strRef>
              <c:f>Sheet1!$A$2:$A$6</c:f>
              <c:strCache>
                <c:ptCount val="5"/>
                <c:pt idx="0">
                  <c:v>senza rete</c:v>
                </c:pt>
                <c:pt idx="1">
                  <c:v>P1 statica</c:v>
                </c:pt>
                <c:pt idx="2">
                  <c:v>P1.5</c:v>
                </c:pt>
                <c:pt idx="3">
                  <c:v>P2</c:v>
                </c:pt>
                <c:pt idx="4">
                  <c:v>P3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14.865</c:v>
                </c:pt>
                <c:pt idx="1">
                  <c:v>8.98</c:v>
                </c:pt>
                <c:pt idx="2">
                  <c:v>8.213</c:v>
                </c:pt>
                <c:pt idx="3">
                  <c:v>3.592</c:v>
                </c:pt>
                <c:pt idx="4">
                  <c:v>2.111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F42E-472E-934F-5CC29ED7A81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 core</c:v>
                </c:pt>
              </c:strCache>
            </c:strRef>
          </c:tx>
          <c:spPr>
            <a:solidFill>
              <a:srgbClr val="1F3A5F"/>
            </a:solidFill>
            <a:ln>
              <a:noFill/>
            </a:ln>
          </c:spPr>
          <c:invertIfNegative val="1"/>
          <c:cat>
            <c:strRef>
              <c:f>Sheet1!$A$2:$A$6</c:f>
              <c:strCache>
                <c:ptCount val="5"/>
                <c:pt idx="0">
                  <c:v>senza rete</c:v>
                </c:pt>
                <c:pt idx="1">
                  <c:v>P1 statica</c:v>
                </c:pt>
                <c:pt idx="2">
                  <c:v>P1.5</c:v>
                </c:pt>
                <c:pt idx="3">
                  <c:v>P2</c:v>
                </c:pt>
                <c:pt idx="4">
                  <c:v>P3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29.323</c:v>
                </c:pt>
                <c:pt idx="1">
                  <c:v>17.93</c:v>
                </c:pt>
                <c:pt idx="2">
                  <c:v>16.231</c:v>
                </c:pt>
                <c:pt idx="3">
                  <c:v>7.118</c:v>
                </c:pt>
                <c:pt idx="4">
                  <c:v>4.137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F42E-472E-934F-5CC29ED7A817}"/>
            </c:ext>
          </c:extLst>
        </c:ser>
        <c:dLbls>
          <c:numFmt formatCode="0.0" sourceLinked="0"/>
          <c:txPr>
            <a:bodyPr/>
            <a:lstStyle/>
            <a:p>
              <a:pPr>
                <a:defRPr sz="800">
                  <a:solidFill>
                    <a:srgbClr val="4A5568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55"/>
        <c:overlap val="-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C8D0DA"/>
            </a:solidFill>
          </a:ln>
        </c:spPr>
        <c:txPr>
          <a:bodyPr/>
          <a:lstStyle/>
          <a:p>
            <a:pPr>
              <a:defRPr sz="900">
                <a:solidFill>
                  <a:srgbClr val="4A5568"/>
                </a:solidFill>
                <a:latin typeface="Calibri"/>
              </a:defRPr>
            </a:pPr>
            <a:endParaRPr lang="it-IT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>
          <c:spPr>
            <a:ln w="7620">
              <a:solidFill>
                <a:srgbClr val="E3E7ED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it-IT" sz="1100" b="0">
                    <a:solidFill>
                      <a:srgbClr val="6B7C93"/>
                    </a:solidFill>
                    <a:latin typeface="Calibri"/>
                  </a:rPr>
                  <a:t>milioni di pacchetti/s, P-core</a:t>
                </a:r>
              </a:p>
            </c:rich>
          </c:tx>
          <c:overlay val="0"/>
        </c:title>
        <c:numFmt formatCode="#,##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solidFill>
                  <a:srgbClr val="6B7C93"/>
                </a:solidFill>
                <a:latin typeface="Calibri"/>
              </a:defRPr>
            </a:pPr>
            <a:endParaRPr lang="it-IT"/>
          </a:p>
        </c:txPr>
        <c:crossAx val="-2068027336"/>
        <c:crosses val="autoZero"/>
        <c:crossBetween val="between"/>
      </c:valAx>
    </c:plotArea>
    <c:legend>
      <c:legendPos val="t"/>
      <c:overlay val="0"/>
      <c:txPr>
        <a:bodyPr/>
        <a:lstStyle/>
        <a:p>
          <a:pPr>
            <a:defRPr sz="900">
              <a:solidFill>
                <a:srgbClr val="222B36"/>
              </a:solidFill>
            </a:defRPr>
          </a:pPr>
          <a:endParaRPr lang="it-IT"/>
        </a:p>
      </c:txPr>
    </c:legend>
    <c:plotVisOnly val="1"/>
    <c:dispBlanksAs val="gap"/>
    <c:showDLblsOverMax val="1"/>
  </c:chart>
  <c:txPr>
    <a:bodyPr/>
    <a:lstStyle/>
    <a:p>
      <a:pPr>
        <a:defRPr sz="900">
          <a:solidFill>
            <a:srgbClr val="4A5568"/>
          </a:solidFill>
          <a:latin typeface="Calibri"/>
        </a:defRPr>
      </a:pPr>
      <a:endParaRPr lang="it-IT"/>
    </a:p>
  </c:txPr>
  <c:externalData r:id="rId1">
    <c:autoUpdate val="0"/>
  </c:externalData>
</c:chartSpace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1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1 core</c:v>
                </c:pt>
              </c:strCache>
            </c:strRef>
          </c:tx>
          <c:spPr>
            <a:solidFill>
              <a:srgbClr val="B8C2CF"/>
            </a:solidFill>
            <a:ln>
              <a:noFill/>
            </a:ln>
          </c:spPr>
          <c:invertIfNegative val="1"/>
          <c:cat>
            <c:strRef>
              <c:f>Sheet1!$A$2:$A$6</c:f>
              <c:strCache>
                <c:ptCount val="5"/>
                <c:pt idx="0">
                  <c:v>senza rete</c:v>
                </c:pt>
                <c:pt idx="1">
                  <c:v>P1 statica</c:v>
                </c:pt>
                <c:pt idx="2">
                  <c:v>P1.5</c:v>
                </c:pt>
                <c:pt idx="3">
                  <c:v>P2</c:v>
                </c:pt>
                <c:pt idx="4">
                  <c:v>P3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9.419</c:v>
                </c:pt>
                <c:pt idx="1">
                  <c:v>6.63</c:v>
                </c:pt>
                <c:pt idx="2">
                  <c:v>6.105</c:v>
                </c:pt>
                <c:pt idx="3">
                  <c:v>2.903</c:v>
                </c:pt>
                <c:pt idx="4">
                  <c:v>1.755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F42E-472E-934F-5CC29ED7A81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 core</c:v>
                </c:pt>
              </c:strCache>
            </c:strRef>
          </c:tx>
          <c:spPr>
            <a:solidFill>
              <a:srgbClr val="2E9C8F"/>
            </a:solidFill>
            <a:ln>
              <a:noFill/>
            </a:ln>
          </c:spPr>
          <c:invertIfNegative val="1"/>
          <c:cat>
            <c:strRef>
              <c:f>Sheet1!$A$2:$A$6</c:f>
              <c:strCache>
                <c:ptCount val="5"/>
                <c:pt idx="0">
                  <c:v>senza rete</c:v>
                </c:pt>
                <c:pt idx="1">
                  <c:v>P1 statica</c:v>
                </c:pt>
                <c:pt idx="2">
                  <c:v>P1.5</c:v>
                </c:pt>
                <c:pt idx="3">
                  <c:v>P2</c:v>
                </c:pt>
                <c:pt idx="4">
                  <c:v>P3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18.924</c:v>
                </c:pt>
                <c:pt idx="1">
                  <c:v>13.3</c:v>
                </c:pt>
                <c:pt idx="2">
                  <c:v>12.205</c:v>
                </c:pt>
                <c:pt idx="3">
                  <c:v>5.761</c:v>
                </c:pt>
                <c:pt idx="4">
                  <c:v>3.463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F42E-472E-934F-5CC29ED7A817}"/>
            </c:ext>
          </c:extLst>
        </c:ser>
        <c:dLbls>
          <c:numFmt formatCode="0.0" sourceLinked="0"/>
          <c:txPr>
            <a:bodyPr/>
            <a:lstStyle/>
            <a:p>
              <a:pPr>
                <a:defRPr sz="800">
                  <a:solidFill>
                    <a:srgbClr val="4A5568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55"/>
        <c:overlap val="-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C8D0DA"/>
            </a:solidFill>
          </a:ln>
        </c:spPr>
        <c:txPr>
          <a:bodyPr/>
          <a:lstStyle/>
          <a:p>
            <a:pPr>
              <a:defRPr sz="900">
                <a:solidFill>
                  <a:srgbClr val="4A5568"/>
                </a:solidFill>
                <a:latin typeface="Calibri"/>
              </a:defRPr>
            </a:pPr>
            <a:endParaRPr lang="it-IT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>
          <c:spPr>
            <a:ln w="7620">
              <a:solidFill>
                <a:srgbClr val="E3E7ED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it-IT" sz="1100" b="0">
                    <a:solidFill>
                      <a:srgbClr val="6B7C93"/>
                    </a:solidFill>
                    <a:latin typeface="Calibri"/>
                  </a:rPr>
                  <a:t>milioni di pacchetti/s, E-core</a:t>
                </a:r>
              </a:p>
            </c:rich>
          </c:tx>
          <c:overlay val="0"/>
        </c:title>
        <c:numFmt formatCode="#,##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solidFill>
                  <a:srgbClr val="6B7C93"/>
                </a:solidFill>
                <a:latin typeface="Calibri"/>
              </a:defRPr>
            </a:pPr>
            <a:endParaRPr lang="it-IT"/>
          </a:p>
        </c:txPr>
        <c:crossAx val="-2068027336"/>
        <c:crosses val="autoZero"/>
        <c:crossBetween val="between"/>
      </c:valAx>
    </c:plotArea>
    <c:legend>
      <c:legendPos val="t"/>
      <c:overlay val="0"/>
      <c:txPr>
        <a:bodyPr/>
        <a:lstStyle/>
        <a:p>
          <a:pPr>
            <a:defRPr sz="900">
              <a:solidFill>
                <a:srgbClr val="222B36"/>
              </a:solidFill>
            </a:defRPr>
          </a:pPr>
          <a:endParaRPr lang="it-IT"/>
        </a:p>
      </c:txPr>
    </c:legend>
    <c:plotVisOnly val="1"/>
    <c:dispBlanksAs val="gap"/>
    <c:showDLblsOverMax val="1"/>
  </c:chart>
  <c:txPr>
    <a:bodyPr/>
    <a:lstStyle/>
    <a:p>
      <a:pPr>
        <a:defRPr sz="900">
          <a:solidFill>
            <a:srgbClr val="4A5568"/>
          </a:solidFill>
          <a:latin typeface="Calibri"/>
        </a:defRPr>
      </a:pPr>
      <a:endParaRPr lang="it-IT"/>
    </a:p>
  </c:txPr>
  <c:externalData r:id="rId1">
    <c:autoUpdate val="0"/>
  </c:externalData>
</c:chartSpace>
</file>

<file path=ppt/charts/chart2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P1 statica</c:v>
                </c:pt>
              </c:strCache>
            </c:strRef>
          </c:tx>
          <c:spPr>
            <a:ln w="28575">
              <a:solidFill>
                <a:srgbClr val="C8551E"/>
              </a:solidFill>
            </a:ln>
          </c:spPr>
          <c:marker>
            <c:symbol val="circle"/>
            <c:size val="6"/>
            <c:spPr>
              <a:solidFill>
                <a:srgbClr val="C8551E"/>
              </a:solidFill>
              <a:ln>
                <a:solidFill>
                  <a:srgbClr val="C8551E"/>
                </a:solidFill>
              </a:ln>
            </c:spPr>
          </c:marker>
          <c:cat>
            <c:strRef>
              <c:f>Sheet1!$A$2:$A$7</c:f>
              <c:strCache>
                <c:ptCount val="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1187.8</c:v>
                </c:pt>
                <c:pt idx="1">
                  <c:v>1167.6</c:v>
                </c:pt>
                <c:pt idx="2">
                  <c:v>1153.4</c:v>
                </c:pt>
                <c:pt idx="3">
                  <c:v>1188.9</c:v>
                </c:pt>
                <c:pt idx="4">
                  <c:v>1139.3</c:v>
                </c:pt>
                <c:pt idx="5">
                  <c:v>1186.9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A774-4ADD-9089-DB4FCCB8654F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P1.5</c:v>
                </c:pt>
              </c:strCache>
            </c:strRef>
          </c:tx>
          <c:spPr>
            <a:ln w="28575">
              <a:solidFill>
                <a:srgbClr val="F09A3E"/>
              </a:solidFill>
            </a:ln>
          </c:spPr>
          <c:marker>
            <c:symbol val="circle"/>
            <c:size val="6"/>
            <c:spPr>
              <a:solidFill>
                <a:srgbClr val="F09A3E"/>
              </a:solidFill>
              <a:ln>
                <a:solidFill>
                  <a:srgbClr val="F09A3E"/>
                </a:solidFill>
              </a:ln>
            </c:spPr>
          </c:marker>
          <c:cat>
            <c:strRef>
              <c:f>Sheet1!$A$2:$A$7</c:f>
              <c:strCache>
                <c:ptCount val="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1378.7</c:v>
                </c:pt>
                <c:pt idx="1">
                  <c:v>1358.3</c:v>
                </c:pt>
                <c:pt idx="2">
                  <c:v>1340.2</c:v>
                </c:pt>
                <c:pt idx="3">
                  <c:v>1352.9</c:v>
                </c:pt>
                <c:pt idx="4">
                  <c:v>1358.4</c:v>
                </c:pt>
                <c:pt idx="5">
                  <c:v>1380.8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A774-4ADD-9089-DB4FCCB8654F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P2</c:v>
                </c:pt>
              </c:strCache>
            </c:strRef>
          </c:tx>
          <c:spPr>
            <a:ln w="28575">
              <a:solidFill>
                <a:srgbClr val="2E9C8F"/>
              </a:solidFill>
            </a:ln>
          </c:spPr>
          <c:marker>
            <c:symbol val="circle"/>
            <c:size val="6"/>
            <c:spPr>
              <a:solidFill>
                <a:srgbClr val="2E9C8F"/>
              </a:solidFill>
              <a:ln>
                <a:solidFill>
                  <a:srgbClr val="2E9C8F"/>
                </a:solidFill>
              </a:ln>
            </c:spPr>
          </c:marker>
          <c:cat>
            <c:strRef>
              <c:f>Sheet1!$A$2:$A$7</c:f>
              <c:strCache>
                <c:ptCount val="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3562.0</c:v>
                </c:pt>
                <c:pt idx="1">
                  <c:v>4169.5</c:v>
                </c:pt>
                <c:pt idx="2">
                  <c:v>4600.5</c:v>
                </c:pt>
                <c:pt idx="3">
                  <c:v>5011.3</c:v>
                </c:pt>
                <c:pt idx="4">
                  <c:v>4960.3</c:v>
                </c:pt>
                <c:pt idx="5">
                  <c:v>5663.2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A774-4ADD-9089-DB4FCCB8654F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P3</c:v>
                </c:pt>
              </c:strCache>
            </c:strRef>
          </c:tx>
          <c:spPr>
            <a:ln w="28575">
              <a:solidFill>
                <a:srgbClr val="1F5F8B"/>
              </a:solidFill>
            </a:ln>
          </c:spPr>
          <c:marker>
            <c:symbol val="circle"/>
            <c:size val="6"/>
            <c:spPr>
              <a:solidFill>
                <a:srgbClr val="1F5F8B"/>
              </a:solidFill>
              <a:ln>
                <a:solidFill>
                  <a:srgbClr val="1F5F8B"/>
                </a:solidFill>
              </a:ln>
            </c:spPr>
          </c:marker>
          <c:cat>
            <c:strRef>
              <c:f>Sheet1!$A$2:$A$7</c:f>
              <c:strCache>
                <c:ptCount val="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5718.0</c:v>
                </c:pt>
                <c:pt idx="1">
                  <c:v>6535.7</c:v>
                </c:pt>
                <c:pt idx="2">
                  <c:v>7695.6</c:v>
                </c:pt>
                <c:pt idx="3">
                  <c:v>8712.9</c:v>
                </c:pt>
                <c:pt idx="4">
                  <c:v>9252.5</c:v>
                </c:pt>
                <c:pt idx="5">
                  <c:v>9963.3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A774-4ADD-9089-DB4FCCB8654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rPr lang="it-IT" sz="1200" b="0">
                    <a:solidFill>
                      <a:srgbClr val="6B7C93"/>
                    </a:solidFill>
                    <a:latin typeface="Calibri"/>
                  </a:rPr>
                  <a:t>strati nascosti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nextTo"/>
        <c:spPr>
          <a:ln>
            <a:solidFill>
              <a:srgbClr val="C8D0DA"/>
            </a:solidFill>
          </a:ln>
        </c:spPr>
        <c:txPr>
          <a:bodyPr/>
          <a:lstStyle/>
          <a:p>
            <a:pPr>
              <a:defRPr sz="900">
                <a:solidFill>
                  <a:srgbClr val="4A5568"/>
                </a:solidFill>
                <a:latin typeface="Calibri"/>
              </a:defRPr>
            </a:pPr>
            <a:endParaRPr lang="it-IT"/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orientation val="minMax"/>
        </c:scaling>
        <c:delete val="0"/>
        <c:axPos val="l"/>
        <c:majorGridlines>
          <c:spPr>
            <a:ln w="7620">
              <a:solidFill>
                <a:srgbClr val="E3E7ED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it-IT" sz="1100" b="0">
                    <a:solidFill>
                      <a:srgbClr val="6B7C93"/>
                    </a:solidFill>
                    <a:latin typeface="Calibri"/>
                  </a:rPr>
                  <a:t>istruzioni per pacchetto</a:t>
                </a:r>
              </a:p>
            </c:rich>
          </c:tx>
          <c:overlay val="0"/>
        </c:title>
        <c:numFmt formatCode="#,##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solidFill>
                  <a:srgbClr val="6B7C93"/>
                </a:solidFill>
                <a:latin typeface="Calibri"/>
              </a:defRPr>
            </a:pPr>
            <a:endParaRPr lang="it-IT"/>
          </a:p>
        </c:txPr>
        <c:crossAx val="2118791784"/>
        <c:crosses val="autoZero"/>
        <c:crossBetween val="between"/>
      </c:valAx>
    </c:plotArea>
    <c:legend>
      <c:legendPos val="t"/>
      <c:overlay val="0"/>
      <c:txPr>
        <a:bodyPr/>
        <a:lstStyle/>
        <a:p>
          <a:pPr>
            <a:defRPr sz="900">
              <a:solidFill>
                <a:srgbClr val="222B36"/>
              </a:solidFill>
            </a:defRPr>
          </a:pPr>
          <a:endParaRPr lang="it-IT"/>
        </a:p>
      </c:txPr>
    </c:legend>
    <c:plotVisOnly val="1"/>
    <c:dispBlanksAs val="span"/>
    <c:showDLblsOverMax val="0"/>
  </c:chart>
  <c:txPr>
    <a:bodyPr/>
    <a:lstStyle/>
    <a:p>
      <a:pPr>
        <a:defRPr sz="900">
          <a:solidFill>
            <a:srgbClr val="4A5568"/>
          </a:solidFill>
          <a:latin typeface="Calibri"/>
        </a:defRPr>
      </a:pPr>
      <a:endParaRPr lang="it-IT"/>
    </a:p>
  </c:txPr>
  <c:externalData r:id="rId1">
    <c:autoUpdate val="0"/>
  </c:externalData>
</c:chartSpace>
</file>

<file path=ppt/charts/chart3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P3 · P-core</c:v>
                </c:pt>
              </c:strCache>
            </c:strRef>
          </c:tx>
          <c:spPr>
            <a:ln w="28575">
              <a:solidFill>
                <a:srgbClr val="1F5F8B"/>
              </a:solidFill>
            </a:ln>
          </c:spPr>
          <c:marker>
            <c:symbol val="circle"/>
            <c:size val="6"/>
            <c:spPr>
              <a:solidFill>
                <a:srgbClr val="1F5F8B"/>
              </a:solidFill>
              <a:ln>
                <a:solidFill>
                  <a:srgbClr val="1F5F8B"/>
                </a:solidFill>
              </a:ln>
            </c:spPr>
          </c:marker>
          <c:cat>
            <c:strRef>
              <c:f>Sheet1!$A$2:$A$7</c:f>
              <c:strCache>
                <c:ptCount val="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317.3</c:v>
                </c:pt>
                <c:pt idx="1">
                  <c:v>366.2</c:v>
                </c:pt>
                <c:pt idx="2">
                  <c:v>434.5</c:v>
                </c:pt>
                <c:pt idx="3">
                  <c:v>487.5</c:v>
                </c:pt>
                <c:pt idx="4">
                  <c:v>513.55</c:v>
                </c:pt>
                <c:pt idx="5">
                  <c:v>565.6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CB40-40F4-8AE4-87AB3DBEE21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P3 · E-core</c:v>
                </c:pt>
              </c:strCache>
            </c:strRef>
          </c:tx>
          <c:spPr>
            <a:ln w="28575">
              <a:solidFill>
                <a:srgbClr val="1F5F8B"/>
              </a:solidFill>
              <a:prstDash val="dash"/>
            </a:ln>
          </c:spPr>
          <c:marker>
            <c:symbol val="circle"/>
            <c:size val="6"/>
            <c:spPr>
              <a:solidFill>
                <a:srgbClr val="1F5F8B"/>
              </a:solidFill>
              <a:ln>
                <a:solidFill>
                  <a:srgbClr val="1F5F8B"/>
                </a:solidFill>
              </a:ln>
            </c:spPr>
          </c:marker>
          <c:cat>
            <c:strRef>
              <c:f>Sheet1!$A$2:$A$7</c:f>
              <c:strCache>
                <c:ptCount val="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355.4</c:v>
                </c:pt>
                <c:pt idx="1">
                  <c:v>412.8</c:v>
                </c:pt>
                <c:pt idx="2">
                  <c:v>489.5</c:v>
                </c:pt>
                <c:pt idx="3">
                  <c:v>548.0</c:v>
                </c:pt>
                <c:pt idx="4">
                  <c:v>601.1</c:v>
                </c:pt>
                <c:pt idx="5">
                  <c:v>679.7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CB40-40F4-8AE4-87AB3DBEE21D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P2 · P-core</c:v>
                </c:pt>
              </c:strCache>
            </c:strRef>
          </c:tx>
          <c:spPr>
            <a:ln w="28575">
              <a:solidFill>
                <a:srgbClr val="2E9C8F"/>
              </a:solidFill>
            </a:ln>
          </c:spPr>
          <c:marker>
            <c:symbol val="circle"/>
            <c:size val="6"/>
            <c:spPr>
              <a:solidFill>
                <a:srgbClr val="2E9C8F"/>
              </a:solidFill>
              <a:ln>
                <a:solidFill>
                  <a:srgbClr val="2E9C8F"/>
                </a:solidFill>
              </a:ln>
            </c:spPr>
          </c:marker>
          <c:cat>
            <c:strRef>
              <c:f>Sheet1!$A$2:$A$7</c:f>
              <c:strCache>
                <c:ptCount val="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178.1</c:v>
                </c:pt>
                <c:pt idx="1">
                  <c:v>203.0</c:v>
                </c:pt>
                <c:pt idx="2">
                  <c:v>237.9</c:v>
                </c:pt>
                <c:pt idx="3">
                  <c:v>257.3</c:v>
                </c:pt>
                <c:pt idx="4">
                  <c:v>251.75</c:v>
                </c:pt>
                <c:pt idx="5">
                  <c:v>290.6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CB40-40F4-8AE4-87AB3DBEE21D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P2 · E-core</c:v>
                </c:pt>
              </c:strCache>
            </c:strRef>
          </c:tx>
          <c:spPr>
            <a:ln w="28575">
              <a:solidFill>
                <a:srgbClr val="2E9C8F"/>
              </a:solidFill>
              <a:prstDash val="dash"/>
            </a:ln>
          </c:spPr>
          <c:marker>
            <c:symbol val="circle"/>
            <c:size val="6"/>
            <c:spPr>
              <a:solidFill>
                <a:srgbClr val="2E9C8F"/>
              </a:solidFill>
              <a:ln>
                <a:solidFill>
                  <a:srgbClr val="2E9C8F"/>
                </a:solidFill>
              </a:ln>
            </c:spPr>
          </c:marker>
          <c:cat>
            <c:strRef>
              <c:f>Sheet1!$A$2:$A$7</c:f>
              <c:strCache>
                <c:ptCount val="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202.8</c:v>
                </c:pt>
                <c:pt idx="1">
                  <c:v>226.4</c:v>
                </c:pt>
                <c:pt idx="2">
                  <c:v>252.5</c:v>
                </c:pt>
                <c:pt idx="3">
                  <c:v>268.2</c:v>
                </c:pt>
                <c:pt idx="4">
                  <c:v>274.1</c:v>
                </c:pt>
                <c:pt idx="5">
                  <c:v>294.75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CB40-40F4-8AE4-87AB3DBEE21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rPr lang="it-IT" sz="1200" b="0">
                    <a:solidFill>
                      <a:srgbClr val="6B7C93"/>
                    </a:solidFill>
                    <a:latin typeface="Calibri"/>
                  </a:rPr>
                  <a:t>strati nascosti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nextTo"/>
        <c:spPr>
          <a:ln>
            <a:solidFill>
              <a:srgbClr val="C8D0DA"/>
            </a:solidFill>
          </a:ln>
        </c:spPr>
        <c:txPr>
          <a:bodyPr/>
          <a:lstStyle/>
          <a:p>
            <a:pPr>
              <a:defRPr sz="900">
                <a:solidFill>
                  <a:srgbClr val="4A5568"/>
                </a:solidFill>
                <a:latin typeface="Calibri"/>
              </a:defRPr>
            </a:pPr>
            <a:endParaRPr lang="it-IT"/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orientation val="minMax"/>
        </c:scaling>
        <c:delete val="0"/>
        <c:axPos val="l"/>
        <c:majorGridlines>
          <c:spPr>
            <a:ln w="7620">
              <a:solidFill>
                <a:srgbClr val="E3E7ED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it-IT" sz="1100" b="0">
                    <a:solidFill>
                      <a:srgbClr val="6B7C93"/>
                    </a:solidFill>
                    <a:latin typeface="Calibri"/>
                  </a:rPr>
                  <a:t>ns di rete per pacchetto</a:t>
                </a:r>
              </a:p>
            </c:rich>
          </c:tx>
          <c:overlay val="0"/>
        </c:title>
        <c:numFmt formatCode="#,##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solidFill>
                  <a:srgbClr val="6B7C93"/>
                </a:solidFill>
                <a:latin typeface="Calibri"/>
              </a:defRPr>
            </a:pPr>
            <a:endParaRPr lang="it-IT"/>
          </a:p>
        </c:txPr>
        <c:crossAx val="2118791784"/>
        <c:crosses val="autoZero"/>
        <c:crossBetween val="between"/>
      </c:valAx>
    </c:plotArea>
    <c:legend>
      <c:legendPos val="t"/>
      <c:overlay val="0"/>
      <c:txPr>
        <a:bodyPr/>
        <a:lstStyle/>
        <a:p>
          <a:pPr>
            <a:defRPr sz="900">
              <a:solidFill>
                <a:srgbClr val="222B36"/>
              </a:solidFill>
            </a:defRPr>
          </a:pPr>
          <a:endParaRPr lang="it-IT"/>
        </a:p>
      </c:txPr>
    </c:legend>
    <c:plotVisOnly val="1"/>
    <c:dispBlanksAs val="span"/>
    <c:showDLblsOverMax val="0"/>
  </c:chart>
  <c:txPr>
    <a:bodyPr/>
    <a:lstStyle/>
    <a:p>
      <a:pPr>
        <a:defRPr sz="900">
          <a:solidFill>
            <a:srgbClr val="4A5568"/>
          </a:solidFill>
          <a:latin typeface="Calibri"/>
        </a:defRPr>
      </a:pPr>
      <a:endParaRPr lang="it-IT"/>
    </a:p>
  </c:txPr>
  <c:externalData r:id="rId1">
    <c:autoUpdate val="0"/>
  </c:externalData>
</c:chartSpace>
</file>

<file path=ppt/charts/chart3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nodo pieno</c:v>
                </c:pt>
              </c:strCache>
            </c:strRef>
          </c:tx>
          <c:spPr>
            <a:ln w="28575">
              <a:solidFill>
                <a:srgbClr val="8A96A8"/>
              </a:solidFill>
              <a:prstDash val="dash"/>
            </a:ln>
          </c:spPr>
          <c:marker>
            <c:symbol val="circle"/>
            <c:size val="6"/>
            <c:spPr>
              <a:solidFill>
                <a:srgbClr val="8A96A8"/>
              </a:solidFill>
              <a:ln>
                <a:solidFill>
                  <a:srgbClr val="8A96A8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6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183.3</c:v>
                </c:pt>
                <c:pt idx="1">
                  <c:v>198.9</c:v>
                </c:pt>
                <c:pt idx="2">
                  <c:v>240.15</c:v>
                </c:pt>
                <c:pt idx="3">
                  <c:v>245.2</c:v>
                </c:pt>
                <c:pt idx="4">
                  <c:v>282.25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CB40-40F4-8AE4-87AB3DBEE21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poco traffico, il pacchetto più veloce</c:v>
                </c:pt>
              </c:strCache>
            </c:strRef>
          </c:tx>
          <c:spPr>
            <a:ln w="28575">
              <a:solidFill>
                <a:srgbClr val="9CD4CC"/>
              </a:solidFill>
            </a:ln>
          </c:spPr>
          <c:marker>
            <c:symbol val="circle"/>
            <c:size val="6"/>
            <c:spPr>
              <a:solidFill>
                <a:srgbClr val="9CD4CC"/>
              </a:solidFill>
              <a:ln>
                <a:solidFill>
                  <a:srgbClr val="9CD4CC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6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164.0</c:v>
                </c:pt>
                <c:pt idx="1">
                  <c:v>176.5</c:v>
                </c:pt>
                <c:pt idx="2">
                  <c:v>210.0</c:v>
                </c:pt>
                <c:pt idx="3">
                  <c:v>224.0</c:v>
                </c:pt>
                <c:pt idx="4">
                  <c:v>255.0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CB40-40F4-8AE4-87AB3DBEE21D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poco traffico, media</c:v>
                </c:pt>
              </c:strCache>
            </c:strRef>
          </c:tx>
          <c:spPr>
            <a:ln w="28575">
              <a:solidFill>
                <a:srgbClr val="2E9C8F"/>
              </a:solidFill>
            </a:ln>
          </c:spPr>
          <c:marker>
            <c:symbol val="circle"/>
            <c:size val="6"/>
            <c:spPr>
              <a:solidFill>
                <a:srgbClr val="2E9C8F"/>
              </a:solidFill>
              <a:ln>
                <a:solidFill>
                  <a:srgbClr val="2E9C8F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6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189.0</c:v>
                </c:pt>
                <c:pt idx="1">
                  <c:v>203.25</c:v>
                </c:pt>
                <c:pt idx="2">
                  <c:v>235.0</c:v>
                </c:pt>
                <c:pt idx="3">
                  <c:v>254.5</c:v>
                </c:pt>
                <c:pt idx="4">
                  <c:v>278.25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CB40-40F4-8AE4-87AB3DBEE21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rPr lang="it-IT" sz="1200" b="0">
                    <a:solidFill>
                      <a:srgbClr val="6B7C93"/>
                    </a:solidFill>
                    <a:latin typeface="Calibri"/>
                  </a:rPr>
                  <a:t>strati nascosti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nextTo"/>
        <c:spPr>
          <a:ln>
            <a:solidFill>
              <a:srgbClr val="C8D0DA"/>
            </a:solidFill>
          </a:ln>
        </c:spPr>
        <c:txPr>
          <a:bodyPr/>
          <a:lstStyle/>
          <a:p>
            <a:pPr>
              <a:defRPr sz="900">
                <a:solidFill>
                  <a:srgbClr val="4A5568"/>
                </a:solidFill>
                <a:latin typeface="Calibri"/>
              </a:defRPr>
            </a:pPr>
            <a:endParaRPr lang="it-IT"/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orientation val="minMax"/>
          <c:max val="400.0"/>
          <c:min val="0.0"/>
        </c:scaling>
        <c:delete val="0"/>
        <c:axPos val="l"/>
        <c:majorGridlines>
          <c:spPr>
            <a:ln w="7620">
              <a:solidFill>
                <a:srgbClr val="E3E7ED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it-IT" sz="1100" b="0">
                    <a:solidFill>
                      <a:srgbClr val="6B7C93"/>
                    </a:solidFill>
                    <a:latin typeface="Calibri"/>
                  </a:rPr>
                  <a:t>tempo della sola rete (ns)</a:t>
                </a:r>
              </a:p>
            </c:rich>
          </c:tx>
          <c:overlay val="0"/>
        </c:title>
        <c:numFmt formatCode="#,##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solidFill>
                  <a:srgbClr val="6B7C93"/>
                </a:solidFill>
                <a:latin typeface="Calibri"/>
              </a:defRPr>
            </a:pPr>
            <a:endParaRPr lang="it-IT"/>
          </a:p>
        </c:txPr>
        <c:crossAx val="2118791784"/>
        <c:crosses val="autoZero"/>
        <c:crossBetween val="between"/>
      </c:valAx>
    </c:plotArea>
    <c:legend>
      <c:legendPos val="t"/>
      <c:overlay val="0"/>
      <c:txPr>
        <a:bodyPr/>
        <a:lstStyle/>
        <a:p>
          <a:pPr>
            <a:defRPr sz="900">
              <a:solidFill>
                <a:srgbClr val="222B36"/>
              </a:solidFill>
            </a:defRPr>
          </a:pPr>
          <a:endParaRPr lang="it-IT"/>
        </a:p>
      </c:txPr>
    </c:legend>
    <c:plotVisOnly val="1"/>
    <c:dispBlanksAs val="gap"/>
    <c:showDLblsOverMax val="0"/>
  </c:chart>
  <c:txPr>
    <a:bodyPr/>
    <a:lstStyle/>
    <a:p>
      <a:pPr>
        <a:defRPr sz="900">
          <a:solidFill>
            <a:srgbClr val="4A5568"/>
          </a:solidFill>
          <a:latin typeface="Calibri"/>
        </a:defRPr>
      </a:pPr>
      <a:endParaRPr lang="it-IT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C3879A1-F61F-48C8-BDB5-E7C8A8D88EAE}" type="datetimeFigureOut">
              <a:rPr lang="it-IT" smtClean="0"/>
              <a:t>25/09/2026</a:t>
            </a:fld>
            <a:endParaRPr lang="it-IT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t-IT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FE7E320-C24E-445B-B52B-8A723E9346E3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50703595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FE7E320-C24E-445B-B52B-8A723E9346E3}" type="slidenum">
              <a:rPr lang="it-IT" smtClean="0"/>
              <a:t>3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943669624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9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1.xml"/><Relationship Id="rId3" Type="http://schemas.openxmlformats.org/officeDocument/2006/relationships/chart" Target="../charts/chart2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7.xml"/><Relationship Id="rId3" Type="http://schemas.openxmlformats.org/officeDocument/2006/relationships/chart" Target="../charts/chart18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9.xml"/><Relationship Id="rId3" Type="http://schemas.openxmlformats.org/officeDocument/2006/relationships/chart" Target="../charts/chart20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4.xml"/><Relationship Id="rId3" Type="http://schemas.openxmlformats.org/officeDocument/2006/relationships/chart" Target="../charts/chart2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3.xml"/><Relationship Id="rId3" Type="http://schemas.openxmlformats.org/officeDocument/2006/relationships/chart" Target="../charts/chart14.xml"/><Relationship Id="rId4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6.xml"/><Relationship Id="rId3" Type="http://schemas.openxmlformats.org/officeDocument/2006/relationships/chart" Target="../charts/chart2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1.xml"/><Relationship Id="rId3" Type="http://schemas.openxmlformats.org/officeDocument/2006/relationships/chart" Target="../charts/chart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9.xml"/><Relationship Id="rId3" Type="http://schemas.openxmlformats.org/officeDocument/2006/relationships/chart" Target="../charts/chart30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0.xml"/><Relationship Id="rId3" Type="http://schemas.openxmlformats.org/officeDocument/2006/relationships/chart" Target="../charts/chart3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Relationship Id="rId3" Type="http://schemas.openxmlformats.org/officeDocument/2006/relationships/chart" Target="../charts/chart4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Relationship Id="rId3" Type="http://schemas.openxmlformats.org/officeDocument/2006/relationships/chart" Target="../charts/chart6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8.xml"/><Relationship Id="rId3" Type="http://schemas.openxmlformats.org/officeDocument/2006/relationships/image" Target="../media/image5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F3A5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E07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109728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 i="0">
                <a:solidFill>
                  <a:srgbClr val="F2B134"/>
                </a:solidFill>
                <a:latin typeface="Calibri"/>
              </a:rPr>
              <a:t>TESI  ·  EBPF / XDP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600200"/>
            <a:ext cx="10332720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600" b="1" i="0">
                <a:solidFill>
                  <a:srgbClr val="FFFFFF"/>
                </a:solidFill>
                <a:latin typeface="Calibri"/>
              </a:rPr>
              <a:t>Inferenza di una rete neurale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600" b="1" i="0">
                <a:solidFill>
                  <a:srgbClr val="FFFFFF"/>
                </a:solidFill>
                <a:latin typeface="Calibri"/>
              </a:rPr>
              <a:t>nel kernel Linux con eBPF/XDP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429000"/>
            <a:ext cx="96012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0" i="0">
                <a:solidFill>
                  <a:srgbClr val="D6DEE9"/>
                </a:solidFill>
                <a:latin typeface="Calibri"/>
              </a:rPr>
              <a:t>Quattro modi di scrivere la stessa rete neurale dentro il kernel Linux, misurati con traffico vero su 109 reti diverse: quanto costa ogni pacchetto, perché, e che cosa cambia su un core più lento.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4892040"/>
            <a:ext cx="2011680" cy="45720"/>
          </a:xfrm>
          <a:prstGeom prst="rect">
            <a:avLst/>
          </a:prstGeom>
          <a:solidFill>
            <a:srgbClr val="F2B1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14400" y="5120640"/>
            <a:ext cx="7315200" cy="65671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 i="0" dirty="0">
                <a:solidFill>
                  <a:srgbClr val="FFFFFF"/>
                </a:solidFill>
                <a:latin typeface="Calibri"/>
              </a:rPr>
              <a:t>Ettore Cantile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 i="0" dirty="0">
                <a:solidFill>
                  <a:srgbClr val="FFFFFF"/>
                </a:solidFill>
                <a:latin typeface="Calibri"/>
              </a:rPr>
              <a:t>ottobre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i="0">
                <a:solidFill>
                  <a:srgbClr val="E07A2D"/>
                </a:solidFill>
                <a:latin typeface="Calibri"/>
              </a:rPr>
              <a:t>LE QUATTRO VERSIONI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1F3A5F"/>
                </a:solidFill>
                <a:latin typeface="Calibri"/>
              </a:rPr>
              <a:t>Stessa rete, quattro modi di scriverla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4652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100" b="0" i="0">
                <a:solidFill>
                  <a:srgbClr val="6B7C93"/>
                </a:solidFill>
                <a:latin typeface="Calibr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424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 i="1">
                <a:solidFill>
                  <a:srgbClr val="6B7C93"/>
                </a:solidFill>
                <a:latin typeface="Calibri"/>
              </a:rPr>
              <a:t>Arancione = già noto quando si compila  ·  verde = letto mentre il nodo gira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08760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 i="0">
                <a:solidFill>
                  <a:srgbClr val="222B36"/>
                </a:solidFill>
                <a:latin typeface="Calibri"/>
              </a:rPr>
              <a:t>Tutte e quattro prendono la stessa decisione su ogni pacchetto (verificato su 109 modelli). Cambia solo </a:t>
            </a:r>
            <a:r>
              <a:rPr sz="1800" b="1" i="0">
                <a:solidFill>
                  <a:srgbClr val="222B36"/>
                </a:solidFill>
                <a:latin typeface="Calibri"/>
              </a:rPr>
              <a:t>quanto sanno già</a:t>
            </a:r>
            <a:r>
              <a:rPr sz="1800" b="0" i="0">
                <a:solidFill>
                  <a:srgbClr val="222B36"/>
                </a:solidFill>
                <a:latin typeface="Calibri"/>
              </a:rPr>
              <a:t> quando vengono compilate.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04511093"/>
              </p:ext>
            </p:extLst>
          </p:nvPr>
        </p:nvGraphicFramePr>
        <p:xfrm>
          <a:off x="548640" y="2148840"/>
          <a:ext cx="11064236" cy="25146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26958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0762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9675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0762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17502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60762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lang="it-IT" sz="1500" b="1" i="0">
                          <a:solidFill>
                            <a:srgbClr val="FFFFFF"/>
                          </a:solidFill>
                          <a:latin typeface="Calibri"/>
                        </a:rPr>
                        <a:t>Versione</a:t>
                      </a:r>
                      <a:endParaRPr sz="1500" b="1" i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1500" b="1" i="0">
                          <a:solidFill>
                            <a:srgbClr val="FFFFFF"/>
                          </a:solidFill>
                          <a:latin typeface="Calibri"/>
                        </a:rPr>
                        <a:t>Nodo</a:t>
                      </a:r>
                      <a:endParaRPr sz="1500" b="1" i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1500" b="1" i="0">
                          <a:solidFill>
                            <a:srgbClr val="FFFFFF"/>
                          </a:solidFill>
                          <a:latin typeface="Calibri"/>
                        </a:rPr>
                        <a:t>Porte del nodo</a:t>
                      </a:r>
                      <a:endParaRPr sz="1500" b="1" i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1500" b="1" i="0">
                          <a:solidFill>
                            <a:srgbClr val="FFFFFF"/>
                          </a:solidFill>
                          <a:latin typeface="Calibri"/>
                        </a:rPr>
                        <a:t>Pesi</a:t>
                      </a:r>
                      <a:endParaRPr sz="1500" b="1" i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1500" b="1" i="0">
                          <a:solidFill>
                            <a:srgbClr val="FFFFFF"/>
                          </a:solidFill>
                          <a:latin typeface="Calibri"/>
                        </a:rPr>
                        <a:t>Forma della rete</a:t>
                      </a:r>
                      <a:endParaRPr sz="1500" b="1" i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1500" b="1" i="0">
                          <a:solidFill>
                            <a:srgbClr val="FFFFFF"/>
                          </a:solidFill>
                          <a:latin typeface="Calibri"/>
                        </a:rPr>
                        <a:t>Profondità</a:t>
                      </a:r>
                      <a:endParaRPr sz="1500" b="1" i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T="27432" marB="27432" anchor="ctr">
                    <a:solidFill>
                      <a:srgbClr val="1F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lang="it-IT" sz="1500" b="1" i="0">
                          <a:solidFill>
                            <a:srgbClr val="222B36"/>
                          </a:solidFill>
                          <a:latin typeface="Calibri"/>
                        </a:rPr>
                        <a:t>P1  ·  p1_static</a:t>
                      </a:r>
                      <a:endParaRPr sz="1500" b="1" i="0">
                        <a:solidFill>
                          <a:srgbClr val="222B36"/>
                        </a:solidFill>
                        <a:latin typeface="Calibri"/>
                      </a:endParaRP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1500" b="0" i="0">
                          <a:solidFill>
                            <a:srgbClr val="FFFFFF"/>
                          </a:solidFill>
                          <a:latin typeface="Calibri"/>
                        </a:rPr>
                        <a:t>compilato</a:t>
                      </a:r>
                      <a:endParaRPr sz="1500" b="0" i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T="27432" marB="27432" anchor="ctr">
                    <a:solidFill>
                      <a:srgbClr val="E07A2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1500" b="0" i="0">
                          <a:solidFill>
                            <a:srgbClr val="FFFFFF"/>
                          </a:solidFill>
                          <a:latin typeface="Calibri"/>
                        </a:rPr>
                        <a:t>compilabili *</a:t>
                      </a:r>
                      <a:endParaRPr sz="1500" b="0" i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T="27432" marB="27432" anchor="ctr">
                    <a:solidFill>
                      <a:srgbClr val="E07A2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1500" b="0" i="0">
                          <a:solidFill>
                            <a:srgbClr val="FFFFFF"/>
                          </a:solidFill>
                          <a:latin typeface="Calibri"/>
                        </a:rPr>
                        <a:t>compilati</a:t>
                      </a:r>
                      <a:endParaRPr sz="1500" b="0" i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T="27432" marB="27432" anchor="ctr">
                    <a:solidFill>
                      <a:srgbClr val="E07A2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1500" b="0" i="0">
                          <a:solidFill>
                            <a:srgbClr val="FFFFFF"/>
                          </a:solidFill>
                          <a:latin typeface="Calibri"/>
                        </a:rPr>
                        <a:t>compilata</a:t>
                      </a:r>
                      <a:endParaRPr sz="1500" b="0" i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T="27432" marB="27432" anchor="ctr">
                    <a:solidFill>
                      <a:srgbClr val="E07A2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1500" b="0" i="0">
                          <a:solidFill>
                            <a:srgbClr val="FFFFFF"/>
                          </a:solidFill>
                          <a:latin typeface="Calibri"/>
                        </a:rPr>
                        <a:t>compilata</a:t>
                      </a:r>
                      <a:endParaRPr sz="1500" b="0" i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T="27432" marB="27432" anchor="ctr">
                    <a:solidFill>
                      <a:srgbClr val="E07A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lang="it-IT" sz="1500" b="1" i="0">
                          <a:solidFill>
                            <a:srgbClr val="222B36"/>
                          </a:solidFill>
                          <a:latin typeface="Calibri"/>
                        </a:rPr>
                        <a:t>P1.5  ·  hardcoded</a:t>
                      </a:r>
                      <a:endParaRPr sz="1500" b="1" i="0">
                        <a:solidFill>
                          <a:srgbClr val="222B36"/>
                        </a:solidFill>
                        <a:latin typeface="Calibri"/>
                      </a:endParaRPr>
                    </a:p>
                  </a:txBody>
                  <a:tcPr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1500" b="0" i="0">
                          <a:solidFill>
                            <a:srgbClr val="FFFFFF"/>
                          </a:solidFill>
                          <a:latin typeface="Calibri"/>
                        </a:rPr>
                        <a:t>da tabella</a:t>
                      </a:r>
                      <a:endParaRPr sz="1500" b="0" i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T="27432" marB="27432" anchor="ctr">
                    <a:solidFill>
                      <a:srgbClr val="2E9C6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1500" b="0" i="0">
                          <a:solidFill>
                            <a:srgbClr val="FFFFFF"/>
                          </a:solidFill>
                          <a:latin typeface="Calibri"/>
                        </a:rPr>
                        <a:t>tutte previste</a:t>
                      </a:r>
                      <a:endParaRPr sz="1500" b="0" i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T="27432" marB="27432" anchor="ctr">
                    <a:solidFill>
                      <a:srgbClr val="2E9C6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1500" b="0" i="0">
                          <a:solidFill>
                            <a:srgbClr val="FFFFFF"/>
                          </a:solidFill>
                          <a:latin typeface="Calibri"/>
                        </a:rPr>
                        <a:t>compilati</a:t>
                      </a:r>
                      <a:endParaRPr sz="1500" b="0" i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T="27432" marB="27432" anchor="ctr">
                    <a:solidFill>
                      <a:srgbClr val="E07A2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1500" b="0" i="0">
                          <a:solidFill>
                            <a:srgbClr val="FFFFFF"/>
                          </a:solidFill>
                          <a:latin typeface="Calibri"/>
                        </a:rPr>
                        <a:t>compilata</a:t>
                      </a:r>
                      <a:endParaRPr sz="1500" b="0" i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T="27432" marB="27432" anchor="ctr">
                    <a:solidFill>
                      <a:srgbClr val="E07A2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1500" b="0" i="0">
                          <a:solidFill>
                            <a:srgbClr val="FFFFFF"/>
                          </a:solidFill>
                          <a:latin typeface="Calibri"/>
                        </a:rPr>
                        <a:t>compilata</a:t>
                      </a:r>
                      <a:endParaRPr sz="1500" b="0" i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T="27432" marB="27432" anchor="ctr">
                    <a:solidFill>
                      <a:srgbClr val="E07A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lang="it-IT" sz="1500" b="1" i="0">
                          <a:solidFill>
                            <a:srgbClr val="222B36"/>
                          </a:solidFill>
                          <a:latin typeface="Calibri"/>
                        </a:rPr>
                        <a:t>P2  ·  template</a:t>
                      </a:r>
                      <a:endParaRPr sz="1500" b="1" i="0">
                        <a:solidFill>
                          <a:srgbClr val="222B36"/>
                        </a:solidFill>
                        <a:latin typeface="Calibri"/>
                      </a:endParaRP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1500" b="0" i="0">
                          <a:solidFill>
                            <a:srgbClr val="FFFFFF"/>
                          </a:solidFill>
                          <a:latin typeface="Calibri"/>
                        </a:rPr>
                        <a:t>da tabella</a:t>
                      </a:r>
                      <a:endParaRPr sz="1500" b="0" i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T="27432" marB="27432" anchor="ctr">
                    <a:solidFill>
                      <a:srgbClr val="2E9C6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1500" b="0" i="0">
                          <a:solidFill>
                            <a:srgbClr val="FFFFFF"/>
                          </a:solidFill>
                          <a:latin typeface="Calibri"/>
                        </a:rPr>
                        <a:t>tutte previste</a:t>
                      </a:r>
                      <a:endParaRPr sz="1500" b="0" i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T="27432" marB="27432" anchor="ctr">
                    <a:solidFill>
                      <a:srgbClr val="2E9C6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1500" b="0" i="0">
                          <a:solidFill>
                            <a:srgbClr val="FFFFFF"/>
                          </a:solidFill>
                          <a:latin typeface="Calibri"/>
                        </a:rPr>
                        <a:t>da tabella</a:t>
                      </a:r>
                      <a:endParaRPr sz="1500" b="0" i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T="27432" marB="27432" anchor="ctr">
                    <a:solidFill>
                      <a:srgbClr val="2E9C6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1500" b="0" i="0">
                          <a:solidFill>
                            <a:srgbClr val="FFFFFF"/>
                          </a:solidFill>
                          <a:latin typeface="Calibri"/>
                        </a:rPr>
                        <a:t>entro limiti fissi</a:t>
                      </a:r>
                      <a:endParaRPr sz="1500" b="0" i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T="27432" marB="27432" anchor="ctr">
                    <a:solidFill>
                      <a:srgbClr val="E07A2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1500" b="0" i="0">
                          <a:solidFill>
                            <a:srgbClr val="FFFFFF"/>
                          </a:solidFill>
                          <a:latin typeface="Calibri"/>
                        </a:rPr>
                        <a:t>compilata</a:t>
                      </a:r>
                      <a:endParaRPr sz="1500" b="0" i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T="27432" marB="27432" anchor="ctr">
                    <a:solidFill>
                      <a:srgbClr val="E07A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lang="it-IT" sz="1500" b="1" i="0">
                          <a:solidFill>
                            <a:srgbClr val="222B36"/>
                          </a:solidFill>
                          <a:latin typeface="Calibri"/>
                        </a:rPr>
                        <a:t>P3  ·  modular</a:t>
                      </a:r>
                      <a:endParaRPr sz="1500" b="1" i="0">
                        <a:solidFill>
                          <a:srgbClr val="222B36"/>
                        </a:solidFill>
                        <a:latin typeface="Calibri"/>
                      </a:endParaRPr>
                    </a:p>
                  </a:txBody>
                  <a:tcPr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1500" b="0" i="0">
                          <a:solidFill>
                            <a:srgbClr val="FFFFFF"/>
                          </a:solidFill>
                          <a:latin typeface="Calibri"/>
                        </a:rPr>
                        <a:t>da tabella</a:t>
                      </a:r>
                      <a:endParaRPr sz="1500" b="0" i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T="27432" marB="27432" anchor="ctr">
                    <a:solidFill>
                      <a:srgbClr val="2E9C6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1500" b="0" i="0">
                          <a:solidFill>
                            <a:srgbClr val="FFFFFF"/>
                          </a:solidFill>
                          <a:latin typeface="Calibri"/>
                        </a:rPr>
                        <a:t>tutte previste</a:t>
                      </a:r>
                      <a:endParaRPr sz="1500" b="0" i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T="27432" marB="27432" anchor="ctr">
                    <a:solidFill>
                      <a:srgbClr val="2E9C6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1500" b="0" i="0">
                          <a:solidFill>
                            <a:srgbClr val="FFFFFF"/>
                          </a:solidFill>
                          <a:latin typeface="Calibri"/>
                        </a:rPr>
                        <a:t>da tabella</a:t>
                      </a:r>
                      <a:endParaRPr sz="1500" b="0" i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T="27432" marB="27432" anchor="ctr">
                    <a:solidFill>
                      <a:srgbClr val="2E9C6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1500" b="0" i="0">
                          <a:solidFill>
                            <a:srgbClr val="FFFFFF"/>
                          </a:solidFill>
                          <a:latin typeface="Calibri"/>
                        </a:rPr>
                        <a:t>da tabella</a:t>
                      </a:r>
                      <a:endParaRPr sz="1500" b="0" i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T="27432" marB="27432" anchor="ctr">
                    <a:solidFill>
                      <a:srgbClr val="2E9C6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1500" b="0" i="0">
                          <a:solidFill>
                            <a:srgbClr val="FFFFFF"/>
                          </a:solidFill>
                          <a:latin typeface="Calibri"/>
                        </a:rPr>
                        <a:t>da tabella</a:t>
                      </a:r>
                      <a:endParaRPr sz="1500" b="0" i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T="27432" marB="27432" anchor="ctr">
                    <a:solidFill>
                      <a:srgbClr val="2E9C6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4754880"/>
            <a:ext cx="1106424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 i="0">
                <a:solidFill>
                  <a:srgbClr val="222B36"/>
                </a:solidFill>
                <a:latin typeface="Calibri"/>
              </a:rPr>
              <a:t>* Solo P1 statica può togliere dal programma anche i </a:t>
            </a:r>
            <a:r>
              <a:rPr sz="1300" b="1" i="0">
                <a:solidFill>
                  <a:srgbClr val="222B36"/>
                </a:solidFill>
                <a:latin typeface="Calibri"/>
              </a:rPr>
              <a:t>collegamenti che il suo nodo non ha</a:t>
            </a:r>
            <a:r>
              <a:rPr sz="1300" b="0" i="0">
                <a:solidFill>
                  <a:srgbClr val="222B36"/>
                </a:solidFill>
                <a:latin typeface="Calibri"/>
              </a:rPr>
              <a:t>, perché conosce già il nodo su cui girerà. Le misure di queste slide non lo fanno: tutte le versioni vedono tutte le porte.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5532120"/>
            <a:ext cx="11094415" cy="731520"/>
          </a:xfrm>
          <a:prstGeom prst="roundRect">
            <a:avLst>
              <a:gd name="adj" fmla="val 6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22960" y="5532120"/>
            <a:ext cx="10545775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700" b="0" i="0">
                <a:solidFill>
                  <a:srgbClr val="FFFFFF"/>
                </a:solidFill>
                <a:latin typeface="Calibri"/>
              </a:rPr>
              <a:t>Più informazioni sposto dalla compilazione all'esecuzione, più il programma diventa </a:t>
            </a:r>
            <a:r>
              <a:rPr sz="1700" b="1" i="0">
                <a:solidFill>
                  <a:srgbClr val="FFFFFF"/>
                </a:solidFill>
                <a:latin typeface="Calibri"/>
              </a:rPr>
              <a:t>riutilizzabile</a:t>
            </a:r>
            <a:r>
              <a:rPr sz="1700" b="0" i="0">
                <a:solidFill>
                  <a:srgbClr val="FFFFFF"/>
                </a:solidFill>
                <a:latin typeface="Calibri"/>
              </a:rPr>
              <a:t> — e più cresce il </a:t>
            </a:r>
            <a:r>
              <a:rPr sz="1700" b="1" i="0">
                <a:solidFill>
                  <a:srgbClr val="FFFFFF"/>
                </a:solidFill>
                <a:latin typeface="Calibri"/>
              </a:rPr>
              <a:t>costo per pacchetto</a:t>
            </a:r>
            <a:r>
              <a:rPr sz="1700" b="0" i="0">
                <a:solidFill>
                  <a:srgbClr val="FFFFFF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i="0">
                <a:solidFill>
                  <a:srgbClr val="E07A2D"/>
                </a:solidFill>
                <a:latin typeface="Calibri"/>
              </a:rPr>
              <a:t>1 · IL NODO · QUANTO COSTA UN PACCHETTO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1F3A5F"/>
                </a:solidFill>
                <a:latin typeface="Calibri"/>
              </a:rPr>
              <a:t>Quanto costa un pacchetto al nodo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46520"/>
            <a:ext cx="457200" cy="1769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lang="it-IT" sz="1100" b="0" i="0">
                <a:solidFill>
                  <a:srgbClr val="6B7C93"/>
                </a:solidFill>
                <a:latin typeface="Calibri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424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 i="1">
                <a:solidFill>
                  <a:srgbClr val="6B7C93"/>
                </a:solidFill>
                <a:latin typeface="Calibri"/>
              </a:rPr>
              <a:t>Nodo su un core veloce (P-core) a 3,5 GHz, pacchetti da 64 byte  ·  barre: mediana dei 109 modelli  ·  schede: dal modello più leggero al più pesante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57200" y="1417320"/>
          <a:ext cx="7223760" cy="41605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7955279" y="1554480"/>
            <a:ext cx="3749039" cy="91440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7955279" y="1554480"/>
            <a:ext cx="82296" cy="914400"/>
          </a:xfrm>
          <a:prstGeom prst="rect">
            <a:avLst/>
          </a:prstGeom>
          <a:solidFill>
            <a:srgbClr val="9AA5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183879" y="1664208"/>
            <a:ext cx="1463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 i="0">
                <a:solidFill>
                  <a:srgbClr val="6B7C93"/>
                </a:solidFill>
                <a:latin typeface="Calibri"/>
              </a:rPr>
              <a:t>senza rete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0" y="1600200"/>
            <a:ext cx="21031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2800" b="1" i="0">
                <a:solidFill>
                  <a:srgbClr val="1F3A5F"/>
                </a:solidFill>
                <a:latin typeface="Calibri"/>
              </a:rPr>
              <a:t>66 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83879" y="2103120"/>
            <a:ext cx="3429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300" b="0" i="0">
                <a:solidFill>
                  <a:srgbClr val="222B36"/>
                </a:solidFill>
                <a:latin typeface="Calibri"/>
              </a:rPr>
              <a:t>15,0 milioni di pacchetti/s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55279" y="2578608"/>
            <a:ext cx="3749039" cy="91440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7955279" y="2578608"/>
            <a:ext cx="82296" cy="914400"/>
          </a:xfrm>
          <a:prstGeom prst="rect">
            <a:avLst/>
          </a:prstGeom>
          <a:solidFill>
            <a:srgbClr val="F09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183879" y="2688336"/>
            <a:ext cx="1463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 i="0">
                <a:solidFill>
                  <a:srgbClr val="6B7C93"/>
                </a:solidFill>
                <a:latin typeface="Calibri"/>
              </a:rPr>
              <a:t>P1 / P1.5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509760" y="2624328"/>
            <a:ext cx="21031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2800" b="1" i="0">
                <a:solidFill>
                  <a:srgbClr val="1F3A5F"/>
                </a:solidFill>
                <a:latin typeface="Calibri"/>
              </a:rPr>
              <a:t>85–222 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83879" y="3127248"/>
            <a:ext cx="3429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300" b="0" i="0">
                <a:solidFill>
                  <a:srgbClr val="222B36"/>
                </a:solidFill>
                <a:latin typeface="Calibri"/>
              </a:rPr>
              <a:t>4,5–11,7 milioni di pacchetti/s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55279" y="3602736"/>
            <a:ext cx="3749039" cy="91440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7955279" y="3602736"/>
            <a:ext cx="82296" cy="914400"/>
          </a:xfrm>
          <a:prstGeom prst="rect">
            <a:avLst/>
          </a:prstGeom>
          <a:solidFill>
            <a:srgbClr val="2E9C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183879" y="3712464"/>
            <a:ext cx="1463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 i="0">
                <a:solidFill>
                  <a:srgbClr val="6B7C93"/>
                </a:solidFill>
                <a:latin typeface="Calibri"/>
              </a:rPr>
              <a:t>P2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09760" y="3648456"/>
            <a:ext cx="21031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2800" b="1" i="0">
                <a:solidFill>
                  <a:srgbClr val="1F3A5F"/>
                </a:solidFill>
                <a:latin typeface="Calibri"/>
              </a:rPr>
              <a:t>196–512 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83879" y="4151376"/>
            <a:ext cx="3429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300" b="0" i="0">
                <a:solidFill>
                  <a:srgbClr val="222B36"/>
                </a:solidFill>
                <a:latin typeface="Calibri"/>
              </a:rPr>
              <a:t>2,0–5,1 milioni di pacchetti/s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955279" y="4626864"/>
            <a:ext cx="3749039" cy="91440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7955279" y="4626864"/>
            <a:ext cx="82296" cy="914400"/>
          </a:xfrm>
          <a:prstGeom prst="rect">
            <a:avLst/>
          </a:prstGeom>
          <a:solidFill>
            <a:srgbClr val="1F5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183879" y="4736592"/>
            <a:ext cx="1463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 i="0">
                <a:solidFill>
                  <a:srgbClr val="6B7C93"/>
                </a:solidFill>
                <a:latin typeface="Calibri"/>
              </a:rPr>
              <a:t>P3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509760" y="4672584"/>
            <a:ext cx="21031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2800" b="1" i="0">
                <a:solidFill>
                  <a:srgbClr val="1F3A5F"/>
                </a:solidFill>
                <a:latin typeface="Calibri"/>
              </a:rPr>
              <a:t>307–918 ns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83879" y="5175504"/>
            <a:ext cx="3429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300" b="0" i="0">
                <a:solidFill>
                  <a:srgbClr val="222B36"/>
                </a:solidFill>
                <a:latin typeface="Calibri"/>
              </a:rPr>
              <a:t>1,1–3,3 milioni di pacchetti/s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5669280"/>
            <a:ext cx="11094415" cy="685800"/>
          </a:xfrm>
          <a:prstGeom prst="roundRect">
            <a:avLst>
              <a:gd name="adj" fmla="val 6000"/>
            </a:avLst>
          </a:prstGeom>
          <a:solidFill>
            <a:srgbClr val="FFF4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548640" y="5669280"/>
            <a:ext cx="82296" cy="685800"/>
          </a:xfrm>
          <a:prstGeom prst="rect">
            <a:avLst/>
          </a:prstGeom>
          <a:solidFill>
            <a:srgbClr val="F2B1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22960" y="574243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1" i="0">
                <a:solidFill>
                  <a:srgbClr val="B57A00"/>
                </a:solidFill>
                <a:latin typeface="Calibri"/>
              </a:rPr>
              <a:t>QUINDI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83080" y="5669280"/>
            <a:ext cx="9677095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00" b="0" i="0">
                <a:solidFill>
                  <a:srgbClr val="222B36"/>
                </a:solidFill>
                <a:latin typeface="Calibri"/>
              </a:rPr>
              <a:t>Ricevere e inoltrare un pacchetto costa </a:t>
            </a:r>
            <a:r>
              <a:rPr sz="1400" b="1" i="0">
                <a:solidFill>
                  <a:srgbClr val="222B36"/>
                </a:solidFill>
                <a:latin typeface="Calibri"/>
              </a:rPr>
              <a:t>~67 ns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, con qualunque modello. La rete neurale aggiunge </a:t>
            </a:r>
            <a:r>
              <a:rPr sz="1400" b="1" i="0">
                <a:solidFill>
                  <a:srgbClr val="222B36"/>
                </a:solidFill>
                <a:latin typeface="Calibri"/>
              </a:rPr>
              <a:t>19–155 ns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 con i pesi scritti nel programma (P1), </a:t>
            </a:r>
            <a:r>
              <a:rPr sz="1400" b="1" i="0">
                <a:solidFill>
                  <a:srgbClr val="222B36"/>
                </a:solidFill>
                <a:latin typeface="Calibri"/>
              </a:rPr>
              <a:t>129–446 ns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 se la forma si legge da tabella (P2), </a:t>
            </a:r>
            <a:r>
              <a:rPr sz="1400" b="1" i="0">
                <a:solidFill>
                  <a:srgbClr val="222B36"/>
                </a:solidFill>
                <a:latin typeface="Calibri"/>
              </a:rPr>
              <a:t>240–852 ns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 se anche il numero di strati (P3). Un core regge da 11,7 a 1,1 milioni di pacchetti al secondo.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i="0">
                <a:solidFill>
                  <a:srgbClr val="E07A2D"/>
                </a:solidFill>
                <a:latin typeface="Calibri"/>
              </a:rPr>
              <a:t>1 · IL NODO · LE ISTRUZIONI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1F3A5F"/>
                </a:solidFill>
                <a:latin typeface="Calibri"/>
              </a:rPr>
              <a:t>Quanto è grande il programma non dice quanto lavora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46520"/>
            <a:ext cx="457200" cy="1769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lang="it-IT" sz="1100" b="0" i="0">
                <a:solidFill>
                  <a:srgbClr val="6B7C93"/>
                </a:solidFill>
                <a:latin typeface="Calibri"/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424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 i="1">
                <a:solidFill>
                  <a:srgbClr val="6B7C93"/>
                </a:solidFill>
                <a:latin typeface="Calibri"/>
              </a:rPr>
              <a:t>Caricate: la dimensione del programma, contata dal kernel  ·  eseguite: contate dal processore per ogni pacchetto  ·  a destra i 14 modelli misurati su tutti e tre i core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57200" y="1463040"/>
          <a:ext cx="5669280" cy="33832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217920" y="1463040"/>
          <a:ext cx="5669280" cy="33832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4937760"/>
            <a:ext cx="539496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 i="0">
                <a:solidFill>
                  <a:srgbClr val="222B36"/>
                </a:solidFill>
                <a:latin typeface="Calibri"/>
              </a:rPr>
              <a:t>Caricate contro eseguite.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 P2 è il più grande ma esegue meno istruzioni di P3 (103 modelli su 103).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4937760"/>
            <a:ext cx="539496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 i="0">
                <a:solidFill>
                  <a:srgbClr val="222B36"/>
                </a:solidFill>
                <a:latin typeface="Calibri"/>
              </a:rPr>
              <a:t>Stesse istruzioni su ogni core: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 al più 0,3 % di differenza (0,7 % sul LP E-core).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5623560"/>
            <a:ext cx="11094415" cy="731520"/>
          </a:xfrm>
          <a:prstGeom prst="roundRect">
            <a:avLst>
              <a:gd name="adj" fmla="val 6000"/>
            </a:avLst>
          </a:prstGeom>
          <a:solidFill>
            <a:srgbClr val="FFF4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48640" y="5623560"/>
            <a:ext cx="82296" cy="731520"/>
          </a:xfrm>
          <a:prstGeom prst="rect">
            <a:avLst/>
          </a:prstGeom>
          <a:solidFill>
            <a:srgbClr val="F2B1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2960" y="569671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1" i="0">
                <a:solidFill>
                  <a:srgbClr val="B57A00"/>
                </a:solidFill>
                <a:latin typeface="Calibri"/>
              </a:rPr>
              <a:t>QUINDI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5623560"/>
            <a:ext cx="9677095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00" b="0" i="0">
                <a:solidFill>
                  <a:srgbClr val="222B36"/>
                </a:solidFill>
                <a:latin typeface="Calibri"/>
              </a:rPr>
              <a:t>La dimensione dice quanto è </a:t>
            </a:r>
            <a:r>
              <a:rPr sz="1400" b="1" i="0">
                <a:solidFill>
                  <a:srgbClr val="222B36"/>
                </a:solidFill>
                <a:latin typeface="Calibri"/>
              </a:rPr>
              <a:t>grande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 il programma, non quanto </a:t>
            </a:r>
            <a:r>
              <a:rPr sz="1400" b="1" i="0">
                <a:solidFill>
                  <a:srgbClr val="222B36"/>
                </a:solidFill>
                <a:latin typeface="Calibri"/>
              </a:rPr>
              <a:t>lavora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: conta quante istruzioni il processore esegue davvero per ogni pacchetto. E sono le stesse su ogni tipo di core: cambia solo quante ne esegue a ogni ciclo di clock.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i="0">
                <a:solidFill>
                  <a:srgbClr val="E07A2D"/>
                </a:solidFill>
                <a:latin typeface="Calibri"/>
              </a:rPr>
              <a:t>2 · TRE TIPI DI CORE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1F3A5F"/>
                </a:solidFill>
                <a:latin typeface="Calibri"/>
              </a:rPr>
              <a:t>Su un E-core il nodo regge dal 61 al 91 % del P-core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46520"/>
            <a:ext cx="457200" cy="1769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lang="it-IT" sz="1100" b="0" i="0">
                <a:solidFill>
                  <a:srgbClr val="6B7C93"/>
                </a:solidFill>
                <a:latin typeface="Calibri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424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 i="1">
                <a:solidFill>
                  <a:srgbClr val="6B7C93"/>
                </a:solidFill>
                <a:latin typeface="Calibri"/>
              </a:rPr>
              <a:t>Core veloce (P-core) ed efficiente (E-core) a 3,5 GHz, a basso consumo (LP E-core) a 2,5 GHz  ·  grafici: mediana dei 14 modelli misurati su tutti e tre i core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57200" y="1463040"/>
          <a:ext cx="5669280" cy="33832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217920" y="1463040"/>
          <a:ext cx="5669280" cy="33832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4937760"/>
            <a:ext cx="539496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 i="0">
                <a:solidFill>
                  <a:srgbClr val="222B36"/>
                </a:solidFill>
                <a:latin typeface="Calibri"/>
              </a:rPr>
              <a:t>Milioni di pacchetti al secondo.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 Rispetto al P-core, l'E-core regge 0,61–0,66 volte senza rete e 0,72–0,89 volte con P3.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4937760"/>
            <a:ext cx="539496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 i="0">
                <a:solidFill>
                  <a:srgbClr val="222B36"/>
                </a:solidFill>
                <a:latin typeface="Calibri"/>
              </a:rPr>
              <a:t>Tempo per pacchetto.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 Sull'E-core il lavoro fisso del nodo costa il 56 % in più, la rete neurale di P3 solo il 13 %.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5623560"/>
            <a:ext cx="11094415" cy="731520"/>
          </a:xfrm>
          <a:prstGeom prst="roundRect">
            <a:avLst>
              <a:gd name="adj" fmla="val 6000"/>
            </a:avLst>
          </a:prstGeom>
          <a:solidFill>
            <a:srgbClr val="FFF4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48640" y="5623560"/>
            <a:ext cx="82296" cy="731520"/>
          </a:xfrm>
          <a:prstGeom prst="rect">
            <a:avLst/>
          </a:prstGeom>
          <a:solidFill>
            <a:srgbClr val="F2B1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2960" y="569671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1" i="0">
                <a:solidFill>
                  <a:srgbClr val="B57A00"/>
                </a:solidFill>
                <a:latin typeface="Calibri"/>
              </a:rPr>
              <a:t>QUINDI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5623560"/>
            <a:ext cx="9677095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00" b="0" i="0">
                <a:solidFill>
                  <a:srgbClr val="222B36"/>
                </a:solidFill>
                <a:latin typeface="Calibri"/>
              </a:rPr>
              <a:t>A parità di frequenza l'E-core rallenta soprattutto il </a:t>
            </a:r>
            <a:r>
              <a:rPr sz="1400" b="1" i="0">
                <a:solidFill>
                  <a:srgbClr val="222B36"/>
                </a:solidFill>
                <a:latin typeface="Calibri"/>
              </a:rPr>
              <a:t>lavoro fisso del nodo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 (ricevere e inoltrare): più la rete pesa sul totale, meno conta il core. Il core a basso consumo (LP E-core, 2,5 GHz) regge dal 32 al 53 % del P-core.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i="0">
                <a:solidFill>
                  <a:srgbClr val="E07A2D"/>
                </a:solidFill>
                <a:latin typeface="Calibri"/>
              </a:rPr>
              <a:t>2 · TRE TIPI DI CORE · ISTRUZIONI PER CICLO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1F3A5F"/>
                </a:solidFill>
                <a:latin typeface="Calibri"/>
              </a:rPr>
              <a:t>L'E-core esegue le stesse istruzioni, meno per ciclo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46520"/>
            <a:ext cx="457200" cy="1769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lang="it-IT" sz="1100" b="0" i="0">
                <a:solidFill>
                  <a:srgbClr val="6B7C93"/>
                </a:solidFill>
                <a:latin typeface="Calibri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424160" cy="1769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 i="1" dirty="0" err="1">
                <a:solidFill>
                  <a:srgbClr val="6B7C93"/>
                </a:solidFill>
                <a:latin typeface="Calibri"/>
              </a:rPr>
              <a:t>Contatori del processore sul core del nodo  ·  grafico: 14 modelli misurati sui tre core  ·  tabella: mediane su 109 modelli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57200" y="1463040"/>
          <a:ext cx="6035040" cy="37033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766560" y="1554480"/>
          <a:ext cx="4937760" cy="1975104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51931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2435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5965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Versione</a:t>
                      </a:r>
                    </a:p>
                  </a:txBody>
                  <a:tcPr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Istruzioni</a:t>
                      </a:r>
                    </a:p>
                  </a:txBody>
                  <a:tcPr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Cicli P</a:t>
                      </a:r>
                    </a:p>
                  </a:txBody>
                  <a:tcPr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Cicli E</a:t>
                      </a:r>
                    </a:p>
                  </a:txBody>
                  <a:tcPr marT="27432" marB="27432" anchor="ctr">
                    <a:solidFill>
                      <a:srgbClr val="1F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222B36"/>
                          </a:solidFill>
                          <a:latin typeface="Calibri"/>
                        </a:rPr>
                        <a:t>senza rete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 i="0">
                          <a:solidFill>
                            <a:srgbClr val="222B36"/>
                          </a:solidFill>
                          <a:latin typeface="Calibri"/>
                        </a:rPr>
                        <a:t>606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 i="0">
                          <a:solidFill>
                            <a:srgbClr val="222B36"/>
                          </a:solidFill>
                          <a:latin typeface="Calibri"/>
                        </a:rPr>
                        <a:t>230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 i="0">
                          <a:solidFill>
                            <a:srgbClr val="222B36"/>
                          </a:solidFill>
                          <a:latin typeface="Calibri"/>
                        </a:rPr>
                        <a:t>360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222B36"/>
                          </a:solidFill>
                          <a:latin typeface="Calibri"/>
                        </a:rPr>
                        <a:t>P1 statica</a:t>
                      </a:r>
                    </a:p>
                  </a:txBody>
                  <a:tcPr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 i="0">
                          <a:solidFill>
                            <a:srgbClr val="222B36"/>
                          </a:solidFill>
                          <a:latin typeface="Calibri"/>
                        </a:rPr>
                        <a:t>1 168</a:t>
                      </a:r>
                    </a:p>
                  </a:txBody>
                  <a:tcPr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 i="0">
                          <a:solidFill>
                            <a:srgbClr val="222B36"/>
                          </a:solidFill>
                          <a:latin typeface="Calibri"/>
                        </a:rPr>
                        <a:t>414</a:t>
                      </a:r>
                    </a:p>
                  </a:txBody>
                  <a:tcPr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 i="0">
                          <a:solidFill>
                            <a:srgbClr val="222B36"/>
                          </a:solidFill>
                          <a:latin typeface="Calibri"/>
                        </a:rPr>
                        <a:t>536</a:t>
                      </a:r>
                    </a:p>
                  </a:txBody>
                  <a:tcPr marT="27432" marB="27432" anchor="ctr">
                    <a:solidFill>
                      <a:srgbClr val="F3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222B36"/>
                          </a:solidFill>
                          <a:latin typeface="Calibri"/>
                        </a:rPr>
                        <a:t>P1.5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 i="0">
                          <a:solidFill>
                            <a:srgbClr val="222B36"/>
                          </a:solidFill>
                          <a:latin typeface="Calibri"/>
                        </a:rPr>
                        <a:t>1 349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 i="0">
                          <a:solidFill>
                            <a:srgbClr val="222B36"/>
                          </a:solidFill>
                          <a:latin typeface="Calibri"/>
                        </a:rPr>
                        <a:t>434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 i="0">
                          <a:solidFill>
                            <a:srgbClr val="222B36"/>
                          </a:solidFill>
                          <a:latin typeface="Calibri"/>
                        </a:rPr>
                        <a:t>571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222B36"/>
                          </a:solidFill>
                          <a:latin typeface="Calibri"/>
                        </a:rPr>
                        <a:t>P2</a:t>
                      </a:r>
                    </a:p>
                  </a:txBody>
                  <a:tcPr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 i="0">
                          <a:solidFill>
                            <a:srgbClr val="222B36"/>
                          </a:solidFill>
                          <a:latin typeface="Calibri"/>
                        </a:rPr>
                        <a:t>4 578</a:t>
                      </a:r>
                    </a:p>
                  </a:txBody>
                  <a:tcPr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 i="0">
                          <a:solidFill>
                            <a:srgbClr val="222B36"/>
                          </a:solidFill>
                          <a:latin typeface="Calibri"/>
                        </a:rPr>
                        <a:t>1 019</a:t>
                      </a:r>
                    </a:p>
                  </a:txBody>
                  <a:tcPr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 i="0" dirty="0">
                          <a:solidFill>
                            <a:srgbClr val="222B36"/>
                          </a:solidFill>
                          <a:latin typeface="Calibri"/>
                        </a:rPr>
                        <a:t>1 220</a:t>
                      </a:r>
                    </a:p>
                  </a:txBody>
                  <a:tcPr marT="27432" marB="27432" anchor="ctr">
                    <a:solidFill>
                      <a:srgbClr val="F3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222B36"/>
                          </a:solidFill>
                          <a:latin typeface="Calibri"/>
                        </a:rPr>
                        <a:t>P3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 i="0">
                          <a:solidFill>
                            <a:srgbClr val="222B36"/>
                          </a:solidFill>
                          <a:latin typeface="Calibri"/>
                        </a:rPr>
                        <a:t>7 620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 i="0">
                          <a:solidFill>
                            <a:srgbClr val="222B36"/>
                          </a:solidFill>
                          <a:latin typeface="Calibri"/>
                        </a:rPr>
                        <a:t>1 702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 i="0" dirty="0">
                          <a:solidFill>
                            <a:srgbClr val="222B36"/>
                          </a:solidFill>
                          <a:latin typeface="Calibri"/>
                        </a:rPr>
                        <a:t>2 031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6766560" y="3703320"/>
            <a:ext cx="4937760" cy="2514600"/>
          </a:xfrm>
          <a:prstGeom prst="roundRect">
            <a:avLst>
              <a:gd name="adj" fmla="val 6000"/>
            </a:avLst>
          </a:prstGeom>
          <a:solidFill>
            <a:srgbClr val="FFF4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766560" y="3703320"/>
            <a:ext cx="82296" cy="2514600"/>
          </a:xfrm>
          <a:prstGeom prst="rect">
            <a:avLst/>
          </a:prstGeom>
          <a:solidFill>
            <a:srgbClr val="F2B1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040880" y="377647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1" i="0">
                <a:solidFill>
                  <a:srgbClr val="B57A00"/>
                </a:solidFill>
                <a:latin typeface="Calibri"/>
              </a:rPr>
              <a:t>QUINDI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0" y="4069080"/>
            <a:ext cx="4480560" cy="2194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1" i="0">
                <a:solidFill>
                  <a:srgbClr val="222B36"/>
                </a:solidFill>
                <a:latin typeface="Calibri"/>
              </a:rPr>
              <a:t>Fra i core</a:t>
            </a:r>
            <a:r>
              <a:rPr sz="1500" b="0" i="0">
                <a:solidFill>
                  <a:srgbClr val="222B36"/>
                </a:solidFill>
                <a:latin typeface="Calibri"/>
              </a:rPr>
              <a:t> cambia solo l'IPC: 2,6 → 1,7 senza rete, 4,5 → 3,7 con P3. L'E-core perde di più nel lavoro fisso del nodo, pieno di salti e attese della memoria.</a:t>
            </a:r>
          </a:p>
          <a:p>
            <a:pPr algn="l">
              <a:lnSpc>
                <a:spcPct val="105000"/>
              </a:lnSpc>
              <a:spcBef>
                <a:spcPts val="800"/>
              </a:spcBef>
              <a:spcAft>
                <a:spcPts val="0"/>
              </a:spcAft>
            </a:pPr>
            <a:r>
              <a:rPr sz="1500" b="1" i="0">
                <a:solidFill>
                  <a:srgbClr val="222B36"/>
                </a:solidFill>
                <a:latin typeface="Calibri"/>
              </a:rPr>
              <a:t>Fra le versioni</a:t>
            </a:r>
            <a:r>
              <a:rPr sz="1500" b="0" i="0">
                <a:solidFill>
                  <a:srgbClr val="222B36"/>
                </a:solidFill>
                <a:latin typeface="Calibri"/>
              </a:rPr>
              <a:t> pesa quel lavoro fisso: in P1 è il 52 % delle istruzioni e tiene l'IPC vicino a 2,6; in P2 e P3 è il 13 e l'8 %, e conta il ciclo sui pesi.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303520"/>
            <a:ext cx="5852160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1" i="0">
                <a:solidFill>
                  <a:srgbClr val="222B36"/>
                </a:solidFill>
                <a:latin typeface="Calibri"/>
              </a:rPr>
              <a:t>IPC = istruzioni ÷ cicli.</a:t>
            </a:r>
            <a:r>
              <a:rPr sz="1500" b="0" i="0">
                <a:solidFill>
                  <a:srgbClr val="222B36"/>
                </a:solidFill>
                <a:latin typeface="Calibri"/>
              </a:rPr>
              <a:t> Più alto non vuol dire più veloce: P2 e P3 ripetono un ciclo breve sui pesi, fatto di istruzioni semplici che il core esegue molte insieme, ma ne eseguono 4 e 6,5 volte P1.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i="0">
                <a:solidFill>
                  <a:srgbClr val="E07A2D"/>
                </a:solidFill>
                <a:latin typeface="Calibri"/>
              </a:rPr>
              <a:t>2 · TRE TIPI DI CORE · IL CORE A BASSO CONSUMO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1F3A5F"/>
                </a:solidFill>
                <a:latin typeface="Calibri"/>
              </a:rPr>
              <a:t>Il LP E-core paga anche la memoria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46520"/>
            <a:ext cx="457200" cy="1769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lang="it-IT" sz="1100" b="0" i="0">
                <a:solidFill>
                  <a:srgbClr val="6B7C93"/>
                </a:solidFill>
                <a:latin typeface="Calibri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424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 i="1">
                <a:solidFill>
                  <a:srgbClr val="6B7C93"/>
                </a:solidFill>
                <a:latin typeface="Calibri"/>
              </a:rPr>
              <a:t>Contatori del processore, per pacchetto, a nodo pieno  ·  LP E-core a 2,5 GHz  ·  mediane dei 14 modelli misurati sui tre core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57200" y="1463040"/>
          <a:ext cx="5669280" cy="33832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217920" y="1463040"/>
          <a:ext cx="5669280" cy="33832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4937760"/>
            <a:ext cx="539496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 i="0">
                <a:solidFill>
                  <a:srgbClr val="222B36"/>
                </a:solidFill>
                <a:latin typeface="Calibri"/>
              </a:rPr>
              <a:t>Letture andate in memoria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 (il dato non è in cache): zero su P-core ed E-core, 14–19 per pacchetto sul LP E-core.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4937760"/>
            <a:ext cx="539496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 i="0">
                <a:solidFill>
                  <a:srgbClr val="222B36"/>
                </a:solidFill>
                <a:latin typeface="Calibri"/>
              </a:rPr>
              <a:t>Cicli per pacchetto.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 Per P3: 1 614 sul P-core, 1 944 sull'E-core, 2 435 sul LP E-core; in tempo 462, 562 e 976 ns.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5623560"/>
            <a:ext cx="11094415" cy="731520"/>
          </a:xfrm>
          <a:prstGeom prst="roundRect">
            <a:avLst>
              <a:gd name="adj" fmla="val 6000"/>
            </a:avLst>
          </a:prstGeom>
          <a:solidFill>
            <a:srgbClr val="FFF4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48640" y="5623560"/>
            <a:ext cx="82296" cy="731520"/>
          </a:xfrm>
          <a:prstGeom prst="rect">
            <a:avLst/>
          </a:prstGeom>
          <a:solidFill>
            <a:srgbClr val="F2B1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2960" y="569671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1" i="0">
                <a:solidFill>
                  <a:srgbClr val="B57A00"/>
                </a:solidFill>
                <a:latin typeface="Calibri"/>
              </a:rPr>
              <a:t>QUINDI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5623560"/>
            <a:ext cx="9677095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00" b="0" i="0">
                <a:solidFill>
                  <a:srgbClr val="222B36"/>
                </a:solidFill>
                <a:latin typeface="Calibri"/>
              </a:rPr>
              <a:t>Il LP E-core sta in un'altra parte del chip, fuori dalla cache che gli altri core condividono: i pacchetti gli arrivano dalla memoria. Fra attese, un core più semplice e 2,5 GHz regge dal 32 al 53 % del P-core.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i="0">
                <a:solidFill>
                  <a:srgbClr val="E07A2D"/>
                </a:solidFill>
                <a:latin typeface="Calibri"/>
              </a:rPr>
              <a:t>3 · SOTTO CARICO · TRAFFICO CRESCENTE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1F3A5F"/>
                </a:solidFill>
                <a:latin typeface="Calibri"/>
              </a:rPr>
              <a:t>Oltre la capacità si perde all'ingresso del programma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4652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100" b="0" i="0">
                <a:solidFill>
                  <a:srgbClr val="6B7C93"/>
                </a:solidFill>
                <a:latin typeface="Calibri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424160" cy="1769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 i="1" dirty="0">
                <a:solidFill>
                  <a:srgbClr val="6B7C93"/>
                </a:solidFill>
                <a:latin typeface="Calibri"/>
              </a:rPr>
              <a:t>Traffico crescente da 0,5 a 12 milioni di pacchetti al secondo, P-core a 3,5 GHz  ·  i tre modelli: il più leggero, quello di mezzo e il più pesante dei 6 provati sotto carico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800600"/>
            <a:ext cx="5394960" cy="69910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lang="it-IT" sz="1400" b="1" i="0" dirty="0">
                <a:solidFill>
                  <a:srgbClr val="222B36"/>
                </a:solidFill>
                <a:latin typeface="Calibri"/>
              </a:rPr>
              <a:t>Come leggerlo.</a:t>
            </a:r>
            <a:r>
              <a:rPr lang="it-IT" sz="1400" b="0" i="0" dirty="0">
                <a:solidFill>
                  <a:srgbClr val="222B36"/>
                </a:solidFill>
                <a:latin typeface="Calibri"/>
              </a:rPr>
              <a:t> Finché il programma ce la fa la linea segue la diagonale: passa tutto. Poi diventa piatta alla capacità della versione: più il modello è pesante, più in basso.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4800600"/>
            <a:ext cx="539496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 i="0">
                <a:solidFill>
                  <a:srgbClr val="222B36"/>
                </a:solidFill>
                <a:latin typeface="Calibri"/>
              </a:rPr>
              <a:t>Su tutti i modelli provati.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 Il massimo inoltrato è 0,98 volte la capacità misurata a parte sul P-core, 0,99 sull'E-core: sopra non si guadagna niente, si perde.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5577840"/>
            <a:ext cx="11094415" cy="777240"/>
          </a:xfrm>
          <a:prstGeom prst="roundRect">
            <a:avLst>
              <a:gd name="adj" fmla="val 6000"/>
            </a:avLst>
          </a:prstGeom>
          <a:solidFill>
            <a:srgbClr val="FFF4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48640" y="5577840"/>
            <a:ext cx="82296" cy="777240"/>
          </a:xfrm>
          <a:prstGeom prst="rect">
            <a:avLst/>
          </a:prstGeom>
          <a:solidFill>
            <a:srgbClr val="F2B1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2960" y="565099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1" i="0">
                <a:solidFill>
                  <a:srgbClr val="B57A00"/>
                </a:solidFill>
                <a:latin typeface="Calibri"/>
              </a:rPr>
              <a:t>QUINDI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5577840"/>
            <a:ext cx="9677095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0" i="0">
                <a:solidFill>
                  <a:srgbClr val="222B36"/>
                </a:solidFill>
                <a:latin typeface="Calibri"/>
              </a:rPr>
              <a:t>Oltre la capacità i pacchetti si perdono </a:t>
            </a:r>
            <a:r>
              <a:rPr sz="1500" b="1" i="0">
                <a:solidFill>
                  <a:srgbClr val="222B36"/>
                </a:solidFill>
                <a:latin typeface="Calibri"/>
              </a:rPr>
              <a:t>in coda, prima del programma</a:t>
            </a:r>
            <a:r>
              <a:rPr sz="1500" b="0" i="0">
                <a:solidFill>
                  <a:srgbClr val="222B36"/>
                </a:solidFill>
                <a:latin typeface="Calibri"/>
              </a:rPr>
              <a:t>: il collo di bottiglia è il programma, su ogni tipo di core. Fa eccezione P1 sui modelli più leggeri: sopra i 9 milioni di pacchetti al secondo perde anche l'uscita.</a:t>
            </a:r>
          </a:p>
        </p:txBody>
      </p:sp>
      <p:pic>
        <p:nvPicPr>
          <p:cNvPr id="15" name="Picture 14" descr="caric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463040"/>
            <a:ext cx="11430000" cy="32461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i="0">
                <a:solidFill>
                  <a:srgbClr val="E07A2D"/>
                </a:solidFill>
                <a:latin typeface="Calibri"/>
              </a:rPr>
              <a:t>3 · SOTTO CARICO · DUE CORE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1F3A5F"/>
                </a:solidFill>
                <a:latin typeface="Calibri"/>
              </a:rPr>
              <a:t>Due core reggono il doppio, sul P-core e sull'E-core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46520"/>
            <a:ext cx="457200" cy="1769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lang="it-IT" sz="1100" b="0" i="0">
                <a:solidFill>
                  <a:srgbClr val="6B7C93"/>
                </a:solidFill>
                <a:latin typeface="Calibri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424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 i="1">
                <a:solidFill>
                  <a:srgbClr val="6B7C93"/>
                </a:solidFill>
                <a:latin typeface="Calibri"/>
              </a:rPr>
              <a:t>Una coda, un generatore e un core d'uscita per ogni core del nodo  ·  mediane di 8 modelli dal più leggero al più pesante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57200" y="1463040"/>
          <a:ext cx="5669280" cy="33832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217920" y="1463040"/>
          <a:ext cx="5669280" cy="33832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4937760"/>
            <a:ext cx="539496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 i="0">
                <a:solidFill>
                  <a:srgbClr val="222B36"/>
                </a:solidFill>
                <a:latin typeface="Calibri"/>
              </a:rPr>
              <a:t>P-core.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 Con due core il nodo regge il 99 % del doppio (fra il 94–103 %).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4937760"/>
            <a:ext cx="539496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 i="0">
                <a:solidFill>
                  <a:srgbClr val="222B36"/>
                </a:solidFill>
                <a:latin typeface="Calibri"/>
              </a:rPr>
              <a:t>E-core.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 Il 99 % del doppio, con i due core in gruppi diversi del chip.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5623560"/>
            <a:ext cx="11094415" cy="731520"/>
          </a:xfrm>
          <a:prstGeom prst="roundRect">
            <a:avLst>
              <a:gd name="adj" fmla="val 6000"/>
            </a:avLst>
          </a:prstGeom>
          <a:solidFill>
            <a:srgbClr val="FFF4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48640" y="5623560"/>
            <a:ext cx="82296" cy="731520"/>
          </a:xfrm>
          <a:prstGeom prst="rect">
            <a:avLst/>
          </a:prstGeom>
          <a:solidFill>
            <a:srgbClr val="F2B1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2960" y="569671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1" i="0">
                <a:solidFill>
                  <a:srgbClr val="B57A00"/>
                </a:solidFill>
                <a:latin typeface="Calibri"/>
              </a:rPr>
              <a:t>QUINDI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5623560"/>
            <a:ext cx="9677095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00" b="0" i="0">
                <a:solidFill>
                  <a:srgbClr val="222B36"/>
                </a:solidFill>
                <a:latin typeface="Calibri"/>
              </a:rPr>
              <a:t>Ogni core ha i suoi contatori e la sua coda d'uscita: il secondo core non rallenta il primo. Una scheda di rete che divide i pacchetti su </a:t>
            </a:r>
            <a:r>
              <a:rPr sz="1400" b="1" i="0">
                <a:solidFill>
                  <a:srgbClr val="222B36"/>
                </a:solidFill>
                <a:latin typeface="Calibri"/>
              </a:rPr>
              <a:t>N code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 regge circa </a:t>
            </a:r>
            <a:r>
              <a:rPr sz="1400" b="1" i="0">
                <a:solidFill>
                  <a:srgbClr val="222B36"/>
                </a:solidFill>
                <a:latin typeface="Calibri"/>
              </a:rPr>
              <a:t>N volte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 la capacità di un core.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i="0">
                <a:solidFill>
                  <a:srgbClr val="E07A2D"/>
                </a:solidFill>
                <a:latin typeface="Calibri"/>
              </a:rPr>
              <a:t>3 · SOTTO CARICO · CHE COSA NON CONTA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1F3A5F"/>
                </a:solidFill>
                <a:latin typeface="Calibri"/>
              </a:rPr>
              <a:t>Il costo dipende solo da versione e modello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46520"/>
            <a:ext cx="457200" cy="1769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lang="it-IT" sz="1100" b="0" i="0">
                <a:solidFill>
                  <a:srgbClr val="6B7C93"/>
                </a:solidFill>
                <a:latin typeface="Calibri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424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 i="1">
                <a:solidFill>
                  <a:srgbClr val="6B7C93"/>
                </a:solidFill>
                <a:latin typeface="Calibri"/>
              </a:rPr>
              <a:t>Una prova per ogni decisione che il modello sa prendere  ·  P-core a 3,5 GHz  ·  mediane di 6 modelli (taglie) e 8 (decisioni)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57200" y="1463040"/>
          <a:ext cx="5669280" cy="3383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217920" y="1463040"/>
          <a:ext cx="5669280" cy="3383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4937760"/>
            <a:ext cx="539496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 i="0">
                <a:solidFill>
                  <a:srgbClr val="222B36"/>
                </a:solidFill>
                <a:latin typeface="Calibri"/>
              </a:rPr>
              <a:t>Taglia del pacchetto: nessun effetto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 (1,2 % fra 64 e 1 514 byte, in mediana). Il nodo legge solo l'intestazione.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4937760"/>
            <a:ext cx="539496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 i="0">
                <a:solidFill>
                  <a:srgbClr val="222B36"/>
                </a:solidFill>
                <a:latin typeface="Calibri"/>
              </a:rPr>
              <a:t>Porta d'uscita: nessun effetto.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 Scartare il pacchetto costa ~51 ns in più: la sua memoria si libera sul core del nodo.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5623560"/>
            <a:ext cx="11094415" cy="731520"/>
          </a:xfrm>
          <a:prstGeom prst="roundRect">
            <a:avLst>
              <a:gd name="adj" fmla="val 6000"/>
            </a:avLst>
          </a:prstGeom>
          <a:solidFill>
            <a:srgbClr val="FFF4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48640" y="5623560"/>
            <a:ext cx="82296" cy="731520"/>
          </a:xfrm>
          <a:prstGeom prst="rect">
            <a:avLst/>
          </a:prstGeom>
          <a:solidFill>
            <a:srgbClr val="F2B1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2960" y="569671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1" i="0">
                <a:solidFill>
                  <a:srgbClr val="B57A00"/>
                </a:solidFill>
                <a:latin typeface="Calibri"/>
              </a:rPr>
              <a:t>QUINDI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5623560"/>
            <a:ext cx="9677095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00" b="0" i="0">
                <a:solidFill>
                  <a:srgbClr val="222B36"/>
                </a:solidFill>
                <a:latin typeface="Calibri"/>
              </a:rPr>
              <a:t>Basta un numero per versione e modello a descrivere il costo del nodo: non contano la taglia del pacchetto, la porta d'uscita né il TTL. Solo la decisione di scartare costa ~51 ns in più, per come è fatto il banco.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i="0">
                <a:solidFill>
                  <a:srgbClr val="E07A2D"/>
                </a:solidFill>
                <a:latin typeface="Calibri"/>
              </a:rPr>
              <a:t>4 · LA FORMA DEL MODELLO · LE ISTRUZIONI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1F3A5F"/>
                </a:solidFill>
                <a:latin typeface="Calibri"/>
              </a:rPr>
              <a:t>Ogni strato di P3 costa ~900 istruzioni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4652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100" b="0" i="0">
                <a:solidFill>
                  <a:srgbClr val="6B7C93"/>
                </a:solidFill>
                <a:latin typeface="Calibri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424160" cy="1769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 i="1" dirty="0">
                <a:solidFill>
                  <a:srgbClr val="6B7C93"/>
                </a:solidFill>
                <a:latin typeface="Calibri"/>
              </a:rPr>
              <a:t>18 modelli, 102–113 moltiplicazioni, 3 ingressi: mediane, misure senza correzioni  ·  fisso e per neurone: legge sulla forma del codice, 101 modelli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57200" y="1463040"/>
          <a:ext cx="566928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217920" y="1463040"/>
          <a:ext cx="566928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4800600"/>
            <a:ext cx="5394960" cy="69910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lang="it-IT" sz="1400" b="1" i="0" dirty="0">
                <a:solidFill>
                  <a:srgbClr val="222B36"/>
                </a:solidFill>
                <a:latin typeface="Calibri"/>
              </a:rPr>
              <a:t>Istruzioni, a moltiplicazioni ferme.</a:t>
            </a:r>
            <a:r>
              <a:rPr lang="it-IT" sz="1400" b="0" i="0" dirty="0">
                <a:solidFill>
                  <a:srgbClr val="222B36"/>
                </a:solidFill>
                <a:latin typeface="Calibri"/>
              </a:rPr>
              <a:t> Ogni strato in più ne aggiunge in media 900 a P3 e 370 a P2, uguali su P-core ed E-core. P1 e P1.5 restano piatte.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4800600"/>
            <a:ext cx="539496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 i="0">
                <a:solidFill>
                  <a:srgbClr val="222B36"/>
                </a:solidFill>
                <a:latin typeface="Calibri"/>
              </a:rPr>
              <a:t>Tempo.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 Ogni strato costa a P3 ~51 ns sul P-core e ~61 sull'E-core (tratteggio): stesse istruzioni, eseguite più lentamente.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5577840"/>
            <a:ext cx="11094415" cy="777240"/>
          </a:xfrm>
          <a:prstGeom prst="roundRect">
            <a:avLst>
              <a:gd name="adj" fmla="val 6000"/>
            </a:avLst>
          </a:prstGeom>
          <a:solidFill>
            <a:srgbClr val="FFF4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48640" y="5577840"/>
            <a:ext cx="82296" cy="777240"/>
          </a:xfrm>
          <a:prstGeom prst="rect">
            <a:avLst/>
          </a:prstGeom>
          <a:solidFill>
            <a:srgbClr val="F2B1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2960" y="565099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1" i="0">
                <a:solidFill>
                  <a:srgbClr val="B57A00"/>
                </a:solidFill>
                <a:latin typeface="Calibri"/>
              </a:rPr>
              <a:t>QUINDI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5577840"/>
            <a:ext cx="9677095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0" i="0">
                <a:solidFill>
                  <a:srgbClr val="222B36"/>
                </a:solidFill>
                <a:latin typeface="Calibri"/>
              </a:rPr>
              <a:t>In P3 ogni strato è un programma a sé: ~690 istruzioni fisse (salto, letture di tabella, cicli a vuoto) più ~44 per ogni suo neurone, che controlla sempre 8 ingressi. Per questo i gradini non sono tutti uguali.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i="0">
                <a:solidFill>
                  <a:srgbClr val="E07A2D"/>
                </a:solidFill>
                <a:latin typeface="Calibri"/>
              </a:rPr>
              <a:t>4 · LA FORMA DEL MODELLO · DUE MODI DI MISURARE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1F3A5F"/>
                </a:solidFill>
                <a:latin typeface="Calibri"/>
              </a:rPr>
              <a:t>Poco traffico o nodo pieno: la rete di P2 e P3 costa uguale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4652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100" b="0" i="0">
                <a:solidFill>
                  <a:srgbClr val="6B7C93"/>
                </a:solidFill>
                <a:latin typeface="Calibri"/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424160" cy="1769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 i="1" dirty="0">
                <a:solidFill>
                  <a:srgbClr val="6B7C93"/>
                </a:solidFill>
                <a:latin typeface="Calibri"/>
              </a:rPr>
              <a:t>Tempo letto dal programma stesso, con 0,25 e 0,5 milioni di pacchetti al secondo, meno il nodo senza rete  ·  mediane per strati, 53 modelli  ·  P-core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57200" y="1463040"/>
          <a:ext cx="566928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217920" y="1463040"/>
          <a:ext cx="566928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4800600"/>
            <a:ext cx="5394960" cy="69910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lang="it-IT" sz="1400" b="1" i="0" dirty="0">
                <a:solidFill>
                  <a:srgbClr val="222B36"/>
                </a:solidFill>
                <a:latin typeface="Calibri"/>
              </a:rPr>
              <a:t>P3.</a:t>
            </a:r>
            <a:r>
              <a:rPr lang="it-IT" sz="1400" b="0" i="0" dirty="0">
                <a:solidFill>
                  <a:srgbClr val="222B36"/>
                </a:solidFill>
                <a:latin typeface="Calibri"/>
              </a:rPr>
              <a:t> Con poco traffico la rete costa 1,02 volte quanto a nodo pieno; il pacchetto più veloce il 14 % meno della media.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4800600"/>
            <a:ext cx="539496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 i="0">
                <a:solidFill>
                  <a:srgbClr val="222B36"/>
                </a:solidFill>
                <a:latin typeface="Calibri"/>
              </a:rPr>
              <a:t>P2: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 1,03 volte. Per P1 e P1.5 no (0,77 e 0,83): la loro rete costa poche decine di ns, e le due misure non la distinguono bene.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5577840"/>
            <a:ext cx="11094415" cy="777240"/>
          </a:xfrm>
          <a:prstGeom prst="roundRect">
            <a:avLst>
              <a:gd name="adj" fmla="val 6000"/>
            </a:avLst>
          </a:prstGeom>
          <a:solidFill>
            <a:srgbClr val="FFF4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48640" y="5577840"/>
            <a:ext cx="82296" cy="777240"/>
          </a:xfrm>
          <a:prstGeom prst="rect">
            <a:avLst/>
          </a:prstGeom>
          <a:solidFill>
            <a:srgbClr val="F2B1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2960" y="565099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1" i="0">
                <a:solidFill>
                  <a:srgbClr val="B57A00"/>
                </a:solidFill>
                <a:latin typeface="Calibri"/>
              </a:rPr>
              <a:t>QUINDI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5577840"/>
            <a:ext cx="9677095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0" i="0">
                <a:solidFill>
                  <a:srgbClr val="222B36"/>
                </a:solidFill>
                <a:latin typeface="Calibri"/>
              </a:rPr>
              <a:t>Due modi indipendenti di misurare la rete, a nodo pieno e con poco traffico, danno lo stesso costo per P2 e P3 su ogni modello. Il pacchetto più veloce è quello che trova la cache già pronta.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i="0">
                <a:solidFill>
                  <a:srgbClr val="E07A2D"/>
                </a:solidFill>
                <a:latin typeface="Calibri"/>
              </a:rPr>
              <a:t>5 · LA SOLA RETE NEURALE · IL PREZZO DELLA CONFIGURABILITÀ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1F3A5F"/>
                </a:solidFill>
                <a:latin typeface="Calibri"/>
              </a:rPr>
              <a:t>La configurabilità si paga per pacchetto: da +53 a +421 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46520"/>
            <a:ext cx="457200" cy="1769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lang="it-IT" sz="1100" b="0" i="0">
                <a:solidFill>
                  <a:srgbClr val="6B7C93"/>
                </a:solidFill>
                <a:latin typeface="Calibri"/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424160" cy="1769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 i="1" dirty="0" err="1">
                <a:solidFill>
                  <a:srgbClr val="6B7C93"/>
                </a:solidFill>
                <a:latin typeface="Calibri"/>
              </a:rPr>
              <a:t>Mediane su 109 modelli (P2: 103)  ·  tempo per pacchetto, P-core  ·  letture e salti contati da una versione del programma che li conta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57200" y="1554480"/>
          <a:ext cx="6035040" cy="46634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766560" y="1737360"/>
          <a:ext cx="4937758" cy="22860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51931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2435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5965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Versione</a:t>
                      </a:r>
                    </a:p>
                  </a:txBody>
                  <a:tcPr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Istruzioni</a:t>
                      </a:r>
                    </a:p>
                  </a:txBody>
                  <a:tcPr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Letture tabella</a:t>
                      </a:r>
                    </a:p>
                  </a:txBody>
                  <a:tcPr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Salti</a:t>
                      </a:r>
                    </a:p>
                  </a:txBody>
                  <a:tcPr marT="27432" marB="27432" anchor="ctr">
                    <a:solidFill>
                      <a:srgbClr val="1F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222B36"/>
                          </a:solidFill>
                          <a:latin typeface="Calibri"/>
                        </a:rPr>
                        <a:t>P1 statica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 i="0">
                          <a:solidFill>
                            <a:srgbClr val="222B36"/>
                          </a:solidFill>
                          <a:latin typeface="Calibri"/>
                        </a:rPr>
                        <a:t>650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 i="0">
                          <a:solidFill>
                            <a:srgbClr val="222B36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 i="0">
                          <a:solidFill>
                            <a:srgbClr val="222B36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222B36"/>
                          </a:solidFill>
                          <a:latin typeface="Calibri"/>
                        </a:rPr>
                        <a:t>P1.5</a:t>
                      </a:r>
                    </a:p>
                  </a:txBody>
                  <a:tcPr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 i="0">
                          <a:solidFill>
                            <a:srgbClr val="222B36"/>
                          </a:solidFill>
                          <a:latin typeface="Calibri"/>
                        </a:rPr>
                        <a:t>961</a:t>
                      </a:r>
                    </a:p>
                  </a:txBody>
                  <a:tcPr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 i="0">
                          <a:solidFill>
                            <a:srgbClr val="222B36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 i="0">
                          <a:solidFill>
                            <a:srgbClr val="222B36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T="27432" marB="27432" anchor="ctr">
                    <a:solidFill>
                      <a:srgbClr val="F3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222B36"/>
                          </a:solidFill>
                          <a:latin typeface="Calibri"/>
                        </a:rPr>
                        <a:t>P2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 i="0">
                          <a:solidFill>
                            <a:srgbClr val="222B36"/>
                          </a:solidFill>
                          <a:latin typeface="Calibri"/>
                        </a:rPr>
                        <a:t>16 813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 i="0">
                          <a:solidFill>
                            <a:srgbClr val="222B36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 i="0">
                          <a:solidFill>
                            <a:srgbClr val="222B36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222B36"/>
                          </a:solidFill>
                          <a:latin typeface="Calibri"/>
                        </a:rPr>
                        <a:t>P3</a:t>
                      </a:r>
                    </a:p>
                  </a:txBody>
                  <a:tcPr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 i="0">
                          <a:solidFill>
                            <a:srgbClr val="222B36"/>
                          </a:solidFill>
                          <a:latin typeface="Calibri"/>
                        </a:rPr>
                        <a:t>12 288</a:t>
                      </a:r>
                    </a:p>
                  </a:txBody>
                  <a:tcPr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 i="0">
                          <a:solidFill>
                            <a:srgbClr val="222B36"/>
                          </a:solidFill>
                          <a:latin typeface="Calibri"/>
                        </a:rPr>
                        <a:t>23–54</a:t>
                      </a:r>
                    </a:p>
                  </a:txBody>
                  <a:tcPr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 i="0" dirty="0">
                          <a:solidFill>
                            <a:srgbClr val="222B36"/>
                          </a:solidFill>
                          <a:latin typeface="Calibri"/>
                        </a:rPr>
                        <a:t>2–7</a:t>
                      </a:r>
                    </a:p>
                  </a:txBody>
                  <a:tcPr marT="27432" marB="27432" anchor="ctr">
                    <a:solidFill>
                      <a:srgbClr val="F3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6766560" y="4160520"/>
            <a:ext cx="4937760" cy="2057400"/>
          </a:xfrm>
          <a:prstGeom prst="roundRect">
            <a:avLst>
              <a:gd name="adj" fmla="val 6000"/>
            </a:avLst>
          </a:prstGeom>
          <a:solidFill>
            <a:srgbClr val="FFF4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766560" y="4160520"/>
            <a:ext cx="82296" cy="2057400"/>
          </a:xfrm>
          <a:prstGeom prst="rect">
            <a:avLst/>
          </a:prstGeom>
          <a:solidFill>
            <a:srgbClr val="F2B1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040880" y="423367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1" i="0">
                <a:solidFill>
                  <a:srgbClr val="B57A00"/>
                </a:solidFill>
                <a:latin typeface="Calibri"/>
              </a:rPr>
              <a:t>QUINDI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0" y="4526280"/>
            <a:ext cx="4480560" cy="1600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0" i="0">
                <a:solidFill>
                  <a:srgbClr val="222B36"/>
                </a:solidFill>
                <a:latin typeface="Calibri"/>
              </a:rPr>
              <a:t>Il prezzo della configurabilità sta nelle </a:t>
            </a:r>
            <a:r>
              <a:rPr sz="1500" b="1" i="0">
                <a:solidFill>
                  <a:srgbClr val="222B36"/>
                </a:solidFill>
                <a:latin typeface="Calibri"/>
              </a:rPr>
              <a:t>letture di tabella</a:t>
            </a:r>
            <a:r>
              <a:rPr sz="1500" b="0" i="0">
                <a:solidFill>
                  <a:srgbClr val="222B36"/>
                </a:solidFill>
                <a:latin typeface="Calibri"/>
              </a:rPr>
              <a:t> (da 5 a 36 per pacchetto) e nei </a:t>
            </a:r>
            <a:r>
              <a:rPr sz="1500" b="1" i="0">
                <a:solidFill>
                  <a:srgbClr val="222B36"/>
                </a:solidFill>
                <a:latin typeface="Calibri"/>
              </a:rPr>
              <a:t>salti fra programmi</a:t>
            </a:r>
            <a:r>
              <a:rPr sz="1500" b="0" i="0">
                <a:solidFill>
                  <a:srgbClr val="222B36"/>
                </a:solidFill>
                <a:latin typeface="Calibri"/>
              </a:rPr>
              <a:t> (P3 ne fa uno per strato), non nelle moltiplicazioni. In mediana P2 costa </a:t>
            </a:r>
            <a:r>
              <a:rPr sz="1500" b="1" i="0">
                <a:solidFill>
                  <a:srgbClr val="222B36"/>
                </a:solidFill>
                <a:latin typeface="Calibri"/>
              </a:rPr>
              <a:t>4,4 volte</a:t>
            </a:r>
            <a:r>
              <a:rPr sz="1500" b="0" i="0">
                <a:solidFill>
                  <a:srgbClr val="222B36"/>
                </a:solidFill>
                <a:latin typeface="Calibri"/>
              </a:rPr>
              <a:t> P1, P3 </a:t>
            </a:r>
            <a:r>
              <a:rPr sz="1500" b="1" i="0">
                <a:solidFill>
                  <a:srgbClr val="222B36"/>
                </a:solidFill>
                <a:latin typeface="Calibri"/>
              </a:rPr>
              <a:t>7,8 volte</a:t>
            </a:r>
            <a:r>
              <a:rPr sz="1500" b="0" i="0">
                <a:solidFill>
                  <a:srgbClr val="222B36"/>
                </a:solidFill>
                <a:latin typeface="Calibri"/>
              </a:rPr>
              <a:t>; P1.5 quasi come P1.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i="0">
                <a:solidFill>
                  <a:srgbClr val="E07A2D"/>
                </a:solidFill>
                <a:latin typeface="Calibri"/>
              </a:rPr>
              <a:t>5 · LA SOLA RETE NEURALE · CAMBIARE MODELLO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1F3A5F"/>
                </a:solidFill>
                <a:latin typeface="Calibri"/>
              </a:rPr>
              <a:t>Cambiare modello costa millisecondi a tutte le versioni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46520"/>
            <a:ext cx="457200" cy="1769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lang="it-IT" sz="1100" b="0" i="0">
                <a:solidFill>
                  <a:srgbClr val="6B7C93"/>
                </a:solidFill>
                <a:latin typeface="Calibri"/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424160" cy="1769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 i="1" dirty="0">
                <a:solidFill>
                  <a:srgbClr val="6B7C93"/>
                </a:solidFill>
                <a:latin typeface="Calibri"/>
              </a:rPr>
              <a:t>Tempo per installare un modello nuovo su un nodo già in servizio, scala logaritmica  ·  mediane su 108 modelli  ·  compilazione da zero, fuori dal nodo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57200" y="1600200"/>
          <a:ext cx="5669280" cy="38404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6400800" y="1645920"/>
            <a:ext cx="5303520" cy="173736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400800" y="1645920"/>
            <a:ext cx="82296" cy="1737360"/>
          </a:xfrm>
          <a:prstGeom prst="rect">
            <a:avLst/>
          </a:prstGeom>
          <a:solidFill>
            <a:srgbClr val="E07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675120" y="1810512"/>
            <a:ext cx="4892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 i="0">
                <a:solidFill>
                  <a:srgbClr val="E07A2D"/>
                </a:solidFill>
                <a:latin typeface="Calibri"/>
              </a:rPr>
              <a:t>P1: si compila prima, fuori dal nodo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0" y="2221992"/>
            <a:ext cx="4892040" cy="11155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 i="0">
                <a:solidFill>
                  <a:srgbClr val="222B36"/>
                </a:solidFill>
                <a:latin typeface="Calibri"/>
              </a:rPr>
              <a:t>Il nodo carica un programma già compilato in 0,3–1,5 ms. Compilarlo per un modello nuovo, su un'altra macchina, costa 34–114 ms.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0" y="3566160"/>
            <a:ext cx="5303520" cy="173736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400800" y="3566160"/>
            <a:ext cx="82296" cy="1737360"/>
          </a:xfrm>
          <a:prstGeom prst="rect">
            <a:avLst/>
          </a:prstGeom>
          <a:solidFill>
            <a:srgbClr val="2E9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675120" y="3730752"/>
            <a:ext cx="4892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 i="0">
                <a:solidFill>
                  <a:srgbClr val="2E9C6E"/>
                </a:solidFill>
                <a:latin typeface="Calibri"/>
              </a:rPr>
              <a:t>Il vantaggio di P2 e P3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75120" y="4142232"/>
            <a:ext cx="4892040" cy="11155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 i="0">
                <a:solidFill>
                  <a:srgbClr val="222B36"/>
                </a:solidFill>
                <a:latin typeface="Calibri"/>
              </a:rPr>
              <a:t>Un modello nuovo si installa scrivendo le sue tabelle: 0,24–0,51 ms, nessun compilatore sul nodo. Il programma generico si compila una volta sola, all'accensione (1,2–1,7 s).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5577840"/>
            <a:ext cx="11094415" cy="777240"/>
          </a:xfrm>
          <a:prstGeom prst="roundRect">
            <a:avLst>
              <a:gd name="adj" fmla="val 6000"/>
            </a:avLst>
          </a:prstGeom>
          <a:solidFill>
            <a:srgbClr val="FFF4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548640" y="5577840"/>
            <a:ext cx="82296" cy="777240"/>
          </a:xfrm>
          <a:prstGeom prst="rect">
            <a:avLst/>
          </a:prstGeom>
          <a:solidFill>
            <a:srgbClr val="F2B1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22960" y="565099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1" i="0">
                <a:solidFill>
                  <a:srgbClr val="B57A00"/>
                </a:solidFill>
                <a:latin typeface="Calibri"/>
              </a:rPr>
              <a:t>QUINDI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83080" y="5577840"/>
            <a:ext cx="9677095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0" i="0">
                <a:solidFill>
                  <a:srgbClr val="222B36"/>
                </a:solidFill>
                <a:latin typeface="Calibri"/>
              </a:rPr>
              <a:t>Cambiare modello non è un criterio di scelta: sul nodo costa meno di 6 ms a tutte. Si sceglie sul costo per pacchetto e su dove serve un compilatore: P1 ne vuole uno per ogni modello nuovo, P2 e P3 no.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i="0">
                <a:solidFill>
                  <a:srgbClr val="E07A2D"/>
                </a:solidFill>
                <a:latin typeface="Calibri"/>
              </a:rPr>
              <a:t>5 · LA SOLA RETE NEURALE · TAGLIA DELLA RETE E DEL MODELLO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1F3A5F"/>
                </a:solidFill>
                <a:latin typeface="Calibri"/>
              </a:rPr>
              <a:t>La rete può crescere quanto vuole. Il modello no.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4652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100" b="0" i="0">
                <a:solidFill>
                  <a:srgbClr val="6B7C93"/>
                </a:solidFill>
                <a:latin typeface="Calibri"/>
              </a:rPr>
              <a:t>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424160" cy="1769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 i="1" dirty="0">
                <a:solidFill>
                  <a:srgbClr val="6B7C93"/>
                </a:solidFill>
                <a:latin typeface="Calibri"/>
              </a:rPr>
              <a:t>Tempo della sola rete, P-core  ·  a sinistra: costo misurato meno quello previsto dalla legge, per taglia della rete  ·  a destra: 53 modelli del disegno principale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57200" y="1463040"/>
          <a:ext cx="5669280" cy="32461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217920" y="1463040"/>
          <a:ext cx="5669280" cy="32461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4800600"/>
            <a:ext cx="5394960" cy="69910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lang="it-IT" sz="1400" b="1" i="0" dirty="0">
                <a:solidFill>
                  <a:srgbClr val="222B36"/>
                </a:solidFill>
                <a:latin typeface="Calibri"/>
              </a:rPr>
              <a:t>Nodi della rete.</a:t>
            </a:r>
            <a:r>
              <a:rPr lang="it-IT" sz="1400" b="0" i="0" dirty="0">
                <a:solidFill>
                  <a:srgbClr val="222B36"/>
                </a:solidFill>
                <a:latin typeface="Calibri"/>
              </a:rPr>
              <a:t> Reti da 10 a 100 nodi (56 modelli): il costo resta quello previsto dalla legge, al più 0,03 ns per nodo in più.</a:t>
            </a:r>
            <a:endParaRPr sz="1400" b="0" i="0" dirty="0">
              <a:solidFill>
                <a:srgbClr val="222B36"/>
              </a:solidFill>
              <a:latin typeface="Calibri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6309360" y="4800600"/>
            <a:ext cx="539496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 i="0">
                <a:solidFill>
                  <a:srgbClr val="222B36"/>
                </a:solidFill>
                <a:latin typeface="Calibri"/>
              </a:rPr>
              <a:t>Larghezza del modello.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 Da 2 a 8 neuroni sale su tutte: P1 da 37 a 90 ns, P3 da 389 a 537 ns.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5577840"/>
            <a:ext cx="11094415" cy="777240"/>
          </a:xfrm>
          <a:prstGeom prst="roundRect">
            <a:avLst>
              <a:gd name="adj" fmla="val 6000"/>
            </a:avLst>
          </a:prstGeom>
          <a:solidFill>
            <a:srgbClr val="FFF4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48640" y="5577840"/>
            <a:ext cx="82296" cy="777240"/>
          </a:xfrm>
          <a:prstGeom prst="rect">
            <a:avLst/>
          </a:prstGeom>
          <a:solidFill>
            <a:srgbClr val="F2B1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2960" y="565099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1" i="0">
                <a:solidFill>
                  <a:srgbClr val="B57A00"/>
                </a:solidFill>
                <a:latin typeface="Calibri"/>
              </a:rPr>
              <a:t>QUINDI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5577840"/>
            <a:ext cx="9677095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0" i="0">
                <a:solidFill>
                  <a:srgbClr val="222B36"/>
                </a:solidFill>
                <a:latin typeface="Calibri"/>
              </a:rPr>
              <a:t>Una </a:t>
            </a:r>
            <a:r>
              <a:rPr sz="1500" b="1" i="0">
                <a:solidFill>
                  <a:srgbClr val="222B36"/>
                </a:solidFill>
                <a:latin typeface="Calibri"/>
              </a:rPr>
              <a:t>rete più grande</a:t>
            </a:r>
            <a:r>
              <a:rPr sz="1500" b="0" i="0">
                <a:solidFill>
                  <a:srgbClr val="222B36"/>
                </a:solidFill>
                <a:latin typeface="Calibri"/>
              </a:rPr>
              <a:t> (più nodi) non rallenta nessuna pipeline: basta una riga in più in tabella. Un </a:t>
            </a:r>
            <a:r>
              <a:rPr sz="1500" b="1" i="0">
                <a:solidFill>
                  <a:srgbClr val="222B36"/>
                </a:solidFill>
                <a:latin typeface="Calibri"/>
              </a:rPr>
              <a:t>modello più largo</a:t>
            </a:r>
            <a:r>
              <a:rPr sz="1500" b="0" i="0">
                <a:solidFill>
                  <a:srgbClr val="222B36"/>
                </a:solidFill>
                <a:latin typeface="Calibri"/>
              </a:rPr>
              <a:t> rallenta tutte, a ogni pacchetto. Si può far crescere la rete; il modello va tenuto piccolo.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i="0">
                <a:solidFill>
                  <a:srgbClr val="E07A2D"/>
                </a:solidFill>
                <a:latin typeface="Calibri"/>
              </a:rPr>
              <a:t>5 · LA SOLA RETE NEURALE · PROFONDITÀ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1F3A5F"/>
                </a:solidFill>
                <a:latin typeface="Calibri"/>
              </a:rPr>
              <a:t>Uno strato in più: P2 lo paga in spazio, P3 in tempo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4652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100" b="0" i="0">
                <a:solidFill>
                  <a:srgbClr val="6B7C93"/>
                </a:solidFill>
                <a:latin typeface="Calibri"/>
              </a:rPr>
              <a:t>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424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 i="1">
                <a:solidFill>
                  <a:srgbClr val="6B7C93"/>
                </a:solidFill>
                <a:latin typeface="Calibri"/>
              </a:rPr>
              <a:t>10 modelli a pari pesi, mediane (a 4–5 strati +16–43 % di moltiplicazioni)  ·  dimensione: programma caricato  ·  tempo: sola rete, P-core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75388094"/>
              </p:ext>
            </p:extLst>
          </p:nvPr>
        </p:nvGraphicFramePr>
        <p:xfrm>
          <a:off x="457200" y="1463040"/>
          <a:ext cx="5669280" cy="32461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217920" y="1463040"/>
          <a:ext cx="5669280" cy="32461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4800600"/>
            <a:ext cx="5394960" cy="46211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 i="0">
                <a:solidFill>
                  <a:srgbClr val="222B36"/>
                </a:solidFill>
                <a:latin typeface="Calibri"/>
              </a:rPr>
              <a:t>Dimensione.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 P2 si ricompila per ogni profondità: ~890 istruzioni in più per strato. P3 resta di 12 288 istruzioni con ogni modello.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4800600"/>
            <a:ext cx="539496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 i="0">
                <a:solidFill>
                  <a:srgbClr val="222B36"/>
                </a:solidFill>
                <a:latin typeface="Calibri"/>
              </a:rPr>
              <a:t>Tempo.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 Da 1 a 5 strati a pari pesi: P2 +48 %, P3 +63 %, P1 e P1.5 +14–17 %. A pari moltiplicazioni: ~46 ns per strato a P3, ~20 a P2.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5577840"/>
            <a:ext cx="11094415" cy="777240"/>
          </a:xfrm>
          <a:prstGeom prst="roundRect">
            <a:avLst>
              <a:gd name="adj" fmla="val 6000"/>
            </a:avLst>
          </a:prstGeom>
          <a:solidFill>
            <a:srgbClr val="FFF4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48640" y="5577840"/>
            <a:ext cx="82296" cy="777240"/>
          </a:xfrm>
          <a:prstGeom prst="rect">
            <a:avLst/>
          </a:prstGeom>
          <a:solidFill>
            <a:srgbClr val="F2B1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2960" y="565099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1" i="0">
                <a:solidFill>
                  <a:srgbClr val="B57A00"/>
                </a:solidFill>
                <a:latin typeface="Calibri"/>
              </a:rPr>
              <a:t>QUINDI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5728991"/>
            <a:ext cx="9677095" cy="47493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0" i="0">
                <a:solidFill>
                  <a:srgbClr val="222B36"/>
                </a:solidFill>
                <a:latin typeface="Calibri"/>
              </a:rPr>
              <a:t>P2 paga lo strato in un programma più grande da compilare, P3 in ~46 ns a ogni pacchetto. Con P1 e P1.5 la forma della rete si sceglie per l'accuratezza; con P2 e P3, a parità di pesi, conviene una rete larga e poco profonda.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i="0">
                <a:solidFill>
                  <a:srgbClr val="E07A2D"/>
                </a:solidFill>
                <a:latin typeface="Calibri"/>
              </a:rPr>
              <a:t>5 · LA SOLA RETE NEURALE · PREVEDERE IL COSTO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1F3A5F"/>
                </a:solidFill>
                <a:latin typeface="Calibri"/>
              </a:rPr>
              <a:t>Il costo di un modello si può prevedere prima di misurarlo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4652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100" b="0" i="0">
                <a:solidFill>
                  <a:srgbClr val="6B7C93"/>
                </a:solidFill>
                <a:latin typeface="Calibri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424160" cy="1769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 i="1" dirty="0" err="1">
                <a:solidFill>
                  <a:srgbClr val="6B7C93"/>
                </a:solidFill>
                <a:latin typeface="Calibri"/>
              </a:rPr>
              <a:t>Stimata su 83 modelli senza pesi a zero, errore su modelli lasciati fuori (sui 18 modelli aggiunti dopo: 5–13 %)  ·  grafico: costo meno la parte per strato  ·  tabella: quanto pesa ogni parte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223760" y="1645920"/>
          <a:ext cx="4480560" cy="237744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01625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6430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600" b="1" i="0">
                          <a:solidFill>
                            <a:srgbClr val="FFFFFF"/>
                          </a:solidFill>
                          <a:latin typeface="Calibri"/>
                        </a:rPr>
                        <a:t>Versione</a:t>
                      </a:r>
                    </a:p>
                  </a:txBody>
                  <a:tcPr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1" i="0">
                          <a:solidFill>
                            <a:srgbClr val="FFFFFF"/>
                          </a:solidFill>
                          <a:latin typeface="Calibri"/>
                        </a:rPr>
                        <a:t>fisso · moltipl. · strati</a:t>
                      </a:r>
                    </a:p>
                  </a:txBody>
                  <a:tcPr marT="27432" marB="27432" anchor="ctr">
                    <a:solidFill>
                      <a:srgbClr val="1F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600" b="1" i="0">
                          <a:solidFill>
                            <a:srgbClr val="222B36"/>
                          </a:solidFill>
                          <a:latin typeface="Calibri"/>
                        </a:rPr>
                        <a:t>P1 statica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 i="0">
                          <a:solidFill>
                            <a:srgbClr val="222B36"/>
                          </a:solidFill>
                          <a:latin typeface="Calibri"/>
                        </a:rPr>
                        <a:t>40 % · 50 % · 8 %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600" b="1" i="0">
                          <a:solidFill>
                            <a:srgbClr val="222B36"/>
                          </a:solidFill>
                          <a:latin typeface="Calibri"/>
                        </a:rPr>
                        <a:t>P1.5</a:t>
                      </a:r>
                    </a:p>
                  </a:txBody>
                  <a:tcPr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 i="0">
                          <a:solidFill>
                            <a:srgbClr val="222B36"/>
                          </a:solidFill>
                          <a:latin typeface="Calibri"/>
                        </a:rPr>
                        <a:t>48 % · 46 % · 5 %</a:t>
                      </a:r>
                    </a:p>
                  </a:txBody>
                  <a:tcPr marT="27432" marB="27432" anchor="ctr">
                    <a:solidFill>
                      <a:srgbClr val="F3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600" b="1" i="0">
                          <a:solidFill>
                            <a:srgbClr val="222B36"/>
                          </a:solidFill>
                          <a:latin typeface="Calibri"/>
                        </a:rPr>
                        <a:t>P2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 i="0">
                          <a:solidFill>
                            <a:srgbClr val="222B36"/>
                          </a:solidFill>
                          <a:latin typeface="Calibri"/>
                        </a:rPr>
                        <a:t>47 % · 18 % · 31 %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600" b="1" i="0">
                          <a:solidFill>
                            <a:srgbClr val="222B36"/>
                          </a:solidFill>
                          <a:latin typeface="Calibri"/>
                        </a:rPr>
                        <a:t>P3</a:t>
                      </a:r>
                    </a:p>
                  </a:txBody>
                  <a:tcPr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 i="0">
                          <a:solidFill>
                            <a:srgbClr val="222B36"/>
                          </a:solidFill>
                          <a:latin typeface="Calibri"/>
                        </a:rPr>
                        <a:t>37 % · 18 % · 39 %</a:t>
                      </a:r>
                    </a:p>
                  </a:txBody>
                  <a:tcPr marT="27432" marB="27432" anchor="ctr">
                    <a:solidFill>
                      <a:srgbClr val="F3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223760" y="4160520"/>
            <a:ext cx="448056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 i="0" dirty="0" err="1">
                <a:solidFill>
                  <a:srgbClr val="222B36"/>
                </a:solidFill>
                <a:latin typeface="Calibri"/>
              </a:rPr>
              <a:t>Dove va il tempo.</a:t>
            </a:r>
            <a:r>
              <a:rPr sz="1400" b="0" i="0" dirty="0" err="1">
                <a:solidFill>
                  <a:srgbClr val="222B36"/>
                </a:solidFill>
                <a:latin typeface="Calibri"/>
              </a:rPr>
              <a:t> Con P1 e P1.5 circa metà è moltiplicazioni. Con P2 e P3 circa l'82 % è struttura: il lavoro fisso e quello per strato: salti, letture di tabella, cicli fissati a 8. Su modelli mai visti la legge sbaglia del 3–9 %.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5532120"/>
            <a:ext cx="11094415" cy="777240"/>
          </a:xfrm>
          <a:prstGeom prst="roundRect">
            <a:avLst>
              <a:gd name="adj" fmla="val 6000"/>
            </a:avLst>
          </a:prstGeom>
          <a:solidFill>
            <a:srgbClr val="FFF4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48640" y="5532120"/>
            <a:ext cx="82296" cy="777240"/>
          </a:xfrm>
          <a:prstGeom prst="rect">
            <a:avLst/>
          </a:prstGeom>
          <a:solidFill>
            <a:srgbClr val="F2B1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22960" y="560527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1" i="0">
                <a:solidFill>
                  <a:srgbClr val="B57A00"/>
                </a:solidFill>
                <a:latin typeface="Calibri"/>
              </a:rPr>
              <a:t>QUINDI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5532120"/>
            <a:ext cx="9677095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00" b="1" i="0">
                <a:solidFill>
                  <a:srgbClr val="222B36"/>
                </a:solidFill>
                <a:latin typeface="Calibri"/>
              </a:rPr>
              <a:t>Costo della rete ≈ fisso + moltiplicazioni × costo di una + strati × costo di uno.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 P1: ~22 ns + 0,26 ns per moltiplicazione. P3: ~154 ns + 0,77 ns per moltiplicazione + ~46 ns per strato.</a:t>
            </a:r>
          </a:p>
        </p:txBody>
      </p:sp>
      <p:pic>
        <p:nvPicPr>
          <p:cNvPr id="14" name="Picture 13" descr="legge_cost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463040"/>
            <a:ext cx="6217920" cy="38862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i="0">
                <a:solidFill>
                  <a:srgbClr val="E07A2D"/>
                </a:solidFill>
                <a:latin typeface="Calibri"/>
              </a:rPr>
              <a:t>5 · LA SOLA RETE NEURALE · PESI A ZERO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1F3A5F"/>
                </a:solidFill>
                <a:latin typeface="Calibri"/>
              </a:rPr>
              <a:t>Pesi a zero: accelerano solo P1 e P1.5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4652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100" b="0" i="0">
                <a:solidFill>
                  <a:srgbClr val="6B7C93"/>
                </a:solidFill>
                <a:latin typeface="Calibri"/>
              </a:rPr>
              <a:t>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424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 i="1">
                <a:solidFill>
                  <a:srgbClr val="6B7C93"/>
                </a:solidFill>
                <a:latin typeface="Calibri"/>
              </a:rPr>
              <a:t>Sola rete, P-core a 3,5 GHz  ·  0 %: mediana dei 83 modelli senza zeri; 50 e 90 %: mediana di 4 forme  ·  «senza zeri» = tempo previsto dalla legge per la stessa forma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1600200"/>
            <a:ext cx="4206240" cy="178308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7498079" y="1600200"/>
            <a:ext cx="82296" cy="1783080"/>
          </a:xfrm>
          <a:prstGeom prst="rect">
            <a:avLst/>
          </a:prstGeom>
          <a:solidFill>
            <a:srgbClr val="E07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772399" y="1764792"/>
            <a:ext cx="37947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 i="0">
                <a:solidFill>
                  <a:srgbClr val="E07A2D"/>
                </a:solidFill>
                <a:latin typeface="Calibri"/>
              </a:rPr>
              <a:t>P1.5, da 0 a 90 % di zeri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399" y="2176272"/>
            <a:ext cx="3794760" cy="11612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 i="0">
                <a:solidFill>
                  <a:srgbClr val="222B36"/>
                </a:solidFill>
                <a:latin typeface="Calibri"/>
              </a:rPr>
              <a:t>Al 90 % di zeri il programma scende a circa un terzo (0,34–0,35 volte) e la rete costa 0,62 volte quanto previsto per lo stesso modello senza zeri: il compilatore toglie le moltiplicazioni per zero.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98079" y="3566160"/>
            <a:ext cx="4206240" cy="178308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7498079" y="3566160"/>
            <a:ext cx="82296" cy="1783080"/>
          </a:xfrm>
          <a:prstGeom prst="rect">
            <a:avLst/>
          </a:prstGeom>
          <a:solidFill>
            <a:srgbClr val="2E9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772399" y="3730752"/>
            <a:ext cx="37947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 i="0">
                <a:solidFill>
                  <a:srgbClr val="2E9C6E"/>
                </a:solidFill>
                <a:latin typeface="Calibri"/>
              </a:rPr>
              <a:t>P2 e P3, stessi pesi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399" y="4142232"/>
            <a:ext cx="3794760" cy="11612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 i="0">
                <a:solidFill>
                  <a:srgbClr val="222B36"/>
                </a:solidFill>
                <a:latin typeface="Calibri"/>
              </a:rPr>
              <a:t>Programma identico e costo come previsto (1,02 volte per P2, 1,01 per P3): uno zero letto da una tabella è un numero come un altro.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5532120"/>
            <a:ext cx="11094415" cy="777240"/>
          </a:xfrm>
          <a:prstGeom prst="roundRect">
            <a:avLst>
              <a:gd name="adj" fmla="val 6000"/>
            </a:avLst>
          </a:prstGeom>
          <a:solidFill>
            <a:srgbClr val="FFF4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548640" y="5532120"/>
            <a:ext cx="82296" cy="777240"/>
          </a:xfrm>
          <a:prstGeom prst="rect">
            <a:avLst/>
          </a:prstGeom>
          <a:solidFill>
            <a:srgbClr val="F2B1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22960" y="560527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1" i="0">
                <a:solidFill>
                  <a:srgbClr val="B57A00"/>
                </a:solidFill>
                <a:latin typeface="Calibri"/>
              </a:rPr>
              <a:t>QUINDI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83080" y="5532120"/>
            <a:ext cx="9677095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0" i="0">
                <a:solidFill>
                  <a:srgbClr val="222B36"/>
                </a:solidFill>
                <a:latin typeface="Calibri"/>
              </a:rPr>
              <a:t>Mettere pesi a zero rende più veloci </a:t>
            </a:r>
            <a:r>
              <a:rPr sz="1500" b="1" i="0">
                <a:solidFill>
                  <a:srgbClr val="222B36"/>
                </a:solidFill>
                <a:latin typeface="Calibri"/>
              </a:rPr>
              <a:t>solo le versioni con i pesi nel programma</a:t>
            </a:r>
            <a:r>
              <a:rPr sz="1500" b="0" i="0">
                <a:solidFill>
                  <a:srgbClr val="222B36"/>
                </a:solidFill>
                <a:latin typeface="Calibri"/>
              </a:rPr>
              <a:t>: al 90 % di zeri P1 costa </a:t>
            </a:r>
            <a:r>
              <a:rPr sz="1500" b="1" i="0">
                <a:solidFill>
                  <a:srgbClr val="222B36"/>
                </a:solidFill>
                <a:latin typeface="Calibri"/>
              </a:rPr>
              <a:t>0,44</a:t>
            </a:r>
            <a:r>
              <a:rPr sz="1500" b="0" i="0">
                <a:solidFill>
                  <a:srgbClr val="222B36"/>
                </a:solidFill>
                <a:latin typeface="Calibri"/>
              </a:rPr>
              <a:t> e P1.5 </a:t>
            </a:r>
            <a:r>
              <a:rPr sz="1500" b="1" i="0">
                <a:solidFill>
                  <a:srgbClr val="222B36"/>
                </a:solidFill>
                <a:latin typeface="Calibri"/>
              </a:rPr>
              <a:t>0,62</a:t>
            </a:r>
            <a:r>
              <a:rPr sz="1500" b="0" i="0">
                <a:solidFill>
                  <a:srgbClr val="222B36"/>
                </a:solidFill>
                <a:latin typeface="Calibri"/>
              </a:rPr>
              <a:t> volte il previsto. Con P2 e P3 non dà niente.</a:t>
            </a:r>
          </a:p>
        </p:txBody>
      </p:sp>
      <p:pic>
        <p:nvPicPr>
          <p:cNvPr id="20" name="Picture 19" descr="zer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463040"/>
            <a:ext cx="6766560" cy="393192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i="0">
                <a:solidFill>
                  <a:srgbClr val="E07A2D"/>
                </a:solidFill>
                <a:latin typeface="Calibri"/>
              </a:rPr>
              <a:t>COME LEGGERE I NUMERI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1F3A5F"/>
                </a:solidFill>
                <a:latin typeface="Calibri"/>
              </a:rPr>
              <a:t>Ogni cifra vale per 109 modelli, non per uno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4652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100" b="0" i="0">
                <a:solidFill>
                  <a:srgbClr val="6B7C93"/>
                </a:solidFill>
                <a:latin typeface="Calibri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424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 i="1">
                <a:solidFill>
                  <a:srgbClr val="6B7C93"/>
                </a:solidFill>
                <a:latin typeface="Calibri"/>
              </a:rPr>
              <a:t>Portatile di laboratorio (Intel Core Ultra 7 155H), core a frequenza fissa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08760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 i="0">
                <a:solidFill>
                  <a:srgbClr val="222B36"/>
                </a:solidFill>
                <a:latin typeface="Calibri"/>
              </a:rPr>
              <a:t>Ogni misura è ripetuta su </a:t>
            </a:r>
            <a:r>
              <a:rPr sz="1800" b="1" i="0">
                <a:solidFill>
                  <a:srgbClr val="222B36"/>
                </a:solidFill>
                <a:latin typeface="Calibri"/>
              </a:rPr>
              <a:t>109 reti neurali diverse</a:t>
            </a:r>
            <a:r>
              <a:rPr sz="1800" b="0" i="0">
                <a:solidFill>
                  <a:srgbClr val="222B36"/>
                </a:solidFill>
                <a:latin typeface="Calibri"/>
              </a:rPr>
              <a:t>: da 5 a 117 ingressi, da 1 a 6 strati, da 2 a 8 neuroni per strato. Una conclusione vale solo se regge su tutte.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04511093"/>
              </p:ext>
            </p:extLst>
          </p:nvPr>
        </p:nvGraphicFramePr>
        <p:xfrm>
          <a:off x="548640" y="2148840"/>
          <a:ext cx="11064236" cy="25146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31927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4496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lang="it-IT" sz="1500" b="1" i="0">
                          <a:solidFill>
                            <a:srgbClr val="FFFFFF"/>
                          </a:solidFill>
                          <a:latin typeface="Calibri"/>
                        </a:rPr>
                        <a:t>Si legge</a:t>
                      </a:r>
                      <a:endParaRPr sz="1500" b="1" i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1500" b="1" i="0">
                          <a:solidFill>
                            <a:srgbClr val="FFFFFF"/>
                          </a:solidFill>
                          <a:latin typeface="Calibri"/>
                        </a:rPr>
                        <a:t>Vuol dire</a:t>
                      </a:r>
                      <a:endParaRPr sz="1500" b="1" i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T="27432" marB="27432" anchor="ctr">
                    <a:solidFill>
                      <a:srgbClr val="1F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lang="it-IT" sz="1500" b="1" i="0">
                          <a:solidFill>
                            <a:srgbClr val="222B36"/>
                          </a:solidFill>
                          <a:latin typeface="Calibri"/>
                        </a:rPr>
                        <a:t>52 [19–155] ns</a:t>
                      </a:r>
                      <a:endParaRPr sz="1500" b="1" i="0">
                        <a:solidFill>
                          <a:srgbClr val="222B36"/>
                        </a:solidFill>
                        <a:latin typeface="Calibri"/>
                      </a:endParaRP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1500" b="0" i="0">
                          <a:solidFill>
                            <a:srgbClr val="222B36"/>
                          </a:solidFill>
                          <a:latin typeface="Calibri"/>
                        </a:rPr>
                        <a:t>la mediana dei modelli e, fra parentesi, il più leggero e il più pesante</a:t>
                      </a:r>
                      <a:endParaRPr sz="1500" b="0" i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lang="it-IT" sz="1500" b="1" i="0">
                          <a:solidFill>
                            <a:srgbClr val="222B36"/>
                          </a:solidFill>
                          <a:latin typeface="Calibri"/>
                        </a:rPr>
                        <a:t>85/85</a:t>
                      </a:r>
                      <a:endParaRPr sz="1500" b="1" i="0">
                        <a:solidFill>
                          <a:srgbClr val="222B36"/>
                        </a:solidFill>
                        <a:latin typeface="Calibri"/>
                      </a:endParaRPr>
                    </a:p>
                  </a:txBody>
                  <a:tcPr marT="27432" marB="27432" anchor="ctr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1500" b="0" i="0">
                          <a:solidFill>
                            <a:srgbClr val="222B36"/>
                          </a:solidFill>
                          <a:latin typeface="Calibri"/>
                        </a:rPr>
                        <a:t>vale su 85 modelli su 85</a:t>
                      </a:r>
                      <a:endParaRPr sz="1500" b="0" i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T="27432" marB="27432" anchor="ctr">
                    <a:solidFill>
                      <a:srgbClr val="F4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lang="it-IT" sz="1500" b="1" i="0">
                          <a:solidFill>
                            <a:srgbClr val="222B36"/>
                          </a:solidFill>
                          <a:latin typeface="Calibri"/>
                        </a:rPr>
                        <a:t>4,3 volte</a:t>
                      </a:r>
                      <a:endParaRPr sz="1500" b="1" i="0">
                        <a:solidFill>
                          <a:srgbClr val="222B36"/>
                        </a:solidFill>
                        <a:latin typeface="Calibri"/>
                      </a:endParaRP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1500" b="0" i="0">
                          <a:solidFill>
                            <a:srgbClr val="222B36"/>
                          </a:solidFill>
                          <a:latin typeface="Calibri"/>
                        </a:rPr>
                        <a:t>un rapporto calcolato modello per modello, poi la mediana</a:t>
                      </a:r>
                      <a:endParaRPr sz="1500" b="0" i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lang="it-IT" sz="1500" b="1" i="0">
                          <a:solidFill>
                            <a:srgbClr val="222B36"/>
                          </a:solidFill>
                          <a:latin typeface="Calibri"/>
                        </a:rPr>
                        <a:t>senza rete</a:t>
                      </a:r>
                      <a:endParaRPr sz="1500" b="1" i="0">
                        <a:solidFill>
                          <a:srgbClr val="222B36"/>
                        </a:solidFill>
                        <a:latin typeface="Calibri"/>
                      </a:endParaRPr>
                    </a:p>
                  </a:txBody>
                  <a:tcPr marT="27432" marB="27432" anchor="ctr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1500" b="0" i="0">
                          <a:solidFill>
                            <a:srgbClr val="222B36"/>
                          </a:solidFill>
                          <a:latin typeface="Calibri"/>
                        </a:rPr>
                        <a:t>il nodo che riceve e inoltra senza rete neurale: il costo fisso</a:t>
                      </a:r>
                      <a:endParaRPr sz="1500" b="0" i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T="27432" marB="27432" anchor="ctr">
                    <a:solidFill>
                      <a:srgbClr val="F4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4754880"/>
            <a:ext cx="1106424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 i="0">
                <a:solidFill>
                  <a:srgbClr val="222B36"/>
                </a:solidFill>
                <a:latin typeface="Calibri"/>
              </a:rPr>
              <a:t>Il </a:t>
            </a:r>
            <a:r>
              <a:rPr sz="1300" b="1" i="0">
                <a:solidFill>
                  <a:srgbClr val="222B36"/>
                </a:solidFill>
                <a:latin typeface="Calibri"/>
              </a:rPr>
              <a:t>nodo</a:t>
            </a:r>
            <a:r>
              <a:rPr sz="1300" b="0" i="0">
                <a:solidFill>
                  <a:srgbClr val="222B36"/>
                </a:solidFill>
                <a:latin typeface="Calibri"/>
              </a:rPr>
              <a:t> è il computer che riceve il pacchetto, esegue la rete neurale per scegliere da quale porta farlo uscire, e lo inoltra. Il processore ha tre tipi di core: </a:t>
            </a:r>
            <a:r>
              <a:rPr sz="1300" b="1" i="0">
                <a:solidFill>
                  <a:srgbClr val="222B36"/>
                </a:solidFill>
                <a:latin typeface="Calibri"/>
              </a:rPr>
              <a:t>P-core</a:t>
            </a:r>
            <a:r>
              <a:rPr sz="1300" b="0" i="0">
                <a:solidFill>
                  <a:srgbClr val="222B36"/>
                </a:solidFill>
                <a:latin typeface="Calibri"/>
              </a:rPr>
              <a:t> veloci, </a:t>
            </a:r>
            <a:r>
              <a:rPr sz="1300" b="1" i="0">
                <a:solidFill>
                  <a:srgbClr val="222B36"/>
                </a:solidFill>
                <a:latin typeface="Calibri"/>
              </a:rPr>
              <a:t>E-core</a:t>
            </a:r>
            <a:r>
              <a:rPr sz="1300" b="0" i="0">
                <a:solidFill>
                  <a:srgbClr val="222B36"/>
                </a:solidFill>
                <a:latin typeface="Calibri"/>
              </a:rPr>
              <a:t> efficienti, </a:t>
            </a:r>
            <a:r>
              <a:rPr sz="1300" b="1" i="0">
                <a:solidFill>
                  <a:srgbClr val="222B36"/>
                </a:solidFill>
                <a:latin typeface="Calibri"/>
              </a:rPr>
              <a:t>LP E-core</a:t>
            </a:r>
            <a:r>
              <a:rPr sz="1300" b="0" i="0">
                <a:solidFill>
                  <a:srgbClr val="222B36"/>
                </a:solidFill>
                <a:latin typeface="Calibri"/>
              </a:rPr>
              <a:t> a basso consumo.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5532120"/>
            <a:ext cx="11094415" cy="731520"/>
          </a:xfrm>
          <a:prstGeom prst="roundRect">
            <a:avLst>
              <a:gd name="adj" fmla="val 6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22960" y="5532120"/>
            <a:ext cx="10545775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700" b="0" i="0">
                <a:solidFill>
                  <a:srgbClr val="FFFFFF"/>
                </a:solidFill>
                <a:latin typeface="Calibri"/>
              </a:rPr>
              <a:t>Il </a:t>
            </a:r>
            <a:r>
              <a:rPr sz="1700" b="1" i="0">
                <a:solidFill>
                  <a:srgbClr val="FFFFFF"/>
                </a:solidFill>
                <a:latin typeface="Calibri"/>
              </a:rPr>
              <a:t>costo</a:t>
            </a:r>
            <a:r>
              <a:rPr sz="1700" b="0" i="0">
                <a:solidFill>
                  <a:srgbClr val="FFFFFF"/>
                </a:solidFill>
                <a:latin typeface="Calibri"/>
              </a:rPr>
              <a:t> di un pacchetto è il tempo di processore che serve per elaborarlo; 1 diviso quel tempo è la </a:t>
            </a:r>
            <a:r>
              <a:rPr sz="1700" b="1" i="0">
                <a:solidFill>
                  <a:srgbClr val="FFFFFF"/>
                </a:solidFill>
                <a:latin typeface="Calibri"/>
              </a:rPr>
              <a:t>capacità</a:t>
            </a:r>
            <a:r>
              <a:rPr sz="1700" b="0" i="0">
                <a:solidFill>
                  <a:srgbClr val="FFFFFF"/>
                </a:solidFill>
                <a:latin typeface="Calibri"/>
              </a:rPr>
              <a:t>, quanti pacchetti al secondo il nodo regge.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372</TotalTime>
  <Words>3473</Words>
  <Application>Microsoft Office PowerPoint</Application>
  <PresentationFormat>Widescreen</PresentationFormat>
  <Paragraphs>437</Paragraphs>
  <Slides>22</Slides>
  <Notes>1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4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22</vt:i4>
      </vt:variant>
    </vt:vector>
  </HeadingPairs>
  <TitlesOfParts>
    <vt:vector size="27" baseType="lpstr">
      <vt:lpstr>Aptos</vt:lpstr>
      <vt:lpstr>Arial</vt:lpstr>
      <vt:lpstr>Calibri</vt:lpstr>
      <vt:lpstr>Consolas</vt:lpstr>
      <vt:lpstr>Office Theme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Ettore Cantile</cp:lastModifiedBy>
  <cp:revision>1</cp:revision>
  <dcterms:created xsi:type="dcterms:W3CDTF">2013-01-27T09:14:16Z</dcterms:created>
  <dcterms:modified xsi:type="dcterms:W3CDTF">2026-09-25T15:18:16Z</dcterms:modified>
  <cp:category/>
</cp:coreProperties>
</file>