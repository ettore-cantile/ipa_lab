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5" r:id="rId20"/>
    <p:sldId id="276" r:id="rId21"/>
    <p:sldId id="277" r:id="rId22"/>
    <p:sldId id="278" r:id="rId23"/>
    <p:sldId id="279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84" y="10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ttore Cantile" userId="2f5e44afd0b03182" providerId="LiveId" clId="{E1385F0F-24B1-4705-8EF7-8D82C33CA9CE}"/>
    <pc:docChg chg="delSld">
      <pc:chgData name="Ettore Cantile" userId="2f5e44afd0b03182" providerId="LiveId" clId="{E1385F0F-24B1-4705-8EF7-8D82C33CA9CE}" dt="2026-09-23T14:04:40.049" v="1" actId="47"/>
      <pc:docMkLst>
        <pc:docMk/>
      </pc:docMkLst>
      <pc:sldChg chg="del">
        <pc:chgData name="Ettore Cantile" userId="2f5e44afd0b03182" providerId="LiveId" clId="{E1385F0F-24B1-4705-8EF7-8D82C33CA9CE}" dt="2026-09-23T14:04:15.896" v="0" actId="47"/>
        <pc:sldMkLst>
          <pc:docMk/>
          <pc:sldMk cId="0" sldId="274"/>
        </pc:sldMkLst>
      </pc:sldChg>
      <pc:sldChg chg="del">
        <pc:chgData name="Ettore Cantile" userId="2f5e44afd0b03182" providerId="LiveId" clId="{E1385F0F-24B1-4705-8EF7-8D82C33CA9CE}" dt="2026-09-23T14:04:40.049" v="1" actId="47"/>
        <pc:sldMkLst>
          <pc:docMk/>
          <pc:sldMk cId="0" sldId="280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9AA5B1"/>
              </a:solidFill>
            </c:spPr>
            <c:extLst>
              <c:ext xmlns:c16="http://schemas.microsoft.com/office/drawing/2014/chart" uri="{C3380CC4-5D6E-409C-BE32-E72D297353CC}">
                <c16:uniqueId val="{00000001-B2EE-41DF-BD52-DB8D95671A71}"/>
              </c:ext>
            </c:extLst>
          </c:dPt>
          <c:dPt>
            <c:idx val="1"/>
            <c:invertIfNegative val="1"/>
            <c:bubble3D val="0"/>
            <c:spPr>
              <a:solidFill>
                <a:srgbClr val="C8551E"/>
              </a:solidFill>
            </c:spPr>
            <c:extLst>
              <c:ext xmlns:c16="http://schemas.microsoft.com/office/drawing/2014/chart" uri="{C3380CC4-5D6E-409C-BE32-E72D297353CC}">
                <c16:uniqueId val="{00000003-B2EE-41DF-BD52-DB8D95671A71}"/>
              </c:ext>
            </c:extLst>
          </c:dPt>
          <c:dPt>
            <c:idx val="2"/>
            <c:invertIfNegative val="1"/>
            <c:bubble3D val="0"/>
            <c:spPr>
              <a:solidFill>
                <a:srgbClr val="F09A3E"/>
              </a:solidFill>
            </c:spPr>
            <c:extLst>
              <c:ext xmlns:c16="http://schemas.microsoft.com/office/drawing/2014/chart" uri="{C3380CC4-5D6E-409C-BE32-E72D297353CC}">
                <c16:uniqueId val="{00000005-B2EE-41DF-BD52-DB8D95671A71}"/>
              </c:ext>
            </c:extLst>
          </c:dPt>
          <c:dPt>
            <c:idx val="3"/>
            <c:invertIfNegative val="1"/>
            <c:bubble3D val="0"/>
            <c:spPr>
              <a:solidFill>
                <a:srgbClr val="2E9C8F"/>
              </a:solidFill>
            </c:spPr>
            <c:extLst>
              <c:ext xmlns:c16="http://schemas.microsoft.com/office/drawing/2014/chart" uri="{C3380CC4-5D6E-409C-BE32-E72D297353CC}">
                <c16:uniqueId val="{00000007-B2EE-41DF-BD52-DB8D95671A71}"/>
              </c:ext>
            </c:extLst>
          </c:dPt>
          <c:dPt>
            <c:idx val="4"/>
            <c:invertIfNegative val="1"/>
            <c:bubble3D val="0"/>
            <c:spPr>
              <a:solidFill>
                <a:srgbClr val="1F5F8B"/>
              </a:solidFill>
            </c:spPr>
            <c:extLst>
              <c:ext xmlns:c16="http://schemas.microsoft.com/office/drawing/2014/chart" uri="{C3380CC4-5D6E-409C-BE32-E72D297353CC}">
                <c16:uniqueId val="{00000009-B2EE-41DF-BD52-DB8D95671A71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17</c:v>
                </c:pt>
                <c:pt idx="1">
                  <c:v>36</c:v>
                </c:pt>
                <c:pt idx="2">
                  <c:v>42</c:v>
                </c:pt>
                <c:pt idx="3">
                  <c:v>173</c:v>
                </c:pt>
                <c:pt idx="4">
                  <c:v>258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A-B2EE-41DF-BD52-DB8D95671A7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ms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dPt>
            <c:idx val="0"/>
            <c:invertIfNegative val="1"/>
            <c:bubble3D val="0"/>
            <c:spPr>
              <a:solidFill>
                <a:srgbClr val="C0443C"/>
              </a:solidFill>
            </c:spPr>
            <c:extLst>
              <c:ext xmlns:c16="http://schemas.microsoft.com/office/drawing/2014/chart" uri="{C3380CC4-5D6E-409C-BE32-E72D297353CC}">
                <c16:uniqueId val="{00000001-22A5-49AE-B3BE-8258F9514AF6}"/>
              </c:ext>
            </c:extLst>
          </c:dPt>
          <c:dPt>
            <c:idx val="1"/>
            <c:invertIfNegative val="1"/>
            <c:bubble3D val="0"/>
            <c:spPr>
              <a:solidFill>
                <a:srgbClr val="F2B134"/>
              </a:solidFill>
            </c:spPr>
            <c:extLst>
              <c:ext xmlns:c16="http://schemas.microsoft.com/office/drawing/2014/chart" uri="{C3380CC4-5D6E-409C-BE32-E72D297353CC}">
                <c16:uniqueId val="{00000003-22A5-49AE-B3BE-8258F9514AF6}"/>
              </c:ext>
            </c:extLst>
          </c:dPt>
          <c:dPt>
            <c:idx val="2"/>
            <c:invertIfNegative val="1"/>
            <c:bubble3D val="0"/>
            <c:spPr>
              <a:solidFill>
                <a:srgbClr val="E07A2D"/>
              </a:solidFill>
            </c:spPr>
            <c:extLst>
              <c:ext xmlns:c16="http://schemas.microsoft.com/office/drawing/2014/chart" uri="{C3380CC4-5D6E-409C-BE32-E72D297353CC}">
                <c16:uniqueId val="{00000005-22A5-49AE-B3BE-8258F9514AF6}"/>
              </c:ext>
            </c:extLst>
          </c:dPt>
          <c:dPt>
            <c:idx val="3"/>
            <c:invertIfNegative val="1"/>
            <c:bubble3D val="0"/>
            <c:spPr>
              <a:solidFill>
                <a:srgbClr val="2E9C6E"/>
              </a:solidFill>
            </c:spPr>
            <c:extLst>
              <c:ext xmlns:c16="http://schemas.microsoft.com/office/drawing/2014/chart" uri="{C3380CC4-5D6E-409C-BE32-E72D297353CC}">
                <c16:uniqueId val="{00000007-22A5-49AE-B3BE-8258F9514AF6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P1 con BCC
(compila sul nodo)</c:v>
                </c:pt>
                <c:pt idx="1">
                  <c:v>P1 AOT: genera,
compila e carica</c:v>
                </c:pt>
                <c:pt idx="2">
                  <c:v>P1 AOT:
carica sul nodo</c:v>
                </c:pt>
                <c:pt idx="3">
                  <c:v>P2 / P3:
scrive la tabella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741</c:v>
                </c:pt>
                <c:pt idx="1">
                  <c:v>90</c:v>
                </c:pt>
                <c:pt idx="2">
                  <c:v>6</c:v>
                </c:pt>
                <c:pt idx="3">
                  <c:v>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8-22A5-49AE-B3BE-8258F9514AF6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logBase val="10"/>
          <c:orientation val="minMax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millisecondi (scala log)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39</c:v>
                </c:pt>
                <c:pt idx="2">
                  <c:v>37</c:v>
                </c:pt>
                <c:pt idx="3">
                  <c:v>32</c:v>
                </c:pt>
                <c:pt idx="4">
                  <c:v>37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A774-4ADD-9089-DB4FCCB865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39</c:v>
                </c:pt>
                <c:pt idx="1">
                  <c:v>43</c:v>
                </c:pt>
                <c:pt idx="2">
                  <c:v>48</c:v>
                </c:pt>
                <c:pt idx="3">
                  <c:v>38</c:v>
                </c:pt>
                <c:pt idx="4">
                  <c:v>44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774-4ADD-9089-DB4FCCB865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156</c:v>
                </c:pt>
                <c:pt idx="1">
                  <c:v>156</c:v>
                </c:pt>
                <c:pt idx="2">
                  <c:v>168</c:v>
                </c:pt>
                <c:pt idx="3">
                  <c:v>153</c:v>
                </c:pt>
                <c:pt idx="4">
                  <c:v>152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774-4ADD-9089-DB4FCCB865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10</c:v>
                </c:pt>
                <c:pt idx="1">
                  <c:v>25</c:v>
                </c:pt>
                <c:pt idx="2">
                  <c:v>52</c:v>
                </c:pt>
                <c:pt idx="3">
                  <c:v>75</c:v>
                </c:pt>
                <c:pt idx="4">
                  <c:v>100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255</c:v>
                </c:pt>
                <c:pt idx="1">
                  <c:v>265</c:v>
                </c:pt>
                <c:pt idx="2">
                  <c:v>272</c:v>
                </c:pt>
                <c:pt idx="3">
                  <c:v>259</c:v>
                </c:pt>
                <c:pt idx="4">
                  <c:v>264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774-4ADD-9089-DB4FCCB865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nodi della rete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24</c:v>
                </c:pt>
                <c:pt idx="1">
                  <c:v>35</c:v>
                </c:pt>
                <c:pt idx="2">
                  <c:v>49</c:v>
                </c:pt>
                <c:pt idx="3">
                  <c:v>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B40-40F4-8AE4-87AB3DBEE2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39</c:v>
                </c:pt>
                <c:pt idx="1">
                  <c:v>41</c:v>
                </c:pt>
                <c:pt idx="2">
                  <c:v>49</c:v>
                </c:pt>
                <c:pt idx="3">
                  <c:v>63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B40-40F4-8AE4-87AB3DBEE21D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153</c:v>
                </c:pt>
                <c:pt idx="1">
                  <c:v>159</c:v>
                </c:pt>
                <c:pt idx="2">
                  <c:v>163</c:v>
                </c:pt>
                <c:pt idx="3">
                  <c:v>172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B40-40F4-8AE4-87AB3DBEE21D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Sheet1!$A$2:$A$5</c:f>
              <c:strCache>
                <c:ptCount val="4"/>
                <c:pt idx="0">
                  <c:v>2</c:v>
                </c:pt>
                <c:pt idx="1">
                  <c:v>4</c:v>
                </c:pt>
                <c:pt idx="2">
                  <c:v>6</c:v>
                </c:pt>
                <c:pt idx="3">
                  <c:v>8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239</c:v>
                </c:pt>
                <c:pt idx="1">
                  <c:v>255</c:v>
                </c:pt>
                <c:pt idx="2">
                  <c:v>286</c:v>
                </c:pt>
                <c:pt idx="3">
                  <c:v>298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CB40-40F4-8AE4-87AB3DBEE21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neuroni per strato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P2</c:v>
                </c:pt>
              </c:strCache>
            </c:strRef>
          </c:tx>
          <c:spPr>
            <a:solidFill>
              <a:srgbClr val="2E9C8F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14668</c:v>
                </c:pt>
                <c:pt idx="1">
                  <c:v>14985</c:v>
                </c:pt>
                <c:pt idx="2">
                  <c:v>16663</c:v>
                </c:pt>
                <c:pt idx="3">
                  <c:v>16867</c:v>
                </c:pt>
                <c:pt idx="4">
                  <c:v>17828</c:v>
                </c:pt>
                <c:pt idx="5">
                  <c:v>18801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ADE-4412-B047-C29A6E8602E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P3</c:v>
                </c:pt>
              </c:strCache>
            </c:strRef>
          </c:tx>
          <c:spPr>
            <a:solidFill>
              <a:srgbClr val="1F5F8B"/>
            </a:solidFill>
            <a:ln>
              <a:noFill/>
            </a:ln>
          </c:spPr>
          <c:invertIfNegative val="1"/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12349</c:v>
                </c:pt>
                <c:pt idx="1">
                  <c:v>12349</c:v>
                </c:pt>
                <c:pt idx="2">
                  <c:v>12349</c:v>
                </c:pt>
                <c:pt idx="3">
                  <c:v>12349</c:v>
                </c:pt>
                <c:pt idx="4">
                  <c:v>12349</c:v>
                </c:pt>
                <c:pt idx="5">
                  <c:v>12349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ADE-4412-B047-C29A6E8602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istruzioni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</c:v>
                </c:pt>
                <c:pt idx="1">
                  <c:v>35</c:v>
                </c:pt>
                <c:pt idx="2">
                  <c:v>46</c:v>
                </c:pt>
                <c:pt idx="3">
                  <c:v>44</c:v>
                </c:pt>
                <c:pt idx="4">
                  <c:v>45</c:v>
                </c:pt>
                <c:pt idx="5">
                  <c:v>49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E24-4E76-9C4E-D1065665183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</c:v>
                </c:pt>
                <c:pt idx="1">
                  <c:v>43</c:v>
                </c:pt>
                <c:pt idx="2">
                  <c:v>46</c:v>
                </c:pt>
                <c:pt idx="3">
                  <c:v>47</c:v>
                </c:pt>
                <c:pt idx="4">
                  <c:v>50</c:v>
                </c:pt>
                <c:pt idx="5">
                  <c:v>52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E24-4E76-9C4E-D1065665183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142</c:v>
                </c:pt>
                <c:pt idx="1">
                  <c:v>162</c:v>
                </c:pt>
                <c:pt idx="2">
                  <c:v>176</c:v>
                </c:pt>
                <c:pt idx="3">
                  <c:v>197</c:v>
                </c:pt>
                <c:pt idx="4">
                  <c:v>229</c:v>
                </c:pt>
                <c:pt idx="5">
                  <c:v>278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E24-4E76-9C4E-D1065665183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204</c:v>
                </c:pt>
                <c:pt idx="1">
                  <c:v>254</c:v>
                </c:pt>
                <c:pt idx="2">
                  <c:v>292</c:v>
                </c:pt>
                <c:pt idx="3">
                  <c:v>323</c:v>
                </c:pt>
                <c:pt idx="4">
                  <c:v>398</c:v>
                </c:pt>
                <c:pt idx="5">
                  <c:v>413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E24-4E76-9C4E-D1065665183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nascosti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48</c:v>
                </c:pt>
                <c:pt idx="1">
                  <c:v>49</c:v>
                </c:pt>
                <c:pt idx="2">
                  <c:v>41</c:v>
                </c:pt>
                <c:pt idx="3">
                  <c:v>53</c:v>
                </c:pt>
                <c:pt idx="4">
                  <c:v>59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2FE9-4682-94BD-8EF69DD99E8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54</c:v>
                </c:pt>
                <c:pt idx="1">
                  <c:v>52</c:v>
                </c:pt>
                <c:pt idx="2">
                  <c:v>51</c:v>
                </c:pt>
                <c:pt idx="3">
                  <c:v>62</c:v>
                </c:pt>
                <c:pt idx="4">
                  <c:v>54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FE9-4682-94BD-8EF69DD99E8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138</c:v>
                </c:pt>
                <c:pt idx="1">
                  <c:v>166</c:v>
                </c:pt>
                <c:pt idx="2">
                  <c:v>175</c:v>
                </c:pt>
                <c:pt idx="3">
                  <c:v>230</c:v>
                </c:pt>
                <c:pt idx="4">
                  <c:v>235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2FE9-4682-94BD-8EF69DD99E8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232</c:v>
                </c:pt>
                <c:pt idx="1">
                  <c:v>275</c:v>
                </c:pt>
                <c:pt idx="2">
                  <c:v>288</c:v>
                </c:pt>
                <c:pt idx="3">
                  <c:v>368</c:v>
                </c:pt>
                <c:pt idx="4">
                  <c:v>406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2FE9-4682-94BD-8EF69DD99E8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strati (a pesi costanti)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45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P1 statica</c:v>
                </c:pt>
              </c:strCache>
            </c:strRef>
          </c:tx>
          <c:spPr>
            <a:ln w="34925">
              <a:solidFill>
                <a:srgbClr val="C8551E"/>
              </a:solidFill>
            </a:ln>
          </c:spPr>
          <c:marker>
            <c:symbol val="circle"/>
            <c:size val="8"/>
            <c:spPr>
              <a:solidFill>
                <a:srgbClr val="C8551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35</c:v>
                </c:pt>
                <c:pt idx="1">
                  <c:v>29</c:v>
                </c:pt>
                <c:pt idx="2">
                  <c:v>25</c:v>
                </c:pt>
                <c:pt idx="3">
                  <c:v>20</c:v>
                </c:pt>
                <c:pt idx="4">
                  <c:v>18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63E1-43F5-8DA6-A90A1BC77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P1.5</c:v>
                </c:pt>
              </c:strCache>
            </c:strRef>
          </c:tx>
          <c:spPr>
            <a:ln w="34925">
              <a:solidFill>
                <a:srgbClr val="F09A3E"/>
              </a:solidFill>
            </a:ln>
          </c:spPr>
          <c:marker>
            <c:symbol val="circle"/>
            <c:size val="8"/>
            <c:spPr>
              <a:solidFill>
                <a:srgbClr val="F09A3E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45</c:v>
                </c:pt>
                <c:pt idx="1">
                  <c:v>42</c:v>
                </c:pt>
                <c:pt idx="2">
                  <c:v>30</c:v>
                </c:pt>
                <c:pt idx="3">
                  <c:v>29</c:v>
                </c:pt>
                <c:pt idx="4">
                  <c:v>23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63E1-43F5-8DA6-A90A1BC77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P2</c:v>
                </c:pt>
              </c:strCache>
            </c:strRef>
          </c:tx>
          <c:spPr>
            <a:ln w="34925">
              <a:solidFill>
                <a:srgbClr val="2E9C8F"/>
              </a:solidFill>
            </a:ln>
          </c:spPr>
          <c:marker>
            <c:symbol val="circle"/>
            <c:size val="8"/>
            <c:spPr>
              <a:solidFill>
                <a:srgbClr val="2E9C8F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163</c:v>
                </c:pt>
                <c:pt idx="1">
                  <c:v>156</c:v>
                </c:pt>
                <c:pt idx="2">
                  <c:v>156</c:v>
                </c:pt>
                <c:pt idx="3">
                  <c:v>158</c:v>
                </c:pt>
                <c:pt idx="4">
                  <c:v>164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63E1-43F5-8DA6-A90A1BC77E9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P3</c:v>
                </c:pt>
              </c:strCache>
            </c:strRef>
          </c:tx>
          <c:spPr>
            <a:ln w="34925">
              <a:solidFill>
                <a:srgbClr val="1F5F8B"/>
              </a:solidFill>
            </a:ln>
          </c:spPr>
          <c:marker>
            <c:symbol val="circle"/>
            <c:size val="8"/>
            <c:spPr>
              <a:solidFill>
                <a:srgbClr val="1F5F8B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Sheet1!$A$2:$A$6</c:f>
              <c:strCache>
                <c:ptCount val="5"/>
                <c:pt idx="0">
                  <c:v>0 %</c:v>
                </c:pt>
                <c:pt idx="1">
                  <c:v>25 %</c:v>
                </c:pt>
                <c:pt idx="2">
                  <c:v>50 %</c:v>
                </c:pt>
                <c:pt idx="3">
                  <c:v>75 %</c:v>
                </c:pt>
                <c:pt idx="4">
                  <c:v>90 %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264</c:v>
                </c:pt>
                <c:pt idx="1">
                  <c:v>266</c:v>
                </c:pt>
                <c:pt idx="2">
                  <c:v>248</c:v>
                </c:pt>
                <c:pt idx="3">
                  <c:v>251</c:v>
                </c:pt>
                <c:pt idx="4">
                  <c:v>242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63E1-43F5-8DA6-A90A1BC77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it-IT" sz="1200" b="0">
                    <a:solidFill>
                      <a:srgbClr val="6B7C93"/>
                    </a:solidFill>
                    <a:latin typeface="Calibri"/>
                  </a:rPr>
                  <a:t>pesi uguali a zero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3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2118791784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0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ricevere il frame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52</c:v>
                </c:pt>
                <c:pt idx="1">
                  <c:v>52</c:v>
                </c:pt>
                <c:pt idx="2">
                  <c:v>52</c:v>
                </c:pt>
                <c:pt idx="3">
                  <c:v>52</c:v>
                </c:pt>
                <c:pt idx="4">
                  <c:v>52</c:v>
                </c:pt>
                <c:pt idx="5">
                  <c:v>52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529-44DC-BF74-5732F5E01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parse, TTL, redirect, accodamento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0</c:v>
                </c:pt>
                <c:pt idx="1">
                  <c:v>65</c:v>
                </c:pt>
                <c:pt idx="2">
                  <c:v>65</c:v>
                </c:pt>
                <c:pt idx="3">
                  <c:v>65</c:v>
                </c:pt>
                <c:pt idx="4">
                  <c:v>65</c:v>
                </c:pt>
                <c:pt idx="5">
                  <c:v>65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529-44DC-BF74-5732F5E01C9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rete neurale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;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solo ricezione</c:v>
                </c:pt>
                <c:pt idx="1">
                  <c:v>baseline</c:v>
                </c:pt>
                <c:pt idx="2">
                  <c:v>P1 statica</c:v>
                </c:pt>
                <c:pt idx="3">
                  <c:v>P1.5</c:v>
                </c:pt>
                <c:pt idx="4">
                  <c:v>P2</c:v>
                </c:pt>
                <c:pt idx="5">
                  <c:v>P3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53</c:v>
                </c:pt>
                <c:pt idx="3">
                  <c:v>51</c:v>
                </c:pt>
                <c:pt idx="4">
                  <c:v>218</c:v>
                </c:pt>
                <c:pt idx="5">
                  <c:v>376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3529-44DC-BF74-5732F5E01C9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0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bar"/>
        <c:grouping val="stack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il programma (T2−T1)</c:v>
                </c:pt>
              </c:strCache>
            </c:strRef>
          </c:tx>
          <c:spPr>
            <a:solidFill>
              <a:srgbClr val="E07A2D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</c:v>
                </c:pt>
                <c:pt idx="1">
                  <c:v>50</c:v>
                </c:pt>
                <c:pt idx="2">
                  <c:v>57</c:v>
                </c:pt>
                <c:pt idx="3">
                  <c:v>183</c:v>
                </c:pt>
                <c:pt idx="4">
                  <c:v>271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3232-4638-86FE-31F41BC7383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il resto del costo del nodo</c:v>
                </c:pt>
              </c:strCache>
            </c:strRef>
          </c:tx>
          <c:spPr>
            <a:solidFill>
              <a:srgbClr val="B8C4D3"/>
            </a:solidFill>
            <a:ln>
              <a:noFill/>
            </a:ln>
          </c:spPr>
          <c:invertIfNegative val="1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>
                    <a:solidFill>
                      <a:srgbClr val="222B36"/>
                    </a:solidFill>
                    <a:latin typeface="Calibri"/>
                  </a:defRPr>
                </a:pPr>
                <a:endParaRPr lang="it-IT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90</c:v>
                </c:pt>
                <c:pt idx="1">
                  <c:v>120</c:v>
                </c:pt>
                <c:pt idx="2">
                  <c:v>111</c:v>
                </c:pt>
                <c:pt idx="3">
                  <c:v>152</c:v>
                </c:pt>
                <c:pt idx="4">
                  <c:v>222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3232-4638-86FE-31F41BC7383B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t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2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64 byte</c:v>
                </c:pt>
              </c:strCache>
            </c:strRef>
          </c:tx>
          <c:spPr>
            <a:solidFill>
              <a:srgbClr val="B8C9D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121</c:v>
                </c:pt>
                <c:pt idx="1">
                  <c:v>169</c:v>
                </c:pt>
                <c:pt idx="2">
                  <c:v>171</c:v>
                </c:pt>
                <c:pt idx="3">
                  <c:v>347</c:v>
                </c:pt>
                <c:pt idx="4">
                  <c:v>497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F42E-472E-934F-5CC29ED7A81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512 byte</c:v>
                </c:pt>
              </c:strCache>
            </c:strRef>
          </c:tx>
          <c:spPr>
            <a:solidFill>
              <a:srgbClr val="6E8FB3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122</c:v>
                </c:pt>
                <c:pt idx="1">
                  <c:v>171</c:v>
                </c:pt>
                <c:pt idx="2">
                  <c:v>176</c:v>
                </c:pt>
                <c:pt idx="3">
                  <c:v>345</c:v>
                </c:pt>
                <c:pt idx="4">
                  <c:v>520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F42E-472E-934F-5CC29ED7A81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1514 byte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123</c:v>
                </c:pt>
                <c:pt idx="1">
                  <c:v>169</c:v>
                </c:pt>
                <c:pt idx="2">
                  <c:v>177</c:v>
                </c:pt>
                <c:pt idx="3">
                  <c:v>348</c:v>
                </c:pt>
                <c:pt idx="4">
                  <c:v>512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F42E-472E-934F-5CC29ED7A81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1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it-IT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classe 0</c:v>
                </c:pt>
              </c:strCache>
            </c:strRef>
          </c:tx>
          <c:spPr>
            <a:solidFill>
              <a:srgbClr val="D0DBE7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122</c:v>
                </c:pt>
                <c:pt idx="1">
                  <c:v>165</c:v>
                </c:pt>
                <c:pt idx="2">
                  <c:v>169</c:v>
                </c:pt>
                <c:pt idx="3">
                  <c:v>312</c:v>
                </c:pt>
                <c:pt idx="4">
                  <c:v>466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0-DCC1-41C3-B47A-44DD6F14CF9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classe 1</c:v>
                </c:pt>
              </c:strCache>
            </c:strRef>
          </c:tx>
          <c:spPr>
            <a:solidFill>
              <a:srgbClr val="ADC1D6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132</c:v>
                </c:pt>
                <c:pt idx="1">
                  <c:v>171</c:v>
                </c:pt>
                <c:pt idx="2">
                  <c:v>173</c:v>
                </c:pt>
                <c:pt idx="3">
                  <c:v>307</c:v>
                </c:pt>
                <c:pt idx="4">
                  <c:v>502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1-DCC1-41C3-B47A-44DD6F14CF9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classe 2</c:v>
                </c:pt>
              </c:strCache>
            </c:strRef>
          </c:tx>
          <c:spPr>
            <a:solidFill>
              <a:srgbClr val="8AA6C4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147</c:v>
                </c:pt>
                <c:pt idx="1">
                  <c:v>169</c:v>
                </c:pt>
                <c:pt idx="2">
                  <c:v>175</c:v>
                </c:pt>
                <c:pt idx="3">
                  <c:v>314</c:v>
                </c:pt>
                <c:pt idx="4">
                  <c:v>485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2-DCC1-41C3-B47A-44DD6F14CF9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classe 3</c:v>
                </c:pt>
              </c:strCache>
            </c:strRef>
          </c:tx>
          <c:spPr>
            <a:solidFill>
              <a:srgbClr val="5F82A8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117</c:v>
                </c:pt>
                <c:pt idx="1">
                  <c:v>175</c:v>
                </c:pt>
                <c:pt idx="2">
                  <c:v>168</c:v>
                </c:pt>
                <c:pt idx="3">
                  <c:v>311</c:v>
                </c:pt>
                <c:pt idx="4">
                  <c:v>491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3-DCC1-41C3-B47A-44DD6F14CF9B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classe 4</c:v>
                </c:pt>
              </c:strCache>
            </c:strRef>
          </c:tx>
          <c:spPr>
            <a:solidFill>
              <a:srgbClr val="1F3A5F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Sheet1!$F$2:$F$6</c:f>
              <c:numCache>
                <c:formatCode>General</c:formatCode>
                <c:ptCount val="5"/>
                <c:pt idx="0">
                  <c:v>124</c:v>
                </c:pt>
                <c:pt idx="1">
                  <c:v>176</c:v>
                </c:pt>
                <c:pt idx="2">
                  <c:v>177</c:v>
                </c:pt>
                <c:pt idx="3">
                  <c:v>325</c:v>
                </c:pt>
                <c:pt idx="4">
                  <c:v>525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DCC1-41C3-B47A-44DD6F14CF9B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scarta</c:v>
                </c:pt>
              </c:strCache>
            </c:strRef>
          </c:tx>
          <c:spPr>
            <a:solidFill>
              <a:srgbClr val="C0443C"/>
            </a:solidFill>
            <a:ln>
              <a:noFill/>
            </a:ln>
          </c:spPr>
          <c:invertIfNegative val="1"/>
          <c:cat>
            <c:strRef>
              <c:f>Sheet1!$A$2:$A$6</c:f>
              <c:strCache>
                <c:ptCount val="5"/>
                <c:pt idx="0">
                  <c:v>baseline</c:v>
                </c:pt>
                <c:pt idx="1">
                  <c:v>P1 statica</c:v>
                </c:pt>
                <c:pt idx="2">
                  <c:v>P1.5</c:v>
                </c:pt>
                <c:pt idx="3">
                  <c:v>P2</c:v>
                </c:pt>
                <c:pt idx="4">
                  <c:v>P3</c:v>
                </c:pt>
              </c:strCache>
            </c:strRef>
          </c:cat>
          <c:val>
            <c:numRef>
              <c:f>Sheet1!$G$2:$G$6</c:f>
              <c:numCache>
                <c:formatCode>General</c:formatCode>
                <c:ptCount val="5"/>
                <c:pt idx="0">
                  <c:v>121</c:v>
                </c:pt>
                <c:pt idx="1">
                  <c:v>170</c:v>
                </c:pt>
                <c:pt idx="2">
                  <c:v>182</c:v>
                </c:pt>
                <c:pt idx="3">
                  <c:v>284</c:v>
                </c:pt>
                <c:pt idx="4">
                  <c:v>442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5-DCC1-41C3-B47A-44DD6F14CF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4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2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600"/>
          <c:min val="0"/>
        </c:scaling>
        <c:delete val="0"/>
        <c:axPos val="l"/>
        <c:majorGridlines>
          <c:spPr>
            <a:ln>
              <a:solidFill>
                <a:srgbClr val="E6EAEF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it-IT" sz="1100" b="0">
                    <a:solidFill>
                      <a:srgbClr val="6B7C93"/>
                    </a:solidFill>
                    <a:latin typeface="Calibri"/>
                  </a:rPr>
                  <a:t>ns per pacchetto</a:t>
                </a:r>
              </a:p>
            </c:rich>
          </c:tx>
          <c:overlay val="0"/>
        </c:title>
        <c:numFmt formatCode="#,##0" sourceLinked="0"/>
        <c:majorTickMark val="out"/>
        <c:minorTickMark val="none"/>
        <c:tickLblPos val="nextTo"/>
        <c:spPr>
          <a:ln>
            <a:solidFill>
              <a:srgbClr val="D5DBE3"/>
            </a:solidFill>
          </a:ln>
        </c:spPr>
        <c:txPr>
          <a:bodyPr/>
          <a:lstStyle/>
          <a:p>
            <a:pPr>
              <a:defRPr sz="1100">
                <a:solidFill>
                  <a:srgbClr val="6B7C93"/>
                </a:solidFill>
                <a:latin typeface="Calibri"/>
              </a:defRPr>
            </a:pPr>
            <a:endParaRPr lang="it-IT"/>
          </a:p>
        </c:txPr>
        <c:crossAx val="-2068027336"/>
        <c:crosses val="autoZero"/>
        <c:crossBetween val="between"/>
      </c:valAx>
    </c:plotArea>
    <c:legend>
      <c:legendPos val="t"/>
      <c:overlay val="0"/>
      <c:txPr>
        <a:bodyPr/>
        <a:lstStyle/>
        <a:p>
          <a:pPr>
            <a:defRPr sz="1000">
              <a:solidFill>
                <a:srgbClr val="222B36"/>
              </a:solidFill>
            </a:defRPr>
          </a:pPr>
          <a:endParaRPr lang="it-IT"/>
        </a:p>
      </c:txPr>
    </c:legend>
    <c:plotVisOnly val="1"/>
    <c:dispBlanksAs val="gap"/>
    <c:showDLblsOverMax val="1"/>
  </c:chart>
  <c:txPr>
    <a:bodyPr/>
    <a:lstStyle/>
    <a:p>
      <a:pPr>
        <a:defRPr sz="1100">
          <a:latin typeface="Calibri"/>
        </a:defRPr>
      </a:pPr>
      <a:endParaRPr lang="it-IT"/>
    </a:p>
  </c:txPr>
  <c:externalData r:id="rId1">
    <c:autoUpdate val="0"/>
  </c:externalData>
</c:chartSpac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8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2.xml"/><Relationship Id="rId2" Type="http://schemas.openxmlformats.org/officeDocument/2006/relationships/chart" Target="../charts/chart11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F2B134"/>
                </a:solidFill>
                <a:latin typeface="Calibri"/>
              </a:rPr>
              <a:t>TESI  ·  EBPF / XDP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103327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Inferenza di una rete neurale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4600" b="1" i="0">
                <a:solidFill>
                  <a:srgbClr val="FFFFFF"/>
                </a:solidFill>
                <a:latin typeface="Calibri"/>
              </a:rPr>
              <a:t>nel kernel Linux con eBPF/XDP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96012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0" i="0">
                <a:solidFill>
                  <a:srgbClr val="D6DEE9"/>
                </a:solidFill>
                <a:latin typeface="Calibri"/>
              </a:rPr>
              <a:t>Quattro versioni della stessa rete, da completamente compilata a completamente configurabile. Quanto costa, per ogni pacchetto, spostare le decisioni dalla compilazione all'esecuzione?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892040"/>
            <a:ext cx="2011680" cy="457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914400" y="5120640"/>
            <a:ext cx="7315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Ettore Cantile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FFFFFF"/>
                </a:solidFill>
                <a:latin typeface="Calibri"/>
              </a:rPr>
              <a:t>settembre 2026  ·  misure aggiornate al 23 settembre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Decidere dove mandare un pacchetto, prima che entri nel sistema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Il kernel accetta il programma solo dopo averlo verificato: niente cicli illimitati, niente memoria arbitraria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222B36"/>
                </a:solidFill>
                <a:latin typeface="Calibri"/>
              </a:rPr>
              <a:t>XDP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è il primo punto in cui il kernel vede un pacchetto: prima dello stack di rete, prima di qualunque allocazione. Lì eseguiamo una piccola rete neurale (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319 pesi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), e la decisione nasce in quel punto.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Oval 8"/>
          <p:cNvSpPr/>
          <p:nvPr/>
        </p:nvSpPr>
        <p:spPr>
          <a:xfrm>
            <a:off x="731520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Arriva il pacchetto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XDP lo intercetta appena la scheda lo riceve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633472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2779776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2962656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62656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Legge le feature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62656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stato dei collegamenti, porta d'ingresso, TTL, identità del nodo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864608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5010912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193792" y="2788920"/>
            <a:ext cx="566928" cy="56692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93792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La rete calcola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93792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solo numeri interi: nel kernel non c'è la virgola mobile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095744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242048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7424928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24928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Esce una classe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24928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numero, che da solo non significa niente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9326880" y="3566160"/>
            <a:ext cx="164592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9473184" y="2606040"/>
            <a:ext cx="2103120" cy="23317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Oval 28"/>
          <p:cNvSpPr/>
          <p:nvPr/>
        </p:nvSpPr>
        <p:spPr>
          <a:xfrm>
            <a:off x="9656064" y="2788920"/>
            <a:ext cx="566928" cy="566928"/>
          </a:xfrm>
          <a:prstGeom prst="ellipse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56064" y="3520440"/>
            <a:ext cx="17830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Azione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6064" y="3931920"/>
            <a:ext cx="178308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configurazione traduce la classe in una porta, oppure in «scarta»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094415" cy="100584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22960" y="5166360"/>
            <a:ext cx="10545775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Tutto questo deve stare in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qualche centinaio di nanosecondi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, una volta per ogni pacchetto. La domanda della tesi: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quanto del programma posso lasciare configurabile, prima che il costo diventi inaccettabile?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CHIAVE DI TUTTA LA PRESENTAZIONE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Quattro versioni, che cambiano per una cosa sola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Arancione = già noto quando si compila  ·  verde = letto mentre il nodo gira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Tutte e quattro calcolano la stessa rete e prendono la stessa decisione. Cambia solo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quanto sanno già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quando vengono compilate.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2148840"/>
          <a:ext cx="11064236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95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967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17502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0762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Nodo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Porte del nodo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 della rete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Profondità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 ·  p1_static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compilato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compilabili *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  ·  hardcoded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compilati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  ·  template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entro limiti fissi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compilata</a:t>
                      </a:r>
                    </a:p>
                  </a:txBody>
                  <a:tcPr marT="27432" marB="27432" anchor="ctr">
                    <a:solidFill>
                      <a:srgbClr val="E07A2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  ·  modular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tutte previste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FFFFFF"/>
                          </a:solidFill>
                          <a:latin typeface="Calibri"/>
                        </a:rPr>
                        <a:t>da tabella</a:t>
                      </a:r>
                    </a:p>
                  </a:txBody>
                  <a:tcPr marT="27432" marB="27432" anchor="ctr">
                    <a:solidFill>
                      <a:srgbClr val="2E9C6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754880"/>
            <a:ext cx="1106424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 i="0">
                <a:solidFill>
                  <a:srgbClr val="222B36"/>
                </a:solidFill>
                <a:latin typeface="Calibri"/>
              </a:rPr>
              <a:t>*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 Solo P1 statica può congelare anche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quali interfacce il nodo ha davvero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: le colonne dei collegamenti che non esistono non vengono generate (se un link è su o giù resta letto a runtime). Serve il nodo congelato, perché le porte dipendono da quale nodo si è. Nelle misure è usato solo nell'asse «porte presenti»; altrove P1 statica congela </a:t>
            </a:r>
            <a:r>
              <a:rPr sz="1300" b="1" i="0">
                <a:solidFill>
                  <a:srgbClr val="222B36"/>
                </a:solidFill>
                <a:latin typeface="Calibri"/>
              </a:rPr>
              <a:t>solo il nodo</a:t>
            </a:r>
            <a:r>
              <a:rPr sz="13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53212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Più informazioni sposto dalla compilazione all'esecuzione, più il programma diventa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riutilizzabile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— e più cresce il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costo per pacchetto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DA DOVE VIENE LA DIFFERENZA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compilatore vede i pesi, oppure 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Da questa differenza discendono tutti i risultati che seguono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94960" cy="914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6868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E07A2D"/>
                </a:solidFill>
                <a:latin typeface="Calibri"/>
              </a:rPr>
              <a:t>Specializzata (P1, P1.5)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6868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9728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37 * x0;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h[j] += -12 * x1;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sono numeri scritti nel programma. Il compilatore li vede: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cancella le moltiplicazioni per zero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semplifica le altre.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6002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217920" y="1600200"/>
            <a:ext cx="5394960" cy="9144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874519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2E9C6E"/>
                </a:solidFill>
                <a:latin typeface="Calibri"/>
              </a:rPr>
              <a:t>Generica (P2, P3)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2468880"/>
            <a:ext cx="4754880" cy="1234440"/>
          </a:xfrm>
          <a:prstGeom prst="roundRect">
            <a:avLst>
              <a:gd name="adj" fmla="val 6000"/>
            </a:avLst>
          </a:prstGeom>
          <a:solidFill>
            <a:srgbClr val="1E27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60" y="260604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for (i …)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 i="0">
                <a:solidFill>
                  <a:srgbClr val="E8ECF1"/>
                </a:solidFill>
                <a:latin typeface="Consolas"/>
              </a:rPr>
              <a:t>    h[j] += W[…] * x[i];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931920"/>
            <a:ext cx="484632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I pesi stanno in una tabella e il compilatore non li vede. Il ciclo è scritto per il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caso peggiore ammesso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, non per la forma vera.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48640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22960" y="548640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Nel primo caso il programma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è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quel modello, e vale solo per lui. Nel secondo un programma solo serve </a:t>
            </a:r>
            <a:r>
              <a:rPr sz="1600" b="1" i="0">
                <a:solidFill>
                  <a:srgbClr val="FFFFFF"/>
                </a:solidFill>
                <a:latin typeface="Calibri"/>
              </a:rPr>
              <a:t>qualunque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 modello, ma deve leggere tutto ogni volta.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Tre misure, tre domande diverse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Non vanno moltiplicate fra loro: rispondono a domande diverse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22960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1F3A5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programma da solo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kernel esegue il programma su un pacchetto preparato, in un ciclo. Niente schede, niente code.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20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1F3A5F"/>
                </a:solidFill>
                <a:latin typeface="Calibri"/>
              </a:rPr>
              <a:t>Quanto costa il </a:t>
            </a:r>
            <a:r>
              <a:rPr sz="1500" b="1" i="0">
                <a:solidFill>
                  <a:srgbClr val="1F3A5F"/>
                </a:solidFill>
                <a:latin typeface="Calibri"/>
              </a:rPr>
              <a:t>calcolo</a:t>
            </a:r>
            <a:r>
              <a:rPr sz="1500" b="0" i="0">
                <a:solidFill>
                  <a:srgbClr val="1F3A5F"/>
                </a:solidFill>
                <a:latin typeface="Calibri"/>
              </a:rPr>
              <a:t>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1999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E07A2D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1999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Tre orologi nel nodo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1999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Tre marcature di tempo: all'ingresso del programma (T1), prima di inoltrare (T2), all'arrivo dall'altra parte (T3).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1999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09159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E07A2D"/>
                </a:solidFill>
                <a:latin typeface="Calibri"/>
              </a:rPr>
              <a:t>Quanta parte del tempo è la </a:t>
            </a:r>
            <a:r>
              <a:rPr sz="1500" b="1" i="0">
                <a:solidFill>
                  <a:srgbClr val="E07A2D"/>
                </a:solidFill>
                <a:latin typeface="Calibri"/>
              </a:rPr>
              <a:t>rete neurale</a:t>
            </a:r>
            <a:r>
              <a:rPr sz="1500" b="0" i="0">
                <a:solidFill>
                  <a:srgbClr val="E07A2D"/>
                </a:solidFill>
                <a:latin typeface="Calibri"/>
              </a:rPr>
              <a:t>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18" y="1645920"/>
            <a:ext cx="3520440" cy="4023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38" y="1783080"/>
            <a:ext cx="9144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2E9C6E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38" y="2651760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1F3A5F"/>
                </a:solidFill>
                <a:latin typeface="Calibri"/>
              </a:rPr>
              <a:t>Il nodo sotto traffico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38" y="3154680"/>
            <a:ext cx="3017520" cy="1463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generatore spinge più pacchetti di quanti il nodo ne regga, per minuti, e si contano quelli elaborati.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21038" y="4709160"/>
            <a:ext cx="2971800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E9C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458198" y="470916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2E9C6E"/>
                </a:solidFill>
                <a:latin typeface="Calibri"/>
              </a:rPr>
              <a:t>Quanti pacchetti regge </a:t>
            </a:r>
            <a:r>
              <a:rPr sz="1500" b="1" i="0">
                <a:solidFill>
                  <a:srgbClr val="2E9C6E"/>
                </a:solidFill>
                <a:latin typeface="Calibri"/>
              </a:rPr>
              <a:t>davvero</a:t>
            </a:r>
            <a:r>
              <a:rPr sz="1500" b="0" i="0">
                <a:solidFill>
                  <a:srgbClr val="2E9C6E"/>
                </a:solidFill>
                <a:latin typeface="Calibri"/>
              </a:rPr>
              <a:t> il nodo?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PRIMO RISULTATO · IL PROGRAMMA DA SOLO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configurabilità si paga per pacchetto: 36 → 258 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Stesso modello, 319 pesi  ·  minimo su 7 prove  ·  BPF_PROG_TEST_RUN  ·  rimisura del 23/09, P1 come oggetto AOT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554480"/>
          <a:ext cx="6035040" cy="4663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766560" y="1737360"/>
          <a:ext cx="4937758" cy="22860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5193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4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243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596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Istruzioni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Letture tabella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Salti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618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1 028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6766560" y="4160520"/>
            <a:ext cx="4937760" cy="20574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6766560" y="4160520"/>
            <a:ext cx="82296" cy="20574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040880" y="42336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4526280"/>
            <a:ext cx="4480560" cy="1600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configurabilità si paga nelle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letture di tabella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(6 → 29) e nei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salti fra programmi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(1 → 3), non nell'aritmetica. Rendere configurabile la forma (P2) costa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~5×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P1; anche la profondità (P3)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~7×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Fra P1 e P1.5 quasi niente.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COMPROMESSO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Cambiare modello non separa più le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Tempo per installare un modello nuovo su un nodo già in servizio (scala logaritmica)  ·  rimisura del 23/09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600200"/>
          <a:ext cx="566928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164592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0" y="1645920"/>
            <a:ext cx="82296" cy="173736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675120" y="181051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Con l'oggetto precompilato (AOT)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22199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Sul nodo si carica un file pronto: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5–8 ms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come P2 e P3. Anche compilando,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meno di 0,15 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Compilando sul nodo con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BCC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servirebbero ~0,7 s, perché BCC rilegge gli header del kernel a ogni compilazione.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3566160"/>
            <a:ext cx="5303520" cy="17373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82296" cy="173736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675120" y="3730752"/>
            <a:ext cx="48920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Il vantaggio che resta a P2 e P3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142232"/>
            <a:ext cx="4892040" cy="11155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Un modello nuovo si installa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scrivendo una tabella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nessun compilatore, da nessuna parte. P1 ne vuole uno per ogni modello nuovo, su qualche macchina.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tempo per cambiare modello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non è più un criterio di scelta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millisecondi per tutte. Si sceglie sul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(~50 ns di rete con i pesi compilati, ~220–380 con quelli da tabella) e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dove serve un compilatore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CRESCE IL COSTO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Meno istruzioni, e più lenta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In P3 ogni strato è un programma a sé: allargare costa dentro un programma, approfondire fra un programma e l'altro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 i="0">
                <a:solidFill>
                  <a:srgbClr val="222B36"/>
                </a:solidFill>
                <a:latin typeface="Calibri"/>
              </a:rPr>
              <a:t>A parità di pesi, P3 ha un programma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più piccolo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 di P2 ma è </a:t>
            </a:r>
            <a:r>
              <a:rPr sz="1800" b="1" i="0">
                <a:solidFill>
                  <a:srgbClr val="222B36"/>
                </a:solidFill>
                <a:latin typeface="Calibri"/>
              </a:rPr>
              <a:t>più lento</a:t>
            </a:r>
            <a:r>
              <a:rPr sz="18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2194560"/>
          <a:ext cx="9235437" cy="28346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4004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317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317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17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A parità di 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P2  template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P3  modular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1" i="0">
                          <a:solidFill>
                            <a:srgbClr val="FFFFFF"/>
                          </a:solidFill>
                          <a:latin typeface="Calibri"/>
                        </a:rPr>
                        <a:t>Differenza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Istruzioni del programma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14 985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12 349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−18 %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Latenza per pacchetto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180 ns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278 ns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+54 %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Salti fra programmi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×3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800" b="1" i="0">
                          <a:solidFill>
                            <a:srgbClr val="222B36"/>
                          </a:solidFill>
                          <a:latin typeface="Calibri"/>
                        </a:rPr>
                        <a:t>Letture di tabella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800" b="0" i="0">
                          <a:solidFill>
                            <a:srgbClr val="222B36"/>
                          </a:solidFill>
                          <a:latin typeface="Calibri"/>
                        </a:rPr>
                        <a:t>×2,6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48640" y="5257800"/>
            <a:ext cx="82296" cy="86868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2960" y="533095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5257800"/>
            <a:ext cx="9677095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Le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istruzioni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 dicono quanto è grande il programma, non quanto lavora per pacchetto. Per confrontare le pipeline si guarda la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latenza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; letture di tabella e salti fra programmi spiegano la differenza.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TAGLIA DELLA RETE, LARGHEZZA DEL MODELLO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La rete può crescere quanto vuole. Il modello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BPF_PROG_TEST_RUN, minimo su 7 prove  ·  rimisura del 23/09, P1 come oggetto AOT  ·  cifre assolute valide per questa VM, rapporti fra pipeline stabili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10 a 100 nodi la latenza non si muove.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L'identità del nodo entra come una casella sola: il programma ne legge una, qualunque sia la taglia della rete.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Da 2 a 8 neuroni sale su tutte e quattro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P1 24 → 58 ns, P3 239 → 298 ns. Un neurone in più è lavoro vero, a ogni pacchetto.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rete più grande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(più nodi) non rallenta nessuna pipeline: basta una riga in più in tabella. 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più largo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rallenta tutte, a ogni pacchetto. Si può far crescere la rete; il modello va tenuto piccolo.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PROFONDITÀ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Uno strato in più: P2 lo paga in spazio, P3 in tempo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Quattro neuroni per strato, da 1 a 6 strati  ·  il resto del modello fermo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246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Dimensione.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P2 ricompila e srotola: 14 668 → 18 801 istruzioni. P3 non si muove: 12 349 a ogni profondità.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800600"/>
            <a:ext cx="53949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Tempo.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P3 paga: 204 → 413 ns da 1 a 6 strati, perché ogni strato è un salto fra programmi (da 2 a 7).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57784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57784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509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57784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Un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modello profondo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si paga sempre: con P2 in un programma più grande da ricompilare (~830 istruzioni per strato), con P3 in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~42 ns per pacchetto a ogni strato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P3 è la più flessibile, ed è quella che la profondità rallenta di più.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UN PARAMETRO ALLA VOLTA · A PARITÀ DI PESI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«Meglio larga o profonda?» dipende da chi la esegue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Cinque forme con circa 592 pesi: uno strato largo, oppure cinque stretti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Generiche: la profondità si paga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Da 1 a 5 strati, a pesi fermi: P2 138 → 235 ns, P3 232 → 406 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Specializzate: indifferenti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41–62 ns senza un andamento: srotolano tutto in una funzione sola.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Con le versioni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specializzate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la forma della rete si sceglie solo per l'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accuratezza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 Con le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generiche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a parità di pesi, conviene una rete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larga e poco profonda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: da 1 a 5 strati la latenza sale del 70–75 %.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CONTARE IL LAVORO GIUSTO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per moltiplicazione è una costante della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Contando le moltiplicazioni dalla forma del modello, per P3 la retta spiega l'11 % dei punti; contando quelle eseguite, il 92 %  ·  rimisura del 23/09</a:t>
            </a:r>
          </a:p>
        </p:txBody>
      </p:sp>
      <p:pic>
        <p:nvPicPr>
          <p:cNvPr id="7" name="Picture 6" descr="campaign_macs_eff_late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63040"/>
            <a:ext cx="6217920" cy="388620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223760" y="1645920"/>
          <a:ext cx="4480560" cy="2377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162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643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Versione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1" i="0">
                          <a:solidFill>
                            <a:srgbClr val="FFFFFF"/>
                          </a:solidFill>
                          <a:latin typeface="Calibri"/>
                        </a:rPr>
                        <a:t>ns per moltiplicazione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 statica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0,23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0,45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6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600" b="0" i="0">
                          <a:solidFill>
                            <a:srgbClr val="222B36"/>
                          </a:solidFill>
                          <a:latin typeface="Calibri"/>
                        </a:rPr>
                        <a:t>0,91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223760" y="4160520"/>
            <a:ext cx="448056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Contando le moltiplicazioni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davvero eseguite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quattro esperimenti diversi cadono sulla stessa retta. Un ingresso «a una casella accesa» ne attiva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colonna sola.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costo di un modello si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stima prima di misurarlo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moltiplicazioni eseguite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~0,2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compilati) o ×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~0,9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(pesi da tabella), più il costo fisso della pipeline. Una feature one-hot conta una colonna, qualunque sia la sua larghezza.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QUANDO LA SPECIALIZZAZIONE PAGA DAVVERO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Pesi a zero: una versione dimagrisce, le altre non se ne accorgono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È l'unico esperimento in cui scendono insieme dimensione e tempo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6766560" cy="3931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498079" y="160020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498079" y="1600200"/>
            <a:ext cx="82296" cy="178308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399" y="176479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P1.5, da 0 a 90 % di zeri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399" y="217627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1 028 → 223 istruzioni, 45 → 23 ns. Il compilatore vede lo zero e cancella la moltiplicazione.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3566160"/>
            <a:ext cx="4206240" cy="17830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498079" y="3566160"/>
            <a:ext cx="82296" cy="178308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772399" y="3730752"/>
            <a:ext cx="3794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P2 e P3, stessi pesi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399" y="4142232"/>
            <a:ext cx="3794760" cy="1161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Dimensione e latenza invariate: zero, letto da una tabella, è un numero come un altro.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32120"/>
            <a:ext cx="11094415" cy="77724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532120"/>
            <a:ext cx="82296" cy="77724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60527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532120"/>
            <a:ext cx="96770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1" i="0">
                <a:solidFill>
                  <a:srgbClr val="222B36"/>
                </a:solidFill>
                <a:latin typeface="Calibri"/>
              </a:rPr>
              <a:t>Potare il modello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(pesi a zero) rende più veloce solo le versioni specializzate: al 90 % di zeri P1.5 dimezza la latenza e scende a un quinto delle istruzioni. Con P2 e P3 la potatura non dà niente: va giustificata solo dall'accuratezza.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VALIDAZIONE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Un modello solo non basta a provare che il codice è generico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Pesi casuali, nessun rapporto con il modello di riferimento  ·  300 ingressi per modello, sempre gli stessi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00200"/>
          <a:ext cx="5669279" cy="41148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11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11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766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Modello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Forma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Pesi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ones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11-2-3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small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15-4-4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84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mixed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18-6-5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149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ipa_like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ipa_ttl16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  (TTL/16)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sparse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319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deep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65-4-4-4-7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339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 i="0">
                          <a:solidFill>
                            <a:srgbClr val="222B36"/>
                          </a:solidFill>
                          <a:latin typeface="Calibri"/>
                        </a:rPr>
                        <a:t>large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117-8-8-9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500" b="0" i="0">
                          <a:solidFill>
                            <a:srgbClr val="222B36"/>
                          </a:solidFill>
                          <a:latin typeface="Calibri"/>
                        </a:rPr>
                        <a:t>1 097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675120" y="1600200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 i="0">
                <a:solidFill>
                  <a:srgbClr val="2E9C6E"/>
                </a:solidFill>
                <a:latin typeface="Calibri"/>
              </a:rPr>
              <a:t>2 400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606040"/>
            <a:ext cx="5029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222B36"/>
                </a:solidFill>
                <a:latin typeface="Calibri"/>
              </a:rPr>
              <a:t>decisioni identiche fra il riferimento in Python e il programma nel kernel, su tutti e otto i modelli.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3840480"/>
            <a:ext cx="5029200" cy="21945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675120" y="3840480"/>
            <a:ext cx="82296" cy="219456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49440" y="4005072"/>
            <a:ext cx="46177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E un controllo in più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49440" y="4416552"/>
            <a:ext cx="4617720" cy="15727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riferimento Python e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codice C generato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P1 vengono confrontati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direttamente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, numero per numero: due implementazioni coerenti con sé stesse ma diverse fra loro non passerebbero più.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CHE COSA HANNO TROVATO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Due bug che il modello di riferimento non faceva vedere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Entrambi corretti: la scala viaggia nella scheda del modello, la traduzione classe → azione è dichiarata e validata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1 · La scala del TTL era nel codice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TTL entra nella rete diviso per una costante, scelta durante l'addestramento. Tutte e tre le pipeline la fissavano a 30 nel programma.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Modello addestrato su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TTL/16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, eseguito nel kernel con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TTL/30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Il modello di riferimento usa proprio 30: su di lui il bug è invisibile.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600200"/>
            <a:ext cx="5440680" cy="356616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600200"/>
            <a:ext cx="82296" cy="356616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176272"/>
            <a:ext cx="5029200" cy="2944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La rete produce un numero. Che cosa significhi lo dichiara la configurazione, non la rete.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Il codice dava per scontato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classe 0 → porta 0, classe 1 → porta 1…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e «scarta» = ultima classe.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1">
                <a:solidFill>
                  <a:srgbClr val="222B36"/>
                </a:solidFill>
                <a:latin typeface="Calibri"/>
              </a:rPr>
              <a:t>Nel modello ricevuto le classi sono sette e quella che scarta è la sesta.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44068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5440680"/>
            <a:ext cx="1054577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Due assunzioni vere </a:t>
            </a:r>
            <a:r>
              <a:rPr sz="1700" b="1" i="0">
                <a:solidFill>
                  <a:srgbClr val="FFFFFF"/>
                </a:solidFill>
                <a:latin typeface="Calibri"/>
              </a:rPr>
              <a:t>per coincidenza</a:t>
            </a:r>
            <a:r>
              <a:rPr sz="1700" b="0" i="0">
                <a:solidFill>
                  <a:srgbClr val="FFFFFF"/>
                </a:solidFill>
                <a:latin typeface="Calibri"/>
              </a:rPr>
              <a:t> su un modello solo. Sono i modelli sintetici ad averle fatte cadere.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COME SONO STATI CORRETTI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Tutto ciò che dipende dal modello sta nella scheda del modello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La scheda del modello è ipa/model_meta.json: il codice non assume più niente su scala e classi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508760"/>
            <a:ext cx="5440680" cy="82296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E07A2D"/>
                </a:solidFill>
                <a:latin typeface="Calibri"/>
              </a:rPr>
              <a:t>1 · La scala del TTL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scala di ogni feature è un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dato del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feature_scales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nella scheda), non una costante del codice.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P1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compila dal descrittore;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P2 e P3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la leggono a runtime dal descrittore, in un byte che era già libero: nessun cambio di formato.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Modello sintetico addestrato su TTL/16: con la scala giusta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300 decisioni su 300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identiche al riferimento; alterandola nella tabella del nodo le decisioni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cambiano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(controllo negativo).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08760"/>
            <a:ext cx="5440680" cy="3977639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1508760"/>
            <a:ext cx="5440680" cy="82296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92240" y="1691640"/>
            <a:ext cx="4937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2E9C6E"/>
                </a:solidFill>
                <a:latin typeface="Calibri"/>
              </a:rPr>
              <a:t>2 · La classe non è la porta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4884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SOLUZIONE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423160"/>
            <a:ext cx="49377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Il modello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dichiara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cosa significa ogni classe, e il nodo dichiara quale interfaccia realizza ogni porta: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classe → azione → porta logica → interfaccia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(slide successiva).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P1 compila la catena, P2 e P3 la leggono dalla tabella </a:t>
            </a:r>
            <a:r>
              <a:rPr sz="1400" b="0" i="0">
                <a:solidFill>
                  <a:srgbClr val="222B36"/>
                </a:solidFill>
                <a:latin typeface="Consolas"/>
              </a:rPr>
              <a:t>class_action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Un secondo modello con semantica diversa viene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4160520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6B7C93"/>
                </a:solidFill>
                <a:latin typeface="Calibri"/>
              </a:rPr>
              <a:t>LA PROVA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34840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onsolas"/>
              </a:rPr>
              <a:t>test_class_semantics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69 controlli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su cinque schemi di classi diversi da quello del modello di riferimento, più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72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eseguiti nel kernel.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Scala delle feature e significato delle classi 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viaggiano con il 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cambiare modello non richiede di toccare il codice, e un modello incoerente viene rifiutato al caricamento invece di dare decisioni sbagliate.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LA CLASSE NON È LA 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Classe → azione → porta logica → interfaccia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Esempio con la configurazione reale del modello: 7 classi, 0–4 inoltrano sulle porte logiche 0–4, 5 scarta, 6 non usata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463040"/>
            <a:ext cx="2514600" cy="7315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1F3A5F"/>
                </a:solidFill>
                <a:latin typeface="Calibri"/>
              </a:rPr>
              <a:t>Classe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della rete: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un numero da 0 a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rete neurale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108960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1568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401568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Azione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93008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inoltra,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o non usata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961888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6254496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54496" y="1463040"/>
            <a:ext cx="2514600" cy="73152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54496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E07A2D"/>
                </a:solidFill>
                <a:latin typeface="Calibri"/>
              </a:rPr>
              <a:t>Porta logica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l'uscita come la intende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il modello, uguale su ogni nodo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4496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scheda del modello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8814816" y="2011680"/>
            <a:ext cx="246888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9107424" y="1463040"/>
            <a:ext cx="2514600" cy="14173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107424" y="1463040"/>
            <a:ext cx="2514600" cy="73152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07424" y="1600200"/>
            <a:ext cx="25146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2E9C6E"/>
                </a:solidFill>
                <a:latin typeface="Calibri"/>
              </a:rPr>
              <a:t>Interfaccia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8864" y="2011680"/>
            <a:ext cx="23317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nome, ifindex e MAC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222B36"/>
                </a:solidFill>
                <a:latin typeface="Calibri"/>
              </a:rPr>
              <a:t>del vicino su QUESTO nodo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07424" y="2926080"/>
            <a:ext cx="2514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decide: la configurazione del nodo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33101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6B7C93"/>
                </a:solidFill>
                <a:latin typeface="Calibri"/>
              </a:rPr>
              <a:t>TRE ESEMPI, SU UN NODO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548640" y="3611880"/>
          <a:ext cx="11064240" cy="1609344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94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La rete decide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Azione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Porta logica (modello)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Interfaccia (nodo)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Il programma XDP fa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inoltra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porta 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per es. eth3, ifindex 209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riscrive i MAC, bpf_redirect(209)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scarta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XDP_DROP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classe 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non usata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XDP_PASS: decide lo stack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548640" y="5440680"/>
            <a:ext cx="11094415" cy="82296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548640" y="5440680"/>
            <a:ext cx="82296" cy="82296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22960" y="55138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83080" y="5440680"/>
            <a:ext cx="9677095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modello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cosa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fare, il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dice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dove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 Lo stesso modello funziona su nodi con interfacce diverse (su un altro nodo la porta 2 può essere eth1, ifindex 17), e nessuna delle due parti deve indovinare l'altra: niente più «classe k = interfaccia k».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banco: misurare il costo del nodo su traffico vero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Una macchina virtuale, quattro processori: generatore, nodo e nodo successivo ciascuno sul proprio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Generatore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crea i pacchetti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1 e 2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23744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2852928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852928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28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256 posti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(cavo virtuale)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828032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5157216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DEBDB"/>
          </a:solidFill>
          <a:ln w="15875">
            <a:solidFill>
              <a:srgbClr val="E07A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57216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E07A2D"/>
                </a:solidFill>
                <a:latin typeface="Calibri"/>
              </a:rPr>
              <a:t>NODO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57216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la pipeline in XDP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3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132320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61504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461504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Coda d'uscita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verso il nodo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successivo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436608" y="2148840"/>
            <a:ext cx="274320" cy="274320"/>
          </a:xfrm>
          <a:prstGeom prst="rightArrow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9765792" y="1600200"/>
            <a:ext cx="1920240" cy="132588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765792" y="1764792"/>
            <a:ext cx="19202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1F3A5F"/>
                </a:solidFill>
                <a:latin typeface="Calibri"/>
              </a:rPr>
              <a:t>Nodo successivo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65792" y="2212848"/>
            <a:ext cx="192024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conta e scarta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6B7C93"/>
                </a:solidFill>
                <a:latin typeface="Calibri"/>
              </a:rPr>
              <a:t>CPU 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52928" y="2990088"/>
            <a:ext cx="1920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C0443C"/>
                </a:solidFill>
                <a:latin typeface="Calibri"/>
              </a:rPr>
              <a:t>se è piena: </a:t>
            </a:r>
            <a:r>
              <a:rPr sz="1200" b="1" i="0">
                <a:solidFill>
                  <a:srgbClr val="C0443C"/>
                </a:solidFill>
                <a:latin typeface="Calibri"/>
              </a:rPr>
              <a:t>respinto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Oval 27"/>
          <p:cNvSpPr/>
          <p:nvPr/>
        </p:nvSpPr>
        <p:spPr>
          <a:xfrm>
            <a:off x="731520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25880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Coda sempre piena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Il generatore offre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più pacchetti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quanti il nodo riesca a elaborare.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79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Oval 31"/>
          <p:cNvSpPr/>
          <p:nvPr/>
        </p:nvSpPr>
        <p:spPr>
          <a:xfrm>
            <a:off x="4480559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4919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Nodo sempre occupato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79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La CPU 3 non resta mai senza lavoro: il suo ritmo di elaborazione è la sua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capacità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18" y="3520440"/>
            <a:ext cx="3520440" cy="16002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Oval 35"/>
          <p:cNvSpPr/>
          <p:nvPr/>
        </p:nvSpPr>
        <p:spPr>
          <a:xfrm>
            <a:off x="8229598" y="3675887"/>
            <a:ext cx="475488" cy="475488"/>
          </a:xfrm>
          <a:prstGeom prst="ellipse">
            <a:avLst/>
          </a:prstGeom>
          <a:solidFill>
            <a:srgbClr val="E07A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23958" y="3721608"/>
            <a:ext cx="2651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Costo = 1 / capacità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18" y="4297680"/>
            <a:ext cx="31089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Se elabora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secondo, spende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1/6 000 000 s ≈ 167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per ciascuno.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" y="534924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48640" y="534924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22960" y="542239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783080" y="534924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500" b="0" i="0">
                <a:solidFill>
                  <a:srgbClr val="222B36"/>
                </a:solidFill>
                <a:latin typeface="Calibri"/>
              </a:rPr>
              <a:t>Si misura per 300 ms quanti pacchetti il programma del nodo ha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elaborato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 (inoltrati, scartati o passati allo stack): </a:t>
            </a:r>
            <a:r>
              <a:rPr sz="1500" b="1" i="0">
                <a:solidFill>
                  <a:srgbClr val="222B36"/>
                </a:solidFill>
                <a:latin typeface="Calibri"/>
              </a:rPr>
              <a:t>costo per pacchetto = tempo / pacchetti elaborati</a:t>
            </a:r>
            <a:r>
              <a:rPr sz="15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TEST REALE · LA FINESTRA DI MISURA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Si misura solo mentre il sistema è a regime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Rate = differenze dei contatori (generatore e nodo) divise per l'intervallo fra le due letture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86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avvio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i thread del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 partono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solidFill>
            <a:srgbClr val="E3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40" y="2148840"/>
            <a:ext cx="17830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assestamento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2926080"/>
            <a:ext cx="17830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100 ms: la coda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si riempie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20624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0" y="2148840"/>
            <a:ext cx="38862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misura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2926080"/>
            <a:ext cx="38862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300 ms a regime: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tutti trasmettono, coda piena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61120" y="2148840"/>
            <a:ext cx="77724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0" y="2926080"/>
            <a:ext cx="777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lettura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solidFill>
            <a:srgbClr val="D5D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784080" y="2148840"/>
            <a:ext cx="141732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600" b="1" i="0">
                <a:solidFill>
                  <a:srgbClr val="222B36"/>
                </a:solidFill>
                <a:latin typeface="Calibri"/>
              </a:rPr>
              <a:t>stop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84080" y="2926080"/>
            <a:ext cx="14173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generatore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0" i="0">
                <a:solidFill>
                  <a:srgbClr val="6B7C93"/>
                </a:solidFill>
                <a:latin typeface="Calibri"/>
              </a:rPr>
              <a:t>fermato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48640" y="1645920"/>
            <a:ext cx="11064240" cy="256032"/>
          </a:xfrm>
          <a:prstGeom prst="rightArrow">
            <a:avLst/>
          </a:prstGeom>
          <a:solidFill>
            <a:srgbClr val="D5D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48640" y="137160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1">
                <a:solidFill>
                  <a:srgbClr val="6B7C93"/>
                </a:solidFill>
                <a:latin typeface="Calibri"/>
              </a:rPr>
              <a:t>tempo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84048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48640" y="3840480"/>
            <a:ext cx="82296" cy="237744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22960" y="4005072"/>
            <a:ext cx="50749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Perché così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416552"/>
            <a:ext cx="5074920" cy="17556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Avvio e arresto del generatore restano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fuori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dalla misura: i suoi thread partono con fino a 100 ms di sfasamento.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Le due letture sono istantanee (&lt; 3 ms): se l'host sospende la VM durante una lettura, la lettura si rifà.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1F3A5F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La durata non dipende da nessuna stima del rate.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3840480"/>
          <a:ext cx="5394960" cy="153619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ns per pacchetto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1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2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3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sess. 4</a:t>
                      </a:r>
                    </a:p>
                  </a:txBody>
                  <a:tcPr marT="27432" marB="27432" anchor="ctr">
                    <a:solidFill>
                      <a:srgbClr val="1F3A5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117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121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122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P1.5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168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171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169</a:t>
                      </a:r>
                    </a:p>
                  </a:txBody>
                  <a:tcPr marT="27432" marB="27432" anchor="ctr">
                    <a:solidFill>
                      <a:srgbClr val="F3F5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222B36"/>
                          </a:solidFill>
                          <a:latin typeface="Calibri"/>
                        </a:rPr>
                        <a:t>P3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493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497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 i="0">
                          <a:solidFill>
                            <a:srgbClr val="222B36"/>
                          </a:solidFill>
                          <a:latin typeface="Calibri"/>
                        </a:rPr>
                        <a:t>466</a:t>
                      </a:r>
                    </a:p>
                  </a:txBody>
                  <a:tcPr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6309360" y="5440680"/>
            <a:ext cx="539496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Stesso costo del nodo in quattro sessioni con condizioni diverse (pacchetto fisso, TTL variabile, taglie diverse, classi diverse): scarti di pochi punti percentuali.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IL RISULTATO PRINCIPALE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costa un pacchetto al nodo, dalla ricezione all'inoltro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5 giri, 64 byte, controllo di validità superato  ·  stessa sessione per tutte le righe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9144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183879" y="1664208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baseline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0" y="1600200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117 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83879" y="2103120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8,5 M pacchetti/s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55279" y="2578608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955279" y="2578608"/>
            <a:ext cx="82296" cy="914400"/>
          </a:xfrm>
          <a:prstGeom prst="rect">
            <a:avLst/>
          </a:prstGeom>
          <a:solidFill>
            <a:srgbClr val="F09A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183879" y="2688336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P1 / P1.5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09760" y="2624328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~170 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27248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6 M pacchetti/s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55279" y="3602736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7955279" y="3602736"/>
            <a:ext cx="82296" cy="914400"/>
          </a:xfrm>
          <a:prstGeom prst="rect">
            <a:avLst/>
          </a:prstGeom>
          <a:solidFill>
            <a:srgbClr val="2E9C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183879" y="3712464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3648456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335 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83879" y="4151376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3 M pacchetti/s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955279" y="4626864"/>
            <a:ext cx="3749039" cy="91440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955279" y="4626864"/>
            <a:ext cx="82296" cy="914400"/>
          </a:xfrm>
          <a:prstGeom prst="rect">
            <a:avLst/>
          </a:prstGeom>
          <a:solidFill>
            <a:srgbClr val="1F5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183879" y="4736592"/>
            <a:ext cx="1463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6B7C93"/>
                </a:solidFill>
                <a:latin typeface="Calibri"/>
              </a:rPr>
              <a:t>P3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4672584"/>
            <a:ext cx="21031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2800" b="1" i="0">
                <a:solidFill>
                  <a:srgbClr val="1F3A5F"/>
                </a:solidFill>
                <a:latin typeface="Calibri"/>
              </a:rPr>
              <a:t>493 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83879" y="5175504"/>
            <a:ext cx="34290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222B36"/>
                </a:solidFill>
                <a:latin typeface="Calibri"/>
              </a:rPr>
              <a:t>2 M pacchetti/s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Ricevere e inoltrare costano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~120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tutte. La rete neurale aggiunge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~50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con i pesi compilati,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~220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la forma è letta da tabella,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~375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se anche la profondità: un nodo regge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6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 milioni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di pacchetti al secondo per CPU.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DENTRO IL NODO · TRE OROLOGI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Quanto del tempo è il programma XDP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T1 all'ingresso del programma, T2 prima di bpf_redirect, T3 all'arrivo dall'altra parte  ·  T2−T1 è il minimo osservato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17320"/>
          <a:ext cx="7223760" cy="4160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955279" y="15544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7955279" y="1554480"/>
            <a:ext cx="82296" cy="192024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9" y="17190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Il programma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9" y="21305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Parse, lettura delle feature, rete neurale, decisione: da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(baseline) 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271 ns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(P3).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3611880"/>
            <a:ext cx="3749039" cy="192024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7955279" y="3611880"/>
            <a:ext cx="82296" cy="1920240"/>
          </a:xfrm>
          <a:prstGeom prst="rect">
            <a:avLst/>
          </a:prstGeom>
          <a:solidFill>
            <a:srgbClr val="6B7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29599" y="3776472"/>
            <a:ext cx="3337559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6B7C93"/>
                </a:solidFill>
                <a:latin typeface="Calibri"/>
              </a:rPr>
              <a:t>Il resto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9" y="4187952"/>
            <a:ext cx="3337559" cy="12984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Ricezione, redirect e accodamento, più il costo di tabelle e salti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sotto carico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: cresce con la pipeline, da 90 a 222 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48640" y="5669280"/>
            <a:ext cx="82296" cy="68580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" y="574243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83080" y="5669280"/>
            <a:ext cx="967709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T2−T1 è il caso più fortunato del solo programma; il costo del nodo è la media sotto carico continuo.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Per dimensionare un nodo vale il costo del nodo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; per capire dove va il tempo dentro il programma vale T2−T1.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QUANTO È SOLIDO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Il costo dipende dalla pipeline, e da niente altro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Sei classi: stato dei collegamenti e TTL scelti perché la rete decida proprio quella classe; verificato su ogni pipeline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217920" y="1463040"/>
          <a:ext cx="5669280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Taglia del pacchetto: nessun effetto.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Il nodo legge solo l'intestazione, come su una scheda di rete vera.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4937760"/>
            <a:ext cx="5394960" cy="594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222B36"/>
                </a:solidFill>
                <a:latin typeface="Calibri"/>
              </a:rPr>
              <a:t>Classe e porta d'uscita: nessun effetto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oltre il ±10 % di rumore fra sessioni.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623560"/>
            <a:ext cx="11094415" cy="731520"/>
          </a:xfrm>
          <a:prstGeom prst="roundRect">
            <a:avLst>
              <a:gd name="adj" fmla="val 6000"/>
            </a:avLst>
          </a:prstGeom>
          <a:solidFill>
            <a:srgbClr val="FFF4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82296" cy="731520"/>
          </a:xfrm>
          <a:prstGeom prst="rect">
            <a:avLst/>
          </a:prstGeom>
          <a:solidFill>
            <a:srgbClr val="F2B1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2960" y="5696712"/>
            <a:ext cx="1097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1" i="0">
                <a:solidFill>
                  <a:srgbClr val="B57A00"/>
                </a:solidFill>
                <a:latin typeface="Calibri"/>
              </a:rPr>
              <a:t>QUINDI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5623560"/>
            <a:ext cx="9677095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400" b="0" i="0">
                <a:solidFill>
                  <a:srgbClr val="222B36"/>
                </a:solidFill>
                <a:latin typeface="Calibri"/>
              </a:rPr>
              <a:t>Basta </a:t>
            </a:r>
            <a:r>
              <a:rPr sz="1400" b="1" i="0">
                <a:solidFill>
                  <a:srgbClr val="222B36"/>
                </a:solidFill>
                <a:latin typeface="Calibri"/>
              </a:rPr>
              <a:t>un numero per pipeline</a:t>
            </a:r>
            <a:r>
              <a:rPr sz="1400" b="0" i="0">
                <a:solidFill>
                  <a:srgbClr val="222B36"/>
                </a:solidFill>
                <a:latin typeface="Calibri"/>
              </a:rPr>
              <a:t> a descrivere il costo del nodo: non dipende da taglia del pacchetto, classe decisa, porta d'uscita o TTL. Il traffico in bit al secondo cresce quindi con la taglia del pacchetto.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8640" y="384048"/>
            <a:ext cx="10972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 i="0">
                <a:solidFill>
                  <a:srgbClr val="E07A2D"/>
                </a:solidFill>
                <a:latin typeface="Calibri"/>
              </a:rPr>
              <a:t>LE ALTRE CORREZIONI DI SETTEMBRE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8368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3000" b="1" i="0">
                <a:solidFill>
                  <a:srgbClr val="1F3A5F"/>
                </a:solidFill>
                <a:latin typeface="Calibri"/>
              </a:rPr>
              <a:t>Quello che non si vedeva dai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92840" y="6446520"/>
            <a:ext cx="457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100" b="0" i="0">
                <a:solidFill>
                  <a:srgbClr val="6B7C93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46520"/>
            <a:ext cx="104241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00" b="0" i="1">
                <a:solidFill>
                  <a:srgbClr val="6B7C93"/>
                </a:solidFill>
                <a:latin typeface="Calibri"/>
              </a:rPr>
              <a:t>Tutto verificato sul kernel della macchina virtuale  ·  dettagli nel quaderno, capitolo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82296" cy="2103120"/>
          </a:xfrm>
          <a:prstGeom prst="rect">
            <a:avLst/>
          </a:prstGeom>
          <a:solidFill>
            <a:srgbClr val="C044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296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C0443C"/>
                </a:solidFill>
                <a:latin typeface="Calibri"/>
              </a:rPr>
              <a:t>Il P1 dei nodi non inoltrava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17627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L'oggetto precompilato mandava ogni pacchetto 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loopback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 Corretto: consegna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11 su 11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60020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17920" y="1600200"/>
            <a:ext cx="82296" cy="210312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76479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1F3A5F"/>
                </a:solidFill>
                <a:latin typeface="Calibri"/>
              </a:rPr>
              <a:t>Tutti i test di P1 sull'oggetto vero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17627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Consegna 29/29, semantica 72/72, modelli generati 62/62, P1 statica = P1.5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80/80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48640" y="3931920"/>
            <a:ext cx="82296" cy="2103120"/>
          </a:xfrm>
          <a:prstGeom prst="rect">
            <a:avLst/>
          </a:prstGeom>
          <a:solidFill>
            <a:srgbClr val="2E9C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22960" y="40965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2E9C6E"/>
                </a:solidFill>
                <a:latin typeface="Calibri"/>
              </a:rPr>
              <a:t>Riferimento = codice generato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50799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Python e il C di P1 confrontati numero per numero su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8 modelli × 300 ingressi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3931920"/>
            <a:ext cx="5440680" cy="2103120"/>
          </a:xfrm>
          <a:prstGeom prst="roundRect">
            <a:avLst>
              <a:gd name="adj" fmla="val 6000"/>
            </a:avLst>
          </a:prstGeom>
          <a:solidFill>
            <a:srgbClr val="F3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217920" y="3931920"/>
            <a:ext cx="82296" cy="2103120"/>
          </a:xfrm>
          <a:prstGeom prst="rect">
            <a:avLst/>
          </a:prstGeom>
          <a:solidFill>
            <a:srgbClr val="E07A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2240" y="4096512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E07A2D"/>
                </a:solidFill>
                <a:latin typeface="Calibri"/>
              </a:rPr>
              <a:t>La scala letta davvero in P2 e P3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4507992"/>
            <a:ext cx="5029200" cy="14813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222B36"/>
                </a:solidFill>
                <a:latin typeface="Calibri"/>
              </a:rPr>
              <a:t>Alterandola le decisioni cambiano; giusta, coincidono. E un secondo modello incompatibile viene </a:t>
            </a:r>
            <a:r>
              <a:rPr sz="1600" b="1" i="0">
                <a:solidFill>
                  <a:srgbClr val="222B36"/>
                </a:solidFill>
                <a:latin typeface="Calibri"/>
              </a:rPr>
              <a:t>rifiutato</a:t>
            </a:r>
            <a:r>
              <a:rPr sz="1600" b="0" i="0">
                <a:solidFill>
                  <a:srgbClr val="222B36"/>
                </a:solidFill>
                <a:latin typeface="Calibri"/>
              </a:rPr>
              <a:t>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3557</Words>
  <Application>Microsoft Office PowerPoint</Application>
  <PresentationFormat>Widescreen</PresentationFormat>
  <Paragraphs>462</Paragraphs>
  <Slides>23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23</vt:i4>
      </vt:variant>
    </vt:vector>
  </HeadingPairs>
  <TitlesOfParts>
    <vt:vector size="27" baseType="lpstr">
      <vt:lpstr>Arial</vt:lpstr>
      <vt:lpstr>Calibri</vt:lpstr>
      <vt:lpstr>Consolas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Ettore Cantile</cp:lastModifiedBy>
  <cp:revision>1</cp:revision>
  <dcterms:created xsi:type="dcterms:W3CDTF">2013-01-27T09:14:16Z</dcterms:created>
  <dcterms:modified xsi:type="dcterms:W3CDTF">2026-09-23T14:04:54Z</dcterms:modified>
  <cp:category/>
</cp:coreProperties>
</file>