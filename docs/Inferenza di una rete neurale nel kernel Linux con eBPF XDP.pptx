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80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909" autoAdjust="0"/>
  </p:normalViewPr>
  <p:slideViewPr>
    <p:cSldViewPr snapToGrid="0" snapToObjects="1">
      <p:cViewPr>
        <p:scale>
          <a:sx n="75" d="100"/>
          <a:sy n="75" d="100"/>
        </p:scale>
        <p:origin x="300" y="1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4:25:17.961" v="311" actId="20577"/>
      <pc:docMkLst>
        <pc:docMk/>
      </pc:docMkLst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09:20:14.077" v="90" actId="113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">
        <pc:chgData name="Ettore Cantile" userId="2f5e44afd0b03182" providerId="LiveId" clId="{E1385F0F-24B1-4705-8EF7-8D82C33CA9CE}" dt="2026-09-25T14:24:43.718" v="310" actId="27918"/>
        <pc:sldMkLst>
          <pc:docMk/>
          <pc:sldMk cId="0" sldId="265"/>
        </pc:sldMkLst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66" v="61" actId="2057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4T16:05:47.995" v="75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544" v="39" actId="94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36</c:v>
                </c:pt>
                <c:pt idx="2">
                  <c:v>42</c:v>
                </c:pt>
                <c:pt idx="3">
                  <c:v>173</c:v>
                </c:pt>
                <c:pt idx="4">
                  <c:v>258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P1 con BCC
(compila sul nodo)</c:v>
                </c:pt>
                <c:pt idx="1">
                  <c:v>P1 AOT: genera,
compila e carica</c:v>
                </c:pt>
                <c:pt idx="2">
                  <c:v>P1 AOT:
carica sul nodo</c:v>
                </c:pt>
                <c:pt idx="3">
                  <c:v>P2 / P3:
scrive la tabella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741</c:v>
                </c:pt>
                <c:pt idx="1">
                  <c:v>90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39</c:v>
                </c:pt>
                <c:pt idx="2">
                  <c:v>37</c:v>
                </c:pt>
                <c:pt idx="3">
                  <c:v>32</c:v>
                </c:pt>
                <c:pt idx="4">
                  <c:v>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</c:v>
                </c:pt>
                <c:pt idx="1">
                  <c:v>43</c:v>
                </c:pt>
                <c:pt idx="2">
                  <c:v>48</c:v>
                </c:pt>
                <c:pt idx="3">
                  <c:v>38</c:v>
                </c:pt>
                <c:pt idx="4">
                  <c:v>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156</c:v>
                </c:pt>
                <c:pt idx="1">
                  <c:v>156</c:v>
                </c:pt>
                <c:pt idx="2">
                  <c:v>168</c:v>
                </c:pt>
                <c:pt idx="3">
                  <c:v>153</c:v>
                </c:pt>
                <c:pt idx="4">
                  <c:v>152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255</c:v>
                </c:pt>
                <c:pt idx="1">
                  <c:v>265</c:v>
                </c:pt>
                <c:pt idx="2">
                  <c:v>272</c:v>
                </c:pt>
                <c:pt idx="3">
                  <c:v>259</c:v>
                </c:pt>
                <c:pt idx="4">
                  <c:v>264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35</c:v>
                </c:pt>
                <c:pt idx="2">
                  <c:v>49</c:v>
                </c:pt>
                <c:pt idx="3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41</c:v>
                </c:pt>
                <c:pt idx="2">
                  <c:v>49</c:v>
                </c:pt>
                <c:pt idx="3">
                  <c:v>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153</c:v>
                </c:pt>
                <c:pt idx="1">
                  <c:v>159</c:v>
                </c:pt>
                <c:pt idx="2">
                  <c:v>163</c:v>
                </c:pt>
                <c:pt idx="3">
                  <c:v>172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239</c:v>
                </c:pt>
                <c:pt idx="1">
                  <c:v>255</c:v>
                </c:pt>
                <c:pt idx="2">
                  <c:v>286</c:v>
                </c:pt>
                <c:pt idx="3">
                  <c:v>298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573</c:v>
                </c:pt>
                <c:pt idx="1">
                  <c:v>618</c:v>
                </c:pt>
                <c:pt idx="2">
                  <c:v>633</c:v>
                </c:pt>
                <c:pt idx="3">
                  <c:v>719</c:v>
                </c:pt>
                <c:pt idx="4">
                  <c:v>784</c:v>
                </c:pt>
                <c:pt idx="5">
                  <c:v>853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973</c:v>
                </c:pt>
                <c:pt idx="1">
                  <c:v>1028</c:v>
                </c:pt>
                <c:pt idx="2">
                  <c:v>1044</c:v>
                </c:pt>
                <c:pt idx="3">
                  <c:v>1119</c:v>
                </c:pt>
                <c:pt idx="4">
                  <c:v>1192</c:v>
                </c:pt>
                <c:pt idx="5">
                  <c:v>1310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14668</c:v>
                </c:pt>
                <c:pt idx="1">
                  <c:v>14985</c:v>
                </c:pt>
                <c:pt idx="2">
                  <c:v>16663</c:v>
                </c:pt>
                <c:pt idx="3">
                  <c:v>16867</c:v>
                </c:pt>
                <c:pt idx="4">
                  <c:v>17828</c:v>
                </c:pt>
                <c:pt idx="5">
                  <c:v>18801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12349</c:v>
                </c:pt>
                <c:pt idx="1">
                  <c:v>12349</c:v>
                </c:pt>
                <c:pt idx="2">
                  <c:v>12349</c:v>
                </c:pt>
                <c:pt idx="3">
                  <c:v>12349</c:v>
                </c:pt>
                <c:pt idx="4">
                  <c:v>12349</c:v>
                </c:pt>
                <c:pt idx="5">
                  <c:v>12349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(scala logaritmica)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35</c:v>
                </c:pt>
                <c:pt idx="2">
                  <c:v>46</c:v>
                </c:pt>
                <c:pt idx="3">
                  <c:v>44</c:v>
                </c:pt>
                <c:pt idx="4">
                  <c:v>45</c:v>
                </c:pt>
                <c:pt idx="5">
                  <c:v>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</c:v>
                </c:pt>
                <c:pt idx="1">
                  <c:v>43</c:v>
                </c:pt>
                <c:pt idx="2">
                  <c:v>46</c:v>
                </c:pt>
                <c:pt idx="3">
                  <c:v>47</c:v>
                </c:pt>
                <c:pt idx="4">
                  <c:v>50</c:v>
                </c:pt>
                <c:pt idx="5">
                  <c:v>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142</c:v>
                </c:pt>
                <c:pt idx="1">
                  <c:v>162</c:v>
                </c:pt>
                <c:pt idx="2">
                  <c:v>176</c:v>
                </c:pt>
                <c:pt idx="3">
                  <c:v>197</c:v>
                </c:pt>
                <c:pt idx="4">
                  <c:v>229</c:v>
                </c:pt>
                <c:pt idx="5">
                  <c:v>278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204</c:v>
                </c:pt>
                <c:pt idx="1">
                  <c:v>254</c:v>
                </c:pt>
                <c:pt idx="2">
                  <c:v>292</c:v>
                </c:pt>
                <c:pt idx="3">
                  <c:v>323</c:v>
                </c:pt>
                <c:pt idx="4">
                  <c:v>398</c:v>
                </c:pt>
                <c:pt idx="5">
                  <c:v>413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49</c:v>
                </c:pt>
                <c:pt idx="2">
                  <c:v>41</c:v>
                </c:pt>
                <c:pt idx="3">
                  <c:v>53</c:v>
                </c:pt>
                <c:pt idx="4">
                  <c:v>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</c:v>
                </c:pt>
                <c:pt idx="1">
                  <c:v>52</c:v>
                </c:pt>
                <c:pt idx="2">
                  <c:v>51</c:v>
                </c:pt>
                <c:pt idx="3">
                  <c:v>62</c:v>
                </c:pt>
                <c:pt idx="4">
                  <c:v>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138</c:v>
                </c:pt>
                <c:pt idx="1">
                  <c:v>166</c:v>
                </c:pt>
                <c:pt idx="2">
                  <c:v>175</c:v>
                </c:pt>
                <c:pt idx="3">
                  <c:v>230</c:v>
                </c:pt>
                <c:pt idx="4">
                  <c:v>235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232</c:v>
                </c:pt>
                <c:pt idx="1">
                  <c:v>275</c:v>
                </c:pt>
                <c:pt idx="2">
                  <c:v>288</c:v>
                </c:pt>
                <c:pt idx="3">
                  <c:v>368</c:v>
                </c:pt>
                <c:pt idx="4">
                  <c:v>406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29</c:v>
                </c:pt>
                <c:pt idx="2">
                  <c:v>25</c:v>
                </c:pt>
                <c:pt idx="3">
                  <c:v>20</c:v>
                </c:pt>
                <c:pt idx="4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</c:v>
                </c:pt>
                <c:pt idx="1">
                  <c:v>42</c:v>
                </c:pt>
                <c:pt idx="2">
                  <c:v>30</c:v>
                </c:pt>
                <c:pt idx="3">
                  <c:v>29</c:v>
                </c:pt>
                <c:pt idx="4">
                  <c:v>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163</c:v>
                </c:pt>
                <c:pt idx="1">
                  <c:v>156</c:v>
                </c:pt>
                <c:pt idx="2">
                  <c:v>156</c:v>
                </c:pt>
                <c:pt idx="3">
                  <c:v>158</c:v>
                </c:pt>
                <c:pt idx="4">
                  <c:v>164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264</c:v>
                </c:pt>
                <c:pt idx="1">
                  <c:v>266</c:v>
                </c:pt>
                <c:pt idx="2">
                  <c:v>248</c:v>
                </c:pt>
                <c:pt idx="3">
                  <c:v>251</c:v>
                </c:pt>
                <c:pt idx="4">
                  <c:v>242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frame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parse, TTL, redirect, accodamento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53</c:v>
                </c:pt>
                <c:pt idx="3">
                  <c:v>51</c:v>
                </c:pt>
                <c:pt idx="4">
                  <c:v>218</c:v>
                </c:pt>
                <c:pt idx="5">
                  <c:v>376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 (T2−T1)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50</c:v>
                </c:pt>
                <c:pt idx="2">
                  <c:v>57</c:v>
                </c:pt>
                <c:pt idx="3">
                  <c:v>183</c:v>
                </c:pt>
                <c:pt idx="4">
                  <c:v>271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resto del costo del nodo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90</c:v>
                </c:pt>
                <c:pt idx="1">
                  <c:v>120</c:v>
                </c:pt>
                <c:pt idx="2">
                  <c:v>111</c:v>
                </c:pt>
                <c:pt idx="3">
                  <c:v>152</c:v>
                </c:pt>
                <c:pt idx="4">
                  <c:v>222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B8C9D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</c:v>
                </c:pt>
                <c:pt idx="1">
                  <c:v>169</c:v>
                </c:pt>
                <c:pt idx="2">
                  <c:v>171</c:v>
                </c:pt>
                <c:pt idx="3">
                  <c:v>347</c:v>
                </c:pt>
                <c:pt idx="4">
                  <c:v>497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122</c:v>
                </c:pt>
                <c:pt idx="1">
                  <c:v>171</c:v>
                </c:pt>
                <c:pt idx="2">
                  <c:v>176</c:v>
                </c:pt>
                <c:pt idx="3">
                  <c:v>345</c:v>
                </c:pt>
                <c:pt idx="4">
                  <c:v>520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123</c:v>
                </c:pt>
                <c:pt idx="1">
                  <c:v>169</c:v>
                </c:pt>
                <c:pt idx="2">
                  <c:v>177</c:v>
                </c:pt>
                <c:pt idx="3">
                  <c:v>348</c:v>
                </c:pt>
                <c:pt idx="4">
                  <c:v>512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D0DBE7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122</c:v>
                </c:pt>
                <c:pt idx="1">
                  <c:v>165</c:v>
                </c:pt>
                <c:pt idx="2">
                  <c:v>169</c:v>
                </c:pt>
                <c:pt idx="3">
                  <c:v>312</c:v>
                </c:pt>
                <c:pt idx="4">
                  <c:v>466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DC1D6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171</c:v>
                </c:pt>
                <c:pt idx="2">
                  <c:v>173</c:v>
                </c:pt>
                <c:pt idx="3">
                  <c:v>307</c:v>
                </c:pt>
                <c:pt idx="4">
                  <c:v>502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AA6C4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147</c:v>
                </c:pt>
                <c:pt idx="1">
                  <c:v>169</c:v>
                </c:pt>
                <c:pt idx="2">
                  <c:v>175</c:v>
                </c:pt>
                <c:pt idx="3">
                  <c:v>314</c:v>
                </c:pt>
                <c:pt idx="4">
                  <c:v>485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5F82A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117</c:v>
                </c:pt>
                <c:pt idx="1">
                  <c:v>175</c:v>
                </c:pt>
                <c:pt idx="2">
                  <c:v>168</c:v>
                </c:pt>
                <c:pt idx="3">
                  <c:v>311</c:v>
                </c:pt>
                <c:pt idx="4">
                  <c:v>491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DCC1-41C3-B47A-44DD6F14CF9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124</c:v>
                </c:pt>
                <c:pt idx="1">
                  <c:v>176</c:v>
                </c:pt>
                <c:pt idx="2">
                  <c:v>177</c:v>
                </c:pt>
                <c:pt idx="3">
                  <c:v>325</c:v>
                </c:pt>
                <c:pt idx="4">
                  <c:v>525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DCC1-41C3-B47A-44DD6F14CF9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121</c:v>
                </c:pt>
                <c:pt idx="1">
                  <c:v>170</c:v>
                </c:pt>
                <c:pt idx="2">
                  <c:v>182</c:v>
                </c:pt>
                <c:pt idx="3">
                  <c:v>284</c:v>
                </c:pt>
                <c:pt idx="4">
                  <c:v>442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rete, da completamente compilata a completamente configurabile. Quanto costa, per ogni pacchetto, spostare le decisioni dalla compilazione all'esecuzione?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settembre 2026  ·  misure aggiornate al 23 settembre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Decidere dove mandare un pacchetto, prima che entri nel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Il kernel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accetta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il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programma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solo dopo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averlo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verificato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: niente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cicli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illimitati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, niente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memoria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arbitraria</a:t>
            </a:r>
            <a:endParaRPr sz="1100" b="0" i="1" dirty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94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 dirty="0">
                <a:solidFill>
                  <a:srgbClr val="222B36"/>
                </a:solidFill>
                <a:latin typeface="Calibri"/>
              </a:rPr>
              <a:t>XDP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è il primo punto in cui il kernel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vede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un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pacchetto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: prima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dello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stack di rete, prima di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qualunque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allocazione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.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Lì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eseguiamo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una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piccola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rete neural</a:t>
            </a:r>
            <a:r>
              <a:rPr lang="it-IT" sz="1800" b="0" i="0" dirty="0">
                <a:solidFill>
                  <a:srgbClr val="222B36"/>
                </a:solidFill>
                <a:latin typeface="Calibri"/>
              </a:rPr>
              <a:t>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, e la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decisione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nasce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in </a:t>
            </a:r>
            <a:r>
              <a:rPr sz="1800" b="0" i="0" dirty="0" err="1">
                <a:solidFill>
                  <a:srgbClr val="222B36"/>
                </a:solidFill>
                <a:latin typeface="Calibri"/>
              </a:rPr>
              <a:t>quel</a:t>
            </a:r>
            <a:r>
              <a:rPr sz="1800" b="0" i="0" dirty="0">
                <a:solidFill>
                  <a:srgbClr val="222B36"/>
                </a:solidFill>
                <a:latin typeface="Calibri"/>
              </a:rPr>
              <a:t> punto.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Arriva il pacchetto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XDP lo intercetta appena la scheda lo riceve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33472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79776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2962656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Legge le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stato dei collegamenti, porta d'ingresso, TTL, identità del nodo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64608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10912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193792" y="2788920"/>
            <a:ext cx="566928" cy="56692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La rete calcola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solo numeri interi: nel kernel non c'è la virgola mobile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5744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242048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7424928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Esce una 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numero, che da solo non significa niente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26880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473184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56064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Azione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configurazione traduce la classe in una porta, oppure in «scarta»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 dirty="0" err="1">
                <a:solidFill>
                  <a:srgbClr val="FFFFFF"/>
                </a:solidFill>
                <a:latin typeface="Calibri"/>
              </a:rPr>
              <a:t>Tutto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questo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deve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stare in </a:t>
            </a:r>
            <a:r>
              <a:rPr sz="1700" b="1" i="0" dirty="0" err="1">
                <a:solidFill>
                  <a:srgbClr val="FFFFFF"/>
                </a:solidFill>
                <a:latin typeface="Calibri"/>
              </a:rPr>
              <a:t>qualche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FFFFFF"/>
                </a:solidFill>
                <a:latin typeface="Calibri"/>
              </a:rPr>
              <a:t>centinaio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 di </a:t>
            </a:r>
            <a:r>
              <a:rPr sz="1700" b="1" i="0" dirty="0" err="1">
                <a:solidFill>
                  <a:srgbClr val="FFFFFF"/>
                </a:solidFill>
                <a:latin typeface="Calibri"/>
              </a:rPr>
              <a:t>nanosecondi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una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volta per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ogni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pacchetto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. La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domanda</a:t>
            </a:r>
            <a:r>
              <a:rPr lang="it-IT" sz="1700" b="0" i="0" dirty="0">
                <a:solidFill>
                  <a:srgbClr val="FFFFFF"/>
                </a:solidFill>
                <a:latin typeface="Calibri"/>
              </a:rPr>
              <a:t> della tesi: </a:t>
            </a:r>
            <a:r>
              <a:rPr lang="it-IT" sz="1700" b="1" i="0" dirty="0">
                <a:solidFill>
                  <a:srgbClr val="FFFFFF"/>
                </a:solidFill>
                <a:latin typeface="Calibri"/>
              </a:rPr>
              <a:t>quanto del programma posso lasciare configurabile, prima che il costo diventi inaccettabile?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CHIAVE DI TUTTA LA PRESENTAZIONE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Quattro versioni, che cambiano per una cosa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222B36"/>
                </a:solidFill>
                <a:latin typeface="Calibri"/>
              </a:rPr>
              <a:t>*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Solo P1 statica può congelare anche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quali interfacce il nodo ha davvero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: le colonne dei collegamenti che non esistono non vengono generate (se un link è su o giù resta letto a runtime). Serve il nodo congelato, perché le porte dipendono da quale nodo si è. Nelle misure è usato solo nell'asse «porte presenti»; altrove P1 statica congela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solo il 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DA DOVE VIENE LA DIFFERENZA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compilatore vede i pesi, oppure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Da questa differenza discendono tutti i risultati che seguono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E07A2D"/>
                </a:solidFill>
                <a:latin typeface="Calibri"/>
              </a:rPr>
              <a:t>Specializzata (P1, P1.5)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37 * x0;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-12 * x1;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sono numeri scritti nel programma. Il compilatore li vede: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cancella le moltiplicazioni per zero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semplifica le altre.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2E9C6E"/>
                </a:solidFill>
                <a:latin typeface="Calibri"/>
              </a:rPr>
              <a:t>Generica (P2, P3)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for (i …)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    h[j] += W[…] * x[i];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stanno in una tabella e il compilatore non li vede. Il ciclo è scritto per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caso peggiore ammesso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non per la forma vera.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Nel primo caso il programma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è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quel modello, e vale solo per lui. Nel secondo un programma solo serve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qualunque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modello, ma deve leggere tutto ogni volta.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1930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200" b="1" i="0">
                <a:solidFill>
                  <a:srgbClr val="E07A2D"/>
                </a:solidFill>
                <a:latin typeface="Calibri"/>
              </a:rPr>
              <a:t>P2 E P3 · UN PROGRAMMA, TANTI MODELLI</a:t>
            </a:r>
            <a:endParaRPr sz="1200" b="1" i="0">
              <a:solidFill>
                <a:srgbClr val="E07A2D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it-IT" sz="3000" b="1" i="0">
                <a:solidFill>
                  <a:srgbClr val="1F3A5F"/>
                </a:solidFill>
                <a:latin typeface="Calibri"/>
              </a:rPr>
              <a:t>Ogni modello porta il proprio significato delle classi</a:t>
            </a:r>
            <a:endParaRPr sz="3000" b="1" i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100" i="1">
                <a:solidFill>
                  <a:srgbClr val="6B7C93"/>
                </a:solidFill>
                <a:latin typeface="Calibri"/>
              </a:rPr>
              <a:t>Test: 53/53 su P2 e P3, con controllo negativo  ·  misure del 24/09  ·  quaderno di settembre, § 3.4</a:t>
            </a:r>
            <a:endParaRPr sz="1100" i="1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149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353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2200" b="1" i="0">
                <a:solidFill>
                  <a:srgbClr val="E07A2D"/>
                </a:solidFill>
                <a:latin typeface="Calibri"/>
              </a:rPr>
              <a:t>Prima: una tabella per tutti</a:t>
            </a:r>
            <a:endParaRPr sz="2200" b="1" i="0">
              <a:solidFill>
                <a:srgbClr val="E07A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39"/>
            <a:ext cx="448056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act = class_action[classe];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// la stessa per ogni modello</a:t>
            </a:r>
            <a:endParaRPr sz="1500" i="0">
              <a:solidFill>
                <a:srgbClr val="E8ECF1"/>
              </a:solidFill>
              <a:latin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3606800"/>
            <a:ext cx="4846320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600" i="0">
                <a:solidFill>
                  <a:srgbClr val="222B36"/>
                </a:solidFill>
                <a:latin typeface="Calibri"/>
              </a:rPr>
              <a:t>Un secondo modello che dava alle classi un altro significato veniva </a:t>
            </a:r>
            <a:r>
              <a:rPr lang="it-IT" sz="1600" b="1" i="0">
                <a:solidFill>
                  <a:srgbClr val="222B36"/>
                </a:solidFill>
                <a:latin typeface="Calibri"/>
              </a:rPr>
              <a:t>rifiutato</a:t>
            </a:r>
            <a:r>
              <a:rPr lang="it-IT" sz="1600" i="0">
                <a:solidFill>
                  <a:srgbClr val="222B36"/>
                </a:solidFill>
                <a:latin typeface="Calibri"/>
              </a:rPr>
              <a:t>: un programma solo, ma per modelli con le stesse classi.</a:t>
            </a:r>
            <a:endParaRPr sz="160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149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353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2200" b="1" i="0">
                <a:solidFill>
                  <a:srgbClr val="2E9C6E"/>
                </a:solidFill>
                <a:latin typeface="Calibri"/>
              </a:rPr>
              <a:t>Ora: una per modello</a:t>
            </a:r>
            <a:endParaRPr sz="2200" b="1" i="0">
              <a:solidFill>
                <a:srgbClr val="2E9C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39"/>
            <a:ext cx="448056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act = class_action[model_id][classe];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// righe proprie per ogni modello</a:t>
            </a:r>
            <a:endParaRPr sz="1500" i="0">
              <a:solidFill>
                <a:srgbClr val="E8ECF1"/>
              </a:solidFill>
              <a:latin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37960" y="3606800"/>
            <a:ext cx="4846320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600" i="0">
                <a:solidFill>
                  <a:srgbClr val="222B36"/>
                </a:solidFill>
                <a:latin typeface="Calibri"/>
              </a:rPr>
              <a:t>Modello A: la classe 0 inoltra, la 1 scarta; modello B l'opposto. </a:t>
            </a:r>
            <a:r>
              <a:rPr lang="it-IT" sz="1600" b="1" i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600" i="0">
                <a:solidFill>
                  <a:srgbClr val="222B36"/>
                </a:solidFill>
                <a:latin typeface="Calibri"/>
              </a:rPr>
              <a:t> nello stesso programma, e ricaricarne uno non tocca gli altri.</a:t>
            </a:r>
            <a:endParaRPr sz="160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48640" y="50800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079999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it-IT" sz="1600" b="1" i="0">
                <a:solidFill>
                  <a:srgbClr val="FFFFFF"/>
                </a:solidFill>
                <a:latin typeface="Calibri"/>
              </a:rPr>
              <a:t>Stesse letture di tabella</a:t>
            </a:r>
            <a:r>
              <a:rPr lang="it-IT" sz="1600" i="0">
                <a:solidFill>
                  <a:srgbClr val="FFFFFF"/>
                </a:solidFill>
                <a:latin typeface="Calibri"/>
              </a:rPr>
              <a:t>, latenza entro il rumore, nessuna crescita da 1 a 8 modelli. Il prezzo è in memoria: </a:t>
            </a:r>
            <a:r>
              <a:rPr lang="it-IT" sz="1600" b="1" i="0">
                <a:solidFill>
                  <a:srgbClr val="FFFFFF"/>
                </a:solidFill>
                <a:latin typeface="Calibri"/>
              </a:rPr>
              <a:t>128 KiB</a:t>
            </a:r>
            <a:r>
              <a:rPr lang="it-IT" sz="1600" i="0">
                <a:solidFill>
                  <a:srgbClr val="FFFFFF"/>
                </a:solidFill>
                <a:latin typeface="Calibri"/>
              </a:rPr>
              <a:t> di tabella per pipeline.</a:t>
            </a:r>
            <a:endParaRPr sz="1600" i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005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Tre misure, tre domande diverse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Non vanno moltiplicate fra loro: rispondono a domande diverse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programma da solo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kernel esegue il programma su un pacchetto preparato, in un ciclo. Niente schede, niente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Quanto costa il </a:t>
            </a:r>
            <a:r>
              <a:rPr sz="1500" b="1" i="0">
                <a:solidFill>
                  <a:srgbClr val="1F3A5F"/>
                </a:solidFill>
                <a:latin typeface="Calibri"/>
              </a:rPr>
              <a:t>calcolo</a:t>
            </a:r>
            <a:r>
              <a:rPr sz="1500" b="0" i="0">
                <a:solidFill>
                  <a:srgbClr val="1F3A5F"/>
                </a:solidFill>
                <a:latin typeface="Calibri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1999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E07A2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Tre orologi nel nodo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Tre marcature di tempo: all'ingresso del programma (T1), prima di inoltrare (T2), all'arrivo dall'altra parte (T3).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9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09159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07A2D"/>
                </a:solidFill>
                <a:latin typeface="Calibri"/>
              </a:rPr>
              <a:t>Quanta parte del tempo è la </a:t>
            </a:r>
            <a:r>
              <a:rPr sz="1500" b="1" i="0">
                <a:solidFill>
                  <a:srgbClr val="E07A2D"/>
                </a:solidFill>
                <a:latin typeface="Calibri"/>
              </a:rPr>
              <a:t>rete neurale</a:t>
            </a:r>
            <a:r>
              <a:rPr sz="1500" b="0" i="0">
                <a:solidFill>
                  <a:srgbClr val="E07A2D"/>
                </a:solidFill>
                <a:latin typeface="Calibri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8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38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2E9C6E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nodo sotto traffico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generatore spinge più pacchetti di quanti il nodo ne regga, per minuti, e si contano quelli elaborati.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38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9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198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E9C6E"/>
                </a:solidFill>
                <a:latin typeface="Calibri"/>
              </a:rPr>
              <a:t>Quanti pacchetti regge </a:t>
            </a:r>
            <a:r>
              <a:rPr sz="1500" b="1" i="0">
                <a:solidFill>
                  <a:srgbClr val="2E9C6E"/>
                </a:solidFill>
                <a:latin typeface="Calibri"/>
              </a:rPr>
              <a:t>davvero</a:t>
            </a:r>
            <a:r>
              <a:rPr sz="1500" b="0" i="0">
                <a:solidFill>
                  <a:srgbClr val="2E9C6E"/>
                </a:solidFill>
                <a:latin typeface="Calibri"/>
              </a:rPr>
              <a:t> il nodo?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PRIMO RISULTATO · IL PROGRAMMA DA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36 → 258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Stesso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modello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, 319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pesi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 · 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minimo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su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7 prove  ·  BPF_PROG_TEST_RUN  ·  P1 come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oggetto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AOT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1 028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configurabilità si paga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(6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3), non nell'aritmetica. Rendere configurabile la forma (P2)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P1; anche la profondità (P3)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Fra P1 e P1.5 quasi niente.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non separa più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installare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modello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nuovo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su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un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nodo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già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in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servizio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 (scala </a:t>
            </a:r>
            <a:r>
              <a:rPr sz="1100" b="0" i="1" dirty="0" err="1">
                <a:solidFill>
                  <a:srgbClr val="6B7C93"/>
                </a:solidFill>
                <a:latin typeface="Calibri"/>
              </a:rPr>
              <a:t>logaritmica</a:t>
            </a:r>
            <a:r>
              <a:rPr sz="1100" b="0" i="1" dirty="0">
                <a:solidFill>
                  <a:srgbClr val="6B7C93"/>
                </a:solidFill>
                <a:latin typeface="Calibri"/>
              </a:rPr>
              <a:t>) 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Sul nodo si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5–8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come P2 e P3. Anche compilando,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meno di 0,15 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Compilando sul nodo con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BCC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servirebbero ~0,7 s, perché BCC rilegge gli header del kernel a ogni compilazione.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che resta a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nessun compilatore, da nessuna parte. P1 ne vuole uno per ogni modello nuovo, su qualche macchina.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tempo per cambiare modello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è più un criterio di scelta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millisecondi per tutte. Si sceglie sul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(~50 ns di rete con i pesi compilati, ~220–380 con quelli da tabella) e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dove serve un compilatore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BPF_PROG_TEST_RUN, minimo su 7 prove  ·  rimisura del 23/09, P1 come oggetto AOT  ·  cifre assolute valide per questa VM, rapporti fra pipeline stabili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L'identità del nodo attiva una colonna sola di pesi. 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P1 statica la conosce già alla compilazione e la somma al </a:t>
            </a:r>
            <a:r>
              <a:rPr lang="it-IT" sz="1400" b="0" i="0" dirty="0" err="1">
                <a:solidFill>
                  <a:srgbClr val="222B36"/>
                </a:solidFill>
                <a:latin typeface="Calibri"/>
              </a:rPr>
              <a:t>bias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; le altre la leggono da tabella. In nessun caso il lavoro per pacchetto dipende dalla taglia della rete.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P1 24 → 58 ns, P3 239 → 298 ns. Un neurone in più è lavoro vero, a ogni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strato, da 1 a 6 strati  ·  il resto del modello fermo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685855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ricompila e srotola: 14 668 → 18 801 istruzioni. P3 non si muove: 12 349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paga: 204 → 413 ns da 1 a 6 strati, perché ogni strato è un salto fra programmi (da 2 a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profondo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si paga sempre: con P2 in un programma più grande da ricompilare (~830 istruzioni per strato), con P3 in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~42 ns per pacchetto a ogni strato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P3 è la più flessibile, ed è quella che la profondità rallenta di più.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P2 138 → 235 ns, P3 232 → 406 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41–62 ns senza un andamento: srotolano tutto in una funzione sola.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specializzate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la forma della rete si sceglie solo per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accuratezza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Con 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generiche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a parità di pesi, conviene una rete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larga e poco profonda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da 1 a 5 strati la latenza sale del 70–75 %.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moltiplicazione è una costante della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Contando le moltiplicazioni dalla forma del modello, per P3 la retta spiega l'11 % dei punti; contando quelle eseguite, il 92 %  ·  rimisura del 23/09</a:t>
            </a:r>
          </a:p>
        </p:txBody>
      </p:sp>
      <p:pic>
        <p:nvPicPr>
          <p:cNvPr id="7" name="Picture 6" descr="campaign_macs_eff_late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0,91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 dirty="0" err="1">
                <a:solidFill>
                  <a:srgbClr val="222B36"/>
                </a:solidFill>
                <a:latin typeface="Calibri"/>
              </a:rPr>
              <a:t>Contando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moltiplicazioni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davvero</a:t>
            </a:r>
            <a:r>
              <a:rPr sz="1400" b="1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eseguite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, quattro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esperimenti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diversi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cadono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sulla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stessa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retta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. Un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ingresso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«a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una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casella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accesa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» ne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attiva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222B36"/>
                </a:solidFill>
                <a:latin typeface="Calibri"/>
              </a:rPr>
              <a:t>una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colonna</a:t>
            </a:r>
            <a:r>
              <a:rPr sz="1400" b="0" i="0" dirty="0">
                <a:solidFill>
                  <a:srgbClr val="222B36"/>
                </a:solidFill>
                <a:latin typeface="Calibri"/>
              </a:rPr>
              <a:t> sola.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costo di un modello si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stima prima di misurarlo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moltiplicazioni eseguite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compilati) o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~0,9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da tabella), più il costo fisso della pipeline. Una feature one-hot conta una colonna, qualunque sia la sua larghezza.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una versione dimagrisce, le altre non se ne accorgono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1 028 → 223 istruzioni, 45 → 23 ns.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latenza invariate: zero, letto da una tabella,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Potare il modello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(pesi a zero) rende più veloce solo le versioni specializzate: al 90 % di zeri P1.5 dimezza la latenza e scende a un quinto delle istruzioni. Con P2 e P3 la potatura non dà niente: va giustificata solo dall'accuratezza.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VALIDAZIONE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 modello solo non basta a provare che il codice è generico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Pesi casuali, nessun rapporto con il modello di riferimento  ·  300 ingressi per modello, sempre gli stessi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5669279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1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6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Modello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ones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11-2-3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15-4-4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18-6-5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ipa_like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ipa_ttl16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  (TTL/16)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sparse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deep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65-4-4-4-7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117-8-8-9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1 097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00200"/>
            <a:ext cx="5029200" cy="1061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6600" b="1" i="0">
                <a:solidFill>
                  <a:srgbClr val="2E9C6E"/>
                </a:solidFill>
                <a:latin typeface="Calibri"/>
              </a:rPr>
              <a:t>100 %</a:t>
            </a:r>
            <a:endParaRPr sz="6600" b="1" i="0">
              <a:solidFill>
                <a:srgbClr val="2E9C6E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5029200" cy="848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700" b="0" i="0">
                <a:solidFill>
                  <a:srgbClr val="222B36"/>
                </a:solidFill>
                <a:latin typeface="Calibri"/>
              </a:rPr>
              <a:t>delle decisioni identiche fra il riferimento in Python e il programma nel kernel, su tutti e otto i modelli (2 400 su 2 400).</a:t>
            </a:r>
            <a:endParaRPr sz="1700" b="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75120" y="3840480"/>
            <a:ext cx="5029200" cy="21945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75120" y="3840480"/>
            <a:ext cx="82296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0" y="4005072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E un controllo in più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416552"/>
            <a:ext cx="4617720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riferimento Python 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codice C generato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P1 vengono confrontati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direttamente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numero per numero: due implementazioni coerenti con sé stesse ma diverse fra loro non passerebbero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CHE COSA HANNO TROVATO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bug che il modello di riferimento non faceva vedere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Entrambi corretti: la scala viaggia nella scheda del modello, la traduzione classe → azione è dichiarata e validata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1 · La scala del TTL era nel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TTL entra nella rete diviso per una costante, scelta durante l'addestramento. Tutte e tre le pipeline la fissavano a 30 nel programma.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Modello addestrato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TTL/16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eseguito nel kernel con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TTL/30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Il modello di riferimento usa proprio 30: su di lui il bug è invisibile.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rete produce un numero. Che cosa significhi lo dichiara la configurazione, non la rete.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dava per scontato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classe 0 → porta 0, classe 1 → porta 1…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«scarta» = ultima classe.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Nel modello ricevuto le classi sono sette e quella che scarta è la sesta.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Due assunzioni vere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per coincidenza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su un modello solo. Sono i modelli sintetici ad averle fatte cadere.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SONO STATI CORRETTI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Tutto ciò che dipende dal modello sta nella scheda del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La scheda del modello è ipa/model_meta.json: il codice non assume più niente su scala e classi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440680" cy="82296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E07A2D"/>
                </a:solidFill>
                <a:latin typeface="Calibri"/>
              </a:rPr>
              <a:t>1 · La scala del TTL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scala di ogni feature è un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dato del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feature_scales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nella scheda), non una costante del codice.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P1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compila dal descrittore;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P2 e P3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leggono a runtime dal descrittore, in un byte che era già libero: nessun cambio di formato.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Modello sintetico addestrato su TTL/16: con la scala giusta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300 decisioni su 300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identiche al riferimento; alterandola nella tabella del nodo le decisioni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cambiano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(controllo negativo).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5440680" cy="82296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2E9C6E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4937760" cy="148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Il modello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dichiara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cosa significa ogni classe, e il nodo dichiara quale interfaccia realizza ogni porta: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classe → azione → porta logica → interfaccia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(slide successiva).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P1 compila la catena, P2 e P3 la leggono dalla tabella 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class_action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 per (modello, classe): modelli con semantiche diverse </a:t>
            </a:r>
            <a:r>
              <a:rPr lang="it-IT" sz="1400" b="1" i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 nello stesso programma.</a:t>
            </a:r>
            <a:endParaRPr sz="1400" b="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onsolas"/>
              </a:rPr>
              <a:t>test_class_semantics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69 controlli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 cinque schemi di classi diversi da quello del modello di riferimento, più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72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eseguiti nel kernel.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Scala delle feature e significato delle classi 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viaggiano con il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cambiare modello non richiede di toccare il codice, e un modello incoerente viene rifiutato al caricamento invece di dare decisioni sbagliate.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CLASSE NON È LA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Classe → azione → porta logica → interfaccia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Esempio con la configurazione reale del modello: 7 classi, 0–4 inoltrano sulle porte logiche 0–4, 5 scarta, 6 non usata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251460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Classe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della rete: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un numero da 0 a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rete neurale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8960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01568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1568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Azione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inoltra,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o non usata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61888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54496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54496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54496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Porta logica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come la intende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il modello, uguale su ogni nodo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14816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07424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07424" y="1463040"/>
            <a:ext cx="2514600" cy="73152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07424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2E9C6E"/>
                </a:solidFill>
                <a:latin typeface="Calibri"/>
              </a:rPr>
              <a:t>Interfaccia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nome, ifindex e MAC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del vicino su QUESTO nodo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configurazione del nodo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3101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6B7C93"/>
                </a:solidFill>
                <a:latin typeface="Calibri"/>
              </a:rPr>
              <a:t>TRE ESEMPI, SU UN NODO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48640" y="3611880"/>
          <a:ext cx="11064240" cy="1609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rete decide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Azione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Porta logica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Interfaccia (nodo)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Il programma XDP fa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inoltra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porta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per es. eth3, ifindex 209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riscrive i MAC, bpf_redirect(209)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scarta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XDP_DROP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non usata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XDP_PASS: decide lo stack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48640" y="5440680"/>
            <a:ext cx="11094415" cy="82296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440680"/>
            <a:ext cx="82296" cy="82296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5138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5440680"/>
            <a:ext cx="967709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cosa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fare,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dove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Lo stesso modello funziona su nodi con interfacce diverse (su un altro nodo la porta 2 può essere eth1, ifindex 17), e nessuna delle due parti deve indovinare l'altra: niente più «classe k = interfaccia k».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banco: misurare il costo del nodo su traffico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macchina virtuale, quattro processori: generatore, nodo e nodo successivo ciascuno sul proprio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Generatore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crea i pacchetti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1 e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52928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52928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256 posti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(cavo virtuale)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8032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57216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DEBDB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57216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E07A2D"/>
                </a:solidFill>
                <a:latin typeface="Calibri"/>
              </a:rPr>
              <a:t>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pipeline in XDP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61504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61504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 d'uscita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verso il nodo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successivo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36608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65792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Nodo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conta e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299008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C0443C"/>
                </a:solidFill>
                <a:latin typeface="Calibri"/>
              </a:rPr>
              <a:t>se è piena: </a:t>
            </a:r>
            <a:r>
              <a:rPr sz="1200" b="1" i="0">
                <a:solidFill>
                  <a:srgbClr val="C0443C"/>
                </a:solidFill>
                <a:latin typeface="Calibri"/>
              </a:rPr>
              <a:t>respinto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1520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Coda sempre piena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generatore offre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più pacchetti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quanti il nodo riesca a elaborare.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4480559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19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Nodo sempre occupato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79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CPU 3 non resta mai senza lavoro: il suo ritmo di elaborazione è la sua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capacità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18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8229598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58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Costo = 1 / capacità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8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Se elabora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secondo, spende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1/6 000 000 s ≈ 167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ciascuno.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8640" y="534924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960" y="54223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534924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Si misura per 300 ms quanti pacchetti il programma del nodo ha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elaborato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(inoltrati, scartati o passati allo stack):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 = tempo / pacchetti elaborati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 · LA FINESTRA DI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Si misura solo mentre il sistema è a regime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19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Rate = differenze dei contatori (generatore e nodo) divise per l'intervallo fra le due letture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avvio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i thread del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 partono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222B36"/>
                </a:solidFill>
                <a:latin typeface="Calibri"/>
              </a:rPr>
              <a:t>assestamento</a:t>
            </a:r>
            <a:endParaRPr sz="1600" b="1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774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100 ms: la coda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si riempie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misura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300 ms a regime: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tutti trasmettono, coda piena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92608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fermato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48640" y="1645920"/>
            <a:ext cx="11064240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1">
                <a:solidFill>
                  <a:srgbClr val="6B7C93"/>
                </a:solidFill>
                <a:latin typeface="Calibri"/>
              </a:rPr>
              <a:t>tempo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4048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3840480"/>
            <a:ext cx="82296" cy="2377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4005072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Perché così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416552"/>
            <a:ext cx="5074920" cy="1755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Avvio e arresto del generatore restano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fuori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dalla misura: i suoi thread partono con fino a 100 ms di sfasamento.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Le due letture sono istantanee (&lt; 3 ms): se l'host sospende la VM durante una lettura, la lettura si rifà.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durata non dipende da nessuna stima del rate.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3840480"/>
          <a:ext cx="539496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ns per pacchetto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1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2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3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4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466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6309360" y="544068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Stesso costo del nodo in quattro sessioni con condizioni diverse (pacchetto fisso, TTL variabile, taglie diverse, classi diverse): scarti di pochi punti percentuali.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RISULTATO PRINCIPALE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nodo, dalla ricezione all'inoltro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20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5 giri, 64 byte, controllo di validità superato  ·  stessa sessione per tutte le righe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8,5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~170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6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335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493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costano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~120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tutte.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~50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è letta da tabella,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~375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la profondità: un nodo regge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 per CPU.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DENTRO IL NODO · TRE OROLOGI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del tempo è il programma 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21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T1 all'ingresso del programma, T2 prima di bpf_redirect, T3 all'arrivo dall'altra parte  ·  T2−T1 è il minimo osservato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Parse, lettura delle feature, rete neurale, decisione: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(baseline)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271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(P3).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resto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Ricezione, redirect e accodamento, più il costo di tabelle e salti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sotto carico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cresce con la pipeline, da 90 a 222 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T2−T1 è il caso più fortunato del solo programma; il costo del nodo è la media sotto carico continuo.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Per dimensionare un nodo vale il costo del 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; per capire dove va il tempo dentro il programma vale T2−T1.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22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Classe e porta d'uscita: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oltre il ±10 % di rumore fra sessioni.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 numero per pipeline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descrivere il costo del nodo: non dipende da taglia del pacchetto, classe decisa, porta d'uscita o TTL. Il traffico in bit al secondo cresce quindi con la taglia del pacchetto.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ALTRE CORREZIONI DI SETTEMBRE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Quello che non si vedeva dai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23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Tutto verificato sul kernel della macchina virtuale  ·  dettagli nel quaderno, capitolo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210312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Il P1 dei nodi non inoltrava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L'oggetto precompilato mandava ogni pacchetto 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loopback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 Corretto: consegna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11 su 11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82296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Tutti i test di P1 sull'oggetto vero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5029200" cy="528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Consegna 29/29, semantica 72/72, </a:t>
            </a:r>
            <a:r>
              <a:rPr lang="it-IT" sz="1600" b="0" i="0">
                <a:solidFill>
                  <a:srgbClr val="222B36"/>
                </a:solidFill>
                <a:latin typeface="Calibri"/>
              </a:rPr>
              <a:t>modelli generati 63/63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P1 statica = P1.5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80/80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82296" cy="210312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09651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Riferimento = codice generato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0799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Python e il C di P1 confrontati numero per numero su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 modelli × 300 ingressi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931920"/>
            <a:ext cx="82296" cy="210312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409651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La scala letta davvero in P2 e 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507992"/>
            <a:ext cx="5029200" cy="528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 dirty="0" err="1">
                <a:solidFill>
                  <a:srgbClr val="222B36"/>
                </a:solidFill>
                <a:latin typeface="Calibri"/>
              </a:rPr>
              <a:t>Alterandola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decisioni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cambiano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;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giusta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coincidono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. </a:t>
            </a:r>
            <a:r>
              <a:rPr lang="it-IT" sz="1600" b="0" i="0" dirty="0">
                <a:solidFill>
                  <a:srgbClr val="222B36"/>
                </a:solidFill>
                <a:latin typeface="Calibri"/>
              </a:rPr>
              <a:t>E modelli con semantiche diverse ora </a:t>
            </a:r>
            <a:r>
              <a:rPr lang="it-IT" sz="1600" b="1" i="0" dirty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600" b="0" i="0" dirty="0">
                <a:solidFill>
                  <a:srgbClr val="222B36"/>
                </a:solidFill>
                <a:latin typeface="Calibri"/>
              </a:rPr>
              <a:t> (53/53).</a:t>
            </a:r>
            <a:endParaRPr sz="1600" b="0" i="0" dirty="0">
              <a:solidFill>
                <a:srgbClr val="222B36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3612</Words>
  <Application>Microsoft Office PowerPoint</Application>
  <PresentationFormat>Widescreen</PresentationFormat>
  <Paragraphs>449</Paragraphs>
  <Slides>23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2026-09-25T14:25:18Z</dcterms:modified>
  <cp:category/>
</cp:coreProperties>
</file>