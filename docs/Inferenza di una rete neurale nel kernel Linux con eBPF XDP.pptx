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4"/>
    <p:sldId id="276" r:id="rId21"/>
    <p:sldId id="285" r:id="rId34"/>
    <p:sldId id="283" r:id="rId32"/>
    <p:sldId id="284" r:id="rId33"/>
    <p:sldId id="286" r:id="rId35"/>
    <p:sldId id="287" r:id="rId36"/>
    <p:sldId id="281" r:id="rId30"/>
    <p:sldId id="288" r:id="rId37"/>
    <p:sldId id="289" r:id="rId38"/>
    <p:sldId id="278" r:id="rId23"/>
    <p:sldId id="282" r:id="rId31"/>
    <p:sldId id="290" r:id="rId39"/>
    <p:sldId id="291" r:id="rId40"/>
    <p:sldId id="292" r:id="rId22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909" autoAdjust="0"/>
  </p:normalViewPr>
  <p:slideViewPr>
    <p:cSldViewPr snapToGrid="0" snapToObjects="1">
      <p:cViewPr varScale="1">
        <p:scale>
          <a:sx n="80" d="100"/>
          <a:sy n="80" d="100"/>
        </p:scale>
        <p:origin x="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8" Type="http://schemas.openxmlformats.org/officeDocument/2006/relationships/slide" Target="slides/slide17.xml"/><Relationship Id="rId9" Type="http://schemas.openxmlformats.org/officeDocument/2006/relationships/slide" Target="slides/slide18.xml"/><Relationship Id="rId10" Type="http://schemas.openxmlformats.org/officeDocument/2006/relationships/slide" Target="slides/slide1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21" Type="http://schemas.openxmlformats.org/officeDocument/2006/relationships/slide" Target="slides/slide3.xml"/><Relationship Id="rId22" Type="http://schemas.openxmlformats.org/officeDocument/2006/relationships/slide" Target="slides/slide16.xml"/><Relationship Id="rId23" Type="http://schemas.openxmlformats.org/officeDocument/2006/relationships/slide" Target="slides/slide1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9.xml"/><Relationship Id="rId31" Type="http://schemas.openxmlformats.org/officeDocument/2006/relationships/slide" Target="slides/slide13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4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4.xml"/><Relationship Id="rId40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5:17:48.142" v="404" actId="47"/>
      <pc:docMkLst>
        <pc:docMk/>
      </pc:docMkLst>
      <pc:sldChg chg="modSp mod">
        <pc:chgData name="Ettore Cantile" userId="2f5e44afd0b03182" providerId="LiveId" clId="{E1385F0F-24B1-4705-8EF7-8D82C33CA9CE}" dt="2026-09-25T15:14:45.321" v="331" actId="20577"/>
        <pc:sldMkLst>
          <pc:docMk/>
          <pc:sldMk cId="0" sldId="256"/>
        </pc:sldMkLst>
        <pc:spChg chg="mod">
          <ac:chgData name="Ettore Cantile" userId="2f5e44afd0b03182" providerId="LiveId" clId="{E1385F0F-24B1-4705-8EF7-8D82C33CA9CE}" dt="2026-09-25T15:14:45.321" v="331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15:15:50.626" v="378" actId="20577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15:15:50.626" v="378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0:33.325" v="328" actId="20577"/>
        <pc:sldMkLst>
          <pc:docMk/>
          <pc:sldMk cId="0" sldId="265"/>
        </pc:sldMkLst>
        <pc:spChg chg="mod">
          <ac:chgData name="Ettore Cantile" userId="2f5e44afd0b03182" providerId="LiveId" clId="{E1385F0F-24B1-4705-8EF7-8D82C33CA9CE}" dt="2026-09-25T15:10:33.307" v="327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0:33.325" v="328" actId="20577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7:02.618" v="400" actId="20577"/>
        <pc:sldMkLst>
          <pc:docMk/>
          <pc:sldMk cId="0" sldId="267"/>
        </pc:sldMkLst>
        <pc:spChg chg="mod">
          <ac:chgData name="Ettore Cantile" userId="2f5e44afd0b03182" providerId="LiveId" clId="{E1385F0F-24B1-4705-8EF7-8D82C33CA9CE}" dt="2026-09-25T15:17:02.618" v="400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del mod">
        <pc:chgData name="Ettore Cantile" userId="2f5e44afd0b03182" providerId="LiveId" clId="{E1385F0F-24B1-4705-8EF7-8D82C33CA9CE}" dt="2026-09-25T15:17:48.142" v="404" actId="4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7:38.689" v="403" actId="20577"/>
          <ac:spMkLst>
            <pc:docMk/>
            <pc:sldMk cId="0" sldId="279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5T15:15:23.771" v="376" actId="20577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5:23.771" v="376" actId="2057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8A94A6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</c:v>
                </c:pt>
                <c:pt idx="1">
                  <c:v>117</c:v>
                </c:pt>
                <c:pt idx="2">
                  <c:v>124</c:v>
                </c:pt>
                <c:pt idx="3">
                  <c:v>290</c:v>
                </c:pt>
                <c:pt idx="4">
                  <c:v>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cat>
            <c:strRef>
              <c:f>Sheet1!$A$2:$A$5</c:f>
              <c:strCache>
                <c:ptCount val="4"/>
                <c:pt idx="0">
                  <c:v>P2: compila il
programma (una volta)</c:v>
                </c:pt>
                <c:pt idx="1">
                  <c:v>P1: genera e
compila (clang)</c:v>
                </c:pt>
                <c:pt idx="2">
                  <c:v>P1: carica
sul nodo</c:v>
                </c:pt>
                <c:pt idx="3">
                  <c:v>P2 / P3:
scrive la tabella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1524</c:v>
                </c:pt>
                <c:pt idx="1">
                  <c:v>78</c:v>
                </c:pt>
                <c:pt idx="2">
                  <c:v>1.1</c:v>
                </c:pt>
                <c:pt idx="3">
                  <c:v>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dLbls>
          <c:numFmt formatCode="0.#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</c:v>
                </c:pt>
                <c:pt idx="1">
                  <c:v>52</c:v>
                </c:pt>
                <c:pt idx="2">
                  <c:v>49</c:v>
                </c:pt>
                <c:pt idx="3">
                  <c:v>48</c:v>
                </c:pt>
                <c:pt idx="4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59</c:v>
                </c:pt>
                <c:pt idx="1">
                  <c:v>57</c:v>
                </c:pt>
                <c:pt idx="2">
                  <c:v>58</c:v>
                </c:pt>
                <c:pt idx="3">
                  <c:v>55</c:v>
                </c:pt>
                <c:pt idx="4">
                  <c:v>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221</c:v>
                </c:pt>
                <c:pt idx="1">
                  <c:v>237</c:v>
                </c:pt>
                <c:pt idx="2">
                  <c:v>235</c:v>
                </c:pt>
                <c:pt idx="3">
                  <c:v>230</c:v>
                </c:pt>
                <c:pt idx="4">
                  <c:v>232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351</c:v>
                </c:pt>
                <c:pt idx="1">
                  <c:v>351</c:v>
                </c:pt>
                <c:pt idx="2">
                  <c:v>366</c:v>
                </c:pt>
                <c:pt idx="3">
                  <c:v>364</c:v>
                </c:pt>
                <c:pt idx="4">
                  <c:v>362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</c:v>
                </c:pt>
                <c:pt idx="1">
                  <c:v>50</c:v>
                </c:pt>
                <c:pt idx="2">
                  <c:v>58</c:v>
                </c:pt>
                <c:pt idx="3">
                  <c:v>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57</c:v>
                </c:pt>
                <c:pt idx="2">
                  <c:v>72</c:v>
                </c:pt>
                <c:pt idx="3">
                  <c:v>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215</c:v>
                </c:pt>
                <c:pt idx="1">
                  <c:v>236</c:v>
                </c:pt>
                <c:pt idx="2">
                  <c:v>246</c:v>
                </c:pt>
                <c:pt idx="3">
                  <c:v>248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334</c:v>
                </c:pt>
                <c:pt idx="1">
                  <c:v>370</c:v>
                </c:pt>
                <c:pt idx="2">
                  <c:v>390</c:v>
                </c:pt>
                <c:pt idx="3">
                  <c:v>430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547</c:v>
                </c:pt>
                <c:pt idx="1">
                  <c:v>618</c:v>
                </c:pt>
                <c:pt idx="2">
                  <c:v>663</c:v>
                </c:pt>
                <c:pt idx="3">
                  <c:v>739</c:v>
                </c:pt>
                <c:pt idx="4">
                  <c:v>814</c:v>
                </c:pt>
                <c:pt idx="5">
                  <c:v>874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987</c:v>
                </c:pt>
                <c:pt idx="1">
                  <c:v>1045</c:v>
                </c:pt>
                <c:pt idx="2">
                  <c:v>1106</c:v>
                </c:pt>
                <c:pt idx="3">
                  <c:v>1182</c:v>
                </c:pt>
                <c:pt idx="4">
                  <c:v>1245</c:v>
                </c:pt>
                <c:pt idx="5">
                  <c:v>1313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14604</c:v>
                </c:pt>
                <c:pt idx="1">
                  <c:v>15089</c:v>
                </c:pt>
                <c:pt idx="2">
                  <c:v>16813</c:v>
                </c:pt>
                <c:pt idx="3">
                  <c:v>16945</c:v>
                </c:pt>
                <c:pt idx="4">
                  <c:v>17939</c:v>
                </c:pt>
                <c:pt idx="5">
                  <c:v>18937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12288</c:v>
                </c:pt>
                <c:pt idx="1">
                  <c:v>12288</c:v>
                </c:pt>
                <c:pt idx="2">
                  <c:v>12288</c:v>
                </c:pt>
                <c:pt idx="3">
                  <c:v>12288</c:v>
                </c:pt>
                <c:pt idx="4">
                  <c:v>12288</c:v>
                </c:pt>
                <c:pt idx="5">
                  <c:v>12288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(scala logaritmica)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51</c:v>
                </c:pt>
                <c:pt idx="2">
                  <c:v>52</c:v>
                </c:pt>
                <c:pt idx="3">
                  <c:v>56</c:v>
                </c:pt>
                <c:pt idx="4">
                  <c:v>60</c:v>
                </c:pt>
                <c:pt idx="5">
                  <c:v>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49</c:v>
                </c:pt>
                <c:pt idx="1">
                  <c:v>58</c:v>
                </c:pt>
                <c:pt idx="2">
                  <c:v>60</c:v>
                </c:pt>
                <c:pt idx="3">
                  <c:v>65</c:v>
                </c:pt>
                <c:pt idx="4">
                  <c:v>67</c:v>
                </c:pt>
                <c:pt idx="5">
                  <c:v>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204</c:v>
                </c:pt>
                <c:pt idx="1">
                  <c:v>235</c:v>
                </c:pt>
                <c:pt idx="2">
                  <c:v>266</c:v>
                </c:pt>
                <c:pt idx="3">
                  <c:v>274</c:v>
                </c:pt>
                <c:pt idx="4">
                  <c:v>304</c:v>
                </c:pt>
                <c:pt idx="5">
                  <c:v>328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292</c:v>
                </c:pt>
                <c:pt idx="1">
                  <c:v>369</c:v>
                </c:pt>
                <c:pt idx="2">
                  <c:v>424</c:v>
                </c:pt>
                <c:pt idx="3">
                  <c:v>470</c:v>
                </c:pt>
                <c:pt idx="4">
                  <c:v>530</c:v>
                </c:pt>
                <c:pt idx="5">
                  <c:v>580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</c:v>
                </c:pt>
                <c:pt idx="1">
                  <c:v>60</c:v>
                </c:pt>
                <c:pt idx="2">
                  <c:v>59</c:v>
                </c:pt>
                <c:pt idx="3">
                  <c:v>71</c:v>
                </c:pt>
                <c:pt idx="4">
                  <c:v>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71</c:v>
                </c:pt>
                <c:pt idx="1">
                  <c:v>73</c:v>
                </c:pt>
                <c:pt idx="2">
                  <c:v>77</c:v>
                </c:pt>
                <c:pt idx="3">
                  <c:v>85</c:v>
                </c:pt>
                <c:pt idx="4">
                  <c:v>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216</c:v>
                </c:pt>
                <c:pt idx="1">
                  <c:v>236</c:v>
                </c:pt>
                <c:pt idx="2">
                  <c:v>248</c:v>
                </c:pt>
                <c:pt idx="3">
                  <c:v>296</c:v>
                </c:pt>
                <c:pt idx="4">
                  <c:v>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321</c:v>
                </c:pt>
                <c:pt idx="1">
                  <c:v>375</c:v>
                </c:pt>
                <c:pt idx="2">
                  <c:v>419</c:v>
                </c:pt>
                <c:pt idx="3">
                  <c:v>506</c:v>
                </c:pt>
                <c:pt idx="4">
                  <c:v>537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</c:v>
                </c:pt>
                <c:pt idx="1">
                  <c:v>36</c:v>
                </c:pt>
                <c:pt idx="2">
                  <c:v>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52</c:v>
                </c:pt>
                <c:pt idx="1">
                  <c:v>45</c:v>
                </c:pt>
                <c:pt idx="2">
                  <c:v>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222</c:v>
                </c:pt>
                <c:pt idx="1">
                  <c:v>229</c:v>
                </c:pt>
                <c:pt idx="2">
                  <c:v>234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352</c:v>
                </c:pt>
                <c:pt idx="1">
                  <c:v>356</c:v>
                </c:pt>
                <c:pt idx="2">
                  <c:v>367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frame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</c:v>
                </c:pt>
                <c:pt idx="1">
                  <c:v>41</c:v>
                </c:pt>
                <c:pt idx="2">
                  <c:v>41</c:v>
                </c:pt>
                <c:pt idx="3">
                  <c:v>41</c:v>
                </c:pt>
                <c:pt idx="4">
                  <c:v>41</c:v>
                </c:pt>
                <c:pt idx="5">
                  <c:v>41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parse, TTL, redirect, accodamento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51</c:v>
                </c:pt>
                <c:pt idx="3">
                  <c:v>58</c:v>
                </c:pt>
                <c:pt idx="4">
                  <c:v>224</c:v>
                </c:pt>
                <c:pt idx="5">
                  <c:v>359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 solo (BPF_PROG_TEST_RUN)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246</c:v>
                </c:pt>
                <c:pt idx="1">
                  <c:v>303</c:v>
                </c:pt>
                <c:pt idx="2">
                  <c:v>356</c:v>
                </c:pt>
                <c:pt idx="3">
                  <c:v>408</c:v>
                </c:pt>
                <c:pt idx="4">
                  <c:v>453</c:v>
                </c:pt>
                <c:pt idx="5">
                  <c:v>510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sotto traffico, minimo</c:v>
                </c:pt>
              </c:strCache>
            </c:strRef>
          </c:tx>
          <c:spPr>
            <a:ln w="28575">
              <a:solidFill>
                <a:srgbClr val="8FB4D3"/>
              </a:solidFill>
            </a:ln>
          </c:spPr>
          <c:marker>
            <c:symbol val="circle"/>
            <c:size val="6"/>
            <c:spPr>
              <a:solidFill>
                <a:srgbClr val="8FB4D3"/>
              </a:solidFill>
              <a:ln>
                <a:solidFill>
                  <a:srgbClr val="8FB4D3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262</c:v>
                </c:pt>
                <c:pt idx="1">
                  <c:v>312</c:v>
                </c:pt>
                <c:pt idx="2">
                  <c:v>374</c:v>
                </c:pt>
                <c:pt idx="3">
                  <c:v>408</c:v>
                </c:pt>
                <c:pt idx="4">
                  <c:v>461</c:v>
                </c:pt>
                <c:pt idx="5">
                  <c:v>508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sotto traffico, media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322</c:v>
                </c:pt>
                <c:pt idx="1">
                  <c:v>348</c:v>
                </c:pt>
                <c:pt idx="2">
                  <c:v>436</c:v>
                </c:pt>
                <c:pt idx="3">
                  <c:v>509</c:v>
                </c:pt>
                <c:pt idx="4">
                  <c:v>560</c:v>
                </c:pt>
                <c:pt idx="5">
                  <c:v>610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 (4 neuroni)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7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118</c:v>
                </c:pt>
                <c:pt idx="2">
                  <c:v>127</c:v>
                </c:pt>
                <c:pt idx="3">
                  <c:v>286</c:v>
                </c:pt>
                <c:pt idx="4">
                  <c:v>419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7F93A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66</c:v>
                </c:pt>
                <c:pt idx="1">
                  <c:v>120</c:v>
                </c:pt>
                <c:pt idx="2">
                  <c:v>126</c:v>
                </c:pt>
                <c:pt idx="3">
                  <c:v>284</c:v>
                </c:pt>
                <c:pt idx="4">
                  <c:v>419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66</c:v>
                </c:pt>
                <c:pt idx="1">
                  <c:v>119</c:v>
                </c:pt>
                <c:pt idx="2">
                  <c:v>127</c:v>
                </c:pt>
                <c:pt idx="3">
                  <c:v>287</c:v>
                </c:pt>
                <c:pt idx="4">
                  <c:v>418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</c:v>
                </c:pt>
                <c:pt idx="1">
                  <c:v>118</c:v>
                </c:pt>
                <c:pt idx="2">
                  <c:v>124</c:v>
                </c:pt>
                <c:pt idx="3">
                  <c:v>274</c:v>
                </c:pt>
                <c:pt idx="4">
                  <c:v>416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EBBCB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66</c:v>
                </c:pt>
                <c:pt idx="1">
                  <c:v>118</c:v>
                </c:pt>
                <c:pt idx="2">
                  <c:v>126</c:v>
                </c:pt>
                <c:pt idx="3">
                  <c:v>245</c:v>
                </c:pt>
                <c:pt idx="4">
                  <c:v>418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E9FB5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</c:v>
                </c:pt>
                <c:pt idx="1">
                  <c:v>119</c:v>
                </c:pt>
                <c:pt idx="2">
                  <c:v>127</c:v>
                </c:pt>
                <c:pt idx="3">
                  <c:v>268</c:v>
                </c:pt>
                <c:pt idx="4">
                  <c:v>426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6C819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64</c:v>
                </c:pt>
                <c:pt idx="1">
                  <c:v>120</c:v>
                </c:pt>
                <c:pt idx="2">
                  <c:v>126</c:v>
                </c:pt>
                <c:pt idx="3">
                  <c:v>262</c:v>
                </c:pt>
                <c:pt idx="4">
                  <c:v>421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DCC1-41C3-B47A-44DD6F14CF9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4A63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65</c:v>
                </c:pt>
                <c:pt idx="1">
                  <c:v>120</c:v>
                </c:pt>
                <c:pt idx="2">
                  <c:v>126</c:v>
                </c:pt>
                <c:pt idx="3">
                  <c:v>266</c:v>
                </c:pt>
                <c:pt idx="4">
                  <c:v>418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DCC1-41C3-B47A-44DD6F14CF9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66</c:v>
                </c:pt>
                <c:pt idx="1">
                  <c:v>166</c:v>
                </c:pt>
                <c:pt idx="2">
                  <c:v>176</c:v>
                </c:pt>
                <c:pt idx="3">
                  <c:v>304</c:v>
                </c:pt>
                <c:pt idx="4">
                  <c:v>467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6.95</c:v>
                </c:pt>
                <c:pt idx="11">
                  <c:v>7.88</c:v>
                </c:pt>
                <c:pt idx="12">
                  <c:v>8.51</c:v>
                </c:pt>
                <c:pt idx="13">
                  <c:v>8.57</c:v>
                </c:pt>
                <c:pt idx="14">
                  <c:v>8.61</c:v>
                </c:pt>
                <c:pt idx="15">
                  <c:v>8.66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6.93</c:v>
                </c:pt>
                <c:pt idx="11">
                  <c:v>7.96</c:v>
                </c:pt>
                <c:pt idx="12">
                  <c:v>8.09</c:v>
                </c:pt>
                <c:pt idx="13">
                  <c:v>8.11</c:v>
                </c:pt>
                <c:pt idx="14">
                  <c:v>8.14</c:v>
                </c:pt>
                <c:pt idx="15">
                  <c:v>8.17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3.4</c:v>
                </c:pt>
                <c:pt idx="7">
                  <c:v>3.45</c:v>
                </c:pt>
                <c:pt idx="8">
                  <c:v>3.4</c:v>
                </c:pt>
                <c:pt idx="9">
                  <c:v>3.41</c:v>
                </c:pt>
                <c:pt idx="10">
                  <c:v>3.41</c:v>
                </c:pt>
                <c:pt idx="11">
                  <c:v>3.45</c:v>
                </c:pt>
                <c:pt idx="12">
                  <c:v>3.42</c:v>
                </c:pt>
                <c:pt idx="13">
                  <c:v>3.43</c:v>
                </c:pt>
                <c:pt idx="14">
                  <c:v>3.42</c:v>
                </c:pt>
                <c:pt idx="15">
                  <c:v>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2.36</c:v>
                </c:pt>
                <c:pt idx="5">
                  <c:v>2.35</c:v>
                </c:pt>
                <c:pt idx="6">
                  <c:v>2.37</c:v>
                </c:pt>
                <c:pt idx="7">
                  <c:v>2.34</c:v>
                </c:pt>
                <c:pt idx="8">
                  <c:v>2.34</c:v>
                </c:pt>
                <c:pt idx="9">
                  <c:v>2.34</c:v>
                </c:pt>
                <c:pt idx="10">
                  <c:v>2.33</c:v>
                </c:pt>
                <c:pt idx="11">
                  <c:v>2.35</c:v>
                </c:pt>
                <c:pt idx="12">
                  <c:v>2.35</c:v>
                </c:pt>
                <c:pt idx="13">
                  <c:v>2.34</c:v>
                </c:pt>
                <c:pt idx="14">
                  <c:v>2.36</c:v>
                </c:pt>
                <c:pt idx="15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M pacchetti/s chiesti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 inoltrati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6.14</c:v>
                </c:pt>
                <c:pt idx="11">
                  <c:v>6.16</c:v>
                </c:pt>
                <c:pt idx="12">
                  <c:v>6.23</c:v>
                </c:pt>
                <c:pt idx="13">
                  <c:v>6.18</c:v>
                </c:pt>
                <c:pt idx="14">
                  <c:v>6.22</c:v>
                </c:pt>
                <c:pt idx="15">
                  <c:v>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5.64</c:v>
                </c:pt>
                <c:pt idx="10">
                  <c:v>5.71</c:v>
                </c:pt>
                <c:pt idx="11">
                  <c:v>5.74</c:v>
                </c:pt>
                <c:pt idx="12">
                  <c:v>5.76</c:v>
                </c:pt>
                <c:pt idx="13">
                  <c:v>5.77</c:v>
                </c:pt>
                <c:pt idx="14">
                  <c:v>5.78</c:v>
                </c:pt>
                <c:pt idx="15">
                  <c:v>5.81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2.76</c:v>
                </c:pt>
                <c:pt idx="6">
                  <c:v>2.76</c:v>
                </c:pt>
                <c:pt idx="7">
                  <c:v>2.76</c:v>
                </c:pt>
                <c:pt idx="8">
                  <c:v>2.77</c:v>
                </c:pt>
                <c:pt idx="9">
                  <c:v>2.78</c:v>
                </c:pt>
                <c:pt idx="10">
                  <c:v>2.78</c:v>
                </c:pt>
                <c:pt idx="11">
                  <c:v>2.78</c:v>
                </c:pt>
                <c:pt idx="12">
                  <c:v>2.79</c:v>
                </c:pt>
                <c:pt idx="13">
                  <c:v>2.81</c:v>
                </c:pt>
                <c:pt idx="14">
                  <c:v>2.8</c:v>
                </c:pt>
                <c:pt idx="15">
                  <c:v>2.79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1.9</c:v>
                </c:pt>
                <c:pt idx="4">
                  <c:v>1.9</c:v>
                </c:pt>
                <c:pt idx="5">
                  <c:v>1.91</c:v>
                </c:pt>
                <c:pt idx="6">
                  <c:v>1.91</c:v>
                </c:pt>
                <c:pt idx="7">
                  <c:v>1.9</c:v>
                </c:pt>
                <c:pt idx="8">
                  <c:v>1.92</c:v>
                </c:pt>
                <c:pt idx="9">
                  <c:v>1.92</c:v>
                </c:pt>
                <c:pt idx="10">
                  <c:v>1.92</c:v>
                </c:pt>
                <c:pt idx="11">
                  <c:v>1.92</c:v>
                </c:pt>
                <c:pt idx="12">
                  <c:v>1.92</c:v>
                </c:pt>
                <c:pt idx="13">
                  <c:v>1.93</c:v>
                </c:pt>
                <c:pt idx="14">
                  <c:v>1.92</c:v>
                </c:pt>
                <c:pt idx="15">
                  <c:v>1.93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M pacchetti/s chiesti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 inoltrati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</c:v>
                </c:pt>
                <c:pt idx="1">
                  <c:v>116</c:v>
                </c:pt>
                <c:pt idx="2">
                  <c:v>119</c:v>
                </c:pt>
                <c:pt idx="3">
                  <c:v>124</c:v>
                </c:pt>
                <c:pt idx="4">
                  <c:v>125</c:v>
                </c:pt>
                <c:pt idx="5">
                  <c:v>132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121</c:v>
                </c:pt>
                <c:pt idx="1">
                  <c:v>128</c:v>
                </c:pt>
                <c:pt idx="2">
                  <c:v>131</c:v>
                </c:pt>
                <c:pt idx="3">
                  <c:v>132</c:v>
                </c:pt>
                <c:pt idx="4">
                  <c:v>134</c:v>
                </c:pt>
                <c:pt idx="5">
                  <c:v>138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264</c:v>
                </c:pt>
                <c:pt idx="1">
                  <c:v>287</c:v>
                </c:pt>
                <c:pt idx="2">
                  <c:v>329</c:v>
                </c:pt>
                <c:pt idx="3">
                  <c:v>344</c:v>
                </c:pt>
                <c:pt idx="4">
                  <c:v>368</c:v>
                </c:pt>
                <c:pt idx="5">
                  <c:v>396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351</c:v>
                </c:pt>
                <c:pt idx="1">
                  <c:v>421</c:v>
                </c:pt>
                <c:pt idx="2">
                  <c:v>486</c:v>
                </c:pt>
                <c:pt idx="3">
                  <c:v>545</c:v>
                </c:pt>
                <c:pt idx="4">
                  <c:v>595</c:v>
                </c:pt>
                <c:pt idx="5">
                  <c:v>652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</c:v>
                </c:pt>
                <c:pt idx="1">
                  <c:v>104</c:v>
                </c:pt>
                <c:pt idx="2">
                  <c:v>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120</c:v>
                </c:pt>
                <c:pt idx="1">
                  <c:v>112</c:v>
                </c:pt>
                <c:pt idx="2">
                  <c:v>106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295</c:v>
                </c:pt>
                <c:pt idx="1">
                  <c:v>298</c:v>
                </c:pt>
                <c:pt idx="2">
                  <c:v>298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420</c:v>
                </c:pt>
                <c:pt idx="1">
                  <c:v>424</c:v>
                </c:pt>
                <c:pt idx="2">
                  <c:v>423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15.27</c:v>
                </c:pt>
                <c:pt idx="1">
                  <c:v>8.56</c:v>
                </c:pt>
                <c:pt idx="2">
                  <c:v>8.04</c:v>
                </c:pt>
                <c:pt idx="3">
                  <c:v>3.45</c:v>
                </c:pt>
                <c:pt idx="4">
                  <c:v>2.36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9.39</c:v>
                </c:pt>
                <c:pt idx="1">
                  <c:v>6.35</c:v>
                </c:pt>
                <c:pt idx="2">
                  <c:v>5.84</c:v>
                </c:pt>
                <c:pt idx="3">
                  <c:v>2.83</c:v>
                </c:pt>
                <c:pt idx="4">
                  <c:v>1.94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3.29</c:v>
                </c:pt>
                <c:pt idx="1">
                  <c:v>3.1</c:v>
                </c:pt>
                <c:pt idx="2">
                  <c:v>2.91</c:v>
                </c:pt>
                <c:pt idx="3">
                  <c:v>1.57</c:v>
                </c:pt>
                <c:pt idx="4">
                  <c:v>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</c:v>
                </c:pt>
                <c:pt idx="1">
                  <c:v>117</c:v>
                </c:pt>
                <c:pt idx="2">
                  <c:v>124</c:v>
                </c:pt>
                <c:pt idx="3">
                  <c:v>290</c:v>
                </c:pt>
                <c:pt idx="4">
                  <c:v>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106</c:v>
                </c:pt>
                <c:pt idx="1">
                  <c:v>158</c:v>
                </c:pt>
                <c:pt idx="2">
                  <c:v>171</c:v>
                </c:pt>
                <c:pt idx="3">
                  <c:v>354</c:v>
                </c:pt>
                <c:pt idx="4">
                  <c:v>515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283</c:v>
                </c:pt>
                <c:pt idx="1">
                  <c:v>322</c:v>
                </c:pt>
                <c:pt idx="2">
                  <c:v>343</c:v>
                </c:pt>
                <c:pt idx="3">
                  <c:v>636</c:v>
                </c:pt>
                <c:pt idx="4">
                  <c:v>908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46</c:v>
                </c:pt>
                <c:pt idx="2">
                  <c:v>52</c:v>
                </c:pt>
                <c:pt idx="3">
                  <c:v>194</c:v>
                </c:pt>
                <c:pt idx="4">
                  <c:v>318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</c:v>
                </c:pt>
                <c:pt idx="1">
                  <c:v>3.0</c:v>
                </c:pt>
                <c:pt idx="2">
                  <c:v>3.3</c:v>
                </c:pt>
                <c:pt idx="3">
                  <c:v>4.5</c:v>
                </c:pt>
                <c:pt idx="4">
                  <c:v>4.4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1.7</c:v>
                </c:pt>
                <c:pt idx="1">
                  <c:v>2.3</c:v>
                </c:pt>
                <c:pt idx="2">
                  <c:v>2.4</c:v>
                </c:pt>
                <c:pt idx="3">
                  <c:v>3.7</c:v>
                </c:pt>
                <c:pt idx="4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1.5</c:v>
                </c:pt>
                <c:pt idx="2">
                  <c:v>1.7</c:v>
                </c:pt>
                <c:pt idx="3">
                  <c:v>2.9</c:v>
                </c:pt>
                <c:pt idx="4">
                  <c:v>2.9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per ciclo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caricate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</c:v>
                </c:pt>
                <c:pt idx="1">
                  <c:v>606</c:v>
                </c:pt>
                <c:pt idx="2">
                  <c:v>1019</c:v>
                </c:pt>
                <c:pt idx="3">
                  <c:v>15089</c:v>
                </c:pt>
                <c:pt idx="4">
                  <c:v>12288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eseguite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606</c:v>
                </c:pt>
                <c:pt idx="1">
                  <c:v>1220</c:v>
                </c:pt>
                <c:pt idx="2">
                  <c:v>1426</c:v>
                </c:pt>
                <c:pt idx="3">
                  <c:v>4556</c:v>
                </c:pt>
                <c:pt idx="4">
                  <c:v>6573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606</c:v>
                </c:pt>
                <c:pt idx="1">
                  <c:v>1220</c:v>
                </c:pt>
                <c:pt idx="2">
                  <c:v>1426</c:v>
                </c:pt>
                <c:pt idx="3">
                  <c:v>4556</c:v>
                </c:pt>
                <c:pt idx="4">
                  <c:v>6573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607</c:v>
                </c:pt>
                <c:pt idx="1">
                  <c:v>1223</c:v>
                </c:pt>
                <c:pt idx="2">
                  <c:v>1430</c:v>
                </c:pt>
                <c:pt idx="3">
                  <c:v>4556</c:v>
                </c:pt>
                <c:pt idx="4">
                  <c:v>6573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620</c:v>
                </c:pt>
                <c:pt idx="1">
                  <c:v>1225</c:v>
                </c:pt>
                <c:pt idx="2">
                  <c:v>1432</c:v>
                </c:pt>
                <c:pt idx="3">
                  <c:v>4557</c:v>
                </c:pt>
                <c:pt idx="4">
                  <c:v>6576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parte fissa del nodo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225</c:v>
                </c:pt>
                <c:pt idx="1">
                  <c:v>360</c:v>
                </c:pt>
                <c:pt idx="2">
                  <c:v>225</c:v>
                </c:pt>
                <c:pt idx="3">
                  <c:v>360</c:v>
                </c:pt>
                <c:pt idx="4">
                  <c:v>225</c:v>
                </c:pt>
                <c:pt idx="5">
                  <c:v>360</c:v>
                </c:pt>
                <c:pt idx="6">
                  <c:v>225</c:v>
                </c:pt>
                <c:pt idx="7">
                  <c:v>360</c:v>
                </c:pt>
                <c:pt idx="8">
                  <c:v>225</c:v>
                </c:pt>
                <c:pt idx="9">
                  <c:v>360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177</c:v>
                </c:pt>
                <c:pt idx="3">
                  <c:v>180</c:v>
                </c:pt>
                <c:pt idx="4">
                  <c:v>207</c:v>
                </c:pt>
                <c:pt idx="5">
                  <c:v>227</c:v>
                </c:pt>
                <c:pt idx="6">
                  <c:v>788</c:v>
                </c:pt>
                <c:pt idx="7">
                  <c:v>864</c:v>
                </c:pt>
                <c:pt idx="8">
                  <c:v>1258</c:v>
                </c:pt>
                <c:pt idx="9">
                  <c:v>1425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dLbls>
          <c:numFmt formatCode="0;;;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14.0</c:v>
                </c:pt>
                <c:pt idx="1">
                  <c:v>18.1</c:v>
                </c:pt>
                <c:pt idx="2">
                  <c:v>18.5</c:v>
                </c:pt>
                <c:pt idx="3">
                  <c:v>19.3</c:v>
                </c:pt>
                <c:pt idx="4">
                  <c:v>16.1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;;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mancate dell'ultimo livello di cache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</c:v>
                </c:pt>
                <c:pt idx="1">
                  <c:v>402</c:v>
                </c:pt>
                <c:pt idx="2">
                  <c:v>432</c:v>
                </c:pt>
                <c:pt idx="3">
                  <c:v>1013</c:v>
                </c:pt>
                <c:pt idx="4">
                  <c:v>1483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360</c:v>
                </c:pt>
                <c:pt idx="1">
                  <c:v>540</c:v>
                </c:pt>
                <c:pt idx="2">
                  <c:v>587</c:v>
                </c:pt>
                <c:pt idx="3">
                  <c:v>1224</c:v>
                </c:pt>
                <c:pt idx="4">
                  <c:v>1785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733</c:v>
                </c:pt>
                <c:pt idx="1">
                  <c:v>804</c:v>
                </c:pt>
                <c:pt idx="2">
                  <c:v>857</c:v>
                </c:pt>
                <c:pt idx="3">
                  <c:v>1587</c:v>
                </c:pt>
                <c:pt idx="4">
                  <c:v>2266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15.27</c:v>
                </c:pt>
                <c:pt idx="1">
                  <c:v>8.56</c:v>
                </c:pt>
                <c:pt idx="2">
                  <c:v>8.04</c:v>
                </c:pt>
                <c:pt idx="3">
                  <c:v>3.45</c:v>
                </c:pt>
                <c:pt idx="4">
                  <c:v>2.36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29.11</c:v>
                </c:pt>
                <c:pt idx="1">
                  <c:v>17.46</c:v>
                </c:pt>
                <c:pt idx="2">
                  <c:v>16.19</c:v>
                </c:pt>
                <c:pt idx="3">
                  <c:v>6.63</c:v>
                </c:pt>
                <c:pt idx="4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pacchetti/s, P-core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9.39</c:v>
                </c:pt>
                <c:pt idx="1">
                  <c:v>6.35</c:v>
                </c:pt>
                <c:pt idx="2">
                  <c:v>5.84</c:v>
                </c:pt>
                <c:pt idx="3">
                  <c:v>2.83</c:v>
                </c:pt>
                <c:pt idx="4">
                  <c:v>1.94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19.09</c:v>
                </c:pt>
                <c:pt idx="1">
                  <c:v>12.74</c:v>
                </c:pt>
                <c:pt idx="2">
                  <c:v>11.71</c:v>
                </c:pt>
                <c:pt idx="3">
                  <c:v>5.6</c:v>
                </c:pt>
                <c:pt idx="4">
                  <c:v>3.84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pacchetti/s, E-core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 (T2−T1)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26</c:v>
                </c:pt>
                <c:pt idx="1">
                  <c:v>28</c:v>
                </c:pt>
                <c:pt idx="2">
                  <c:v>60</c:v>
                </c:pt>
                <c:pt idx="3">
                  <c:v>72</c:v>
                </c:pt>
                <c:pt idx="4">
                  <c:v>69</c:v>
                </c:pt>
                <c:pt idx="5">
                  <c:v>84</c:v>
                </c:pt>
                <c:pt idx="6">
                  <c:v>216</c:v>
                </c:pt>
                <c:pt idx="7">
                  <c:v>266</c:v>
                </c:pt>
                <c:pt idx="8">
                  <c:v>331</c:v>
                </c:pt>
                <c:pt idx="9">
                  <c:v>434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trasporto (T3−T2)</c:v>
                </c:pt>
              </c:strCache>
            </c:strRef>
          </c:tx>
          <c:spPr>
            <a:solidFill>
              <a:srgbClr val="AEB8C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206</c:v>
                </c:pt>
                <c:pt idx="1">
                  <c:v>240</c:v>
                </c:pt>
                <c:pt idx="2">
                  <c:v>207</c:v>
                </c:pt>
                <c:pt idx="3">
                  <c:v>243</c:v>
                </c:pt>
                <c:pt idx="4">
                  <c:v>208</c:v>
                </c:pt>
                <c:pt idx="5">
                  <c:v>240</c:v>
                </c:pt>
                <c:pt idx="6">
                  <c:v>218</c:v>
                </c:pt>
                <c:pt idx="7">
                  <c:v>253</c:v>
                </c:pt>
                <c:pt idx="8">
                  <c:v>222</c:v>
                </c:pt>
                <c:pt idx="9">
                  <c:v>256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1149</c:v>
                </c:pt>
                <c:pt idx="1">
                  <c:v>1210</c:v>
                </c:pt>
                <c:pt idx="2">
                  <c:v>1264</c:v>
                </c:pt>
                <c:pt idx="3">
                  <c:v>1330</c:v>
                </c:pt>
                <c:pt idx="4">
                  <c:v>1372</c:v>
                </c:pt>
                <c:pt idx="5">
                  <c:v>1439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1358</c:v>
                </c:pt>
                <c:pt idx="1">
                  <c:v>1416</c:v>
                </c:pt>
                <c:pt idx="2">
                  <c:v>1476</c:v>
                </c:pt>
                <c:pt idx="3">
                  <c:v>1539</c:v>
                </c:pt>
                <c:pt idx="4">
                  <c:v>1575</c:v>
                </c:pt>
                <c:pt idx="5">
                  <c:v>1640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4092</c:v>
                </c:pt>
                <c:pt idx="1">
                  <c:v>4558</c:v>
                </c:pt>
                <c:pt idx="2">
                  <c:v>5157</c:v>
                </c:pt>
                <c:pt idx="3">
                  <c:v>5450</c:v>
                </c:pt>
                <c:pt idx="4">
                  <c:v>6059</c:v>
                </c:pt>
                <c:pt idx="5">
                  <c:v>6550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5488</c:v>
                </c:pt>
                <c:pt idx="1">
                  <c:v>6576</c:v>
                </c:pt>
                <c:pt idx="2">
                  <c:v>7663</c:v>
                </c:pt>
                <c:pt idx="3">
                  <c:v>8759</c:v>
                </c:pt>
                <c:pt idx="4">
                  <c:v>9856</c:v>
                </c:pt>
                <c:pt idx="5">
                  <c:v>10952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P3 · P-core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351</c:v>
                </c:pt>
                <c:pt idx="1">
                  <c:v>421</c:v>
                </c:pt>
                <c:pt idx="2">
                  <c:v>486</c:v>
                </c:pt>
                <c:pt idx="3">
                  <c:v>545</c:v>
                </c:pt>
                <c:pt idx="4">
                  <c:v>595</c:v>
                </c:pt>
                <c:pt idx="5">
                  <c:v>652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447</c:v>
                </c:pt>
                <c:pt idx="1">
                  <c:v>517</c:v>
                </c:pt>
                <c:pt idx="2">
                  <c:v>591</c:v>
                </c:pt>
                <c:pt idx="3">
                  <c:v>665</c:v>
                </c:pt>
                <c:pt idx="4">
                  <c:v>730</c:v>
                </c:pt>
                <c:pt idx="5">
                  <c:v>801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 · P-core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264</c:v>
                </c:pt>
                <c:pt idx="1">
                  <c:v>287</c:v>
                </c:pt>
                <c:pt idx="2">
                  <c:v>329</c:v>
                </c:pt>
                <c:pt idx="3">
                  <c:v>344</c:v>
                </c:pt>
                <c:pt idx="4">
                  <c:v>368</c:v>
                </c:pt>
                <c:pt idx="5">
                  <c:v>396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P2 · E-core</c:v>
                </c:pt>
              </c:strCache>
            </c:strRef>
          </c:tx>
          <c:spPr>
            <a:ln w="28575">
              <a:solidFill>
                <a:srgbClr val="2E9C8F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328</c:v>
                </c:pt>
                <c:pt idx="1">
                  <c:v>355</c:v>
                </c:pt>
                <c:pt idx="2">
                  <c:v>394</c:v>
                </c:pt>
                <c:pt idx="3">
                  <c:v>403</c:v>
                </c:pt>
                <c:pt idx="4">
                  <c:v>442</c:v>
                </c:pt>
                <c:pt idx="5">
                  <c:v>470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104</c:v>
                </c:pt>
                <c:pt idx="1">
                  <c:v>115</c:v>
                </c:pt>
                <c:pt idx="2">
                  <c:v>124</c:v>
                </c:pt>
                <c:pt idx="3">
                  <c:v>145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114</c:v>
                </c:pt>
                <c:pt idx="1">
                  <c:v>124</c:v>
                </c:pt>
                <c:pt idx="2">
                  <c:v>138</c:v>
                </c:pt>
                <c:pt idx="3">
                  <c:v>158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282</c:v>
                </c:pt>
                <c:pt idx="1">
                  <c:v>295</c:v>
                </c:pt>
                <c:pt idx="2">
                  <c:v>301</c:v>
                </c:pt>
                <c:pt idx="3">
                  <c:v>315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391</c:v>
                </c:pt>
                <c:pt idx="1">
                  <c:v>445</c:v>
                </c:pt>
                <c:pt idx="2">
                  <c:v>452</c:v>
                </c:pt>
                <c:pt idx="3">
                  <c:v>496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496</c:v>
                </c:pt>
                <c:pt idx="1">
                  <c:v>519</c:v>
                </c:pt>
                <c:pt idx="2">
                  <c:v>555</c:v>
                </c:pt>
                <c:pt idx="3">
                  <c:v>588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128</c:v>
                </c:pt>
                <c:pt idx="1">
                  <c:v>125</c:v>
                </c:pt>
                <c:pt idx="2">
                  <c:v>130</c:v>
                </c:pt>
                <c:pt idx="3">
                  <c:v>135</c:v>
                </c:pt>
                <c:pt idx="4">
                  <c:v>135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137</c:v>
                </c:pt>
                <c:pt idx="1">
                  <c:v>141</c:v>
                </c:pt>
                <c:pt idx="2">
                  <c:v>144</c:v>
                </c:pt>
                <c:pt idx="3">
                  <c:v>148</c:v>
                </c:pt>
                <c:pt idx="4">
                  <c:v>147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276</c:v>
                </c:pt>
                <c:pt idx="1">
                  <c:v>299</c:v>
                </c:pt>
                <c:pt idx="2">
                  <c:v>318</c:v>
                </c:pt>
                <c:pt idx="3">
                  <c:v>368</c:v>
                </c:pt>
                <c:pt idx="4">
                  <c:v>373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380</c:v>
                </c:pt>
                <c:pt idx="1">
                  <c:v>433</c:v>
                </c:pt>
                <c:pt idx="2">
                  <c:v>480</c:v>
                </c:pt>
                <c:pt idx="3">
                  <c:v>581</c:v>
                </c:pt>
                <c:pt idx="4">
                  <c:v>607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476</c:v>
                </c:pt>
                <c:pt idx="1">
                  <c:v>537</c:v>
                </c:pt>
                <c:pt idx="2">
                  <c:v>595</c:v>
                </c:pt>
                <c:pt idx="3">
                  <c:v>705</c:v>
                </c:pt>
                <c:pt idx="4">
                  <c:v>740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strati, a ~592 pesi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 solo (BPF_PROG_TEST_RUN)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157</c:v>
                </c:pt>
                <c:pt idx="1">
                  <c:v>179</c:v>
                </c:pt>
                <c:pt idx="2">
                  <c:v>206</c:v>
                </c:pt>
                <c:pt idx="3">
                  <c:v>227</c:v>
                </c:pt>
                <c:pt idx="4">
                  <c:v>256</c:v>
                </c:pt>
                <c:pt idx="5">
                  <c:v>286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sotto traffico, minimo</c:v>
                </c:pt>
              </c:strCache>
            </c:strRef>
          </c:tx>
          <c:spPr>
            <a:ln w="28575">
              <a:solidFill>
                <a:srgbClr val="9CD4CC"/>
              </a:solidFill>
            </a:ln>
          </c:spPr>
          <c:marker>
            <c:symbol val="circle"/>
            <c:size val="6"/>
            <c:spPr>
              <a:solidFill>
                <a:srgbClr val="9CD4CC"/>
              </a:solidFill>
              <a:ln>
                <a:solidFill>
                  <a:srgbClr val="9CD4CC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180</c:v>
                </c:pt>
                <c:pt idx="1">
                  <c:v>196</c:v>
                </c:pt>
                <c:pt idx="2">
                  <c:v>227</c:v>
                </c:pt>
                <c:pt idx="3">
                  <c:v>238</c:v>
                </c:pt>
                <c:pt idx="4">
                  <c:v>272</c:v>
                </c:pt>
                <c:pt idx="5">
                  <c:v>292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sotto traffico, media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214</c:v>
                </c:pt>
                <c:pt idx="1">
                  <c:v>252</c:v>
                </c:pt>
                <c:pt idx="2">
                  <c:v>264</c:v>
                </c:pt>
                <c:pt idx="3">
                  <c:v>267</c:v>
                </c:pt>
                <c:pt idx="4">
                  <c:v>324</c:v>
                </c:pt>
                <c:pt idx="5">
                  <c:v>356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 (4 neuroni)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Relationship Id="rId3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 neurale, misurate sul traffico vero: quanto costa un pacchetto, quante istruzioni esegue, e che cosa cambia da un P-core a un E-core.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65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QUATTRO VERSIONI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rete, quattro modi di scriverla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222B36"/>
                </a:solidFill>
                <a:latin typeface="Calibri"/>
              </a:rPr>
              <a:t>*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Solo P1 statica può congelare anche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quali interfacce il nodo ha davvero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: le colonne dei collegamenti che non esistono non vengono generate (se un link è su o giù resta letto a runtime). Serve il nodo congelato, perché le porte dipendono da quale nodo si è. Nelle misure è usato solo nell'asse «porte presenti»; altrove P1 statica congela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solo il 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NODO SOTTO TRAFFICO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3 giri, 64 byte, nodo su un P-core a 3,5 GHz, controllo di validità superato  ·  stessa sessione per tutte le righe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66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15,3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117–124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8,6 / 8,0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290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3,45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425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2,4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costano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~66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~50–60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~225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è letta da tabella,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~360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la profondità: un nodo regge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8,6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2,4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 per core, e due core il 95–100 % del doppio.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è grande il programma non dice quanto lavora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Caricate: istruzioni del programma, contate dal kernel al caricamento  ·  eseguite: contatori hardware del core del nodo sotto traffico, per pacchetto, nodo saturo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Caricate contro eseguite.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ne carica 15 089 e ne esegue 4 556; P3 ne carica meno (12 288) e ne esegue di più (6 573).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Stesse istruzioni su ogni 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Lo stesso codice: le istruzioni per pacchetto coincidono entro il 2%.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dimensione del programma misura quanto è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grande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non quanto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contano le istruzioni eseguite, comprese ricezione e redirect del kernel. Fra un core e l'altro le istruzioni non cambiano: cambia quante ne esegue il core per ciclo.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P-CORE, E-CORE, LP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Su un E-core il nodo regge dal 61 all'82 % del P-core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P-core e E-core a 3,5 GHz, LP E-core a 2,5 GHz; generatore e uscita su P-core  ·  * LP E-core, baseline: nodo non saturo, limite inferiore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Milioni di pacchetti al secondo.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Baseline 15,3 → 9,4 → 3,3*; P3 2,4 → 1,9 → 1,1.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ns di CPU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Baseline +60% sull'E-core, l'inferenza di P3 solo +14%.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 parità di frequenza l'E-core è più lento soprattutto nel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lavoro di rete del kernel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più la pipeline è pesante, meno pesa la differenza (0,61× la baseline, 0,82× P2 e P3). Il LP E-core (fuori dalla L3, 2,5 GHz) regge il 36–47 %.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ISTRUZIONI PER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Stesse istruzioni, meno istruzioni per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Contatori hardware (perf_event_open) sul core del nodo, nella stessa finestra dei pacchetti  ·  nodo saturo  ·  istruzioni per ciclo nel grafico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P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1 220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540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1 426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4 556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1 224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6 573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1 483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1 785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istruzioni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sono le stesse su ogni core: il codice non cambia. Cambia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IPC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2,7 → 1,7 per la baseline (lavoro di rete, salti, memoria), 4,4 → 3,7 per P3 (aritmetica lineare). Il LP E-core ha 14–19 mancate di cache per pacchetto.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DOVE L'E-CORE PERDE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L'E-core rallenta il nodo, non la rete neurale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Cicli per pacchetto dai contatori hardware, a 3,5 GHz  ·  parte fissa = cicli della baseline, rete neurale = cicli della pipeline meno la baseline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parte fissa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225 → 360 cicli, P → 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177 → 180 cicli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788 → 864 cicli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1 258 → 1 425 cicli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Ricevere, inoltrare e restituire la pagina è lavoro del kernel con salti e memoria: l'E-core lo esegue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IPC 1,7 invece di 2,7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L'aritmetica della rete è una fila di moltiplicazioni, e l'E-core la esegue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quasi altrettanto bene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IL LP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LP E-core paga anche la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Contatori hardware del core del nodo, per pacchetto, nodo saturo  ·  LP E-core a 2,5 GHz, fuori dalla L3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Mancate di cache.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Zero sul P-core e sull'E-core; 14–19 per pacchetto sul LP E-core, fuori dalla L3.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Cicli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P3: 1 483 → 1 785 → 2 266; in tempo 425 → 515 → 908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LP E-core sta su un'altra parte del chip: i pacchetti scritti dal generatore gli arrivano dalla memoria. Fra memoria, IPC più basso (0,8–2,9) e 2,5 GHz regge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36–47%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del P-core sulle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SOTTO TRAFFICO CRESCENTE · P-CORE E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Oltre la capacità si perde all'ingresso del programma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bench_bitrate, xdp_gen, 5 giri per punto, 64 byte  ·  a sinistra il nodo su un P-core, a destra su un E-core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P-core.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Ogni pipeline inoltra tutto fino alla sua capacità (P1 8,7, P2 3,4, P3 2,3 M/s), poi resta piatta: il resto è respinto dalla coda d'ingresso.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Stesso andamento, ginocchio più in basso (P1 6,2, P2 2,8, P3 1,9 M/s). A coda piena la latenza mediana sale da 13–20 µs a 30–150 µs.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 pacchetti si perdono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all'ingresso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non dopo il programma: il collo di bottiglia è il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programma eBPF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su ogni tipo di core. Il ginocchio coincide con la capacità misurata a massima spinta.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DUE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core reggono il doppio, sul P-core e sull'E-core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 thread di xdp_gen per coda, una coda e un core d'uscita per core del nodo  ·  P: CPU 6 e 8  ·  E: CPU 12 e 16, uno per modulo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95–102% del doppio; il costo per core resta quello di un core entro una decina di ns (P3 425 → 434).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99–102% del doppio, con un E-core per modulo: i due moduli non si disturbano.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 contatori delle pipeline sono per-core e ogni core ha la sua coda d'uscita: il secondo core non rallenta il primo. Un nodo con N code regge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volte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capacità di un core, di qualunque tipo.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DENTRO IL NODO · TRE OROLOGI · P-CORE E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programma e il trasporto, su un P-core e su un 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T1 all'ingresso del programma, T2 prima di bpf_redirect, T3 all'arrivo dall'altra parte  ·  minimi, mediana di tre giri, da 0,5 a 3 Mpps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(baseline)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331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(P3) sul P-core; sull'E-core dal 7% al 31% in più (P3 434 ns).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trasporto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Redirect, veth e ricezione: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~210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sul P-core,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~245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sull'E-core, uguale per tutte le pipeline.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trasporto è un costo comune che non dipende dalla pipeline; il programma pesa di più sull'E-core quanto più è lungo. La latenza minima arrivo → ripartenza va da 221 a 609 ns sul P-core, da 282 a 727 sull'E-core.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  · 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(entro l'1 %).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Porta d'uscita: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Scartare costa ~50 ns in più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la pagina si libera sul core del nodo.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 numero per pipeline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descrivere il costo del nodo: non dipende da taglia del pacchetto, porta d'uscita o TTL; solo la decisione di scartare costa ~50 ns in più. Il traffico in bit al secondo cresce quindi con la taglia del pacchetto.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Gli stessi andamenti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bench_throughput con xdp_gen, tempo di CPU per pacchetto, nodo su P-core  ·  larghezza e pari pesi in docs/testing.md §10.8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Profondità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(strati da 4 neuroni). P3 paga </a:t>
            </a: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~60 ns per strato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(351 → 652 ns), P2 264 → 396; P1 e P1.5 quasi ferme.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Pesi a zero.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Al 90 % di zeri P1 113 → 95 ns, P1.5 120 → 106; P2 e P3 invariate, con le stesse istruzioni per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conclusioni del programma da solo valgono sul nodo vero, con il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fisso del nodo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(~66 ns) in più. Sugli E-core le stesse curve, più alte del 20–30 %.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strato di P3 costa esattamente 1 096 istruzioni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Modelli sintetici 65-4×d-7, stesso descrittore del checkpoint  ·  contatori hardware del core del nodo, per pacchetto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Istruzioni.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P3: 5 488 → 10 952, </a:t>
            </a: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+1 096 per strato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a ogni passo, identiche su P-core ed E-core. P2 cresce a passi irregolari: srotola e ricompila.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~60 ns per strato sul P-core (351 → 652), ~70 sull'E-core (447 → 801). Tratteggio = E-core.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In P3 ogni strato è un salto più le letture che ricostruiscono il contesto: sempre le stesse 1 096 istruzioni. La profondità si paga a ogni pacchetto, e sull'E-core un po' di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LARGHEZZA E PARI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Larghezza e profondità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di CPU per pacchetto, nodo su P-core  ·  tratteggio: P3 sull'E-core  ·  modelli sintetici con il descrittore del checkpoint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Larghezza.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Da 2 a 8 neuroni sale su tutte: P1 104 → 145, P3 391 → 496 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A pari pesi.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 1 a 5 strati P2 +35%, P3 +60%; le P1 restano a 125–148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scelte del programma da solo valgono sul nodo vero, con il costo fisso del nodo (~66 ns) in più. Sull'E-core le stesse curve, più alte del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20–35%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la forma migliore non cambia con il core.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LA SOLA RETE NEURALE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Sul nodo vero la rete neurale costa un po' di più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T2−T1, build strumentata (T1 all'ingresso, T2 prima di bpf_redirect), xdp_gen a 0,3 e 0,6 Mpps, baseline sottratta  ·  da solo: minimo su 7 prove  · 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P3, da 1 a 6 strati. 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Da solo 246 → 510 ns; sotto traffico il minimo coincide (262 → 508), la media sta 45–107 ns sopra (322 → 610).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P2.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Da solo 157 → 286 ns, minimo 180 → 292, media 214 → 356 (+40–73 ns). P1 e P1.5: media +12–34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conclusioni del programma da solo valgono per la rete neurale sul nodo vero: stesse curve, stesso ordine. In servizio ogni pacchetto paga in più cache e predittori non sempre caldi: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10–40 ns per P1 e P1.5, 40–110 ns per P2 e P3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Sull'E-core il divario è circa doppio.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ISTRUZIONI E LATENZA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+51 → +359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Stesso modello, 319 pesi  ·  tempo di CPU per pacchetto, xdp_gen, nodo saturo, P-core a 3,5 GHz  ·  istruzioni, letture e salti: proprietà del programma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15 089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12 288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configurabilità si paga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(5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3), non nell'aritmetica. Sopra la baseline, rendere configurabile la forma (P2)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~4×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P1; anche la profondità (P3)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Fra P1 e P1.5 quasi niente.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CAMBIARE MODELLO · 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costa millisecondi a tutte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installare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modello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nuovo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su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nodo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già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in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servizio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(scala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logaritmica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) 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nodo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~1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Generarlo e compilarlo con clang, fuori dal nodo, costa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~80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di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(~10 ms): nessun compilatore. Il programma generico si compila una volta sola (1,2–1,5 s). P1 vuole un compilatore per ogni modello nuovo, su qualche macchina.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tempo per cambiare modello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è un criterio di scelta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millisecondi per tutte. Si sceglie sul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(~50 ns di rete con i pesi compilati, ~225–360 con quelli da tabella) e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dove serve un compilatore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di CPU meno la baseline, xdp_gen, nodo saturo  ·  a sinistra una rete diversa per ogni punto  · 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L'identità del nodo attiva una colonna sola di pesi. 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/>
            </a:r>
            <a:r>
              <a:rPr lang="it-IT" sz="1400" b="0" i="0" dirty="0" err="1">
                <a:solidFill>
                  <a:srgbClr val="222B36"/>
                </a:solidFill>
                <a:latin typeface="Calibri"/>
              </a:rPr>
              <a:t/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P1 statica la conosce già alla compilazione e la somma al bias; le altre la leggono da tabella.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P1 37 → 76 ns, P3 334 → 430 ns. Un neurone in più è lavoro vero, a ogni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  ·  dimensione: istruzioni del programma caricato  ·  tempo: CPU meno baseline, xdp_gen,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388094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46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ricompila e srotola: 14 604 → 18 937 istruzioni. P3 non si muove: 12 288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paga: 292 → 580 ns da 1 a 6 strati, ~58 a strato, perché ogni strato è un salto fra programmi (da 2 a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8991"/>
            <a:ext cx="9677095" cy="4749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profondo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si paga sempre: con P2 in un programma più grande da ricompilare (~870 istruzioni per strato), con P3 in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~58 ns per pacchetto a ogni strato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P3 è la più flessibile, ed è quella che la profondità rallenta di più.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  ·  tempo di CPU meno la baseline, xdp_gen, nodo saturo,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P2 216 → 304 ns, P3 321 → 537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quasi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59–85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srotolano tutto in una funzione sola, e la forma conta poco.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specializzate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la forma della rete si sceglie per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accuratezza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Con 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generiche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a parità di pesi, conviene una rete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larga e poco profonda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da 1 a 5 strati il costo sale del 41 % (P2) e del 67 % (P3).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MAC è una costante, tranne che per P2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MAC contate dalla forma: r² ≤ 0,22; MAC eseguite: fino a 0,94  ·  tempo di CPU meno la baseline, xdp_gen, P-core a 3,5 GHz</a:t>
            </a:r>
          </a:p>
        </p:txBody>
      </p:sp>
      <p:pic>
        <p:nvPicPr>
          <p:cNvPr id="14" name="Picture 13" descr="mac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0,18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 dirty="0" err="1">
                <a:solidFill>
                  <a:srgbClr val="222B36"/>
                </a:solidFill>
                <a:latin typeface="Calibri"/>
              </a:rPr>
              <a:t>Contando le moltiplicazioni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davvero eseguite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, ingressi densi, one-hot e larghezza cadono su una retta (r² 0,71–0,94). P2 no: il suo costo di partenza cambia con l'ingresso.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costo di un modello si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stima prima di misurarlo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moltiplicazioni eseguite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compilati) o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(P3), più il costo fisso della pipeline e, con P3, ~58 ns a strato. Una feature one-hot conta una colonna, qualunque sia la sua larghezza.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solo le specializzate dimagriscono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  ·  tempo di CPU meno la baseline, xdp_gen, nodo saturo,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Programma da 1 045 a 337 istruzioni, 52 → 39 ns per pacchetto.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costo invariati (entro il 5 %): zero, letto da una tabella,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Potare il modello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(pesi a zero) rende più veloci solo le versioni specializzate: al 90 % di zeri P1 perde il 39 % del costo e P1.5 il 25 %. Con P2 e P3 non dà niente.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3473</Words>
  <Application>Microsoft Office PowerPoint</Application>
  <PresentationFormat>Widescreen</PresentationFormat>
  <Paragraphs>437</Paragraphs>
  <Slides>22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2026-09-25T15:18:16Z</dcterms:modified>
  <cp:category/>
</cp:coreProperties>
</file>