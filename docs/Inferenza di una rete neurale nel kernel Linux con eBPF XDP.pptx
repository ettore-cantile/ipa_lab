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.xml" ContentType="application/vnd.openxmlformats-officedocument.drawingml.chart+xml"/>
  <Override PartName="/ppt/charts/chart20.xml" ContentType="application/vnd.openxmlformats-officedocument.drawingml.chart+xml"/>
  <Override PartName="/ppt/charts/chart21.xml" ContentType="application/vnd.openxmlformats-officedocument.drawingml.chart+xml"/>
  <Override PartName="/ppt/charts/chart22.xml" ContentType="application/vnd.openxmlformats-officedocument.drawingml.chart+xml"/>
  <Override PartName="/ppt/charts/chart23.xml" ContentType="application/vnd.openxmlformats-officedocument.drawingml.chart+xml"/>
  <Override PartName="/ppt/charts/chart24.xml" ContentType="application/vnd.openxmlformats-officedocument.drawingml.chart+xml"/>
  <Override PartName="/ppt/charts/chart25.xml" ContentType="application/vnd.openxmlformats-officedocument.drawingml.chart+xml"/>
  <Override PartName="/ppt/charts/chart26.xml" ContentType="application/vnd.openxmlformats-officedocument.drawingml.chart+xml"/>
  <Override PartName="/ppt/charts/chart27.xml" ContentType="application/vnd.openxmlformats-officedocument.drawingml.chart+xml"/>
  <Override PartName="/ppt/charts/chart28.xml" ContentType="application/vnd.openxmlformats-officedocument.drawingml.chart+xml"/>
  <Override PartName="/ppt/charts/chart29.xml" ContentType="application/vnd.openxmlformats-officedocument.drawingml.chart+xml"/>
  <Override PartName="/ppt/charts/chart3.xml" ContentType="application/vnd.openxmlformats-officedocument.drawingml.chart+xml"/>
  <Override PartName="/ppt/charts/chart30.xml" ContentType="application/vnd.openxmlformats-officedocument.drawingml.chart+xml"/>
  <Override PartName="/ppt/charts/chart31.xml" ContentType="application/vnd.openxmlformats-officedocument.drawingml.chart+xml"/>
  <Override PartName="/ppt/charts/chart32.xml" ContentType="application/vnd.openxmlformats-officedocument.drawingml.chart+xml"/>
  <Override PartName="/ppt/charts/chart3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4"/>
  </p:notesMasterIdLst>
  <p:sldIdLst>
    <p:sldId id="256" r:id="rId2"/>
    <p:sldId id="258" r:id="rId4"/>
    <p:sldId id="276" r:id="rId21"/>
    <p:sldId id="285" r:id="rId34"/>
    <p:sldId id="283" r:id="rId32"/>
    <p:sldId id="284" r:id="rId33"/>
    <p:sldId id="286" r:id="rId35"/>
    <p:sldId id="287" r:id="rId36"/>
    <p:sldId id="281" r:id="rId30"/>
    <p:sldId id="288" r:id="rId37"/>
    <p:sldId id="289" r:id="rId38"/>
    <p:sldId id="278" r:id="rId23"/>
    <p:sldId id="282" r:id="rId31"/>
    <p:sldId id="290" r:id="rId39"/>
    <p:sldId id="291" r:id="rId40"/>
    <p:sldId id="292" r:id="rId22"/>
    <p:sldId id="261" r:id="rId8"/>
    <p:sldId id="262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0909" autoAdjust="0"/>
  </p:normalViewPr>
  <p:slideViewPr>
    <p:cSldViewPr snapToGrid="0" snapToObjects="1">
      <p:cViewPr varScale="1">
        <p:scale>
          <a:sx n="80" d="100"/>
          <a:sy n="80" d="100"/>
        </p:scale>
        <p:origin x="112" y="4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4" Type="http://schemas.openxmlformats.org/officeDocument/2006/relationships/slide" Target="slides/slide2.xml"/><Relationship Id="rId8" Type="http://schemas.openxmlformats.org/officeDocument/2006/relationships/slide" Target="slides/slide17.xml"/><Relationship Id="rId9" Type="http://schemas.openxmlformats.org/officeDocument/2006/relationships/slide" Target="slides/slide18.xml"/><Relationship Id="rId10" Type="http://schemas.openxmlformats.org/officeDocument/2006/relationships/slide" Target="slides/slide19.xml"/><Relationship Id="rId11" Type="http://schemas.openxmlformats.org/officeDocument/2006/relationships/slide" Target="slides/slide20.xml"/><Relationship Id="rId12" Type="http://schemas.openxmlformats.org/officeDocument/2006/relationships/slide" Target="slides/slide21.xml"/><Relationship Id="rId13" Type="http://schemas.openxmlformats.org/officeDocument/2006/relationships/slide" Target="slides/slide22.xml"/><Relationship Id="rId14" Type="http://schemas.openxmlformats.org/officeDocument/2006/relationships/slide" Target="slides/slide23.xml"/><Relationship Id="rId21" Type="http://schemas.openxmlformats.org/officeDocument/2006/relationships/slide" Target="slides/slide3.xml"/><Relationship Id="rId22" Type="http://schemas.openxmlformats.org/officeDocument/2006/relationships/slide" Target="slides/slide16.xml"/><Relationship Id="rId23" Type="http://schemas.openxmlformats.org/officeDocument/2006/relationships/slide" Target="slides/slide1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Relationship Id="rId29" Type="http://schemas.microsoft.com/office/2016/11/relationships/changesInfo" Target="changesInfos/changesInfo1.xml"/><Relationship Id="rId30" Type="http://schemas.openxmlformats.org/officeDocument/2006/relationships/slide" Target="slides/slide9.xml"/><Relationship Id="rId31" Type="http://schemas.openxmlformats.org/officeDocument/2006/relationships/slide" Target="slides/slide13.xml"/><Relationship Id="rId32" Type="http://schemas.openxmlformats.org/officeDocument/2006/relationships/slide" Target="slides/slide5.xml"/><Relationship Id="rId33" Type="http://schemas.openxmlformats.org/officeDocument/2006/relationships/slide" Target="slides/slide6.xml"/><Relationship Id="rId34" Type="http://schemas.openxmlformats.org/officeDocument/2006/relationships/slide" Target="slides/slide4.xml"/><Relationship Id="rId35" Type="http://schemas.openxmlformats.org/officeDocument/2006/relationships/slide" Target="slides/slide7.xml"/><Relationship Id="rId36" Type="http://schemas.openxmlformats.org/officeDocument/2006/relationships/slide" Target="slides/slide8.xml"/><Relationship Id="rId37" Type="http://schemas.openxmlformats.org/officeDocument/2006/relationships/slide" Target="slides/slide10.xml"/><Relationship Id="rId38" Type="http://schemas.openxmlformats.org/officeDocument/2006/relationships/slide" Target="slides/slide11.xml"/><Relationship Id="rId39" Type="http://schemas.openxmlformats.org/officeDocument/2006/relationships/slide" Target="slides/slide14.xml"/><Relationship Id="rId40" Type="http://schemas.openxmlformats.org/officeDocument/2006/relationships/slide" Target="slides/slide1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ttore Cantile" userId="2f5e44afd0b03182" providerId="LiveId" clId="{E1385F0F-24B1-4705-8EF7-8D82C33CA9CE}"/>
    <pc:docChg chg="undo redo custSel addSld delSld modSld">
      <pc:chgData name="Ettore Cantile" userId="2f5e44afd0b03182" providerId="LiveId" clId="{E1385F0F-24B1-4705-8EF7-8D82C33CA9CE}" dt="2026-09-25T15:17:48.142" v="404" actId="47"/>
      <pc:docMkLst>
        <pc:docMk/>
      </pc:docMkLst>
      <pc:sldChg chg="modSp mod">
        <pc:chgData name="Ettore Cantile" userId="2f5e44afd0b03182" providerId="LiveId" clId="{E1385F0F-24B1-4705-8EF7-8D82C33CA9CE}" dt="2026-09-25T15:14:45.321" v="331" actId="20577"/>
        <pc:sldMkLst>
          <pc:docMk/>
          <pc:sldMk cId="0" sldId="256"/>
        </pc:sldMkLst>
        <pc:spChg chg="mod">
          <ac:chgData name="Ettore Cantile" userId="2f5e44afd0b03182" providerId="LiveId" clId="{E1385F0F-24B1-4705-8EF7-8D82C33CA9CE}" dt="2026-09-25T15:14:45.321" v="331" actId="20577"/>
          <ac:spMkLst>
            <pc:docMk/>
            <pc:sldMk cId="0" sldId="256"/>
            <ac:spMk id="7" creationId="{00000000-0000-0000-0000-000000000000}"/>
          </ac:spMkLst>
        </pc:spChg>
      </pc:sldChg>
      <pc:sldChg chg="modSp mod">
        <pc:chgData name="Ettore Cantile" userId="2f5e44afd0b03182" providerId="LiveId" clId="{E1385F0F-24B1-4705-8EF7-8D82C33CA9CE}" dt="2026-09-25T12:03:07.871" v="123" actId="20577"/>
        <pc:sldMkLst>
          <pc:docMk/>
          <pc:sldMk cId="0" sldId="257"/>
        </pc:sldMkLst>
        <pc:spChg chg="mod">
          <ac:chgData name="Ettore Cantile" userId="2f5e44afd0b03182" providerId="LiveId" clId="{E1385F0F-24B1-4705-8EF7-8D82C33CA9CE}" dt="2026-09-25T08:43:50.886" v="79" actId="20577"/>
          <ac:spMkLst>
            <pc:docMk/>
            <pc:sldMk cId="0" sldId="257"/>
            <ac:spMk id="7" creationId="{00000000-0000-0000-0000-000000000000}"/>
          </ac:spMkLst>
        </pc:spChg>
        <pc:spChg chg="mod">
          <ac:chgData name="Ettore Cantile" userId="2f5e44afd0b03182" providerId="LiveId" clId="{E1385F0F-24B1-4705-8EF7-8D82C33CA9CE}" dt="2026-09-25T12:03:07.871" v="123" actId="20577"/>
          <ac:spMkLst>
            <pc:docMk/>
            <pc:sldMk cId="0" sldId="257"/>
            <ac:spMk id="33" creationId="{00000000-0000-0000-0000-000000000000}"/>
          </ac:spMkLst>
        </pc:spChg>
      </pc:sldChg>
      <pc:sldChg chg="modSp mod">
        <pc:chgData name="Ettore Cantile" userId="2f5e44afd0b03182" providerId="LiveId" clId="{E1385F0F-24B1-4705-8EF7-8D82C33CA9CE}" dt="2026-09-25T14:24:40.828" v="303" actId="207"/>
        <pc:sldMkLst>
          <pc:docMk/>
          <pc:sldMk cId="0" sldId="258"/>
        </pc:sldMkLst>
        <pc:graphicFrameChg chg="modGraphic">
          <ac:chgData name="Ettore Cantile" userId="2f5e44afd0b03182" providerId="LiveId" clId="{E1385F0F-24B1-4705-8EF7-8D82C33CA9CE}" dt="2026-09-25T14:24:40.828" v="303" actId="207"/>
          <ac:graphicFrameMkLst>
            <pc:docMk/>
            <pc:sldMk cId="0" sldId="258"/>
            <ac:graphicFrameMk id="8" creationId="{00000000-0000-0000-0000-000000000000}"/>
          </ac:graphicFrameMkLst>
        </pc:graphicFrameChg>
      </pc:sldChg>
      <pc:sldChg chg="modSp mod">
        <pc:chgData name="Ettore Cantile" userId="2f5e44afd0b03182" providerId="LiveId" clId="{E1385F0F-24B1-4705-8EF7-8D82C33CA9CE}" dt="2026-09-24T16:05:13.005" v="54" actId="20577"/>
        <pc:sldMkLst>
          <pc:docMk/>
          <pc:sldMk cId="0" sldId="260"/>
        </pc:sldMkLst>
        <pc:spChg chg="mod">
          <ac:chgData name="Ettore Cantile" userId="2f5e44afd0b03182" providerId="LiveId" clId="{E1385F0F-24B1-4705-8EF7-8D82C33CA9CE}" dt="2026-09-24T16:05:13.005" v="54" actId="20577"/>
          <ac:spMkLst>
            <pc:docMk/>
            <pc:sldMk cId="0" sldId="260"/>
            <ac:spMk id="5" creationId="{00000000-0000-0000-0000-000000000000}"/>
          </ac:spMkLst>
        </pc:spChg>
      </pc:sldChg>
      <pc:sldChg chg="modSp mod">
        <pc:chgData name="Ettore Cantile" userId="2f5e44afd0b03182" providerId="LiveId" clId="{E1385F0F-24B1-4705-8EF7-8D82C33CA9CE}" dt="2026-09-25T09:10:24.986" v="80" actId="20577"/>
        <pc:sldMkLst>
          <pc:docMk/>
          <pc:sldMk cId="0" sldId="261"/>
        </pc:sldMkLst>
        <pc:spChg chg="mod">
          <ac:chgData name="Ettore Cantile" userId="2f5e44afd0b03182" providerId="LiveId" clId="{E1385F0F-24B1-4705-8EF7-8D82C33CA9CE}" dt="2026-09-24T16:05:13.089" v="55" actId="20577"/>
          <ac:spMkLst>
            <pc:docMk/>
            <pc:sldMk cId="0" sldId="261"/>
            <ac:spMk id="5" creationId="{00000000-0000-0000-0000-000000000000}"/>
          </ac:spMkLst>
        </pc:spChg>
        <pc:spChg chg="mod">
          <ac:chgData name="Ettore Cantile" userId="2f5e44afd0b03182" providerId="LiveId" clId="{E1385F0F-24B1-4705-8EF7-8D82C33CA9CE}" dt="2026-09-25T09:10:24.986" v="80" actId="20577"/>
          <ac:spMkLst>
            <pc:docMk/>
            <pc:sldMk cId="0" sldId="261"/>
            <ac:spMk id="6" creationId="{00000000-0000-0000-0000-000000000000}"/>
          </ac:spMkLst>
        </pc:spChg>
      </pc:sldChg>
      <pc:sldChg chg="modSp mod">
        <pc:chgData name="Ettore Cantile" userId="2f5e44afd0b03182" providerId="LiveId" clId="{E1385F0F-24B1-4705-8EF7-8D82C33CA9CE}" dt="2026-09-25T09:10:36.050" v="83" actId="20577"/>
        <pc:sldMkLst>
          <pc:docMk/>
          <pc:sldMk cId="0" sldId="262"/>
        </pc:sldMkLst>
        <pc:spChg chg="mod">
          <ac:chgData name="Ettore Cantile" userId="2f5e44afd0b03182" providerId="LiveId" clId="{E1385F0F-24B1-4705-8EF7-8D82C33CA9CE}" dt="2026-09-24T16:05:13.136" v="56" actId="20577"/>
          <ac:spMkLst>
            <pc:docMk/>
            <pc:sldMk cId="0" sldId="262"/>
            <ac:spMk id="5" creationId="{00000000-0000-0000-0000-000000000000}"/>
          </ac:spMkLst>
        </pc:spChg>
        <pc:spChg chg="mod">
          <ac:chgData name="Ettore Cantile" userId="2f5e44afd0b03182" providerId="LiveId" clId="{E1385F0F-24B1-4705-8EF7-8D82C33CA9CE}" dt="2026-09-25T09:10:36.050" v="83" actId="20577"/>
          <ac:spMkLst>
            <pc:docMk/>
            <pc:sldMk cId="0" sldId="262"/>
            <ac:spMk id="6" creationId="{00000000-0000-0000-0000-000000000000}"/>
          </ac:spMkLst>
        </pc:spChg>
      </pc:sldChg>
      <pc:sldChg chg="del">
        <pc:chgData name="Ettore Cantile" userId="2f5e44afd0b03182" providerId="LiveId" clId="{E1385F0F-24B1-4705-8EF7-8D82C33CA9CE}" dt="2026-09-24T16:05:12.626" v="52" actId="2696"/>
        <pc:sldMkLst>
          <pc:docMk/>
          <pc:sldMk cId="0" sldId="263"/>
        </pc:sldMkLst>
      </pc:sldChg>
      <pc:sldChg chg="modSp mod">
        <pc:chgData name="Ettore Cantile" userId="2f5e44afd0b03182" providerId="LiveId" clId="{E1385F0F-24B1-4705-8EF7-8D82C33CA9CE}" dt="2026-09-25T15:15:50.626" v="378" actId="20577"/>
        <pc:sldMkLst>
          <pc:docMk/>
          <pc:sldMk cId="0" sldId="264"/>
        </pc:sldMkLst>
        <pc:spChg chg="mod">
          <ac:chgData name="Ettore Cantile" userId="2f5e44afd0b03182" providerId="LiveId" clId="{E1385F0F-24B1-4705-8EF7-8D82C33CA9CE}" dt="2026-09-25T15:15:50.626" v="378" actId="20577"/>
          <ac:spMkLst>
            <pc:docMk/>
            <pc:sldMk cId="0" sldId="264"/>
            <ac:spMk id="6" creationId="{00000000-0000-0000-0000-000000000000}"/>
          </ac:spMkLst>
        </pc:spChg>
        <pc:spChg chg="mod">
          <ac:chgData name="Ettore Cantile" userId="2f5e44afd0b03182" providerId="LiveId" clId="{E1385F0F-24B1-4705-8EF7-8D82C33CA9CE}" dt="2026-09-25T09:20:14.077" v="90" actId="113"/>
          <ac:spMkLst>
            <pc:docMk/>
            <pc:sldMk cId="0" sldId="264"/>
            <ac:spMk id="9" creationId="{00000000-0000-0000-0000-000000000000}"/>
          </ac:spMkLst>
        </pc:spChg>
      </pc:sldChg>
      <pc:sldChg chg="modSp mod">
        <pc:chgData name="Ettore Cantile" userId="2f5e44afd0b03182" providerId="LiveId" clId="{E1385F0F-24B1-4705-8EF7-8D82C33CA9CE}" dt="2026-09-25T15:10:33.325" v="328" actId="20577"/>
        <pc:sldMkLst>
          <pc:docMk/>
          <pc:sldMk cId="0" sldId="265"/>
        </pc:sldMkLst>
        <pc:spChg chg="mod">
          <ac:chgData name="Ettore Cantile" userId="2f5e44afd0b03182" providerId="LiveId" clId="{E1385F0F-24B1-4705-8EF7-8D82C33CA9CE}" dt="2026-09-25T15:10:33.307" v="327" actId="20577"/>
          <ac:spMkLst>
            <pc:docMk/>
            <pc:sldMk cId="0" sldId="265"/>
            <ac:spMk id="9" creationId="{00000000-0000-0000-0000-000000000000}"/>
          </ac:spMkLst>
        </pc:spChg>
        <pc:spChg chg="mod">
          <ac:chgData name="Ettore Cantile" userId="2f5e44afd0b03182" providerId="LiveId" clId="{E1385F0F-24B1-4705-8EF7-8D82C33CA9CE}" dt="2026-09-25T15:10:33.325" v="328" actId="20577"/>
          <ac:spMkLst>
            <pc:docMk/>
            <pc:sldMk cId="0" sldId="265"/>
            <ac:spMk id="14" creationId="{00000000-0000-0000-0000-000000000000}"/>
          </ac:spMkLst>
        </pc:spChg>
      </pc:sldChg>
      <pc:sldChg chg="modSp mod">
        <pc:chgData name="Ettore Cantile" userId="2f5e44afd0b03182" providerId="LiveId" clId="{E1385F0F-24B1-4705-8EF7-8D82C33CA9CE}" dt="2026-09-25T15:17:02.618" v="400" actId="20577"/>
        <pc:sldMkLst>
          <pc:docMk/>
          <pc:sldMk cId="0" sldId="267"/>
        </pc:sldMkLst>
        <pc:spChg chg="mod">
          <ac:chgData name="Ettore Cantile" userId="2f5e44afd0b03182" providerId="LiveId" clId="{E1385F0F-24B1-4705-8EF7-8D82C33CA9CE}" dt="2026-09-25T15:17:02.618" v="400" actId="20577"/>
          <ac:spMkLst>
            <pc:docMk/>
            <pc:sldMk cId="0" sldId="267"/>
            <ac:spMk id="6" creationId="{00000000-0000-0000-0000-000000000000}"/>
          </ac:spMkLst>
        </pc:spChg>
      </pc:sldChg>
      <pc:sldChg chg="modSp mod">
        <pc:chgData name="Ettore Cantile" userId="2f5e44afd0b03182" providerId="LiveId" clId="{E1385F0F-24B1-4705-8EF7-8D82C33CA9CE}" dt="2026-09-25T14:25:17.961" v="311" actId="20577"/>
        <pc:sldMkLst>
          <pc:docMk/>
          <pc:sldMk cId="0" sldId="269"/>
        </pc:sldMkLst>
        <pc:spChg chg="mod">
          <ac:chgData name="Ettore Cantile" userId="2f5e44afd0b03182" providerId="LiveId" clId="{E1385F0F-24B1-4705-8EF7-8D82C33CA9CE}" dt="2026-09-25T14:24:40.852" v="304" actId="20577"/>
          <ac:spMkLst>
            <pc:docMk/>
            <pc:sldMk cId="0" sldId="269"/>
            <ac:spMk id="8" creationId="{00000000-0000-0000-0000-000000000000}"/>
          </ac:spMkLst>
        </pc:spChg>
        <pc:spChg chg="mod">
          <ac:chgData name="Ettore Cantile" userId="2f5e44afd0b03182" providerId="LiveId" clId="{E1385F0F-24B1-4705-8EF7-8D82C33CA9CE}" dt="2026-09-25T14:25:17.961" v="311" actId="20577"/>
          <ac:spMkLst>
            <pc:docMk/>
            <pc:sldMk cId="0" sldId="269"/>
            <ac:spMk id="9" creationId="{00000000-0000-0000-0000-000000000000}"/>
          </ac:spMkLst>
        </pc:spChg>
      </pc:sldChg>
      <pc:sldChg chg="modSp mod">
        <pc:chgData name="Ettore Cantile" userId="2f5e44afd0b03182" providerId="LiveId" clId="{E1385F0F-24B1-4705-8EF7-8D82C33CA9CE}" dt="2026-09-24T15:41:16.588" v="3" actId="947"/>
        <pc:sldMkLst>
          <pc:docMk/>
          <pc:sldMk cId="0" sldId="271"/>
        </pc:sldMkLst>
        <pc:spChg chg="mod">
          <ac:chgData name="Ettore Cantile" userId="2f5e44afd0b03182" providerId="LiveId" clId="{E1385F0F-24B1-4705-8EF7-8D82C33CA9CE}" dt="2026-09-24T15:41:16.588" v="3" actId="947"/>
          <ac:spMkLst>
            <pc:docMk/>
            <pc:sldMk cId="0" sldId="271"/>
            <ac:spMk id="18" creationId="{00000000-0000-0000-0000-000000000000}"/>
          </ac:spMkLst>
        </pc:spChg>
      </pc:sldChg>
      <pc:sldChg chg="del">
        <pc:chgData name="Ettore Cantile" userId="2f5e44afd0b03182" providerId="LiveId" clId="{E1385F0F-24B1-4705-8EF7-8D82C33CA9CE}" dt="2026-09-23T14:04:15.896" v="0" actId="47"/>
        <pc:sldMkLst>
          <pc:docMk/>
          <pc:sldMk cId="0" sldId="274"/>
        </pc:sldMkLst>
      </pc:sldChg>
      <pc:sldChg chg="modSp mod">
        <pc:chgData name="Ettore Cantile" userId="2f5e44afd0b03182" providerId="LiveId" clId="{E1385F0F-24B1-4705-8EF7-8D82C33CA9CE}" dt="2026-09-24T16:05:14.113" v="57" actId="20577"/>
        <pc:sldMkLst>
          <pc:docMk/>
          <pc:sldMk cId="0" sldId="275"/>
        </pc:sldMkLst>
        <pc:spChg chg="mod">
          <ac:chgData name="Ettore Cantile" userId="2f5e44afd0b03182" providerId="LiveId" clId="{E1385F0F-24B1-4705-8EF7-8D82C33CA9CE}" dt="2026-09-24T16:05:14.113" v="57" actId="20577"/>
          <ac:spMkLst>
            <pc:docMk/>
            <pc:sldMk cId="0" sldId="275"/>
            <ac:spMk id="5" creationId="{00000000-0000-0000-0000-000000000000}"/>
          </ac:spMkLst>
        </pc:spChg>
      </pc:sldChg>
      <pc:sldChg chg="modSp mod">
        <pc:chgData name="Ettore Cantile" userId="2f5e44afd0b03182" providerId="LiveId" clId="{E1385F0F-24B1-4705-8EF7-8D82C33CA9CE}" dt="2026-09-24T16:05:14.217" v="58" actId="20577"/>
        <pc:sldMkLst>
          <pc:docMk/>
          <pc:sldMk cId="0" sldId="276"/>
        </pc:sldMkLst>
        <pc:spChg chg="mod">
          <ac:chgData name="Ettore Cantile" userId="2f5e44afd0b03182" providerId="LiveId" clId="{E1385F0F-24B1-4705-8EF7-8D82C33CA9CE}" dt="2026-09-24T16:05:14.217" v="58" actId="20577"/>
          <ac:spMkLst>
            <pc:docMk/>
            <pc:sldMk cId="0" sldId="276"/>
            <ac:spMk id="5" creationId="{00000000-0000-0000-0000-000000000000}"/>
          </ac:spMkLst>
        </pc:spChg>
      </pc:sldChg>
      <pc:sldChg chg="modSp mod">
        <pc:chgData name="Ettore Cantile" userId="2f5e44afd0b03182" providerId="LiveId" clId="{E1385F0F-24B1-4705-8EF7-8D82C33CA9CE}" dt="2026-09-24T16:05:14.332" v="59" actId="20577"/>
        <pc:sldMkLst>
          <pc:docMk/>
          <pc:sldMk cId="0" sldId="277"/>
        </pc:sldMkLst>
        <pc:spChg chg="mod">
          <ac:chgData name="Ettore Cantile" userId="2f5e44afd0b03182" providerId="LiveId" clId="{E1385F0F-24B1-4705-8EF7-8D82C33CA9CE}" dt="2026-09-24T16:05:14.332" v="59" actId="20577"/>
          <ac:spMkLst>
            <pc:docMk/>
            <pc:sldMk cId="0" sldId="277"/>
            <ac:spMk id="5" creationId="{00000000-0000-0000-0000-000000000000}"/>
          </ac:spMkLst>
        </pc:spChg>
      </pc:sldChg>
      <pc:sldChg chg="modSp mod">
        <pc:chgData name="Ettore Cantile" userId="2f5e44afd0b03182" providerId="LiveId" clId="{E1385F0F-24B1-4705-8EF7-8D82C33CA9CE}" dt="2026-09-24T16:05:14.406" v="60" actId="20577"/>
        <pc:sldMkLst>
          <pc:docMk/>
          <pc:sldMk cId="0" sldId="278"/>
        </pc:sldMkLst>
        <pc:spChg chg="mod">
          <ac:chgData name="Ettore Cantile" userId="2f5e44afd0b03182" providerId="LiveId" clId="{E1385F0F-24B1-4705-8EF7-8D82C33CA9CE}" dt="2026-09-24T16:05:14.406" v="60" actId="20577"/>
          <ac:spMkLst>
            <pc:docMk/>
            <pc:sldMk cId="0" sldId="278"/>
            <ac:spMk id="5" creationId="{00000000-0000-0000-0000-000000000000}"/>
          </ac:spMkLst>
        </pc:spChg>
      </pc:sldChg>
      <pc:sldChg chg="modSp del mod">
        <pc:chgData name="Ettore Cantile" userId="2f5e44afd0b03182" providerId="LiveId" clId="{E1385F0F-24B1-4705-8EF7-8D82C33CA9CE}" dt="2026-09-25T15:17:48.142" v="404" actId="47"/>
        <pc:sldMkLst>
          <pc:docMk/>
          <pc:sldMk cId="0" sldId="279"/>
        </pc:sldMkLst>
        <pc:spChg chg="mod">
          <ac:chgData name="Ettore Cantile" userId="2f5e44afd0b03182" providerId="LiveId" clId="{E1385F0F-24B1-4705-8EF7-8D82C33CA9CE}" dt="2026-09-24T16:05:14.466" v="61" actId="20577"/>
          <ac:spMkLst>
            <pc:docMk/>
            <pc:sldMk cId="0" sldId="279"/>
            <ac:spMk id="5" creationId="{00000000-0000-0000-0000-000000000000}"/>
          </ac:spMkLst>
        </pc:spChg>
        <pc:spChg chg="mod">
          <ac:chgData name="Ettore Cantile" userId="2f5e44afd0b03182" providerId="LiveId" clId="{E1385F0F-24B1-4705-8EF7-8D82C33CA9CE}" dt="2026-09-25T15:17:38.689" v="403" actId="20577"/>
          <ac:spMkLst>
            <pc:docMk/>
            <pc:sldMk cId="0" sldId="279"/>
            <ac:spMk id="6" creationId="{00000000-0000-0000-0000-000000000000}"/>
          </ac:spMkLst>
        </pc:spChg>
        <pc:spChg chg="mod">
          <ac:chgData name="Ettore Cantile" userId="2f5e44afd0b03182" providerId="LiveId" clId="{E1385F0F-24B1-4705-8EF7-8D82C33CA9CE}" dt="2026-09-24T15:41:16.831" v="6" actId="20577"/>
          <ac:spMkLst>
            <pc:docMk/>
            <pc:sldMk cId="0" sldId="279"/>
            <ac:spMk id="14" creationId="{00000000-0000-0000-0000-000000000000}"/>
          </ac:spMkLst>
        </pc:spChg>
        <pc:spChg chg="mod">
          <ac:chgData name="Ettore Cantile" userId="2f5e44afd0b03182" providerId="LiveId" clId="{E1385F0F-24B1-4705-8EF7-8D82C33CA9CE}" dt="2026-09-24T15:41:16.770" v="5" actId="947"/>
          <ac:spMkLst>
            <pc:docMk/>
            <pc:sldMk cId="0" sldId="279"/>
            <ac:spMk id="22" creationId="{00000000-0000-0000-0000-000000000000}"/>
          </ac:spMkLst>
        </pc:spChg>
      </pc:sldChg>
      <pc:sldChg chg="modSp add del mod">
        <pc:chgData name="Ettore Cantile" userId="2f5e44afd0b03182" providerId="LiveId" clId="{E1385F0F-24B1-4705-8EF7-8D82C33CA9CE}" dt="2026-09-25T15:15:23.771" v="376" actId="20577"/>
        <pc:sldMkLst>
          <pc:docMk/>
          <pc:sldMk cId="4050059398" sldId="280"/>
        </pc:sldMkLst>
        <pc:spChg chg="mod">
          <ac:chgData name="Ettore Cantile" userId="2f5e44afd0b03182" providerId="LiveId" clId="{E1385F0F-24B1-4705-8EF7-8D82C33CA9CE}" dt="2026-09-24T16:04:51.379" v="11" actId="947"/>
          <ac:spMkLst>
            <pc:docMk/>
            <pc:sldMk cId="4050059398" sldId="280"/>
            <ac:spMk id="3" creationId="{00000000-0000-0000-0000-000000000000}"/>
          </ac:spMkLst>
        </pc:spChg>
        <pc:spChg chg="mod">
          <ac:chgData name="Ettore Cantile" userId="2f5e44afd0b03182" providerId="LiveId" clId="{E1385F0F-24B1-4705-8EF7-8D82C33CA9CE}" dt="2026-09-24T16:04:51.396" v="14" actId="947"/>
          <ac:spMkLst>
            <pc:docMk/>
            <pc:sldMk cId="4050059398" sldId="280"/>
            <ac:spMk id="4" creationId="{00000000-0000-0000-0000-000000000000}"/>
          </ac:spMkLst>
        </pc:spChg>
        <pc:spChg chg="mod">
          <ac:chgData name="Ettore Cantile" userId="2f5e44afd0b03182" providerId="LiveId" clId="{E1385F0F-24B1-4705-8EF7-8D82C33CA9CE}" dt="2026-09-24T16:05:12.951" v="53" actId="20577"/>
          <ac:spMkLst>
            <pc:docMk/>
            <pc:sldMk cId="4050059398" sldId="280"/>
            <ac:spMk id="5" creationId="{00000000-0000-0000-0000-000000000000}"/>
          </ac:spMkLst>
        </pc:spChg>
        <pc:spChg chg="mod">
          <ac:chgData name="Ettore Cantile" userId="2f5e44afd0b03182" providerId="LiveId" clId="{E1385F0F-24B1-4705-8EF7-8D82C33CA9CE}" dt="2026-09-25T15:15:23.771" v="376" actId="20577"/>
          <ac:spMkLst>
            <pc:docMk/>
            <pc:sldMk cId="4050059398" sldId="280"/>
            <ac:spMk id="6" creationId="{00000000-0000-0000-0000-000000000000}"/>
          </ac:spMkLst>
        </pc:spChg>
        <pc:spChg chg="mod">
          <ac:chgData name="Ettore Cantile" userId="2f5e44afd0b03182" providerId="LiveId" clId="{E1385F0F-24B1-4705-8EF7-8D82C33CA9CE}" dt="2026-09-24T16:05:32.922" v="63"/>
          <ac:spMkLst>
            <pc:docMk/>
            <pc:sldMk cId="4050059398" sldId="280"/>
            <ac:spMk id="7" creationId="{00000000-0000-0000-0000-000000000000}"/>
          </ac:spMkLst>
        </pc:spChg>
        <pc:spChg chg="mod">
          <ac:chgData name="Ettore Cantile" userId="2f5e44afd0b03182" providerId="LiveId" clId="{E1385F0F-24B1-4705-8EF7-8D82C33CA9CE}" dt="2026-09-24T16:04:51.414" v="17" actId="947"/>
          <ac:spMkLst>
            <pc:docMk/>
            <pc:sldMk cId="4050059398" sldId="280"/>
            <ac:spMk id="9" creationId="{00000000-0000-0000-0000-000000000000}"/>
          </ac:spMkLst>
        </pc:spChg>
        <pc:spChg chg="mod">
          <ac:chgData name="Ettore Cantile" userId="2f5e44afd0b03182" providerId="LiveId" clId="{E1385F0F-24B1-4705-8EF7-8D82C33CA9CE}" dt="2026-09-24T16:05:12.523" v="41"/>
          <ac:spMkLst>
            <pc:docMk/>
            <pc:sldMk cId="4050059398" sldId="280"/>
            <ac:spMk id="10" creationId="{00000000-0000-0000-0000-000000000000}"/>
          </ac:spMkLst>
        </pc:spChg>
        <pc:spChg chg="mod">
          <ac:chgData name="Ettore Cantile" userId="2f5e44afd0b03182" providerId="LiveId" clId="{E1385F0F-24B1-4705-8EF7-8D82C33CA9CE}" dt="2026-09-24T16:05:12.541" v="45"/>
          <ac:spMkLst>
            <pc:docMk/>
            <pc:sldMk cId="4050059398" sldId="280"/>
            <ac:spMk id="11" creationId="{00000000-0000-0000-0000-000000000000}"/>
          </ac:spMkLst>
        </pc:spChg>
        <pc:spChg chg="mod">
          <ac:chgData name="Ettore Cantile" userId="2f5e44afd0b03182" providerId="LiveId" clId="{E1385F0F-24B1-4705-8EF7-8D82C33CA9CE}" dt="2026-09-24T16:05:12.559" v="49"/>
          <ac:spMkLst>
            <pc:docMk/>
            <pc:sldMk cId="4050059398" sldId="280"/>
            <ac:spMk id="12" creationId="{00000000-0000-0000-0000-000000000000}"/>
          </ac:spMkLst>
        </pc:spChg>
        <pc:spChg chg="mod">
          <ac:chgData name="Ettore Cantile" userId="2f5e44afd0b03182" providerId="LiveId" clId="{E1385F0F-24B1-4705-8EF7-8D82C33CA9CE}" dt="2026-09-24T16:05:32.933" v="65"/>
          <ac:spMkLst>
            <pc:docMk/>
            <pc:sldMk cId="4050059398" sldId="280"/>
            <ac:spMk id="13" creationId="{00000000-0000-0000-0000-000000000000}"/>
          </ac:spMkLst>
        </pc:spChg>
        <pc:spChg chg="mod">
          <ac:chgData name="Ettore Cantile" userId="2f5e44afd0b03182" providerId="LiveId" clId="{E1385F0F-24B1-4705-8EF7-8D82C33CA9CE}" dt="2026-09-24T16:04:51.431" v="20" actId="947"/>
          <ac:spMkLst>
            <pc:docMk/>
            <pc:sldMk cId="4050059398" sldId="280"/>
            <ac:spMk id="15" creationId="{00000000-0000-0000-0000-000000000000}"/>
          </ac:spMkLst>
        </pc:spChg>
        <pc:spChg chg="mod">
          <ac:chgData name="Ettore Cantile" userId="2f5e44afd0b03182" providerId="LiveId" clId="{E1385F0F-24B1-4705-8EF7-8D82C33CA9CE}" dt="2026-09-24T16:05:12.534" v="43"/>
          <ac:spMkLst>
            <pc:docMk/>
            <pc:sldMk cId="4050059398" sldId="280"/>
            <ac:spMk id="16" creationId="{00000000-0000-0000-0000-000000000000}"/>
          </ac:spMkLst>
        </pc:spChg>
        <pc:spChg chg="mod">
          <ac:chgData name="Ettore Cantile" userId="2f5e44afd0b03182" providerId="LiveId" clId="{E1385F0F-24B1-4705-8EF7-8D82C33CA9CE}" dt="2026-09-24T16:05:12.542" v="47"/>
          <ac:spMkLst>
            <pc:docMk/>
            <pc:sldMk cId="4050059398" sldId="280"/>
            <ac:spMk id="17" creationId="{00000000-0000-0000-0000-000000000000}"/>
          </ac:spMkLst>
        </pc:spChg>
        <pc:spChg chg="mod">
          <ac:chgData name="Ettore Cantile" userId="2f5e44afd0b03182" providerId="LiveId" clId="{E1385F0F-24B1-4705-8EF7-8D82C33CA9CE}" dt="2026-09-24T16:05:12.561" v="51"/>
          <ac:spMkLst>
            <pc:docMk/>
            <pc:sldMk cId="4050059398" sldId="280"/>
            <ac:spMk id="18" creationId="{00000000-0000-0000-0000-000000000000}"/>
          </ac:spMkLst>
        </pc:spChg>
        <pc:spChg chg="mod">
          <ac:chgData name="Ettore Cantile" userId="2f5e44afd0b03182" providerId="LiveId" clId="{E1385F0F-24B1-4705-8EF7-8D82C33CA9CE}" dt="2026-09-24T16:05:32.939" v="67"/>
          <ac:spMkLst>
            <pc:docMk/>
            <pc:sldMk cId="4050059398" sldId="280"/>
            <ac:spMk id="19" creationId="{00000000-0000-0000-0000-000000000000}"/>
          </ac:spMkLst>
        </pc:spChg>
        <pc:spChg chg="mod">
          <ac:chgData name="Ettore Cantile" userId="2f5e44afd0b03182" providerId="LiveId" clId="{E1385F0F-24B1-4705-8EF7-8D82C33CA9CE}" dt="2026-09-24T16:05:47.995" v="75"/>
          <ac:spMkLst>
            <pc:docMk/>
            <pc:sldMk cId="4050059398" sldId="280"/>
            <ac:spMk id="20" creationId="{00000000-0000-0000-0000-000000000000}"/>
          </ac:spMkLst>
        </pc:spChg>
      </pc:sld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0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1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1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1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1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1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2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2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2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2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_rels/chart2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1.xlsx"/></Relationships>
</file>

<file path=ppt/charts/_rels/chart2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2.xlsx"/></Relationships>
</file>

<file path=ppt/charts/_rels/chart2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3.xlsx"/></Relationships>
</file>

<file path=ppt/charts/_rels/chart2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4.xlsx"/></Relationships>
</file>

<file path=ppt/charts/_rels/chart2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5.xlsx"/></Relationships>
</file>

<file path=ppt/charts/_rels/chart2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6.xlsx"/></Relationships>
</file>

<file path=ppt/charts/_rels/chart3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7.xlsx"/></Relationships>
</file>

<file path=ppt/charts/_rels/chart3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8.xlsx"/></Relationships>
</file>

<file path=ppt/charts/_rels/chart3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9.xlsx"/></Relationships>
</file>

<file path=ppt/charts/_rels/chart3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ns</c:v>
                </c:pt>
              </c:strCache>
            </c:strRef>
          </c:tx>
          <c:spPr>
            <a:solidFill>
              <a:srgbClr val="1F3A5F"/>
            </a:solidFill>
            <a:ln>
              <a:noFill/>
            </a:ln>
          </c:spPr>
          <c:invertIfNegative val="1"/>
          <c:dPt>
            <c:idx val="0"/>
            <c:invertIfNegative val="1"/>
            <c:bubble3D val="0"/>
            <c:spPr>
              <a:solidFill>
                <a:srgbClr val="8A94A6"/>
              </a:solidFill>
            </c:spPr>
            <c:extLst>
              <c:ext xmlns:c16="http://schemas.microsoft.com/office/drawing/2014/chart" uri="{C3380CC4-5D6E-409C-BE32-E72D297353CC}">
                <c16:uniqueId val="{00000001-B2EE-41DF-BD52-DB8D95671A71}"/>
              </c:ext>
            </c:extLst>
          </c:dPt>
          <c:dPt>
            <c:idx val="1"/>
            <c:invertIfNegative val="1"/>
            <c:bubble3D val="0"/>
            <c:spPr>
              <a:solidFill>
                <a:srgbClr val="C8551E"/>
              </a:solidFill>
            </c:spPr>
            <c:extLst>
              <c:ext xmlns:c16="http://schemas.microsoft.com/office/drawing/2014/chart" uri="{C3380CC4-5D6E-409C-BE32-E72D297353CC}">
                <c16:uniqueId val="{00000003-B2EE-41DF-BD52-DB8D95671A71}"/>
              </c:ext>
            </c:extLst>
          </c:dPt>
          <c:dPt>
            <c:idx val="2"/>
            <c:invertIfNegative val="1"/>
            <c:bubble3D val="0"/>
            <c:spPr>
              <a:solidFill>
                <a:srgbClr val="F09A3E"/>
              </a:solidFill>
            </c:spPr>
            <c:extLst>
              <c:ext xmlns:c16="http://schemas.microsoft.com/office/drawing/2014/chart" uri="{C3380CC4-5D6E-409C-BE32-E72D297353CC}">
                <c16:uniqueId val="{00000005-B2EE-41DF-BD52-DB8D95671A71}"/>
              </c:ext>
            </c:extLst>
          </c:dPt>
          <c:dPt>
            <c:idx val="3"/>
            <c:invertIfNegative val="1"/>
            <c:bubble3D val="0"/>
            <c:spPr>
              <a:solidFill>
                <a:srgbClr val="2E9C8F"/>
              </a:solidFill>
            </c:spPr>
            <c:extLst>
              <c:ext xmlns:c16="http://schemas.microsoft.com/office/drawing/2014/chart" uri="{C3380CC4-5D6E-409C-BE32-E72D297353CC}">
                <c16:uniqueId val="{00000007-B2EE-41DF-BD52-DB8D95671A71}"/>
              </c:ext>
            </c:extLst>
          </c:dPt>
          <c:dPt>
            <c:idx val="4"/>
            <c:invertIfNegative val="1"/>
            <c:bubble3D val="0"/>
            <c:spPr>
              <a:solidFill>
                <a:srgbClr val="1F5F8B"/>
              </a:solidFill>
            </c:spPr>
            <c:extLst>
              <c:ext xmlns:c16="http://schemas.microsoft.com/office/drawing/2014/chart" uri="{C3380CC4-5D6E-409C-BE32-E72D297353CC}">
                <c16:uniqueId val="{00000009-B2EE-41DF-BD52-DB8D95671A71}"/>
              </c:ext>
            </c:extLst>
          </c:dPt>
          <c:cat>
            <c:strRef>
              <c:f>Sheet1!$A$2:$A$6</c:f>
              <c:strCache>
                <c:ptCount val="5"/>
                <c:pt idx="0">
                  <c:v>baseline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66.6</c:v>
                </c:pt>
                <c:pt idx="1">
                  <c:v>118.5</c:v>
                </c:pt>
                <c:pt idx="2">
                  <c:v>125.5</c:v>
                </c:pt>
                <c:pt idx="3">
                  <c:v>291.0</c:v>
                </c:pt>
                <c:pt idx="4">
                  <c:v>485.8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A-B2EE-41DF-BD52-DB8D95671A71}"/>
            </c:ext>
          </c:extLst>
        </c:ser>
        <c:dLbls>
          <c:numFmt formatCode="0" sourceLinked="0"/>
          <c:txPr>
            <a:bodyPr/>
            <a:lstStyle/>
            <a:p>
              <a:pPr>
                <a:defRPr sz="800">
                  <a:solidFill>
                    <a:srgbClr val="4A5568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55"/>
        <c:overlap val="-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C8D0DA"/>
            </a:solidFill>
          </a:ln>
        </c:spPr>
        <c:txPr>
          <a:bodyPr/>
          <a:lstStyle/>
          <a:p>
            <a:pPr>
              <a:defRPr sz="900">
                <a:solidFill>
                  <a:srgbClr val="4A5568"/>
                </a:solidFill>
                <a:latin typeface="Calibri"/>
              </a:defRPr>
            </a:pPr>
            <a:endParaRPr lang="it-IT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in val="0.0"/>
        </c:scaling>
        <c:delete val="0"/>
        <c:axPos val="l"/>
        <c:majorGridlines>
          <c:spPr>
            <a:ln w="7620">
              <a:solidFill>
                <a:srgbClr val="E3E7ED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it-IT" sz="1100" b="0">
                    <a:solidFill>
                      <a:srgbClr val="6B7C93"/>
                    </a:solidFill>
                    <a:latin typeface="Calibri"/>
                  </a:rPr>
                  <a:t>ns di CPU per pacchetto</a:t>
                </a:r>
              </a:p>
            </c:rich>
          </c:tx>
          <c:overlay val="0"/>
        </c:title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900">
          <a:solidFill>
            <a:srgbClr val="4A5568"/>
          </a:solidFill>
          <a:latin typeface="Calibri"/>
        </a:defRPr>
      </a:pPr>
      <a:endParaRPr lang="it-IT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ms</c:v>
                </c:pt>
              </c:strCache>
            </c:strRef>
          </c:tx>
          <c:spPr>
            <a:solidFill>
              <a:srgbClr val="1F3A5F"/>
            </a:solidFill>
            <a:ln>
              <a:noFill/>
            </a:ln>
          </c:spPr>
          <c:invertIfNegative val="1"/>
          <c:dPt>
            <c:idx val="0"/>
            <c:invertIfNegative val="1"/>
            <c:bubble3D val="0"/>
            <c:spPr>
              <a:solidFill>
                <a:srgbClr val="C0443C"/>
              </a:solidFill>
            </c:spPr>
            <c:extLst>
              <c:ext xmlns:c16="http://schemas.microsoft.com/office/drawing/2014/chart" uri="{C3380CC4-5D6E-409C-BE32-E72D297353CC}">
                <c16:uniqueId val="{00000001-22A5-49AE-B3BE-8258F9514AF6}"/>
              </c:ext>
            </c:extLst>
          </c:dPt>
          <c:dPt>
            <c:idx val="1"/>
            <c:invertIfNegative val="1"/>
            <c:bubble3D val="0"/>
            <c:spPr>
              <a:solidFill>
                <a:srgbClr val="F2B134"/>
              </a:solidFill>
            </c:spPr>
            <c:extLst>
              <c:ext xmlns:c16="http://schemas.microsoft.com/office/drawing/2014/chart" uri="{C3380CC4-5D6E-409C-BE32-E72D297353CC}">
                <c16:uniqueId val="{00000003-22A5-49AE-B3BE-8258F9514AF6}"/>
              </c:ext>
            </c:extLst>
          </c:dPt>
          <c:dPt>
            <c:idx val="2"/>
            <c:invertIfNegative val="1"/>
            <c:bubble3D val="0"/>
            <c:spPr>
              <a:solidFill>
                <a:srgbClr val="E07A2D"/>
              </a:solidFill>
            </c:spPr>
            <c:extLst>
              <c:ext xmlns:c16="http://schemas.microsoft.com/office/drawing/2014/chart" uri="{C3380CC4-5D6E-409C-BE32-E72D297353CC}">
                <c16:uniqueId val="{00000005-22A5-49AE-B3BE-8258F9514AF6}"/>
              </c:ext>
            </c:extLst>
          </c:dPt>
          <c:dPt>
            <c:idx val="3"/>
            <c:invertIfNegative val="1"/>
            <c:bubble3D val="0"/>
            <c:spPr>
              <a:solidFill>
                <a:srgbClr val="2E9C6E"/>
              </a:solidFill>
            </c:spPr>
            <c:extLst>
              <c:ext xmlns:c16="http://schemas.microsoft.com/office/drawing/2014/chart" uri="{C3380CC4-5D6E-409C-BE32-E72D297353CC}">
                <c16:uniqueId val="{00000007-22A5-49AE-B3BE-8258F9514AF6}"/>
              </c:ext>
            </c:extLst>
          </c:dPt>
          <c:cat>
            <c:strRef>
              <c:f>Sheet1!$A$2:$A$5</c:f>
              <c:strCache>
                <c:ptCount val="4"/>
                <c:pt idx="0">
                  <c:v>P2: compila
(una volta)
1 572 ms</c:v>
                </c:pt>
                <c:pt idx="1">
                  <c:v>P1: genera
e compila
49 ms</c:v>
                </c:pt>
                <c:pt idx="2">
                  <c:v>P1: carica
sul nodo
0,6 ms</c:v>
                </c:pt>
                <c:pt idx="3">
                  <c:v>P2 / P3:
la tabella
0,3 ms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1571.822</c:v>
                </c:pt>
                <c:pt idx="1">
                  <c:v>49.061</c:v>
                </c:pt>
                <c:pt idx="2">
                  <c:v>0.639</c:v>
                </c:pt>
                <c:pt idx="3">
                  <c:v>0.314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8-22A5-49AE-B3BE-8258F9514AF6}"/>
            </c:ext>
          </c:extLst>
        </c:ser>
        <c:gapWidth val="55"/>
        <c:overlap val="-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C8D0DA"/>
            </a:solidFill>
          </a:ln>
        </c:spPr>
        <c:txPr>
          <a:bodyPr/>
          <a:lstStyle/>
          <a:p>
            <a:pPr>
              <a:defRPr sz="900">
                <a:solidFill>
                  <a:srgbClr val="4A5568"/>
                </a:solidFill>
                <a:latin typeface="Calibri"/>
              </a:defRPr>
            </a:pPr>
            <a:endParaRPr lang="it-IT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logBase val="10"/>
          <c:orientation val="minMax"/>
          <c:min val="0.01"/>
        </c:scaling>
        <c:delete val="0"/>
        <c:axPos val="l"/>
        <c:majorGridlines>
          <c:spPr>
            <a:ln w="7620">
              <a:solidFill>
                <a:srgbClr val="E3E7ED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it-IT" sz="1100" b="0">
                    <a:solidFill>
                      <a:srgbClr val="6B7C93"/>
                    </a:solidFill>
                    <a:latin typeface="Calibri"/>
                  </a:rPr>
                  <a:t>millisecondi (scala log)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900">
          <a:solidFill>
            <a:srgbClr val="4A5568"/>
          </a:solidFill>
          <a:latin typeface="Calibri"/>
        </a:defRPr>
      </a:pPr>
      <a:endParaRPr lang="it-IT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P1 statica</c:v>
                </c:pt>
              </c:strCache>
            </c:strRef>
          </c:tx>
          <c:spPr>
            <a:ln w="28575">
              <a:solidFill>
                <a:srgbClr val="C8551E"/>
              </a:solidFill>
            </a:ln>
          </c:spPr>
          <c:marker>
            <c:symbol val="circle"/>
            <c:size val="6"/>
            <c:spPr>
              <a:solidFill>
                <a:srgbClr val="C8551E"/>
              </a:solidFill>
              <a:ln>
                <a:solidFill>
                  <a:srgbClr val="C8551E"/>
                </a:solidFill>
              </a:ln>
            </c:spPr>
          </c:marker>
          <c:cat>
            <c:strRef>
              <c:f>Sheet1!$A$2:$A$5</c:f>
              <c:strCache>
                <c:ptCount val="4"/>
                <c:pt idx="0">
                  <c:v>10</c:v>
                </c:pt>
                <c:pt idx="1">
                  <c:v>24</c:v>
                </c:pt>
                <c:pt idx="2">
                  <c:v>52</c:v>
                </c:pt>
                <c:pt idx="3">
                  <c:v>100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4.048</c:v>
                </c:pt>
                <c:pt idx="1">
                  <c:v>-2.533</c:v>
                </c:pt>
                <c:pt idx="2">
                  <c:v>3.781</c:v>
                </c:pt>
                <c:pt idx="3">
                  <c:v>0.937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A774-4ADD-9089-DB4FCCB8654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P1.5</c:v>
                </c:pt>
              </c:strCache>
            </c:strRef>
          </c:tx>
          <c:spPr>
            <a:ln w="28575">
              <a:solidFill>
                <a:srgbClr val="F09A3E"/>
              </a:solidFill>
            </a:ln>
          </c:spPr>
          <c:marker>
            <c:symbol val="circle"/>
            <c:size val="6"/>
            <c:spPr>
              <a:solidFill>
                <a:srgbClr val="F09A3E"/>
              </a:solidFill>
              <a:ln>
                <a:solidFill>
                  <a:srgbClr val="F09A3E"/>
                </a:solidFill>
              </a:ln>
            </c:spPr>
          </c:marker>
          <c:cat>
            <c:strRef>
              <c:f>Sheet1!$A$2:$A$5</c:f>
              <c:strCache>
                <c:ptCount val="4"/>
                <c:pt idx="0">
                  <c:v>10</c:v>
                </c:pt>
                <c:pt idx="1">
                  <c:v>24</c:v>
                </c:pt>
                <c:pt idx="2">
                  <c:v>52</c:v>
                </c:pt>
                <c:pt idx="3">
                  <c:v>100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5.961</c:v>
                </c:pt>
                <c:pt idx="1">
                  <c:v>-1.119</c:v>
                </c:pt>
                <c:pt idx="2">
                  <c:v>8.476</c:v>
                </c:pt>
                <c:pt idx="3">
                  <c:v>1.694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A774-4ADD-9089-DB4FCCB8654F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P2</c:v>
                </c:pt>
              </c:strCache>
            </c:strRef>
          </c:tx>
          <c:spPr>
            <a:ln w="28575">
              <a:solidFill>
                <a:srgbClr val="2E9C8F"/>
              </a:solidFill>
            </a:ln>
          </c:spPr>
          <c:marker>
            <c:symbol val="circle"/>
            <c:size val="6"/>
            <c:spPr>
              <a:solidFill>
                <a:srgbClr val="2E9C8F"/>
              </a:solidFill>
              <a:ln>
                <a:solidFill>
                  <a:srgbClr val="2E9C8F"/>
                </a:solidFill>
              </a:ln>
            </c:spPr>
          </c:marker>
          <c:cat>
            <c:strRef>
              <c:f>Sheet1!$A$2:$A$5</c:f>
              <c:strCache>
                <c:ptCount val="4"/>
                <c:pt idx="0">
                  <c:v>10</c:v>
                </c:pt>
                <c:pt idx="1">
                  <c:v>24</c:v>
                </c:pt>
                <c:pt idx="2">
                  <c:v>52</c:v>
                </c:pt>
                <c:pt idx="3">
                  <c:v>100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-0.113</c:v>
                </c:pt>
                <c:pt idx="1">
                  <c:v>4.554</c:v>
                </c:pt>
                <c:pt idx="2">
                  <c:v>12.73</c:v>
                </c:pt>
                <c:pt idx="3">
                  <c:v>-5.327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A774-4ADD-9089-DB4FCCB8654F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P3</c:v>
                </c:pt>
              </c:strCache>
            </c:strRef>
          </c:tx>
          <c:spPr>
            <a:ln w="28575">
              <a:solidFill>
                <a:srgbClr val="1F5F8B"/>
              </a:solidFill>
            </a:ln>
          </c:spPr>
          <c:marker>
            <c:symbol val="circle"/>
            <c:size val="6"/>
            <c:spPr>
              <a:solidFill>
                <a:srgbClr val="1F5F8B"/>
              </a:solidFill>
              <a:ln>
                <a:solidFill>
                  <a:srgbClr val="1F5F8B"/>
                </a:solidFill>
              </a:ln>
            </c:spPr>
          </c:marker>
          <c:cat>
            <c:strRef>
              <c:f>Sheet1!$A$2:$A$5</c:f>
              <c:strCache>
                <c:ptCount val="4"/>
                <c:pt idx="0">
                  <c:v>10</c:v>
                </c:pt>
                <c:pt idx="1">
                  <c:v>24</c:v>
                </c:pt>
                <c:pt idx="2">
                  <c:v>52</c:v>
                </c:pt>
                <c:pt idx="3">
                  <c:v>100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-7.836</c:v>
                </c:pt>
                <c:pt idx="1">
                  <c:v>11.875</c:v>
                </c:pt>
                <c:pt idx="2">
                  <c:v>-11.313</c:v>
                </c:pt>
                <c:pt idx="3">
                  <c:v>-2.276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A774-4ADD-9089-DB4FCCB8654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lang="it-IT" sz="1200" b="0">
                    <a:solidFill>
                      <a:srgbClr val="6B7C93"/>
                    </a:solidFill>
                    <a:latin typeface="Calibri"/>
                  </a:rPr>
                  <a:t>nodi della rete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low"/>
        <c:spPr>
          <a:ln>
            <a:solidFill>
              <a:srgbClr val="C8D0DA"/>
            </a:solidFill>
          </a:ln>
        </c:spPr>
        <c:txPr>
          <a:bodyPr/>
          <a:lstStyle/>
          <a:p>
            <a:pPr>
              <a:defRPr sz="900">
                <a:solidFill>
                  <a:srgbClr val="4A5568"/>
                </a:solidFill>
                <a:latin typeface="Calibri"/>
              </a:defRPr>
            </a:pPr>
            <a:endParaRPr lang="it-IT"/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  <c:max val="40.0"/>
          <c:min val="-40.0"/>
        </c:scaling>
        <c:delete val="0"/>
        <c:axPos val="l"/>
        <c:majorGridlines>
          <c:spPr>
            <a:ln w="7620">
              <a:solidFill>
                <a:srgbClr val="E3E7ED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it-IT" sz="1100" b="0">
                    <a:solidFill>
                      <a:srgbClr val="6B7C93"/>
                    </a:solidFill>
                    <a:latin typeface="Calibri"/>
                  </a:rPr>
                  <a:t>ns: misurato − legge</a:t>
                </a:r>
              </a:p>
            </c:rich>
          </c:tx>
          <c:overlay val="0"/>
        </c:title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2118791784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900">
              <a:solidFill>
                <a:srgbClr val="222B36"/>
              </a:solidFill>
            </a:defRPr>
          </a:pPr>
          <a:endParaRPr lang="it-IT"/>
        </a:p>
      </c:txPr>
    </c:legend>
    <c:plotVisOnly val="1"/>
    <c:dispBlanksAs val="gap"/>
    <c:showDLblsOverMax val="0"/>
  </c:chart>
  <c:txPr>
    <a:bodyPr/>
    <a:lstStyle/>
    <a:p>
      <a:pPr>
        <a:defRPr sz="900">
          <a:solidFill>
            <a:srgbClr val="4A5568"/>
          </a:solidFill>
          <a:latin typeface="Calibri"/>
        </a:defRPr>
      </a:pPr>
      <a:endParaRPr lang="it-IT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P1 statica</c:v>
                </c:pt>
              </c:strCache>
            </c:strRef>
          </c:tx>
          <c:spPr>
            <a:ln w="28575">
              <a:solidFill>
                <a:srgbClr val="C8551E"/>
              </a:solidFill>
            </a:ln>
          </c:spPr>
          <c:marker>
            <c:symbol val="circle"/>
            <c:size val="6"/>
            <c:spPr>
              <a:solidFill>
                <a:srgbClr val="C8551E"/>
              </a:solidFill>
              <a:ln>
                <a:solidFill>
                  <a:srgbClr val="C8551E"/>
                </a:solidFill>
              </a:ln>
            </c:spPr>
          </c:marker>
          <c:cat>
            <c:strRef>
              <c:f>Sheet1!$A$2:$A$4</c:f>
              <c:strCache>
                <c:ptCount val="3"/>
                <c:pt idx="0">
                  <c:v>2</c:v>
                </c:pt>
                <c:pt idx="1">
                  <c:v>4</c:v>
                </c:pt>
                <c:pt idx="2">
                  <c:v>8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36.85</c:v>
                </c:pt>
                <c:pt idx="1">
                  <c:v>48.3</c:v>
                </c:pt>
                <c:pt idx="2">
                  <c:v>90.5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CB40-40F4-8AE4-87AB3DBEE21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P1.5</c:v>
                </c:pt>
              </c:strCache>
            </c:strRef>
          </c:tx>
          <c:spPr>
            <a:ln w="28575">
              <a:solidFill>
                <a:srgbClr val="F09A3E"/>
              </a:solidFill>
            </a:ln>
          </c:spPr>
          <c:marker>
            <c:symbol val="circle"/>
            <c:size val="6"/>
            <c:spPr>
              <a:solidFill>
                <a:srgbClr val="F09A3E"/>
              </a:solidFill>
              <a:ln>
                <a:solidFill>
                  <a:srgbClr val="F09A3E"/>
                </a:solidFill>
              </a:ln>
            </c:spPr>
          </c:marker>
          <c:cat>
            <c:strRef>
              <c:f>Sheet1!$A$2:$A$4</c:f>
              <c:strCache>
                <c:ptCount val="3"/>
                <c:pt idx="0">
                  <c:v>2</c:v>
                </c:pt>
                <c:pt idx="1">
                  <c:v>4</c:v>
                </c:pt>
                <c:pt idx="2">
                  <c:v>8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42.1</c:v>
                </c:pt>
                <c:pt idx="1">
                  <c:v>57.2</c:v>
                </c:pt>
                <c:pt idx="2">
                  <c:v>102.05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CB40-40F4-8AE4-87AB3DBEE21D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P2</c:v>
                </c:pt>
              </c:strCache>
            </c:strRef>
          </c:tx>
          <c:spPr>
            <a:ln w="28575">
              <a:solidFill>
                <a:srgbClr val="2E9C8F"/>
              </a:solidFill>
            </a:ln>
          </c:spPr>
          <c:marker>
            <c:symbol val="circle"/>
            <c:size val="6"/>
            <c:spPr>
              <a:solidFill>
                <a:srgbClr val="2E9C8F"/>
              </a:solidFill>
              <a:ln>
                <a:solidFill>
                  <a:srgbClr val="2E9C8F"/>
                </a:solidFill>
              </a:ln>
            </c:spPr>
          </c:marker>
          <c:cat>
            <c:strRef>
              <c:f>Sheet1!$A$2:$A$4</c:f>
              <c:strCache>
                <c:ptCount val="3"/>
                <c:pt idx="0">
                  <c:v>2</c:v>
                </c:pt>
                <c:pt idx="1">
                  <c:v>4</c:v>
                </c:pt>
                <c:pt idx="2">
                  <c:v>8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197.4</c:v>
                </c:pt>
                <c:pt idx="1">
                  <c:v>230.4</c:v>
                </c:pt>
                <c:pt idx="2">
                  <c:v>279.1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CB40-40F4-8AE4-87AB3DBEE21D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P3</c:v>
                </c:pt>
              </c:strCache>
            </c:strRef>
          </c:tx>
          <c:spPr>
            <a:ln w="28575">
              <a:solidFill>
                <a:srgbClr val="1F5F8B"/>
              </a:solidFill>
            </a:ln>
          </c:spPr>
          <c:marker>
            <c:symbol val="circle"/>
            <c:size val="6"/>
            <c:spPr>
              <a:solidFill>
                <a:srgbClr val="1F5F8B"/>
              </a:solidFill>
              <a:ln>
                <a:solidFill>
                  <a:srgbClr val="1F5F8B"/>
                </a:solidFill>
              </a:ln>
            </c:spPr>
          </c:marker>
          <c:cat>
            <c:strRef>
              <c:f>Sheet1!$A$2:$A$4</c:f>
              <c:strCache>
                <c:ptCount val="3"/>
                <c:pt idx="0">
                  <c:v>2</c:v>
                </c:pt>
                <c:pt idx="1">
                  <c:v>4</c:v>
                </c:pt>
                <c:pt idx="2">
                  <c:v>8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389.05</c:v>
                </c:pt>
                <c:pt idx="1">
                  <c:v>415.1</c:v>
                </c:pt>
                <c:pt idx="2">
                  <c:v>537.15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CB40-40F4-8AE4-87AB3DBEE21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lang="it-IT" sz="1200" b="0">
                    <a:solidFill>
                      <a:srgbClr val="6B7C93"/>
                    </a:solidFill>
                    <a:latin typeface="Calibri"/>
                  </a:rPr>
                  <a:t>neuroni per strato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spPr>
          <a:ln>
            <a:solidFill>
              <a:srgbClr val="C8D0DA"/>
            </a:solidFill>
          </a:ln>
        </c:spPr>
        <c:txPr>
          <a:bodyPr/>
          <a:lstStyle/>
          <a:p>
            <a:pPr>
              <a:defRPr sz="900">
                <a:solidFill>
                  <a:srgbClr val="4A5568"/>
                </a:solidFill>
                <a:latin typeface="Calibri"/>
              </a:defRPr>
            </a:pPr>
            <a:endParaRPr lang="it-IT"/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  <c:min val="0.0"/>
        </c:scaling>
        <c:delete val="0"/>
        <c:axPos val="l"/>
        <c:majorGridlines>
          <c:spPr>
            <a:ln w="7620">
              <a:solidFill>
                <a:srgbClr val="E3E7ED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it-IT" sz="1100" b="0">
                    <a:solidFill>
                      <a:srgbClr val="6B7C93"/>
                    </a:solidFill>
                    <a:latin typeface="Calibri"/>
                  </a:rPr>
                  <a:t>ns di rete neurale per pacchetto</a:t>
                </a:r>
              </a:p>
            </c:rich>
          </c:tx>
          <c:overlay val="0"/>
        </c:title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2118791784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900">
              <a:solidFill>
                <a:srgbClr val="222B36"/>
              </a:solidFill>
            </a:defRPr>
          </a:pPr>
          <a:endParaRPr lang="it-IT"/>
        </a:p>
      </c:txPr>
    </c:legend>
    <c:plotVisOnly val="1"/>
    <c:dispBlanksAs val="gap"/>
    <c:showDLblsOverMax val="0"/>
  </c:chart>
  <c:txPr>
    <a:bodyPr/>
    <a:lstStyle/>
    <a:p>
      <a:pPr>
        <a:defRPr sz="900">
          <a:solidFill>
            <a:srgbClr val="4A5568"/>
          </a:solidFill>
          <a:latin typeface="Calibri"/>
        </a:defRPr>
      </a:pPr>
      <a:endParaRPr lang="it-IT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P1 statica</c:v>
                </c:pt>
              </c:strCache>
            </c:strRef>
          </c:tx>
          <c:spPr>
            <a:solidFill>
              <a:srgbClr val="C8551E"/>
            </a:solidFill>
            <a:ln>
              <a:noFill/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6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429.0</c:v>
                </c:pt>
                <c:pt idx="1">
                  <c:v>526.0</c:v>
                </c:pt>
                <c:pt idx="2">
                  <c:v>509.0</c:v>
                </c:pt>
                <c:pt idx="3">
                  <c:v>636.5</c:v>
                </c:pt>
                <c:pt idx="4">
                  <c:v>695.0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3ADE-4412-B047-C29A6E8602E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P1.5</c:v>
                </c:pt>
              </c:strCache>
            </c:strRef>
          </c:tx>
          <c:spPr>
            <a:solidFill>
              <a:srgbClr val="F09A3E"/>
            </a:solidFill>
            <a:ln>
              <a:noFill/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6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915.0</c:v>
                </c:pt>
                <c:pt idx="1">
                  <c:v>730.0</c:v>
                </c:pt>
                <c:pt idx="2">
                  <c:v>1048.0</c:v>
                </c:pt>
                <c:pt idx="3">
                  <c:v>819.5</c:v>
                </c:pt>
                <c:pt idx="4">
                  <c:v>1240.0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3ADE-4412-B047-C29A6E8602E7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P2</c:v>
                </c:pt>
              </c:strCache>
            </c:strRef>
          </c:tx>
          <c:spPr>
            <a:solidFill>
              <a:srgbClr val="2E9C8F"/>
            </a:solidFill>
            <a:ln>
              <a:noFill/>
            </a:ln>
          </c:spPr>
          <c:invertIfNegative val="0"/>
          <c:cat>
            <c:strRef>
              <c:f>Sheet1!$A$2:$A$6</c:f>
              <c:strCache>
                <c:ptCount val="5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6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14604.0</c:v>
                </c:pt>
                <c:pt idx="1">
                  <c:v>15089.0</c:v>
                </c:pt>
                <c:pt idx="2">
                  <c:v>16813.0</c:v>
                </c:pt>
                <c:pt idx="3">
                  <c:v>16945.0</c:v>
                </c:pt>
                <c:pt idx="4">
                  <c:v>18937.0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63F-4696-84CE-A75DF0F08176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P3</c:v>
                </c:pt>
              </c:strCache>
            </c:strRef>
          </c:tx>
          <c:spPr>
            <a:solidFill>
              <a:srgbClr val="1F5F8B"/>
            </a:solidFill>
            <a:ln>
              <a:noFill/>
            </a:ln>
          </c:spPr>
          <c:invertIfNegative val="0"/>
          <c:cat>
            <c:strRef>
              <c:f>Sheet1!$A$2:$A$6</c:f>
              <c:strCache>
                <c:ptCount val="5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6</c:v>
                </c:pt>
              </c:strCache>
            </c: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12288.0</c:v>
                </c:pt>
                <c:pt idx="1">
                  <c:v>12288.0</c:v>
                </c:pt>
                <c:pt idx="2">
                  <c:v>12288.0</c:v>
                </c:pt>
                <c:pt idx="3">
                  <c:v>12288.0</c:v>
                </c:pt>
                <c:pt idx="4">
                  <c:v>12288.0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A63F-4696-84CE-A75DF0F0817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5"/>
        <c:overlap val="-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lang="it-IT" sz="1200" b="0">
                    <a:solidFill>
                      <a:srgbClr val="6B7C93"/>
                    </a:solidFill>
                    <a:latin typeface="Calibri"/>
                  </a:rPr>
                  <a:t>strati nascosti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spPr>
          <a:ln>
            <a:solidFill>
              <a:srgbClr val="C8D0DA"/>
            </a:solidFill>
          </a:ln>
        </c:spPr>
        <c:txPr>
          <a:bodyPr/>
          <a:lstStyle/>
          <a:p>
            <a:pPr>
              <a:defRPr sz="900">
                <a:solidFill>
                  <a:srgbClr val="4A5568"/>
                </a:solidFill>
                <a:latin typeface="Calibri"/>
              </a:defRPr>
            </a:pPr>
            <a:endParaRPr lang="it-IT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logBase val="10"/>
          <c:orientation val="minMax"/>
          <c:max val="30000"/>
          <c:min val="300"/>
        </c:scaling>
        <c:delete val="0"/>
        <c:axPos val="l"/>
        <c:majorGridlines>
          <c:spPr>
            <a:ln w="7620">
              <a:solidFill>
                <a:srgbClr val="E3E7ED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en-US" sz="1100" b="0">
                    <a:solidFill>
                      <a:srgbClr val="6B7C93"/>
                    </a:solidFill>
                    <a:latin typeface="Calibri"/>
                  </a:rPr>
                  <a:t>istruzioni (scala logaritmica)</a:t>
                </a:r>
              </a:p>
            </c:rich>
          </c:tx>
          <c:overlay val="0"/>
        </c:title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-2068027336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900">
              <a:solidFill>
                <a:srgbClr val="222B36"/>
              </a:solidFill>
            </a:defRPr>
          </a:pPr>
          <a:endParaRPr lang="it-IT"/>
        </a:p>
      </c:txPr>
    </c:legend>
    <c:plotVisOnly val="1"/>
    <c:dispBlanksAs val="gap"/>
    <c:showDLblsOverMax val="1"/>
  </c:chart>
  <c:txPr>
    <a:bodyPr/>
    <a:lstStyle/>
    <a:p>
      <a:pPr>
        <a:defRPr sz="900">
          <a:solidFill>
            <a:srgbClr val="4A5568"/>
          </a:solidFill>
          <a:latin typeface="Calibri"/>
        </a:defRPr>
      </a:pPr>
      <a:endParaRPr lang="it-IT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P1 statica</c:v>
                </c:pt>
              </c:strCache>
            </c:strRef>
          </c:tx>
          <c:spPr>
            <a:ln w="28575">
              <a:solidFill>
                <a:srgbClr val="C8551E"/>
              </a:solidFill>
            </a:ln>
          </c:spPr>
          <c:marker>
            <c:symbol val="circle"/>
            <c:size val="6"/>
            <c:spPr>
              <a:solidFill>
                <a:srgbClr val="C8551E"/>
              </a:solidFill>
              <a:ln>
                <a:solidFill>
                  <a:srgbClr val="C8551E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6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38.4</c:v>
                </c:pt>
                <c:pt idx="1">
                  <c:v>45.5</c:v>
                </c:pt>
                <c:pt idx="2">
                  <c:v>47.6</c:v>
                </c:pt>
                <c:pt idx="3">
                  <c:v>53.35</c:v>
                </c:pt>
                <c:pt idx="4">
                  <c:v>66.1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EE24-4E76-9C4E-D10656651830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P1.5</c:v>
                </c:pt>
              </c:strCache>
            </c:strRef>
          </c:tx>
          <c:spPr>
            <a:ln w="28575">
              <a:solidFill>
                <a:srgbClr val="F09A3E"/>
              </a:solidFill>
            </a:ln>
          </c:spPr>
          <c:marker>
            <c:symbol val="circle"/>
            <c:size val="6"/>
            <c:spPr>
              <a:solidFill>
                <a:srgbClr val="F09A3E"/>
              </a:solidFill>
              <a:ln>
                <a:solidFill>
                  <a:srgbClr val="F09A3E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6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45.0</c:v>
                </c:pt>
                <c:pt idx="1">
                  <c:v>51.75</c:v>
                </c:pt>
                <c:pt idx="2">
                  <c:v>48.2</c:v>
                </c:pt>
                <c:pt idx="3">
                  <c:v>61.1</c:v>
                </c:pt>
                <c:pt idx="4">
                  <c:v>66.6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EE24-4E76-9C4E-D10656651830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P2</c:v>
                </c:pt>
              </c:strCache>
            </c:strRef>
          </c:tx>
          <c:spPr>
            <a:ln w="28575">
              <a:solidFill>
                <a:srgbClr val="2E9C8F"/>
              </a:solidFill>
            </a:ln>
          </c:spPr>
          <c:marker>
            <c:symbol val="circle"/>
            <c:size val="6"/>
            <c:spPr>
              <a:solidFill>
                <a:srgbClr val="2E9C8F"/>
              </a:solidFill>
              <a:ln>
                <a:solidFill>
                  <a:srgbClr val="2E9C8F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6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183.3</c:v>
                </c:pt>
                <c:pt idx="1">
                  <c:v>198.9</c:v>
                </c:pt>
                <c:pt idx="2">
                  <c:v>240.15</c:v>
                </c:pt>
                <c:pt idx="3">
                  <c:v>245.2</c:v>
                </c:pt>
                <c:pt idx="4">
                  <c:v>282.25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EE24-4E76-9C4E-D10656651830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P3</c:v>
                </c:pt>
              </c:strCache>
            </c:strRef>
          </c:tx>
          <c:spPr>
            <a:ln w="28575">
              <a:solidFill>
                <a:srgbClr val="1F5F8B"/>
              </a:solidFill>
            </a:ln>
          </c:spPr>
          <c:marker>
            <c:symbol val="circle"/>
            <c:size val="6"/>
            <c:spPr>
              <a:solidFill>
                <a:srgbClr val="1F5F8B"/>
              </a:solidFill>
              <a:ln>
                <a:solidFill>
                  <a:srgbClr val="1F5F8B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6</c:v>
                </c:pt>
              </c:strCache>
            </c: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299.1</c:v>
                </c:pt>
                <c:pt idx="1">
                  <c:v>362.65</c:v>
                </c:pt>
                <c:pt idx="2">
                  <c:v>415.1</c:v>
                </c:pt>
                <c:pt idx="3">
                  <c:v>475.3</c:v>
                </c:pt>
                <c:pt idx="4">
                  <c:v>559.4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EE24-4E76-9C4E-D1065665183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lang="it-IT" sz="1200" b="0">
                    <a:solidFill>
                      <a:srgbClr val="6B7C93"/>
                    </a:solidFill>
                    <a:latin typeface="Calibri"/>
                  </a:rPr>
                  <a:t>strati nascosti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spPr>
          <a:ln>
            <a:solidFill>
              <a:srgbClr val="C8D0DA"/>
            </a:solidFill>
          </a:ln>
        </c:spPr>
        <c:txPr>
          <a:bodyPr/>
          <a:lstStyle/>
          <a:p>
            <a:pPr>
              <a:defRPr sz="900">
                <a:solidFill>
                  <a:srgbClr val="4A5568"/>
                </a:solidFill>
                <a:latin typeface="Calibri"/>
              </a:defRPr>
            </a:pPr>
            <a:endParaRPr lang="it-IT"/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  <c:min val="0.0"/>
        </c:scaling>
        <c:delete val="0"/>
        <c:axPos val="l"/>
        <c:majorGridlines>
          <c:spPr>
            <a:ln w="7620">
              <a:solidFill>
                <a:srgbClr val="E3E7ED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it-IT" sz="1100" b="0">
                    <a:solidFill>
                      <a:srgbClr val="6B7C93"/>
                    </a:solidFill>
                    <a:latin typeface="Calibri"/>
                  </a:rPr>
                  <a:t>ns di rete neurale per pacchetto</a:t>
                </a:r>
              </a:p>
            </c:rich>
          </c:tx>
          <c:overlay val="0"/>
        </c:title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2118791784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900">
              <a:solidFill>
                <a:srgbClr val="222B36"/>
              </a:solidFill>
            </a:defRPr>
          </a:pPr>
          <a:endParaRPr lang="it-IT"/>
        </a:p>
      </c:txPr>
    </c:legend>
    <c:plotVisOnly val="1"/>
    <c:dispBlanksAs val="gap"/>
    <c:showDLblsOverMax val="0"/>
  </c:chart>
  <c:txPr>
    <a:bodyPr/>
    <a:lstStyle/>
    <a:p>
      <a:pPr>
        <a:defRPr sz="900">
          <a:solidFill>
            <a:srgbClr val="4A5568"/>
          </a:solidFill>
          <a:latin typeface="Calibri"/>
        </a:defRPr>
      </a:pPr>
      <a:endParaRPr lang="it-IT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P1 statica</c:v>
                </c:pt>
              </c:strCache>
            </c:strRef>
          </c:tx>
          <c:spPr>
            <a:ln w="28575">
              <a:solidFill>
                <a:srgbClr val="C8551E"/>
              </a:solidFill>
            </a:ln>
          </c:spPr>
          <c:marker>
            <c:symbol val="circle"/>
            <c:size val="6"/>
            <c:spPr>
              <a:solidFill>
                <a:srgbClr val="C8551E"/>
              </a:solidFill>
              <a:ln>
                <a:solidFill>
                  <a:srgbClr val="C8551E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69.1</c:v>
                </c:pt>
                <c:pt idx="1">
                  <c:v>70.7</c:v>
                </c:pt>
                <c:pt idx="2">
                  <c:v>71.2</c:v>
                </c:pt>
                <c:pt idx="3">
                  <c:v>83.25</c:v>
                </c:pt>
                <c:pt idx="4">
                  <c:v>81.25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2FE9-4682-94BD-8EF69DD99E81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P1.5</c:v>
                </c:pt>
              </c:strCache>
            </c:strRef>
          </c:tx>
          <c:spPr>
            <a:ln w="28575">
              <a:solidFill>
                <a:srgbClr val="F09A3E"/>
              </a:solidFill>
            </a:ln>
          </c:spPr>
          <c:marker>
            <c:symbol val="circle"/>
            <c:size val="6"/>
            <c:spPr>
              <a:solidFill>
                <a:srgbClr val="F09A3E"/>
              </a:solidFill>
              <a:ln>
                <a:solidFill>
                  <a:srgbClr val="F09A3E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76.1</c:v>
                </c:pt>
                <c:pt idx="1">
                  <c:v>75.1</c:v>
                </c:pt>
                <c:pt idx="2">
                  <c:v>80.25</c:v>
                </c:pt>
                <c:pt idx="3">
                  <c:v>92.25</c:v>
                </c:pt>
                <c:pt idx="4">
                  <c:v>86.95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2FE9-4682-94BD-8EF69DD99E81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P2</c:v>
                </c:pt>
              </c:strCache>
            </c:strRef>
          </c:tx>
          <c:spPr>
            <a:ln w="28575">
              <a:solidFill>
                <a:srgbClr val="2E9C8F"/>
              </a:solidFill>
            </a:ln>
          </c:spPr>
          <c:marker>
            <c:symbol val="circle"/>
            <c:size val="6"/>
            <c:spPr>
              <a:solidFill>
                <a:srgbClr val="2E9C8F"/>
              </a:solidFill>
              <a:ln>
                <a:solidFill>
                  <a:srgbClr val="2E9C8F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211.15</c:v>
                </c:pt>
                <c:pt idx="1">
                  <c:v>231.25</c:v>
                </c:pt>
                <c:pt idx="2">
                  <c:v>251.45</c:v>
                </c:pt>
                <c:pt idx="3">
                  <c:v>301.0</c:v>
                </c:pt>
                <c:pt idx="4">
                  <c:v>312.55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2FE9-4682-94BD-8EF69DD99E81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P3</c:v>
                </c:pt>
              </c:strCache>
            </c:strRef>
          </c:tx>
          <c:spPr>
            <a:ln w="28575">
              <a:solidFill>
                <a:srgbClr val="1F5F8B"/>
              </a:solidFill>
            </a:ln>
          </c:spPr>
          <c:marker>
            <c:symbol val="circle"/>
            <c:size val="6"/>
            <c:spPr>
              <a:solidFill>
                <a:srgbClr val="1F5F8B"/>
              </a:solidFill>
              <a:ln>
                <a:solidFill>
                  <a:srgbClr val="1F5F8B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</c:strCache>
            </c: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356.85</c:v>
                </c:pt>
                <c:pt idx="1">
                  <c:v>413.9</c:v>
                </c:pt>
                <c:pt idx="2">
                  <c:v>448.4</c:v>
                </c:pt>
                <c:pt idx="3">
                  <c:v>552.1</c:v>
                </c:pt>
                <c:pt idx="4">
                  <c:v>577.45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2FE9-4682-94BD-8EF69DD99E8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lang="it-IT" sz="1200" b="0">
                    <a:solidFill>
                      <a:srgbClr val="6B7C93"/>
                    </a:solidFill>
                    <a:latin typeface="Calibri"/>
                  </a:rPr>
                  <a:t>strati (a pesi costanti)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spPr>
          <a:ln>
            <a:solidFill>
              <a:srgbClr val="C8D0DA"/>
            </a:solidFill>
          </a:ln>
        </c:spPr>
        <c:txPr>
          <a:bodyPr/>
          <a:lstStyle/>
          <a:p>
            <a:pPr>
              <a:defRPr sz="900">
                <a:solidFill>
                  <a:srgbClr val="4A5568"/>
                </a:solidFill>
                <a:latin typeface="Calibri"/>
              </a:defRPr>
            </a:pPr>
            <a:endParaRPr lang="it-IT"/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  <c:min val="0.0"/>
        </c:scaling>
        <c:delete val="0"/>
        <c:axPos val="l"/>
        <c:majorGridlines>
          <c:spPr>
            <a:ln w="7620">
              <a:solidFill>
                <a:srgbClr val="E3E7ED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it-IT" sz="1100" b="0">
                    <a:solidFill>
                      <a:srgbClr val="6B7C93"/>
                    </a:solidFill>
                    <a:latin typeface="Calibri"/>
                  </a:rPr>
                  <a:t>ns di rete neurale per pacchetto</a:t>
                </a:r>
              </a:p>
            </c:rich>
          </c:tx>
          <c:overlay val="0"/>
        </c:title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2118791784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900">
              <a:solidFill>
                <a:srgbClr val="222B36"/>
              </a:solidFill>
            </a:defRPr>
          </a:pPr>
          <a:endParaRPr lang="it-IT"/>
        </a:p>
      </c:txPr>
    </c:legend>
    <c:plotVisOnly val="1"/>
    <c:dispBlanksAs val="gap"/>
    <c:showDLblsOverMax val="0"/>
  </c:chart>
  <c:txPr>
    <a:bodyPr/>
    <a:lstStyle/>
    <a:p>
      <a:pPr>
        <a:defRPr sz="900">
          <a:solidFill>
            <a:srgbClr val="4A5568"/>
          </a:solidFill>
          <a:latin typeface="Calibri"/>
        </a:defRPr>
      </a:pPr>
      <a:endParaRPr lang="it-IT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P1 statica</c:v>
                </c:pt>
              </c:strCache>
            </c:strRef>
          </c:tx>
          <c:spPr>
            <a:ln w="28575">
              <a:solidFill>
                <a:srgbClr val="C8551E"/>
              </a:solidFill>
            </a:ln>
          </c:spPr>
          <c:marker>
            <c:symbol val="circle"/>
            <c:size val="6"/>
            <c:spPr>
              <a:solidFill>
                <a:srgbClr val="C8551E"/>
              </a:solidFill>
              <a:ln>
                <a:solidFill>
                  <a:srgbClr val="C8551E"/>
                </a:solidFill>
              </a:ln>
            </c:spPr>
          </c:marker>
          <c:cat>
            <c:strRef>
              <c:f>Sheet1!$A$2:$A$4</c:f>
              <c:strCache>
                <c:ptCount val="3"/>
                <c:pt idx="0">
                  <c:v>0 %</c:v>
                </c:pt>
                <c:pt idx="1">
                  <c:v>50 %</c:v>
                </c:pt>
                <c:pt idx="2">
                  <c:v>90 %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1.016</c:v>
                </c:pt>
                <c:pt idx="1">
                  <c:v>0.795</c:v>
                </c:pt>
                <c:pt idx="2">
                  <c:v>0.441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63E1-43F5-8DA6-A90A1BC77E9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P1.5</c:v>
                </c:pt>
              </c:strCache>
            </c:strRef>
          </c:tx>
          <c:spPr>
            <a:ln w="28575">
              <a:solidFill>
                <a:srgbClr val="F09A3E"/>
              </a:solidFill>
            </a:ln>
          </c:spPr>
          <c:marker>
            <c:symbol val="circle"/>
            <c:size val="6"/>
            <c:spPr>
              <a:solidFill>
                <a:srgbClr val="F09A3E"/>
              </a:solidFill>
              <a:ln>
                <a:solidFill>
                  <a:srgbClr val="F09A3E"/>
                </a:solidFill>
              </a:ln>
            </c:spPr>
          </c:marker>
          <c:cat>
            <c:strRef>
              <c:f>Sheet1!$A$2:$A$4</c:f>
              <c:strCache>
                <c:ptCount val="3"/>
                <c:pt idx="0">
                  <c:v>0 %</c:v>
                </c:pt>
                <c:pt idx="1">
                  <c:v>50 %</c:v>
                </c:pt>
                <c:pt idx="2">
                  <c:v>90 %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1.012</c:v>
                </c:pt>
                <c:pt idx="1">
                  <c:v>0.93</c:v>
                </c:pt>
                <c:pt idx="2">
                  <c:v>0.623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63E1-43F5-8DA6-A90A1BC77E99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P2</c:v>
                </c:pt>
              </c:strCache>
            </c:strRef>
          </c:tx>
          <c:spPr>
            <a:ln w="28575">
              <a:solidFill>
                <a:srgbClr val="2E9C8F"/>
              </a:solidFill>
            </a:ln>
          </c:spPr>
          <c:marker>
            <c:symbol val="circle"/>
            <c:size val="6"/>
            <c:spPr>
              <a:solidFill>
                <a:srgbClr val="2E9C8F"/>
              </a:solidFill>
              <a:ln>
                <a:solidFill>
                  <a:srgbClr val="2E9C8F"/>
                </a:solidFill>
              </a:ln>
            </c:spPr>
          </c:marker>
          <c:cat>
            <c:strRef>
              <c:f>Sheet1!$A$2:$A$4</c:f>
              <c:strCache>
                <c:ptCount val="3"/>
                <c:pt idx="0">
                  <c:v>0 %</c:v>
                </c:pt>
                <c:pt idx="1">
                  <c:v>50 %</c:v>
                </c:pt>
                <c:pt idx="2">
                  <c:v>90 %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1.005</c:v>
                </c:pt>
                <c:pt idx="1">
                  <c:v>1.028</c:v>
                </c:pt>
                <c:pt idx="2">
                  <c:v>1.023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63E1-43F5-8DA6-A90A1BC77E99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P3</c:v>
                </c:pt>
              </c:strCache>
            </c:strRef>
          </c:tx>
          <c:spPr>
            <a:ln w="28575">
              <a:solidFill>
                <a:srgbClr val="1F5F8B"/>
              </a:solidFill>
            </a:ln>
          </c:spPr>
          <c:marker>
            <c:symbol val="circle"/>
            <c:size val="6"/>
            <c:spPr>
              <a:solidFill>
                <a:srgbClr val="1F5F8B"/>
              </a:solidFill>
              <a:ln>
                <a:solidFill>
                  <a:srgbClr val="1F5F8B"/>
                </a:solidFill>
              </a:ln>
            </c:spPr>
          </c:marker>
          <c:cat>
            <c:strRef>
              <c:f>Sheet1!$A$2:$A$4</c:f>
              <c:strCache>
                <c:ptCount val="3"/>
                <c:pt idx="0">
                  <c:v>0 %</c:v>
                </c:pt>
                <c:pt idx="1">
                  <c:v>50 %</c:v>
                </c:pt>
                <c:pt idx="2">
                  <c:v>90 %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0.997</c:v>
                </c:pt>
                <c:pt idx="1">
                  <c:v>1.012</c:v>
                </c:pt>
                <c:pt idx="2">
                  <c:v>1.014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63E1-43F5-8DA6-A90A1BC77E9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lang="it-IT" sz="1200" b="0">
                    <a:solidFill>
                      <a:srgbClr val="6B7C93"/>
                    </a:solidFill>
                    <a:latin typeface="Calibri"/>
                  </a:rPr>
                  <a:t>pesi uguali a zero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spPr>
          <a:ln>
            <a:solidFill>
              <a:srgbClr val="C8D0DA"/>
            </a:solidFill>
          </a:ln>
        </c:spPr>
        <c:txPr>
          <a:bodyPr/>
          <a:lstStyle/>
          <a:p>
            <a:pPr>
              <a:defRPr sz="900">
                <a:solidFill>
                  <a:srgbClr val="4A5568"/>
                </a:solidFill>
                <a:latin typeface="Calibri"/>
              </a:defRPr>
            </a:pPr>
            <a:endParaRPr lang="it-IT"/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  <c:min val="0.0"/>
        </c:scaling>
        <c:delete val="0"/>
        <c:axPos val="l"/>
        <c:majorGridlines>
          <c:spPr>
            <a:ln w="7620">
              <a:solidFill>
                <a:srgbClr val="E3E7ED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it-IT" sz="1100" b="0">
                    <a:solidFill>
                      <a:srgbClr val="6B7C93"/>
                    </a:solidFill>
                    <a:latin typeface="Calibri"/>
                  </a:rPr>
                  <a:t>misurato / previsto dalla legge densa</a:t>
                </a:r>
              </a:p>
            </c:rich>
          </c:tx>
          <c:overlay val="0"/>
        </c:title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2118791784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900">
              <a:solidFill>
                <a:srgbClr val="222B36"/>
              </a:solidFill>
            </a:defRPr>
          </a:pPr>
          <a:endParaRPr lang="it-IT"/>
        </a:p>
      </c:txPr>
    </c:legend>
    <c:plotVisOnly val="1"/>
    <c:dispBlanksAs val="gap"/>
    <c:showDLblsOverMax val="0"/>
  </c:chart>
  <c:txPr>
    <a:bodyPr/>
    <a:lstStyle/>
    <a:p>
      <a:pPr>
        <a:defRPr sz="900">
          <a:solidFill>
            <a:srgbClr val="4A5568"/>
          </a:solidFill>
          <a:latin typeface="Calibri"/>
        </a:defRPr>
      </a:pPr>
      <a:endParaRPr lang="it-IT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barChart>
        <c:barDir val="bar"/>
        <c:grouping val="stack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ricevere il frame</c:v>
                </c:pt>
              </c:strCache>
            </c:strRef>
          </c:tx>
          <c:spPr>
            <a:solidFill>
              <a:srgbClr val="B8C2CF"/>
            </a:solidFill>
            <a:ln>
              <a:noFill/>
            </a:ln>
          </c:spPr>
          <c:invertIfNegative val="1"/>
          <c:cat>
            <c:strRef>
              <c:f>Sheet1!$A$2:$A$7</c:f>
              <c:strCache>
                <c:ptCount val="6"/>
                <c:pt idx="0">
                  <c:v>solo ricezione</c:v>
                </c:pt>
                <c:pt idx="1">
                  <c:v>baseline</c:v>
                </c:pt>
                <c:pt idx="2">
                  <c:v>P1 statica</c:v>
                </c:pt>
                <c:pt idx="3">
                  <c:v>P1.5</c:v>
                </c:pt>
                <c:pt idx="4">
                  <c:v>P2</c:v>
                </c:pt>
                <c:pt idx="5">
                  <c:v>P3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40.1</c:v>
                </c:pt>
                <c:pt idx="1">
                  <c:v>40.1</c:v>
                </c:pt>
                <c:pt idx="2">
                  <c:v>40.1</c:v>
                </c:pt>
                <c:pt idx="3">
                  <c:v>40.1</c:v>
                </c:pt>
                <c:pt idx="4">
                  <c:v>40.1</c:v>
                </c:pt>
                <c:pt idx="5">
                  <c:v>40.1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3529-44DC-BF74-5732F5E01C9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parse, TTL, redirect, accodamento</c:v>
                </c:pt>
              </c:strCache>
            </c:strRef>
          </c:tx>
          <c:spPr>
            <a:solidFill>
              <a:srgbClr val="8A94A6"/>
            </a:solidFill>
            <a:ln>
              <a:noFill/>
            </a:ln>
          </c:spPr>
          <c:invertIfNegative val="1"/>
          <c:cat>
            <c:strRef>
              <c:f>Sheet1!$A$2:$A$7</c:f>
              <c:strCache>
                <c:ptCount val="6"/>
                <c:pt idx="0">
                  <c:v>solo ricezione</c:v>
                </c:pt>
                <c:pt idx="1">
                  <c:v>baseline</c:v>
                </c:pt>
                <c:pt idx="2">
                  <c:v>P1 statica</c:v>
                </c:pt>
                <c:pt idx="3">
                  <c:v>P1.5</c:v>
                </c:pt>
                <c:pt idx="4">
                  <c:v>P2</c:v>
                </c:pt>
                <c:pt idx="5">
                  <c:v>P3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</c:v>
                </c:pt>
                <c:pt idx="1">
                  <c:v>26.6</c:v>
                </c:pt>
                <c:pt idx="2">
                  <c:v>26.6</c:v>
                </c:pt>
                <c:pt idx="3">
                  <c:v>26.6</c:v>
                </c:pt>
                <c:pt idx="4">
                  <c:v>26.6</c:v>
                </c:pt>
                <c:pt idx="5">
                  <c:v>26.6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3529-44DC-BF74-5732F5E01C96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rete neurale</c:v>
                </c:pt>
              </c:strCache>
            </c:strRef>
          </c:tx>
          <c:spPr>
            <a:solidFill>
              <a:srgbClr val="E07A2D"/>
            </a:solidFill>
            <a:ln>
              <a:noFill/>
            </a:ln>
          </c:spPr>
          <c:invertIfNegative val="1"/>
          <c:cat>
            <c:strRef>
              <c:f>Sheet1!$A$2:$A$7</c:f>
              <c:strCache>
                <c:ptCount val="6"/>
                <c:pt idx="0">
                  <c:v>solo ricezione</c:v>
                </c:pt>
                <c:pt idx="1">
                  <c:v>baseline</c:v>
                </c:pt>
                <c:pt idx="2">
                  <c:v>P1 statica</c:v>
                </c:pt>
                <c:pt idx="3">
                  <c:v>P1.5</c:v>
                </c:pt>
                <c:pt idx="4">
                  <c:v>P2</c:v>
                </c:pt>
                <c:pt idx="5">
                  <c:v>P3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52.4</c:v>
                </c:pt>
                <c:pt idx="3">
                  <c:v>58.9</c:v>
                </c:pt>
                <c:pt idx="4">
                  <c:v>224.6</c:v>
                </c:pt>
                <c:pt idx="5">
                  <c:v>419.8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3529-44DC-BF74-5732F5E01C96}"/>
            </c:ext>
          </c:extLst>
        </c:ser>
        <c:dLbls>
          <c:numFmt formatCode="0" sourceLinked="0"/>
          <c:txPr>
            <a:bodyPr/>
            <a:lstStyle/>
            <a:p>
              <a:pPr>
                <a:defRPr sz="800">
                  <a:solidFill>
                    <a:srgbClr val="FFFFFF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55"/>
        <c:overlap val="10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>
            <a:solidFill>
              <a:srgbClr val="C8D0DA"/>
            </a:solidFill>
          </a:ln>
        </c:spPr>
        <c:txPr>
          <a:bodyPr/>
          <a:lstStyle/>
          <a:p>
            <a:pPr>
              <a:defRPr sz="900">
                <a:solidFill>
                  <a:srgbClr val="4A5568"/>
                </a:solidFill>
                <a:latin typeface="Calibri"/>
              </a:defRPr>
            </a:pPr>
            <a:endParaRPr lang="it-IT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t"/>
        <c:majorGridlines>
          <c:spPr>
            <a:ln w="7620">
              <a:solidFill>
                <a:srgbClr val="E3E7ED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it-IT" sz="1100" b="0">
                    <a:solidFill>
                      <a:srgbClr val="6B7C93"/>
                    </a:solidFill>
                    <a:latin typeface="Calibri"/>
                  </a:rPr>
                  <a:t>ns per pacchetto</a:t>
                </a:r>
              </a:p>
            </c:rich>
          </c:tx>
          <c:overlay val="0"/>
        </c:title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-2068027336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900">
              <a:solidFill>
                <a:srgbClr val="222B36"/>
              </a:solidFill>
            </a:defRPr>
          </a:pPr>
          <a:endParaRPr lang="it-IT"/>
        </a:p>
      </c:txPr>
    </c:legend>
    <c:plotVisOnly val="1"/>
    <c:dispBlanksAs val="gap"/>
    <c:showDLblsOverMax val="1"/>
  </c:chart>
  <c:txPr>
    <a:bodyPr/>
    <a:lstStyle/>
    <a:p>
      <a:pPr>
        <a:defRPr sz="900">
          <a:solidFill>
            <a:srgbClr val="4A5568"/>
          </a:solidFill>
          <a:latin typeface="Calibri"/>
        </a:defRPr>
      </a:pPr>
      <a:endParaRPr lang="it-IT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nodo saturo (tempo di CPU)</c:v>
                </c:pt>
              </c:strCache>
            </c:strRef>
          </c:tx>
          <c:spPr>
            <a:ln w="28575">
              <a:solidFill>
                <a:srgbClr val="8A96A8"/>
              </a:solidFill>
              <a:prstDash val="dash"/>
            </a:ln>
          </c:spPr>
          <c:marker>
            <c:symbol val="circle"/>
            <c:size val="6"/>
            <c:spPr>
              <a:solidFill>
                <a:srgbClr val="8A96A8"/>
              </a:solidFill>
              <a:ln>
                <a:solidFill>
                  <a:srgbClr val="8A96A8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6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299.1</c:v>
                </c:pt>
                <c:pt idx="1">
                  <c:v>362.65</c:v>
                </c:pt>
                <c:pt idx="2">
                  <c:v>415.1</c:v>
                </c:pt>
                <c:pt idx="3">
                  <c:v>475.3</c:v>
                </c:pt>
                <c:pt idx="4">
                  <c:v>559.4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A774-4ADD-9089-DB4FCCB8654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traffico leggero, minimo</c:v>
                </c:pt>
              </c:strCache>
            </c:strRef>
          </c:tx>
          <c:spPr>
            <a:ln w="28575">
              <a:solidFill>
                <a:srgbClr val="8FB4D3"/>
              </a:solidFill>
            </a:ln>
          </c:spPr>
          <c:marker>
            <c:symbol val="circle"/>
            <c:size val="6"/>
            <c:spPr>
              <a:solidFill>
                <a:srgbClr val="8FB4D3"/>
              </a:solidFill>
              <a:ln>
                <a:solidFill>
                  <a:srgbClr val="8FB4D3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6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262.5</c:v>
                </c:pt>
                <c:pt idx="1">
                  <c:v>308.25</c:v>
                </c:pt>
                <c:pt idx="2">
                  <c:v>371.5</c:v>
                </c:pt>
                <c:pt idx="3">
                  <c:v>411.0</c:v>
                </c:pt>
                <c:pt idx="4">
                  <c:v>489.5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A774-4ADD-9089-DB4FCCB8654F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traffico leggero, media</c:v>
                </c:pt>
              </c:strCache>
            </c:strRef>
          </c:tx>
          <c:spPr>
            <a:ln w="28575">
              <a:solidFill>
                <a:srgbClr val="1F5F8B"/>
              </a:solidFill>
            </a:ln>
          </c:spPr>
          <c:marker>
            <c:symbol val="circle"/>
            <c:size val="6"/>
            <c:spPr>
              <a:solidFill>
                <a:srgbClr val="1F5F8B"/>
              </a:solidFill>
              <a:ln>
                <a:solidFill>
                  <a:srgbClr val="1F5F8B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6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297.5</c:v>
                </c:pt>
                <c:pt idx="1">
                  <c:v>357.75</c:v>
                </c:pt>
                <c:pt idx="2">
                  <c:v>429.5</c:v>
                </c:pt>
                <c:pt idx="3">
                  <c:v>496.0</c:v>
                </c:pt>
                <c:pt idx="4">
                  <c:v>565.5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A774-4ADD-9089-DB4FCCB8654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lang="it-IT" sz="1200" b="0">
                    <a:solidFill>
                      <a:srgbClr val="6B7C93"/>
                    </a:solidFill>
                    <a:latin typeface="Calibri"/>
                  </a:rPr>
                  <a:t>strati nascosti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spPr>
          <a:ln>
            <a:solidFill>
              <a:srgbClr val="C8D0DA"/>
            </a:solidFill>
          </a:ln>
        </c:spPr>
        <c:txPr>
          <a:bodyPr/>
          <a:lstStyle/>
          <a:p>
            <a:pPr>
              <a:defRPr sz="900">
                <a:solidFill>
                  <a:srgbClr val="4A5568"/>
                </a:solidFill>
                <a:latin typeface="Calibri"/>
              </a:defRPr>
            </a:pPr>
            <a:endParaRPr lang="it-IT"/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  <c:max val="700.0"/>
          <c:min val="0.0"/>
        </c:scaling>
        <c:delete val="0"/>
        <c:axPos val="l"/>
        <c:majorGridlines>
          <c:spPr>
            <a:ln w="7620">
              <a:solidFill>
                <a:srgbClr val="E3E7ED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it-IT" sz="1100" b="0">
                    <a:solidFill>
                      <a:srgbClr val="6B7C93"/>
                    </a:solidFill>
                    <a:latin typeface="Calibri"/>
                  </a:rPr>
                  <a:t>ns di rete neurale per pacchetto</a:t>
                </a:r>
              </a:p>
            </c:rich>
          </c:tx>
          <c:overlay val="0"/>
        </c:title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2118791784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900">
              <a:solidFill>
                <a:srgbClr val="222B36"/>
              </a:solidFill>
            </a:defRPr>
          </a:pPr>
          <a:endParaRPr lang="it-IT"/>
        </a:p>
      </c:txPr>
    </c:legend>
    <c:plotVisOnly val="1"/>
    <c:dispBlanksAs val="gap"/>
    <c:showDLblsOverMax val="0"/>
  </c:chart>
  <c:txPr>
    <a:bodyPr/>
    <a:lstStyle/>
    <a:p>
      <a:pPr>
        <a:defRPr sz="900">
          <a:solidFill>
            <a:srgbClr val="4A5568"/>
          </a:solidFill>
          <a:latin typeface="Calibri"/>
        </a:defRPr>
      </a:pPr>
      <a:endParaRPr lang="it-IT"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64 byte</c:v>
                </c:pt>
              </c:strCache>
            </c:strRef>
          </c:tx>
          <c:spPr>
            <a:solidFill>
              <a:srgbClr val="C9D3DF"/>
            </a:solidFill>
            <a:ln>
              <a:noFill/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baseline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65.7</c:v>
                </c:pt>
                <c:pt idx="1">
                  <c:v>131.8</c:v>
                </c:pt>
                <c:pt idx="2">
                  <c:v>135.2</c:v>
                </c:pt>
                <c:pt idx="3">
                  <c:v>264.25</c:v>
                </c:pt>
                <c:pt idx="4">
                  <c:v>475.95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F42E-472E-934F-5CC29ED7A81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512 byte</c:v>
                </c:pt>
              </c:strCache>
            </c:strRef>
          </c:tx>
          <c:spPr>
            <a:solidFill>
              <a:srgbClr val="7F93AD"/>
            </a:solidFill>
            <a:ln>
              <a:noFill/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baseline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65.6</c:v>
                </c:pt>
                <c:pt idx="1">
                  <c:v>132.75</c:v>
                </c:pt>
                <c:pt idx="2">
                  <c:v>134.8</c:v>
                </c:pt>
                <c:pt idx="3">
                  <c:v>264.2</c:v>
                </c:pt>
                <c:pt idx="4">
                  <c:v>475.6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F42E-472E-934F-5CC29ED7A817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1514 byte</c:v>
                </c:pt>
              </c:strCache>
            </c:strRef>
          </c:tx>
          <c:spPr>
            <a:solidFill>
              <a:srgbClr val="1F3A5F"/>
            </a:solidFill>
            <a:ln>
              <a:noFill/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baseline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65.6</c:v>
                </c:pt>
                <c:pt idx="1">
                  <c:v>134.0</c:v>
                </c:pt>
                <c:pt idx="2">
                  <c:v>131.9</c:v>
                </c:pt>
                <c:pt idx="3">
                  <c:v>263.5</c:v>
                </c:pt>
                <c:pt idx="4">
                  <c:v>474.2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F42E-472E-934F-5CC29ED7A81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5"/>
        <c:overlap val="-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C8D0DA"/>
            </a:solidFill>
          </a:ln>
        </c:spPr>
        <c:txPr>
          <a:bodyPr/>
          <a:lstStyle/>
          <a:p>
            <a:pPr>
              <a:defRPr sz="900">
                <a:solidFill>
                  <a:srgbClr val="4A5568"/>
                </a:solidFill>
                <a:latin typeface="Calibri"/>
              </a:defRPr>
            </a:pPr>
            <a:endParaRPr lang="it-IT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600"/>
          <c:min val="0"/>
        </c:scaling>
        <c:delete val="0"/>
        <c:axPos val="l"/>
        <c:majorGridlines>
          <c:spPr>
            <a:ln w="7620">
              <a:solidFill>
                <a:srgbClr val="E3E7ED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it-IT" sz="1100" b="0">
                    <a:solidFill>
                      <a:srgbClr val="6B7C93"/>
                    </a:solidFill>
                    <a:latin typeface="Calibri"/>
                  </a:rPr>
                  <a:t>ns per pacchetto</a:t>
                </a:r>
              </a:p>
            </c:rich>
          </c:tx>
          <c:overlay val="0"/>
        </c:title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-2068027336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900">
              <a:solidFill>
                <a:srgbClr val="222B36"/>
              </a:solidFill>
            </a:defRPr>
          </a:pPr>
          <a:endParaRPr lang="it-IT"/>
        </a:p>
      </c:txPr>
    </c:legend>
    <c:plotVisOnly val="1"/>
    <c:dispBlanksAs val="gap"/>
    <c:showDLblsOverMax val="1"/>
  </c:chart>
  <c:txPr>
    <a:bodyPr/>
    <a:lstStyle/>
    <a:p>
      <a:pPr>
        <a:defRPr sz="900">
          <a:solidFill>
            <a:srgbClr val="4A5568"/>
          </a:solidFill>
          <a:latin typeface="Calibri"/>
        </a:defRPr>
      </a:pPr>
      <a:endParaRPr lang="it-IT"/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classi che inoltrano</c:v>
                </c:pt>
              </c:strCache>
            </c:strRef>
          </c:tx>
          <c:spPr>
            <a:solidFill>
              <a:srgbClr val="6C819C"/>
            </a:solidFill>
            <a:ln>
              <a:solidFill>
                <a:srgbClr val="6C819C"/>
              </a:solidFill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baseline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64.95</c:v>
                </c:pt>
                <c:pt idx="1">
                  <c:v>110.05</c:v>
                </c:pt>
                <c:pt idx="2">
                  <c:v>119.2</c:v>
                </c:pt>
                <c:pt idx="3">
                  <c:v>261.675</c:v>
                </c:pt>
                <c:pt idx="4">
                  <c:v>470.875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DCC1-41C3-B47A-44DD6F14CF9B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scarta</c:v>
                </c:pt>
              </c:strCache>
            </c:strRef>
          </c:tx>
          <c:spPr>
            <a:solidFill>
              <a:srgbClr val="C0443C"/>
            </a:solidFill>
            <a:ln>
              <a:solidFill>
                <a:srgbClr val="C0443C"/>
              </a:solidFill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baseline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65.9</c:v>
                </c:pt>
                <c:pt idx="1">
                  <c:v>181.1</c:v>
                </c:pt>
                <c:pt idx="2">
                  <c:v>184.4</c:v>
                </c:pt>
                <c:pt idx="3">
                  <c:v>317.0</c:v>
                </c:pt>
                <c:pt idx="4">
                  <c:v>590.9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DCC1-41C3-B47A-44DD6F14CF9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5"/>
        <c:overlap val="-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C8D0DA"/>
            </a:solidFill>
          </a:ln>
        </c:spPr>
        <c:txPr>
          <a:bodyPr/>
          <a:lstStyle/>
          <a:p>
            <a:pPr>
              <a:defRPr sz="900">
                <a:solidFill>
                  <a:srgbClr val="4A5568"/>
                </a:solidFill>
                <a:latin typeface="Calibri"/>
              </a:defRPr>
            </a:pPr>
            <a:endParaRPr lang="it-IT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600"/>
          <c:min val="0"/>
        </c:scaling>
        <c:delete val="0"/>
        <c:axPos val="l"/>
        <c:majorGridlines>
          <c:spPr>
            <a:ln w="7620">
              <a:solidFill>
                <a:srgbClr val="E3E7ED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it-IT" sz="1100" b="0">
                    <a:solidFill>
                      <a:srgbClr val="6B7C93"/>
                    </a:solidFill>
                    <a:latin typeface="Calibri"/>
                  </a:rPr>
                  <a:t>ns per pacchetto</a:t>
                </a:r>
              </a:p>
            </c:rich>
          </c:tx>
          <c:overlay val="0"/>
        </c:title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-2068027336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900">
              <a:solidFill>
                <a:srgbClr val="222B36"/>
              </a:solidFill>
            </a:defRPr>
          </a:pPr>
          <a:endParaRPr lang="it-IT"/>
        </a:p>
      </c:txPr>
    </c:legend>
    <c:plotVisOnly val="1"/>
    <c:dispBlanksAs val="gap"/>
    <c:showDLblsOverMax val="1"/>
  </c:chart>
  <c:txPr>
    <a:bodyPr/>
    <a:lstStyle/>
    <a:p>
      <a:pPr>
        <a:defRPr sz="900">
          <a:solidFill>
            <a:srgbClr val="4A5568"/>
          </a:solidFill>
          <a:latin typeface="Calibri"/>
        </a:defRPr>
      </a:pPr>
      <a:endParaRPr lang="it-IT"/>
    </a:p>
  </c:tx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P1 statica</c:v>
                </c:pt>
              </c:strCache>
            </c:strRef>
          </c:tx>
          <c:spPr>
            <a:ln w="28575">
              <a:solidFill>
                <a:srgbClr val="C8551E"/>
              </a:solidFill>
            </a:ln>
          </c:spPr>
          <c:marker>
            <c:symbol val="circle"/>
            <c:size val="6"/>
            <c:spPr>
              <a:solidFill>
                <a:srgbClr val="C8551E"/>
              </a:solidFill>
              <a:ln>
                <a:solidFill>
                  <a:srgbClr val="C8551E"/>
                </a:solidFill>
              </a:ln>
            </c:spPr>
          </c:marker>
          <c:cat>
            <c:strRef>
              <c:f>Sheet1!$A$2:$A$9</c:f>
              <c:strCache>
                <c:ptCount val="8"/>
                <c:pt idx="0">
                  <c:v>0,25×</c:v>
                </c:pt>
                <c:pt idx="1">
                  <c:v>0,50×</c:v>
                </c:pt>
                <c:pt idx="2">
                  <c:v>0,75×</c:v>
                </c:pt>
                <c:pt idx="3">
                  <c:v>1,00×</c:v>
                </c:pt>
                <c:pt idx="4">
                  <c:v>1,25×</c:v>
                </c:pt>
                <c:pt idx="5">
                  <c:v>1,50×</c:v>
                </c:pt>
                <c:pt idx="6">
                  <c:v>1,75×</c:v>
                </c:pt>
                <c:pt idx="7">
                  <c:v>2,00×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0.25</c:v>
                </c:pt>
                <c:pt idx="1">
                  <c:v>0.5</c:v>
                </c:pt>
                <c:pt idx="2">
                  <c:v>0.748</c:v>
                </c:pt>
                <c:pt idx="3">
                  <c:v>0.938</c:v>
                </c:pt>
                <c:pt idx="4">
                  <c:v>0.962</c:v>
                </c:pt>
                <c:pt idx="5">
                  <c:v>0.963</c:v>
                </c:pt>
                <c:pt idx="6">
                  <c:v>0.937</c:v>
                </c:pt>
                <c:pt idx="7">
                  <c:v>0.949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A774-4ADD-9089-DB4FCCB8654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P1.5</c:v>
                </c:pt>
              </c:strCache>
            </c:strRef>
          </c:tx>
          <c:spPr>
            <a:ln w="28575">
              <a:solidFill>
                <a:srgbClr val="F09A3E"/>
              </a:solidFill>
            </a:ln>
          </c:spPr>
          <c:marker>
            <c:symbol val="circle"/>
            <c:size val="6"/>
            <c:spPr>
              <a:solidFill>
                <a:srgbClr val="F09A3E"/>
              </a:solidFill>
              <a:ln>
                <a:solidFill>
                  <a:srgbClr val="F09A3E"/>
                </a:solidFill>
              </a:ln>
            </c:spPr>
          </c:marker>
          <c:cat>
            <c:strRef>
              <c:f>Sheet1!$A$2:$A$9</c:f>
              <c:strCache>
                <c:ptCount val="8"/>
                <c:pt idx="0">
                  <c:v>0,25×</c:v>
                </c:pt>
                <c:pt idx="1">
                  <c:v>0,50×</c:v>
                </c:pt>
                <c:pt idx="2">
                  <c:v>0,75×</c:v>
                </c:pt>
                <c:pt idx="3">
                  <c:v>1,00×</c:v>
                </c:pt>
                <c:pt idx="4">
                  <c:v>1,25×</c:v>
                </c:pt>
                <c:pt idx="5">
                  <c:v>1,50×</c:v>
                </c:pt>
                <c:pt idx="6">
                  <c:v>1,75×</c:v>
                </c:pt>
                <c:pt idx="7">
                  <c:v>2,00×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0.25</c:v>
                </c:pt>
                <c:pt idx="1">
                  <c:v>0.5</c:v>
                </c:pt>
                <c:pt idx="2">
                  <c:v>0.748</c:v>
                </c:pt>
                <c:pt idx="3">
                  <c:v>0.95</c:v>
                </c:pt>
                <c:pt idx="4">
                  <c:v>0.965</c:v>
                </c:pt>
                <c:pt idx="5">
                  <c:v>0.964</c:v>
                </c:pt>
                <c:pt idx="6">
                  <c:v>0.943</c:v>
                </c:pt>
                <c:pt idx="7">
                  <c:v>0.949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A774-4ADD-9089-DB4FCCB8654F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P2</c:v>
                </c:pt>
              </c:strCache>
            </c:strRef>
          </c:tx>
          <c:spPr>
            <a:ln w="28575">
              <a:solidFill>
                <a:srgbClr val="2E9C8F"/>
              </a:solidFill>
            </a:ln>
          </c:spPr>
          <c:marker>
            <c:symbol val="circle"/>
            <c:size val="6"/>
            <c:spPr>
              <a:solidFill>
                <a:srgbClr val="2E9C8F"/>
              </a:solidFill>
              <a:ln>
                <a:solidFill>
                  <a:srgbClr val="2E9C8F"/>
                </a:solidFill>
              </a:ln>
            </c:spPr>
          </c:marker>
          <c:cat>
            <c:strRef>
              <c:f>Sheet1!$A$2:$A$9</c:f>
              <c:strCache>
                <c:ptCount val="8"/>
                <c:pt idx="0">
                  <c:v>0,25×</c:v>
                </c:pt>
                <c:pt idx="1">
                  <c:v>0,50×</c:v>
                </c:pt>
                <c:pt idx="2">
                  <c:v>0,75×</c:v>
                </c:pt>
                <c:pt idx="3">
                  <c:v>1,00×</c:v>
                </c:pt>
                <c:pt idx="4">
                  <c:v>1,25×</c:v>
                </c:pt>
                <c:pt idx="5">
                  <c:v>1,50×</c:v>
                </c:pt>
                <c:pt idx="6">
                  <c:v>1,75×</c:v>
                </c:pt>
                <c:pt idx="7">
                  <c:v>2,00×</c:v>
                </c:pt>
              </c:strCache>
            </c:strRef>
          </c:cat>
          <c:val>
            <c:numRef>
              <c:f>Sheet1!$D$2:$D$9</c:f>
              <c:numCache>
                <c:formatCode>General</c:formatCode>
                <c:ptCount val="8"/>
                <c:pt idx="0">
                  <c:v>0.25</c:v>
                </c:pt>
                <c:pt idx="1">
                  <c:v>0.5</c:v>
                </c:pt>
                <c:pt idx="2">
                  <c:v>0.75</c:v>
                </c:pt>
                <c:pt idx="3">
                  <c:v>0.95</c:v>
                </c:pt>
                <c:pt idx="4">
                  <c:v>0.968</c:v>
                </c:pt>
                <c:pt idx="5">
                  <c:v>0.966</c:v>
                </c:pt>
                <c:pt idx="6">
                  <c:v>0.963</c:v>
                </c:pt>
                <c:pt idx="7">
                  <c:v>0.965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A774-4ADD-9089-DB4FCCB8654F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P3</c:v>
                </c:pt>
              </c:strCache>
            </c:strRef>
          </c:tx>
          <c:spPr>
            <a:ln w="28575">
              <a:solidFill>
                <a:srgbClr val="1F5F8B"/>
              </a:solidFill>
            </a:ln>
          </c:spPr>
          <c:marker>
            <c:symbol val="circle"/>
            <c:size val="6"/>
            <c:spPr>
              <a:solidFill>
                <a:srgbClr val="1F5F8B"/>
              </a:solidFill>
              <a:ln>
                <a:solidFill>
                  <a:srgbClr val="1F5F8B"/>
                </a:solidFill>
              </a:ln>
            </c:spPr>
          </c:marker>
          <c:cat>
            <c:strRef>
              <c:f>Sheet1!$A$2:$A$9</c:f>
              <c:strCache>
                <c:ptCount val="8"/>
                <c:pt idx="0">
                  <c:v>0,25×</c:v>
                </c:pt>
                <c:pt idx="1">
                  <c:v>0,50×</c:v>
                </c:pt>
                <c:pt idx="2">
                  <c:v>0,75×</c:v>
                </c:pt>
                <c:pt idx="3">
                  <c:v>1,00×</c:v>
                </c:pt>
                <c:pt idx="4">
                  <c:v>1,25×</c:v>
                </c:pt>
                <c:pt idx="5">
                  <c:v>1,50×</c:v>
                </c:pt>
                <c:pt idx="6">
                  <c:v>1,75×</c:v>
                </c:pt>
                <c:pt idx="7">
                  <c:v>2,00×</c:v>
                </c:pt>
              </c:strCache>
            </c:strRef>
          </c:cat>
          <c:val>
            <c:numRef>
              <c:f>Sheet1!$E$2:$E$9</c:f>
              <c:numCache>
                <c:formatCode>General</c:formatCode>
                <c:ptCount val="8"/>
                <c:pt idx="0">
                  <c:v>0.25</c:v>
                </c:pt>
                <c:pt idx="1">
                  <c:v>0.5</c:v>
                </c:pt>
                <c:pt idx="2">
                  <c:v>0.749</c:v>
                </c:pt>
                <c:pt idx="3">
                  <c:v>0.946</c:v>
                </c:pt>
                <c:pt idx="4">
                  <c:v>0.981</c:v>
                </c:pt>
                <c:pt idx="5">
                  <c:v>0.99</c:v>
                </c:pt>
                <c:pt idx="6">
                  <c:v>0.981</c:v>
                </c:pt>
                <c:pt idx="7">
                  <c:v>0.978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A774-4ADD-9089-DB4FCCB8654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lang="it-IT" sz="1200" b="0">
                    <a:solidFill>
                      <a:srgbClr val="6B7C93"/>
                    </a:solidFill>
                    <a:latin typeface="Calibri"/>
                  </a:rPr>
                  <a:t>traffico chiesto / capacità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spPr>
          <a:ln>
            <a:solidFill>
              <a:srgbClr val="C8D0DA"/>
            </a:solidFill>
          </a:ln>
        </c:spPr>
        <c:txPr>
          <a:bodyPr/>
          <a:lstStyle/>
          <a:p>
            <a:pPr>
              <a:defRPr sz="900">
                <a:solidFill>
                  <a:srgbClr val="4A5568"/>
                </a:solidFill>
                <a:latin typeface="Calibri"/>
              </a:defRPr>
            </a:pPr>
            <a:endParaRPr lang="it-IT"/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</c:scaling>
        <c:delete val="0"/>
        <c:axPos val="l"/>
        <c:majorGridlines>
          <c:spPr>
            <a:ln w="7620">
              <a:solidFill>
                <a:srgbClr val="E3E7ED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it-IT" sz="1100" b="0">
                    <a:solidFill>
                      <a:srgbClr val="6B7C93"/>
                    </a:solidFill>
                    <a:latin typeface="Calibri"/>
                  </a:rPr>
                  <a:t>inoltrati / capacità</a:t>
                </a:r>
              </a:p>
            </c:rich>
          </c:tx>
          <c:overlay val="0"/>
        </c:title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2118791784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900">
              <a:solidFill>
                <a:srgbClr val="222B36"/>
              </a:solidFill>
            </a:defRPr>
          </a:pPr>
          <a:endParaRPr lang="it-IT"/>
        </a:p>
      </c:txPr>
    </c:legend>
    <c:plotVisOnly val="1"/>
    <c:dispBlanksAs val="gap"/>
    <c:showDLblsOverMax val="0"/>
  </c:chart>
  <c:txPr>
    <a:bodyPr/>
    <a:lstStyle/>
    <a:p>
      <a:pPr>
        <a:defRPr sz="900">
          <a:solidFill>
            <a:srgbClr val="4A5568"/>
          </a:solidFill>
          <a:latin typeface="Calibri"/>
        </a:defRPr>
      </a:pPr>
      <a:endParaRPr lang="it-IT"/>
    </a:p>
  </c:tx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P1 statica</c:v>
                </c:pt>
              </c:strCache>
            </c:strRef>
          </c:tx>
          <c:spPr>
            <a:ln w="28575">
              <a:solidFill>
                <a:srgbClr val="C8551E"/>
              </a:solidFill>
            </a:ln>
          </c:spPr>
          <c:marker>
            <c:symbol val="circle"/>
            <c:size val="6"/>
            <c:spPr>
              <a:solidFill>
                <a:srgbClr val="C8551E"/>
              </a:solidFill>
              <a:ln>
                <a:solidFill>
                  <a:srgbClr val="C8551E"/>
                </a:solidFill>
              </a:ln>
            </c:spPr>
          </c:marker>
          <c:cat>
            <c:strRef>
              <c:f>Sheet1!$A$2:$A$9</c:f>
              <c:strCache>
                <c:ptCount val="8"/>
                <c:pt idx="0">
                  <c:v>0,25×</c:v>
                </c:pt>
                <c:pt idx="1">
                  <c:v>0,50×</c:v>
                </c:pt>
                <c:pt idx="2">
                  <c:v>0,75×</c:v>
                </c:pt>
                <c:pt idx="3">
                  <c:v>1,00×</c:v>
                </c:pt>
                <c:pt idx="4">
                  <c:v>1,25×</c:v>
                </c:pt>
                <c:pt idx="5">
                  <c:v>1,50×</c:v>
                </c:pt>
                <c:pt idx="6">
                  <c:v>1,75×</c:v>
                </c:pt>
                <c:pt idx="7">
                  <c:v>2,00×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0.25</c:v>
                </c:pt>
                <c:pt idx="1">
                  <c:v>0.5</c:v>
                </c:pt>
                <c:pt idx="2">
                  <c:v>0.749</c:v>
                </c:pt>
                <c:pt idx="3">
                  <c:v>0.943</c:v>
                </c:pt>
                <c:pt idx="4">
                  <c:v>0.956</c:v>
                </c:pt>
                <c:pt idx="5">
                  <c:v>0.958</c:v>
                </c:pt>
                <c:pt idx="6">
                  <c:v>0.975</c:v>
                </c:pt>
                <c:pt idx="7">
                  <c:v>0.978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CB40-40F4-8AE4-87AB3DBEE21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P1.5</c:v>
                </c:pt>
              </c:strCache>
            </c:strRef>
          </c:tx>
          <c:spPr>
            <a:ln w="28575">
              <a:solidFill>
                <a:srgbClr val="F09A3E"/>
              </a:solidFill>
            </a:ln>
          </c:spPr>
          <c:marker>
            <c:symbol val="circle"/>
            <c:size val="6"/>
            <c:spPr>
              <a:solidFill>
                <a:srgbClr val="F09A3E"/>
              </a:solidFill>
              <a:ln>
                <a:solidFill>
                  <a:srgbClr val="F09A3E"/>
                </a:solidFill>
              </a:ln>
            </c:spPr>
          </c:marker>
          <c:cat>
            <c:strRef>
              <c:f>Sheet1!$A$2:$A$9</c:f>
              <c:strCache>
                <c:ptCount val="8"/>
                <c:pt idx="0">
                  <c:v>0,25×</c:v>
                </c:pt>
                <c:pt idx="1">
                  <c:v>0,50×</c:v>
                </c:pt>
                <c:pt idx="2">
                  <c:v>0,75×</c:v>
                </c:pt>
                <c:pt idx="3">
                  <c:v>1,00×</c:v>
                </c:pt>
                <c:pt idx="4">
                  <c:v>1,25×</c:v>
                </c:pt>
                <c:pt idx="5">
                  <c:v>1,50×</c:v>
                </c:pt>
                <c:pt idx="6">
                  <c:v>1,75×</c:v>
                </c:pt>
                <c:pt idx="7">
                  <c:v>2,00×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0.25</c:v>
                </c:pt>
                <c:pt idx="1">
                  <c:v>0.5</c:v>
                </c:pt>
                <c:pt idx="2">
                  <c:v>0.75</c:v>
                </c:pt>
                <c:pt idx="3">
                  <c:v>0.957</c:v>
                </c:pt>
                <c:pt idx="4">
                  <c:v>0.972</c:v>
                </c:pt>
                <c:pt idx="5">
                  <c:v>0.973</c:v>
                </c:pt>
                <c:pt idx="6">
                  <c:v>0.977</c:v>
                </c:pt>
                <c:pt idx="7">
                  <c:v>0.981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CB40-40F4-8AE4-87AB3DBEE21D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P2</c:v>
                </c:pt>
              </c:strCache>
            </c:strRef>
          </c:tx>
          <c:spPr>
            <a:ln w="28575">
              <a:solidFill>
                <a:srgbClr val="2E9C8F"/>
              </a:solidFill>
            </a:ln>
          </c:spPr>
          <c:marker>
            <c:symbol val="circle"/>
            <c:size val="6"/>
            <c:spPr>
              <a:solidFill>
                <a:srgbClr val="2E9C8F"/>
              </a:solidFill>
              <a:ln>
                <a:solidFill>
                  <a:srgbClr val="2E9C8F"/>
                </a:solidFill>
              </a:ln>
            </c:spPr>
          </c:marker>
          <c:cat>
            <c:strRef>
              <c:f>Sheet1!$A$2:$A$9</c:f>
              <c:strCache>
                <c:ptCount val="8"/>
                <c:pt idx="0">
                  <c:v>0,25×</c:v>
                </c:pt>
                <c:pt idx="1">
                  <c:v>0,50×</c:v>
                </c:pt>
                <c:pt idx="2">
                  <c:v>0,75×</c:v>
                </c:pt>
                <c:pt idx="3">
                  <c:v>1,00×</c:v>
                </c:pt>
                <c:pt idx="4">
                  <c:v>1,25×</c:v>
                </c:pt>
                <c:pt idx="5">
                  <c:v>1,50×</c:v>
                </c:pt>
                <c:pt idx="6">
                  <c:v>1,75×</c:v>
                </c:pt>
                <c:pt idx="7">
                  <c:v>2,00×</c:v>
                </c:pt>
              </c:strCache>
            </c:strRef>
          </c:cat>
          <c:val>
            <c:numRef>
              <c:f>Sheet1!$D$2:$D$9</c:f>
              <c:numCache>
                <c:formatCode>General</c:formatCode>
                <c:ptCount val="8"/>
                <c:pt idx="0">
                  <c:v>0.25</c:v>
                </c:pt>
                <c:pt idx="1">
                  <c:v>0.5</c:v>
                </c:pt>
                <c:pt idx="2">
                  <c:v>0.75</c:v>
                </c:pt>
                <c:pt idx="3">
                  <c:v>0.955</c:v>
                </c:pt>
                <c:pt idx="4">
                  <c:v>0.973</c:v>
                </c:pt>
                <c:pt idx="5">
                  <c:v>0.973</c:v>
                </c:pt>
                <c:pt idx="6">
                  <c:v>0.973</c:v>
                </c:pt>
                <c:pt idx="7">
                  <c:v>0.974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CB40-40F4-8AE4-87AB3DBEE21D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P3</c:v>
                </c:pt>
              </c:strCache>
            </c:strRef>
          </c:tx>
          <c:spPr>
            <a:ln w="28575">
              <a:solidFill>
                <a:srgbClr val="1F5F8B"/>
              </a:solidFill>
            </a:ln>
          </c:spPr>
          <c:marker>
            <c:symbol val="circle"/>
            <c:size val="6"/>
            <c:spPr>
              <a:solidFill>
                <a:srgbClr val="1F5F8B"/>
              </a:solidFill>
              <a:ln>
                <a:solidFill>
                  <a:srgbClr val="1F5F8B"/>
                </a:solidFill>
              </a:ln>
            </c:spPr>
          </c:marker>
          <c:cat>
            <c:strRef>
              <c:f>Sheet1!$A$2:$A$9</c:f>
              <c:strCache>
                <c:ptCount val="8"/>
                <c:pt idx="0">
                  <c:v>0,25×</c:v>
                </c:pt>
                <c:pt idx="1">
                  <c:v>0,50×</c:v>
                </c:pt>
                <c:pt idx="2">
                  <c:v>0,75×</c:v>
                </c:pt>
                <c:pt idx="3">
                  <c:v>1,00×</c:v>
                </c:pt>
                <c:pt idx="4">
                  <c:v>1,25×</c:v>
                </c:pt>
                <c:pt idx="5">
                  <c:v>1,50×</c:v>
                </c:pt>
                <c:pt idx="6">
                  <c:v>1,75×</c:v>
                </c:pt>
                <c:pt idx="7">
                  <c:v>2,00×</c:v>
                </c:pt>
              </c:strCache>
            </c:strRef>
          </c:cat>
          <c:val>
            <c:numRef>
              <c:f>Sheet1!$E$2:$E$9</c:f>
              <c:numCache>
                <c:formatCode>General</c:formatCode>
                <c:ptCount val="8"/>
                <c:pt idx="0">
                  <c:v>0.25</c:v>
                </c:pt>
                <c:pt idx="1">
                  <c:v>0.5</c:v>
                </c:pt>
                <c:pt idx="2">
                  <c:v>0.75</c:v>
                </c:pt>
                <c:pt idx="3">
                  <c:v>0.921</c:v>
                </c:pt>
                <c:pt idx="4">
                  <c:v>0.973</c:v>
                </c:pt>
                <c:pt idx="5">
                  <c:v>0.975</c:v>
                </c:pt>
                <c:pt idx="6">
                  <c:v>0.974</c:v>
                </c:pt>
                <c:pt idx="7">
                  <c:v>0.976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CB40-40F4-8AE4-87AB3DBEE21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lang="it-IT" sz="1200" b="0">
                    <a:solidFill>
                      <a:srgbClr val="6B7C93"/>
                    </a:solidFill>
                    <a:latin typeface="Calibri"/>
                  </a:rPr>
                  <a:t>traffico chiesto / capacità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spPr>
          <a:ln>
            <a:solidFill>
              <a:srgbClr val="C8D0DA"/>
            </a:solidFill>
          </a:ln>
        </c:spPr>
        <c:txPr>
          <a:bodyPr/>
          <a:lstStyle/>
          <a:p>
            <a:pPr>
              <a:defRPr sz="900">
                <a:solidFill>
                  <a:srgbClr val="4A5568"/>
                </a:solidFill>
                <a:latin typeface="Calibri"/>
              </a:defRPr>
            </a:pPr>
            <a:endParaRPr lang="it-IT"/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</c:scaling>
        <c:delete val="0"/>
        <c:axPos val="l"/>
        <c:majorGridlines>
          <c:spPr>
            <a:ln w="7620">
              <a:solidFill>
                <a:srgbClr val="E3E7ED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it-IT" sz="1100" b="0">
                    <a:solidFill>
                      <a:srgbClr val="6B7C93"/>
                    </a:solidFill>
                    <a:latin typeface="Calibri"/>
                  </a:rPr>
                  <a:t>inoltrati / capacità</a:t>
                </a:r>
              </a:p>
            </c:rich>
          </c:tx>
          <c:overlay val="0"/>
        </c:title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2118791784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900">
              <a:solidFill>
                <a:srgbClr val="222B36"/>
              </a:solidFill>
            </a:defRPr>
          </a:pPr>
          <a:endParaRPr lang="it-IT"/>
        </a:p>
      </c:txPr>
    </c:legend>
    <c:plotVisOnly val="1"/>
    <c:dispBlanksAs val="gap"/>
    <c:showDLblsOverMax val="0"/>
  </c:chart>
  <c:txPr>
    <a:bodyPr/>
    <a:lstStyle/>
    <a:p>
      <a:pPr>
        <a:defRPr sz="900">
          <a:solidFill>
            <a:srgbClr val="4A5568"/>
          </a:solidFill>
          <a:latin typeface="Calibri"/>
        </a:defRPr>
      </a:pPr>
      <a:endParaRPr lang="it-IT"/>
    </a:p>
  </c:tx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P1 statica</c:v>
                </c:pt>
              </c:strCache>
            </c:strRef>
          </c:tx>
          <c:spPr>
            <a:ln w="28575">
              <a:solidFill>
                <a:srgbClr val="C8551E"/>
              </a:solidFill>
            </a:ln>
          </c:spPr>
          <c:marker>
            <c:symbol val="circle"/>
            <c:size val="6"/>
            <c:spPr>
              <a:solidFill>
                <a:srgbClr val="C8551E"/>
              </a:solidFill>
              <a:ln>
                <a:solidFill>
                  <a:srgbClr val="C8551E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6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102.9</c:v>
                </c:pt>
                <c:pt idx="1">
                  <c:v>112.75</c:v>
                </c:pt>
                <c:pt idx="2">
                  <c:v>115.7</c:v>
                </c:pt>
                <c:pt idx="3">
                  <c:v>120.8</c:v>
                </c:pt>
                <c:pt idx="4">
                  <c:v>132.8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A774-4ADD-9089-DB4FCCB8654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P1.5</c:v>
                </c:pt>
              </c:strCache>
            </c:strRef>
          </c:tx>
          <c:spPr>
            <a:ln w="28575">
              <a:solidFill>
                <a:srgbClr val="F09A3E"/>
              </a:solidFill>
            </a:ln>
          </c:spPr>
          <c:marker>
            <c:symbol val="circle"/>
            <c:size val="6"/>
            <c:spPr>
              <a:solidFill>
                <a:srgbClr val="F09A3E"/>
              </a:solidFill>
              <a:ln>
                <a:solidFill>
                  <a:srgbClr val="F09A3E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6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111.2</c:v>
                </c:pt>
                <c:pt idx="1">
                  <c:v>118.4</c:v>
                </c:pt>
                <c:pt idx="2">
                  <c:v>116.3</c:v>
                </c:pt>
                <c:pt idx="3">
                  <c:v>127.65</c:v>
                </c:pt>
                <c:pt idx="4">
                  <c:v>133.3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A774-4ADD-9089-DB4FCCB8654F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P2</c:v>
                </c:pt>
              </c:strCache>
            </c:strRef>
          </c:tx>
          <c:spPr>
            <a:ln w="28575">
              <a:solidFill>
                <a:srgbClr val="2E9C8F"/>
              </a:solidFill>
            </a:ln>
          </c:spPr>
          <c:marker>
            <c:symbol val="circle"/>
            <c:size val="6"/>
            <c:spPr>
              <a:solidFill>
                <a:srgbClr val="2E9C8F"/>
              </a:solidFill>
              <a:ln>
                <a:solidFill>
                  <a:srgbClr val="2E9C8F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6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251.0</c:v>
                </c:pt>
                <c:pt idx="1">
                  <c:v>266.0</c:v>
                </c:pt>
                <c:pt idx="2">
                  <c:v>308.0</c:v>
                </c:pt>
                <c:pt idx="3">
                  <c:v>311.8</c:v>
                </c:pt>
                <c:pt idx="4">
                  <c:v>349.75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A774-4ADD-9089-DB4FCCB8654F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P3</c:v>
                </c:pt>
              </c:strCache>
            </c:strRef>
          </c:tx>
          <c:spPr>
            <a:ln w="28575">
              <a:solidFill>
                <a:srgbClr val="1F5F8B"/>
              </a:solidFill>
            </a:ln>
          </c:spPr>
          <c:marker>
            <c:symbol val="circle"/>
            <c:size val="6"/>
            <c:spPr>
              <a:solidFill>
                <a:srgbClr val="1F5F8B"/>
              </a:solidFill>
              <a:ln>
                <a:solidFill>
                  <a:srgbClr val="1F5F8B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6</c:v>
                </c:pt>
              </c:strCache>
            </c: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365.3</c:v>
                </c:pt>
                <c:pt idx="1">
                  <c:v>429.45</c:v>
                </c:pt>
                <c:pt idx="2">
                  <c:v>482.8</c:v>
                </c:pt>
                <c:pt idx="3">
                  <c:v>542.05</c:v>
                </c:pt>
                <c:pt idx="4">
                  <c:v>626.7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A774-4ADD-9089-DB4FCCB8654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lang="it-IT" sz="1200" b="0">
                    <a:solidFill>
                      <a:srgbClr val="6B7C93"/>
                    </a:solidFill>
                    <a:latin typeface="Calibri"/>
                  </a:rPr>
                  <a:t>strati nascosti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spPr>
          <a:ln>
            <a:solidFill>
              <a:srgbClr val="C8D0DA"/>
            </a:solidFill>
          </a:ln>
        </c:spPr>
        <c:txPr>
          <a:bodyPr/>
          <a:lstStyle/>
          <a:p>
            <a:pPr>
              <a:defRPr sz="900">
                <a:solidFill>
                  <a:srgbClr val="4A5568"/>
                </a:solidFill>
                <a:latin typeface="Calibri"/>
              </a:defRPr>
            </a:pPr>
            <a:endParaRPr lang="it-IT"/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</c:scaling>
        <c:delete val="0"/>
        <c:axPos val="l"/>
        <c:majorGridlines>
          <c:spPr>
            <a:ln w="7620">
              <a:solidFill>
                <a:srgbClr val="E3E7ED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it-IT" sz="1100" b="0">
                    <a:solidFill>
                      <a:srgbClr val="6B7C93"/>
                    </a:solidFill>
                    <a:latin typeface="Calibri"/>
                  </a:rPr>
                  <a:t>ns di CPU per pacchetto</a:t>
                </a:r>
              </a:p>
            </c:rich>
          </c:tx>
          <c:overlay val="0"/>
        </c:title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2118791784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900">
              <a:solidFill>
                <a:srgbClr val="222B36"/>
              </a:solidFill>
            </a:defRPr>
          </a:pPr>
          <a:endParaRPr lang="it-IT"/>
        </a:p>
      </c:txPr>
    </c:legend>
    <c:plotVisOnly val="1"/>
    <c:dispBlanksAs val="gap"/>
    <c:showDLblsOverMax val="0"/>
  </c:chart>
  <c:txPr>
    <a:bodyPr/>
    <a:lstStyle/>
    <a:p>
      <a:pPr>
        <a:defRPr sz="900">
          <a:solidFill>
            <a:srgbClr val="4A5568"/>
          </a:solidFill>
          <a:latin typeface="Calibri"/>
        </a:defRPr>
      </a:pPr>
      <a:endParaRPr lang="it-IT"/>
    </a:p>
  </c:tx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P1 statica</c:v>
                </c:pt>
              </c:strCache>
            </c:strRef>
          </c:tx>
          <c:spPr>
            <a:ln w="28575">
              <a:solidFill>
                <a:srgbClr val="C8551E"/>
              </a:solidFill>
            </a:ln>
          </c:spPr>
          <c:marker>
            <c:symbol val="circle"/>
            <c:size val="6"/>
            <c:spPr>
              <a:solidFill>
                <a:srgbClr val="C8551E"/>
              </a:solidFill>
              <a:ln>
                <a:solidFill>
                  <a:srgbClr val="C8551E"/>
                </a:solidFill>
              </a:ln>
            </c:spPr>
          </c:marker>
          <c:cat>
            <c:strRef>
              <c:f>Sheet1!$A$2:$A$4</c:f>
              <c:strCache>
                <c:ptCount val="3"/>
                <c:pt idx="0">
                  <c:v>0 %</c:v>
                </c:pt>
                <c:pt idx="1">
                  <c:v>50 %</c:v>
                </c:pt>
                <c:pt idx="2">
                  <c:v>90 %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1.0</c:v>
                </c:pt>
                <c:pt idx="1">
                  <c:v>0.923</c:v>
                </c:pt>
                <c:pt idx="2">
                  <c:v>0.774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CB40-40F4-8AE4-87AB3DBEE21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P1.5</c:v>
                </c:pt>
              </c:strCache>
            </c:strRef>
          </c:tx>
          <c:spPr>
            <a:ln w="28575">
              <a:solidFill>
                <a:srgbClr val="F09A3E"/>
              </a:solidFill>
            </a:ln>
          </c:spPr>
          <c:marker>
            <c:symbol val="circle"/>
            <c:size val="6"/>
            <c:spPr>
              <a:solidFill>
                <a:srgbClr val="F09A3E"/>
              </a:solidFill>
              <a:ln>
                <a:solidFill>
                  <a:srgbClr val="F09A3E"/>
                </a:solidFill>
              </a:ln>
            </c:spPr>
          </c:marker>
          <c:cat>
            <c:strRef>
              <c:f>Sheet1!$A$2:$A$4</c:f>
              <c:strCache>
                <c:ptCount val="3"/>
                <c:pt idx="0">
                  <c:v>0 %</c:v>
                </c:pt>
                <c:pt idx="1">
                  <c:v>50 %</c:v>
                </c:pt>
                <c:pt idx="2">
                  <c:v>90 %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1.0</c:v>
                </c:pt>
                <c:pt idx="1">
                  <c:v>0.959</c:v>
                </c:pt>
                <c:pt idx="2">
                  <c:v>0.827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CB40-40F4-8AE4-87AB3DBEE21D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P2</c:v>
                </c:pt>
              </c:strCache>
            </c:strRef>
          </c:tx>
          <c:spPr>
            <a:ln w="28575">
              <a:solidFill>
                <a:srgbClr val="2E9C8F"/>
              </a:solidFill>
            </a:ln>
          </c:spPr>
          <c:marker>
            <c:symbol val="circle"/>
            <c:size val="6"/>
            <c:spPr>
              <a:solidFill>
                <a:srgbClr val="2E9C8F"/>
              </a:solidFill>
              <a:ln>
                <a:solidFill>
                  <a:srgbClr val="2E9C8F"/>
                </a:solidFill>
              </a:ln>
            </c:spPr>
          </c:marker>
          <c:cat>
            <c:strRef>
              <c:f>Sheet1!$A$2:$A$4</c:f>
              <c:strCache>
                <c:ptCount val="3"/>
                <c:pt idx="0">
                  <c:v>0 %</c:v>
                </c:pt>
                <c:pt idx="1">
                  <c:v>50 %</c:v>
                </c:pt>
                <c:pt idx="2">
                  <c:v>90 %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1.0</c:v>
                </c:pt>
                <c:pt idx="1">
                  <c:v>1.0</c:v>
                </c:pt>
                <c:pt idx="2">
                  <c:v>1.003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CB40-40F4-8AE4-87AB3DBEE21D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P3</c:v>
                </c:pt>
              </c:strCache>
            </c:strRef>
          </c:tx>
          <c:spPr>
            <a:ln w="28575">
              <a:solidFill>
                <a:srgbClr val="1F5F8B"/>
              </a:solidFill>
            </a:ln>
          </c:spPr>
          <c:marker>
            <c:symbol val="circle"/>
            <c:size val="6"/>
            <c:spPr>
              <a:solidFill>
                <a:srgbClr val="1F5F8B"/>
              </a:solidFill>
              <a:ln>
                <a:solidFill>
                  <a:srgbClr val="1F5F8B"/>
                </a:solidFill>
              </a:ln>
            </c:spPr>
          </c:marker>
          <c:cat>
            <c:strRef>
              <c:f>Sheet1!$A$2:$A$4</c:f>
              <c:strCache>
                <c:ptCount val="3"/>
                <c:pt idx="0">
                  <c:v>0 %</c:v>
                </c:pt>
                <c:pt idx="1">
                  <c:v>50 %</c:v>
                </c:pt>
                <c:pt idx="2">
                  <c:v>90 %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1.0</c:v>
                </c:pt>
                <c:pt idx="1">
                  <c:v>1.001</c:v>
                </c:pt>
                <c:pt idx="2">
                  <c:v>0.999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CB40-40F4-8AE4-87AB3DBEE21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lang="it-IT" sz="1200" b="0">
                    <a:solidFill>
                      <a:srgbClr val="6B7C93"/>
                    </a:solidFill>
                    <a:latin typeface="Calibri"/>
                  </a:rPr>
                  <a:t>pesi uguali a zero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spPr>
          <a:ln>
            <a:solidFill>
              <a:srgbClr val="C8D0DA"/>
            </a:solidFill>
          </a:ln>
        </c:spPr>
        <c:txPr>
          <a:bodyPr/>
          <a:lstStyle/>
          <a:p>
            <a:pPr>
              <a:defRPr sz="900">
                <a:solidFill>
                  <a:srgbClr val="4A5568"/>
                </a:solidFill>
                <a:latin typeface="Calibri"/>
              </a:defRPr>
            </a:pPr>
            <a:endParaRPr lang="it-IT"/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</c:scaling>
        <c:delete val="0"/>
        <c:axPos val="l"/>
        <c:majorGridlines>
          <c:spPr>
            <a:ln w="7620">
              <a:solidFill>
                <a:srgbClr val="E3E7ED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it-IT" sz="1100" b="0">
                    <a:solidFill>
                      <a:srgbClr val="6B7C93"/>
                    </a:solidFill>
                    <a:latin typeface="Calibri"/>
                  </a:rPr>
                  <a:t>tempo del nodo / modello denso</a:t>
                </a:r>
              </a:p>
            </c:rich>
          </c:tx>
          <c:overlay val="0"/>
        </c:title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2118791784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900">
              <a:solidFill>
                <a:srgbClr val="222B36"/>
              </a:solidFill>
            </a:defRPr>
          </a:pPr>
          <a:endParaRPr lang="it-IT"/>
        </a:p>
      </c:txPr>
    </c:legend>
    <c:plotVisOnly val="1"/>
    <c:dispBlanksAs val="gap"/>
    <c:showDLblsOverMax val="0"/>
  </c:chart>
  <c:txPr>
    <a:bodyPr/>
    <a:lstStyle/>
    <a:p>
      <a:pPr>
        <a:defRPr sz="900">
          <a:solidFill>
            <a:srgbClr val="4A5568"/>
          </a:solidFill>
          <a:latin typeface="Calibri"/>
        </a:defRPr>
      </a:pPr>
      <a:endParaRPr lang="it-IT"/>
    </a:p>
  </c:tx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P-core</c:v>
                </c:pt>
              </c:strCache>
            </c:strRef>
          </c:tx>
          <c:spPr>
            <a:solidFill>
              <a:srgbClr val="1F3A5F"/>
            </a:solidFill>
            <a:ln>
              <a:noFill/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baseline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14.97</c:v>
                </c:pt>
                <c:pt idx="1">
                  <c:v>8.746</c:v>
                </c:pt>
                <c:pt idx="2">
                  <c:v>8.318</c:v>
                </c:pt>
                <c:pt idx="3">
                  <c:v>3.508</c:v>
                </c:pt>
                <c:pt idx="4">
                  <c:v>2.165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F42E-472E-934F-5CC29ED7A81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E-core</c:v>
                </c:pt>
              </c:strCache>
            </c:strRef>
          </c:tx>
          <c:spPr>
            <a:solidFill>
              <a:srgbClr val="2E9C8F"/>
            </a:solidFill>
            <a:ln>
              <a:noFill/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baseline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9.429</c:v>
                </c:pt>
                <c:pt idx="1">
                  <c:v>6.713</c:v>
                </c:pt>
                <c:pt idx="2">
                  <c:v>6.143</c:v>
                </c:pt>
                <c:pt idx="3">
                  <c:v>2.875</c:v>
                </c:pt>
                <c:pt idx="4">
                  <c:v>1.78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F42E-472E-934F-5CC29ED7A817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LP E-core</c:v>
                </c:pt>
              </c:strCache>
            </c:strRef>
          </c:tx>
          <c:spPr>
            <a:solidFill>
              <a:srgbClr val="E07A2D"/>
            </a:solidFill>
            <a:ln>
              <a:noFill/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baseline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3.898</c:v>
                </c:pt>
                <c:pt idx="1">
                  <c:v>2.998</c:v>
                </c:pt>
                <c:pt idx="2">
                  <c:v>2.895</c:v>
                </c:pt>
                <c:pt idx="3">
                  <c:v>1.578</c:v>
                </c:pt>
                <c:pt idx="4">
                  <c:v>1.025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F42E-472E-934F-5CC29ED7A817}"/>
            </c:ext>
          </c:extLst>
        </c:ser>
        <c:dLbls>
          <c:numFmt formatCode="0.0" sourceLinked="0"/>
          <c:txPr>
            <a:bodyPr/>
            <a:lstStyle/>
            <a:p>
              <a:pPr>
                <a:defRPr sz="800">
                  <a:solidFill>
                    <a:srgbClr val="4A5568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55"/>
        <c:overlap val="-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C8D0DA"/>
            </a:solidFill>
          </a:ln>
        </c:spPr>
        <c:txPr>
          <a:bodyPr/>
          <a:lstStyle/>
          <a:p>
            <a:pPr>
              <a:defRPr sz="900">
                <a:solidFill>
                  <a:srgbClr val="4A5568"/>
                </a:solidFill>
                <a:latin typeface="Calibri"/>
              </a:defRPr>
            </a:pPr>
            <a:endParaRPr lang="it-IT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>
          <c:spPr>
            <a:ln w="7620">
              <a:solidFill>
                <a:srgbClr val="E3E7ED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it-IT" sz="1100" b="0">
                    <a:solidFill>
                      <a:srgbClr val="6B7C93"/>
                    </a:solidFill>
                    <a:latin typeface="Calibri"/>
                  </a:rPr>
                  <a:t>M pacchetti/s</a:t>
                </a:r>
              </a:p>
            </c:rich>
          </c:tx>
          <c:overlay val="0"/>
        </c:title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-2068027336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900">
              <a:solidFill>
                <a:srgbClr val="222B36"/>
              </a:solidFill>
            </a:defRPr>
          </a:pPr>
          <a:endParaRPr lang="it-IT"/>
        </a:p>
      </c:txPr>
    </c:legend>
    <c:plotVisOnly val="1"/>
    <c:dispBlanksAs val="gap"/>
    <c:showDLblsOverMax val="1"/>
  </c:chart>
  <c:txPr>
    <a:bodyPr/>
    <a:lstStyle/>
    <a:p>
      <a:pPr>
        <a:defRPr sz="900">
          <a:solidFill>
            <a:srgbClr val="4A5568"/>
          </a:solidFill>
          <a:latin typeface="Calibri"/>
        </a:defRPr>
      </a:pPr>
      <a:endParaRPr lang="it-IT"/>
    </a:p>
  </c:tx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P-core</c:v>
                </c:pt>
              </c:strCache>
            </c:strRef>
          </c:tx>
          <c:spPr>
            <a:solidFill>
              <a:srgbClr val="1F3A5F"/>
            </a:solidFill>
            <a:ln>
              <a:noFill/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baseline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66.85</c:v>
                </c:pt>
                <c:pt idx="1">
                  <c:v>114.4</c:v>
                </c:pt>
                <c:pt idx="2">
                  <c:v>120.35</c:v>
                </c:pt>
                <c:pt idx="3">
                  <c:v>285.15</c:v>
                </c:pt>
                <c:pt idx="4">
                  <c:v>462.0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F42E-472E-934F-5CC29ED7A81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E-core</c:v>
                </c:pt>
              </c:strCache>
            </c:strRef>
          </c:tx>
          <c:spPr>
            <a:solidFill>
              <a:srgbClr val="2E9C8F"/>
            </a:solidFill>
            <a:ln>
              <a:noFill/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baseline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106.05</c:v>
                </c:pt>
                <c:pt idx="1">
                  <c:v>149.0</c:v>
                </c:pt>
                <c:pt idx="2">
                  <c:v>162.8</c:v>
                </c:pt>
                <c:pt idx="3">
                  <c:v>347.8</c:v>
                </c:pt>
                <c:pt idx="4">
                  <c:v>561.85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F42E-472E-934F-5CC29ED7A817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LP E-core</c:v>
                </c:pt>
              </c:strCache>
            </c:strRef>
          </c:tx>
          <c:spPr>
            <a:solidFill>
              <a:srgbClr val="E07A2D"/>
            </a:solidFill>
            <a:ln>
              <a:noFill/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baseline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256.6</c:v>
                </c:pt>
                <c:pt idx="1">
                  <c:v>333.6</c:v>
                </c:pt>
                <c:pt idx="2">
                  <c:v>345.45</c:v>
                </c:pt>
                <c:pt idx="3">
                  <c:v>633.8</c:v>
                </c:pt>
                <c:pt idx="4">
                  <c:v>976.0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F42E-472E-934F-5CC29ED7A817}"/>
            </c:ext>
          </c:extLst>
        </c:ser>
        <c:dLbls>
          <c:numFmt formatCode="0" sourceLinked="0"/>
          <c:txPr>
            <a:bodyPr/>
            <a:lstStyle/>
            <a:p>
              <a:pPr>
                <a:defRPr sz="800">
                  <a:solidFill>
                    <a:srgbClr val="4A5568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55"/>
        <c:overlap val="-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C8D0DA"/>
            </a:solidFill>
          </a:ln>
        </c:spPr>
        <c:txPr>
          <a:bodyPr/>
          <a:lstStyle/>
          <a:p>
            <a:pPr>
              <a:defRPr sz="900">
                <a:solidFill>
                  <a:srgbClr val="4A5568"/>
                </a:solidFill>
                <a:latin typeface="Calibri"/>
              </a:defRPr>
            </a:pPr>
            <a:endParaRPr lang="it-IT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>
          <c:spPr>
            <a:ln w="7620">
              <a:solidFill>
                <a:srgbClr val="E3E7ED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it-IT" sz="1100" b="0">
                    <a:solidFill>
                      <a:srgbClr val="6B7C93"/>
                    </a:solidFill>
                    <a:latin typeface="Calibri"/>
                  </a:rPr>
                  <a:t>ns di CPU per pacchetto</a:t>
                </a:r>
              </a:p>
            </c:rich>
          </c:tx>
          <c:overlay val="0"/>
        </c:title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-2068027336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900">
              <a:solidFill>
                <a:srgbClr val="222B36"/>
              </a:solidFill>
            </a:defRPr>
          </a:pPr>
          <a:endParaRPr lang="it-IT"/>
        </a:p>
      </c:txPr>
    </c:legend>
    <c:plotVisOnly val="1"/>
    <c:dispBlanksAs val="gap"/>
    <c:showDLblsOverMax val="1"/>
  </c:chart>
  <c:txPr>
    <a:bodyPr/>
    <a:lstStyle/>
    <a:p>
      <a:pPr>
        <a:defRPr sz="900">
          <a:solidFill>
            <a:srgbClr val="4A5568"/>
          </a:solidFill>
          <a:latin typeface="Calibri"/>
        </a:defRPr>
      </a:pPr>
      <a:endParaRPr lang="it-IT"/>
    </a:p>
  </c:tx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ns</c:v>
                </c:pt>
              </c:strCache>
            </c:strRef>
          </c:tx>
          <c:spPr>
            <a:solidFill>
              <a:srgbClr val="1F3A5F"/>
            </a:solidFill>
            <a:ln>
              <a:noFill/>
            </a:ln>
          </c:spPr>
          <c:invertIfNegative val="1"/>
          <c:dPt>
            <c:idx val="0"/>
            <c:invertIfNegative val="1"/>
            <c:bubble3D val="0"/>
            <c:spPr>
              <a:solidFill>
                <a:srgbClr val="9AA5B1"/>
              </a:solidFill>
            </c:spPr>
            <c:extLst>
              <c:ext xmlns:c16="http://schemas.microsoft.com/office/drawing/2014/chart" uri="{C3380CC4-5D6E-409C-BE32-E72D297353CC}">
                <c16:uniqueId val="{00000001-B2EE-41DF-BD52-DB8D95671A71}"/>
              </c:ext>
            </c:extLst>
          </c:dPt>
          <c:dPt>
            <c:idx val="1"/>
            <c:invertIfNegative val="1"/>
            <c:bubble3D val="0"/>
            <c:spPr>
              <a:solidFill>
                <a:srgbClr val="C8551E"/>
              </a:solidFill>
            </c:spPr>
            <c:extLst>
              <c:ext xmlns:c16="http://schemas.microsoft.com/office/drawing/2014/chart" uri="{C3380CC4-5D6E-409C-BE32-E72D297353CC}">
                <c16:uniqueId val="{00000003-B2EE-41DF-BD52-DB8D95671A71}"/>
              </c:ext>
            </c:extLst>
          </c:dPt>
          <c:dPt>
            <c:idx val="2"/>
            <c:invertIfNegative val="1"/>
            <c:bubble3D val="0"/>
            <c:spPr>
              <a:solidFill>
                <a:srgbClr val="F09A3E"/>
              </a:solidFill>
            </c:spPr>
            <c:extLst>
              <c:ext xmlns:c16="http://schemas.microsoft.com/office/drawing/2014/chart" uri="{C3380CC4-5D6E-409C-BE32-E72D297353CC}">
                <c16:uniqueId val="{00000005-B2EE-41DF-BD52-DB8D95671A71}"/>
              </c:ext>
            </c:extLst>
          </c:dPt>
          <c:dPt>
            <c:idx val="3"/>
            <c:invertIfNegative val="1"/>
            <c:bubble3D val="0"/>
            <c:spPr>
              <a:solidFill>
                <a:srgbClr val="2E9C8F"/>
              </a:solidFill>
            </c:spPr>
            <c:extLst>
              <c:ext xmlns:c16="http://schemas.microsoft.com/office/drawing/2014/chart" uri="{C3380CC4-5D6E-409C-BE32-E72D297353CC}">
                <c16:uniqueId val="{00000007-B2EE-41DF-BD52-DB8D95671A71}"/>
              </c:ext>
            </c:extLst>
          </c:dPt>
          <c:dPt>
            <c:idx val="4"/>
            <c:invertIfNegative val="1"/>
            <c:bubble3D val="0"/>
            <c:spPr>
              <a:solidFill>
                <a:srgbClr val="1F5F8B"/>
              </a:solidFill>
            </c:spPr>
            <c:extLst>
              <c:ext xmlns:c16="http://schemas.microsoft.com/office/drawing/2014/chart" uri="{C3380CC4-5D6E-409C-BE32-E72D297353CC}">
                <c16:uniqueId val="{00000009-B2EE-41DF-BD52-DB8D95671A71}"/>
              </c:ext>
            </c:extLst>
          </c:dPt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400">
                    <a:solidFill>
                      <a:srgbClr val="222B36"/>
                    </a:solidFill>
                    <a:latin typeface="Calibri"/>
                  </a:defRPr>
                </a:pPr>
                <a:endParaRPr lang="it-IT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baseline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14</c:v>
                </c:pt>
                <c:pt idx="1">
                  <c:v>46</c:v>
                </c:pt>
                <c:pt idx="2">
                  <c:v>52</c:v>
                </c:pt>
                <c:pt idx="3">
                  <c:v>194</c:v>
                </c:pt>
                <c:pt idx="4">
                  <c:v>318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A-B2EE-41DF-BD52-DB8D95671A71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D5DBE3"/>
            </a:solidFill>
          </a:ln>
        </c:spPr>
        <c:txPr>
          <a:bodyPr/>
          <a:lstStyle/>
          <a:p>
            <a:pPr>
              <a:defRPr sz="12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>
          <c:spPr>
            <a:ln>
              <a:solidFill>
                <a:srgbClr val="E6EAEF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it-IT" sz="1100" b="0">
                    <a:solidFill>
                      <a:srgbClr val="6B7C93"/>
                    </a:solidFill>
                    <a:latin typeface="Calibri"/>
                  </a:rPr>
                  <a:t>ns per pacchetto</a:t>
                </a:r>
              </a:p>
            </c:rich>
          </c:tx>
          <c:overlay val="0"/>
        </c:title>
        <c:numFmt formatCode="#,##0" sourceLinked="0"/>
        <c:majorTickMark val="out"/>
        <c:minorTickMark val="none"/>
        <c:tickLblPos val="nextTo"/>
        <c:spPr>
          <a:ln>
            <a:solidFill>
              <a:srgbClr val="D5DBE3"/>
            </a:solidFill>
          </a:ln>
        </c:spPr>
        <c:txPr>
          <a:bodyPr/>
          <a:lstStyle/>
          <a:p>
            <a:pPr>
              <a:defRPr sz="11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100">
          <a:latin typeface="Calibri"/>
        </a:defRPr>
      </a:pPr>
      <a:endParaRPr lang="it-IT"/>
    </a:p>
  </c:txPr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P-core</c:v>
                </c:pt>
              </c:strCache>
            </c:strRef>
          </c:tx>
          <c:spPr>
            <a:solidFill>
              <a:srgbClr val="1F3A5F"/>
            </a:solidFill>
            <a:ln>
              <a:noFill/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baseline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2.6</c:v>
                </c:pt>
                <c:pt idx="1">
                  <c:v>2.9</c:v>
                </c:pt>
                <c:pt idx="2">
                  <c:v>3.15</c:v>
                </c:pt>
                <c:pt idx="3">
                  <c:v>4.45</c:v>
                </c:pt>
                <c:pt idx="4">
                  <c:v>4.45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F42E-472E-934F-5CC29ED7A81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E-core</c:v>
                </c:pt>
              </c:strCache>
            </c:strRef>
          </c:tx>
          <c:spPr>
            <a:solidFill>
              <a:srgbClr val="2E9C8F"/>
            </a:solidFill>
            <a:ln>
              <a:noFill/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baseline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1.7</c:v>
                </c:pt>
                <c:pt idx="1">
                  <c:v>2.2</c:v>
                </c:pt>
                <c:pt idx="2">
                  <c:v>2.3</c:v>
                </c:pt>
                <c:pt idx="3">
                  <c:v>3.75</c:v>
                </c:pt>
                <c:pt idx="4">
                  <c:v>3.7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F42E-472E-934F-5CC29ED7A817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LP E-core</c:v>
                </c:pt>
              </c:strCache>
            </c:strRef>
          </c:tx>
          <c:spPr>
            <a:solidFill>
              <a:srgbClr val="E07A2D"/>
            </a:solidFill>
            <a:ln>
              <a:noFill/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baseline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1.0</c:v>
                </c:pt>
                <c:pt idx="1">
                  <c:v>1.35</c:v>
                </c:pt>
                <c:pt idx="2">
                  <c:v>1.5</c:v>
                </c:pt>
                <c:pt idx="3">
                  <c:v>2.8</c:v>
                </c:pt>
                <c:pt idx="4">
                  <c:v>3.0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F42E-472E-934F-5CC29ED7A817}"/>
            </c:ext>
          </c:extLst>
        </c:ser>
        <c:dLbls>
          <c:numFmt formatCode="0.0" sourceLinked="0"/>
          <c:txPr>
            <a:bodyPr/>
            <a:lstStyle/>
            <a:p>
              <a:pPr>
                <a:defRPr sz="800">
                  <a:solidFill>
                    <a:srgbClr val="4A5568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55"/>
        <c:overlap val="-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C8D0DA"/>
            </a:solidFill>
          </a:ln>
        </c:spPr>
        <c:txPr>
          <a:bodyPr/>
          <a:lstStyle/>
          <a:p>
            <a:pPr>
              <a:defRPr sz="900">
                <a:solidFill>
                  <a:srgbClr val="4A5568"/>
                </a:solidFill>
                <a:latin typeface="Calibri"/>
              </a:defRPr>
            </a:pPr>
            <a:endParaRPr lang="it-IT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>
          <c:spPr>
            <a:ln w="7620">
              <a:solidFill>
                <a:srgbClr val="E3E7ED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it-IT" sz="1100" b="0">
                    <a:solidFill>
                      <a:srgbClr val="6B7C93"/>
                    </a:solidFill>
                    <a:latin typeface="Calibri"/>
                  </a:rPr>
                  <a:t>istruzioni per ciclo</a:t>
                </a:r>
              </a:p>
            </c:rich>
          </c:tx>
          <c:overlay val="0"/>
        </c:title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-2068027336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900">
              <a:solidFill>
                <a:srgbClr val="222B36"/>
              </a:solidFill>
            </a:defRPr>
          </a:pPr>
          <a:endParaRPr lang="it-IT"/>
        </a:p>
      </c:txPr>
    </c:legend>
    <c:plotVisOnly val="1"/>
    <c:dispBlanksAs val="gap"/>
    <c:showDLblsOverMax val="1"/>
  </c:chart>
  <c:txPr>
    <a:bodyPr/>
    <a:lstStyle/>
    <a:p>
      <a:pPr>
        <a:defRPr sz="900">
          <a:solidFill>
            <a:srgbClr val="4A5568"/>
          </a:solidFill>
          <a:latin typeface="Calibri"/>
        </a:defRPr>
      </a:pPr>
      <a:endParaRPr lang="it-IT"/>
    </a:p>
  </c:tx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caricate</c:v>
                </c:pt>
              </c:strCache>
            </c:strRef>
          </c:tx>
          <c:spPr>
            <a:solidFill>
              <a:srgbClr val="B8C2CF"/>
            </a:solidFill>
            <a:ln>
              <a:noFill/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baseline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135.0</c:v>
                </c:pt>
                <c:pt idx="1">
                  <c:v>624.0</c:v>
                </c:pt>
                <c:pt idx="2">
                  <c:v>961.0</c:v>
                </c:pt>
                <c:pt idx="3">
                  <c:v>16813.0</c:v>
                </c:pt>
                <c:pt idx="4">
                  <c:v>12288.0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F42E-472E-934F-5CC29ED7A81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eseguite</c:v>
                </c:pt>
              </c:strCache>
            </c:strRef>
          </c:tx>
          <c:spPr>
            <a:solidFill>
              <a:srgbClr val="1F3A5F"/>
            </a:solidFill>
            <a:ln>
              <a:noFill/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baseline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605.9</c:v>
                </c:pt>
                <c:pt idx="1">
                  <c:v>1161.7</c:v>
                </c:pt>
                <c:pt idx="2">
                  <c:v>1345.7</c:v>
                </c:pt>
                <c:pt idx="3">
                  <c:v>4577.6</c:v>
                </c:pt>
                <c:pt idx="4">
                  <c:v>7575.2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F42E-472E-934F-5CC29ED7A817}"/>
            </c:ext>
          </c:extLst>
        </c:ser>
        <c:dLbls>
          <c:numFmt formatCode="#,##0" sourceLinked="0"/>
          <c:txPr>
            <a:bodyPr/>
            <a:lstStyle/>
            <a:p>
              <a:pPr>
                <a:defRPr sz="800">
                  <a:solidFill>
                    <a:srgbClr val="4A5568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55"/>
        <c:overlap val="-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C8D0DA"/>
            </a:solidFill>
          </a:ln>
        </c:spPr>
        <c:txPr>
          <a:bodyPr/>
          <a:lstStyle/>
          <a:p>
            <a:pPr>
              <a:defRPr sz="900">
                <a:solidFill>
                  <a:srgbClr val="4A5568"/>
                </a:solidFill>
                <a:latin typeface="Calibri"/>
              </a:defRPr>
            </a:pPr>
            <a:endParaRPr lang="it-IT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>
          <c:spPr>
            <a:ln w="7620">
              <a:solidFill>
                <a:srgbClr val="E3E7ED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it-IT" sz="1100" b="0">
                    <a:solidFill>
                      <a:srgbClr val="6B7C93"/>
                    </a:solidFill>
                    <a:latin typeface="Calibri"/>
                  </a:rPr>
                  <a:t>istruzioni</a:t>
                </a:r>
              </a:p>
            </c:rich>
          </c:tx>
          <c:overlay val="0"/>
        </c:title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-2068027336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900">
              <a:solidFill>
                <a:srgbClr val="222B36"/>
              </a:solidFill>
            </a:defRPr>
          </a:pPr>
          <a:endParaRPr lang="it-IT"/>
        </a:p>
      </c:txPr>
    </c:legend>
    <c:plotVisOnly val="1"/>
    <c:dispBlanksAs val="gap"/>
    <c:showDLblsOverMax val="1"/>
  </c:chart>
  <c:txPr>
    <a:bodyPr/>
    <a:lstStyle/>
    <a:p>
      <a:pPr>
        <a:defRPr sz="900">
          <a:solidFill>
            <a:srgbClr val="4A5568"/>
          </a:solidFill>
          <a:latin typeface="Calibri"/>
        </a:defRPr>
      </a:pPr>
      <a:endParaRPr lang="it-IT"/>
    </a:p>
  </c:tx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P-core</c:v>
                </c:pt>
              </c:strCache>
            </c:strRef>
          </c:tx>
          <c:spPr>
            <a:solidFill>
              <a:srgbClr val="1F3A5F"/>
            </a:solidFill>
            <a:ln>
              <a:noFill/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baseline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605.9</c:v>
                </c:pt>
                <c:pt idx="1">
                  <c:v>1103.3</c:v>
                </c:pt>
                <c:pt idx="2">
                  <c:v>1284.65</c:v>
                </c:pt>
                <c:pt idx="3">
                  <c:v>4500.85</c:v>
                </c:pt>
                <c:pt idx="4">
                  <c:v>7210.0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DCC1-41C3-B47A-44DD6F14CF9B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E-core</c:v>
                </c:pt>
              </c:strCache>
            </c:strRef>
          </c:tx>
          <c:spPr>
            <a:solidFill>
              <a:srgbClr val="2E9C8F"/>
            </a:solidFill>
            <a:ln>
              <a:noFill/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baseline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607.1</c:v>
                </c:pt>
                <c:pt idx="1">
                  <c:v>1104.7</c:v>
                </c:pt>
                <c:pt idx="2">
                  <c:v>1288.25</c:v>
                </c:pt>
                <c:pt idx="3">
                  <c:v>4501.1</c:v>
                </c:pt>
                <c:pt idx="4">
                  <c:v>7209.6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DCC1-41C3-B47A-44DD6F14CF9B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LP E-core</c:v>
                </c:pt>
              </c:strCache>
            </c:strRef>
          </c:tx>
          <c:spPr>
            <a:solidFill>
              <a:srgbClr val="E07A2D"/>
            </a:solidFill>
            <a:ln>
              <a:noFill/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baseline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611.65</c:v>
                </c:pt>
                <c:pt idx="1">
                  <c:v>1108.95</c:v>
                </c:pt>
                <c:pt idx="2">
                  <c:v>1291.65</c:v>
                </c:pt>
                <c:pt idx="3">
                  <c:v>4502.85</c:v>
                </c:pt>
                <c:pt idx="4">
                  <c:v>7211.8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DCC1-41C3-B47A-44DD6F14CF9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5"/>
        <c:overlap val="-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C8D0DA"/>
            </a:solidFill>
          </a:ln>
        </c:spPr>
        <c:txPr>
          <a:bodyPr/>
          <a:lstStyle/>
          <a:p>
            <a:pPr>
              <a:defRPr sz="900">
                <a:solidFill>
                  <a:srgbClr val="4A5568"/>
                </a:solidFill>
                <a:latin typeface="Calibri"/>
              </a:defRPr>
            </a:pPr>
            <a:endParaRPr lang="it-IT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>
          <c:spPr>
            <a:ln w="7620">
              <a:solidFill>
                <a:srgbClr val="E3E7ED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it-IT" sz="1100" b="0">
                    <a:solidFill>
                      <a:srgbClr val="6B7C93"/>
                    </a:solidFill>
                    <a:latin typeface="Calibri"/>
                  </a:rPr>
                  <a:t>istruzioni eseguite per pacchetto</a:t>
                </a:r>
              </a:p>
            </c:rich>
          </c:tx>
          <c:overlay val="0"/>
        </c:title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-2068027336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900">
              <a:solidFill>
                <a:srgbClr val="222B36"/>
              </a:solidFill>
            </a:defRPr>
          </a:pPr>
          <a:endParaRPr lang="it-IT"/>
        </a:p>
      </c:txPr>
    </c:legend>
    <c:plotVisOnly val="1"/>
    <c:dispBlanksAs val="gap"/>
    <c:showDLblsOverMax val="1"/>
  </c:chart>
  <c:txPr>
    <a:bodyPr/>
    <a:lstStyle/>
    <a:p>
      <a:pPr>
        <a:defRPr sz="900">
          <a:solidFill>
            <a:srgbClr val="4A5568"/>
          </a:solidFill>
          <a:latin typeface="Calibri"/>
        </a:defRPr>
      </a:pPr>
      <a:endParaRPr lang="it-IT"/>
    </a:p>
  </c:tx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barChart>
        <c:barDir val="bar"/>
        <c:grouping val="stack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parte fissa del nodo</c:v>
                </c:pt>
              </c:strCache>
            </c:strRef>
          </c:tx>
          <c:spPr>
            <a:solidFill>
              <a:srgbClr val="8A94A6"/>
            </a:solidFill>
            <a:ln>
              <a:noFill/>
            </a:ln>
          </c:spPr>
          <c:invertIfNegative val="1"/>
          <c:cat>
            <c:strRef>
              <c:f>Sheet1!$A$2:$A$11</c:f>
              <c:strCache>
                <c:ptCount val="10"/>
                <c:pt idx="0">
                  <c:v>baseline · P</c:v>
                </c:pt>
                <c:pt idx="1">
                  <c:v>baseline · E</c:v>
                </c:pt>
                <c:pt idx="2">
                  <c:v>P1 · P</c:v>
                </c:pt>
                <c:pt idx="3">
                  <c:v>P1 · E</c:v>
                </c:pt>
                <c:pt idx="4">
                  <c:v>P1.5 · P</c:v>
                </c:pt>
                <c:pt idx="5">
                  <c:v>P1.5 · E</c:v>
                </c:pt>
                <c:pt idx="6">
                  <c:v>P2 · P</c:v>
                </c:pt>
                <c:pt idx="7">
                  <c:v>P2 · E</c:v>
                </c:pt>
                <c:pt idx="8">
                  <c:v>P3 · P</c:v>
                </c:pt>
                <c:pt idx="9">
                  <c:v>P3 · E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231.2</c:v>
                </c:pt>
                <c:pt idx="1">
                  <c:v>360.0</c:v>
                </c:pt>
                <c:pt idx="2">
                  <c:v>231.2</c:v>
                </c:pt>
                <c:pt idx="3">
                  <c:v>360.0</c:v>
                </c:pt>
                <c:pt idx="4">
                  <c:v>231.2</c:v>
                </c:pt>
                <c:pt idx="5">
                  <c:v>360.0</c:v>
                </c:pt>
                <c:pt idx="6">
                  <c:v>231.2</c:v>
                </c:pt>
                <c:pt idx="7">
                  <c:v>360.0</c:v>
                </c:pt>
                <c:pt idx="8">
                  <c:v>231.2</c:v>
                </c:pt>
                <c:pt idx="9">
                  <c:v>360.0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3529-44DC-BF74-5732F5E01C9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rete neurale</c:v>
                </c:pt>
              </c:strCache>
            </c:strRef>
          </c:tx>
          <c:spPr>
            <a:solidFill>
              <a:srgbClr val="E07A2D"/>
            </a:solidFill>
            <a:ln>
              <a:noFill/>
            </a:ln>
          </c:spPr>
          <c:invertIfNegative val="1"/>
          <c:cat>
            <c:strRef>
              <c:f>Sheet1!$A$2:$A$11</c:f>
              <c:strCache>
                <c:ptCount val="10"/>
                <c:pt idx="0">
                  <c:v>baseline · P</c:v>
                </c:pt>
                <c:pt idx="1">
                  <c:v>baseline · E</c:v>
                </c:pt>
                <c:pt idx="2">
                  <c:v>P1 · P</c:v>
                </c:pt>
                <c:pt idx="3">
                  <c:v>P1 · E</c:v>
                </c:pt>
                <c:pt idx="4">
                  <c:v>P1.5 · P</c:v>
                </c:pt>
                <c:pt idx="5">
                  <c:v>P1.5 · E</c:v>
                </c:pt>
                <c:pt idx="6">
                  <c:v>P2 · P</c:v>
                </c:pt>
                <c:pt idx="7">
                  <c:v>P2 · E</c:v>
                </c:pt>
                <c:pt idx="8">
                  <c:v>P3 · P</c:v>
                </c:pt>
                <c:pt idx="9">
                  <c:v>P3 · E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0</c:v>
                </c:pt>
                <c:pt idx="1">
                  <c:v>0</c:v>
                </c:pt>
                <c:pt idx="2">
                  <c:v>183.4</c:v>
                </c:pt>
                <c:pt idx="3">
                  <c:v>172.2</c:v>
                </c:pt>
                <c:pt idx="4">
                  <c:v>206.1</c:v>
                </c:pt>
                <c:pt idx="5">
                  <c:v>207.9</c:v>
                </c:pt>
                <c:pt idx="6">
                  <c:v>785.0</c:v>
                </c:pt>
                <c:pt idx="7">
                  <c:v>857.8</c:v>
                </c:pt>
                <c:pt idx="8">
                  <c:v>1467.4</c:v>
                </c:pt>
                <c:pt idx="9">
                  <c:v>1661.6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3529-44DC-BF74-5732F5E01C96}"/>
            </c:ext>
          </c:extLst>
        </c:ser>
        <c:dLbls>
          <c:numFmt formatCode="0;;;" sourceLinked="0"/>
          <c:txPr>
            <a:bodyPr/>
            <a:lstStyle/>
            <a:p>
              <a:pPr>
                <a:defRPr sz="800">
                  <a:solidFill>
                    <a:srgbClr val="FFFFFF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55"/>
        <c:overlap val="10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>
            <a:solidFill>
              <a:srgbClr val="C8D0DA"/>
            </a:solidFill>
          </a:ln>
        </c:spPr>
        <c:txPr>
          <a:bodyPr/>
          <a:lstStyle/>
          <a:p>
            <a:pPr>
              <a:defRPr sz="900">
                <a:solidFill>
                  <a:srgbClr val="4A5568"/>
                </a:solidFill>
                <a:latin typeface="Calibri"/>
              </a:defRPr>
            </a:pPr>
            <a:endParaRPr lang="it-IT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t"/>
        <c:majorGridlines>
          <c:spPr>
            <a:ln w="7620">
              <a:solidFill>
                <a:srgbClr val="E3E7ED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it-IT" sz="1100" b="0">
                    <a:solidFill>
                      <a:srgbClr val="6B7C93"/>
                    </a:solidFill>
                    <a:latin typeface="Calibri"/>
                  </a:rPr>
                  <a:t>cicli per pacchetto</a:t>
                </a:r>
              </a:p>
            </c:rich>
          </c:tx>
          <c:overlay val="0"/>
        </c:title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-2068027336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900">
              <a:solidFill>
                <a:srgbClr val="222B36"/>
              </a:solidFill>
            </a:defRPr>
          </a:pPr>
          <a:endParaRPr lang="it-IT"/>
        </a:p>
      </c:txPr>
    </c:legend>
    <c:plotVisOnly val="1"/>
    <c:dispBlanksAs val="gap"/>
    <c:showDLblsOverMax val="1"/>
  </c:chart>
  <c:txPr>
    <a:bodyPr/>
    <a:lstStyle/>
    <a:p>
      <a:pPr>
        <a:defRPr sz="900">
          <a:solidFill>
            <a:srgbClr val="4A5568"/>
          </a:solidFill>
          <a:latin typeface="Calibri"/>
        </a:defRPr>
      </a:pPr>
      <a:endParaRPr lang="it-IT"/>
    </a:p>
  </c:tx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P-core</c:v>
                </c:pt>
              </c:strCache>
            </c:strRef>
          </c:tx>
          <c:spPr>
            <a:solidFill>
              <a:srgbClr val="1F3A5F"/>
            </a:solidFill>
            <a:ln>
              <a:noFill/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baseline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F42E-472E-934F-5CC29ED7A81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E-core</c:v>
                </c:pt>
              </c:strCache>
            </c:strRef>
          </c:tx>
          <c:spPr>
            <a:solidFill>
              <a:srgbClr val="2E9C8F"/>
            </a:solidFill>
            <a:ln>
              <a:noFill/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baseline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F42E-472E-934F-5CC29ED7A817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LP E-core</c:v>
                </c:pt>
              </c:strCache>
            </c:strRef>
          </c:tx>
          <c:spPr>
            <a:solidFill>
              <a:srgbClr val="E07A2D"/>
            </a:solidFill>
            <a:ln>
              <a:noFill/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baseline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13.5</c:v>
                </c:pt>
                <c:pt idx="1">
                  <c:v>13.7</c:v>
                </c:pt>
                <c:pt idx="2">
                  <c:v>17.45</c:v>
                </c:pt>
                <c:pt idx="3">
                  <c:v>16.1</c:v>
                </c:pt>
                <c:pt idx="4">
                  <c:v>18.95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F42E-472E-934F-5CC29ED7A817}"/>
            </c:ext>
          </c:extLst>
        </c:ser>
        <c:dLbls>
          <c:numFmt formatCode="0;;0" sourceLinked="0"/>
          <c:txPr>
            <a:bodyPr/>
            <a:lstStyle/>
            <a:p>
              <a:pPr>
                <a:defRPr sz="800">
                  <a:solidFill>
                    <a:srgbClr val="4A5568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55"/>
        <c:overlap val="-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C8D0DA"/>
            </a:solidFill>
          </a:ln>
        </c:spPr>
        <c:txPr>
          <a:bodyPr/>
          <a:lstStyle/>
          <a:p>
            <a:pPr>
              <a:defRPr sz="900">
                <a:solidFill>
                  <a:srgbClr val="4A5568"/>
                </a:solidFill>
                <a:latin typeface="Calibri"/>
              </a:defRPr>
            </a:pPr>
            <a:endParaRPr lang="it-IT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>
          <c:spPr>
            <a:ln w="7620">
              <a:solidFill>
                <a:srgbClr val="E3E7ED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it-IT" sz="1100" b="0">
                    <a:solidFill>
                      <a:srgbClr val="6B7C93"/>
                    </a:solidFill>
                    <a:latin typeface="Calibri"/>
                  </a:rPr>
                  <a:t>mancate dell'ultimo livello di cache per pacchetto</a:t>
                </a:r>
              </a:p>
            </c:rich>
          </c:tx>
          <c:overlay val="0"/>
        </c:title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-2068027336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900">
              <a:solidFill>
                <a:srgbClr val="222B36"/>
              </a:solidFill>
            </a:defRPr>
          </a:pPr>
          <a:endParaRPr lang="it-IT"/>
        </a:p>
      </c:txPr>
    </c:legend>
    <c:plotVisOnly val="1"/>
    <c:dispBlanksAs val="gap"/>
    <c:showDLblsOverMax val="1"/>
  </c:chart>
  <c:txPr>
    <a:bodyPr/>
    <a:lstStyle/>
    <a:p>
      <a:pPr>
        <a:defRPr sz="900">
          <a:solidFill>
            <a:srgbClr val="4A5568"/>
          </a:solidFill>
          <a:latin typeface="Calibri"/>
        </a:defRPr>
      </a:pPr>
      <a:endParaRPr lang="it-IT"/>
    </a:p>
  </c:tx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P-core</c:v>
                </c:pt>
              </c:strCache>
            </c:strRef>
          </c:tx>
          <c:spPr>
            <a:solidFill>
              <a:srgbClr val="1F3A5F"/>
            </a:solidFill>
            <a:ln>
              <a:noFill/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baseline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232.7</c:v>
                </c:pt>
                <c:pt idx="1">
                  <c:v>399.65</c:v>
                </c:pt>
                <c:pt idx="2">
                  <c:v>420.3</c:v>
                </c:pt>
                <c:pt idx="3">
                  <c:v>995.95</c:v>
                </c:pt>
                <c:pt idx="4">
                  <c:v>1613.9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F42E-472E-934F-5CC29ED7A81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E-core</c:v>
                </c:pt>
              </c:strCache>
            </c:strRef>
          </c:tx>
          <c:spPr>
            <a:solidFill>
              <a:srgbClr val="2E9C8F"/>
            </a:solidFill>
            <a:ln>
              <a:noFill/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baseline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359.7</c:v>
                </c:pt>
                <c:pt idx="1">
                  <c:v>509.9</c:v>
                </c:pt>
                <c:pt idx="2">
                  <c:v>559.0</c:v>
                </c:pt>
                <c:pt idx="3">
                  <c:v>1200.95</c:v>
                </c:pt>
                <c:pt idx="4">
                  <c:v>1944.5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F42E-472E-934F-5CC29ED7A817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LP E-core</c:v>
                </c:pt>
              </c:strCache>
            </c:strRef>
          </c:tx>
          <c:spPr>
            <a:solidFill>
              <a:srgbClr val="E07A2D"/>
            </a:solidFill>
            <a:ln>
              <a:noFill/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baseline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640.0</c:v>
                </c:pt>
                <c:pt idx="1">
                  <c:v>832.25</c:v>
                </c:pt>
                <c:pt idx="2">
                  <c:v>861.85</c:v>
                </c:pt>
                <c:pt idx="3">
                  <c:v>1580.8</c:v>
                </c:pt>
                <c:pt idx="4">
                  <c:v>2434.65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F42E-472E-934F-5CC29ED7A817}"/>
            </c:ext>
          </c:extLst>
        </c:ser>
        <c:dLbls>
          <c:numFmt formatCode="0" sourceLinked="0"/>
          <c:txPr>
            <a:bodyPr/>
            <a:lstStyle/>
            <a:p>
              <a:pPr>
                <a:defRPr sz="800">
                  <a:solidFill>
                    <a:srgbClr val="4A5568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55"/>
        <c:overlap val="-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C8D0DA"/>
            </a:solidFill>
          </a:ln>
        </c:spPr>
        <c:txPr>
          <a:bodyPr/>
          <a:lstStyle/>
          <a:p>
            <a:pPr>
              <a:defRPr sz="900">
                <a:solidFill>
                  <a:srgbClr val="4A5568"/>
                </a:solidFill>
                <a:latin typeface="Calibri"/>
              </a:defRPr>
            </a:pPr>
            <a:endParaRPr lang="it-IT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>
          <c:spPr>
            <a:ln w="7620">
              <a:solidFill>
                <a:srgbClr val="E3E7ED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it-IT" sz="1100" b="0">
                    <a:solidFill>
                      <a:srgbClr val="6B7C93"/>
                    </a:solidFill>
                    <a:latin typeface="Calibri"/>
                  </a:rPr>
                  <a:t>cicli per pacchetto</a:t>
                </a:r>
              </a:p>
            </c:rich>
          </c:tx>
          <c:overlay val="0"/>
        </c:title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-2068027336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900">
              <a:solidFill>
                <a:srgbClr val="222B36"/>
              </a:solidFill>
            </a:defRPr>
          </a:pPr>
          <a:endParaRPr lang="it-IT"/>
        </a:p>
      </c:txPr>
    </c:legend>
    <c:plotVisOnly val="1"/>
    <c:dispBlanksAs val="gap"/>
    <c:showDLblsOverMax val="1"/>
  </c:chart>
  <c:txPr>
    <a:bodyPr/>
    <a:lstStyle/>
    <a:p>
      <a:pPr>
        <a:defRPr sz="900">
          <a:solidFill>
            <a:srgbClr val="4A5568"/>
          </a:solidFill>
          <a:latin typeface="Calibri"/>
        </a:defRPr>
      </a:pPr>
      <a:endParaRPr lang="it-IT"/>
    </a:p>
  </c:tx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1 core</c:v>
                </c:pt>
              </c:strCache>
            </c:strRef>
          </c:tx>
          <c:spPr>
            <a:solidFill>
              <a:srgbClr val="B8C2CF"/>
            </a:solidFill>
            <a:ln>
              <a:noFill/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baseline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14.865</c:v>
                </c:pt>
                <c:pt idx="1">
                  <c:v>8.98</c:v>
                </c:pt>
                <c:pt idx="2">
                  <c:v>8.213</c:v>
                </c:pt>
                <c:pt idx="3">
                  <c:v>3.592</c:v>
                </c:pt>
                <c:pt idx="4">
                  <c:v>2.111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F42E-472E-934F-5CC29ED7A81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 core</c:v>
                </c:pt>
              </c:strCache>
            </c:strRef>
          </c:tx>
          <c:spPr>
            <a:solidFill>
              <a:srgbClr val="1F3A5F"/>
            </a:solidFill>
            <a:ln>
              <a:noFill/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baseline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29.323</c:v>
                </c:pt>
                <c:pt idx="1">
                  <c:v>17.93</c:v>
                </c:pt>
                <c:pt idx="2">
                  <c:v>16.231</c:v>
                </c:pt>
                <c:pt idx="3">
                  <c:v>7.118</c:v>
                </c:pt>
                <c:pt idx="4">
                  <c:v>4.137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F42E-472E-934F-5CC29ED7A817}"/>
            </c:ext>
          </c:extLst>
        </c:ser>
        <c:dLbls>
          <c:numFmt formatCode="0.0" sourceLinked="0"/>
          <c:txPr>
            <a:bodyPr/>
            <a:lstStyle/>
            <a:p>
              <a:pPr>
                <a:defRPr sz="800">
                  <a:solidFill>
                    <a:srgbClr val="4A5568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55"/>
        <c:overlap val="-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C8D0DA"/>
            </a:solidFill>
          </a:ln>
        </c:spPr>
        <c:txPr>
          <a:bodyPr/>
          <a:lstStyle/>
          <a:p>
            <a:pPr>
              <a:defRPr sz="900">
                <a:solidFill>
                  <a:srgbClr val="4A5568"/>
                </a:solidFill>
                <a:latin typeface="Calibri"/>
              </a:defRPr>
            </a:pPr>
            <a:endParaRPr lang="it-IT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>
          <c:spPr>
            <a:ln w="7620">
              <a:solidFill>
                <a:srgbClr val="E3E7ED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it-IT" sz="1100" b="0">
                    <a:solidFill>
                      <a:srgbClr val="6B7C93"/>
                    </a:solidFill>
                    <a:latin typeface="Calibri"/>
                  </a:rPr>
                  <a:t>M pacchetti/s, P-core</a:t>
                </a:r>
              </a:p>
            </c:rich>
          </c:tx>
          <c:overlay val="0"/>
        </c:title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-2068027336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900">
              <a:solidFill>
                <a:srgbClr val="222B36"/>
              </a:solidFill>
            </a:defRPr>
          </a:pPr>
          <a:endParaRPr lang="it-IT"/>
        </a:p>
      </c:txPr>
    </c:legend>
    <c:plotVisOnly val="1"/>
    <c:dispBlanksAs val="gap"/>
    <c:showDLblsOverMax val="1"/>
  </c:chart>
  <c:txPr>
    <a:bodyPr/>
    <a:lstStyle/>
    <a:p>
      <a:pPr>
        <a:defRPr sz="900">
          <a:solidFill>
            <a:srgbClr val="4A5568"/>
          </a:solidFill>
          <a:latin typeface="Calibri"/>
        </a:defRPr>
      </a:pPr>
      <a:endParaRPr lang="it-IT"/>
    </a:p>
  </c:txPr>
  <c:externalData r:id="rId1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1 core</c:v>
                </c:pt>
              </c:strCache>
            </c:strRef>
          </c:tx>
          <c:spPr>
            <a:solidFill>
              <a:srgbClr val="B8C2CF"/>
            </a:solidFill>
            <a:ln>
              <a:noFill/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baseline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9.419</c:v>
                </c:pt>
                <c:pt idx="1">
                  <c:v>6.63</c:v>
                </c:pt>
                <c:pt idx="2">
                  <c:v>6.105</c:v>
                </c:pt>
                <c:pt idx="3">
                  <c:v>2.903</c:v>
                </c:pt>
                <c:pt idx="4">
                  <c:v>1.755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F42E-472E-934F-5CC29ED7A81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 core</c:v>
                </c:pt>
              </c:strCache>
            </c:strRef>
          </c:tx>
          <c:spPr>
            <a:solidFill>
              <a:srgbClr val="2E9C8F"/>
            </a:solidFill>
            <a:ln>
              <a:noFill/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baseline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18.924</c:v>
                </c:pt>
                <c:pt idx="1">
                  <c:v>13.3</c:v>
                </c:pt>
                <c:pt idx="2">
                  <c:v>12.205</c:v>
                </c:pt>
                <c:pt idx="3">
                  <c:v>5.761</c:v>
                </c:pt>
                <c:pt idx="4">
                  <c:v>3.463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F42E-472E-934F-5CC29ED7A817}"/>
            </c:ext>
          </c:extLst>
        </c:ser>
        <c:dLbls>
          <c:numFmt formatCode="0.0" sourceLinked="0"/>
          <c:txPr>
            <a:bodyPr/>
            <a:lstStyle/>
            <a:p>
              <a:pPr>
                <a:defRPr sz="800">
                  <a:solidFill>
                    <a:srgbClr val="4A5568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55"/>
        <c:overlap val="-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C8D0DA"/>
            </a:solidFill>
          </a:ln>
        </c:spPr>
        <c:txPr>
          <a:bodyPr/>
          <a:lstStyle/>
          <a:p>
            <a:pPr>
              <a:defRPr sz="900">
                <a:solidFill>
                  <a:srgbClr val="4A5568"/>
                </a:solidFill>
                <a:latin typeface="Calibri"/>
              </a:defRPr>
            </a:pPr>
            <a:endParaRPr lang="it-IT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>
          <c:spPr>
            <a:ln w="7620">
              <a:solidFill>
                <a:srgbClr val="E3E7ED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it-IT" sz="1100" b="0">
                    <a:solidFill>
                      <a:srgbClr val="6B7C93"/>
                    </a:solidFill>
                    <a:latin typeface="Calibri"/>
                  </a:rPr>
                  <a:t>M pacchetti/s, E-core</a:t>
                </a:r>
              </a:p>
            </c:rich>
          </c:tx>
          <c:overlay val="0"/>
        </c:title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-2068027336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900">
              <a:solidFill>
                <a:srgbClr val="222B36"/>
              </a:solidFill>
            </a:defRPr>
          </a:pPr>
          <a:endParaRPr lang="it-IT"/>
        </a:p>
      </c:txPr>
    </c:legend>
    <c:plotVisOnly val="1"/>
    <c:dispBlanksAs val="gap"/>
    <c:showDLblsOverMax val="1"/>
  </c:chart>
  <c:txPr>
    <a:bodyPr/>
    <a:lstStyle/>
    <a:p>
      <a:pPr>
        <a:defRPr sz="900">
          <a:solidFill>
            <a:srgbClr val="4A5568"/>
          </a:solidFill>
          <a:latin typeface="Calibri"/>
        </a:defRPr>
      </a:pPr>
      <a:endParaRPr lang="it-IT"/>
    </a:p>
  </c:txPr>
  <c:externalData r:id="rId1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barChart>
        <c:barDir val="bar"/>
        <c:grouping val="stack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il programma (T2−T1)</c:v>
                </c:pt>
              </c:strCache>
            </c:strRef>
          </c:tx>
          <c:spPr>
            <a:solidFill>
              <a:srgbClr val="E07A2D"/>
            </a:solidFill>
            <a:ln>
              <a:noFill/>
            </a:ln>
          </c:spPr>
          <c:invertIfNegative val="1"/>
          <c:cat>
            <c:strRef>
              <c:f>Sheet1!$A$2:$A$11</c:f>
              <c:strCache>
                <c:ptCount val="10"/>
                <c:pt idx="0">
                  <c:v>baseline · P</c:v>
                </c:pt>
                <c:pt idx="1">
                  <c:v>baseline · E</c:v>
                </c:pt>
                <c:pt idx="2">
                  <c:v>P1 · P</c:v>
                </c:pt>
                <c:pt idx="3">
                  <c:v>P1 · E</c:v>
                </c:pt>
                <c:pt idx="4">
                  <c:v>P1.5 · P</c:v>
                </c:pt>
                <c:pt idx="5">
                  <c:v>P1.5 · E</c:v>
                </c:pt>
                <c:pt idx="6">
                  <c:v>P2 · P</c:v>
                </c:pt>
                <c:pt idx="7">
                  <c:v>P2 · E</c:v>
                </c:pt>
                <c:pt idx="8">
                  <c:v>P3 · P</c:v>
                </c:pt>
                <c:pt idx="9">
                  <c:v>P3 · E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27.0</c:v>
                </c:pt>
                <c:pt idx="1">
                  <c:v>28.0</c:v>
                </c:pt>
                <c:pt idx="2">
                  <c:v>64.0</c:v>
                </c:pt>
                <c:pt idx="3">
                  <c:v>74.0</c:v>
                </c:pt>
                <c:pt idx="4">
                  <c:v>69.5</c:v>
                </c:pt>
                <c:pt idx="5">
                  <c:v>82.0</c:v>
                </c:pt>
                <c:pt idx="6">
                  <c:v>228.5</c:v>
                </c:pt>
                <c:pt idx="7">
                  <c:v>267.0</c:v>
                </c:pt>
                <c:pt idx="8">
                  <c:v>391.0</c:v>
                </c:pt>
                <c:pt idx="9">
                  <c:v>498.0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3232-4638-86FE-31F41BC7383B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il trasporto (T3−T2)</c:v>
                </c:pt>
              </c:strCache>
            </c:strRef>
          </c:tx>
          <c:spPr>
            <a:solidFill>
              <a:srgbClr val="AEB8C6"/>
            </a:solidFill>
            <a:ln>
              <a:noFill/>
            </a:ln>
          </c:spPr>
          <c:invertIfNegative val="1"/>
          <c:cat>
            <c:strRef>
              <c:f>Sheet1!$A$2:$A$11</c:f>
              <c:strCache>
                <c:ptCount val="10"/>
                <c:pt idx="0">
                  <c:v>baseline · P</c:v>
                </c:pt>
                <c:pt idx="1">
                  <c:v>baseline · E</c:v>
                </c:pt>
                <c:pt idx="2">
                  <c:v>P1 · P</c:v>
                </c:pt>
                <c:pt idx="3">
                  <c:v>P1 · E</c:v>
                </c:pt>
                <c:pt idx="4">
                  <c:v>P1.5 · P</c:v>
                </c:pt>
                <c:pt idx="5">
                  <c:v>P1.5 · E</c:v>
                </c:pt>
                <c:pt idx="6">
                  <c:v>P2 · P</c:v>
                </c:pt>
                <c:pt idx="7">
                  <c:v>P2 · E</c:v>
                </c:pt>
                <c:pt idx="8">
                  <c:v>P3 · P</c:v>
                </c:pt>
                <c:pt idx="9">
                  <c:v>P3 · E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194.0</c:v>
                </c:pt>
                <c:pt idx="1">
                  <c:v>239.0</c:v>
                </c:pt>
                <c:pt idx="2">
                  <c:v>197.0</c:v>
                </c:pt>
                <c:pt idx="3">
                  <c:v>236.0</c:v>
                </c:pt>
                <c:pt idx="4">
                  <c:v>198.0</c:v>
                </c:pt>
                <c:pt idx="5">
                  <c:v>235.5</c:v>
                </c:pt>
                <c:pt idx="6">
                  <c:v>203.5</c:v>
                </c:pt>
                <c:pt idx="7">
                  <c:v>242.5</c:v>
                </c:pt>
                <c:pt idx="8">
                  <c:v>204.0</c:v>
                </c:pt>
                <c:pt idx="9">
                  <c:v>243.0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3232-4638-86FE-31F41BC7383B}"/>
            </c:ext>
          </c:extLst>
        </c:ser>
        <c:dLbls>
          <c:numFmt formatCode="0" sourceLinked="0"/>
          <c:txPr>
            <a:bodyPr/>
            <a:lstStyle/>
            <a:p>
              <a:pPr>
                <a:defRPr sz="800">
                  <a:solidFill>
                    <a:srgbClr val="FFFFFF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55"/>
        <c:overlap val="10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>
            <a:solidFill>
              <a:srgbClr val="C8D0DA"/>
            </a:solidFill>
          </a:ln>
        </c:spPr>
        <c:txPr>
          <a:bodyPr/>
          <a:lstStyle/>
          <a:p>
            <a:pPr>
              <a:defRPr sz="900">
                <a:solidFill>
                  <a:srgbClr val="4A5568"/>
                </a:solidFill>
                <a:latin typeface="Calibri"/>
              </a:defRPr>
            </a:pPr>
            <a:endParaRPr lang="it-IT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t"/>
        <c:majorGridlines>
          <c:spPr>
            <a:ln w="7620">
              <a:solidFill>
                <a:srgbClr val="E3E7ED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it-IT" sz="1100" b="0">
                    <a:solidFill>
                      <a:srgbClr val="6B7C93"/>
                    </a:solidFill>
                    <a:latin typeface="Calibri"/>
                  </a:rPr>
                  <a:t>ns</a:t>
                </a:r>
              </a:p>
            </c:rich>
          </c:tx>
          <c:overlay val="0"/>
        </c:title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-2068027336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900">
              <a:solidFill>
                <a:srgbClr val="222B36"/>
              </a:solidFill>
            </a:defRPr>
          </a:pPr>
          <a:endParaRPr lang="it-IT"/>
        </a:p>
      </c:txPr>
    </c:legend>
    <c:plotVisOnly val="1"/>
    <c:dispBlanksAs val="gap"/>
    <c:showDLblsOverMax val="1"/>
  </c:chart>
  <c:txPr>
    <a:bodyPr/>
    <a:lstStyle/>
    <a:p>
      <a:pPr>
        <a:defRPr sz="900">
          <a:solidFill>
            <a:srgbClr val="4A5568"/>
          </a:solidFill>
          <a:latin typeface="Calibri"/>
        </a:defRPr>
      </a:pPr>
      <a:endParaRPr lang="it-IT"/>
    </a:p>
  </c:txPr>
  <c:externalData r:id="rId1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P1 statica</c:v>
                </c:pt>
              </c:strCache>
            </c:strRef>
          </c:tx>
          <c:spPr>
            <a:ln w="28575">
              <a:solidFill>
                <a:srgbClr val="C8551E"/>
              </a:solidFill>
            </a:ln>
          </c:spPr>
          <c:marker>
            <c:symbol val="circle"/>
            <c:size val="6"/>
            <c:spPr>
              <a:solidFill>
                <a:srgbClr val="C8551E"/>
              </a:solidFill>
              <a:ln>
                <a:solidFill>
                  <a:srgbClr val="C8551E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6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1047.6</c:v>
                </c:pt>
                <c:pt idx="1">
                  <c:v>1146.2</c:v>
                </c:pt>
                <c:pt idx="2">
                  <c:v>1091.6</c:v>
                </c:pt>
                <c:pt idx="3">
                  <c:v>1262.75</c:v>
                </c:pt>
                <c:pt idx="4">
                  <c:v>1196.5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A774-4ADD-9089-DB4FCCB8654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P1.5</c:v>
                </c:pt>
              </c:strCache>
            </c:strRef>
          </c:tx>
          <c:spPr>
            <a:ln w="28575">
              <a:solidFill>
                <a:srgbClr val="F09A3E"/>
              </a:solidFill>
            </a:ln>
          </c:spPr>
          <c:marker>
            <c:symbol val="circle"/>
            <c:size val="6"/>
            <c:spPr>
              <a:solidFill>
                <a:srgbClr val="F09A3E"/>
              </a:solidFill>
              <a:ln>
                <a:solidFill>
                  <a:srgbClr val="F09A3E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6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1261.5</c:v>
                </c:pt>
                <c:pt idx="1">
                  <c:v>1282.6</c:v>
                </c:pt>
                <c:pt idx="2">
                  <c:v>1302.7</c:v>
                </c:pt>
                <c:pt idx="3">
                  <c:v>1401.1</c:v>
                </c:pt>
                <c:pt idx="4">
                  <c:v>1347.8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A774-4ADD-9089-DB4FCCB8654F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P2</c:v>
                </c:pt>
              </c:strCache>
            </c:strRef>
          </c:tx>
          <c:spPr>
            <a:ln w="28575">
              <a:solidFill>
                <a:srgbClr val="2E9C8F"/>
              </a:solidFill>
            </a:ln>
          </c:spPr>
          <c:marker>
            <c:symbol val="circle"/>
            <c:size val="6"/>
            <c:spPr>
              <a:solidFill>
                <a:srgbClr val="2E9C8F"/>
              </a:solidFill>
              <a:ln>
                <a:solidFill>
                  <a:srgbClr val="2E9C8F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6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3735.6</c:v>
                </c:pt>
                <c:pt idx="1">
                  <c:v>4028.8</c:v>
                </c:pt>
                <c:pt idx="2">
                  <c:v>4710.95</c:v>
                </c:pt>
                <c:pt idx="3">
                  <c:v>4945.1</c:v>
                </c:pt>
                <c:pt idx="4">
                  <c:v>5593.25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A774-4ADD-9089-DB4FCCB8654F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P3</c:v>
                </c:pt>
              </c:strCache>
            </c:strRef>
          </c:tx>
          <c:spPr>
            <a:ln w="28575">
              <a:solidFill>
                <a:srgbClr val="1F5F8B"/>
              </a:solidFill>
            </a:ln>
          </c:spPr>
          <c:marker>
            <c:symbol val="circle"/>
            <c:size val="6"/>
            <c:spPr>
              <a:solidFill>
                <a:srgbClr val="1F5F8B"/>
              </a:solidFill>
              <a:ln>
                <a:solidFill>
                  <a:srgbClr val="1F5F8B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6</c:v>
                </c:pt>
              </c:strCache>
            </c: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5494.1</c:v>
                </c:pt>
                <c:pt idx="1">
                  <c:v>6480.8</c:v>
                </c:pt>
                <c:pt idx="2">
                  <c:v>7660.3</c:v>
                </c:pt>
                <c:pt idx="3">
                  <c:v>8663.5</c:v>
                </c:pt>
                <c:pt idx="4">
                  <c:v>10266.3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A774-4ADD-9089-DB4FCCB8654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lang="it-IT" sz="1200" b="0">
                    <a:solidFill>
                      <a:srgbClr val="6B7C93"/>
                    </a:solidFill>
                    <a:latin typeface="Calibri"/>
                  </a:rPr>
                  <a:t>strati nascosti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spPr>
          <a:ln>
            <a:solidFill>
              <a:srgbClr val="C8D0DA"/>
            </a:solidFill>
          </a:ln>
        </c:spPr>
        <c:txPr>
          <a:bodyPr/>
          <a:lstStyle/>
          <a:p>
            <a:pPr>
              <a:defRPr sz="900">
                <a:solidFill>
                  <a:srgbClr val="4A5568"/>
                </a:solidFill>
                <a:latin typeface="Calibri"/>
              </a:defRPr>
            </a:pPr>
            <a:endParaRPr lang="it-IT"/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</c:scaling>
        <c:delete val="0"/>
        <c:axPos val="l"/>
        <c:majorGridlines>
          <c:spPr>
            <a:ln w="7620">
              <a:solidFill>
                <a:srgbClr val="E3E7ED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it-IT" sz="1100" b="0">
                    <a:solidFill>
                      <a:srgbClr val="6B7C93"/>
                    </a:solidFill>
                    <a:latin typeface="Calibri"/>
                  </a:rPr>
                  <a:t>istruzioni eseguite per pacchetto</a:t>
                </a:r>
              </a:p>
            </c:rich>
          </c:tx>
          <c:overlay val="0"/>
        </c:title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2118791784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900">
              <a:solidFill>
                <a:srgbClr val="222B36"/>
              </a:solidFill>
            </a:defRPr>
          </a:pPr>
          <a:endParaRPr lang="it-IT"/>
        </a:p>
      </c:txPr>
    </c:legend>
    <c:plotVisOnly val="1"/>
    <c:dispBlanksAs val="gap"/>
    <c:showDLblsOverMax val="0"/>
  </c:chart>
  <c:txPr>
    <a:bodyPr/>
    <a:lstStyle/>
    <a:p>
      <a:pPr>
        <a:defRPr sz="900">
          <a:solidFill>
            <a:srgbClr val="4A5568"/>
          </a:solidFill>
          <a:latin typeface="Calibri"/>
        </a:defRPr>
      </a:pPr>
      <a:endParaRPr lang="it-IT"/>
    </a:p>
  </c:txPr>
  <c:externalData r:id="rId1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P3 · P-core</c:v>
                </c:pt>
              </c:strCache>
            </c:strRef>
          </c:tx>
          <c:spPr>
            <a:ln w="28575">
              <a:solidFill>
                <a:srgbClr val="1F5F8B"/>
              </a:solidFill>
            </a:ln>
          </c:spPr>
          <c:marker>
            <c:symbol val="circle"/>
            <c:size val="6"/>
            <c:spPr>
              <a:solidFill>
                <a:srgbClr val="1F5F8B"/>
              </a:solidFill>
              <a:ln>
                <a:solidFill>
                  <a:srgbClr val="1F5F8B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6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365.3</c:v>
                </c:pt>
                <c:pt idx="1">
                  <c:v>429.45</c:v>
                </c:pt>
                <c:pt idx="2">
                  <c:v>482.8</c:v>
                </c:pt>
                <c:pt idx="3">
                  <c:v>542.05</c:v>
                </c:pt>
                <c:pt idx="4">
                  <c:v>626.7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CB40-40F4-8AE4-87AB3DBEE21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P3 · E-core</c:v>
                </c:pt>
              </c:strCache>
            </c:strRef>
          </c:tx>
          <c:spPr>
            <a:ln w="28575">
              <a:solidFill>
                <a:srgbClr val="1F5F8B"/>
              </a:solidFill>
              <a:prstDash val="dash"/>
            </a:ln>
          </c:spPr>
          <c:marker>
            <c:symbol val="circle"/>
            <c:size val="6"/>
            <c:spPr>
              <a:solidFill>
                <a:srgbClr val="1F5F8B"/>
              </a:solidFill>
              <a:ln>
                <a:solidFill>
                  <a:srgbClr val="1F5F8B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6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450.1</c:v>
                </c:pt>
                <c:pt idx="1">
                  <c:v>512.4</c:v>
                </c:pt>
                <c:pt idx="2">
                  <c:v>596.3</c:v>
                </c:pt>
                <c:pt idx="3">
                  <c:v>655.2</c:v>
                </c:pt>
                <c:pt idx="4">
                  <c:v>777.8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CB40-40F4-8AE4-87AB3DBEE21D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P2 · P-core</c:v>
                </c:pt>
              </c:strCache>
            </c:strRef>
          </c:tx>
          <c:spPr>
            <a:ln w="28575">
              <a:solidFill>
                <a:srgbClr val="2E9C8F"/>
              </a:solidFill>
            </a:ln>
          </c:spPr>
          <c:marker>
            <c:symbol val="circle"/>
            <c:size val="6"/>
            <c:spPr>
              <a:solidFill>
                <a:srgbClr val="2E9C8F"/>
              </a:solidFill>
              <a:ln>
                <a:solidFill>
                  <a:srgbClr val="2E9C8F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6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251.0</c:v>
                </c:pt>
                <c:pt idx="1">
                  <c:v>266.0</c:v>
                </c:pt>
                <c:pt idx="2">
                  <c:v>308.0</c:v>
                </c:pt>
                <c:pt idx="3">
                  <c:v>311.8</c:v>
                </c:pt>
                <c:pt idx="4">
                  <c:v>349.75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CB40-40F4-8AE4-87AB3DBEE21D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P2 · E-core</c:v>
                </c:pt>
              </c:strCache>
            </c:strRef>
          </c:tx>
          <c:spPr>
            <a:ln w="28575">
              <a:solidFill>
                <a:srgbClr val="2E9C8F"/>
              </a:solidFill>
              <a:prstDash val="dash"/>
            </a:ln>
          </c:spPr>
          <c:marker>
            <c:symbol val="circle"/>
            <c:size val="6"/>
            <c:spPr>
              <a:solidFill>
                <a:srgbClr val="2E9C8F"/>
              </a:solidFill>
              <a:ln>
                <a:solidFill>
                  <a:srgbClr val="2E9C8F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6</c:v>
                </c:pt>
              </c:strCache>
            </c: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311.9</c:v>
                </c:pt>
                <c:pt idx="1">
                  <c:v>324.65</c:v>
                </c:pt>
                <c:pt idx="2">
                  <c:v>358.0</c:v>
                </c:pt>
                <c:pt idx="3">
                  <c:v>376.3</c:v>
                </c:pt>
                <c:pt idx="4">
                  <c:v>409.95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CB40-40F4-8AE4-87AB3DBEE21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lang="it-IT" sz="1200" b="0">
                    <a:solidFill>
                      <a:srgbClr val="6B7C93"/>
                    </a:solidFill>
                    <a:latin typeface="Calibri"/>
                  </a:rPr>
                  <a:t>strati nascosti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spPr>
          <a:ln>
            <a:solidFill>
              <a:srgbClr val="C8D0DA"/>
            </a:solidFill>
          </a:ln>
        </c:spPr>
        <c:txPr>
          <a:bodyPr/>
          <a:lstStyle/>
          <a:p>
            <a:pPr>
              <a:defRPr sz="900">
                <a:solidFill>
                  <a:srgbClr val="4A5568"/>
                </a:solidFill>
                <a:latin typeface="Calibri"/>
              </a:defRPr>
            </a:pPr>
            <a:endParaRPr lang="it-IT"/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</c:scaling>
        <c:delete val="0"/>
        <c:axPos val="l"/>
        <c:majorGridlines>
          <c:spPr>
            <a:ln w="7620">
              <a:solidFill>
                <a:srgbClr val="E3E7ED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it-IT" sz="1100" b="0">
                    <a:solidFill>
                      <a:srgbClr val="6B7C93"/>
                    </a:solidFill>
                    <a:latin typeface="Calibri"/>
                  </a:rPr>
                  <a:t>ns di CPU per pacchetto</a:t>
                </a:r>
              </a:p>
            </c:rich>
          </c:tx>
          <c:overlay val="0"/>
        </c:title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2118791784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900">
              <a:solidFill>
                <a:srgbClr val="222B36"/>
              </a:solidFill>
            </a:defRPr>
          </a:pPr>
          <a:endParaRPr lang="it-IT"/>
        </a:p>
      </c:txPr>
    </c:legend>
    <c:plotVisOnly val="1"/>
    <c:dispBlanksAs val="gap"/>
    <c:showDLblsOverMax val="0"/>
  </c:chart>
  <c:txPr>
    <a:bodyPr/>
    <a:lstStyle/>
    <a:p>
      <a:pPr>
        <a:defRPr sz="900">
          <a:solidFill>
            <a:srgbClr val="4A5568"/>
          </a:solidFill>
          <a:latin typeface="Calibri"/>
        </a:defRPr>
      </a:pPr>
      <a:endParaRPr lang="it-IT"/>
    </a:p>
  </c:txPr>
  <c:externalData r:id="rId1">
    <c:autoUpdate val="0"/>
  </c:externalData>
</c:chartSpace>
</file>

<file path=ppt/charts/chart3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P1 statica</c:v>
                </c:pt>
              </c:strCache>
            </c:strRef>
          </c:tx>
          <c:spPr>
            <a:ln w="28575">
              <a:solidFill>
                <a:srgbClr val="C8551E"/>
              </a:solidFill>
            </a:ln>
          </c:spPr>
          <c:marker>
            <c:symbol val="circle"/>
            <c:size val="6"/>
            <c:spPr>
              <a:solidFill>
                <a:srgbClr val="C8551E"/>
              </a:solidFill>
              <a:ln>
                <a:solidFill>
                  <a:srgbClr val="C8551E"/>
                </a:solidFill>
              </a:ln>
            </c:spPr>
          </c:marker>
          <c:cat>
            <c:strRef>
              <c:f>Sheet1!$A$2:$A$4</c:f>
              <c:strCache>
                <c:ptCount val="3"/>
                <c:pt idx="0">
                  <c:v>2</c:v>
                </c:pt>
                <c:pt idx="1">
                  <c:v>4</c:v>
                </c:pt>
                <c:pt idx="2">
                  <c:v>8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103.4</c:v>
                </c:pt>
                <c:pt idx="1">
                  <c:v>115.7</c:v>
                </c:pt>
                <c:pt idx="2">
                  <c:v>158.45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A774-4ADD-9089-DB4FCCB8654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P1.5</c:v>
                </c:pt>
              </c:strCache>
            </c:strRef>
          </c:tx>
          <c:spPr>
            <a:ln w="28575">
              <a:solidFill>
                <a:srgbClr val="F09A3E"/>
              </a:solidFill>
            </a:ln>
          </c:spPr>
          <c:marker>
            <c:symbol val="circle"/>
            <c:size val="6"/>
            <c:spPr>
              <a:solidFill>
                <a:srgbClr val="F09A3E"/>
              </a:solidFill>
              <a:ln>
                <a:solidFill>
                  <a:srgbClr val="F09A3E"/>
                </a:solidFill>
              </a:ln>
            </c:spPr>
          </c:marker>
          <c:cat>
            <c:strRef>
              <c:f>Sheet1!$A$2:$A$4</c:f>
              <c:strCache>
                <c:ptCount val="3"/>
                <c:pt idx="0">
                  <c:v>2</c:v>
                </c:pt>
                <c:pt idx="1">
                  <c:v>4</c:v>
                </c:pt>
                <c:pt idx="2">
                  <c:v>8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109.1</c:v>
                </c:pt>
                <c:pt idx="1">
                  <c:v>124.3</c:v>
                </c:pt>
                <c:pt idx="2">
                  <c:v>170.0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A774-4ADD-9089-DB4FCCB8654F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P2</c:v>
                </c:pt>
              </c:strCache>
            </c:strRef>
          </c:tx>
          <c:spPr>
            <a:ln w="28575">
              <a:solidFill>
                <a:srgbClr val="2E9C8F"/>
              </a:solidFill>
            </a:ln>
          </c:spPr>
          <c:marker>
            <c:symbol val="circle"/>
            <c:size val="6"/>
            <c:spPr>
              <a:solidFill>
                <a:srgbClr val="2E9C8F"/>
              </a:solidFill>
              <a:ln>
                <a:solidFill>
                  <a:srgbClr val="2E9C8F"/>
                </a:solidFill>
              </a:ln>
            </c:spPr>
          </c:marker>
          <c:cat>
            <c:strRef>
              <c:f>Sheet1!$A$2:$A$4</c:f>
              <c:strCache>
                <c:ptCount val="3"/>
                <c:pt idx="0">
                  <c:v>2</c:v>
                </c:pt>
                <c:pt idx="1">
                  <c:v>4</c:v>
                </c:pt>
                <c:pt idx="2">
                  <c:v>8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264.5</c:v>
                </c:pt>
                <c:pt idx="1">
                  <c:v>297.0</c:v>
                </c:pt>
                <c:pt idx="2">
                  <c:v>347.1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A774-4ADD-9089-DB4FCCB8654F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P3</c:v>
                </c:pt>
              </c:strCache>
            </c:strRef>
          </c:tx>
          <c:spPr>
            <a:ln w="28575">
              <a:solidFill>
                <a:srgbClr val="1F5F8B"/>
              </a:solidFill>
            </a:ln>
          </c:spPr>
          <c:marker>
            <c:symbol val="circle"/>
            <c:size val="6"/>
            <c:spPr>
              <a:solidFill>
                <a:srgbClr val="1F5F8B"/>
              </a:solidFill>
              <a:ln>
                <a:solidFill>
                  <a:srgbClr val="1F5F8B"/>
                </a:solidFill>
              </a:ln>
            </c:spPr>
          </c:marker>
          <c:cat>
            <c:strRef>
              <c:f>Sheet1!$A$2:$A$4</c:f>
              <c:strCache>
                <c:ptCount val="3"/>
                <c:pt idx="0">
                  <c:v>2</c:v>
                </c:pt>
                <c:pt idx="1">
                  <c:v>4</c:v>
                </c:pt>
                <c:pt idx="2">
                  <c:v>8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456.8</c:v>
                </c:pt>
                <c:pt idx="1">
                  <c:v>482.8</c:v>
                </c:pt>
                <c:pt idx="2">
                  <c:v>604.6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A774-4ADD-9089-DB4FCCB8654F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P3 · E-core</c:v>
                </c:pt>
              </c:strCache>
            </c:strRef>
          </c:tx>
          <c:spPr>
            <a:ln w="28575">
              <a:solidFill>
                <a:srgbClr val="1F5F8B"/>
              </a:solidFill>
              <a:prstDash val="dash"/>
            </a:ln>
          </c:spPr>
          <c:marker>
            <c:symbol val="circle"/>
            <c:size val="6"/>
            <c:spPr>
              <a:solidFill>
                <a:srgbClr val="1F5F8B"/>
              </a:solidFill>
              <a:ln>
                <a:solidFill>
                  <a:srgbClr val="1F5F8B"/>
                </a:solidFill>
              </a:ln>
            </c:spPr>
          </c:marker>
          <c:cat>
            <c:strRef>
              <c:f>Sheet1!$A$2:$A$4</c:f>
              <c:strCache>
                <c:ptCount val="3"/>
                <c:pt idx="0">
                  <c:v>2</c:v>
                </c:pt>
                <c:pt idx="1">
                  <c:v>4</c:v>
                </c:pt>
                <c:pt idx="2">
                  <c:v>8</c:v>
                </c:pt>
              </c:strCache>
            </c: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554.3</c:v>
                </c:pt>
                <c:pt idx="1">
                  <c:v>574.9</c:v>
                </c:pt>
                <c:pt idx="2">
                  <c:v>703.75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A774-4ADD-9089-DB4FCCB8654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lang="it-IT" sz="1200" b="0">
                    <a:solidFill>
                      <a:srgbClr val="6B7C93"/>
                    </a:solidFill>
                    <a:latin typeface="Calibri"/>
                  </a:rPr>
                  <a:t>neuroni per strato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spPr>
          <a:ln>
            <a:solidFill>
              <a:srgbClr val="C8D0DA"/>
            </a:solidFill>
          </a:ln>
        </c:spPr>
        <c:txPr>
          <a:bodyPr/>
          <a:lstStyle/>
          <a:p>
            <a:pPr>
              <a:defRPr sz="900">
                <a:solidFill>
                  <a:srgbClr val="4A5568"/>
                </a:solidFill>
                <a:latin typeface="Calibri"/>
              </a:defRPr>
            </a:pPr>
            <a:endParaRPr lang="it-IT"/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</c:scaling>
        <c:delete val="0"/>
        <c:axPos val="l"/>
        <c:majorGridlines>
          <c:spPr>
            <a:ln w="7620">
              <a:solidFill>
                <a:srgbClr val="E3E7ED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it-IT" sz="1100" b="0">
                    <a:solidFill>
                      <a:srgbClr val="6B7C93"/>
                    </a:solidFill>
                    <a:latin typeface="Calibri"/>
                  </a:rPr>
                  <a:t>ns di CPU per pacchetto</a:t>
                </a:r>
              </a:p>
            </c:rich>
          </c:tx>
          <c:overlay val="0"/>
        </c:title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2118791784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900">
              <a:solidFill>
                <a:srgbClr val="222B36"/>
              </a:solidFill>
            </a:defRPr>
          </a:pPr>
          <a:endParaRPr lang="it-IT"/>
        </a:p>
      </c:txPr>
    </c:legend>
    <c:plotVisOnly val="1"/>
    <c:dispBlanksAs val="gap"/>
    <c:showDLblsOverMax val="0"/>
  </c:chart>
  <c:txPr>
    <a:bodyPr/>
    <a:lstStyle/>
    <a:p>
      <a:pPr>
        <a:defRPr sz="900">
          <a:solidFill>
            <a:srgbClr val="4A5568"/>
          </a:solidFill>
          <a:latin typeface="Calibri"/>
        </a:defRPr>
      </a:pPr>
      <a:endParaRPr lang="it-IT"/>
    </a:p>
  </c:txPr>
  <c:externalData r:id="rId1">
    <c:autoUpdate val="0"/>
  </c:externalData>
</c:chartSpace>
</file>

<file path=ppt/charts/chart3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P1 statica</c:v>
                </c:pt>
              </c:strCache>
            </c:strRef>
          </c:tx>
          <c:spPr>
            <a:ln w="28575">
              <a:solidFill>
                <a:srgbClr val="C8551E"/>
              </a:solidFill>
            </a:ln>
          </c:spPr>
          <c:marker>
            <c:symbol val="circle"/>
            <c:size val="6"/>
            <c:spPr>
              <a:solidFill>
                <a:srgbClr val="C8551E"/>
              </a:solidFill>
              <a:ln>
                <a:solidFill>
                  <a:srgbClr val="C8551E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135.35</c:v>
                </c:pt>
                <c:pt idx="1">
                  <c:v>137.45</c:v>
                </c:pt>
                <c:pt idx="2">
                  <c:v>137.4</c:v>
                </c:pt>
                <c:pt idx="3">
                  <c:v>149.2</c:v>
                </c:pt>
                <c:pt idx="4">
                  <c:v>147.15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CB40-40F4-8AE4-87AB3DBEE21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P1.5</c:v>
                </c:pt>
              </c:strCache>
            </c:strRef>
          </c:tx>
          <c:spPr>
            <a:ln w="28575">
              <a:solidFill>
                <a:srgbClr val="F09A3E"/>
              </a:solidFill>
            </a:ln>
          </c:spPr>
          <c:marker>
            <c:symbol val="circle"/>
            <c:size val="6"/>
            <c:spPr>
              <a:solidFill>
                <a:srgbClr val="F09A3E"/>
              </a:solidFill>
              <a:ln>
                <a:solidFill>
                  <a:srgbClr val="F09A3E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142.35</c:v>
                </c:pt>
                <c:pt idx="1">
                  <c:v>141.85</c:v>
                </c:pt>
                <c:pt idx="2">
                  <c:v>146.45</c:v>
                </c:pt>
                <c:pt idx="3">
                  <c:v>158.2</c:v>
                </c:pt>
                <c:pt idx="4">
                  <c:v>152.85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CB40-40F4-8AE4-87AB3DBEE21D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P2</c:v>
                </c:pt>
              </c:strCache>
            </c:strRef>
          </c:tx>
          <c:spPr>
            <a:ln w="28575">
              <a:solidFill>
                <a:srgbClr val="2E9C8F"/>
              </a:solidFill>
            </a:ln>
          </c:spPr>
          <c:marker>
            <c:symbol val="circle"/>
            <c:size val="6"/>
            <c:spPr>
              <a:solidFill>
                <a:srgbClr val="2E9C8F"/>
              </a:solidFill>
              <a:ln>
                <a:solidFill>
                  <a:srgbClr val="2E9C8F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277.4</c:v>
                </c:pt>
                <c:pt idx="1">
                  <c:v>298.0</c:v>
                </c:pt>
                <c:pt idx="2">
                  <c:v>317.65</c:v>
                </c:pt>
                <c:pt idx="3">
                  <c:v>366.95</c:v>
                </c:pt>
                <c:pt idx="4">
                  <c:v>378.45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CB40-40F4-8AE4-87AB3DBEE21D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P3</c:v>
                </c:pt>
              </c:strCache>
            </c:strRef>
          </c:tx>
          <c:spPr>
            <a:ln w="28575">
              <a:solidFill>
                <a:srgbClr val="1F5F8B"/>
              </a:solidFill>
            </a:ln>
          </c:spPr>
          <c:marker>
            <c:symbol val="circle"/>
            <c:size val="6"/>
            <c:spPr>
              <a:solidFill>
                <a:srgbClr val="1F5F8B"/>
              </a:solidFill>
              <a:ln>
                <a:solidFill>
                  <a:srgbClr val="1F5F8B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</c:strCache>
            </c: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423.1</c:v>
                </c:pt>
                <c:pt idx="1">
                  <c:v>480.65</c:v>
                </c:pt>
                <c:pt idx="2">
                  <c:v>514.6</c:v>
                </c:pt>
                <c:pt idx="3">
                  <c:v>618.05</c:v>
                </c:pt>
                <c:pt idx="4">
                  <c:v>643.35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CB40-40F4-8AE4-87AB3DBEE21D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P3 · E-core</c:v>
                </c:pt>
              </c:strCache>
            </c:strRef>
          </c:tx>
          <c:spPr>
            <a:ln w="28575">
              <a:solidFill>
                <a:srgbClr val="1F5F8B"/>
              </a:solidFill>
              <a:prstDash val="dash"/>
            </a:ln>
          </c:spPr>
          <c:marker>
            <c:symbol val="circle"/>
            <c:size val="6"/>
            <c:spPr>
              <a:solidFill>
                <a:srgbClr val="1F5F8B"/>
              </a:solidFill>
              <a:ln>
                <a:solidFill>
                  <a:srgbClr val="1F5F8B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</c:strCache>
            </c:strRef>
          </c:cat>
          <c:val>
            <c:numRef>
              <c:f>Sheet1!$F$2:$F$6</c:f>
              <c:numCache>
                <c:formatCode>General</c:formatCode>
                <c:ptCount val="5"/>
                <c:pt idx="0">
                  <c:v>498.3</c:v>
                </c:pt>
                <c:pt idx="1">
                  <c:v>560.95</c:v>
                </c:pt>
                <c:pt idx="2">
                  <c:v>615.0</c:v>
                </c:pt>
                <c:pt idx="3">
                  <c:v>732.4</c:v>
                </c:pt>
                <c:pt idx="4">
                  <c:v>772.05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CB40-40F4-8AE4-87AB3DBEE21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lang="it-IT" sz="1200" b="0">
                    <a:solidFill>
                      <a:srgbClr val="6B7C93"/>
                    </a:solidFill>
                    <a:latin typeface="Calibri"/>
                  </a:rPr>
                  <a:t>strati, a ~592 pesi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spPr>
          <a:ln>
            <a:solidFill>
              <a:srgbClr val="C8D0DA"/>
            </a:solidFill>
          </a:ln>
        </c:spPr>
        <c:txPr>
          <a:bodyPr/>
          <a:lstStyle/>
          <a:p>
            <a:pPr>
              <a:defRPr sz="900">
                <a:solidFill>
                  <a:srgbClr val="4A5568"/>
                </a:solidFill>
                <a:latin typeface="Calibri"/>
              </a:defRPr>
            </a:pPr>
            <a:endParaRPr lang="it-IT"/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</c:scaling>
        <c:delete val="0"/>
        <c:axPos val="l"/>
        <c:majorGridlines>
          <c:spPr>
            <a:ln w="7620">
              <a:solidFill>
                <a:srgbClr val="E3E7ED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it-IT" sz="1100" b="0">
                    <a:solidFill>
                      <a:srgbClr val="6B7C93"/>
                    </a:solidFill>
                    <a:latin typeface="Calibri"/>
                  </a:rPr>
                  <a:t>ns di CPU per pacchetto</a:t>
                </a:r>
              </a:p>
            </c:rich>
          </c:tx>
          <c:overlay val="0"/>
        </c:title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2118791784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900">
              <a:solidFill>
                <a:srgbClr val="222B36"/>
              </a:solidFill>
            </a:defRPr>
          </a:pPr>
          <a:endParaRPr lang="it-IT"/>
        </a:p>
      </c:txPr>
    </c:legend>
    <c:plotVisOnly val="1"/>
    <c:dispBlanksAs val="gap"/>
    <c:showDLblsOverMax val="0"/>
  </c:chart>
  <c:txPr>
    <a:bodyPr/>
    <a:lstStyle/>
    <a:p>
      <a:pPr>
        <a:defRPr sz="900">
          <a:solidFill>
            <a:srgbClr val="4A5568"/>
          </a:solidFill>
          <a:latin typeface="Calibri"/>
        </a:defRPr>
      </a:pPr>
      <a:endParaRPr lang="it-IT"/>
    </a:p>
  </c:txPr>
  <c:externalData r:id="rId1">
    <c:autoUpdate val="0"/>
  </c:externalData>
</c:chartSpace>
</file>

<file path=ppt/charts/chart3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nodo saturo (tempo di CPU)</c:v>
                </c:pt>
              </c:strCache>
            </c:strRef>
          </c:tx>
          <c:spPr>
            <a:ln w="28575">
              <a:solidFill>
                <a:srgbClr val="8A96A8"/>
              </a:solidFill>
              <a:prstDash val="dash"/>
            </a:ln>
          </c:spPr>
          <c:marker>
            <c:symbol val="circle"/>
            <c:size val="6"/>
            <c:spPr>
              <a:solidFill>
                <a:srgbClr val="8A96A8"/>
              </a:solidFill>
              <a:ln>
                <a:solidFill>
                  <a:srgbClr val="8A96A8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6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183.3</c:v>
                </c:pt>
                <c:pt idx="1">
                  <c:v>198.9</c:v>
                </c:pt>
                <c:pt idx="2">
                  <c:v>240.15</c:v>
                </c:pt>
                <c:pt idx="3">
                  <c:v>245.2</c:v>
                </c:pt>
                <c:pt idx="4">
                  <c:v>282.25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CB40-40F4-8AE4-87AB3DBEE21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traffico leggero, minimo</c:v>
                </c:pt>
              </c:strCache>
            </c:strRef>
          </c:tx>
          <c:spPr>
            <a:ln w="28575">
              <a:solidFill>
                <a:srgbClr val="9CD4CC"/>
              </a:solidFill>
            </a:ln>
          </c:spPr>
          <c:marker>
            <c:symbol val="circle"/>
            <c:size val="6"/>
            <c:spPr>
              <a:solidFill>
                <a:srgbClr val="9CD4CC"/>
              </a:solidFill>
              <a:ln>
                <a:solidFill>
                  <a:srgbClr val="9CD4CC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6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164.0</c:v>
                </c:pt>
                <c:pt idx="1">
                  <c:v>176.5</c:v>
                </c:pt>
                <c:pt idx="2">
                  <c:v>210.0</c:v>
                </c:pt>
                <c:pt idx="3">
                  <c:v>224.0</c:v>
                </c:pt>
                <c:pt idx="4">
                  <c:v>255.0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CB40-40F4-8AE4-87AB3DBEE21D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traffico leggero, media</c:v>
                </c:pt>
              </c:strCache>
            </c:strRef>
          </c:tx>
          <c:spPr>
            <a:ln w="28575">
              <a:solidFill>
                <a:srgbClr val="2E9C8F"/>
              </a:solidFill>
            </a:ln>
          </c:spPr>
          <c:marker>
            <c:symbol val="circle"/>
            <c:size val="6"/>
            <c:spPr>
              <a:solidFill>
                <a:srgbClr val="2E9C8F"/>
              </a:solidFill>
              <a:ln>
                <a:solidFill>
                  <a:srgbClr val="2E9C8F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6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189.0</c:v>
                </c:pt>
                <c:pt idx="1">
                  <c:v>203.25</c:v>
                </c:pt>
                <c:pt idx="2">
                  <c:v>235.0</c:v>
                </c:pt>
                <c:pt idx="3">
                  <c:v>254.5</c:v>
                </c:pt>
                <c:pt idx="4">
                  <c:v>278.25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CB40-40F4-8AE4-87AB3DBEE21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lang="it-IT" sz="1200" b="0">
                    <a:solidFill>
                      <a:srgbClr val="6B7C93"/>
                    </a:solidFill>
                    <a:latin typeface="Calibri"/>
                  </a:rPr>
                  <a:t>strati nascosti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spPr>
          <a:ln>
            <a:solidFill>
              <a:srgbClr val="C8D0DA"/>
            </a:solidFill>
          </a:ln>
        </c:spPr>
        <c:txPr>
          <a:bodyPr/>
          <a:lstStyle/>
          <a:p>
            <a:pPr>
              <a:defRPr sz="900">
                <a:solidFill>
                  <a:srgbClr val="4A5568"/>
                </a:solidFill>
                <a:latin typeface="Calibri"/>
              </a:defRPr>
            </a:pPr>
            <a:endParaRPr lang="it-IT"/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  <c:max val="400.0"/>
          <c:min val="0.0"/>
        </c:scaling>
        <c:delete val="0"/>
        <c:axPos val="l"/>
        <c:majorGridlines>
          <c:spPr>
            <a:ln w="7620">
              <a:solidFill>
                <a:srgbClr val="E3E7ED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it-IT" sz="1100" b="0">
                    <a:solidFill>
                      <a:srgbClr val="6B7C93"/>
                    </a:solidFill>
                    <a:latin typeface="Calibri"/>
                  </a:rPr>
                  <a:t>ns di rete neurale per pacchetto</a:t>
                </a:r>
              </a:p>
            </c:rich>
          </c:tx>
          <c:overlay val="0"/>
        </c:title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2118791784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900">
              <a:solidFill>
                <a:srgbClr val="222B36"/>
              </a:solidFill>
            </a:defRPr>
          </a:pPr>
          <a:endParaRPr lang="it-IT"/>
        </a:p>
      </c:txPr>
    </c:legend>
    <c:plotVisOnly val="1"/>
    <c:dispBlanksAs val="gap"/>
    <c:showDLblsOverMax val="0"/>
  </c:chart>
  <c:txPr>
    <a:bodyPr/>
    <a:lstStyle/>
    <a:p>
      <a:pPr>
        <a:defRPr sz="900">
          <a:solidFill>
            <a:srgbClr val="4A5568"/>
          </a:solidFill>
          <a:latin typeface="Calibri"/>
        </a:defRPr>
      </a:pPr>
      <a:endParaRPr lang="it-IT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C3879A1-F61F-48C8-BDB5-E7C8A8D88EAE}" type="datetimeFigureOut">
              <a:rPr lang="it-IT" smtClean="0"/>
              <a:t>25/09/2026</a:t>
            </a:fld>
            <a:endParaRPr lang="it-IT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FE7E320-C24E-445B-B52B-8A723E9346E3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5070359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FE7E320-C24E-445B-B52B-8A723E9346E3}" type="slidenum">
              <a:rPr lang="it-IT" smtClean="0"/>
              <a:t>3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943669624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9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1.xml"/><Relationship Id="rId3" Type="http://schemas.openxmlformats.org/officeDocument/2006/relationships/chart" Target="../charts/chart2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7.xml"/><Relationship Id="rId3" Type="http://schemas.openxmlformats.org/officeDocument/2006/relationships/chart" Target="../charts/chart18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9.xml"/><Relationship Id="rId3" Type="http://schemas.openxmlformats.org/officeDocument/2006/relationships/chart" Target="../charts/chart20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4.xml"/><Relationship Id="rId3" Type="http://schemas.openxmlformats.org/officeDocument/2006/relationships/chart" Target="../charts/chart2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3.xml"/><Relationship Id="rId3" Type="http://schemas.openxmlformats.org/officeDocument/2006/relationships/chart" Target="../charts/chart1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6.xml"/><Relationship Id="rId3" Type="http://schemas.openxmlformats.org/officeDocument/2006/relationships/chart" Target="../charts/chart2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1.xml"/><Relationship Id="rId3" Type="http://schemas.openxmlformats.org/officeDocument/2006/relationships/chart" Target="../charts/chart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5.xml"/><Relationship Id="rId3" Type="http://schemas.openxmlformats.org/officeDocument/2006/relationships/chart" Target="../charts/chart1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9.xml"/><Relationship Id="rId3" Type="http://schemas.openxmlformats.org/officeDocument/2006/relationships/chart" Target="../charts/chart30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1.xml"/><Relationship Id="rId3" Type="http://schemas.openxmlformats.org/officeDocument/2006/relationships/chart" Target="../charts/chart3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0.xml"/><Relationship Id="rId3" Type="http://schemas.openxmlformats.org/officeDocument/2006/relationships/chart" Target="../charts/chart3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Relationship Id="rId3" Type="http://schemas.openxmlformats.org/officeDocument/2006/relationships/chart" Target="../charts/chart4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Relationship Id="rId3" Type="http://schemas.openxmlformats.org/officeDocument/2006/relationships/chart" Target="../charts/chart6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3A5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E07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 i="0">
                <a:solidFill>
                  <a:srgbClr val="F2B134"/>
                </a:solidFill>
                <a:latin typeface="Calibri"/>
              </a:rPr>
              <a:t>TESI  ·  EBPF / XDP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600200"/>
            <a:ext cx="10332720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600" b="1" i="0">
                <a:solidFill>
                  <a:srgbClr val="FFFFFF"/>
                </a:solidFill>
                <a:latin typeface="Calibri"/>
              </a:rPr>
              <a:t>Inferenza di una rete neurale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600" b="1" i="0">
                <a:solidFill>
                  <a:srgbClr val="FFFFFF"/>
                </a:solidFill>
                <a:latin typeface="Calibri"/>
              </a:rPr>
              <a:t>nel kernel Linux con eBPF/XDP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429000"/>
            <a:ext cx="96012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0" i="0">
                <a:solidFill>
                  <a:srgbClr val="D6DEE9"/>
                </a:solidFill>
                <a:latin typeface="Calibri"/>
              </a:rPr>
              <a:t>Quattro versioni della stessa rete neurale, misurate sul traffico vero su 91 modelli diversi: quanto costa un pacchetto, quante istruzioni esegue, e che cosa cambia da un P-core a un E-core.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4892040"/>
            <a:ext cx="2011680" cy="45720"/>
          </a:xfrm>
          <a:prstGeom prst="rect">
            <a:avLst/>
          </a:prstGeom>
          <a:solidFill>
            <a:srgbClr val="F2B1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5120640"/>
            <a:ext cx="7315200" cy="65671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 i="0" dirty="0">
                <a:solidFill>
                  <a:srgbClr val="FFFFFF"/>
                </a:solidFill>
                <a:latin typeface="Calibri"/>
              </a:rPr>
              <a:t>Ettore Cantile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 i="0" dirty="0">
                <a:solidFill>
                  <a:srgbClr val="FFFFFF"/>
                </a:solidFill>
                <a:latin typeface="Calibri"/>
              </a:rPr>
              <a:t>ottobre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LE QUATTRO VERSIONI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Stessa rete, quattro modi di scriverla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100" b="0" i="0">
                <a:solidFill>
                  <a:srgbClr val="6B7C93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>
                <a:solidFill>
                  <a:srgbClr val="6B7C93"/>
                </a:solidFill>
                <a:latin typeface="Calibri"/>
              </a:rPr>
              <a:t>Arancione = già noto quando si compila  ·  verde = letto mentre il nodo gira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08760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 i="0">
                <a:solidFill>
                  <a:srgbClr val="222B36"/>
                </a:solidFill>
                <a:latin typeface="Calibri"/>
              </a:rPr>
              <a:t>Tutte e quattro calcolano lo stesso modello e prendono la stessa decisione: verificato su 91 modelli (85 per P2, che ha un tetto sui pesi). Cambia solo </a:t>
            </a:r>
            <a:r>
              <a:rPr sz="1800" b="1" i="0">
                <a:solidFill>
                  <a:srgbClr val="222B36"/>
                </a:solidFill>
                <a:latin typeface="Calibri"/>
              </a:rPr>
              <a:t>quanto sanno già</a:t>
            </a:r>
            <a:r>
              <a:rPr sz="1800" b="0" i="0">
                <a:solidFill>
                  <a:srgbClr val="222B36"/>
                </a:solidFill>
                <a:latin typeface="Calibri"/>
              </a:rPr>
              <a:t> quando vengono compilate.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04511093"/>
              </p:ext>
            </p:extLst>
          </p:nvPr>
        </p:nvGraphicFramePr>
        <p:xfrm>
          <a:off x="548640" y="2148840"/>
          <a:ext cx="11064236" cy="25146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26958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076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9675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0762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17502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0762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lang="it-IT" sz="1500" b="1" i="0">
                          <a:solidFill>
                            <a:srgbClr val="FFFFFF"/>
                          </a:solidFill>
                          <a:latin typeface="Calibri"/>
                        </a:rPr>
                        <a:t>Versione</a:t>
                      </a:r>
                      <a:endParaRPr sz="1500" b="1" i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500" b="1" i="0">
                          <a:solidFill>
                            <a:srgbClr val="FFFFFF"/>
                          </a:solidFill>
                          <a:latin typeface="Calibri"/>
                        </a:rPr>
                        <a:t>Nodo</a:t>
                      </a:r>
                      <a:endParaRPr sz="1500" b="1" i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500" b="1" i="0">
                          <a:solidFill>
                            <a:srgbClr val="FFFFFF"/>
                          </a:solidFill>
                          <a:latin typeface="Calibri"/>
                        </a:rPr>
                        <a:t>Porte del nodo</a:t>
                      </a:r>
                      <a:endParaRPr sz="1500" b="1" i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500" b="1" i="0">
                          <a:solidFill>
                            <a:srgbClr val="FFFFFF"/>
                          </a:solidFill>
                          <a:latin typeface="Calibri"/>
                        </a:rPr>
                        <a:t>Pesi</a:t>
                      </a:r>
                      <a:endParaRPr sz="1500" b="1" i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500" b="1" i="0">
                          <a:solidFill>
                            <a:srgbClr val="FFFFFF"/>
                          </a:solidFill>
                          <a:latin typeface="Calibri"/>
                        </a:rPr>
                        <a:t>Forma della rete</a:t>
                      </a:r>
                      <a:endParaRPr sz="1500" b="1" i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500" b="1" i="0">
                          <a:solidFill>
                            <a:srgbClr val="FFFFFF"/>
                          </a:solidFill>
                          <a:latin typeface="Calibri"/>
                        </a:rPr>
                        <a:t>Profondità</a:t>
                      </a:r>
                      <a:endParaRPr sz="1500" b="1" i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lang="it-IT" sz="1500" b="1" i="0">
                          <a:solidFill>
                            <a:srgbClr val="222B36"/>
                          </a:solidFill>
                          <a:latin typeface="Calibri"/>
                        </a:rPr>
                        <a:t>P1  ·  p1_static</a:t>
                      </a:r>
                      <a:endParaRPr sz="1500" b="1" i="0">
                        <a:solidFill>
                          <a:srgbClr val="222B36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500" b="0" i="0">
                          <a:solidFill>
                            <a:srgbClr val="FFFFFF"/>
                          </a:solidFill>
                          <a:latin typeface="Calibri"/>
                        </a:rPr>
                        <a:t>compilato</a:t>
                      </a:r>
                      <a:endParaRPr sz="1500" b="0" i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E07A2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500" b="0" i="0">
                          <a:solidFill>
                            <a:srgbClr val="FFFFFF"/>
                          </a:solidFill>
                          <a:latin typeface="Calibri"/>
                        </a:rPr>
                        <a:t>compilabili *</a:t>
                      </a:r>
                      <a:endParaRPr sz="1500" b="0" i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E07A2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500" b="0" i="0">
                          <a:solidFill>
                            <a:srgbClr val="FFFFFF"/>
                          </a:solidFill>
                          <a:latin typeface="Calibri"/>
                        </a:rPr>
                        <a:t>compilati</a:t>
                      </a:r>
                      <a:endParaRPr sz="1500" b="0" i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E07A2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500" b="0" i="0">
                          <a:solidFill>
                            <a:srgbClr val="FFFFFF"/>
                          </a:solidFill>
                          <a:latin typeface="Calibri"/>
                        </a:rPr>
                        <a:t>compilata</a:t>
                      </a:r>
                      <a:endParaRPr sz="1500" b="0" i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E07A2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500" b="0" i="0">
                          <a:solidFill>
                            <a:srgbClr val="FFFFFF"/>
                          </a:solidFill>
                          <a:latin typeface="Calibri"/>
                        </a:rPr>
                        <a:t>compilata</a:t>
                      </a:r>
                      <a:endParaRPr sz="1500" b="0" i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E07A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lang="it-IT" sz="1500" b="1" i="0">
                          <a:solidFill>
                            <a:srgbClr val="222B36"/>
                          </a:solidFill>
                          <a:latin typeface="Calibri"/>
                        </a:rPr>
                        <a:t>P1.5  ·  hardcoded</a:t>
                      </a:r>
                      <a:endParaRPr sz="1500" b="1" i="0">
                        <a:solidFill>
                          <a:srgbClr val="222B36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500" b="0" i="0">
                          <a:solidFill>
                            <a:srgbClr val="FFFFFF"/>
                          </a:solidFill>
                          <a:latin typeface="Calibri"/>
                        </a:rPr>
                        <a:t>da tabella</a:t>
                      </a:r>
                      <a:endParaRPr sz="1500" b="0" i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2E9C6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500" b="0" i="0">
                          <a:solidFill>
                            <a:srgbClr val="FFFFFF"/>
                          </a:solidFill>
                          <a:latin typeface="Calibri"/>
                        </a:rPr>
                        <a:t>tutte previste</a:t>
                      </a:r>
                      <a:endParaRPr sz="1500" b="0" i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2E9C6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500" b="0" i="0">
                          <a:solidFill>
                            <a:srgbClr val="FFFFFF"/>
                          </a:solidFill>
                          <a:latin typeface="Calibri"/>
                        </a:rPr>
                        <a:t>compilati</a:t>
                      </a:r>
                      <a:endParaRPr sz="1500" b="0" i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E07A2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500" b="0" i="0">
                          <a:solidFill>
                            <a:srgbClr val="FFFFFF"/>
                          </a:solidFill>
                          <a:latin typeface="Calibri"/>
                        </a:rPr>
                        <a:t>compilata</a:t>
                      </a:r>
                      <a:endParaRPr sz="1500" b="0" i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E07A2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500" b="0" i="0">
                          <a:solidFill>
                            <a:srgbClr val="FFFFFF"/>
                          </a:solidFill>
                          <a:latin typeface="Calibri"/>
                        </a:rPr>
                        <a:t>compilata</a:t>
                      </a:r>
                      <a:endParaRPr sz="1500" b="0" i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E07A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lang="it-IT" sz="1500" b="1" i="0">
                          <a:solidFill>
                            <a:srgbClr val="222B36"/>
                          </a:solidFill>
                          <a:latin typeface="Calibri"/>
                        </a:rPr>
                        <a:t>P2  ·  template</a:t>
                      </a:r>
                      <a:endParaRPr sz="1500" b="1" i="0">
                        <a:solidFill>
                          <a:srgbClr val="222B36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500" b="0" i="0">
                          <a:solidFill>
                            <a:srgbClr val="FFFFFF"/>
                          </a:solidFill>
                          <a:latin typeface="Calibri"/>
                        </a:rPr>
                        <a:t>da tabella</a:t>
                      </a:r>
                      <a:endParaRPr sz="1500" b="0" i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2E9C6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500" b="0" i="0">
                          <a:solidFill>
                            <a:srgbClr val="FFFFFF"/>
                          </a:solidFill>
                          <a:latin typeface="Calibri"/>
                        </a:rPr>
                        <a:t>tutte previste</a:t>
                      </a:r>
                      <a:endParaRPr sz="1500" b="0" i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2E9C6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500" b="0" i="0">
                          <a:solidFill>
                            <a:srgbClr val="FFFFFF"/>
                          </a:solidFill>
                          <a:latin typeface="Calibri"/>
                        </a:rPr>
                        <a:t>da tabella</a:t>
                      </a:r>
                      <a:endParaRPr sz="1500" b="0" i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2E9C6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500" b="0" i="0">
                          <a:solidFill>
                            <a:srgbClr val="FFFFFF"/>
                          </a:solidFill>
                          <a:latin typeface="Calibri"/>
                        </a:rPr>
                        <a:t>entro limiti fissi</a:t>
                      </a:r>
                      <a:endParaRPr sz="1500" b="0" i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E07A2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500" b="0" i="0">
                          <a:solidFill>
                            <a:srgbClr val="FFFFFF"/>
                          </a:solidFill>
                          <a:latin typeface="Calibri"/>
                        </a:rPr>
                        <a:t>compilata</a:t>
                      </a:r>
                      <a:endParaRPr sz="1500" b="0" i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E07A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lang="it-IT" sz="1500" b="1" i="0">
                          <a:solidFill>
                            <a:srgbClr val="222B36"/>
                          </a:solidFill>
                          <a:latin typeface="Calibri"/>
                        </a:rPr>
                        <a:t>P3  ·  modular</a:t>
                      </a:r>
                      <a:endParaRPr sz="1500" b="1" i="0">
                        <a:solidFill>
                          <a:srgbClr val="222B36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500" b="0" i="0">
                          <a:solidFill>
                            <a:srgbClr val="FFFFFF"/>
                          </a:solidFill>
                          <a:latin typeface="Calibri"/>
                        </a:rPr>
                        <a:t>da tabella</a:t>
                      </a:r>
                      <a:endParaRPr sz="1500" b="0" i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2E9C6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500" b="0" i="0">
                          <a:solidFill>
                            <a:srgbClr val="FFFFFF"/>
                          </a:solidFill>
                          <a:latin typeface="Calibri"/>
                        </a:rPr>
                        <a:t>tutte previste</a:t>
                      </a:r>
                      <a:endParaRPr sz="1500" b="0" i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2E9C6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500" b="0" i="0">
                          <a:solidFill>
                            <a:srgbClr val="FFFFFF"/>
                          </a:solidFill>
                          <a:latin typeface="Calibri"/>
                        </a:rPr>
                        <a:t>da tabella</a:t>
                      </a:r>
                      <a:endParaRPr sz="1500" b="0" i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2E9C6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500" b="0" i="0">
                          <a:solidFill>
                            <a:srgbClr val="FFFFFF"/>
                          </a:solidFill>
                          <a:latin typeface="Calibri"/>
                        </a:rPr>
                        <a:t>da tabella</a:t>
                      </a:r>
                      <a:endParaRPr sz="1500" b="0" i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2E9C6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500" b="0" i="0">
                          <a:solidFill>
                            <a:srgbClr val="FFFFFF"/>
                          </a:solidFill>
                          <a:latin typeface="Calibri"/>
                        </a:rPr>
                        <a:t>da tabella</a:t>
                      </a:r>
                      <a:endParaRPr sz="1500" b="0" i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2E9C6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4754880"/>
            <a:ext cx="1106424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 i="0">
                <a:solidFill>
                  <a:srgbClr val="222B36"/>
                </a:solidFill>
                <a:latin typeface="Calibri"/>
              </a:rPr>
              <a:t>* Solo P1 statica può congelare anche </a:t>
            </a:r>
            <a:r>
              <a:rPr sz="1300" b="1" i="0">
                <a:solidFill>
                  <a:srgbClr val="222B36"/>
                </a:solidFill>
                <a:latin typeface="Calibri"/>
              </a:rPr>
              <a:t>quali interfacce il nodo ha davvero</a:t>
            </a:r>
            <a:r>
              <a:rPr sz="1300" b="0" i="0">
                <a:solidFill>
                  <a:srgbClr val="222B36"/>
                </a:solidFill>
                <a:latin typeface="Calibri"/>
              </a:rPr>
              <a:t>: le colonne dei collegamenti che non esistono non vengono generate (se un link è su o giù resta letto a runtime). Serve il nodo congelato, perché le porte dipendono da quale nodo si è. Le misure di queste slide usano tutte le porte.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5532120"/>
            <a:ext cx="11094415" cy="731520"/>
          </a:xfrm>
          <a:prstGeom prst="roundRect">
            <a:avLst>
              <a:gd name="adj" fmla="val 6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2960" y="5532120"/>
            <a:ext cx="10545775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700" b="0" i="0">
                <a:solidFill>
                  <a:srgbClr val="FFFFFF"/>
                </a:solidFill>
                <a:latin typeface="Calibri"/>
              </a:rPr>
              <a:t>Più informazioni sposto dalla compilazione all'esecuzione, più il programma diventa </a:t>
            </a:r>
            <a:r>
              <a:rPr sz="1700" b="1" i="0">
                <a:solidFill>
                  <a:srgbClr val="FFFFFF"/>
                </a:solidFill>
                <a:latin typeface="Calibri"/>
              </a:rPr>
              <a:t>riutilizzabile</a:t>
            </a:r>
            <a:r>
              <a:rPr sz="1700" b="0" i="0">
                <a:solidFill>
                  <a:srgbClr val="FFFFFF"/>
                </a:solidFill>
                <a:latin typeface="Calibri"/>
              </a:rPr>
              <a:t> — e più cresce il </a:t>
            </a:r>
            <a:r>
              <a:rPr sz="1700" b="1" i="0">
                <a:solidFill>
                  <a:srgbClr val="FFFFFF"/>
                </a:solidFill>
                <a:latin typeface="Calibri"/>
              </a:rPr>
              <a:t>costo per pacchetto</a:t>
            </a:r>
            <a:r>
              <a:rPr sz="1700" b="0" i="0">
                <a:solidFill>
                  <a:srgbClr val="FFFFFF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IL NODO SOTTO TRAFFICO · P-CORE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Quanto costa un pacchetto al nodo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1769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lang="it-IT" sz="1100" b="0" i="0">
                <a:solidFill>
                  <a:srgbClr val="6B7C93"/>
                </a:solidFill>
                <a:latin typeface="Calibri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>
                <a:solidFill>
                  <a:srgbClr val="6B7C93"/>
                </a:solidFill>
                <a:latin typeface="Calibri"/>
              </a:rPr>
              <a:t>64 byte, P-core a 3,5 GHz  ·  barre: mediana su 91 modelli (P2: 85)  ·  schede: dal modello più leggero al più pesante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417320"/>
          <a:ext cx="7223760" cy="41605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955279" y="1554480"/>
            <a:ext cx="3749039" cy="91440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955279" y="1554480"/>
            <a:ext cx="82296" cy="914400"/>
          </a:xfrm>
          <a:prstGeom prst="rect">
            <a:avLst/>
          </a:prstGeom>
          <a:solidFill>
            <a:srgbClr val="9AA5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183879" y="1664208"/>
            <a:ext cx="1463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 i="0">
                <a:solidFill>
                  <a:srgbClr val="6B7C93"/>
                </a:solidFill>
                <a:latin typeface="Calibri"/>
              </a:rPr>
              <a:t>baseline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0" y="1600200"/>
            <a:ext cx="21031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2800" b="1" i="0">
                <a:solidFill>
                  <a:srgbClr val="1F3A5F"/>
                </a:solidFill>
                <a:latin typeface="Calibri"/>
              </a:rPr>
              <a:t>67 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83879" y="2103120"/>
            <a:ext cx="3429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300" b="0" i="0">
                <a:solidFill>
                  <a:srgbClr val="222B36"/>
                </a:solidFill>
                <a:latin typeface="Calibri"/>
              </a:rPr>
              <a:t>15,0 M pacchetti/s, 91 modelli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55279" y="2578608"/>
            <a:ext cx="3749039" cy="91440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7955279" y="2578608"/>
            <a:ext cx="82296" cy="914400"/>
          </a:xfrm>
          <a:prstGeom prst="rect">
            <a:avLst/>
          </a:prstGeom>
          <a:solidFill>
            <a:srgbClr val="F09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183879" y="2688336"/>
            <a:ext cx="1463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 i="0">
                <a:solidFill>
                  <a:srgbClr val="6B7C93"/>
                </a:solidFill>
                <a:latin typeface="Calibri"/>
              </a:rPr>
              <a:t>P1 / P1.5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09760" y="2624328"/>
            <a:ext cx="21031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2800" b="1" i="0">
                <a:solidFill>
                  <a:srgbClr val="1F3A5F"/>
                </a:solidFill>
                <a:latin typeface="Calibri"/>
              </a:rPr>
              <a:t>85–222 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83879" y="3127248"/>
            <a:ext cx="3429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300" b="0" i="0">
                <a:solidFill>
                  <a:srgbClr val="222B36"/>
                </a:solidFill>
                <a:latin typeface="Calibri"/>
              </a:rPr>
              <a:t>4,5–11,7 M pacchetti/s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55279" y="3602736"/>
            <a:ext cx="3749039" cy="91440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7955279" y="3602736"/>
            <a:ext cx="82296" cy="914400"/>
          </a:xfrm>
          <a:prstGeom prst="rect">
            <a:avLst/>
          </a:prstGeom>
          <a:solidFill>
            <a:srgbClr val="2E9C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183879" y="3712464"/>
            <a:ext cx="1463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 i="0">
                <a:solidFill>
                  <a:srgbClr val="6B7C93"/>
                </a:solidFill>
                <a:latin typeface="Calibri"/>
              </a:rPr>
              <a:t>P2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09760" y="3648456"/>
            <a:ext cx="21031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2800" b="1" i="0">
                <a:solidFill>
                  <a:srgbClr val="1F3A5F"/>
                </a:solidFill>
                <a:latin typeface="Calibri"/>
              </a:rPr>
              <a:t>196–512 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83879" y="4151376"/>
            <a:ext cx="3429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300" b="0" i="0">
                <a:solidFill>
                  <a:srgbClr val="222B36"/>
                </a:solidFill>
                <a:latin typeface="Calibri"/>
              </a:rPr>
              <a:t>2,0–5,1 M pacchetti/s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955279" y="4626864"/>
            <a:ext cx="3749039" cy="91440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7955279" y="4626864"/>
            <a:ext cx="82296" cy="914400"/>
          </a:xfrm>
          <a:prstGeom prst="rect">
            <a:avLst/>
          </a:prstGeom>
          <a:solidFill>
            <a:srgbClr val="1F5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183879" y="4736592"/>
            <a:ext cx="1463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 i="0">
                <a:solidFill>
                  <a:srgbClr val="6B7C93"/>
                </a:solidFill>
                <a:latin typeface="Calibri"/>
              </a:rPr>
              <a:t>P3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509760" y="4672584"/>
            <a:ext cx="21031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2800" b="1" i="0">
                <a:solidFill>
                  <a:srgbClr val="1F3A5F"/>
                </a:solidFill>
                <a:latin typeface="Calibri"/>
              </a:rPr>
              <a:t>307–918 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83879" y="5175504"/>
            <a:ext cx="3429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300" b="0" i="0">
                <a:solidFill>
                  <a:srgbClr val="222B36"/>
                </a:solidFill>
                <a:latin typeface="Calibri"/>
              </a:rPr>
              <a:t>1,1–3,3 M pacchetti/s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5669280"/>
            <a:ext cx="11094415" cy="685800"/>
          </a:xfrm>
          <a:prstGeom prst="roundRect">
            <a:avLst>
              <a:gd name="adj" fmla="val 6000"/>
            </a:avLst>
          </a:prstGeom>
          <a:solidFill>
            <a:srgbClr val="FFF4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548640" y="5669280"/>
            <a:ext cx="82296" cy="685800"/>
          </a:xfrm>
          <a:prstGeom prst="rect">
            <a:avLst/>
          </a:prstGeom>
          <a:solidFill>
            <a:srgbClr val="F2B1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22960" y="574243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1" i="0">
                <a:solidFill>
                  <a:srgbClr val="B57A00"/>
                </a:solidFill>
                <a:latin typeface="Calibri"/>
              </a:rPr>
              <a:t>QUINDI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83080" y="5669280"/>
            <a:ext cx="9677095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0" i="0">
                <a:solidFill>
                  <a:srgbClr val="222B36"/>
                </a:solidFill>
                <a:latin typeface="Calibri"/>
              </a:rPr>
              <a:t>Ricevere e inoltrare costano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~67 ns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, con qualunque modello. La rete neurale aggiunge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19–155 ns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con i pesi compilati (mediana 52),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129–446 ns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se la forma è letta da tabella (P2),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240–852 ns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se anche la profondità (P3): un core regge da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11,7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a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1,1 milioni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di pacchetti al secondo, secondo modello e pipeline.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IL NUOVO ASSETTO · LE ISTRUZIONI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Quanto è grande il programma non dice quanto lavora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1769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lang="it-IT" sz="1100" b="0" i="0">
                <a:solidFill>
                  <a:srgbClr val="6B7C93"/>
                </a:solidFill>
                <a:latin typeface="Calibri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>
                <a:solidFill>
                  <a:srgbClr val="6B7C93"/>
                </a:solidFill>
                <a:latin typeface="Calibri"/>
              </a:rPr>
              <a:t>Caricate: contate dal kernel al caricamento  ·  eseguite: contatori hardware, per pacchetto, nodo saturo  ·  a destra i 14 modelli misurati sui tre core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463040"/>
          <a:ext cx="5669280" cy="33832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217920" y="1463040"/>
          <a:ext cx="5669280" cy="33832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4937760"/>
            <a:ext cx="539496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 i="0">
                <a:solidFill>
                  <a:srgbClr val="222B36"/>
                </a:solidFill>
                <a:latin typeface="Calibri"/>
              </a:rPr>
              <a:t>Caricate contro eseguite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(mediane). P2 carica più istruzioni di P3 ma ne esegue meno: su 85 modelli su 85.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4937760"/>
            <a:ext cx="539496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 i="0">
                <a:solidFill>
                  <a:srgbClr val="222B36"/>
                </a:solidFill>
                <a:latin typeface="Calibri"/>
              </a:rPr>
              <a:t>Stesse istruzioni su ogni core.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Entro lo 0,3 % fra P-core ed E-core su 91 modelli, entro lo 0,7 % sul LP E-core (14 modelli).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5623560"/>
            <a:ext cx="11094415" cy="731520"/>
          </a:xfrm>
          <a:prstGeom prst="roundRect">
            <a:avLst>
              <a:gd name="adj" fmla="val 6000"/>
            </a:avLst>
          </a:prstGeom>
          <a:solidFill>
            <a:srgbClr val="FFF4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48640" y="5623560"/>
            <a:ext cx="82296" cy="731520"/>
          </a:xfrm>
          <a:prstGeom prst="rect">
            <a:avLst/>
          </a:prstGeom>
          <a:solidFill>
            <a:srgbClr val="F2B1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2960" y="56967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1" i="0">
                <a:solidFill>
                  <a:srgbClr val="B57A00"/>
                </a:solidFill>
                <a:latin typeface="Calibri"/>
              </a:rPr>
              <a:t>QUINDI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5623560"/>
            <a:ext cx="9677095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0" i="0">
                <a:solidFill>
                  <a:srgbClr val="222B36"/>
                </a:solidFill>
                <a:latin typeface="Calibri"/>
              </a:rPr>
              <a:t>La dimensione del programma misura quanto è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grande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, non quanto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lavora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: contano le istruzioni eseguite, comprese ricezione e redirect del kernel. Fra un core e l'altro le istruzioni non cambiano: cambia quante ne esegue il core per ciclo.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IL NUOVO ASSETTO · P-CORE, E-CORE, LP E-CORE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Su un E-core il nodo regge dal 61 al 91 % del P-core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1769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lang="it-IT" sz="1100" b="0" i="0">
                <a:solidFill>
                  <a:srgbClr val="6B7C93"/>
                </a:solidFill>
                <a:latin typeface="Calibri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>
                <a:solidFill>
                  <a:srgbClr val="6B7C93"/>
                </a:solidFill>
                <a:latin typeface="Calibri"/>
              </a:rPr>
              <a:t>P-core e E-core a 3,5 GHz, LP E-core a 2,5 GHz; generatore e uscita su P-core  ·  grafici: mediana dei 14 modelli del sottoinsieme LP, dal più leggero al più pesante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463040"/>
          <a:ext cx="5669280" cy="33832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217920" y="1463040"/>
          <a:ext cx="5669280" cy="33832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4937760"/>
            <a:ext cx="539496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 i="0">
                <a:solidFill>
                  <a:srgbClr val="222B36"/>
                </a:solidFill>
                <a:latin typeface="Calibri"/>
              </a:rPr>
              <a:t>Milioni di pacchetti al secondo.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Capacità E/P su 91 modelli: baseline 0,61–0,66, P3 0,72–0,89.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4937760"/>
            <a:ext cx="539496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 i="0">
                <a:solidFill>
                  <a:srgbClr val="222B36"/>
                </a:solidFill>
                <a:latin typeface="Calibri"/>
              </a:rPr>
              <a:t>ns di CPU per pacchetto.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Sull'E-core la baseline costa il 56 % in più, la sola rete neurale di P3 il 13 % (mediane).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5623560"/>
            <a:ext cx="11094415" cy="731520"/>
          </a:xfrm>
          <a:prstGeom prst="roundRect">
            <a:avLst>
              <a:gd name="adj" fmla="val 6000"/>
            </a:avLst>
          </a:prstGeom>
          <a:solidFill>
            <a:srgbClr val="FFF4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48640" y="5623560"/>
            <a:ext cx="82296" cy="731520"/>
          </a:xfrm>
          <a:prstGeom prst="rect">
            <a:avLst/>
          </a:prstGeom>
          <a:solidFill>
            <a:srgbClr val="F2B1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2960" y="56967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1" i="0">
                <a:solidFill>
                  <a:srgbClr val="B57A00"/>
                </a:solidFill>
                <a:latin typeface="Calibri"/>
              </a:rPr>
              <a:t>QUINDI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5623560"/>
            <a:ext cx="9677095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0" i="0">
                <a:solidFill>
                  <a:srgbClr val="222B36"/>
                </a:solidFill>
                <a:latin typeface="Calibri"/>
              </a:rPr>
              <a:t>A parità di frequenza l'E-core è più lento soprattutto nel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lavoro di rete del kernel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: più la pipeline è pesante, meno pesa la differenza (capacità E/P 0,63 per la baseline, 0,77 per P1, 0,82–0,83 per P2 e P3). Il LP E-core (fuori dalla L3, 2,5 GHz) regge dal 32 al 53 % del P-core sulle pipeline.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IL NUOVO ASSETTO · ISTRUZIONI PER CICLO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Stesse istruzioni, meno istruzioni per ciclo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1769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lang="it-IT" sz="1100" b="0" i="0">
                <a:solidFill>
                  <a:srgbClr val="6B7C93"/>
                </a:solidFill>
                <a:latin typeface="Calibri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1769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 dirty="0" err="1">
                <a:solidFill>
                  <a:srgbClr val="6B7C93"/>
                </a:solidFill>
                <a:latin typeface="Calibri"/>
              </a:rPr>
              <a:t>Contatori hardware sul core del nodo, nodo saturo  ·  mediane: tabella su 91 modelli, grafico sui 14 misurati sui tre core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554480"/>
          <a:ext cx="6035040" cy="46634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766560" y="1737360"/>
          <a:ext cx="4937758" cy="22860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51931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2435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5965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Versione</a:t>
                      </a:r>
                    </a:p>
                  </a:txBody>
                  <a:tcPr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Istruzioni</a:t>
                      </a:r>
                    </a:p>
                  </a:txBody>
                  <a:tcPr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Cicli P</a:t>
                      </a:r>
                    </a:p>
                  </a:txBody>
                  <a:tcPr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Cicli E</a:t>
                      </a:r>
                    </a:p>
                  </a:txBody>
                  <a:tcPr marT="27432" marB="27432" anchor="ctr"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222B36"/>
                          </a:solidFill>
                          <a:latin typeface="Calibri"/>
                        </a:rPr>
                        <a:t>P1 statica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1 162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414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531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222B36"/>
                          </a:solidFill>
                          <a:latin typeface="Calibri"/>
                        </a:rPr>
                        <a:t>P1.5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1 346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438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569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222B36"/>
                          </a:solidFill>
                          <a:latin typeface="Calibri"/>
                        </a:rPr>
                        <a:t>P2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4 578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1 016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1 218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222B36"/>
                          </a:solidFill>
                          <a:latin typeface="Calibri"/>
                        </a:rPr>
                        <a:t>P3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7 575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1 697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 dirty="0">
                          <a:solidFill>
                            <a:srgbClr val="222B36"/>
                          </a:solidFill>
                          <a:latin typeface="Calibri"/>
                        </a:rPr>
                        <a:t>2 021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6766560" y="4160520"/>
            <a:ext cx="4937760" cy="2057400"/>
          </a:xfrm>
          <a:prstGeom prst="roundRect">
            <a:avLst>
              <a:gd name="adj" fmla="val 6000"/>
            </a:avLst>
          </a:prstGeom>
          <a:solidFill>
            <a:srgbClr val="FFF4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766560" y="4160520"/>
            <a:ext cx="82296" cy="2057400"/>
          </a:xfrm>
          <a:prstGeom prst="rect">
            <a:avLst/>
          </a:prstGeom>
          <a:solidFill>
            <a:srgbClr val="F2B1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040880" y="423367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1" i="0">
                <a:solidFill>
                  <a:srgbClr val="B57A00"/>
                </a:solidFill>
                <a:latin typeface="Calibri"/>
              </a:rPr>
              <a:t>QUINDI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0" y="4526280"/>
            <a:ext cx="4480560" cy="1600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0" i="0">
                <a:solidFill>
                  <a:srgbClr val="222B36"/>
                </a:solidFill>
                <a:latin typeface="Calibri"/>
              </a:rPr>
              <a:t>Le istruzioni per pacchetto sono le stesse su ogni core: il codice non cambia. Cambia l'IPC: 2,6 → 1,7 per la baseline (lavoro di rete, salti, memoria), 4,4 → 3,7 per P3 (aritmetica lineare). Il LP E-core ha 14–19 mancate di cache per pacchetto.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IL NUOVO ASSETTO · DOVE L'E-CORE PERDE TEMPO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L'E-core rallenta il nodo, non la rete neurale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1769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lang="it-IT" sz="1100" b="0" i="0">
                <a:solidFill>
                  <a:srgbClr val="6B7C93"/>
                </a:solidFill>
                <a:latin typeface="Calibri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>
                <a:solidFill>
                  <a:srgbClr val="6B7C93"/>
                </a:solidFill>
                <a:latin typeface="Calibri"/>
              </a:rPr>
              <a:t>Cicli per pacchetto dai contatori hardware, 3,5 GHz  ·  parte fissa = baseline, rete = pipeline meno baseline  ·  mediane su 91 modelli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417320"/>
          <a:ext cx="722376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955279" y="1554480"/>
            <a:ext cx="3749039" cy="91440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955279" y="1554480"/>
            <a:ext cx="82296" cy="914400"/>
          </a:xfrm>
          <a:prstGeom prst="rect">
            <a:avLst/>
          </a:prstGeom>
          <a:solidFill>
            <a:srgbClr val="9AA5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183879" y="1664208"/>
            <a:ext cx="1463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 i="0">
                <a:solidFill>
                  <a:srgbClr val="6B7C93"/>
                </a:solidFill>
                <a:latin typeface="Calibri"/>
              </a:rPr>
              <a:t>parte fissa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0" y="1600200"/>
            <a:ext cx="21031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2800" b="1" i="0">
                <a:solidFill>
                  <a:srgbClr val="1F3A5F"/>
                </a:solidFill>
                <a:latin typeface="Calibri"/>
              </a:rPr>
              <a:t>+56%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83879" y="2103120"/>
            <a:ext cx="3429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300" b="0" i="0">
                <a:solidFill>
                  <a:srgbClr val="222B36"/>
                </a:solidFill>
                <a:latin typeface="Calibri"/>
              </a:rPr>
              <a:t>231 → 360 cicli, P → E (1,50–1,60×)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55279" y="2578608"/>
            <a:ext cx="3749039" cy="91440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7955279" y="2578608"/>
            <a:ext cx="82296" cy="914400"/>
          </a:xfrm>
          <a:prstGeom prst="rect">
            <a:avLst/>
          </a:prstGeom>
          <a:solidFill>
            <a:srgbClr val="F09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183879" y="2688336"/>
            <a:ext cx="1463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 i="0">
                <a:solidFill>
                  <a:srgbClr val="6B7C93"/>
                </a:solidFill>
                <a:latin typeface="Calibri"/>
              </a:rPr>
              <a:t>rete, P1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09760" y="2624328"/>
            <a:ext cx="21031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2800" b="1" i="0">
                <a:solidFill>
                  <a:srgbClr val="1F3A5F"/>
                </a:solidFill>
                <a:latin typeface="Calibri"/>
              </a:rPr>
              <a:t>−6%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83879" y="3127248"/>
            <a:ext cx="3429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300" b="0" i="0">
                <a:solidFill>
                  <a:srgbClr val="222B36"/>
                </a:solidFill>
                <a:latin typeface="Calibri"/>
              </a:rPr>
              <a:t>183 → 172 cicli (0,55–1,17×)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55279" y="3602736"/>
            <a:ext cx="3749039" cy="91440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7955279" y="3602736"/>
            <a:ext cx="82296" cy="914400"/>
          </a:xfrm>
          <a:prstGeom prst="rect">
            <a:avLst/>
          </a:prstGeom>
          <a:solidFill>
            <a:srgbClr val="2E9C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183879" y="3712464"/>
            <a:ext cx="1463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 i="0">
                <a:solidFill>
                  <a:srgbClr val="6B7C93"/>
                </a:solidFill>
                <a:latin typeface="Calibri"/>
              </a:rPr>
              <a:t>rete, P2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09760" y="3648456"/>
            <a:ext cx="21031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2800" b="1" i="0">
                <a:solidFill>
                  <a:srgbClr val="1F3A5F"/>
                </a:solidFill>
                <a:latin typeface="Calibri"/>
              </a:rPr>
              <a:t>+10%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83879" y="4151376"/>
            <a:ext cx="3429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300" b="0" i="0">
                <a:solidFill>
                  <a:srgbClr val="222B36"/>
                </a:solidFill>
                <a:latin typeface="Calibri"/>
              </a:rPr>
              <a:t>785 → 858 cicli (1,02–1,18×)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955279" y="4626864"/>
            <a:ext cx="3749039" cy="91440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7955279" y="4626864"/>
            <a:ext cx="82296" cy="914400"/>
          </a:xfrm>
          <a:prstGeom prst="rect">
            <a:avLst/>
          </a:prstGeom>
          <a:solidFill>
            <a:srgbClr val="1F5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183879" y="4736592"/>
            <a:ext cx="1463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 i="0">
                <a:solidFill>
                  <a:srgbClr val="6B7C93"/>
                </a:solidFill>
                <a:latin typeface="Calibri"/>
              </a:rPr>
              <a:t>rete, P3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509760" y="4672584"/>
            <a:ext cx="21031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2800" b="1" i="0">
                <a:solidFill>
                  <a:srgbClr val="1F3A5F"/>
                </a:solidFill>
                <a:latin typeface="Calibri"/>
              </a:rPr>
              <a:t>+13%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83879" y="5175504"/>
            <a:ext cx="3429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300" b="0" i="0">
                <a:solidFill>
                  <a:srgbClr val="222B36"/>
                </a:solidFill>
                <a:latin typeface="Calibri"/>
              </a:rPr>
              <a:t>1 467 → 1 662 cicli (1,05–1,40×)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5669280"/>
            <a:ext cx="11094415" cy="685800"/>
          </a:xfrm>
          <a:prstGeom prst="roundRect">
            <a:avLst>
              <a:gd name="adj" fmla="val 6000"/>
            </a:avLst>
          </a:prstGeom>
          <a:solidFill>
            <a:srgbClr val="FFF4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548640" y="5669280"/>
            <a:ext cx="82296" cy="685800"/>
          </a:xfrm>
          <a:prstGeom prst="rect">
            <a:avLst/>
          </a:prstGeom>
          <a:solidFill>
            <a:srgbClr val="F2B1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22960" y="574243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1" i="0">
                <a:solidFill>
                  <a:srgbClr val="B57A00"/>
                </a:solidFill>
                <a:latin typeface="Calibri"/>
              </a:rPr>
              <a:t>QUINDI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83080" y="5669280"/>
            <a:ext cx="9677095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0" i="0">
                <a:solidFill>
                  <a:srgbClr val="222B36"/>
                </a:solidFill>
                <a:latin typeface="Calibri"/>
              </a:rPr>
              <a:t>Ricevere, inoltrare e restituire la pagina è lavoro del kernel con salti e memoria: l'E-core lo esegue a IPC 1,7 invece di 2,6, su ogni modello. L'aritmetica della rete è una fila di moltiplicazioni, e l'E-core la esegue quasi altrettanto bene.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IL NUOVO ASSETTO · IL LP E-CORE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Il LP E-core paga anche la memoria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1769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lang="it-IT" sz="1100" b="0" i="0">
                <a:solidFill>
                  <a:srgbClr val="6B7C93"/>
                </a:solidFill>
                <a:latin typeface="Calibri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>
                <a:solidFill>
                  <a:srgbClr val="6B7C93"/>
                </a:solidFill>
                <a:latin typeface="Calibri"/>
              </a:rPr>
              <a:t>Contatori hardware del core del nodo, per pacchetto, nodo saturo  ·  LP E-core a 2,5 GHz, fuori dalla L3  ·  mediane dei 14 modelli misurati sui tre core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463040"/>
          <a:ext cx="5669280" cy="33832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217920" y="1463040"/>
          <a:ext cx="5669280" cy="33832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4937760"/>
            <a:ext cx="539496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 i="0">
                <a:solidFill>
                  <a:srgbClr val="222B36"/>
                </a:solidFill>
                <a:latin typeface="Calibri"/>
              </a:rPr>
              <a:t>Mancate di cache.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Zero sul P-core e sull'E-core; 14–19 per pacchetto sul LP E-core, fuori dalla L3.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4937760"/>
            <a:ext cx="539496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 i="0">
                <a:solidFill>
                  <a:srgbClr val="222B36"/>
                </a:solidFill>
                <a:latin typeface="Calibri"/>
              </a:rPr>
              <a:t>Cicli per pacchetto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(mediane). P3: 1 614 → 1 944 → 2 435; in tempo 462 → 562 → 976 ns.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5623560"/>
            <a:ext cx="11094415" cy="731520"/>
          </a:xfrm>
          <a:prstGeom prst="roundRect">
            <a:avLst>
              <a:gd name="adj" fmla="val 6000"/>
            </a:avLst>
          </a:prstGeom>
          <a:solidFill>
            <a:srgbClr val="FFF4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48640" y="5623560"/>
            <a:ext cx="82296" cy="731520"/>
          </a:xfrm>
          <a:prstGeom prst="rect">
            <a:avLst/>
          </a:prstGeom>
          <a:solidFill>
            <a:srgbClr val="F2B1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2960" y="56967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1" i="0">
                <a:solidFill>
                  <a:srgbClr val="B57A00"/>
                </a:solidFill>
                <a:latin typeface="Calibri"/>
              </a:rPr>
              <a:t>QUINDI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5623560"/>
            <a:ext cx="9677095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0" i="0">
                <a:solidFill>
                  <a:srgbClr val="222B36"/>
                </a:solidFill>
                <a:latin typeface="Calibri"/>
              </a:rPr>
              <a:t>Il LP E-core sta su un'altra parte del chip: i pacchetti scritti dal generatore gli arrivano dalla memoria. Fra memoria, IPC più basso (1,0–3,0) e 2,5 GHz regge dal 32 al 53 % del P-core sulle pipeline.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SOTTO TRAFFICO CRESCENTE · P-CORE E E-CORE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Oltre la capacità si perde all'ingresso del programma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100" b="0" i="0">
                <a:solidFill>
                  <a:srgbClr val="6B7C93"/>
                </a:solidFill>
                <a:latin typeface="Calibri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1769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 dirty="0">
                <a:solidFill>
                  <a:srgbClr val="6B7C93"/>
                </a:solidFill>
                <a:latin typeface="Calibri"/>
              </a:rPr>
              <a:t>bench_bitrate, xdp_gen, 3 giri per punto, 64 byte, 6 modelli dal più leggero al più pesante  ·  asse x e asse y divisi per la capacità del modello  ·  mediana delle curve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463040"/>
          <a:ext cx="566928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217920" y="1463040"/>
          <a:ext cx="566928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4800600"/>
            <a:ext cx="5394960" cy="69910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lang="it-IT" sz="1400" b="1" i="0" dirty="0">
                <a:solidFill>
                  <a:srgbClr val="222B36"/>
                </a:solidFill>
                <a:latin typeface="Calibri"/>
              </a:rPr>
              <a:t>P-core.</a:t>
            </a:r>
            <a:r>
              <a:rPr lang="it-IT" sz="1400" b="0" i="0" dirty="0">
                <a:solidFill>
                  <a:srgbClr val="222B36"/>
                </a:solidFill>
                <a:latin typeface="Calibri"/>
              </a:rPr>
              <a:t> Fino alla capacità passa tutto, poi la curva è piatta: massimo 0,98 [0,88–1,03] della capacità, 24 curve.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4800600"/>
            <a:ext cx="539496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 i="0">
                <a:solidFill>
                  <a:srgbClr val="222B36"/>
                </a:solidFill>
                <a:latin typeface="Calibri"/>
              </a:rPr>
              <a:t>E-core.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Stesso andamento: 0,99 [0,94–1,03], 24 curve. Divise per la capacità, le curve di modelli diversi si sovrappongono.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5577840"/>
            <a:ext cx="11094415" cy="777240"/>
          </a:xfrm>
          <a:prstGeom prst="roundRect">
            <a:avLst>
              <a:gd name="adj" fmla="val 6000"/>
            </a:avLst>
          </a:prstGeom>
          <a:solidFill>
            <a:srgbClr val="FFF4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48640" y="5577840"/>
            <a:ext cx="82296" cy="777240"/>
          </a:xfrm>
          <a:prstGeom prst="rect">
            <a:avLst/>
          </a:prstGeom>
          <a:solidFill>
            <a:srgbClr val="F2B1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2960" y="565099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1" i="0">
                <a:solidFill>
                  <a:srgbClr val="B57A00"/>
                </a:solidFill>
                <a:latin typeface="Calibri"/>
              </a:rPr>
              <a:t>QUINDI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5577840"/>
            <a:ext cx="9677095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0" i="0">
                <a:solidFill>
                  <a:srgbClr val="222B36"/>
                </a:solidFill>
                <a:latin typeface="Calibri"/>
              </a:rPr>
              <a:t>I pacchetti si perdono </a:t>
            </a:r>
            <a:r>
              <a:rPr sz="1500" b="1" i="0">
                <a:solidFill>
                  <a:srgbClr val="222B36"/>
                </a:solidFill>
                <a:latin typeface="Calibri"/>
              </a:rPr>
              <a:t>all'ingresso</a:t>
            </a:r>
            <a:r>
              <a:rPr sz="1500" b="0" i="0">
                <a:solidFill>
                  <a:srgbClr val="222B36"/>
                </a:solidFill>
                <a:latin typeface="Calibri"/>
              </a:rPr>
              <a:t>, non dopo il programma: il collo di bottiglia è il programma eBPF, su ogni tipo di core. Fa eccezione P1 sui modelli più leggeri: oltre i 9 milioni di pacchetti al secondo comincia a perdere anche l'uscita.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IL NUOVO ASSETTO · DUE CORE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Due core reggono il doppio, sul P-core e sull'E-core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1769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lang="it-IT" sz="1100" b="0" i="0">
                <a:solidFill>
                  <a:srgbClr val="6B7C93"/>
                </a:solidFill>
                <a:latin typeface="Calibri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>
                <a:solidFill>
                  <a:srgbClr val="6B7C93"/>
                </a:solidFill>
                <a:latin typeface="Calibri"/>
              </a:rPr>
              <a:t>Un thread di xdp_gen, una coda e un core d'uscita per core del nodo  ·  P: CPU 6 e 8  ·  E: CPU 12 e 16  ·  mediane di 8 modelli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463040"/>
          <a:ext cx="5669280" cy="33832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217920" y="1463040"/>
          <a:ext cx="5669280" cy="33832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4937760"/>
            <a:ext cx="539496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 i="0">
                <a:solidFill>
                  <a:srgbClr val="222B36"/>
                </a:solidFill>
                <a:latin typeface="Calibri"/>
              </a:rPr>
              <a:t>P-core.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99 [94–103] % del doppio su 40 coppie modello-pipeline.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4937760"/>
            <a:ext cx="539496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 i="0">
                <a:solidFill>
                  <a:srgbClr val="222B36"/>
                </a:solidFill>
                <a:latin typeface="Calibri"/>
              </a:rPr>
              <a:t>E-core.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99 [98–101] % del doppio, con un E-core per modulo: i due moduli non si disturbano.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5623560"/>
            <a:ext cx="11094415" cy="731520"/>
          </a:xfrm>
          <a:prstGeom prst="roundRect">
            <a:avLst>
              <a:gd name="adj" fmla="val 6000"/>
            </a:avLst>
          </a:prstGeom>
          <a:solidFill>
            <a:srgbClr val="FFF4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48640" y="5623560"/>
            <a:ext cx="82296" cy="731520"/>
          </a:xfrm>
          <a:prstGeom prst="rect">
            <a:avLst/>
          </a:prstGeom>
          <a:solidFill>
            <a:srgbClr val="F2B1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2960" y="56967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1" i="0">
                <a:solidFill>
                  <a:srgbClr val="B57A00"/>
                </a:solidFill>
                <a:latin typeface="Calibri"/>
              </a:rPr>
              <a:t>QUINDI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5623560"/>
            <a:ext cx="9677095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0" i="0">
                <a:solidFill>
                  <a:srgbClr val="222B36"/>
                </a:solidFill>
                <a:latin typeface="Calibri"/>
              </a:rPr>
              <a:t>I contatori delle pipeline sono per-core e ogni core ha la sua coda d'uscita: il secondo core non rallenta il primo. Un nodo con N code regge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N volte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la capacità di un core, di qualunque tipo.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DENTRO IL NODO · TRE OROLOGI · P-CORE E E-CORE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Il programma e il trasporto, su un P-core e su un E-core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1769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lang="it-IT" sz="1100" b="0" i="0">
                <a:solidFill>
                  <a:srgbClr val="6B7C93"/>
                </a:solidFill>
                <a:latin typeface="Calibri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>
                <a:solidFill>
                  <a:srgbClr val="6B7C93"/>
                </a:solidFill>
                <a:latin typeface="Calibri"/>
              </a:rPr>
              <a:t>T1 all'ingresso del programma, T2 prima di bpf_redirect, T3 all'arrivo dall'altra parte  ·  minimi, a 0,25 e 0,5 Mpps  ·  barre: mediana su 91 modelli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417320"/>
          <a:ext cx="722376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955279" y="1554480"/>
            <a:ext cx="3749039" cy="192024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955279" y="1554480"/>
            <a:ext cx="82296" cy="1920240"/>
          </a:xfrm>
          <a:prstGeom prst="rect">
            <a:avLst/>
          </a:prstGeom>
          <a:solidFill>
            <a:srgbClr val="E07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229599" y="1719072"/>
            <a:ext cx="3337559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 i="0">
                <a:solidFill>
                  <a:srgbClr val="E07A2D"/>
                </a:solidFill>
                <a:latin typeface="Calibri"/>
              </a:rPr>
              <a:t>Il programma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599" y="2130552"/>
            <a:ext cx="3337559" cy="1298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222B36"/>
                </a:solidFill>
                <a:latin typeface="Calibri"/>
              </a:rPr>
              <a:t>Da 27 ns (baseline) a 391 ns (P3) sul P-core, mediane; P3 va da 237–797 ns secondo il modello.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55279" y="3611880"/>
            <a:ext cx="3749039" cy="192024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7955279" y="3611880"/>
            <a:ext cx="82296" cy="1920240"/>
          </a:xfrm>
          <a:prstGeom prst="rect">
            <a:avLst/>
          </a:prstGeom>
          <a:solidFill>
            <a:srgbClr val="6B7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229599" y="3776472"/>
            <a:ext cx="3337559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 i="0">
                <a:solidFill>
                  <a:srgbClr val="6B7C93"/>
                </a:solidFill>
                <a:latin typeface="Calibri"/>
              </a:rPr>
              <a:t>Il trasporto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599" y="4187952"/>
            <a:ext cx="3337559" cy="1298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222B36"/>
                </a:solidFill>
                <a:latin typeface="Calibri"/>
              </a:rPr>
              <a:t>Redirect, veth e ricezione: 187–221 ns sul P-core, 226–274 sull'E-core, su ogni modello e pipeline.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5669280"/>
            <a:ext cx="11094415" cy="685800"/>
          </a:xfrm>
          <a:prstGeom prst="roundRect">
            <a:avLst>
              <a:gd name="adj" fmla="val 6000"/>
            </a:avLst>
          </a:prstGeom>
          <a:solidFill>
            <a:srgbClr val="FFF4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548640" y="5669280"/>
            <a:ext cx="82296" cy="685800"/>
          </a:xfrm>
          <a:prstGeom prst="rect">
            <a:avLst/>
          </a:prstGeom>
          <a:solidFill>
            <a:srgbClr val="F2B1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22960" y="574243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1" i="0">
                <a:solidFill>
                  <a:srgbClr val="B57A00"/>
                </a:solidFill>
                <a:latin typeface="Calibri"/>
              </a:rPr>
              <a:t>QUINDI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83080" y="5669280"/>
            <a:ext cx="9677095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0" i="0">
                <a:solidFill>
                  <a:srgbClr val="222B36"/>
                </a:solidFill>
                <a:latin typeface="Calibri"/>
              </a:rPr>
              <a:t>Il trasporto è un costo comune che non dipende né dalla pipeline né dal modello; il programma pesa di più sull'E-core quanto più è lungo. La latenza minima arrivo → ripartenza va da 221 a 595 ns sul P-core, da 267 a 741 sull'E-core (mediane).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QUANTO È SOLIDO · P-CORE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Il costo dipende dalla pipeline, e da niente altro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1769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lang="it-IT" sz="1100" b="0" i="0">
                <a:solidFill>
                  <a:srgbClr val="6B7C93"/>
                </a:solidFill>
                <a:latin typeface="Calibri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>
                <a:solidFill>
                  <a:srgbClr val="6B7C93"/>
                </a:solidFill>
                <a:latin typeface="Calibri"/>
              </a:rPr>
              <a:t>Una sessione per classe decisa, verificata su ogni pipeline  ·  P-core a 3,5 GHz  ·  mediane: 6 modelli per le taglie, 8 per le classi, dal più leggero al più pesante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463040"/>
          <a:ext cx="5669280" cy="3383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217920" y="1463040"/>
          <a:ext cx="5669280" cy="3383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4937760"/>
            <a:ext cx="539496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 i="0">
                <a:solidFill>
                  <a:srgbClr val="222B36"/>
                </a:solidFill>
                <a:latin typeface="Calibri"/>
              </a:rPr>
              <a:t>Taglia del pacchetto: nessun effetto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(1,2 [0,3–3,1] % fra 64 e 1 514 byte, 30 coppie). Il nodo legge solo l'intestazione.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4937760"/>
            <a:ext cx="539496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 i="0">
                <a:solidFill>
                  <a:srgbClr val="222B36"/>
                </a:solidFill>
                <a:latin typeface="Calibri"/>
              </a:rPr>
              <a:t>Porta d'uscita: nessun effetto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(0 [0–9] % fra le classi che inoltrano). Scartare costa 51 [17–63] ns in più.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5623560"/>
            <a:ext cx="11094415" cy="731520"/>
          </a:xfrm>
          <a:prstGeom prst="roundRect">
            <a:avLst>
              <a:gd name="adj" fmla="val 6000"/>
            </a:avLst>
          </a:prstGeom>
          <a:solidFill>
            <a:srgbClr val="FFF4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48640" y="5623560"/>
            <a:ext cx="82296" cy="731520"/>
          </a:xfrm>
          <a:prstGeom prst="rect">
            <a:avLst/>
          </a:prstGeom>
          <a:solidFill>
            <a:srgbClr val="F2B1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2960" y="56967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1" i="0">
                <a:solidFill>
                  <a:srgbClr val="B57A00"/>
                </a:solidFill>
                <a:latin typeface="Calibri"/>
              </a:rPr>
              <a:t>QUINDI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5623560"/>
            <a:ext cx="9677095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0" i="0">
                <a:solidFill>
                  <a:srgbClr val="222B36"/>
                </a:solidFill>
                <a:latin typeface="Calibri"/>
              </a:rPr>
              <a:t>Basta un numero per pipeline e modello a descrivere il costo del nodo: non dipende da taglia del pacchetto, porta d'uscita o TTL (TTL diversi a ogni pacchetto: 0 [-6–4] %); solo la decisione di scartare costa ~51 ns in più.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GLI ASSI SOTTO TRAFFICO · P-CORE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Profondità e pesi a zero, sul nodo vero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100" b="0" i="0">
                <a:solidFill>
                  <a:srgbClr val="6B7C93"/>
                </a:solidFill>
                <a:latin typeface="Calibri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1769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 dirty="0">
                <a:solidFill>
                  <a:srgbClr val="6B7C93"/>
                </a:solidFill>
                <a:latin typeface="Calibri"/>
              </a:rPr>
              <a:t>Tempo di CPU per pacchetto, xdp_gen, P-core  ·  profondità: famiglia base (53 modelli)  ·  pesi a zero: 4 forme contro il gemello denso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463040"/>
          <a:ext cx="566928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217920" y="1463040"/>
          <a:ext cx="566928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4800600"/>
            <a:ext cx="5394960" cy="69910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lang="it-IT" sz="1400" b="1" i="0" dirty="0">
                <a:solidFill>
                  <a:srgbClr val="222B36"/>
                </a:solidFill>
                <a:latin typeface="Calibri"/>
              </a:rPr>
              <a:t>Profondità</a:t>
            </a:r>
            <a:r>
              <a:rPr lang="it-IT" sz="1400" b="0" i="0" dirty="0">
                <a:solidFill>
                  <a:srgbClr val="222B36"/>
                </a:solidFill>
                <a:latin typeface="Calibri"/>
              </a:rPr>
              <a:t> (mediane per numero di strati, 53 modelli). Per strato in più, a MAC ferme: P3 ~46 ns, P2 ~20, P1 e P1.5 ~1.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4800600"/>
            <a:ext cx="539496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 i="0">
                <a:solidFill>
                  <a:srgbClr val="222B36"/>
                </a:solidFill>
                <a:latin typeface="Calibri"/>
              </a:rPr>
              <a:t>Pesi a zero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(tempo del nodo diviso quello del modello denso con la stessa forma). Al 90 % P1 0,77×, P1.5 0,83×; P2 e P3 ferme.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5577840"/>
            <a:ext cx="11094415" cy="777240"/>
          </a:xfrm>
          <a:prstGeom prst="roundRect">
            <a:avLst>
              <a:gd name="adj" fmla="val 6000"/>
            </a:avLst>
          </a:prstGeom>
          <a:solidFill>
            <a:srgbClr val="FFF4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48640" y="5577840"/>
            <a:ext cx="82296" cy="777240"/>
          </a:xfrm>
          <a:prstGeom prst="rect">
            <a:avLst/>
          </a:prstGeom>
          <a:solidFill>
            <a:srgbClr val="F2B1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2960" y="565099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1" i="0">
                <a:solidFill>
                  <a:srgbClr val="B57A00"/>
                </a:solidFill>
                <a:latin typeface="Calibri"/>
              </a:rPr>
              <a:t>QUINDI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5577840"/>
            <a:ext cx="9677095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0" i="0">
                <a:solidFill>
                  <a:srgbClr val="222B36"/>
                </a:solidFill>
                <a:latin typeface="Calibri"/>
              </a:rPr>
              <a:t>Sul nodo vero, su tutta la popolazione: la profondità costa soprattutto a P3 e P2, i pesi a zero aiutano solo P1 e P1.5. Il costo fisso del nodo (~67 ns) resta lo stesso con qualunque modello.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GLI ASSI SOTTO TRAFFICO · LE ISTRUZIONI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Ogni strato di P3 costa ~900 istruzioni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100" b="0" i="0">
                <a:solidFill>
                  <a:srgbClr val="6B7C93"/>
                </a:solidFill>
                <a:latin typeface="Calibri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1769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 dirty="0">
                <a:solidFill>
                  <a:srgbClr val="6B7C93"/>
                </a:solidFill>
                <a:latin typeface="Calibri"/>
              </a:rPr>
              <a:t>Mediane per numero di strati sui 53 modelli della famiglia base  ·  leggi su tutti i modelli densi  ·  contatori hardware del core del nodo, per pacchetto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463040"/>
          <a:ext cx="566928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217920" y="1463040"/>
          <a:ext cx="566928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4800600"/>
            <a:ext cx="5394960" cy="69910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lang="it-IT" sz="1400" b="1" i="0" dirty="0">
                <a:solidFill>
                  <a:srgbClr val="222B36"/>
                </a:solidFill>
                <a:latin typeface="Calibri"/>
              </a:rPr>
              <a:t>Istruzioni.</a:t>
            </a:r>
            <a:r>
              <a:rPr lang="it-IT" sz="1400" b="0" i="0" dirty="0">
                <a:solidFill>
                  <a:srgbClr val="222B36"/>
                </a:solidFill>
                <a:latin typeface="Calibri"/>
              </a:rPr>
              <a:t> Legge su 83 modelli: P3 +901 per strato (r² 0,99), identiche su P-core ed E-core; P2 +370 per strato.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4800600"/>
            <a:ext cx="539496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 i="0">
                <a:solidFill>
                  <a:srgbClr val="222B36"/>
                </a:solidFill>
                <a:latin typeface="Calibri"/>
              </a:rPr>
              <a:t>Tempo.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P3 ~46 ns per strato sul P-core, ~62 sull'E-core (legge). Tratteggio = E-core.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5577840"/>
            <a:ext cx="11094415" cy="777240"/>
          </a:xfrm>
          <a:prstGeom prst="roundRect">
            <a:avLst>
              <a:gd name="adj" fmla="val 6000"/>
            </a:avLst>
          </a:prstGeom>
          <a:solidFill>
            <a:srgbClr val="FFF4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48640" y="5577840"/>
            <a:ext cx="82296" cy="777240"/>
          </a:xfrm>
          <a:prstGeom prst="rect">
            <a:avLst/>
          </a:prstGeom>
          <a:solidFill>
            <a:srgbClr val="F2B1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2960" y="565099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1" i="0">
                <a:solidFill>
                  <a:srgbClr val="B57A00"/>
                </a:solidFill>
                <a:latin typeface="Calibri"/>
              </a:rPr>
              <a:t>QUINDI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5577840"/>
            <a:ext cx="9677095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0" i="0">
                <a:solidFill>
                  <a:srgbClr val="222B36"/>
                </a:solidFill>
                <a:latin typeface="Calibri"/>
              </a:rPr>
              <a:t>In P3 ogni strato è un salto più le letture che ricostruiscono il contesto: lo stesso conto di istruzioni a ogni strato, su ogni modello. La profondità si paga a ogni pacchetto, e sull'E-core un po' di più.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GLI ASSI SOTTO TRAFFICO · LARGHEZZA E PARI PESI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Larghezza e profondità sul nodo vero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100" b="0" i="0">
                <a:solidFill>
                  <a:srgbClr val="6B7C93"/>
                </a:solidFill>
                <a:latin typeface="Calibri"/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1769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 dirty="0">
                <a:solidFill>
                  <a:srgbClr val="6B7C93"/>
                </a:solidFill>
                <a:latin typeface="Calibri"/>
              </a:rPr>
              <a:t>Tempo di CPU per pacchetto, nodo su P-core  ·  tratteggio: P3 sull'E-core  ·  larghezza: famiglia base (53 modelli); pari pesi: famiglia imbuto (10 modelli, 2 composizioni)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463040"/>
          <a:ext cx="566928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217920" y="1463040"/>
          <a:ext cx="566928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4800600"/>
            <a:ext cx="5394960" cy="69910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lang="it-IT" sz="1400" b="1" i="0" dirty="0">
                <a:solidFill>
                  <a:srgbClr val="222B36"/>
                </a:solidFill>
                <a:latin typeface="Calibri"/>
              </a:rPr>
              <a:t>Larghezza.</a:t>
            </a:r>
            <a:r>
              <a:rPr lang="it-IT" sz="1400" b="0" i="0" dirty="0">
                <a:solidFill>
                  <a:srgbClr val="222B36"/>
                </a:solidFill>
                <a:latin typeface="Calibri"/>
              </a:rPr>
              <a:t> Da 2 a 8 neuroni sale su tutte: P1 103 → 158, P3 457 → 605 ns (mediane).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4800600"/>
            <a:ext cx="539496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 i="0">
                <a:solidFill>
                  <a:srgbClr val="222B36"/>
                </a:solidFill>
                <a:latin typeface="Calibri"/>
              </a:rPr>
              <a:t>A pari pesi.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Da 1 a 5 strati P2 +48 %, P3 +63 %; le P1 +14–17 %.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5577840"/>
            <a:ext cx="11094415" cy="777240"/>
          </a:xfrm>
          <a:prstGeom prst="roundRect">
            <a:avLst>
              <a:gd name="adj" fmla="val 6000"/>
            </a:avLst>
          </a:prstGeom>
          <a:solidFill>
            <a:srgbClr val="FFF4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48640" y="5577840"/>
            <a:ext cx="82296" cy="777240"/>
          </a:xfrm>
          <a:prstGeom prst="rect">
            <a:avLst/>
          </a:prstGeom>
          <a:solidFill>
            <a:srgbClr val="F2B1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2960" y="565099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1" i="0">
                <a:solidFill>
                  <a:srgbClr val="B57A00"/>
                </a:solidFill>
                <a:latin typeface="Calibri"/>
              </a:rPr>
              <a:t>QUINDI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5577840"/>
            <a:ext cx="9677095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0" i="0">
                <a:solidFill>
                  <a:srgbClr val="222B36"/>
                </a:solidFill>
                <a:latin typeface="Calibri"/>
              </a:rPr>
              <a:t>Le stesse scelte valgono sul nodo vero, con il costo fisso del nodo in più. Sull'E-core P3 sta più in alto del 16–21 %, con la stessa forma: la forma migliore non cambia con il core.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GLI ASSI SOTTO TRAFFICO · LA SOLA RETE NEURALE · P-CORE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Leggero o saturo, la rete di P2 e P3 costa uguale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100" b="0" i="0">
                <a:solidFill>
                  <a:srgbClr val="6B7C93"/>
                </a:solidFill>
                <a:latin typeface="Calibri"/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1769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 dirty="0">
                <a:solidFill>
                  <a:srgbClr val="6B7C93"/>
                </a:solidFill>
                <a:latin typeface="Calibri"/>
              </a:rPr>
              <a:t>T2−T1 (build strumentata), xdp_gen a 0,25 e 0,5 Mpps, baseline sottratta  ·  mediane per strati, famiglia base (53 modelli)  ·  P-core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463040"/>
          <a:ext cx="566928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217920" y="1463040"/>
          <a:ext cx="566928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4800600"/>
            <a:ext cx="5394960" cy="69910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lang="it-IT" sz="1400" b="1" i="0" dirty="0">
                <a:solidFill>
                  <a:srgbClr val="222B36"/>
                </a:solidFill>
                <a:latin typeface="Calibri"/>
              </a:rPr>
              <a:t>P3.</a:t>
            </a:r>
            <a:r>
              <a:rPr lang="it-IT" sz="1400" b="0" i="0" dirty="0">
                <a:solidFill>
                  <a:srgbClr val="222B36"/>
                </a:solidFill>
                <a:latin typeface="Calibri"/>
              </a:rPr>
              <a:t> Media a traffico leggero / nodo saturo 1,02 [0,94–1,11] su 91 modelli; il minimo sta al 86 % della media.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4800600"/>
            <a:ext cx="539496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 i="0">
                <a:solidFill>
                  <a:srgbClr val="222B36"/>
                </a:solidFill>
                <a:latin typeface="Calibri"/>
              </a:rPr>
              <a:t>P2.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1,03 [0,94–1,09]. P1 e P1.5 no: 0,77 e 0,83 (mediane), con una rete da poche decine di ns.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5577840"/>
            <a:ext cx="11094415" cy="777240"/>
          </a:xfrm>
          <a:prstGeom prst="roundRect">
            <a:avLst>
              <a:gd name="adj" fmla="val 6000"/>
            </a:avLst>
          </a:prstGeom>
          <a:solidFill>
            <a:srgbClr val="FFF4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48640" y="5577840"/>
            <a:ext cx="82296" cy="777240"/>
          </a:xfrm>
          <a:prstGeom prst="rect">
            <a:avLst/>
          </a:prstGeom>
          <a:solidFill>
            <a:srgbClr val="F2B1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2960" y="565099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1" i="0">
                <a:solidFill>
                  <a:srgbClr val="B57A00"/>
                </a:solidFill>
                <a:latin typeface="Calibri"/>
              </a:rPr>
              <a:t>QUINDI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5577840"/>
            <a:ext cx="9677095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0" i="0">
                <a:solidFill>
                  <a:srgbClr val="222B36"/>
                </a:solidFill>
                <a:latin typeface="Calibri"/>
              </a:rPr>
              <a:t>Tempo di CPU a nodo saturo e T2−T1 a traffico leggero danno lo stesso costo della rete per P2 e P3, su ogni modello. Il pacchetto più veloce costa ~14 % meno della media: cache e predittori non sempre caldi.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LA RETE NEURALE SOTTO TRAFFICO · ISTRUZIONI E LATENZA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La configurabilità si paga per pacchetto: +52 → +420 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1769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lang="it-IT" sz="1100" b="0" i="0">
                <a:solidFill>
                  <a:srgbClr val="6B7C93"/>
                </a:solidFill>
                <a:latin typeface="Calibri"/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1769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 dirty="0" err="1">
                <a:solidFill>
                  <a:srgbClr val="6B7C93"/>
                </a:solidFill>
                <a:latin typeface="Calibri"/>
              </a:rPr>
              <a:t>Mediane su 91 modelli (P2: 85)  ·  tempo di CPU, xdp_gen, P-core  ·  letture e salti per pacchetto: build strumentata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554480"/>
          <a:ext cx="6035040" cy="46634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766560" y="1737360"/>
          <a:ext cx="4937758" cy="22860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51931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2435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5965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Versione</a:t>
                      </a:r>
                    </a:p>
                  </a:txBody>
                  <a:tcPr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Istruzioni</a:t>
                      </a:r>
                    </a:p>
                  </a:txBody>
                  <a:tcPr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Letture tabella</a:t>
                      </a:r>
                    </a:p>
                  </a:txBody>
                  <a:tcPr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Salti</a:t>
                      </a:r>
                    </a:p>
                  </a:txBody>
                  <a:tcPr marT="27432" marB="27432" anchor="ctr"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222B36"/>
                          </a:solidFill>
                          <a:latin typeface="Calibri"/>
                        </a:rPr>
                        <a:t>P1 statica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624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222B36"/>
                          </a:solidFill>
                          <a:latin typeface="Calibri"/>
                        </a:rPr>
                        <a:t>P1.5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961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222B36"/>
                          </a:solidFill>
                          <a:latin typeface="Calibri"/>
                        </a:rPr>
                        <a:t>P2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16 813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222B36"/>
                          </a:solidFill>
                          <a:latin typeface="Calibri"/>
                        </a:rPr>
                        <a:t>P3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12 288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23–54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 dirty="0">
                          <a:solidFill>
                            <a:srgbClr val="222B36"/>
                          </a:solidFill>
                          <a:latin typeface="Calibri"/>
                        </a:rPr>
                        <a:t>1/strato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6766560" y="4160520"/>
            <a:ext cx="4937760" cy="2057400"/>
          </a:xfrm>
          <a:prstGeom prst="roundRect">
            <a:avLst>
              <a:gd name="adj" fmla="val 6000"/>
            </a:avLst>
          </a:prstGeom>
          <a:solidFill>
            <a:srgbClr val="FFF4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766560" y="4160520"/>
            <a:ext cx="82296" cy="2057400"/>
          </a:xfrm>
          <a:prstGeom prst="rect">
            <a:avLst/>
          </a:prstGeom>
          <a:solidFill>
            <a:srgbClr val="F2B1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040880" y="423367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1" i="0">
                <a:solidFill>
                  <a:srgbClr val="B57A00"/>
                </a:solidFill>
                <a:latin typeface="Calibri"/>
              </a:rPr>
              <a:t>QUINDI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0" y="4526280"/>
            <a:ext cx="4480560" cy="1600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0" i="0">
                <a:solidFill>
                  <a:srgbClr val="222B36"/>
                </a:solidFill>
                <a:latin typeface="Calibri"/>
              </a:rPr>
              <a:t>La configurabilità si paga nelle </a:t>
            </a:r>
            <a:r>
              <a:rPr sz="1500" b="1" i="0">
                <a:solidFill>
                  <a:srgbClr val="222B36"/>
                </a:solidFill>
                <a:latin typeface="Calibri"/>
              </a:rPr>
              <a:t>letture di tabella</a:t>
            </a:r>
            <a:r>
              <a:rPr sz="1500" b="0" i="0">
                <a:solidFill>
                  <a:srgbClr val="222B36"/>
                </a:solidFill>
                <a:latin typeface="Calibri"/>
              </a:rPr>
              <a:t> (5 → 35 per pacchetto) e nei </a:t>
            </a:r>
            <a:r>
              <a:rPr sz="1500" b="1" i="0">
                <a:solidFill>
                  <a:srgbClr val="222B36"/>
                </a:solidFill>
                <a:latin typeface="Calibri"/>
              </a:rPr>
              <a:t>salti</a:t>
            </a:r>
            <a:r>
              <a:rPr sz="1500" b="0" i="0">
                <a:solidFill>
                  <a:srgbClr val="222B36"/>
                </a:solidFill>
                <a:latin typeface="Calibri"/>
              </a:rPr>
              <a:t> (P3: uno per strato), non nell'aritmetica. Sopra la baseline, rendere configurabile la forma (P2) costa </a:t>
            </a:r>
            <a:r>
              <a:rPr sz="1500" b="1" i="0">
                <a:solidFill>
                  <a:srgbClr val="222B36"/>
                </a:solidFill>
                <a:latin typeface="Calibri"/>
              </a:rPr>
              <a:t>4,3 [2,7–12,8]×</a:t>
            </a:r>
            <a:r>
              <a:rPr sz="1500" b="0" i="0">
                <a:solidFill>
                  <a:srgbClr val="222B36"/>
                </a:solidFill>
                <a:latin typeface="Calibri"/>
              </a:rPr>
              <a:t> P1; anche la profondità (P3) </a:t>
            </a:r>
            <a:r>
              <a:rPr sz="1500" b="1" i="0">
                <a:solidFill>
                  <a:srgbClr val="222B36"/>
                </a:solidFill>
                <a:latin typeface="Calibri"/>
              </a:rPr>
              <a:t>7,8 [4,9–24,6]×</a:t>
            </a:r>
            <a:r>
              <a:rPr sz="1500" b="0" i="0">
                <a:solidFill>
                  <a:srgbClr val="222B36"/>
                </a:solidFill>
                <a:latin typeface="Calibri"/>
              </a:rPr>
              <a:t>. Fra P1 e P1.5: 1,1 [0,9–1,7]×.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CAMBIARE MODELLO · IL COMPROMESSO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Cambiare modello costa millisecondi a tutte le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1769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lang="it-IT" sz="1100" b="0" i="0">
                <a:solidFill>
                  <a:srgbClr val="6B7C93"/>
                </a:solidFill>
                <a:latin typeface="Calibri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1769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 dirty="0">
                <a:solidFill>
                  <a:srgbClr val="6B7C93"/>
                </a:solidFill>
                <a:latin typeface="Calibri"/>
              </a:rPr>
              <a:t>Tempo per installare un modello nuovo su un nodo già in servizio (scala logaritmica)  ·  mediane su 89 modelli, bench_solo.py  ·  clang senza cache, fuori dal nodo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600200"/>
          <a:ext cx="5669280" cy="38404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400800" y="1645920"/>
            <a:ext cx="5303520" cy="173736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400800" y="1645920"/>
            <a:ext cx="82296" cy="1737360"/>
          </a:xfrm>
          <a:prstGeom prst="rect">
            <a:avLst/>
          </a:prstGeom>
          <a:solidFill>
            <a:srgbClr val="E07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675120" y="1810512"/>
            <a:ext cx="4892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 i="0">
                <a:solidFill>
                  <a:srgbClr val="E07A2D"/>
                </a:solidFill>
                <a:latin typeface="Calibri"/>
              </a:rPr>
              <a:t>Con l'oggetto precompilato (AOT)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2221992"/>
            <a:ext cx="4892040" cy="11155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222B36"/>
                </a:solidFill>
                <a:latin typeface="Calibri"/>
              </a:rPr>
              <a:t>Il nodo carica un file pronto: 0,3–1,5 ms (mediana 0,6). Generarlo e compilarlo con clang, fuori dal nodo, costa 34–114 ms secondo il modello (mediana 49).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3566160"/>
            <a:ext cx="5303520" cy="173736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400800" y="3566160"/>
            <a:ext cx="82296" cy="1737360"/>
          </a:xfrm>
          <a:prstGeom prst="rect">
            <a:avLst/>
          </a:prstGeom>
          <a:solidFill>
            <a:srgbClr val="2E9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675120" y="3730752"/>
            <a:ext cx="4892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 i="0">
                <a:solidFill>
                  <a:srgbClr val="2E9C6E"/>
                </a:solidFill>
                <a:latin typeface="Calibri"/>
              </a:rPr>
              <a:t>Il vantaggio di P2 e P3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0" y="4142232"/>
            <a:ext cx="4892040" cy="11155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222B36"/>
                </a:solidFill>
                <a:latin typeface="Calibri"/>
              </a:rPr>
              <a:t>Un modello nuovo si installa scrivendo le sue tabelle: 0,24–0,51 ms, nessun compilatore. Il programma generico si compila una volta sola all'avvio (P2 1,5–1,7 s, P3 1,2 s).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5577840"/>
            <a:ext cx="11094415" cy="777240"/>
          </a:xfrm>
          <a:prstGeom prst="roundRect">
            <a:avLst>
              <a:gd name="adj" fmla="val 6000"/>
            </a:avLst>
          </a:prstGeom>
          <a:solidFill>
            <a:srgbClr val="FFF4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548640" y="5577840"/>
            <a:ext cx="82296" cy="777240"/>
          </a:xfrm>
          <a:prstGeom prst="rect">
            <a:avLst/>
          </a:prstGeom>
          <a:solidFill>
            <a:srgbClr val="F2B1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22960" y="565099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1" i="0">
                <a:solidFill>
                  <a:srgbClr val="B57A00"/>
                </a:solidFill>
                <a:latin typeface="Calibri"/>
              </a:rPr>
              <a:t>QUINDI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83080" y="5577840"/>
            <a:ext cx="9677095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0" i="0">
                <a:solidFill>
                  <a:srgbClr val="222B36"/>
                </a:solidFill>
                <a:latin typeface="Calibri"/>
              </a:rPr>
              <a:t>Il tempo per cambiare modello non è un criterio di scelta: sul nodo meno di 6 ms per tutte, su ogni modello. Si sceglie sul costo per pacchetto (19–155 ns di rete con i pesi compilati, 129–852 con quelli da tabella) e su dove serve un compilatore.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LA RETE NEURALE SOTTO TRAFFICO · TAGLIA DELLA RETE, LARGHEZZA DEL MODELLO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La rete può crescere quanto vuole. Il modello no.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100" b="0" i="0">
                <a:solidFill>
                  <a:srgbClr val="6B7C93"/>
                </a:solidFill>
                <a:latin typeface="Calibri"/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1769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 dirty="0">
                <a:solidFill>
                  <a:srgbClr val="6B7C93"/>
                </a:solidFill>
                <a:latin typeface="Calibri"/>
              </a:rPr>
              <a:t>Tempo di CPU meno la baseline, xdp_gen, P-core  ·  a sinistra: misurato meno la legge, mediana per taglia della rete  ·  a destra: famiglia base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463040"/>
          <a:ext cx="5669280" cy="32461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217920" y="1463040"/>
          <a:ext cx="5669280" cy="32461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4800600"/>
            <a:ext cx="5394960" cy="69910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lang="it-IT" sz="1400" b="1" i="0" dirty="0">
                <a:solidFill>
                  <a:srgbClr val="222B36"/>
                </a:solidFill>
                <a:latin typeface="Calibri"/>
              </a:rPr>
              <a:t>Nodi della rete</a:t>
            </a:r>
            <a:r>
              <a:rPr lang="it-IT" sz="1400" b="0" i="0" dirty="0">
                <a:solidFill>
                  <a:srgbClr val="222B36"/>
                </a:solidFill>
                <a:latin typeface="Calibri"/>
              </a:rPr>
              <a:t> (56 modelli, reti da 10 a 100 nodi). Lo scarto dalla legge non cresce: al più 0,03 ns per nodo.</a:t>
            </a:r>
            <a:endParaRPr sz="1400" b="0" i="0" dirty="0">
              <a:solidFill>
                <a:srgbClr val="222B36"/>
              </a:solidFill>
              <a:latin typeface="Calibri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6309360" y="4800600"/>
            <a:ext cx="539496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 i="0">
                <a:solidFill>
                  <a:srgbClr val="222B36"/>
                </a:solidFill>
                <a:latin typeface="Calibri"/>
              </a:rPr>
              <a:t>Larghezza del modello.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Da 2 a 8 neuroni sale su tutte e quattro: P1 37 → 90 ns, P3 389 → 537 ns (mediane).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5577840"/>
            <a:ext cx="11094415" cy="777240"/>
          </a:xfrm>
          <a:prstGeom prst="roundRect">
            <a:avLst>
              <a:gd name="adj" fmla="val 6000"/>
            </a:avLst>
          </a:prstGeom>
          <a:solidFill>
            <a:srgbClr val="FFF4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48640" y="5577840"/>
            <a:ext cx="82296" cy="777240"/>
          </a:xfrm>
          <a:prstGeom prst="rect">
            <a:avLst/>
          </a:prstGeom>
          <a:solidFill>
            <a:srgbClr val="F2B1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2960" y="565099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1" i="0">
                <a:solidFill>
                  <a:srgbClr val="B57A00"/>
                </a:solidFill>
                <a:latin typeface="Calibri"/>
              </a:rPr>
              <a:t>QUINDI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5577840"/>
            <a:ext cx="9677095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0" i="0">
                <a:solidFill>
                  <a:srgbClr val="222B36"/>
                </a:solidFill>
                <a:latin typeface="Calibri"/>
              </a:rPr>
              <a:t>Una </a:t>
            </a:r>
            <a:r>
              <a:rPr sz="1500" b="1" i="0">
                <a:solidFill>
                  <a:srgbClr val="222B36"/>
                </a:solidFill>
                <a:latin typeface="Calibri"/>
              </a:rPr>
              <a:t>rete più grande</a:t>
            </a:r>
            <a:r>
              <a:rPr sz="1500" b="0" i="0">
                <a:solidFill>
                  <a:srgbClr val="222B36"/>
                </a:solidFill>
                <a:latin typeface="Calibri"/>
              </a:rPr>
              <a:t> (più nodi) non rallenta nessuna pipeline: basta una riga in più in tabella. Un </a:t>
            </a:r>
            <a:r>
              <a:rPr sz="1500" b="1" i="0">
                <a:solidFill>
                  <a:srgbClr val="222B36"/>
                </a:solidFill>
                <a:latin typeface="Calibri"/>
              </a:rPr>
              <a:t>modello più largo</a:t>
            </a:r>
            <a:r>
              <a:rPr sz="1500" b="0" i="0">
                <a:solidFill>
                  <a:srgbClr val="222B36"/>
                </a:solidFill>
                <a:latin typeface="Calibri"/>
              </a:rPr>
              <a:t> rallenta tutte, a ogni pacchetto. Si può far crescere la rete; il modello va tenuto piccolo.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LA RETE NEURALE SOTTO TRAFFICO · PROFONDITÀ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Uno strato in più: P2 lo paga in spazio, P3 in tempo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100" b="0" i="0">
                <a:solidFill>
                  <a:srgbClr val="6B7C93"/>
                </a:solidFill>
                <a:latin typeface="Calibri"/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>
                <a:solidFill>
                  <a:srgbClr val="6B7C93"/>
                </a:solidFill>
                <a:latin typeface="Calibri"/>
              </a:rPr>
              <a:t>Mediane per numero di strati, famiglia base (53 modelli)  ·  dimensione: istruzioni del programma caricato  ·  tempo: CPU meno baseline, xdp_gen, P-core a 3,5 GHz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75388094"/>
              </p:ext>
            </p:extLst>
          </p:nvPr>
        </p:nvGraphicFramePr>
        <p:xfrm>
          <a:off x="457200" y="1463040"/>
          <a:ext cx="5669280" cy="32461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217920" y="1463040"/>
          <a:ext cx="5669280" cy="32461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4800600"/>
            <a:ext cx="5394960" cy="46211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 i="0">
                <a:solidFill>
                  <a:srgbClr val="222B36"/>
                </a:solidFill>
                <a:latin typeface="Calibri"/>
              </a:rPr>
              <a:t>Dimensione.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P2 ricompila e srotola: +887 istruzioni per strato (r² 0,96). P3 non si muove: 12 288 su ogni modello.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4800600"/>
            <a:ext cx="539496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 i="0">
                <a:solidFill>
                  <a:srgbClr val="222B36"/>
                </a:solidFill>
                <a:latin typeface="Calibri"/>
              </a:rPr>
              <a:t>Tempo.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P3 paga ~46 ns per strato, P2 ~20, P1 e P1.5 ~1 (legge, a MAC ferme).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5577840"/>
            <a:ext cx="11094415" cy="777240"/>
          </a:xfrm>
          <a:prstGeom prst="roundRect">
            <a:avLst>
              <a:gd name="adj" fmla="val 6000"/>
            </a:avLst>
          </a:prstGeom>
          <a:solidFill>
            <a:srgbClr val="FFF4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48640" y="5577840"/>
            <a:ext cx="82296" cy="777240"/>
          </a:xfrm>
          <a:prstGeom prst="rect">
            <a:avLst/>
          </a:prstGeom>
          <a:solidFill>
            <a:srgbClr val="F2B1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2960" y="565099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1" i="0">
                <a:solidFill>
                  <a:srgbClr val="B57A00"/>
                </a:solidFill>
                <a:latin typeface="Calibri"/>
              </a:rPr>
              <a:t>QUINDI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5728991"/>
            <a:ext cx="9677095" cy="47493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0" i="0">
                <a:solidFill>
                  <a:srgbClr val="222B36"/>
                </a:solidFill>
                <a:latin typeface="Calibri"/>
              </a:rPr>
              <a:t>Un modello profondo si paga sempre: con P2 in un programma più grande da ricompilare (~890 istruzioni per strato), con P3 in ~46 ns per pacchetto a ogni strato. P3 è la più flessibile, ed è quella che la profondità rallenta di più.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LA RETE NEURALE SOTTO TRAFFICO · A PARITÀ DI PESI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«Meglio larga o profonda?» dipende da chi la esegue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100" b="0" i="0">
                <a:solidFill>
                  <a:srgbClr val="6B7C93"/>
                </a:solidFill>
                <a:latin typeface="Calibri"/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>
                <a:solidFill>
                  <a:srgbClr val="6B7C93"/>
                </a:solidFill>
                <a:latin typeface="Calibri"/>
              </a:rPr>
              <a:t>Cinque forme con circa 592 pesi, da 1 a 5 strati, 2 composizioni dell'ingresso (10 modelli)  ·  mediane  ·  CPU meno baseline, P-core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463040"/>
          <a:ext cx="6766560" cy="39319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498079" y="1600200"/>
            <a:ext cx="4206240" cy="178308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498079" y="1600200"/>
            <a:ext cx="82296" cy="1783080"/>
          </a:xfrm>
          <a:prstGeom prst="rect">
            <a:avLst/>
          </a:prstGeom>
          <a:solidFill>
            <a:srgbClr val="2E9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772399" y="1764792"/>
            <a:ext cx="3794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 i="0">
                <a:solidFill>
                  <a:srgbClr val="2E9C6E"/>
                </a:solidFill>
                <a:latin typeface="Calibri"/>
              </a:rPr>
              <a:t>Generiche: la profondità si paga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399" y="2176272"/>
            <a:ext cx="3794760" cy="11612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222B36"/>
                </a:solidFill>
                <a:latin typeface="Calibri"/>
              </a:rPr>
              <a:t>Da 1 a 5 strati, a pesi fermi: P2 +48 [44–53] %, P3 +63 [55–70] %; ~58 ns per strato per P3.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8079" y="3566160"/>
            <a:ext cx="4206240" cy="178308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7498079" y="3566160"/>
            <a:ext cx="82296" cy="1783080"/>
          </a:xfrm>
          <a:prstGeom prst="rect">
            <a:avLst/>
          </a:prstGeom>
          <a:solidFill>
            <a:srgbClr val="E07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772399" y="3730752"/>
            <a:ext cx="3794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 i="0">
                <a:solidFill>
                  <a:srgbClr val="E07A2D"/>
                </a:solidFill>
                <a:latin typeface="Calibri"/>
              </a:rPr>
              <a:t>Specializzate: quasi indifferenti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399" y="4142232"/>
            <a:ext cx="3794760" cy="11612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 i="0">
                <a:solidFill>
                  <a:srgbClr val="222B36"/>
                </a:solidFill>
                <a:latin typeface="Calibri"/>
              </a:rPr>
              <a:t>69–92 ns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(mediane): srotolano tutto in una funzione sola, e la forma conta poco (~4 ns per strato).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5532120"/>
            <a:ext cx="11094415" cy="777240"/>
          </a:xfrm>
          <a:prstGeom prst="roundRect">
            <a:avLst>
              <a:gd name="adj" fmla="val 6000"/>
            </a:avLst>
          </a:prstGeom>
          <a:solidFill>
            <a:srgbClr val="FFF4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548640" y="5532120"/>
            <a:ext cx="82296" cy="777240"/>
          </a:xfrm>
          <a:prstGeom prst="rect">
            <a:avLst/>
          </a:prstGeom>
          <a:solidFill>
            <a:srgbClr val="F2B1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22960" y="560527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1" i="0">
                <a:solidFill>
                  <a:srgbClr val="B57A00"/>
                </a:solidFill>
                <a:latin typeface="Calibri"/>
              </a:rPr>
              <a:t>QUINDI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83080" y="5532120"/>
            <a:ext cx="9677095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0" i="0">
                <a:solidFill>
                  <a:srgbClr val="222B36"/>
                </a:solidFill>
                <a:latin typeface="Calibri"/>
              </a:rPr>
              <a:t>Con le versioni specializzate la forma della rete si sceglie per l'accuratezza. Con le generiche, a parità di pesi, conviene una rete larga e poco profonda: da 1 a 5 strati il costo sale del 48 % (P2) e del 63 % (P3).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LA RETE NEURALE SOTTO TRAFFICO · CONTARE IL LAVORO GIUSTO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Il costo di un modello si prevede: a + b × MAC + c × strati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100" b="0" i="0">
                <a:solidFill>
                  <a:srgbClr val="6B7C93"/>
                </a:solidFill>
                <a:latin typeface="Calibri"/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1769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 dirty="0" err="1">
                <a:solidFill>
                  <a:srgbClr val="6B7C93"/>
                </a:solidFill>
                <a:latin typeface="Calibri"/>
              </a:rPr>
              <a:t>Legge su 83 modelli densi (P2: 77), errore su modelli lasciati fuori  ·  grafico: misurato meno c × strati  ·  tabella: quote mediane dei tre termini  ·  P-core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223760" y="1645920"/>
          <a:ext cx="4480560" cy="237744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01625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643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600" b="1" i="0">
                          <a:solidFill>
                            <a:srgbClr val="FFFFFF"/>
                          </a:solidFill>
                          <a:latin typeface="Calibri"/>
                        </a:rPr>
                        <a:t>Versione</a:t>
                      </a:r>
                    </a:p>
                  </a:txBody>
                  <a:tcPr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1" i="0">
                          <a:solidFill>
                            <a:srgbClr val="FFFFFF"/>
                          </a:solidFill>
                          <a:latin typeface="Calibri"/>
                        </a:rPr>
                        <a:t>fisso · MAC · strati</a:t>
                      </a:r>
                    </a:p>
                  </a:txBody>
                  <a:tcPr marT="27432" marB="27432" anchor="ctr"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600" b="1" i="0">
                          <a:solidFill>
                            <a:srgbClr val="222B36"/>
                          </a:solidFill>
                          <a:latin typeface="Calibri"/>
                        </a:rPr>
                        <a:t>P1 statica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 i="0">
                          <a:solidFill>
                            <a:srgbClr val="222B36"/>
                          </a:solidFill>
                          <a:latin typeface="Calibri"/>
                        </a:rPr>
                        <a:t>40 % · 50 % · 8 %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600" b="1" i="0">
                          <a:solidFill>
                            <a:srgbClr val="222B36"/>
                          </a:solidFill>
                          <a:latin typeface="Calibri"/>
                        </a:rPr>
                        <a:t>P1.5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 i="0">
                          <a:solidFill>
                            <a:srgbClr val="222B36"/>
                          </a:solidFill>
                          <a:latin typeface="Calibri"/>
                        </a:rPr>
                        <a:t>48 % · 46 % · 5 %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600" b="1" i="0">
                          <a:solidFill>
                            <a:srgbClr val="222B36"/>
                          </a:solidFill>
                          <a:latin typeface="Calibri"/>
                        </a:rPr>
                        <a:t>P2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 i="0">
                          <a:solidFill>
                            <a:srgbClr val="222B36"/>
                          </a:solidFill>
                          <a:latin typeface="Calibri"/>
                        </a:rPr>
                        <a:t>47 % · 18 % · 31 %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600" b="1" i="0">
                          <a:solidFill>
                            <a:srgbClr val="222B36"/>
                          </a:solidFill>
                          <a:latin typeface="Calibri"/>
                        </a:rPr>
                        <a:t>P3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 i="0">
                          <a:solidFill>
                            <a:srgbClr val="222B36"/>
                          </a:solidFill>
                          <a:latin typeface="Calibri"/>
                        </a:rPr>
                        <a:t>37 % · 18 % · 39 %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223760" y="4160520"/>
            <a:ext cx="448056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 i="0" dirty="0" err="1">
                <a:solidFill>
                  <a:srgbClr val="222B36"/>
                </a:solidFill>
                <a:latin typeface="Calibri"/>
              </a:rPr>
              <a:t>Dove va il tempo</a:t>
            </a:r>
            <a:r>
              <a:rPr sz="1400" b="0" i="0" dirty="0" err="1">
                <a:solidFill>
                  <a:srgbClr val="222B36"/>
                </a:solidFill>
                <a:latin typeface="Calibri"/>
              </a:rPr>
              <a:t> (quota mediana di ogni termine). P1 e P1.5: circa metà nelle moltiplicazioni. P2 e P3: 82 % nella parte fissa e negli strati, cioè tail call e letture di tabella. La legge regge su tutte (r² 0,93–0,99, errore 3–9 % su modelli non visti).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5532120"/>
            <a:ext cx="11094415" cy="777240"/>
          </a:xfrm>
          <a:prstGeom prst="roundRect">
            <a:avLst>
              <a:gd name="adj" fmla="val 6000"/>
            </a:avLst>
          </a:prstGeom>
          <a:solidFill>
            <a:srgbClr val="FFF4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48640" y="5532120"/>
            <a:ext cx="82296" cy="777240"/>
          </a:xfrm>
          <a:prstGeom prst="rect">
            <a:avLst/>
          </a:prstGeom>
          <a:solidFill>
            <a:srgbClr val="F2B1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22960" y="560527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1" i="0">
                <a:solidFill>
                  <a:srgbClr val="B57A00"/>
                </a:solidFill>
                <a:latin typeface="Calibri"/>
              </a:rPr>
              <a:t>QUINDI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5532120"/>
            <a:ext cx="9677095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0" i="0">
                <a:solidFill>
                  <a:srgbClr val="222B36"/>
                </a:solidFill>
                <a:latin typeface="Calibri"/>
              </a:rPr>
              <a:t>Il costo di un modello si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stima prima di misurarlo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: ~22 ns +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0,26 ns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per MAC con i pesi compilati (P1), ~154 ns +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0,77 ns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per MAC + ~46 ns per strato con P3. Per P2 e P3 pesa la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struttura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(tail call, letture di tabella), non l'aritmetica.</a:t>
            </a:r>
          </a:p>
        </p:txBody>
      </p:sp>
      <p:pic>
        <p:nvPicPr>
          <p:cNvPr id="14" name="Picture 13" descr="legge_cost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463040"/>
            <a:ext cx="6217920" cy="38862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LA RETE NEURALE SOTTO TRAFFICO · QUANDO LA SPECIALIZZAZIONE PAGA DAVVERO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Pesi a zero: solo le specializzate dimagriscono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100" b="0" i="0">
                <a:solidFill>
                  <a:srgbClr val="6B7C93"/>
                </a:solidFill>
                <a:latin typeface="Calibri"/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>
                <a:solidFill>
                  <a:srgbClr val="6B7C93"/>
                </a:solidFill>
                <a:latin typeface="Calibri"/>
              </a:rPr>
              <a:t>4 forme al 50 e al 90 % di pesi a zero, ciascuna contro la legge stimata sui modelli densi  ·  tempo di CPU meno la baseline, xdp_gen, nodo saturo, P-core a 3,5 GHz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463040"/>
          <a:ext cx="6766560" cy="39319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498079" y="1600200"/>
            <a:ext cx="4206240" cy="178308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498079" y="1600200"/>
            <a:ext cx="82296" cy="1783080"/>
          </a:xfrm>
          <a:prstGeom prst="rect">
            <a:avLst/>
          </a:prstGeom>
          <a:solidFill>
            <a:srgbClr val="E07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772399" y="1764792"/>
            <a:ext cx="3794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 i="0">
                <a:solidFill>
                  <a:srgbClr val="E07A2D"/>
                </a:solidFill>
                <a:latin typeface="Calibri"/>
              </a:rPr>
              <a:t>P1.5, da 0 a 90 % di zeri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399" y="2176272"/>
            <a:ext cx="3794760" cy="11612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222B36"/>
                </a:solidFill>
                <a:latin typeface="Calibri"/>
              </a:rPr>
              <a:t>Al 90 % di zeri il programma scende a 0,34–0,35× quello del modello denso, e il costo della rete a 0,62 [0,27–0,83]× del previsto. Il compilatore vede lo zero e cancella la moltiplicazione.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8079" y="3566160"/>
            <a:ext cx="4206240" cy="178308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7498079" y="3566160"/>
            <a:ext cx="82296" cy="1783080"/>
          </a:xfrm>
          <a:prstGeom prst="rect">
            <a:avLst/>
          </a:prstGeom>
          <a:solidFill>
            <a:srgbClr val="2E9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772399" y="3730752"/>
            <a:ext cx="3794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 i="0">
                <a:solidFill>
                  <a:srgbClr val="2E9C6E"/>
                </a:solidFill>
                <a:latin typeface="Calibri"/>
              </a:rPr>
              <a:t>P2 e P3, stessi pesi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399" y="4142232"/>
            <a:ext cx="3794760" cy="11612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222B36"/>
                </a:solidFill>
                <a:latin typeface="Calibri"/>
              </a:rPr>
              <a:t>Dimensione identica al modello denso, costo 1,02 [0,91–1,14]× (P2) e 1,01 [0,91–1,03]× (P3) del previsto: zero, letto da una tabella, è un numero come un altro.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5532120"/>
            <a:ext cx="11094415" cy="777240"/>
          </a:xfrm>
          <a:prstGeom prst="roundRect">
            <a:avLst>
              <a:gd name="adj" fmla="val 6000"/>
            </a:avLst>
          </a:prstGeom>
          <a:solidFill>
            <a:srgbClr val="FFF4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548640" y="5532120"/>
            <a:ext cx="82296" cy="777240"/>
          </a:xfrm>
          <a:prstGeom prst="rect">
            <a:avLst/>
          </a:prstGeom>
          <a:solidFill>
            <a:srgbClr val="F2B1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22960" y="560527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1" i="0">
                <a:solidFill>
                  <a:srgbClr val="B57A00"/>
                </a:solidFill>
                <a:latin typeface="Calibri"/>
              </a:rPr>
              <a:t>QUINDI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83080" y="5532120"/>
            <a:ext cx="9677095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0" i="0">
                <a:solidFill>
                  <a:srgbClr val="222B36"/>
                </a:solidFill>
                <a:latin typeface="Calibri"/>
              </a:rPr>
              <a:t>Potare il modello (pesi a zero) rende più veloci </a:t>
            </a:r>
            <a:r>
              <a:rPr sz="1500" b="1" i="0">
                <a:solidFill>
                  <a:srgbClr val="222B36"/>
                </a:solidFill>
                <a:latin typeface="Calibri"/>
              </a:rPr>
              <a:t>solo le versioni specializzate</a:t>
            </a:r>
            <a:r>
              <a:rPr sz="1500" b="0" i="0">
                <a:solidFill>
                  <a:srgbClr val="222B36"/>
                </a:solidFill>
                <a:latin typeface="Calibri"/>
              </a:rPr>
              <a:t>: al 90 % di zeri P1 costa </a:t>
            </a:r>
            <a:r>
              <a:rPr sz="1500" b="1" i="0">
                <a:solidFill>
                  <a:srgbClr val="222B36"/>
                </a:solidFill>
                <a:latin typeface="Calibri"/>
              </a:rPr>
              <a:t>0,44×</a:t>
            </a:r>
            <a:r>
              <a:rPr sz="1500" b="0" i="0">
                <a:solidFill>
                  <a:srgbClr val="222B36"/>
                </a:solidFill>
                <a:latin typeface="Calibri"/>
              </a:rPr>
              <a:t> e P1.5 </a:t>
            </a:r>
            <a:r>
              <a:rPr sz="1500" b="1" i="0">
                <a:solidFill>
                  <a:srgbClr val="222B36"/>
                </a:solidFill>
                <a:latin typeface="Calibri"/>
              </a:rPr>
              <a:t>0,62×</a:t>
            </a:r>
            <a:r>
              <a:rPr sz="1500" b="0" i="0">
                <a:solidFill>
                  <a:srgbClr val="222B36"/>
                </a:solidFill>
                <a:latin typeface="Calibri"/>
              </a:rPr>
              <a:t> del modello denso previsto. Con P2 e P3 non dà niente.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372</TotalTime>
  <Words>3473</Words>
  <Application>Microsoft Office PowerPoint</Application>
  <PresentationFormat>Widescreen</PresentationFormat>
  <Paragraphs>437</Paragraphs>
  <Slides>22</Slides>
  <Notes>1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4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22</vt:i4>
      </vt:variant>
    </vt:vector>
  </HeadingPairs>
  <TitlesOfParts>
    <vt:vector size="27" baseType="lpstr">
      <vt:lpstr>Aptos</vt:lpstr>
      <vt:lpstr>Arial</vt:lpstr>
      <vt:lpstr>Calibri</vt:lpstr>
      <vt:lpstr>Consolas</vt:lpstr>
      <vt:lpstr>Office Theme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Ettore Cantile</cp:lastModifiedBy>
  <cp:revision>1</cp:revision>
  <dcterms:created xsi:type="dcterms:W3CDTF">2013-01-27T09:14:16Z</dcterms:created>
  <dcterms:modified xsi:type="dcterms:W3CDTF">2026-09-25T15:18:16Z</dcterms:modified>
  <cp:category/>
</cp:coreProperties>
</file>