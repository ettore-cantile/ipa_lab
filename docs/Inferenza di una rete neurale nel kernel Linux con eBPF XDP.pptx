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charts/chart4.xml" ContentType="application/vnd.openxmlformats-officedocument.drawingml.chart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Masters/notesMaster1.xml" ContentType="application/vnd.openxmlformats-officedocument.presentationml.notesMaster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charts/chart23.xml" ContentType="application/vnd.openxmlformats-officedocument.drawingml.chart+xml"/>
  <Override PartName="/ppt/charts/chart18.xml" ContentType="application/vnd.openxmlformats-officedocument.drawingml.chart+xml"/>
  <Override PartName="/ppt/slideLayouts/slideLayout11.xml" ContentType="application/vnd.openxmlformats-officedocument.presentationml.slideLayout+xml"/>
  <Override PartName="/ppt/charts/chart22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>
              <a:noFill/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>
              <a:noFill/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0" d="100"/>
          <a:sy n="80" d="100"/>
        </p:scale>
        <p:origin x="112" y="44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 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 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 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 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 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 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 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 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 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 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 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 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 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 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 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 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ricevere il pacchetto</c:v>
                </c:pt>
              </c:strCache>
            </c:strRef>
          </c:tx>
          <c:spPr bwMode="auto">
            <a:prstGeom prst="rect">
              <a:avLst/>
            </a:prstGeom>
            <a:solidFill>
              <a:srgbClr val="B8C2CF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solo ricezione</c:v>
                </c:pt>
                <c:pt idx="1">
                  <c:v>senza rete</c:v>
                </c:pt>
                <c:pt idx="2">
                  <c:v>P1 statica</c:v>
                </c:pt>
                <c:pt idx="3">
                  <c:v>P1.5</c:v>
                </c:pt>
                <c:pt idx="4">
                  <c:v>P2</c:v>
                </c:pt>
                <c:pt idx="5">
                  <c:v>P3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40.1</c:v>
                </c:pt>
                <c:pt idx="1">
                  <c:v>40.1</c:v>
                </c:pt>
                <c:pt idx="2">
                  <c:v>40.1</c:v>
                </c:pt>
                <c:pt idx="3">
                  <c:v>40.1</c:v>
                </c:pt>
                <c:pt idx="4">
                  <c:v>40.1</c:v>
                </c:pt>
                <c:pt idx="5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leggere l'intestazione e inoltrare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8A94A6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solo ricezione</c:v>
                </c:pt>
                <c:pt idx="1">
                  <c:v>senza rete</c:v>
                </c:pt>
                <c:pt idx="2">
                  <c:v>P1 statica</c:v>
                </c:pt>
                <c:pt idx="3">
                  <c:v>P1.5</c:v>
                </c:pt>
                <c:pt idx="4">
                  <c:v>P2</c:v>
                </c:pt>
                <c:pt idx="5">
                  <c:v>P3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26.6</c:v>
                </c:pt>
                <c:pt idx="2">
                  <c:v>26.6</c:v>
                </c:pt>
                <c:pt idx="3">
                  <c:v>26.6</c:v>
                </c:pt>
                <c:pt idx="4">
                  <c:v>26.6</c:v>
                </c:pt>
                <c:pt idx="5">
                  <c:v>26.6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rete neurale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solo ricezione</c:v>
                </c:pt>
                <c:pt idx="1">
                  <c:v>senza rete</c:v>
                </c:pt>
                <c:pt idx="2">
                  <c:v>P1 statica</c:v>
                </c:pt>
                <c:pt idx="3">
                  <c:v>P1.5</c:v>
                </c:pt>
                <c:pt idx="4">
                  <c:v>P2</c:v>
                </c:pt>
                <c:pt idx="5">
                  <c:v>P3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52.4</c:v>
                </c:pt>
                <c:pt idx="3">
                  <c:v>58.9</c:v>
                </c:pt>
                <c:pt idx="4">
                  <c:v>224.6</c:v>
                </c:pt>
                <c:pt idx="5">
                  <c:v>419.8</c:v>
                </c:pt>
              </c:numCache>
            </c:numRef>
          </c:val>
        </c:ser>
        <c:dLbls>
          <c:dLblPos val="ctr"/>
          <c:numFmt formatCode="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endParaRPr/>
            </a:p>
          </c:txPr>
        </c:dLbls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17320"/>
      <a:ext cx="7223760" cy="4160519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caricate</c:v>
                </c:pt>
              </c:strCache>
            </c:strRef>
          </c:tx>
          <c:spPr bwMode="auto">
            <a:prstGeom prst="rect">
              <a:avLst/>
            </a:prstGeom>
            <a:solidFill>
              <a:srgbClr val="B8C2C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624</c:v>
                </c:pt>
                <c:pt idx="2">
                  <c:v>961</c:v>
                </c:pt>
                <c:pt idx="3">
                  <c:v>16813</c:v>
                </c:pt>
                <c:pt idx="4">
                  <c:v>12288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eseguite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605.9</c:v>
                </c:pt>
                <c:pt idx="1">
                  <c:v>1161.7</c:v>
                </c:pt>
                <c:pt idx="2">
                  <c:v>1345.7</c:v>
                </c:pt>
                <c:pt idx="3">
                  <c:v>4577.6</c:v>
                </c:pt>
                <c:pt idx="4">
                  <c:v>7575.2</c:v>
                </c:pt>
              </c:numCache>
            </c:numRef>
          </c:val>
        </c:ser>
        <c:dLbls>
          <c:dLblPos val="outEnd"/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istruzioni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605.9</c:v>
                </c:pt>
                <c:pt idx="1">
                  <c:v>1103.3</c:v>
                </c:pt>
                <c:pt idx="2">
                  <c:v>1284.65</c:v>
                </c:pt>
                <c:pt idx="3">
                  <c:v>4500.85</c:v>
                </c:pt>
                <c:pt idx="4">
                  <c:v>7210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607.1</c:v>
                </c:pt>
                <c:pt idx="1">
                  <c:v>1104.7</c:v>
                </c:pt>
                <c:pt idx="2">
                  <c:v>1288.25</c:v>
                </c:pt>
                <c:pt idx="3">
                  <c:v>4501.1</c:v>
                </c:pt>
                <c:pt idx="4">
                  <c:v>7209.6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611.65</c:v>
                </c:pt>
                <c:pt idx="1">
                  <c:v>1108.95</c:v>
                </c:pt>
                <c:pt idx="2">
                  <c:v>1291.65</c:v>
                </c:pt>
                <c:pt idx="3">
                  <c:v>4502.85</c:v>
                </c:pt>
                <c:pt idx="4">
                  <c:v>7211.8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istruzioni eseguite per pacchetto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621792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14.97</c:v>
                </c:pt>
                <c:pt idx="1">
                  <c:v>8.746</c:v>
                </c:pt>
                <c:pt idx="2">
                  <c:v>8.318</c:v>
                </c:pt>
                <c:pt idx="3">
                  <c:v>3.508</c:v>
                </c:pt>
                <c:pt idx="4">
                  <c:v>2.165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9.429</c:v>
                </c:pt>
                <c:pt idx="1">
                  <c:v>6.713</c:v>
                </c:pt>
                <c:pt idx="2">
                  <c:v>6.143</c:v>
                </c:pt>
                <c:pt idx="3">
                  <c:v>2.875</c:v>
                </c:pt>
                <c:pt idx="4">
                  <c:v>1.78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3.898</c:v>
                </c:pt>
                <c:pt idx="1">
                  <c:v>2.998</c:v>
                </c:pt>
                <c:pt idx="2">
                  <c:v>2.895</c:v>
                </c:pt>
                <c:pt idx="3">
                  <c:v>1.578</c:v>
                </c:pt>
                <c:pt idx="4">
                  <c:v>1.025</c:v>
                </c:pt>
              </c:numCache>
            </c:numRef>
          </c:val>
        </c:ser>
        <c:dLbls>
          <c:dLblPos val="outEnd"/>
          <c:numFmt formatCode="0.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milioni di pacchetti al secondo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66.85</c:v>
                </c:pt>
                <c:pt idx="1">
                  <c:v>114.4</c:v>
                </c:pt>
                <c:pt idx="2">
                  <c:v>120.35</c:v>
                </c:pt>
                <c:pt idx="3">
                  <c:v>285.15</c:v>
                </c:pt>
                <c:pt idx="4">
                  <c:v>462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106.05</c:v>
                </c:pt>
                <c:pt idx="1">
                  <c:v>149</c:v>
                </c:pt>
                <c:pt idx="2">
                  <c:v>162.8</c:v>
                </c:pt>
                <c:pt idx="3">
                  <c:v>347.8</c:v>
                </c:pt>
                <c:pt idx="4">
                  <c:v>561.85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256.6</c:v>
                </c:pt>
                <c:pt idx="1">
                  <c:v>333.6</c:v>
                </c:pt>
                <c:pt idx="2">
                  <c:v>345.45</c:v>
                </c:pt>
                <c:pt idx="3">
                  <c:v>633.8</c:v>
                </c:pt>
                <c:pt idx="4">
                  <c:v>976</c:v>
                </c:pt>
              </c:numCache>
            </c:numRef>
          </c:val>
        </c:ser>
        <c:dLbls>
          <c:dLblPos val="outEnd"/>
          <c:numFmt formatCode="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621792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</c:v>
                </c:pt>
                <c:pt idx="1">
                  <c:v>2.9</c:v>
                </c:pt>
                <c:pt idx="2">
                  <c:v>3.15</c:v>
                </c:pt>
                <c:pt idx="3">
                  <c:v>4.45</c:v>
                </c:pt>
                <c:pt idx="4">
                  <c:v>4.45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1.7</c:v>
                </c:pt>
                <c:pt idx="1">
                  <c:v>2.2</c:v>
                </c:pt>
                <c:pt idx="2">
                  <c:v>2.3</c:v>
                </c:pt>
                <c:pt idx="3">
                  <c:v>3.75</c:v>
                </c:pt>
                <c:pt idx="4">
                  <c:v>3.7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1.35</c:v>
                </c:pt>
                <c:pt idx="2">
                  <c:v>1.5</c:v>
                </c:pt>
                <c:pt idx="3">
                  <c:v>2.8</c:v>
                </c:pt>
                <c:pt idx="4">
                  <c:v>3</c:v>
                </c:pt>
              </c:numCache>
            </c:numRef>
          </c:val>
        </c:ser>
        <c:dLbls>
          <c:dLblPos val="outEnd"/>
          <c:numFmt formatCode="0.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istruzioni per ciclo di clock</a:t>
                </a:r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  <c:majorUnit val="1.000000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6035039" cy="37033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13.5</c:v>
                </c:pt>
                <c:pt idx="1">
                  <c:v>13.7</c:v>
                </c:pt>
                <c:pt idx="2">
                  <c:v>17.45</c:v>
                </c:pt>
                <c:pt idx="3">
                  <c:v>16.1</c:v>
                </c:pt>
                <c:pt idx="4">
                  <c:v>18.95</c:v>
                </c:pt>
              </c:numCache>
            </c:numRef>
          </c:val>
        </c:ser>
        <c:dLbls>
          <c:dLblPos val="outEnd"/>
          <c:numFmt formatCode="0;;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letture andate in memoria, per pacchetto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232.7</c:v>
                </c:pt>
                <c:pt idx="1">
                  <c:v>399.65</c:v>
                </c:pt>
                <c:pt idx="2">
                  <c:v>420.3</c:v>
                </c:pt>
                <c:pt idx="3">
                  <c:v>995.95</c:v>
                </c:pt>
                <c:pt idx="4">
                  <c:v>1613.9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359.7</c:v>
                </c:pt>
                <c:pt idx="1">
                  <c:v>509.9</c:v>
                </c:pt>
                <c:pt idx="2">
                  <c:v>559</c:v>
                </c:pt>
                <c:pt idx="3">
                  <c:v>1200.95</c:v>
                </c:pt>
                <c:pt idx="4">
                  <c:v>1944.5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LP E-core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E07A2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640</c:v>
                </c:pt>
                <c:pt idx="1">
                  <c:v>832.25</c:v>
                </c:pt>
                <c:pt idx="2">
                  <c:v>861.85</c:v>
                </c:pt>
                <c:pt idx="3">
                  <c:v>1580.8</c:v>
                </c:pt>
                <c:pt idx="4">
                  <c:v>2434.65</c:v>
                </c:pt>
              </c:numCache>
            </c:numRef>
          </c:val>
        </c:ser>
        <c:dLbls>
          <c:dLblPos val="outEnd"/>
          <c:numFmt formatCode="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cicli di clock per pacchetto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621792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0.748</c:v>
                </c:pt>
                <c:pt idx="3">
                  <c:v>0.938</c:v>
                </c:pt>
                <c:pt idx="4">
                  <c:v>0.962</c:v>
                </c:pt>
                <c:pt idx="5">
                  <c:v>0.963</c:v>
                </c:pt>
                <c:pt idx="6">
                  <c:v>0.937</c:v>
                </c:pt>
                <c:pt idx="7">
                  <c:v>0.949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0.748</c:v>
                </c:pt>
                <c:pt idx="3">
                  <c:v>0.95</c:v>
                </c:pt>
                <c:pt idx="4">
                  <c:v>0.965</c:v>
                </c:pt>
                <c:pt idx="5">
                  <c:v>0.964</c:v>
                </c:pt>
                <c:pt idx="6">
                  <c:v>0.943</c:v>
                </c:pt>
                <c:pt idx="7">
                  <c:v>0.949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0.95</c:v>
                </c:pt>
                <c:pt idx="4">
                  <c:v>0.968</c:v>
                </c:pt>
                <c:pt idx="5">
                  <c:v>0.966</c:v>
                </c:pt>
                <c:pt idx="6">
                  <c:v>0.963</c:v>
                </c:pt>
                <c:pt idx="7">
                  <c:v>0.965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0.749</c:v>
                </c:pt>
                <c:pt idx="3">
                  <c:v>0.946</c:v>
                </c:pt>
                <c:pt idx="4">
                  <c:v>0.981</c:v>
                </c:pt>
                <c:pt idx="5">
                  <c:v>0.99</c:v>
                </c:pt>
                <c:pt idx="6">
                  <c:v>0.981</c:v>
                </c:pt>
                <c:pt idx="7">
                  <c:v>0.978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traffico offerto ÷ capacità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inoltrati ÷ capacità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45720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0.749</c:v>
                </c:pt>
                <c:pt idx="3">
                  <c:v>0.943</c:v>
                </c:pt>
                <c:pt idx="4">
                  <c:v>0.956</c:v>
                </c:pt>
                <c:pt idx="5">
                  <c:v>0.958</c:v>
                </c:pt>
                <c:pt idx="6">
                  <c:v>0.975</c:v>
                </c:pt>
                <c:pt idx="7">
                  <c:v>0.978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0.957</c:v>
                </c:pt>
                <c:pt idx="4">
                  <c:v>0.972</c:v>
                </c:pt>
                <c:pt idx="5">
                  <c:v>0.973</c:v>
                </c:pt>
                <c:pt idx="6">
                  <c:v>0.977</c:v>
                </c:pt>
                <c:pt idx="7">
                  <c:v>0.981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0.955</c:v>
                </c:pt>
                <c:pt idx="4">
                  <c:v>0.973</c:v>
                </c:pt>
                <c:pt idx="5">
                  <c:v>0.973</c:v>
                </c:pt>
                <c:pt idx="6">
                  <c:v>0.973</c:v>
                </c:pt>
                <c:pt idx="7">
                  <c:v>0.974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0,25×</c:v>
                </c:pt>
                <c:pt idx="1">
                  <c:v>0,50×</c:v>
                </c:pt>
                <c:pt idx="2">
                  <c:v>0,75×</c:v>
                </c:pt>
                <c:pt idx="3">
                  <c:v>1,00×</c:v>
                </c:pt>
                <c:pt idx="4">
                  <c:v>1,25×</c:v>
                </c:pt>
                <c:pt idx="5">
                  <c:v>1,50×</c:v>
                </c:pt>
                <c:pt idx="6">
                  <c:v>1,75×</c:v>
                </c:pt>
                <c:pt idx="7">
                  <c:v>2,00×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0.921</c:v>
                </c:pt>
                <c:pt idx="4">
                  <c:v>0.973</c:v>
                </c:pt>
                <c:pt idx="5">
                  <c:v>0.975</c:v>
                </c:pt>
                <c:pt idx="6">
                  <c:v>0.974</c:v>
                </c:pt>
                <c:pt idx="7">
                  <c:v>0.976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traffico offerto ÷ capacità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inoltrati ÷ capacità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621792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B8C2C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14.865</c:v>
                </c:pt>
                <c:pt idx="1">
                  <c:v>8.98</c:v>
                </c:pt>
                <c:pt idx="2">
                  <c:v>8.213</c:v>
                </c:pt>
                <c:pt idx="3">
                  <c:v>3.592</c:v>
                </c:pt>
                <c:pt idx="4">
                  <c:v>2.111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29.323</c:v>
                </c:pt>
                <c:pt idx="1">
                  <c:v>17.93</c:v>
                </c:pt>
                <c:pt idx="2">
                  <c:v>16.231</c:v>
                </c:pt>
                <c:pt idx="3">
                  <c:v>7.118</c:v>
                </c:pt>
                <c:pt idx="4">
                  <c:v>4.137</c:v>
                </c:pt>
              </c:numCache>
            </c:numRef>
          </c:val>
        </c:ser>
        <c:dLbls>
          <c:dLblPos val="outEnd"/>
          <c:numFmt formatCode="0.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milioni di pacchetti/s, P-core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B8C2C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9.419</c:v>
                </c:pt>
                <c:pt idx="1">
                  <c:v>6.63</c:v>
                </c:pt>
                <c:pt idx="2">
                  <c:v>6.105</c:v>
                </c:pt>
                <c:pt idx="3">
                  <c:v>2.903</c:v>
                </c:pt>
                <c:pt idx="4">
                  <c:v>1.755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core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18.924</c:v>
                </c:pt>
                <c:pt idx="1">
                  <c:v>13.3</c:v>
                </c:pt>
                <c:pt idx="2">
                  <c:v>12.205</c:v>
                </c:pt>
                <c:pt idx="3">
                  <c:v>5.761</c:v>
                </c:pt>
                <c:pt idx="4">
                  <c:v>3.463</c:v>
                </c:pt>
              </c:numCache>
            </c:numRef>
          </c:val>
        </c:ser>
        <c:dLbls>
          <c:dLblPos val="outEnd"/>
          <c:numFmt formatCode="0.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milioni di pacchetti/s, E-core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621792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64 byte</c:v>
                </c:pt>
              </c:strCache>
            </c:strRef>
          </c:tx>
          <c:spPr bwMode="auto">
            <a:prstGeom prst="rect">
              <a:avLst/>
            </a:prstGeom>
            <a:solidFill>
              <a:srgbClr val="C9D3D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65.7</c:v>
                </c:pt>
                <c:pt idx="1">
                  <c:v>131.8</c:v>
                </c:pt>
                <c:pt idx="2">
                  <c:v>135.2</c:v>
                </c:pt>
                <c:pt idx="3">
                  <c:v>264.25</c:v>
                </c:pt>
                <c:pt idx="4">
                  <c:v>475.95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512 byte</c:v>
                </c:pt>
              </c:strCache>
            </c:strRef>
          </c:tx>
          <c:spPr bwMode="auto">
            <a:prstGeom prst="rect">
              <a:avLst/>
            </a:prstGeom>
            <a:solidFill>
              <a:srgbClr val="7F93AD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65.6</c:v>
                </c:pt>
                <c:pt idx="1">
                  <c:v>132.75</c:v>
                </c:pt>
                <c:pt idx="2">
                  <c:v>134.8</c:v>
                </c:pt>
                <c:pt idx="3">
                  <c:v>264.2</c:v>
                </c:pt>
                <c:pt idx="4">
                  <c:v>475.6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1514 byte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65.6</c:v>
                </c:pt>
                <c:pt idx="1">
                  <c:v>134</c:v>
                </c:pt>
                <c:pt idx="2">
                  <c:v>131.9</c:v>
                </c:pt>
                <c:pt idx="3">
                  <c:v>263.5</c:v>
                </c:pt>
                <c:pt idx="4">
                  <c:v>474.2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 che inoltrano</c:v>
                </c:pt>
              </c:strCache>
            </c:strRef>
          </c:tx>
          <c:spPr bwMode="auto">
            <a:prstGeom prst="rect">
              <a:avLst/>
            </a:prstGeom>
            <a:solidFill>
              <a:srgbClr val="6C819C"/>
            </a:solidFill>
            <a:ln>
              <a:solidFill>
                <a:srgbClr val="6C819C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64.95</c:v>
                </c:pt>
                <c:pt idx="1">
                  <c:v>110.05</c:v>
                </c:pt>
                <c:pt idx="2">
                  <c:v>119.2</c:v>
                </c:pt>
                <c:pt idx="3">
                  <c:v>261.675</c:v>
                </c:pt>
                <c:pt idx="4">
                  <c:v>470.875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scarta</c:v>
                </c:pt>
              </c:strCache>
            </c:strRef>
          </c:tx>
          <c:spPr bwMode="auto">
            <a:prstGeom prst="rect">
              <a:avLst/>
            </a:prstGeom>
            <a:solidFill>
              <a:srgbClr val="C0443C"/>
            </a:solidFill>
            <a:ln>
              <a:solidFill>
                <a:srgbClr val="C0443C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65.9</c:v>
                </c:pt>
                <c:pt idx="1">
                  <c:v>181.1</c:v>
                </c:pt>
                <c:pt idx="2">
                  <c:v>184.4</c:v>
                </c:pt>
                <c:pt idx="3">
                  <c:v>317</c:v>
                </c:pt>
                <c:pt idx="4">
                  <c:v>590.9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6217920" y="1463040"/>
      <a:ext cx="5669280" cy="33832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1504.35</c:v>
                </c:pt>
                <c:pt idx="1">
                  <c:v>1491.05</c:v>
                </c:pt>
                <c:pt idx="2">
                  <c:v>1502.9</c:v>
                </c:pt>
                <c:pt idx="3">
                  <c:v>1681.75</c:v>
                </c:pt>
                <c:pt idx="4">
                  <c:v>1610.95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1631.35</c:v>
                </c:pt>
                <c:pt idx="1">
                  <c:v>1612.4</c:v>
                </c:pt>
                <c:pt idx="2">
                  <c:v>1604.25</c:v>
                </c:pt>
                <c:pt idx="3">
                  <c:v>1788.95</c:v>
                </c:pt>
                <c:pt idx="4">
                  <c:v>1726.25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4195.5</c:v>
                </c:pt>
                <c:pt idx="1">
                  <c:v>4654.25</c:v>
                </c:pt>
                <c:pt idx="2">
                  <c:v>5028.6</c:v>
                </c:pt>
                <c:pt idx="3">
                  <c:v>5998.75</c:v>
                </c:pt>
                <c:pt idx="4">
                  <c:v>6148.2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6448</c:v>
                </c:pt>
                <c:pt idx="1">
                  <c:v>7357.65</c:v>
                </c:pt>
                <c:pt idx="2">
                  <c:v>8031.9</c:v>
                </c:pt>
                <c:pt idx="3">
                  <c:v>10087.55</c:v>
                </c:pt>
                <c:pt idx="4">
                  <c:v>10579.85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istruzioni eseguite per pacchetto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45720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P3 · P-core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423.1</c:v>
                </c:pt>
                <c:pt idx="1">
                  <c:v>480.65</c:v>
                </c:pt>
                <c:pt idx="2">
                  <c:v>514.6</c:v>
                </c:pt>
                <c:pt idx="3">
                  <c:v>618.05</c:v>
                </c:pt>
                <c:pt idx="4">
                  <c:v>643.35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P3 · E-core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  <a:prstDash val="dash"/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498.3</c:v>
                </c:pt>
                <c:pt idx="1">
                  <c:v>560.95</c:v>
                </c:pt>
                <c:pt idx="2">
                  <c:v>615</c:v>
                </c:pt>
                <c:pt idx="3">
                  <c:v>732.4</c:v>
                </c:pt>
                <c:pt idx="4">
                  <c:v>772.05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 · P-core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277.4</c:v>
                </c:pt>
                <c:pt idx="1">
                  <c:v>298</c:v>
                </c:pt>
                <c:pt idx="2">
                  <c:v>317.65</c:v>
                </c:pt>
                <c:pt idx="3">
                  <c:v>366.95</c:v>
                </c:pt>
                <c:pt idx="4">
                  <c:v>378.45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P2 · E-core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  <a:prstDash val="dash"/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336.15</c:v>
                </c:pt>
                <c:pt idx="1">
                  <c:v>367</c:v>
                </c:pt>
                <c:pt idx="2">
                  <c:v>382.2</c:v>
                </c:pt>
                <c:pt idx="3">
                  <c:v>439.6</c:v>
                </c:pt>
                <c:pt idx="4">
                  <c:v>451.55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621792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nodo pieno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8A96A8"/>
              </a:solidFill>
              <a:prstDash val="dash"/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8A96A8"/>
              </a:solidFill>
              <a:ln>
                <a:solidFill>
                  <a:srgbClr val="8A96A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299.1</c:v>
                </c:pt>
                <c:pt idx="1">
                  <c:v>362.65</c:v>
                </c:pt>
                <c:pt idx="2">
                  <c:v>415.1</c:v>
                </c:pt>
                <c:pt idx="3">
                  <c:v>475.3</c:v>
                </c:pt>
                <c:pt idx="4">
                  <c:v>559.4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poco traffico, il pacchetto più veloce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8FB4D3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8FB4D3"/>
              </a:solidFill>
              <a:ln>
                <a:solidFill>
                  <a:srgbClr val="8FB4D3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262.5</c:v>
                </c:pt>
                <c:pt idx="1">
                  <c:v>308.25</c:v>
                </c:pt>
                <c:pt idx="2">
                  <c:v>371.5</c:v>
                </c:pt>
                <c:pt idx="3">
                  <c:v>411</c:v>
                </c:pt>
                <c:pt idx="4">
                  <c:v>489.5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poco traffico, media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297.5</c:v>
                </c:pt>
                <c:pt idx="1">
                  <c:v>357.75</c:v>
                </c:pt>
                <c:pt idx="2">
                  <c:v>429.5</c:v>
                </c:pt>
                <c:pt idx="3">
                  <c:v>496</c:v>
                </c:pt>
                <c:pt idx="4">
                  <c:v>565.5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della sola rete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45720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nodo pieno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8A96A8"/>
              </a:solidFill>
              <a:prstDash val="dash"/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8A96A8"/>
              </a:solidFill>
              <a:ln>
                <a:solidFill>
                  <a:srgbClr val="8A96A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183.3</c:v>
                </c:pt>
                <c:pt idx="1">
                  <c:v>198.9</c:v>
                </c:pt>
                <c:pt idx="2">
                  <c:v>240.15</c:v>
                </c:pt>
                <c:pt idx="3">
                  <c:v>245.2</c:v>
                </c:pt>
                <c:pt idx="4">
                  <c:v>282.25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poco traffico, il pacchetto più veloce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9CD4CC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9CD4CC"/>
              </a:solidFill>
              <a:ln>
                <a:solidFill>
                  <a:srgbClr val="9CD4C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164</c:v>
                </c:pt>
                <c:pt idx="1">
                  <c:v>176.5</c:v>
                </c:pt>
                <c:pt idx="2">
                  <c:v>210</c:v>
                </c:pt>
                <c:pt idx="3">
                  <c:v>224</c:v>
                </c:pt>
                <c:pt idx="4">
                  <c:v>255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poco traffico, media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189</c:v>
                </c:pt>
                <c:pt idx="1">
                  <c:v>203.25</c:v>
                </c:pt>
                <c:pt idx="2">
                  <c:v>235</c:v>
                </c:pt>
                <c:pt idx="3">
                  <c:v>254.5</c:v>
                </c:pt>
                <c:pt idx="4">
                  <c:v>278.25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0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della sola rete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621792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ns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 bwMode="auto">
              <a:prstGeom prst="rect">
                <a:avLst/>
              </a:prstGeom>
              <a:solidFill>
                <a:srgbClr val="8A94A6"/>
              </a:solidFill>
            </c:spPr>
          </c:dPt>
          <c:dPt>
            <c:idx val="1"/>
            <c:invertIfNegative val="1"/>
            <c:bubble3D val="0"/>
            <c:spPr bwMode="auto">
              <a:prstGeom prst="rect">
                <a:avLst/>
              </a:prstGeom>
              <a:solidFill>
                <a:srgbClr val="C8551E"/>
              </a:solidFill>
            </c:spPr>
          </c:dPt>
          <c:dPt>
            <c:idx val="2"/>
            <c:invertIfNegative val="1"/>
            <c:bubble3D val="0"/>
            <c:spPr bwMode="auto">
              <a:prstGeom prst="rect">
                <a:avLst/>
              </a:prstGeom>
              <a:solidFill>
                <a:srgbClr val="F09A3E"/>
              </a:solidFill>
            </c:spPr>
          </c:dPt>
          <c:dPt>
            <c:idx val="3"/>
            <c:invertIfNegative val="1"/>
            <c:bubble3D val="0"/>
            <c:spPr bwMode="auto">
              <a:prstGeom prst="rect">
                <a:avLst/>
              </a:prstGeom>
              <a:solidFill>
                <a:srgbClr val="2E9C8F"/>
              </a:solidFill>
            </c:spPr>
          </c:dPt>
          <c:dPt>
            <c:idx val="4"/>
            <c:invertIfNegative val="1"/>
            <c:bubble3D val="0"/>
            <c:spPr bwMode="auto">
              <a:prstGeom prst="rect">
                <a:avLst/>
              </a:prstGeom>
              <a:solidFill>
                <a:srgbClr val="1F5F8B"/>
              </a:solidFill>
            </c:spPr>
          </c:dPt>
          <c:cat>
            <c:strRef>
              <c:f>Sheet1!$A$2:$A$6</c:f>
              <c:strCache>
                <c:ptCount val="5"/>
                <c:pt idx="0">
                  <c:v>senza rete</c:v>
                </c:pt>
                <c:pt idx="1">
                  <c:v>P1 statica</c:v>
                </c:pt>
                <c:pt idx="2">
                  <c:v>P1.5</c:v>
                </c:pt>
                <c:pt idx="3">
                  <c:v>P2</c:v>
                </c:pt>
                <c:pt idx="4">
                  <c:v>P3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66.6</c:v>
                </c:pt>
                <c:pt idx="1">
                  <c:v>118.5</c:v>
                </c:pt>
                <c:pt idx="2">
                  <c:v>125.5</c:v>
                </c:pt>
                <c:pt idx="3">
                  <c:v>291</c:v>
                </c:pt>
                <c:pt idx="4">
                  <c:v>485.8</c:v>
                </c:pt>
              </c:numCache>
            </c:numRef>
          </c:val>
        </c:ser>
        <c:dLbls>
          <c:dLblPos val="outEnd"/>
          <c:numFmt formatCode="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>
                  <a:solidFill>
                    <a:srgbClr val="4A5568"/>
                  </a:solidFill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per pacchetto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 bwMode="auto">
    <a:xfrm rot="0">
      <a:off x="457200" y="1554480"/>
      <a:ext cx="6035039" cy="466344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3A5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 bwMode="auto">
              <a:prstGeom prst="rect">
                <a:avLst/>
              </a:prstGeom>
              <a:solidFill>
                <a:srgbClr val="C0443C"/>
              </a:solidFill>
            </c:spPr>
          </c:dPt>
          <c:dPt>
            <c:idx val="1"/>
            <c:invertIfNegative val="1"/>
            <c:bubble3D val="0"/>
            <c:spPr bwMode="auto">
              <a:prstGeom prst="rect">
                <a:avLst/>
              </a:prstGeom>
              <a:solidFill>
                <a:srgbClr val="C0443C"/>
              </a:solidFill>
            </c:spPr>
          </c:dPt>
          <c:dPt>
            <c:idx val="2"/>
            <c:invertIfNegative val="1"/>
            <c:bubble3D val="0"/>
            <c:spPr bwMode="auto">
              <a:prstGeom prst="rect">
                <a:avLst/>
              </a:prstGeom>
              <a:solidFill>
                <a:srgbClr val="F2B134"/>
              </a:solidFill>
            </c:spPr>
          </c:dPt>
          <c:dPt>
            <c:idx val="3"/>
            <c:invertIfNegative val="1"/>
            <c:bubble3D val="0"/>
            <c:spPr bwMode="auto">
              <a:prstGeom prst="rect">
                <a:avLst/>
              </a:prstGeom>
              <a:solidFill>
                <a:srgbClr val="E07A2D"/>
              </a:solidFill>
            </c:spPr>
          </c:dPt>
          <c:dPt>
            <c:idx val="4"/>
            <c:spPr bwMode="auto">
              <a:prstGeom prst="rect">
                <a:avLst/>
              </a:prstGeom>
              <a:solidFill>
                <a:srgbClr val="2E9C6E"/>
              </a:solidFill>
            </c:spPr>
          </c:dPt>
          <c:cat>
            <c:strRef>
              <c:f>Sheet1!$A$2:$A$6</c:f>
              <c:strCache>
                <c:ptCount val="5"/>
                <c:pt idx="0">
                  <c:v>P2: compila
(una volta)
1 572 ms</c:v>
                </c:pt>
                <c:pt idx="1">
                  <c:v>P3: compila
(una volta)
1 219 ms</c:v>
                </c:pt>
                <c:pt idx="2">
                  <c:v>P1: genera
e compila
49 ms</c:v>
                </c:pt>
                <c:pt idx="3">
                  <c:v>P1: carica
sul nodo
0,6 ms</c:v>
                </c:pt>
                <c:pt idx="4">
                  <c:v>P2 / P3:
la tabella
0,3 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1571.822</c:v>
                </c:pt>
                <c:pt idx="1">
                  <c:v>1219.348</c:v>
                </c:pt>
                <c:pt idx="2">
                  <c:v>49.061</c:v>
                </c:pt>
                <c:pt idx="3">
                  <c:v>0.639</c:v>
                </c:pt>
                <c:pt idx="4">
                  <c:v>0.314</c:v>
                </c:pt>
              </c:numCache>
            </c:numRef>
          </c:val>
        </c:ser>
        <c:dLbls>
          <c:showBubbleSize val="0"/>
          <c:showCatName val="0"/>
          <c:showLegendKey val="0"/>
          <c:showPercent val="0"/>
          <c:showSerName val="0"/>
          <c:showVal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.000000"/>
          <c:orientation val="minMax"/>
          <c:min val="0.01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millisecondi (scala log)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 bwMode="auto">
    <a:xfrm rot="0">
      <a:off x="457200" y="1600200"/>
      <a:ext cx="5669280" cy="384048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24</c:v>
                </c:pt>
                <c:pt idx="2">
                  <c:v>52</c:v>
                </c:pt>
                <c:pt idx="3">
                  <c:v>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4.048</c:v>
                </c:pt>
                <c:pt idx="1">
                  <c:v>-2.533</c:v>
                </c:pt>
                <c:pt idx="2">
                  <c:v>3.781</c:v>
                </c:pt>
                <c:pt idx="3">
                  <c:v>0.937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24</c:v>
                </c:pt>
                <c:pt idx="2">
                  <c:v>52</c:v>
                </c:pt>
                <c:pt idx="3">
                  <c:v>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5.961</c:v>
                </c:pt>
                <c:pt idx="1">
                  <c:v>-1.119</c:v>
                </c:pt>
                <c:pt idx="2">
                  <c:v>8.476</c:v>
                </c:pt>
                <c:pt idx="3">
                  <c:v>1.694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24</c:v>
                </c:pt>
                <c:pt idx="2">
                  <c:v>52</c:v>
                </c:pt>
                <c:pt idx="3">
                  <c:v>100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-0.113</c:v>
                </c:pt>
                <c:pt idx="1">
                  <c:v>4.554</c:v>
                </c:pt>
                <c:pt idx="2">
                  <c:v>12.73</c:v>
                </c:pt>
                <c:pt idx="3">
                  <c:v>-5.327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24</c:v>
                </c:pt>
                <c:pt idx="2">
                  <c:v>52</c:v>
                </c:pt>
                <c:pt idx="3">
                  <c:v>100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-7.836</c:v>
                </c:pt>
                <c:pt idx="1">
                  <c:v>11.875</c:v>
                </c:pt>
                <c:pt idx="2">
                  <c:v>-11.313</c:v>
                </c:pt>
                <c:pt idx="3">
                  <c:v>-2.276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nodi della rete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.000000"/>
          <c:min val="-4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scarto dalla legge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45720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36.85</c:v>
                </c:pt>
                <c:pt idx="1">
                  <c:v>48.3</c:v>
                </c:pt>
                <c:pt idx="2">
                  <c:v>90.5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42.1</c:v>
                </c:pt>
                <c:pt idx="1">
                  <c:v>57.2</c:v>
                </c:pt>
                <c:pt idx="2">
                  <c:v>102.05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197.4</c:v>
                </c:pt>
                <c:pt idx="1">
                  <c:v>230.4</c:v>
                </c:pt>
                <c:pt idx="2">
                  <c:v>279.1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389.05</c:v>
                </c:pt>
                <c:pt idx="1">
                  <c:v>415.1</c:v>
                </c:pt>
                <c:pt idx="2">
                  <c:v>537.15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neuroni per strato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della sola rete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621792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solidFill>
              <a:srgbClr val="C8551E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937</c:v>
                </c:pt>
                <c:pt idx="1">
                  <c:v>928.5</c:v>
                </c:pt>
                <c:pt idx="2">
                  <c:v>927.5</c:v>
                </c:pt>
                <c:pt idx="3">
                  <c:v>1106.5</c:v>
                </c:pt>
                <c:pt idx="4">
                  <c:v>1036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solidFill>
              <a:srgbClr val="F09A3E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1500</c:v>
                </c:pt>
                <c:pt idx="1">
                  <c:v>1390</c:v>
                </c:pt>
                <c:pt idx="2">
                  <c:v>1363</c:v>
                </c:pt>
                <c:pt idx="3">
                  <c:v>1451.5</c:v>
                </c:pt>
                <c:pt idx="4">
                  <c:v>1369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solidFill>
              <a:srgbClr val="2E9C8F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14604</c:v>
                </c:pt>
                <c:pt idx="1">
                  <c:v>15089</c:v>
                </c:pt>
                <c:pt idx="2">
                  <c:v>16813</c:v>
                </c:pt>
                <c:pt idx="3">
                  <c:v>16945</c:v>
                </c:pt>
                <c:pt idx="4">
                  <c:v>17939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solidFill>
              <a:srgbClr val="1F5F8B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12288</c:v>
                </c:pt>
                <c:pt idx="1">
                  <c:v>12288</c:v>
                </c:pt>
                <c:pt idx="2">
                  <c:v>12288</c:v>
                </c:pt>
                <c:pt idx="3">
                  <c:v>12288</c:v>
                </c:pt>
                <c:pt idx="4">
                  <c:v>12288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.000000"/>
          <c:orientation val="minMax"/>
          <c:max val="30000.000000"/>
          <c:min val="30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sz="1100" b="0">
                    <a:solidFill>
                      <a:srgbClr val="6B7C93"/>
                    </a:solidFill>
                    <a:latin typeface="Calibri"/>
                  </a:rPr>
                  <a:t>istruzioni del programma (scala log.)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1"/>
  </c:chart>
  <c:spPr bwMode="auto">
    <a:xfrm rot="0">
      <a:off x="45720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69.1</c:v>
                </c:pt>
                <c:pt idx="1">
                  <c:v>70.7</c:v>
                </c:pt>
                <c:pt idx="2">
                  <c:v>71.2</c:v>
                </c:pt>
                <c:pt idx="3">
                  <c:v>83.25</c:v>
                </c:pt>
                <c:pt idx="4">
                  <c:v>81.25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76.1</c:v>
                </c:pt>
                <c:pt idx="1">
                  <c:v>75.1</c:v>
                </c:pt>
                <c:pt idx="2">
                  <c:v>80.25</c:v>
                </c:pt>
                <c:pt idx="3">
                  <c:v>92.25</c:v>
                </c:pt>
                <c:pt idx="4">
                  <c:v>86.95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211.15</c:v>
                </c:pt>
                <c:pt idx="1">
                  <c:v>231.25</c:v>
                </c:pt>
                <c:pt idx="2">
                  <c:v>251.45</c:v>
                </c:pt>
                <c:pt idx="3">
                  <c:v>301</c:v>
                </c:pt>
                <c:pt idx="4">
                  <c:v>312.55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356.85</c:v>
                </c:pt>
                <c:pt idx="1">
                  <c:v>413.9</c:v>
                </c:pt>
                <c:pt idx="2">
                  <c:v>448.4</c:v>
                </c:pt>
                <c:pt idx="3">
                  <c:v>552.1</c:v>
                </c:pt>
                <c:pt idx="4">
                  <c:v>577.45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strati nascosti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tempo della sola rete (ns)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6217920" y="1463040"/>
      <a:ext cx="5669280" cy="32461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it-IT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statica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C8551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8551E"/>
              </a:solidFill>
              <a:ln>
                <a:solidFill>
                  <a:srgbClr val="C8551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0 %</c:v>
                </c:pt>
                <c:pt idx="1">
                  <c:v>50 %</c:v>
                </c:pt>
                <c:pt idx="2">
                  <c:v>90 %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1.016</c:v>
                </c:pt>
                <c:pt idx="1">
                  <c:v>0.795</c:v>
                </c:pt>
                <c:pt idx="2">
                  <c:v>0.441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P1.5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F09A3E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09A3E"/>
              </a:solidFill>
              <a:ln>
                <a:solidFill>
                  <a:srgbClr val="F09A3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0 %</c:v>
                </c:pt>
                <c:pt idx="1">
                  <c:v>50 %</c:v>
                </c:pt>
                <c:pt idx="2">
                  <c:v>90 %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1.012</c:v>
                </c:pt>
                <c:pt idx="1">
                  <c:v>0.93</c:v>
                </c:pt>
                <c:pt idx="2">
                  <c:v>0.623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2E9C8F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2E9C8F"/>
              </a:solidFill>
              <a:ln>
                <a:solidFill>
                  <a:srgbClr val="2E9C8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0 %</c:v>
                </c:pt>
                <c:pt idx="1">
                  <c:v>50 %</c:v>
                </c:pt>
                <c:pt idx="2">
                  <c:v>90 %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1.005</c:v>
                </c:pt>
                <c:pt idx="1">
                  <c:v>1.028</c:v>
                </c:pt>
                <c:pt idx="2">
                  <c:v>1.023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P3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F5F8B"/>
              </a:solidFill>
            </a:ln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F5F8B"/>
              </a:solidFill>
              <a:ln>
                <a:solidFill>
                  <a:srgbClr val="1F5F8B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0 %</c:v>
                </c:pt>
                <c:pt idx="1">
                  <c:v>50 %</c:v>
                </c:pt>
                <c:pt idx="2">
                  <c:v>90 %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0.997</c:v>
                </c:pt>
                <c:pt idx="1">
                  <c:v>1.012</c:v>
                </c:pt>
                <c:pt idx="2">
                  <c:v>1.014</c:v>
                </c:pt>
              </c:numCache>
            </c:numRef>
          </c:val>
          <c:smooth val="0"/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it-IT" sz="1200" b="0">
                    <a:solidFill>
                      <a:srgbClr val="6B7C93"/>
                    </a:solidFill>
                    <a:latin typeface="Calibri"/>
                  </a:rPr>
                  <a:t>pesi uguali a zero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C8D0DA"/>
            </a:solidFill>
          </a:ln>
        </c:spPr>
        <c:txPr>
          <a:bodyPr/>
          <a:lstStyle/>
          <a:p>
            <a:pPr>
              <a:defRPr sz="900">
                <a:solidFill>
                  <a:srgbClr val="4A5568"/>
                </a:solidFill>
                <a:latin typeface="Calibri"/>
              </a:defRPr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7620">
              <a:solidFill>
                <a:srgbClr val="E3E7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it-IT" sz="1100" b="0">
                    <a:solidFill>
                      <a:srgbClr val="6B7C93"/>
                    </a:solidFill>
                    <a:latin typeface="Calibri"/>
                  </a:rPr>
                  <a:t>misurato ÷ previsto senza zeri</a:t>
                </a:r>
                <a:endParaRPr/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6B7C93"/>
                </a:solidFill>
                <a:latin typeface="Calibri"/>
              </a:defRPr>
            </a:pPr>
            <a:endParaRPr lang="it-IT"/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222B36"/>
              </a:solidFill>
            </a:defRPr>
          </a:pPr>
          <a:endParaRPr lang="it-IT"/>
        </a:p>
      </c:txPr>
    </c:legend>
    <c:plotVisOnly val="1"/>
    <c:dispBlanksAs val="gap"/>
    <c:showDLblsOverMax val="0"/>
  </c:chart>
  <c:spPr bwMode="auto">
    <a:xfrm rot="0">
      <a:off x="457200" y="1463040"/>
      <a:ext cx="6766560" cy="3931920"/>
    </a:xfrm>
  </c:spPr>
  <c:txPr>
    <a:bodyPr/>
    <a:lstStyle/>
    <a:p>
      <a:pPr>
        <a:defRPr sz="900">
          <a:solidFill>
            <a:srgbClr val="4A5568"/>
          </a:solidFill>
          <a:latin typeface="Calibri"/>
        </a:defRPr>
      </a:pPr>
      <a:endParaRPr lang="it-IT"/>
    </a:p>
  </c:tx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embeddings/_rels/Microsoft_Excel_Worksheet4.xlsx.rels><?xml version="1.0" encoding="UTF-8" standalone="yes"?><Relationships xmlns="http://schemas.openxmlformats.org/package/2006/relationships"></Relationships>
</file>

<file path=ppt/embeddings/_rels/Microsoft_Excel_Worksheet5.xlsx.rels><?xml version="1.0" encoding="UTF-8" standalone="yes"?><Relationships xmlns="http://schemas.openxmlformats.org/package/2006/relationships"></Relationships>
</file>

<file path=ppt/embeddings/_rels/Microsoft_Excel_Worksheet6.xlsx.rels><?xml version="1.0" encoding="UTF-8" standalone="yes"?><Relationships xmlns="http://schemas.openxmlformats.org/package/2006/relationships"></Relationships>
</file>

<file path=ppt/embeddings/_rels/Microsoft_Excel_Worksheet7.xlsx.rels><?xml version="1.0" encoding="UTF-8" standalone="yes"?><Relationships xmlns="http://schemas.openxmlformats.org/package/2006/relationships"></Relationships>
</file>

<file path=ppt/embeddings/_rels/Microsoft_Excel_Worksheet8.xlsx.rels><?xml version="1.0" encoding="UTF-8" standalone="yes"?><Relationships xmlns="http://schemas.openxmlformats.org/package/2006/relationships"></Relationships>
</file>

<file path=ppt/embeddings/_rels/Microsoft_Excel_Worksheet9.xlsx.rels><?xml version="1.0" encoding="UTF-8" standalone="yes"?><Relationships xmlns="http://schemas.openxmlformats.org/package/2006/relationships"></Relationships>
</file>

<file path=ppt/embeddings/_rels/Microsoft_Excel_Worksheet10.xlsx.rels><?xml version="1.0" encoding="UTF-8" standalone="yes"?><Relationships xmlns="http://schemas.openxmlformats.org/package/2006/relationships"></Relationships>
</file>

<file path=ppt/embeddings/_rels/Microsoft_Excel_Worksheet11.xlsx.rels><?xml version="1.0" encoding="UTF-8" standalone="yes"?><Relationships xmlns="http://schemas.openxmlformats.org/package/2006/relationships"></Relationships>
</file>

<file path=ppt/embeddings/_rels/Microsoft_Excel_Worksheet12.xlsx.rels><?xml version="1.0" encoding="UTF-8" standalone="yes"?><Relationships xmlns="http://schemas.openxmlformats.org/package/2006/relationships"></Relationships>
</file>

<file path=ppt/embeddings/_rels/Microsoft_Excel_Worksheet13.xlsx.rels><?xml version="1.0" encoding="UTF-8" standalone="yes"?><Relationships xmlns="http://schemas.openxmlformats.org/package/2006/relationships"></Relationships>
</file>

<file path=ppt/embeddings/_rels/Microsoft_Excel_Worksheet14.xlsx.rels><?xml version="1.0" encoding="UTF-8" standalone="yes"?><Relationships xmlns="http://schemas.openxmlformats.org/package/2006/relationships"></Relationships>
</file>

<file path=ppt/embeddings/_rels/Microsoft_Excel_Worksheet15.xlsx.rels><?xml version="1.0" encoding="UTF-8" standalone="yes"?><Relationships xmlns="http://schemas.openxmlformats.org/package/2006/relationships"></Relationships>
</file>

<file path=ppt/embeddings/_rels/Microsoft_Excel_Worksheet16.xlsx.rels><?xml version="1.0" encoding="UTF-8" standalone="yes"?><Relationships xmlns="http://schemas.openxmlformats.org/package/2006/relationships"></Relationships>
</file>

<file path=ppt/embeddings/_rels/Microsoft_Excel_Worksheet17.xlsx.rels><?xml version="1.0" encoding="UTF-8" standalone="yes"?><Relationships xmlns="http://schemas.openxmlformats.org/package/2006/relationships"></Relationships>
</file>

<file path=ppt/embeddings/_rels/Microsoft_Excel_Worksheet18.xlsx.rels><?xml version="1.0" encoding="UTF-8" standalone="yes"?><Relationships xmlns="http://schemas.openxmlformats.org/package/2006/relationships"></Relationships>
</file>

<file path=ppt/embeddings/_rels/Microsoft_Excel_Worksheet19.xlsx.rels><?xml version="1.0" encoding="UTF-8" standalone="yes"?><Relationships xmlns="http://schemas.openxmlformats.org/package/2006/relationships"></Relationships>
</file>

<file path=ppt/embeddings/_rels/Microsoft_Excel_Worksheet20.xlsx.rels><?xml version="1.0" encoding="UTF-8" standalone="yes"?><Relationships xmlns="http://schemas.openxmlformats.org/package/2006/relationships"></Relationships>
</file>

<file path=ppt/embeddings/_rels/Microsoft_Excel_Worksheet21.xlsx.rels><?xml version="1.0" encoding="UTF-8" standalone="yes"?><Relationships xmlns="http://schemas.openxmlformats.org/package/2006/relationships"></Relationships>
</file>

<file path=ppt/embeddings/_rels/Microsoft_Excel_Worksheet22.xlsx.rels><?xml version="1.0" encoding="UTF-8" standalone="yes"?><Relationships xmlns="http://schemas.openxmlformats.org/package/2006/relationships"></Relationships>
</file>

<file path=ppt/embeddings/_rels/Microsoft_Excel_Worksheet23.xlsx.rels><?xml version="1.0" encoding="UTF-8" standalone="yes"?><Relationships xmlns="http://schemas.openxmlformats.org/package/2006/relationships"></Relationships>
</file>

<file path=ppt/embeddings/_rels/Microsoft_Excel_Worksheet24.xlsx.rels><?xml version="1.0" encoding="UTF-8" standalone="yes"?><Relationships xmlns="http://schemas.openxmlformats.org/package/2006/relationships"></Relationships>
</file>

<file path=ppt/embeddings/_rels/Microsoft_Excel_Worksheet25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424906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648162946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C3879A1-F61F-48C8-BDB5-E7C8A8D88EAE}" type="datetimeFigureOut">
              <a:rPr lang="it-IT"/>
              <a:t>25/09/2026</a:t>
            </a:fld>
            <a:endParaRPr lang="it-IT"/>
          </a:p>
        </p:txBody>
      </p:sp>
      <p:sp>
        <p:nvSpPr>
          <p:cNvPr id="363547149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2122735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655724514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352473484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E7E320-C24E-445B-B52B-8A723E9346E3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F9880C-6B80-3F83-2604-ABD884EF53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88709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9167941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55433430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FE7E320-C24E-445B-B52B-8A723E9346E3}" type="slidenum">
              <a:rPr lang="it-IT"/>
              <a:t>3</a:t>
            </a:fld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327BCC-2D9F-D4B0-90A2-3B2474A58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E06A32-1936-C7C6-C44D-149C8EF7F9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82BA6E-5BC9-7339-F198-DF971E5BB3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69AD1-6997-FA43-78C5-F44E7A3A81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1AC6FA-2D02-D819-B434-78A8F747A3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F9956-8203-C0FD-1B92-21EED189A8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AD76A-4D05-5229-8F7A-A25467EB7C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289CF1-F295-6D02-C280-F1B08156EE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6A938A-1CB5-C845-B1C8-EFE740BA2D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626D9A-EB70-C471-28A5-20F6A41150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915EE4-6B5C-06FE-941F-AE57842856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EEBEEC-06DA-28FA-744F-67CFCC1D44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33D524-14EE-46D5-C32A-72F7D11CAA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5BBEEB-D5E8-0037-66AC-E083B2DABB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86926B-C039-9DA9-BE0E-DC20AD32DA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381025-E657-C638-7051-9FD04C38E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044C63-9D9F-A638-878C-F03E042E12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87180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540436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928717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7271652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8761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596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837111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7163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8709349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119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22785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55982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99108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336083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9083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971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521411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18331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91251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5747593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11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23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523569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27041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205066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62316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3707212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3414118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27545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04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35602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0594753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77899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2743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7198749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50662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73522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499187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578099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03262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20149181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15938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03377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584829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483383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23354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21390147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2023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361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28886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801860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2050354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02592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29090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414590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41907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10226029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95882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38398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4514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444868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9/25/2026</a:t>
            </a:fld>
            <a:endParaRPr lang="en-US"/>
          </a:p>
        </p:txBody>
      </p:sp>
      <p:sp>
        <p:nvSpPr>
          <p:cNvPr id="81485947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32750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 /><Relationship Id="rId4" Type="http://schemas.openxmlformats.org/officeDocument/2006/relationships/chart" Target="../charts/char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 /><Relationship Id="rId4" Type="http://schemas.openxmlformats.org/officeDocument/2006/relationships/chart" Target="../charts/chart5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 /><Relationship Id="rId4" Type="http://schemas.openxmlformats.org/officeDocument/2006/relationships/chart" Target="../charts/chart8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9.xml" /><Relationship Id="rId4" Type="http://schemas.openxmlformats.org/officeDocument/2006/relationships/chart" Target="../charts/chart10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1.xml" /><Relationship Id="rId4" Type="http://schemas.openxmlformats.org/officeDocument/2006/relationships/chart" Target="../charts/chart1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3.xml" /><Relationship Id="rId4" Type="http://schemas.openxmlformats.org/officeDocument/2006/relationships/chart" Target="../charts/chart14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5.xml" /><Relationship Id="rId4" Type="http://schemas.openxmlformats.org/officeDocument/2006/relationships/chart" Target="../charts/chart16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7.xml" /><Relationship Id="rId4" Type="http://schemas.openxmlformats.org/officeDocument/2006/relationships/chart" Target="../charts/chart18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9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0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21.xml" /><Relationship Id="rId4" Type="http://schemas.openxmlformats.org/officeDocument/2006/relationships/chart" Target="../charts/chart2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 /><Relationship Id="rId4" Type="http://schemas.openxmlformats.org/officeDocument/2006/relationships/chart" Target="../charts/chart24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F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924" name="Rectangle 1"/>
          <p:cNvSpPr/>
          <p:nvPr/>
        </p:nvSpPr>
        <p:spPr bwMode="auto">
          <a:xfrm>
            <a:off x="0" y="0"/>
            <a:ext cx="320040" cy="6858000"/>
          </a:xfrm>
          <a:prstGeom prst="rect">
            <a:avLst/>
          </a:prstGeom>
          <a:solidFill>
            <a:srgbClr val="E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91759336" name="TextBox 2"/>
          <p:cNvSpPr txBox="1"/>
          <p:nvPr/>
        </p:nvSpPr>
        <p:spPr bwMode="auto"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600" b="1" i="0">
                <a:solidFill>
                  <a:srgbClr val="F2B134"/>
                </a:solidFill>
                <a:latin typeface="Calibri"/>
              </a:rPr>
              <a:t>TESI  ·  EBPF / XDP</a:t>
            </a:r>
            <a:endParaRPr/>
          </a:p>
        </p:txBody>
      </p:sp>
      <p:sp>
        <p:nvSpPr>
          <p:cNvPr id="545318204" name="TextBox 3"/>
          <p:cNvSpPr txBox="1"/>
          <p:nvPr/>
        </p:nvSpPr>
        <p:spPr bwMode="auto">
          <a:xfrm>
            <a:off x="914400" y="16002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Inferenza di una rete neurale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4600" b="1" i="0">
                <a:solidFill>
                  <a:srgbClr val="FFFFFF"/>
                </a:solidFill>
                <a:latin typeface="Calibri"/>
              </a:rPr>
              <a:t>nel kernel Linux con eBPF/XDP</a:t>
            </a:r>
            <a:endParaRPr/>
          </a:p>
        </p:txBody>
      </p:sp>
      <p:sp>
        <p:nvSpPr>
          <p:cNvPr id="790571561" name="TextBox 4"/>
          <p:cNvSpPr txBox="1"/>
          <p:nvPr/>
        </p:nvSpPr>
        <p:spPr bwMode="auto">
          <a:xfrm>
            <a:off x="914400" y="3429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2000" b="0" i="0">
                <a:solidFill>
                  <a:srgbClr val="D6DEE9"/>
                </a:solidFill>
                <a:latin typeface="Calibri"/>
              </a:rPr>
              <a:t>Quattro modi di scrivere la stessa rete neurale dentro il kernel Linux, misurati con traffico vero su 91 reti diverse: quanto costa ogni pacchetto, perché, e che cosa cambia su un core più lento.</a:t>
            </a:r>
            <a:endParaRPr/>
          </a:p>
        </p:txBody>
      </p:sp>
      <p:sp>
        <p:nvSpPr>
          <p:cNvPr id="1197949491" name="Rectangle 5"/>
          <p:cNvSpPr/>
          <p:nvPr/>
        </p:nvSpPr>
        <p:spPr bwMode="auto">
          <a:xfrm>
            <a:off x="914400" y="4892039"/>
            <a:ext cx="2011680" cy="457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64092023" name="TextBox 6"/>
          <p:cNvSpPr txBox="1"/>
          <p:nvPr/>
        </p:nvSpPr>
        <p:spPr bwMode="auto">
          <a:xfrm>
            <a:off x="914400" y="5120640"/>
            <a:ext cx="7315200" cy="656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alibri"/>
              </a:rPr>
              <a:t>Ettore Cantile</a:t>
            </a:r>
            <a:endParaRPr/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2000" b="1" i="0">
                <a:solidFill>
                  <a:srgbClr val="FFFFFF"/>
                </a:solidFill>
                <a:latin typeface="Calibri"/>
              </a:rPr>
              <a:t>ottobre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84484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04377985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LE QUATTRO VERSIONI</a:t>
            </a:r>
            <a:endParaRPr/>
          </a:p>
        </p:txBody>
      </p:sp>
      <p:sp>
        <p:nvSpPr>
          <p:cNvPr id="1836897619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Stessa rete, quattro modi di scriverla</a:t>
            </a:r>
            <a:endParaRPr/>
          </a:p>
        </p:txBody>
      </p:sp>
      <p:sp>
        <p:nvSpPr>
          <p:cNvPr id="645276435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066446341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Arancione = già noto quando si compila  ·  verde = letto mentre il nodo gira</a:t>
            </a:r>
            <a:endParaRPr/>
          </a:p>
        </p:txBody>
      </p:sp>
      <p:sp>
        <p:nvSpPr>
          <p:cNvPr id="1974600720" name="TextBox 6"/>
          <p:cNvSpPr txBox="1"/>
          <p:nvPr/>
        </p:nvSpPr>
        <p:spPr bwMode="auto">
          <a:xfrm>
            <a:off x="548640" y="1508759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800" b="0" i="0">
                <a:solidFill>
                  <a:srgbClr val="222B36"/>
                </a:solidFill>
                <a:latin typeface="Calibri"/>
              </a:rPr>
              <a:t>Tutte e quattro prendono la stessa decisione su ogni pacchetto (verificato su 91 modelli). Cambia solo </a:t>
            </a:r>
            <a:r>
              <a:rPr sz="1800" b="1" i="0">
                <a:solidFill>
                  <a:srgbClr val="222B36"/>
                </a:solidFill>
                <a:latin typeface="Calibri"/>
              </a:rPr>
              <a:t>quanto sanno già</a:t>
            </a:r>
            <a:r>
              <a:rPr sz="1800" b="0" i="0">
                <a:solidFill>
                  <a:srgbClr val="222B36"/>
                </a:solidFill>
                <a:latin typeface="Calibri"/>
              </a:rPr>
              <a:t> quando vengono compilate.</a:t>
            </a:r>
            <a:endParaRPr/>
          </a:p>
        </p:txBody>
      </p:sp>
      <p:graphicFrame>
        <p:nvGraphicFramePr>
          <p:cNvPr id="234422344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2148840"/>
          <a:ext cx="11064236" cy="25146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2269587"/>
                <a:gridCol w="1607623"/>
                <a:gridCol w="1796756"/>
                <a:gridCol w="1607623"/>
                <a:gridCol w="2175021"/>
                <a:gridCol w="1607623"/>
              </a:tblGrid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Versione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Nodo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Porte del nodo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Pesi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Forma della rete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Profondità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P1  ·  p1_static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compilato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compilabili *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compilati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P1.5  ·  hardcoded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tutte previste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compilati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P2  ·  template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tutte previste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entro limiti fissi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compilata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E07A2D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P3  ·  modular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tutte previste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FFFFFF"/>
                          </a:solidFill>
                          <a:latin typeface="Calibri"/>
                        </a:rPr>
                        <a:t>da tabella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2E9C6E"/>
                    </a:solidFill>
                  </a:tcPr>
                </a:tc>
              </a:tr>
            </a:tbl>
          </a:graphicData>
        </a:graphic>
      </p:graphicFrame>
      <p:sp>
        <p:nvSpPr>
          <p:cNvPr id="326186595" name="TextBox 8"/>
          <p:cNvSpPr txBox="1"/>
          <p:nvPr/>
        </p:nvSpPr>
        <p:spPr bwMode="auto">
          <a:xfrm>
            <a:off x="548640" y="4754880"/>
            <a:ext cx="11064599" cy="218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* Solo P1 statica può togliere dal programma anche i </a:t>
            </a:r>
            <a:r>
              <a:rPr sz="1300" b="1" i="0">
                <a:solidFill>
                  <a:srgbClr val="222B36"/>
                </a:solidFill>
                <a:latin typeface="Calibri"/>
              </a:rPr>
              <a:t>collegamenti che il suo nodo non ha</a:t>
            </a:r>
            <a:r>
              <a:rPr sz="1300" b="0" i="0">
                <a:solidFill>
                  <a:srgbClr val="222B36"/>
                </a:solidFill>
                <a:latin typeface="Calibri"/>
              </a:rPr>
              <a:t>, perché conosce già il nodo su cui girerà. </a:t>
            </a:r>
            <a:endParaRPr/>
          </a:p>
        </p:txBody>
      </p:sp>
      <p:sp>
        <p:nvSpPr>
          <p:cNvPr id="1636761422" name="Rounded Rectangle 9"/>
          <p:cNvSpPr/>
          <p:nvPr/>
        </p:nvSpPr>
        <p:spPr bwMode="auto">
          <a:xfrm>
            <a:off x="548640" y="553212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730416348" name="TextBox 10"/>
          <p:cNvSpPr txBox="1"/>
          <p:nvPr/>
        </p:nvSpPr>
        <p:spPr bwMode="auto">
          <a:xfrm>
            <a:off x="822960" y="553212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700" b="0" i="0">
                <a:solidFill>
                  <a:srgbClr val="FFFFFF"/>
                </a:solidFill>
                <a:latin typeface="Calibri"/>
              </a:rPr>
              <a:t>Più informazioni sposto dalla compilazione all'esecuzione, più il programma diventa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riutilizzabile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— e più cresce il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costo per pacchetto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138256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882836942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COME LEGGERE I NUMERI</a:t>
            </a:r>
            <a:endParaRPr/>
          </a:p>
        </p:txBody>
      </p:sp>
      <p:sp>
        <p:nvSpPr>
          <p:cNvPr id="503145122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Ogni cifra vale per 91 modelli, non per uno</a:t>
            </a:r>
            <a:endParaRPr/>
          </a:p>
        </p:txBody>
      </p:sp>
      <p:sp>
        <p:nvSpPr>
          <p:cNvPr id="1666570067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071514911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Portatile di laboratorio (Intel Core Ultra 7 155H), core a frequenza fissa</a:t>
            </a:r>
            <a:endParaRPr/>
          </a:p>
        </p:txBody>
      </p:sp>
      <p:sp>
        <p:nvSpPr>
          <p:cNvPr id="268379288" name="TextBox 6"/>
          <p:cNvSpPr txBox="1"/>
          <p:nvPr/>
        </p:nvSpPr>
        <p:spPr bwMode="auto">
          <a:xfrm>
            <a:off x="548640" y="1508759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800" b="0" i="0">
                <a:solidFill>
                  <a:srgbClr val="222B36"/>
                </a:solidFill>
                <a:latin typeface="Calibri"/>
              </a:rPr>
              <a:t>Ogni misura è ripetuta su </a:t>
            </a:r>
            <a:r>
              <a:rPr sz="1800" b="1" i="0">
                <a:solidFill>
                  <a:srgbClr val="222B36"/>
                </a:solidFill>
                <a:latin typeface="Calibri"/>
              </a:rPr>
              <a:t>91 reti neurali diverse</a:t>
            </a:r>
            <a:r>
              <a:rPr sz="1800" b="0" i="0">
                <a:solidFill>
                  <a:srgbClr val="222B36"/>
                </a:solidFill>
                <a:latin typeface="Calibri"/>
              </a:rPr>
              <a:t>: da 5 a 117 ingressi, da 1 a 6 strati, da 2 a 8 neuroni per strato. Una conclusione vale solo se regge su tutte.</a:t>
            </a:r>
            <a:endParaRPr/>
          </a:p>
        </p:txBody>
      </p:sp>
      <p:graphicFrame>
        <p:nvGraphicFramePr>
          <p:cNvPr id="379474922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2148840"/>
          <a:ext cx="11064236" cy="25146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3319270"/>
                <a:gridCol w="7744966"/>
              </a:tblGrid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Si legge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FFFFFF"/>
                          </a:solidFill>
                          <a:latin typeface="Calibri"/>
                        </a:rPr>
                        <a:t>Vuol dire</a:t>
                      </a:r>
                      <a:endParaRPr sz="1500" b="1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52 [19–155] ns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222B36"/>
                          </a:solidFill>
                          <a:latin typeface="Calibri"/>
                        </a:rPr>
                        <a:t>la mediana dei modelli e, fra parentesi, il più leggero e il più pesante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85/85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222B36"/>
                          </a:solidFill>
                          <a:latin typeface="Calibri"/>
                        </a:rPr>
                        <a:t>vale su 85 modelli su 85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4,3 volte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222B36"/>
                          </a:solidFill>
                          <a:latin typeface="Calibri"/>
                        </a:rPr>
                        <a:t>un rapporto calcolato modello per modello, poi la mediana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1" i="0">
                          <a:solidFill>
                            <a:srgbClr val="222B36"/>
                          </a:solidFill>
                          <a:latin typeface="Calibri"/>
                        </a:rPr>
                        <a:t>senza rete</a:t>
                      </a:r>
                      <a:endParaRPr sz="1500" b="1" i="0">
                        <a:solidFill>
                          <a:srgbClr val="222B36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it-IT" sz="1500" b="0" i="0">
                          <a:solidFill>
                            <a:srgbClr val="222B36"/>
                          </a:solidFill>
                          <a:latin typeface="Calibri"/>
                        </a:rPr>
                        <a:t>il nodo che riceve e inoltra senza rete neurale: il costo fisso</a:t>
                      </a:r>
                      <a:endParaRPr sz="1500" b="0" i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94759499" name="TextBox 8"/>
          <p:cNvSpPr txBox="1"/>
          <p:nvPr/>
        </p:nvSpPr>
        <p:spPr bwMode="auto">
          <a:xfrm>
            <a:off x="548640" y="47548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Il </a:t>
            </a:r>
            <a:r>
              <a:rPr sz="1300" b="1" i="0">
                <a:solidFill>
                  <a:srgbClr val="222B36"/>
                </a:solidFill>
                <a:latin typeface="Calibri"/>
              </a:rPr>
              <a:t>nodo</a:t>
            </a:r>
            <a:r>
              <a:rPr sz="1300" b="0" i="0">
                <a:solidFill>
                  <a:srgbClr val="222B36"/>
                </a:solidFill>
                <a:latin typeface="Calibri"/>
              </a:rPr>
              <a:t> è il computer che riceve il pacchetto, esegue la rete neurale per scegliere da quale porta farlo uscire, e lo inoltra. Il processore ha tre tipi di core: </a:t>
            </a:r>
            <a:r>
              <a:rPr sz="1300" b="1" i="0">
                <a:solidFill>
                  <a:srgbClr val="222B36"/>
                </a:solidFill>
                <a:latin typeface="Calibri"/>
              </a:rPr>
              <a:t>P-core</a:t>
            </a:r>
            <a:r>
              <a:rPr sz="1300" b="0" i="0">
                <a:solidFill>
                  <a:srgbClr val="222B36"/>
                </a:solidFill>
                <a:latin typeface="Calibri"/>
              </a:rPr>
              <a:t> veloci, </a:t>
            </a:r>
            <a:r>
              <a:rPr sz="1300" b="1" i="0">
                <a:solidFill>
                  <a:srgbClr val="222B36"/>
                </a:solidFill>
                <a:latin typeface="Calibri"/>
              </a:rPr>
              <a:t>E-core</a:t>
            </a:r>
            <a:r>
              <a:rPr sz="1300" b="0" i="0">
                <a:solidFill>
                  <a:srgbClr val="222B36"/>
                </a:solidFill>
                <a:latin typeface="Calibri"/>
              </a:rPr>
              <a:t> efficienti, </a:t>
            </a:r>
            <a:r>
              <a:rPr sz="1300" b="1" i="0">
                <a:solidFill>
                  <a:srgbClr val="222B36"/>
                </a:solidFill>
                <a:latin typeface="Calibri"/>
              </a:rPr>
              <a:t>LP E-core</a:t>
            </a:r>
            <a:r>
              <a:rPr sz="1300" b="0" i="0">
                <a:solidFill>
                  <a:srgbClr val="222B36"/>
                </a:solidFill>
                <a:latin typeface="Calibri"/>
              </a:rPr>
              <a:t> a basso consumo.</a:t>
            </a:r>
            <a:endParaRPr/>
          </a:p>
        </p:txBody>
      </p:sp>
      <p:sp>
        <p:nvSpPr>
          <p:cNvPr id="1769612079" name="Rounded Rectangle 9"/>
          <p:cNvSpPr/>
          <p:nvPr/>
        </p:nvSpPr>
        <p:spPr bwMode="auto">
          <a:xfrm>
            <a:off x="548640" y="553212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95124350" name="TextBox 10"/>
          <p:cNvSpPr txBox="1"/>
          <p:nvPr/>
        </p:nvSpPr>
        <p:spPr bwMode="auto">
          <a:xfrm>
            <a:off x="822960" y="553212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700" b="0" i="0">
                <a:solidFill>
                  <a:srgbClr val="FFFFFF"/>
                </a:solidFill>
                <a:latin typeface="Calibri"/>
              </a:rPr>
              <a:t>Il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costo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di un pacchetto è il tempo di processore che serve per elaborarlo; 1 diviso quel tempo è la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capacità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, quanti pacchetti al secondo il nodo regge.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23166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11049526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1 · IL NODO · QUANTO COSTA UN PACCHETTO</a:t>
            </a:r>
            <a:endParaRPr/>
          </a:p>
        </p:txBody>
      </p:sp>
      <p:sp>
        <p:nvSpPr>
          <p:cNvPr id="1204010051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Quanto costa un pacchetto al nodo</a:t>
            </a:r>
            <a:endParaRPr/>
          </a:p>
        </p:txBody>
      </p:sp>
      <p:sp>
        <p:nvSpPr>
          <p:cNvPr id="719261784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041996789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Nodo su un core veloce (P-core) a 3,5 GHz, pacchetti da 64 byte  ·  barre: mediana dei 91 modelli  ·  schede: dal modello più leggero al più pesante</a:t>
            </a:r>
            <a:endParaRPr/>
          </a:p>
        </p:txBody>
      </p:sp>
      <p:graphicFrame>
        <p:nvGraphicFramePr>
          <p:cNvPr id="452754150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17320"/>
          <a:ext cx="7223760" cy="4160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67515080" name="Rounded Rectangle 7"/>
          <p:cNvSpPr/>
          <p:nvPr/>
        </p:nvSpPr>
        <p:spPr bwMode="auto">
          <a:xfrm>
            <a:off x="7955279" y="1554480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307808506" name="Rectangle 8"/>
          <p:cNvSpPr/>
          <p:nvPr/>
        </p:nvSpPr>
        <p:spPr bwMode="auto">
          <a:xfrm>
            <a:off x="7955279" y="1554480"/>
            <a:ext cx="82296" cy="9144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2424763" name="TextBox 9"/>
          <p:cNvSpPr txBox="1"/>
          <p:nvPr/>
        </p:nvSpPr>
        <p:spPr bwMode="auto">
          <a:xfrm>
            <a:off x="8183879" y="166420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500" b="1" i="0">
                <a:solidFill>
                  <a:srgbClr val="6B7C93"/>
                </a:solidFill>
                <a:latin typeface="Calibri"/>
              </a:rPr>
              <a:t>senza rete</a:t>
            </a:r>
            <a:endParaRPr/>
          </a:p>
        </p:txBody>
      </p:sp>
      <p:sp>
        <p:nvSpPr>
          <p:cNvPr id="1115196035" name="TextBox 10"/>
          <p:cNvSpPr txBox="1"/>
          <p:nvPr/>
        </p:nvSpPr>
        <p:spPr bwMode="auto">
          <a:xfrm>
            <a:off x="9509760" y="1600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2800" b="1" i="0">
                <a:solidFill>
                  <a:srgbClr val="1F3A5F"/>
                </a:solidFill>
                <a:latin typeface="Calibri"/>
              </a:rPr>
              <a:t>67 ns</a:t>
            </a:r>
            <a:endParaRPr/>
          </a:p>
        </p:txBody>
      </p:sp>
      <p:sp>
        <p:nvSpPr>
          <p:cNvPr id="1043639859" name="TextBox 11"/>
          <p:cNvSpPr txBox="1"/>
          <p:nvPr/>
        </p:nvSpPr>
        <p:spPr bwMode="auto">
          <a:xfrm>
            <a:off x="8183879" y="21031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15,0 milioni di pacchetti/s</a:t>
            </a:r>
            <a:endParaRPr/>
          </a:p>
        </p:txBody>
      </p:sp>
      <p:sp>
        <p:nvSpPr>
          <p:cNvPr id="366963204" name="Rounded Rectangle 12"/>
          <p:cNvSpPr/>
          <p:nvPr/>
        </p:nvSpPr>
        <p:spPr bwMode="auto">
          <a:xfrm>
            <a:off x="7955279" y="2578608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04635164" name="Rectangle 13"/>
          <p:cNvSpPr/>
          <p:nvPr/>
        </p:nvSpPr>
        <p:spPr bwMode="auto">
          <a:xfrm>
            <a:off x="7955279" y="2578608"/>
            <a:ext cx="82296" cy="914400"/>
          </a:xfrm>
          <a:prstGeom prst="rect">
            <a:avLst/>
          </a:prstGeom>
          <a:solidFill>
            <a:srgbClr val="F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334265666" name="TextBox 14"/>
          <p:cNvSpPr txBox="1"/>
          <p:nvPr/>
        </p:nvSpPr>
        <p:spPr bwMode="auto">
          <a:xfrm>
            <a:off x="8183879" y="268833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500" b="1" i="0">
                <a:solidFill>
                  <a:srgbClr val="6B7C93"/>
                </a:solidFill>
                <a:latin typeface="Calibri"/>
              </a:rPr>
              <a:t>P1 / P1.5</a:t>
            </a:r>
            <a:endParaRPr/>
          </a:p>
        </p:txBody>
      </p:sp>
      <p:sp>
        <p:nvSpPr>
          <p:cNvPr id="1324745207" name="TextBox 15"/>
          <p:cNvSpPr txBox="1"/>
          <p:nvPr/>
        </p:nvSpPr>
        <p:spPr bwMode="auto">
          <a:xfrm>
            <a:off x="9509760" y="26243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2800" b="1" i="0">
                <a:solidFill>
                  <a:srgbClr val="1F3A5F"/>
                </a:solidFill>
                <a:latin typeface="Calibri"/>
              </a:rPr>
              <a:t>85–222 ns</a:t>
            </a:r>
            <a:endParaRPr/>
          </a:p>
        </p:txBody>
      </p:sp>
      <p:sp>
        <p:nvSpPr>
          <p:cNvPr id="352015954" name="TextBox 16"/>
          <p:cNvSpPr txBox="1"/>
          <p:nvPr/>
        </p:nvSpPr>
        <p:spPr bwMode="auto">
          <a:xfrm>
            <a:off x="8183879" y="312724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4,5–11,7 milioni di pacchetti/s</a:t>
            </a:r>
            <a:endParaRPr/>
          </a:p>
        </p:txBody>
      </p:sp>
      <p:sp>
        <p:nvSpPr>
          <p:cNvPr id="1677169233" name="Rounded Rectangle 17"/>
          <p:cNvSpPr/>
          <p:nvPr/>
        </p:nvSpPr>
        <p:spPr bwMode="auto">
          <a:xfrm>
            <a:off x="7955279" y="3602735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424203832" name="Rectangle 18"/>
          <p:cNvSpPr/>
          <p:nvPr/>
        </p:nvSpPr>
        <p:spPr bwMode="auto">
          <a:xfrm>
            <a:off x="7955279" y="3602735"/>
            <a:ext cx="82296" cy="914400"/>
          </a:xfrm>
          <a:prstGeom prst="rect">
            <a:avLst/>
          </a:prstGeom>
          <a:solidFill>
            <a:srgbClr val="2E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01142388" name="TextBox 19"/>
          <p:cNvSpPr txBox="1"/>
          <p:nvPr/>
        </p:nvSpPr>
        <p:spPr bwMode="auto">
          <a:xfrm>
            <a:off x="8183879" y="371246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500" b="1" i="0">
                <a:solidFill>
                  <a:srgbClr val="6B7C93"/>
                </a:solidFill>
                <a:latin typeface="Calibri"/>
              </a:rPr>
              <a:t>P2</a:t>
            </a:r>
            <a:endParaRPr/>
          </a:p>
        </p:txBody>
      </p:sp>
      <p:sp>
        <p:nvSpPr>
          <p:cNvPr id="2123480751" name="TextBox 20"/>
          <p:cNvSpPr txBox="1"/>
          <p:nvPr/>
        </p:nvSpPr>
        <p:spPr bwMode="auto">
          <a:xfrm>
            <a:off x="9509760" y="364845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2800" b="1" i="0">
                <a:solidFill>
                  <a:srgbClr val="1F3A5F"/>
                </a:solidFill>
                <a:latin typeface="Calibri"/>
              </a:rPr>
              <a:t>196–512 ns</a:t>
            </a:r>
            <a:endParaRPr/>
          </a:p>
        </p:txBody>
      </p:sp>
      <p:sp>
        <p:nvSpPr>
          <p:cNvPr id="435592814" name="TextBox 21"/>
          <p:cNvSpPr txBox="1"/>
          <p:nvPr/>
        </p:nvSpPr>
        <p:spPr bwMode="auto">
          <a:xfrm>
            <a:off x="8183879" y="4151376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2,0–5,1 milioni di pacchetti/s</a:t>
            </a:r>
            <a:endParaRPr/>
          </a:p>
        </p:txBody>
      </p:sp>
      <p:sp>
        <p:nvSpPr>
          <p:cNvPr id="1467783692" name="Rounded Rectangle 22"/>
          <p:cNvSpPr/>
          <p:nvPr/>
        </p:nvSpPr>
        <p:spPr bwMode="auto">
          <a:xfrm>
            <a:off x="7955279" y="4626864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135445290" name="Rectangle 23"/>
          <p:cNvSpPr/>
          <p:nvPr/>
        </p:nvSpPr>
        <p:spPr bwMode="auto">
          <a:xfrm>
            <a:off x="7955279" y="4626864"/>
            <a:ext cx="82296" cy="91440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22212909" name="TextBox 24"/>
          <p:cNvSpPr txBox="1"/>
          <p:nvPr/>
        </p:nvSpPr>
        <p:spPr bwMode="auto">
          <a:xfrm>
            <a:off x="8183879" y="473659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500" b="1" i="0">
                <a:solidFill>
                  <a:srgbClr val="6B7C93"/>
                </a:solidFill>
                <a:latin typeface="Calibri"/>
              </a:rPr>
              <a:t>P3</a:t>
            </a:r>
            <a:endParaRPr/>
          </a:p>
        </p:txBody>
      </p:sp>
      <p:sp>
        <p:nvSpPr>
          <p:cNvPr id="398477034" name="TextBox 25"/>
          <p:cNvSpPr txBox="1"/>
          <p:nvPr/>
        </p:nvSpPr>
        <p:spPr bwMode="auto">
          <a:xfrm>
            <a:off x="9509760" y="467258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2800" b="1" i="0">
                <a:solidFill>
                  <a:srgbClr val="1F3A5F"/>
                </a:solidFill>
                <a:latin typeface="Calibri"/>
              </a:rPr>
              <a:t>307–918 ns</a:t>
            </a:r>
            <a:endParaRPr/>
          </a:p>
        </p:txBody>
      </p:sp>
      <p:sp>
        <p:nvSpPr>
          <p:cNvPr id="2048113118" name="TextBox 26"/>
          <p:cNvSpPr txBox="1"/>
          <p:nvPr/>
        </p:nvSpPr>
        <p:spPr bwMode="auto">
          <a:xfrm>
            <a:off x="8183879" y="5175504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300" b="0" i="0">
                <a:solidFill>
                  <a:srgbClr val="222B36"/>
                </a:solidFill>
                <a:latin typeface="Calibri"/>
              </a:rPr>
              <a:t>1,1–3,3 milioni di pacchetti/s</a:t>
            </a:r>
            <a:endParaRPr/>
          </a:p>
        </p:txBody>
      </p:sp>
      <p:sp>
        <p:nvSpPr>
          <p:cNvPr id="125905428" name="Rounded Rectangle 27"/>
          <p:cNvSpPr/>
          <p:nvPr/>
        </p:nvSpPr>
        <p:spPr bwMode="auto">
          <a:xfrm>
            <a:off x="548640" y="5669280"/>
            <a:ext cx="11094415" cy="6858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2673224" name="Rectangle 28"/>
          <p:cNvSpPr/>
          <p:nvPr/>
        </p:nvSpPr>
        <p:spPr bwMode="auto">
          <a:xfrm>
            <a:off x="548640" y="5669280"/>
            <a:ext cx="82296" cy="6858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117035506" name="TextBox 29"/>
          <p:cNvSpPr txBox="1"/>
          <p:nvPr/>
        </p:nvSpPr>
        <p:spPr bwMode="auto">
          <a:xfrm>
            <a:off x="822960" y="5742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951066903" name="TextBox 30"/>
          <p:cNvSpPr txBox="1"/>
          <p:nvPr/>
        </p:nvSpPr>
        <p:spPr bwMode="auto">
          <a:xfrm>
            <a:off x="1783080" y="5669280"/>
            <a:ext cx="967709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Ricevere e inoltrare un pacchetto costa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~67 ns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, con qualunque modello. La rete neurale aggiunge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19–155 ns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con i pesi scritti nel programma (P1),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129–446 ns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se la forma si legge da tabella (P2),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240–852 ns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se anche il numero di strati (P3). Un core regge da 11,7 a 1,1 milioni di pacchetti al secondo.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735776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38471048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1 · IL NODO · LE ISTRUZIONI</a:t>
            </a:r>
            <a:endParaRPr/>
          </a:p>
        </p:txBody>
      </p:sp>
      <p:sp>
        <p:nvSpPr>
          <p:cNvPr id="1712070010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Quanto è grande il programma non dice quanto lavora</a:t>
            </a:r>
            <a:endParaRPr/>
          </a:p>
        </p:txBody>
      </p:sp>
      <p:sp>
        <p:nvSpPr>
          <p:cNvPr id="666656768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409264226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Caricate: la dimensione del programma, contata dal kernel  ·  eseguite: contate dal processore per ogni pacchetto  ·  a destra i 14 modelli misurati su tutti e tre i core</a:t>
            </a:r>
            <a:endParaRPr/>
          </a:p>
        </p:txBody>
      </p:sp>
      <p:graphicFrame>
        <p:nvGraphicFramePr>
          <p:cNvPr id="2015240729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8126559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71431317" name="TextBox 8"/>
          <p:cNvSpPr txBox="1"/>
          <p:nvPr/>
        </p:nvSpPr>
        <p:spPr bwMode="auto">
          <a:xfrm>
            <a:off x="54864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Caricate contro eseguite.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P2 è il più grande ma esegue meno istruzioni di P3 (85 modelli su 85).</a:t>
            </a:r>
            <a:endParaRPr/>
          </a:p>
        </p:txBody>
      </p:sp>
      <p:sp>
        <p:nvSpPr>
          <p:cNvPr id="1330098783" name="TextBox 9"/>
          <p:cNvSpPr txBox="1"/>
          <p:nvPr/>
        </p:nvSpPr>
        <p:spPr bwMode="auto">
          <a:xfrm>
            <a:off x="630936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Stesse istruzioni su ogni core: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al più 0,3 % di differenza (0,7 % sul LP E-core).</a:t>
            </a:r>
            <a:endParaRPr/>
          </a:p>
        </p:txBody>
      </p:sp>
      <p:sp>
        <p:nvSpPr>
          <p:cNvPr id="1231889728" name="Rounded Rectangle 10"/>
          <p:cNvSpPr/>
          <p:nvPr/>
        </p:nvSpPr>
        <p:spPr bwMode="auto">
          <a:xfrm>
            <a:off x="548640" y="562356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68020408" name="Rectangle 11"/>
          <p:cNvSpPr/>
          <p:nvPr/>
        </p:nvSpPr>
        <p:spPr bwMode="auto">
          <a:xfrm>
            <a:off x="548640" y="5623560"/>
            <a:ext cx="82296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393139784" name="TextBox 12"/>
          <p:cNvSpPr txBox="1"/>
          <p:nvPr/>
        </p:nvSpPr>
        <p:spPr bwMode="auto">
          <a:xfrm>
            <a:off x="822960" y="56967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913439446" name="TextBox 13"/>
          <p:cNvSpPr txBox="1"/>
          <p:nvPr/>
        </p:nvSpPr>
        <p:spPr bwMode="auto">
          <a:xfrm>
            <a:off x="1783080" y="5623560"/>
            <a:ext cx="9677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La dimensione dice quanto è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grande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il programma, non quanto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lavora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: conta quante istruzioni il processore esegue davvero per ogni pacchetto. E sono le stesse su ogni tipo di core: cambia solo quante ne esegue a ogni ciclo di clock.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499879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612843226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2 · TRE TIPI DI CORE</a:t>
            </a:r>
            <a:endParaRPr/>
          </a:p>
        </p:txBody>
      </p:sp>
      <p:sp>
        <p:nvSpPr>
          <p:cNvPr id="1284530135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Su un E-core il nodo regge dal 61 al 91 % del P-core</a:t>
            </a:r>
            <a:endParaRPr/>
          </a:p>
        </p:txBody>
      </p:sp>
      <p:sp>
        <p:nvSpPr>
          <p:cNvPr id="1720393650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407984220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Core veloce (P-core) ed efficiente (E-core) a 3,5 GHz, a basso consumo (LP E-core) a 2,5 GHz  ·  grafici: mediana dei 14 modelli misurati su tutti e tre i core</a:t>
            </a:r>
            <a:endParaRPr/>
          </a:p>
        </p:txBody>
      </p:sp>
      <p:graphicFrame>
        <p:nvGraphicFramePr>
          <p:cNvPr id="948320914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13787462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14507530" name="TextBox 8"/>
          <p:cNvSpPr txBox="1"/>
          <p:nvPr/>
        </p:nvSpPr>
        <p:spPr bwMode="auto">
          <a:xfrm>
            <a:off x="54864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Milioni di pacchetti al secondo.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Rispetto al P-core, l'E-core regge 0,61–0,66 volte senza rete e 0,72–0,89 volte con P3.</a:t>
            </a:r>
            <a:endParaRPr/>
          </a:p>
        </p:txBody>
      </p:sp>
      <p:sp>
        <p:nvSpPr>
          <p:cNvPr id="1157625800" name="TextBox 9"/>
          <p:cNvSpPr txBox="1"/>
          <p:nvPr/>
        </p:nvSpPr>
        <p:spPr bwMode="auto">
          <a:xfrm>
            <a:off x="630936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Tempo per pacchetto.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Sull'E-core il lavoro fisso del nodo costa il 56 % in più, la rete neurale di P3 solo il 13 %.</a:t>
            </a:r>
            <a:endParaRPr/>
          </a:p>
        </p:txBody>
      </p:sp>
      <p:sp>
        <p:nvSpPr>
          <p:cNvPr id="226294481" name="Rounded Rectangle 10"/>
          <p:cNvSpPr/>
          <p:nvPr/>
        </p:nvSpPr>
        <p:spPr bwMode="auto">
          <a:xfrm>
            <a:off x="548640" y="562356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808282501" name="Rectangle 11"/>
          <p:cNvSpPr/>
          <p:nvPr/>
        </p:nvSpPr>
        <p:spPr bwMode="auto">
          <a:xfrm>
            <a:off x="548640" y="5623560"/>
            <a:ext cx="82296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76467333" name="TextBox 12"/>
          <p:cNvSpPr txBox="1"/>
          <p:nvPr/>
        </p:nvSpPr>
        <p:spPr bwMode="auto">
          <a:xfrm>
            <a:off x="822960" y="56967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506507685" name="TextBox 13"/>
          <p:cNvSpPr txBox="1"/>
          <p:nvPr/>
        </p:nvSpPr>
        <p:spPr bwMode="auto">
          <a:xfrm>
            <a:off x="1783080" y="5623560"/>
            <a:ext cx="9677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A parità di frequenza l'E-core rallenta soprattutto il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lavoro fisso del nodo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(ricevere e inoltrare): più la rete pesa sul totale, meno conta il core. Il core a basso consumo (LP E-core, 2,5 GHz) regge dal 32 al 53 % del P-core.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73959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51821850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2 · TRE TIPI DI CORE · ISTRUZIONI PER CICLO</a:t>
            </a:r>
            <a:endParaRPr/>
          </a:p>
        </p:txBody>
      </p:sp>
      <p:sp>
        <p:nvSpPr>
          <p:cNvPr id="209064899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L'E-core esegue le stesse istruzioni, meno per ciclo</a:t>
            </a:r>
            <a:endParaRPr/>
          </a:p>
        </p:txBody>
      </p:sp>
      <p:sp>
        <p:nvSpPr>
          <p:cNvPr id="409264089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7</a:t>
            </a:r>
            <a:endParaRPr/>
          </a:p>
        </p:txBody>
      </p:sp>
      <p:sp>
        <p:nvSpPr>
          <p:cNvPr id="24301414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Contatori del processore sul core del nodo  ·  grafico: 14 modelli misurati sui tre core  ·  tabella: mediane su 91 modelli</a:t>
            </a:r>
            <a:endParaRPr/>
          </a:p>
        </p:txBody>
      </p:sp>
      <p:graphicFrame>
        <p:nvGraphicFramePr>
          <p:cNvPr id="932624009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6035039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06083318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6766560" y="1554480"/>
          <a:ext cx="4937760" cy="1975104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519310"/>
                <a:gridCol w="1234440"/>
                <a:gridCol w="1424353"/>
                <a:gridCol w="759655"/>
              </a:tblGrid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Versione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Istruzioni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Cicli P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Cicli E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senza rete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606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231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360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P1 statica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1 162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414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531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P1.5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1 346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438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569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P2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4 578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1 016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1 218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P3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7 575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1 697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2 021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9859894" name="Rounded Rectangle 8"/>
          <p:cNvSpPr/>
          <p:nvPr/>
        </p:nvSpPr>
        <p:spPr bwMode="auto">
          <a:xfrm>
            <a:off x="6766560" y="3703320"/>
            <a:ext cx="4937760" cy="25146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159502376" name="Rectangle 9"/>
          <p:cNvSpPr/>
          <p:nvPr/>
        </p:nvSpPr>
        <p:spPr bwMode="auto">
          <a:xfrm>
            <a:off x="6766560" y="3703320"/>
            <a:ext cx="82296" cy="25146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12156595" name="TextBox 10"/>
          <p:cNvSpPr txBox="1"/>
          <p:nvPr/>
        </p:nvSpPr>
        <p:spPr bwMode="auto">
          <a:xfrm>
            <a:off x="7040880" y="3776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473925948" name="TextBox 11"/>
          <p:cNvSpPr txBox="1"/>
          <p:nvPr/>
        </p:nvSpPr>
        <p:spPr bwMode="auto">
          <a:xfrm>
            <a:off x="7040880" y="4069080"/>
            <a:ext cx="44805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1" i="0">
                <a:solidFill>
                  <a:srgbClr val="222B36"/>
                </a:solidFill>
                <a:latin typeface="Calibri"/>
              </a:rPr>
              <a:t>Fra i core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cambia solo l'IPC: 2,6 → 1,7 senza rete, 4,5 → 3,7 con P3. L'E-core perde di più nel lavoro fisso del nodo, pieno di salti e attese della memoria.</a:t>
            </a:r>
            <a:endParaRPr/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defRPr/>
            </a:pPr>
            <a:r>
              <a:rPr sz="1500" b="1" i="0">
                <a:solidFill>
                  <a:srgbClr val="222B36"/>
                </a:solidFill>
                <a:latin typeface="Calibri"/>
              </a:rPr>
              <a:t>Fra le versioni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pesa quel lavoro fisso: in P1 è il 52 % delle istruzioni e tiene l'IPC vicino a 2,6; in P2 e P3 è il 13 e l'8 %, e conta il ciclo sui pesi.</a:t>
            </a:r>
            <a:endParaRPr/>
          </a:p>
        </p:txBody>
      </p:sp>
      <p:sp>
        <p:nvSpPr>
          <p:cNvPr id="1207094866" name="TextBox 12"/>
          <p:cNvSpPr txBox="1"/>
          <p:nvPr/>
        </p:nvSpPr>
        <p:spPr bwMode="auto">
          <a:xfrm>
            <a:off x="548640" y="5303520"/>
            <a:ext cx="5852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1" i="0">
                <a:solidFill>
                  <a:srgbClr val="222B36"/>
                </a:solidFill>
                <a:latin typeface="Calibri"/>
              </a:rPr>
              <a:t>IPC = istruzioni ÷ cicli.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Più alto non vuol dire più veloce: P2 e P3 ripetono un ciclo breve sui pesi, fatto di istruzioni semplici che il core esegue molte insieme, ma ne eseguono 4 e 6,5 volte P1.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20623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97613100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2 · TRE TIPI DI CORE · IL CORE A BASSO CONSUMO</a:t>
            </a:r>
            <a:endParaRPr/>
          </a:p>
        </p:txBody>
      </p:sp>
      <p:sp>
        <p:nvSpPr>
          <p:cNvPr id="2094937408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Il LP E-core paga anche la memoria</a:t>
            </a:r>
            <a:endParaRPr/>
          </a:p>
        </p:txBody>
      </p:sp>
      <p:sp>
        <p:nvSpPr>
          <p:cNvPr id="1164585264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8</a:t>
            </a:r>
            <a:endParaRPr/>
          </a:p>
        </p:txBody>
      </p:sp>
      <p:sp>
        <p:nvSpPr>
          <p:cNvPr id="1134765667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Contatori del processore, per pacchetto, a nodo pieno  ·  LP E-core a 2,5 GHz  ·  mediane dei 14 modelli misurati sui tre core</a:t>
            </a:r>
            <a:endParaRPr/>
          </a:p>
        </p:txBody>
      </p:sp>
      <p:graphicFrame>
        <p:nvGraphicFramePr>
          <p:cNvPr id="1924351974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8504972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2226497" name="TextBox 8"/>
          <p:cNvSpPr txBox="1"/>
          <p:nvPr/>
        </p:nvSpPr>
        <p:spPr bwMode="auto">
          <a:xfrm>
            <a:off x="54864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Letture andate in memoria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(il dato non è in cache): zero su P-core ed E-core, 14–19 per pacchetto sul LP E-core.</a:t>
            </a:r>
            <a:endParaRPr/>
          </a:p>
        </p:txBody>
      </p:sp>
      <p:sp>
        <p:nvSpPr>
          <p:cNvPr id="22297695" name="TextBox 9"/>
          <p:cNvSpPr txBox="1"/>
          <p:nvPr/>
        </p:nvSpPr>
        <p:spPr bwMode="auto">
          <a:xfrm>
            <a:off x="630936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Cicli per pacchetto.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Per P3: 1 614 sul P-core, 1 944 sull'E-core, 2 435 sul LP E-core; in tempo 462, 562 e 976 ns.</a:t>
            </a:r>
            <a:endParaRPr/>
          </a:p>
        </p:txBody>
      </p:sp>
      <p:sp>
        <p:nvSpPr>
          <p:cNvPr id="1907516263" name="Rounded Rectangle 10"/>
          <p:cNvSpPr/>
          <p:nvPr/>
        </p:nvSpPr>
        <p:spPr bwMode="auto">
          <a:xfrm>
            <a:off x="548640" y="562356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618774697" name="Rectangle 11"/>
          <p:cNvSpPr/>
          <p:nvPr/>
        </p:nvSpPr>
        <p:spPr bwMode="auto">
          <a:xfrm>
            <a:off x="548640" y="5623560"/>
            <a:ext cx="82296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26714576" name="TextBox 12"/>
          <p:cNvSpPr txBox="1"/>
          <p:nvPr/>
        </p:nvSpPr>
        <p:spPr bwMode="auto">
          <a:xfrm>
            <a:off x="822960" y="56967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434307821" name="TextBox 13"/>
          <p:cNvSpPr txBox="1"/>
          <p:nvPr/>
        </p:nvSpPr>
        <p:spPr bwMode="auto">
          <a:xfrm>
            <a:off x="1783080" y="5623560"/>
            <a:ext cx="9677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Il LP E-core sta in un'altra parte del chip, fuori dalla cache che gli altri core condividono: i pacchetti gli arrivano dalla memoria. Fra attese, un core più semplice e 2,5 GHz regge dal 32 al 53 % del P-core.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674994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519128425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3 · SOTTO CARICO · TRAFFICO CRESCENTE</a:t>
            </a:r>
            <a:endParaRPr/>
          </a:p>
        </p:txBody>
      </p:sp>
      <p:sp>
        <p:nvSpPr>
          <p:cNvPr id="1143687563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Oltre la capacità si perde all'ingresso del programma</a:t>
            </a:r>
            <a:endParaRPr/>
          </a:p>
        </p:txBody>
      </p:sp>
      <p:sp>
        <p:nvSpPr>
          <p:cNvPr id="690072380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9</a:t>
            </a:r>
            <a:endParaRPr/>
          </a:p>
        </p:txBody>
      </p:sp>
      <p:sp>
        <p:nvSpPr>
          <p:cNvPr id="1029326294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Traffico crescente da 0,5 a 12 milioni di pacchetti al secondo, 6 modelli dal più leggero al più pesante  ·  entrambi gli assi divisi per la capacità del modello</a:t>
            </a:r>
            <a:endParaRPr/>
          </a:p>
        </p:txBody>
      </p:sp>
      <p:graphicFrame>
        <p:nvGraphicFramePr>
          <p:cNvPr id="808185207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44296566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90937437" name="TextBox 8"/>
          <p:cNvSpPr txBox="1"/>
          <p:nvPr/>
        </p:nvSpPr>
        <p:spPr bwMode="auto">
          <a:xfrm>
            <a:off x="548640" y="4800600"/>
            <a:ext cx="5394960" cy="69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400" b="1" i="0">
                <a:solidFill>
                  <a:srgbClr val="222B36"/>
                </a:solidFill>
                <a:latin typeface="Calibri"/>
              </a:rPr>
              <a:t>P-core.</a:t>
            </a:r>
            <a:r>
              <a:rPr lang="it-IT" sz="1400" b="0" i="0">
                <a:solidFill>
                  <a:srgbClr val="222B36"/>
                </a:solidFill>
                <a:latin typeface="Calibri"/>
              </a:rPr>
              <a:t> Fino alla capacità passa tutto, poi la curva resta piatta: il massimo inoltrato è 0,98 volte la capacità misurata a parte.</a:t>
            </a:r>
            <a:endParaRPr/>
          </a:p>
        </p:txBody>
      </p:sp>
      <p:sp>
        <p:nvSpPr>
          <p:cNvPr id="504927200" name="TextBox 9"/>
          <p:cNvSpPr txBox="1"/>
          <p:nvPr/>
        </p:nvSpPr>
        <p:spPr bwMode="auto">
          <a:xfrm>
            <a:off x="6309360" y="48006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E-core.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Stesso andamento (0,99). Divise per la capacità del loro modello, le curve di modelli diversi coincidono.</a:t>
            </a:r>
            <a:endParaRPr/>
          </a:p>
        </p:txBody>
      </p:sp>
      <p:sp>
        <p:nvSpPr>
          <p:cNvPr id="460109719" name="Rounded Rectangle 10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54343263" name="Rectangle 11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33846399" name="TextBox 12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510645201" name="TextBox 13"/>
          <p:cNvSpPr txBox="1"/>
          <p:nvPr/>
        </p:nvSpPr>
        <p:spPr bwMode="auto">
          <a:xfrm>
            <a:off x="1783080" y="557784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Oltre la capacità i pacchetti si perdono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in coda, prima del programma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: il collo di bottiglia è il programma, su ogni tipo di core. Fa eccezione P1 sui modelli più leggeri: sopra i 9 milioni di pacchetti al secondo perde anche l'uscita.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02536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182578725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3 · SOTTO CARICO · DUE CORE</a:t>
            </a:r>
            <a:endParaRPr/>
          </a:p>
        </p:txBody>
      </p:sp>
      <p:sp>
        <p:nvSpPr>
          <p:cNvPr id="783518384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Due core reggono il doppio, sul P-core e sull'E-core</a:t>
            </a:r>
            <a:endParaRPr/>
          </a:p>
        </p:txBody>
      </p:sp>
      <p:sp>
        <p:nvSpPr>
          <p:cNvPr id="449545814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10</a:t>
            </a:r>
            <a:endParaRPr/>
          </a:p>
        </p:txBody>
      </p:sp>
      <p:sp>
        <p:nvSpPr>
          <p:cNvPr id="924055082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Una coda, un generatore e un core d'uscita per ogni core del nodo  ·  mediane di 8 modelli dal più leggero al più pesante</a:t>
            </a:r>
            <a:endParaRPr/>
          </a:p>
        </p:txBody>
      </p:sp>
      <p:graphicFrame>
        <p:nvGraphicFramePr>
          <p:cNvPr id="1007644741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28268511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7460885" name="TextBox 8"/>
          <p:cNvSpPr txBox="1"/>
          <p:nvPr/>
        </p:nvSpPr>
        <p:spPr bwMode="auto">
          <a:xfrm>
            <a:off x="54864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P-core.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Con due core il nodo regge il 99 % del doppio (fra il 94–103 %).</a:t>
            </a:r>
            <a:endParaRPr/>
          </a:p>
        </p:txBody>
      </p:sp>
      <p:sp>
        <p:nvSpPr>
          <p:cNvPr id="763300236" name="TextBox 9"/>
          <p:cNvSpPr txBox="1"/>
          <p:nvPr/>
        </p:nvSpPr>
        <p:spPr bwMode="auto">
          <a:xfrm>
            <a:off x="630936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E-core.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Il 99 % del doppio, con i due core in gruppi diversi del chip.</a:t>
            </a:r>
            <a:endParaRPr/>
          </a:p>
        </p:txBody>
      </p:sp>
      <p:sp>
        <p:nvSpPr>
          <p:cNvPr id="1333347616" name="Rounded Rectangle 10"/>
          <p:cNvSpPr/>
          <p:nvPr/>
        </p:nvSpPr>
        <p:spPr bwMode="auto">
          <a:xfrm>
            <a:off x="548640" y="562356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35502875" name="Rectangle 11"/>
          <p:cNvSpPr/>
          <p:nvPr/>
        </p:nvSpPr>
        <p:spPr bwMode="auto">
          <a:xfrm>
            <a:off x="548640" y="5623560"/>
            <a:ext cx="82296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72088071" name="TextBox 12"/>
          <p:cNvSpPr txBox="1"/>
          <p:nvPr/>
        </p:nvSpPr>
        <p:spPr bwMode="auto">
          <a:xfrm>
            <a:off x="822960" y="56967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445954395" name="TextBox 13"/>
          <p:cNvSpPr txBox="1"/>
          <p:nvPr/>
        </p:nvSpPr>
        <p:spPr bwMode="auto">
          <a:xfrm>
            <a:off x="1783080" y="5623560"/>
            <a:ext cx="9677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Ogni core ha i suoi contatori e la sua coda d'uscita: il secondo core non rallenta il primo. Una scheda di rete che divide i pacchetti su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N code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regge circa </a:t>
            </a:r>
            <a:r>
              <a:rPr sz="1400" b="1" i="0">
                <a:solidFill>
                  <a:srgbClr val="222B36"/>
                </a:solidFill>
                <a:latin typeface="Calibri"/>
              </a:rPr>
              <a:t>N volte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la capacità di un core.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34377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982079349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3 · SOTTO CARICO · CHE COSA NON CONTA</a:t>
            </a:r>
            <a:endParaRPr/>
          </a:p>
        </p:txBody>
      </p:sp>
      <p:sp>
        <p:nvSpPr>
          <p:cNvPr id="351719659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Il costo dipende solo da versione e modello</a:t>
            </a:r>
            <a:endParaRPr/>
          </a:p>
        </p:txBody>
      </p:sp>
      <p:sp>
        <p:nvSpPr>
          <p:cNvPr id="1750487640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11</a:t>
            </a:r>
            <a:endParaRPr/>
          </a:p>
        </p:txBody>
      </p:sp>
      <p:sp>
        <p:nvSpPr>
          <p:cNvPr id="51425049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Una prova per ogni decisione che il modello sa prendere  ·  P-core a 3,5 GHz  ·  mediane di 6 modelli (taglie) e 8 (decisioni)</a:t>
            </a:r>
            <a:endParaRPr/>
          </a:p>
        </p:txBody>
      </p:sp>
      <p:graphicFrame>
        <p:nvGraphicFramePr>
          <p:cNvPr id="1494252046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69372964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88206009" name="TextBox 8"/>
          <p:cNvSpPr txBox="1"/>
          <p:nvPr/>
        </p:nvSpPr>
        <p:spPr bwMode="auto">
          <a:xfrm>
            <a:off x="54864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Taglia del pacchetto: nessun effetto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(1,2 % fra 64 e 1 514 byte, in mediana). Il nodo legge solo l'intestazione.</a:t>
            </a:r>
            <a:endParaRPr/>
          </a:p>
        </p:txBody>
      </p:sp>
      <p:sp>
        <p:nvSpPr>
          <p:cNvPr id="1514934315" name="TextBox 9"/>
          <p:cNvSpPr txBox="1"/>
          <p:nvPr/>
        </p:nvSpPr>
        <p:spPr bwMode="auto">
          <a:xfrm>
            <a:off x="6309360" y="49377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Porta d'uscita: nessun effetto.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Scartare il pacchetto costa ~51 ns in più: la sua memoria si libera sul core del nodo.</a:t>
            </a:r>
            <a:endParaRPr/>
          </a:p>
        </p:txBody>
      </p:sp>
      <p:sp>
        <p:nvSpPr>
          <p:cNvPr id="713134045" name="Rounded Rectangle 10"/>
          <p:cNvSpPr/>
          <p:nvPr/>
        </p:nvSpPr>
        <p:spPr bwMode="auto">
          <a:xfrm>
            <a:off x="548640" y="562356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59691213" name="Rectangle 11"/>
          <p:cNvSpPr/>
          <p:nvPr/>
        </p:nvSpPr>
        <p:spPr bwMode="auto">
          <a:xfrm>
            <a:off x="548640" y="5623560"/>
            <a:ext cx="82296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6131083" name="TextBox 12"/>
          <p:cNvSpPr txBox="1"/>
          <p:nvPr/>
        </p:nvSpPr>
        <p:spPr bwMode="auto">
          <a:xfrm>
            <a:off x="822960" y="56967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043787268" name="TextBox 13"/>
          <p:cNvSpPr txBox="1"/>
          <p:nvPr/>
        </p:nvSpPr>
        <p:spPr bwMode="auto">
          <a:xfrm>
            <a:off x="1783080" y="5623560"/>
            <a:ext cx="9677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Basta un numero per versione e modello a descrivere il costo del nodo: non contano la taglia del pacchetto, la porta d'uscita né il TTL. Solo la decisione di scartare costa ~51 ns in più, per come è fatto il banco.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19937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06810475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4 · LA FORMA DEL MODELLO · LE ISTRUZIONI</a:t>
            </a:r>
            <a:endParaRPr/>
          </a:p>
        </p:txBody>
      </p:sp>
      <p:sp>
        <p:nvSpPr>
          <p:cNvPr id="1544866250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Ogni strato di P3 costa ~900 istruzioni</a:t>
            </a:r>
            <a:endParaRPr/>
          </a:p>
        </p:txBody>
      </p:sp>
      <p:sp>
        <p:nvSpPr>
          <p:cNvPr id="1764535821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12</a:t>
            </a:r>
            <a:endParaRPr/>
          </a:p>
        </p:txBody>
      </p:sp>
      <p:sp>
        <p:nvSpPr>
          <p:cNvPr id="2083752561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Grafici: 10 modelli a pari pesi, mediane (a 4–5 strati +16–43 % di moltiplicazioni)  ·  testo: costo per strato a parità di moltiplicazioni, 83 modelli</a:t>
            </a:r>
            <a:endParaRPr/>
          </a:p>
        </p:txBody>
      </p:sp>
      <p:graphicFrame>
        <p:nvGraphicFramePr>
          <p:cNvPr id="1662669489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66653322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61297632" name="TextBox 8"/>
          <p:cNvSpPr txBox="1"/>
          <p:nvPr/>
        </p:nvSpPr>
        <p:spPr bwMode="auto">
          <a:xfrm>
            <a:off x="548640" y="4800600"/>
            <a:ext cx="5394960" cy="69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400" b="1" i="0">
                <a:solidFill>
                  <a:srgbClr val="222B36"/>
                </a:solidFill>
                <a:latin typeface="Calibri"/>
              </a:rPr>
              <a:t>Istruzioni eseguite.</a:t>
            </a:r>
            <a:r>
              <a:rPr lang="it-IT" sz="1400" b="0" i="0">
                <a:solidFill>
                  <a:srgbClr val="222B36"/>
                </a:solidFill>
                <a:latin typeface="Calibri"/>
              </a:rPr>
              <a:t> A parità di moltiplicazioni ogni strato in più ne aggiunge 901 a P3 e 370 a P2, uguali su P-core ed E-core.</a:t>
            </a:r>
            <a:endParaRPr/>
          </a:p>
        </p:txBody>
      </p:sp>
      <p:sp>
        <p:nvSpPr>
          <p:cNvPr id="940261054" name="TextBox 9"/>
          <p:cNvSpPr txBox="1"/>
          <p:nvPr/>
        </p:nvSpPr>
        <p:spPr bwMode="auto">
          <a:xfrm>
            <a:off x="6309360" y="48006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Tempo.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Ogni strato costa a P3 ~46 ns sul P-core e ~62 sull'E-core (tratteggio): stesse istruzioni, eseguite più lentamente.</a:t>
            </a:r>
            <a:endParaRPr/>
          </a:p>
        </p:txBody>
      </p:sp>
      <p:sp>
        <p:nvSpPr>
          <p:cNvPr id="1518144420" name="Rounded Rectangle 10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96332885" name="Rectangle 11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87294995" name="TextBox 12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885105646" name="TextBox 13"/>
          <p:cNvSpPr txBox="1"/>
          <p:nvPr/>
        </p:nvSpPr>
        <p:spPr bwMode="auto">
          <a:xfrm>
            <a:off x="1783080" y="557784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P3 esegue uno strato alla volta: a ogni strato salta a un altro programma e rilegge dalle tabelle dove si trova. È sempre lo stesso lavoro, per questo ogni strato costa uguale, su ogni modello.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432599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86991304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4 · LA FORMA DEL MODELLO · DUE MODI DI MISURARE</a:t>
            </a:r>
            <a:endParaRPr/>
          </a:p>
        </p:txBody>
      </p:sp>
      <p:sp>
        <p:nvSpPr>
          <p:cNvPr id="96199183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Poco traffico o nodo pieno: la rete di P2 e P3 costa uguale</a:t>
            </a:r>
            <a:endParaRPr/>
          </a:p>
        </p:txBody>
      </p:sp>
      <p:sp>
        <p:nvSpPr>
          <p:cNvPr id="408835825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13</a:t>
            </a:r>
            <a:endParaRPr/>
          </a:p>
        </p:txBody>
      </p:sp>
      <p:sp>
        <p:nvSpPr>
          <p:cNvPr id="1458807361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Tempo letto dal programma stesso, con 0,25 e 0,5 milioni di pacchetti al secondo, meno il nodo senza rete  ·  mediane per strati, 53 modelli  ·  P-core</a:t>
            </a:r>
            <a:endParaRPr/>
          </a:p>
        </p:txBody>
      </p:sp>
      <p:graphicFrame>
        <p:nvGraphicFramePr>
          <p:cNvPr id="522844607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19193302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52339503" name="TextBox 8"/>
          <p:cNvSpPr txBox="1"/>
          <p:nvPr/>
        </p:nvSpPr>
        <p:spPr bwMode="auto">
          <a:xfrm>
            <a:off x="548640" y="4800600"/>
            <a:ext cx="5394960" cy="69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400" b="1" i="0">
                <a:solidFill>
                  <a:srgbClr val="222B36"/>
                </a:solidFill>
                <a:latin typeface="Calibri"/>
              </a:rPr>
              <a:t>P3.</a:t>
            </a:r>
            <a:r>
              <a:rPr lang="it-IT" sz="1400" b="0" i="0">
                <a:solidFill>
                  <a:srgbClr val="222B36"/>
                </a:solidFill>
                <a:latin typeface="Calibri"/>
              </a:rPr>
              <a:t> Con poco traffico la rete costa 1,02 volte quanto a nodo pieno; il pacchetto più veloce il 14 % meno della media.</a:t>
            </a:r>
            <a:endParaRPr/>
          </a:p>
        </p:txBody>
      </p:sp>
      <p:sp>
        <p:nvSpPr>
          <p:cNvPr id="744315036" name="TextBox 9"/>
          <p:cNvSpPr txBox="1"/>
          <p:nvPr/>
        </p:nvSpPr>
        <p:spPr bwMode="auto">
          <a:xfrm>
            <a:off x="6309360" y="48006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P2: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1,03 volte. Per P1 e P1.5 no (0,77 e 0,83): la loro rete costa poche decine di ns, e le due misure non la distinguono bene.</a:t>
            </a:r>
            <a:endParaRPr/>
          </a:p>
        </p:txBody>
      </p:sp>
      <p:sp>
        <p:nvSpPr>
          <p:cNvPr id="892094568" name="Rounded Rectangle 10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35378543" name="Rectangle 11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472187501" name="TextBox 12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498110645" name="TextBox 13"/>
          <p:cNvSpPr txBox="1"/>
          <p:nvPr/>
        </p:nvSpPr>
        <p:spPr bwMode="auto">
          <a:xfrm>
            <a:off x="1783080" y="557784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Due modi indipendenti di misurare la rete, a nodo pieno e con poco traffico, danno lo stesso costo per P2 e P3 su ogni modello. Il pacchetto più veloce è quello che trova la cache già pronta.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883455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982981249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IL PREZZO DELLA CONFIGURABILITÀ</a:t>
            </a:r>
            <a:endParaRPr/>
          </a:p>
        </p:txBody>
      </p:sp>
      <p:sp>
        <p:nvSpPr>
          <p:cNvPr id="429927475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La configurabilità si paga per pacchetto: da +52 a +420 ns</a:t>
            </a:r>
            <a:endParaRPr/>
          </a:p>
        </p:txBody>
      </p:sp>
      <p:sp>
        <p:nvSpPr>
          <p:cNvPr id="667060013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14</a:t>
            </a:r>
            <a:endParaRPr/>
          </a:p>
        </p:txBody>
      </p:sp>
      <p:sp>
        <p:nvSpPr>
          <p:cNvPr id="360976908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Mediane su 91 modelli (P2: 85)  ·  tempo per pacchetto, P-core  ·  letture e salti contati da una versione del programma che li conta</a:t>
            </a:r>
            <a:endParaRPr/>
          </a:p>
        </p:txBody>
      </p:sp>
      <p:graphicFrame>
        <p:nvGraphicFramePr>
          <p:cNvPr id="1633766047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554480"/>
          <a:ext cx="6035039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02692082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6766560" y="1737360"/>
          <a:ext cx="4937758" cy="2286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519310"/>
                <a:gridCol w="1234440"/>
                <a:gridCol w="1424353"/>
                <a:gridCol w="759655"/>
              </a:tblGrid>
              <a:tr h="4572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Versione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Istruzioni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Letture tabella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Salti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P1 statica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624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5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P1.5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961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6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P2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16 813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12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>
                          <a:solidFill>
                            <a:srgbClr val="222B36"/>
                          </a:solidFill>
                          <a:latin typeface="Calibri"/>
                        </a:rPr>
                        <a:t>P3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12 288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23–54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500" b="0" i="0">
                          <a:solidFill>
                            <a:srgbClr val="222B36"/>
                          </a:solidFill>
                          <a:latin typeface="Calibri"/>
                        </a:rPr>
                        <a:t>2–7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420717947" name="Rounded Rectangle 8"/>
          <p:cNvSpPr/>
          <p:nvPr/>
        </p:nvSpPr>
        <p:spPr bwMode="auto">
          <a:xfrm>
            <a:off x="6766560" y="4160519"/>
            <a:ext cx="4937760" cy="20574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167308173" name="Rectangle 9"/>
          <p:cNvSpPr/>
          <p:nvPr/>
        </p:nvSpPr>
        <p:spPr bwMode="auto">
          <a:xfrm>
            <a:off x="6766560" y="4160519"/>
            <a:ext cx="82296" cy="20574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103989699" name="TextBox 10"/>
          <p:cNvSpPr txBox="1"/>
          <p:nvPr/>
        </p:nvSpPr>
        <p:spPr bwMode="auto">
          <a:xfrm>
            <a:off x="7040880" y="42336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468932160" name="TextBox 11"/>
          <p:cNvSpPr txBox="1"/>
          <p:nvPr/>
        </p:nvSpPr>
        <p:spPr bwMode="auto">
          <a:xfrm>
            <a:off x="7040880" y="4526280"/>
            <a:ext cx="44805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Il prezzo della configurabilità sta nelle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letture di tabella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(da 5 a 35 per pacchetto) e nei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salti fra programmi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(P3 ne fa uno per strato), non nelle moltiplicazioni. In mediana P2 costa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4,3 volte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P1, P3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7,8 volte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; P1.5 quasi come P1.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595780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31672530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CAMBIARE MODELLO</a:t>
            </a:r>
            <a:endParaRPr/>
          </a:p>
        </p:txBody>
      </p:sp>
      <p:sp>
        <p:nvSpPr>
          <p:cNvPr id="1803480350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Cambiare modello costa millisecondi a tutte le versioni</a:t>
            </a:r>
            <a:endParaRPr/>
          </a:p>
        </p:txBody>
      </p:sp>
      <p:sp>
        <p:nvSpPr>
          <p:cNvPr id="1677936972" name="TextBox 4"/>
          <p:cNvSpPr txBox="1"/>
          <p:nvPr/>
        </p:nvSpPr>
        <p:spPr bwMode="auto">
          <a:xfrm>
            <a:off x="11292840" y="6446520"/>
            <a:ext cx="45720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100" b="0" i="0">
                <a:solidFill>
                  <a:srgbClr val="6B7C93"/>
                </a:solidFill>
                <a:latin typeface="Calibri"/>
              </a:rPr>
              <a:t>15</a:t>
            </a:r>
            <a:endParaRPr/>
          </a:p>
        </p:txBody>
      </p:sp>
      <p:sp>
        <p:nvSpPr>
          <p:cNvPr id="1851390737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Tempo per installare un modello nuovo su un nodo già in servizio, scala logaritmica  ·  mediane su 89 modelli  ·  compilazione da zero, fuori dal nodo</a:t>
            </a:r>
            <a:endParaRPr/>
          </a:p>
        </p:txBody>
      </p:sp>
      <p:graphicFrame>
        <p:nvGraphicFramePr>
          <p:cNvPr id="1045398780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60020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27407832" name="Rounded Rectangle 7"/>
          <p:cNvSpPr/>
          <p:nvPr/>
        </p:nvSpPr>
        <p:spPr bwMode="auto">
          <a:xfrm>
            <a:off x="6400800" y="164592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310233120" name="Rectangle 8"/>
          <p:cNvSpPr/>
          <p:nvPr/>
        </p:nvSpPr>
        <p:spPr bwMode="auto">
          <a:xfrm>
            <a:off x="6400800" y="1645920"/>
            <a:ext cx="82296" cy="1737360"/>
          </a:xfrm>
          <a:prstGeom prst="rect">
            <a:avLst/>
          </a:prstGeom>
          <a:solidFill>
            <a:srgbClr val="E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13688328" name="TextBox 9"/>
          <p:cNvSpPr txBox="1"/>
          <p:nvPr/>
        </p:nvSpPr>
        <p:spPr bwMode="auto">
          <a:xfrm>
            <a:off x="6675120" y="1810512"/>
            <a:ext cx="4892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700" b="1" i="0">
                <a:solidFill>
                  <a:srgbClr val="E07A2D"/>
                </a:solidFill>
                <a:latin typeface="Calibri"/>
              </a:rPr>
              <a:t>P1: si compila prima, fuori dal nodo</a:t>
            </a:r>
            <a:endParaRPr/>
          </a:p>
        </p:txBody>
      </p:sp>
      <p:sp>
        <p:nvSpPr>
          <p:cNvPr id="1450648400" name="TextBox 10"/>
          <p:cNvSpPr txBox="1"/>
          <p:nvPr/>
        </p:nvSpPr>
        <p:spPr bwMode="auto">
          <a:xfrm>
            <a:off x="6675120" y="2221992"/>
            <a:ext cx="48920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Il nodo carica un programma già compilato in 0,3–1,5 ms. Compilarlo per un modello nuovo, su un'altra macchina, costa 34–114 ms.</a:t>
            </a:r>
            <a:endParaRPr/>
          </a:p>
        </p:txBody>
      </p:sp>
      <p:sp>
        <p:nvSpPr>
          <p:cNvPr id="508313182" name="Rounded Rectangle 11"/>
          <p:cNvSpPr/>
          <p:nvPr/>
        </p:nvSpPr>
        <p:spPr bwMode="auto">
          <a:xfrm>
            <a:off x="6400800" y="356616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631840862" name="Rectangle 12"/>
          <p:cNvSpPr/>
          <p:nvPr/>
        </p:nvSpPr>
        <p:spPr bwMode="auto">
          <a:xfrm>
            <a:off x="6400800" y="3566160"/>
            <a:ext cx="82296" cy="1737360"/>
          </a:xfrm>
          <a:prstGeom prst="rect">
            <a:avLst/>
          </a:prstGeom>
          <a:solidFill>
            <a:srgbClr val="2E9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37346537" name="TextBox 13"/>
          <p:cNvSpPr txBox="1"/>
          <p:nvPr/>
        </p:nvSpPr>
        <p:spPr bwMode="auto">
          <a:xfrm>
            <a:off x="6675120" y="3730752"/>
            <a:ext cx="4892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700" b="1" i="0">
                <a:solidFill>
                  <a:srgbClr val="2E9C6E"/>
                </a:solidFill>
                <a:latin typeface="Calibri"/>
              </a:rPr>
              <a:t>Il vantaggio di P2 e P3</a:t>
            </a:r>
            <a:endParaRPr/>
          </a:p>
        </p:txBody>
      </p:sp>
      <p:sp>
        <p:nvSpPr>
          <p:cNvPr id="457373828" name="TextBox 14"/>
          <p:cNvSpPr txBox="1"/>
          <p:nvPr/>
        </p:nvSpPr>
        <p:spPr bwMode="auto">
          <a:xfrm>
            <a:off x="6675120" y="4142232"/>
            <a:ext cx="48920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Un modello nuovo si installa scrivendo le sue tabelle: 0,24–0,51 ms, nessun compilatore sul nodo. Il programma generico si compila una volta sola, all'accensione (1,2–1,7 s).</a:t>
            </a:r>
            <a:endParaRPr/>
          </a:p>
        </p:txBody>
      </p:sp>
      <p:sp>
        <p:nvSpPr>
          <p:cNvPr id="1221766397" name="Rounded Rectangle 15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61936303" name="Rectangle 16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647416102" name="TextBox 17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982705151" name="TextBox 18"/>
          <p:cNvSpPr txBox="1"/>
          <p:nvPr/>
        </p:nvSpPr>
        <p:spPr bwMode="auto">
          <a:xfrm>
            <a:off x="1783080" y="557784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Cambiare modello non è un criterio di scelta: sul nodo costa meno di 6 ms a tutte. Si sceglie sul costo per pacchetto e su dove serve un compilatore: P1 ne vuole uno per ogni modello nuovo, P2 e P3 no.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267376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72397115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TAGLIA DELLA RETE E DEL MODELLO</a:t>
            </a:r>
            <a:endParaRPr/>
          </a:p>
        </p:txBody>
      </p:sp>
      <p:sp>
        <p:nvSpPr>
          <p:cNvPr id="1528768735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La rete può crescere quanto vuole. Il modello no.</a:t>
            </a:r>
            <a:endParaRPr/>
          </a:p>
        </p:txBody>
      </p:sp>
      <p:sp>
        <p:nvSpPr>
          <p:cNvPr id="899720547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16</a:t>
            </a:r>
            <a:endParaRPr/>
          </a:p>
        </p:txBody>
      </p:sp>
      <p:sp>
        <p:nvSpPr>
          <p:cNvPr id="822522267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Tempo della sola rete, P-core  ·  a sinistra: costo misurato meno quello previsto dalla legge, per taglia della rete  ·  a destra: 53 modelli del disegno principale</a:t>
            </a:r>
            <a:endParaRPr/>
          </a:p>
        </p:txBody>
      </p:sp>
      <p:graphicFrame>
        <p:nvGraphicFramePr>
          <p:cNvPr id="93296385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56610254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97572656" name="TextBox 8"/>
          <p:cNvSpPr txBox="1"/>
          <p:nvPr/>
        </p:nvSpPr>
        <p:spPr bwMode="auto">
          <a:xfrm>
            <a:off x="548640" y="4800600"/>
            <a:ext cx="5394960" cy="69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it-IT" sz="1400" b="1" i="0">
                <a:solidFill>
                  <a:srgbClr val="222B36"/>
                </a:solidFill>
                <a:latin typeface="Calibri"/>
              </a:rPr>
              <a:t>Nodi della rete.</a:t>
            </a:r>
            <a:r>
              <a:rPr lang="it-IT" sz="1400" b="0" i="0">
                <a:solidFill>
                  <a:srgbClr val="222B36"/>
                </a:solidFill>
                <a:latin typeface="Calibri"/>
              </a:rPr>
              <a:t> Reti da 10 a 100 nodi (56 modelli): il costo resta quello previsto dalla legge, al più 0,03 ns per nodo in più.</a:t>
            </a:r>
            <a:endParaRPr sz="1400" b="0" i="0">
              <a:solidFill>
                <a:srgbClr val="222B36"/>
              </a:solidFill>
              <a:latin typeface="Calibri"/>
            </a:endParaRPr>
          </a:p>
        </p:txBody>
      </p:sp>
      <p:sp>
        <p:nvSpPr>
          <p:cNvPr id="797807126" name="TextBox 9"/>
          <p:cNvSpPr txBox="1"/>
          <p:nvPr/>
        </p:nvSpPr>
        <p:spPr bwMode="auto">
          <a:xfrm>
            <a:off x="6309360" y="48006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Larghezza del modello.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Da 2 a 8 neuroni sale su tutte: P1 da 37 a 90 ns, P3 da 389 a 537 ns.</a:t>
            </a:r>
            <a:endParaRPr/>
          </a:p>
        </p:txBody>
      </p:sp>
      <p:sp>
        <p:nvSpPr>
          <p:cNvPr id="1597507069" name="Rounded Rectangle 10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23727900" name="Rectangle 11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76747017" name="TextBox 12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574917264" name="TextBox 13"/>
          <p:cNvSpPr txBox="1"/>
          <p:nvPr/>
        </p:nvSpPr>
        <p:spPr bwMode="auto">
          <a:xfrm>
            <a:off x="1783080" y="557784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Una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rete più grande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(più nodi) non rallenta nessuna pipeline: basta una riga in più in tabella. Un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modello più largo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rallenta tutte, a ogni pacchetto. Si può far crescere la rete; il modello va tenuto piccolo.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631101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40700296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PROFONDITÀ</a:t>
            </a:r>
            <a:endParaRPr/>
          </a:p>
        </p:txBody>
      </p:sp>
      <p:sp>
        <p:nvSpPr>
          <p:cNvPr id="797565734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Uno strato in più: P2 lo paga in spazio, P3 in tempo</a:t>
            </a:r>
            <a:endParaRPr/>
          </a:p>
        </p:txBody>
      </p:sp>
      <p:sp>
        <p:nvSpPr>
          <p:cNvPr id="1352940355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17</a:t>
            </a:r>
            <a:endParaRPr/>
          </a:p>
        </p:txBody>
      </p:sp>
      <p:sp>
        <p:nvSpPr>
          <p:cNvPr id="2039492592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10 modelli a pari pesi, mediane (a 4–5 strati +16–43 % di moltiplicazioni)  ·  dimensione: programma caricato  ·  tempo: sola rete, P-core</a:t>
            </a:r>
            <a:endParaRPr/>
          </a:p>
        </p:txBody>
      </p:sp>
      <p:graphicFrame>
        <p:nvGraphicFramePr>
          <p:cNvPr id="478449298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90139484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6217920" y="1463040"/>
          <a:ext cx="56692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04056971" name="TextBox 8"/>
          <p:cNvSpPr txBox="1"/>
          <p:nvPr/>
        </p:nvSpPr>
        <p:spPr bwMode="auto">
          <a:xfrm>
            <a:off x="548640" y="4800600"/>
            <a:ext cx="5394960" cy="462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Dimensione.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P2 si ricompila per ogni profondità: ~890 istruzioni in più per strato. P3 resta di 12 288 istruzioni con ogni modello.</a:t>
            </a:r>
            <a:endParaRPr/>
          </a:p>
        </p:txBody>
      </p:sp>
      <p:sp>
        <p:nvSpPr>
          <p:cNvPr id="1912909289" name="TextBox 9"/>
          <p:cNvSpPr txBox="1"/>
          <p:nvPr/>
        </p:nvSpPr>
        <p:spPr bwMode="auto">
          <a:xfrm>
            <a:off x="6309360" y="480060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Tempo.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Da 1 a 5 strati a pari pesi: P2 +48 %, P3 +63 %, P1 e P1.5 +14–17 %. A pari moltiplicazioni: ~46 ns per strato a P3, ~20 a P2.</a:t>
            </a:r>
            <a:endParaRPr/>
          </a:p>
        </p:txBody>
      </p:sp>
      <p:sp>
        <p:nvSpPr>
          <p:cNvPr id="1055429629" name="Rounded Rectangle 10"/>
          <p:cNvSpPr/>
          <p:nvPr/>
        </p:nvSpPr>
        <p:spPr bwMode="auto">
          <a:xfrm>
            <a:off x="548640" y="55778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52324232" name="Rectangle 11"/>
          <p:cNvSpPr/>
          <p:nvPr/>
        </p:nvSpPr>
        <p:spPr bwMode="auto">
          <a:xfrm>
            <a:off x="548640" y="557784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122079601" name="TextBox 12"/>
          <p:cNvSpPr txBox="1"/>
          <p:nvPr/>
        </p:nvSpPr>
        <p:spPr bwMode="auto">
          <a:xfrm>
            <a:off x="822960" y="56509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900715795" name="TextBox 13"/>
          <p:cNvSpPr txBox="1"/>
          <p:nvPr/>
        </p:nvSpPr>
        <p:spPr bwMode="auto">
          <a:xfrm>
            <a:off x="1783080" y="5728991"/>
            <a:ext cx="9677095" cy="474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P2 paga lo strato in un programma più grande da compilare, P3 in ~46 ns a ogni pacchetto. Con P1 e P1.5 la forma della rete si sceglie per l'accuratezza; con P2 e P3, a parità di pesi, conviene una rete larga e poco profonda.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32874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666538656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PREVEDERE IL COSTO</a:t>
            </a:r>
            <a:endParaRPr/>
          </a:p>
        </p:txBody>
      </p:sp>
      <p:sp>
        <p:nvSpPr>
          <p:cNvPr id="1132541224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Il costo di un modello si può prevedere prima di misurarlo</a:t>
            </a:r>
            <a:endParaRPr/>
          </a:p>
        </p:txBody>
      </p:sp>
      <p:sp>
        <p:nvSpPr>
          <p:cNvPr id="240108603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18</a:t>
            </a:r>
            <a:endParaRPr/>
          </a:p>
        </p:txBody>
      </p:sp>
      <p:sp>
        <p:nvSpPr>
          <p:cNvPr id="2074559554" name="TextBox 5"/>
          <p:cNvSpPr txBox="1"/>
          <p:nvPr/>
        </p:nvSpPr>
        <p:spPr bwMode="auto">
          <a:xfrm>
            <a:off x="548640" y="6446520"/>
            <a:ext cx="10424160" cy="17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Stimata su 83 modelli senza pesi a zero, errore su modelli lasciati fuori  ·  grafico: costo meno la parte per strato  ·  tabella: quanto pesa ogni parte</a:t>
            </a:r>
            <a:endParaRPr/>
          </a:p>
        </p:txBody>
      </p:sp>
      <p:graphicFrame>
        <p:nvGraphicFramePr>
          <p:cNvPr id="1768494998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7223760" y="1645920"/>
          <a:ext cx="4480560" cy="237744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2016252"/>
                <a:gridCol w="2464308"/>
              </a:tblGrid>
              <a:tr h="4754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Versione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fisso · moltipl. · strati</a:t>
                      </a:r>
                      <a:endParaRPr/>
                    </a:p>
                  </a:txBody>
                  <a:tcPr marT="27432" marB="27432" anchor="ctr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600" b="1" i="0">
                          <a:solidFill>
                            <a:srgbClr val="222B36"/>
                          </a:solidFill>
                          <a:latin typeface="Calibri"/>
                        </a:rPr>
                        <a:t>P1 statica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0" i="0">
                          <a:solidFill>
                            <a:srgbClr val="222B36"/>
                          </a:solidFill>
                          <a:latin typeface="Calibri"/>
                        </a:rPr>
                        <a:t>40 % · 50 % · 8 %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600" b="1" i="0">
                          <a:solidFill>
                            <a:srgbClr val="222B36"/>
                          </a:solidFill>
                          <a:latin typeface="Calibri"/>
                        </a:rPr>
                        <a:t>P1.5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0" i="0">
                          <a:solidFill>
                            <a:srgbClr val="222B36"/>
                          </a:solidFill>
                          <a:latin typeface="Calibri"/>
                        </a:rPr>
                        <a:t>48 % · 46 % · 5 %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600" b="1" i="0">
                          <a:solidFill>
                            <a:srgbClr val="222B36"/>
                          </a:solidFill>
                          <a:latin typeface="Calibri"/>
                        </a:rPr>
                        <a:t>P2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0" i="0">
                          <a:solidFill>
                            <a:srgbClr val="222B36"/>
                          </a:solidFill>
                          <a:latin typeface="Calibri"/>
                        </a:rPr>
                        <a:t>47 % · 18 % · 31 %</a:t>
                      </a:r>
                      <a:endParaRPr/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600" b="1" i="0">
                          <a:solidFill>
                            <a:srgbClr val="222B36"/>
                          </a:solidFill>
                          <a:latin typeface="Calibri"/>
                        </a:rPr>
                        <a:t>P3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0" i="0">
                          <a:solidFill>
                            <a:srgbClr val="222B36"/>
                          </a:solidFill>
                          <a:latin typeface="Calibri"/>
                        </a:rPr>
                        <a:t>37 % · 18 % · 39 %</a:t>
                      </a:r>
                      <a:endParaRPr/>
                    </a:p>
                  </a:txBody>
                  <a:tcPr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719917154" name="TextBox 8"/>
          <p:cNvSpPr txBox="1"/>
          <p:nvPr/>
        </p:nvSpPr>
        <p:spPr bwMode="auto">
          <a:xfrm>
            <a:off x="7223760" y="4160519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Dove va il tempo.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Con P1 e P1.5 circa metà è moltiplicazioni. Con P2 e P3 circa l'82 % è struttura: il lavoro fisso e quello per strato, cioè salti fra programmi e letture di tabella. Su modelli mai visti la legge sbaglia del 3–9 %.</a:t>
            </a:r>
            <a:endParaRPr/>
          </a:p>
        </p:txBody>
      </p:sp>
      <p:sp>
        <p:nvSpPr>
          <p:cNvPr id="44258860" name="Rounded Rectangle 9"/>
          <p:cNvSpPr/>
          <p:nvPr/>
        </p:nvSpPr>
        <p:spPr bwMode="auto">
          <a:xfrm>
            <a:off x="548640" y="553212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109141215" name="Rectangle 10"/>
          <p:cNvSpPr/>
          <p:nvPr/>
        </p:nvSpPr>
        <p:spPr bwMode="auto">
          <a:xfrm>
            <a:off x="548640" y="553212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01106498" name="TextBox 11"/>
          <p:cNvSpPr txBox="1"/>
          <p:nvPr/>
        </p:nvSpPr>
        <p:spPr bwMode="auto">
          <a:xfrm>
            <a:off x="822960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785746124" name="TextBox 12"/>
          <p:cNvSpPr txBox="1"/>
          <p:nvPr/>
        </p:nvSpPr>
        <p:spPr bwMode="auto">
          <a:xfrm>
            <a:off x="1783080" y="553212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400" b="1" i="0">
                <a:solidFill>
                  <a:srgbClr val="222B36"/>
                </a:solidFill>
                <a:latin typeface="Calibri"/>
              </a:rPr>
              <a:t>Costo della rete ≈ fisso + moltiplicazioni × costo di una + strati × costo di uno.</a:t>
            </a:r>
            <a:r>
              <a:rPr sz="1400" b="0" i="0">
                <a:solidFill>
                  <a:srgbClr val="222B36"/>
                </a:solidFill>
                <a:latin typeface="Calibri"/>
              </a:rPr>
              <a:t> P1: ~22 ns + 0,26 ns per moltiplicazione. P3: ~154 ns + 0,77 ns per moltiplicazione + ~46 ns per strato.</a:t>
            </a:r>
            <a:endParaRPr/>
          </a:p>
        </p:txBody>
      </p:sp>
      <p:pic>
        <p:nvPicPr>
          <p:cNvPr id="1611564988" name="Picture 13" descr="legge_cost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463040"/>
            <a:ext cx="6217920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28447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28495343" name="TextBox 2"/>
          <p:cNvSpPr txBox="1"/>
          <p:nvPr/>
        </p:nvSpPr>
        <p:spPr bwMode="auto"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200" b="1" i="0">
                <a:solidFill>
                  <a:srgbClr val="E07A2D"/>
                </a:solidFill>
                <a:latin typeface="Calibri"/>
              </a:rPr>
              <a:t>5 · LA SOLA RETE NEURALE · PESI A ZERO</a:t>
            </a:r>
            <a:endParaRPr/>
          </a:p>
        </p:txBody>
      </p:sp>
      <p:sp>
        <p:nvSpPr>
          <p:cNvPr id="1384434623" name="TextBox 3"/>
          <p:cNvSpPr txBox="1"/>
          <p:nvPr/>
        </p:nvSpPr>
        <p:spPr bwMode="auto"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/>
            </a:pPr>
            <a:r>
              <a:rPr sz="3000" b="1" i="0">
                <a:solidFill>
                  <a:srgbClr val="1F3A5F"/>
                </a:solidFill>
                <a:latin typeface="Calibri"/>
              </a:rPr>
              <a:t>Pesi a zero: accelerano solo P1 e P1.5</a:t>
            </a:r>
            <a:endParaRPr/>
          </a:p>
        </p:txBody>
      </p:sp>
      <p:sp>
        <p:nvSpPr>
          <p:cNvPr id="1342033776" name="TextBox 4"/>
          <p:cNvSpPr txBox="1"/>
          <p:nvPr/>
        </p:nvSpPr>
        <p:spPr bwMode="auto">
          <a:xfrm>
            <a:off x="112928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0">
                <a:solidFill>
                  <a:srgbClr val="6B7C93"/>
                </a:solidFill>
                <a:latin typeface="Calibri"/>
              </a:rPr>
              <a:t>19</a:t>
            </a:r>
            <a:endParaRPr/>
          </a:p>
        </p:txBody>
      </p:sp>
      <p:sp>
        <p:nvSpPr>
          <p:cNvPr id="1316495759" name="TextBox 5"/>
          <p:cNvSpPr txBox="1"/>
          <p:nvPr/>
        </p:nvSpPr>
        <p:spPr bwMode="auto">
          <a:xfrm>
            <a:off x="548640" y="644652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0" i="1">
                <a:solidFill>
                  <a:srgbClr val="6B7C93"/>
                </a:solidFill>
                <a:latin typeface="Calibri"/>
              </a:rPr>
              <a:t>4 forme con il 50 e il 90 % di pesi a zero, confrontate con la legge stimata sui modelli senza zeri  ·  sola rete, P-core a 3,5 GHz</a:t>
            </a:r>
            <a:endParaRPr/>
          </a:p>
        </p:txBody>
      </p:sp>
      <p:graphicFrame>
        <p:nvGraphicFramePr>
          <p:cNvPr id="1132897317" name="Chart 6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6304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5481728" name="Rounded Rectangle 7"/>
          <p:cNvSpPr/>
          <p:nvPr/>
        </p:nvSpPr>
        <p:spPr bwMode="auto">
          <a:xfrm>
            <a:off x="7498079" y="1600200"/>
            <a:ext cx="4206240" cy="17830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91431723" name="Rectangle 8"/>
          <p:cNvSpPr/>
          <p:nvPr/>
        </p:nvSpPr>
        <p:spPr bwMode="auto">
          <a:xfrm>
            <a:off x="7498079" y="1600200"/>
            <a:ext cx="82296" cy="1783080"/>
          </a:xfrm>
          <a:prstGeom prst="rect">
            <a:avLst/>
          </a:prstGeom>
          <a:solidFill>
            <a:srgbClr val="E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90547509" name="TextBox 9"/>
          <p:cNvSpPr txBox="1"/>
          <p:nvPr/>
        </p:nvSpPr>
        <p:spPr bwMode="auto">
          <a:xfrm>
            <a:off x="7772399" y="176479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700" b="1" i="0">
                <a:solidFill>
                  <a:srgbClr val="E07A2D"/>
                </a:solidFill>
                <a:latin typeface="Calibri"/>
              </a:rPr>
              <a:t>P1.5, da 0 a 90 % di zeri</a:t>
            </a:r>
            <a:endParaRPr/>
          </a:p>
        </p:txBody>
      </p:sp>
      <p:sp>
        <p:nvSpPr>
          <p:cNvPr id="5979490" name="TextBox 10"/>
          <p:cNvSpPr txBox="1"/>
          <p:nvPr/>
        </p:nvSpPr>
        <p:spPr bwMode="auto">
          <a:xfrm>
            <a:off x="7772399" y="2176272"/>
            <a:ext cx="3794760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Al 90 % di zeri il programma scende a circa un terzo (0,34–0,35 volte) e la rete costa 0,62 volte quanto previsto per lo stesso modello senza zeri: il compilatore toglie le moltiplicazioni per zero.</a:t>
            </a:r>
            <a:endParaRPr/>
          </a:p>
        </p:txBody>
      </p:sp>
      <p:sp>
        <p:nvSpPr>
          <p:cNvPr id="1465324764" name="Rounded Rectangle 11"/>
          <p:cNvSpPr/>
          <p:nvPr/>
        </p:nvSpPr>
        <p:spPr bwMode="auto">
          <a:xfrm>
            <a:off x="7498079" y="3566160"/>
            <a:ext cx="4206240" cy="17830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44318276" name="Rectangle 12"/>
          <p:cNvSpPr/>
          <p:nvPr/>
        </p:nvSpPr>
        <p:spPr bwMode="auto">
          <a:xfrm>
            <a:off x="7498079" y="3566160"/>
            <a:ext cx="82296" cy="1783080"/>
          </a:xfrm>
          <a:prstGeom prst="rect">
            <a:avLst/>
          </a:prstGeom>
          <a:solidFill>
            <a:srgbClr val="2E9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439334838" name="TextBox 13"/>
          <p:cNvSpPr txBox="1"/>
          <p:nvPr/>
        </p:nvSpPr>
        <p:spPr bwMode="auto">
          <a:xfrm>
            <a:off x="7772399" y="373075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700" b="1" i="0">
                <a:solidFill>
                  <a:srgbClr val="2E9C6E"/>
                </a:solidFill>
                <a:latin typeface="Calibri"/>
              </a:rPr>
              <a:t>P2 e P3, stessi pesi</a:t>
            </a:r>
            <a:endParaRPr/>
          </a:p>
        </p:txBody>
      </p:sp>
      <p:sp>
        <p:nvSpPr>
          <p:cNvPr id="1101437864" name="TextBox 14"/>
          <p:cNvSpPr txBox="1"/>
          <p:nvPr/>
        </p:nvSpPr>
        <p:spPr bwMode="auto">
          <a:xfrm>
            <a:off x="7772399" y="4142232"/>
            <a:ext cx="3794760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400" b="0" i="0">
                <a:solidFill>
                  <a:srgbClr val="222B36"/>
                </a:solidFill>
                <a:latin typeface="Calibri"/>
              </a:rPr>
              <a:t>Programma identico e costo come previsto (1,02 volte per P2, 1,01 per P3): uno zero letto da una tabella è un numero come un altro.</a:t>
            </a:r>
            <a:endParaRPr/>
          </a:p>
        </p:txBody>
      </p:sp>
      <p:sp>
        <p:nvSpPr>
          <p:cNvPr id="1537954867" name="Rounded Rectangle 15"/>
          <p:cNvSpPr/>
          <p:nvPr/>
        </p:nvSpPr>
        <p:spPr bwMode="auto">
          <a:xfrm>
            <a:off x="548640" y="553212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15867597" name="Rectangle 16"/>
          <p:cNvSpPr/>
          <p:nvPr/>
        </p:nvSpPr>
        <p:spPr bwMode="auto">
          <a:xfrm>
            <a:off x="548640" y="5532120"/>
            <a:ext cx="82296" cy="77724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59821071" name="TextBox 17"/>
          <p:cNvSpPr txBox="1"/>
          <p:nvPr/>
        </p:nvSpPr>
        <p:spPr bwMode="auto">
          <a:xfrm>
            <a:off x="822960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sz="1100" b="1" i="0">
                <a:solidFill>
                  <a:srgbClr val="B57A00"/>
                </a:solidFill>
                <a:latin typeface="Calibri"/>
              </a:rPr>
              <a:t>QUINDI</a:t>
            </a:r>
            <a:endParaRPr/>
          </a:p>
        </p:txBody>
      </p:sp>
      <p:sp>
        <p:nvSpPr>
          <p:cNvPr id="1165828532" name="TextBox 18"/>
          <p:cNvSpPr txBox="1"/>
          <p:nvPr/>
        </p:nvSpPr>
        <p:spPr bwMode="auto">
          <a:xfrm>
            <a:off x="1783080" y="5532120"/>
            <a:ext cx="9677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/>
            </a:pPr>
            <a:r>
              <a:rPr sz="1500" b="0" i="0">
                <a:solidFill>
                  <a:srgbClr val="222B36"/>
                </a:solidFill>
                <a:latin typeface="Calibri"/>
              </a:rPr>
              <a:t>Mettere pesi a zero rende più veloci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solo le versioni con i pesi nel programma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: al 90 % di zeri P1 costa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0,44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e P1.5 </a:t>
            </a:r>
            <a:r>
              <a:rPr sz="1500" b="1" i="0">
                <a:solidFill>
                  <a:srgbClr val="222B36"/>
                </a:solidFill>
                <a:latin typeface="Calibri"/>
              </a:rPr>
              <a:t>0,62</a:t>
            </a:r>
            <a:r>
              <a:rPr sz="1500" b="0" i="0">
                <a:solidFill>
                  <a:srgbClr val="222B36"/>
                </a:solidFill>
                <a:latin typeface="Calibri"/>
              </a:rPr>
              <a:t> volte il previsto. Con P2 e P3 non dà niente.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2026-10-15T10:00:48Z</dcterms:modified>
  <cp:category/>
</cp:coreProperties>
</file>