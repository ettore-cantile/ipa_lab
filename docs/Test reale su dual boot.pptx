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5" r:id="rId13"/>
    <p:sldId id="267" r:id="rId15"/>
    <p:sldId id="269" r:id="rId17"/>
    <p:sldId id="281" r:id="rId26"/>
    <p:sldId id="271" r:id="rId19"/>
    <p:sldId id="272" r:id="rId20"/>
    <p:sldId id="280" r:id="rId32"/>
    <p:sldId id="274" r:id="rId22"/>
    <p:sldId id="275" r:id="rId23"/>
    <p:sldId id="276" r:id="rId24"/>
    <p:sldId id="277" r:id="rId25"/>
    <p:sldId id="279" r:id="rId27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74" d="100"/>
          <a:sy n="74" d="100"/>
        </p:scale>
        <p:origin x="352" y="56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5" Type="http://schemas.openxmlformats.org/officeDocument/2006/relationships/slide" Target="slides/slide10.xml"/><Relationship Id="rId17" Type="http://schemas.openxmlformats.org/officeDocument/2006/relationships/slide" Target="slides/slide11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12.xml"/><Relationship Id="rId27" Type="http://schemas.openxmlformats.org/officeDocument/2006/relationships/slide" Target="slides/slide20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tableStyles" Target="tableStyles.xml"/><Relationship Id="rId31" Type="http://schemas.openxmlformats.org/officeDocument/2006/relationships/viewProps" Target="viewProps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264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8161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910529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9222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82598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1053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808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363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3520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2290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9571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4106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04172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94322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58137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5635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875986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9720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39991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838661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17889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2227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3434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014180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6516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26081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737936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244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49438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1883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56918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05892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719697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43592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88133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934997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21292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6605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388860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27164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9197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067395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96042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89046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25282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6923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8435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06498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9602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34498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97634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0525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97861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758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6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6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6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F3A5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854695" name="Shape 0"/>
          <p:cNvSpPr/>
          <p:nvPr/>
        </p:nvSpPr>
        <p:spPr bwMode="auto">
          <a:xfrm>
            <a:off x="0" y="0"/>
            <a:ext cx="317500" cy="6858000"/>
          </a:xfrm>
          <a:prstGeom prst="rect">
            <a:avLst/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48343889" name="Text 1"/>
          <p:cNvSpPr/>
          <p:nvPr/>
        </p:nvSpPr>
        <p:spPr bwMode="auto">
          <a:xfrm>
            <a:off x="914400" y="1079500"/>
            <a:ext cx="1046480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 spc="100">
                <a:solidFill>
                  <a:srgbClr val="F2B134"/>
                </a:solidFill>
                <a:latin typeface="Carlito"/>
                <a:ea typeface="Carlito"/>
                <a:cs typeface="Carlito"/>
              </a:rPr>
              <a:t>TESI · EBPF / XDP</a:t>
            </a:r>
            <a:endParaRPr lang="en-US" sz="1600"/>
          </a:p>
        </p:txBody>
      </p:sp>
      <p:sp>
        <p:nvSpPr>
          <p:cNvPr id="1929620387" name="Text 2"/>
          <p:cNvSpPr/>
          <p:nvPr/>
        </p:nvSpPr>
        <p:spPr bwMode="auto">
          <a:xfrm>
            <a:off x="914400" y="1587500"/>
            <a:ext cx="10726420" cy="13689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90"/>
              </a:lnSpc>
              <a:buNone/>
              <a:defRPr/>
            </a:pPr>
            <a:r>
              <a:rPr lang="en-US" sz="4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Il test reale su dual boot</a:t>
            </a:r>
            <a:endParaRPr lang="en-US" sz="4600"/>
          </a:p>
          <a:p>
            <a:pPr marL="0" indent="0" algn="l">
              <a:lnSpc>
                <a:spcPts val="5290"/>
              </a:lnSpc>
              <a:buNone/>
              <a:defRPr/>
            </a:pPr>
            <a:r>
              <a:rPr lang="en-US" sz="4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e la domanda sul bit rate</a:t>
            </a:r>
            <a:endParaRPr lang="en-US" sz="4600"/>
          </a:p>
        </p:txBody>
      </p:sp>
      <p:sp>
        <p:nvSpPr>
          <p:cNvPr id="175244843" name="Text 3"/>
          <p:cNvSpPr/>
          <p:nvPr/>
        </p:nvSpPr>
        <p:spPr bwMode="auto">
          <a:xfrm>
            <a:off x="914400" y="3429000"/>
            <a:ext cx="981075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  <a:defRPr/>
            </a:pPr>
            <a:r>
              <a:rPr lang="en-US" sz="200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Come si misura quanti pacchetti regge un nodo, con quale generatore di traffico, e che cosa succede quando il traffico offerto cresce.</a:t>
            </a:r>
            <a:endParaRPr lang="en-US" sz="2000"/>
          </a:p>
        </p:txBody>
      </p:sp>
      <p:sp>
        <p:nvSpPr>
          <p:cNvPr id="758403659" name="Shape 4"/>
          <p:cNvSpPr/>
          <p:nvPr/>
        </p:nvSpPr>
        <p:spPr bwMode="auto">
          <a:xfrm>
            <a:off x="914400" y="4889500"/>
            <a:ext cx="2012949" cy="44450"/>
          </a:xfrm>
          <a:prstGeom prst="rect">
            <a:avLst/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5634089" name="Text 5"/>
          <p:cNvSpPr/>
          <p:nvPr/>
        </p:nvSpPr>
        <p:spPr bwMode="auto">
          <a:xfrm>
            <a:off x="914400" y="5118100"/>
            <a:ext cx="7848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Ettore Cantile</a:t>
            </a:r>
            <a:endParaRPr lang="en-US" sz="2000"/>
          </a:p>
        </p:txBody>
      </p:sp>
      <p:sp>
        <p:nvSpPr>
          <p:cNvPr id="512399186" name="Text 6"/>
          <p:cNvSpPr/>
          <p:nvPr/>
        </p:nvSpPr>
        <p:spPr bwMode="auto">
          <a:xfrm>
            <a:off x="914400" y="5473700"/>
            <a:ext cx="7848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ottobre 2026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778117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7957523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LA DOMANDA</a:t>
            </a:r>
            <a:endParaRPr lang="en-US" sz="1200"/>
          </a:p>
        </p:txBody>
      </p:sp>
      <p:sp>
        <p:nvSpPr>
          <p:cNvPr id="244348176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Quando il traffico cresce, dove si perde?</a:t>
            </a:r>
            <a:endParaRPr lang="en-US" sz="3000"/>
          </a:p>
        </p:txBody>
      </p:sp>
      <p:sp>
        <p:nvSpPr>
          <p:cNvPr id="1064731516" name="Shape 3"/>
          <p:cNvSpPr/>
          <p:nvPr/>
        </p:nvSpPr>
        <p:spPr bwMode="auto">
          <a:xfrm>
            <a:off x="54610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47032689" name="Shape 4"/>
          <p:cNvSpPr/>
          <p:nvPr/>
        </p:nvSpPr>
        <p:spPr bwMode="auto">
          <a:xfrm>
            <a:off x="69850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2869494" name="Text 5"/>
          <p:cNvSpPr/>
          <p:nvPr/>
        </p:nvSpPr>
        <p:spPr bwMode="auto">
          <a:xfrm>
            <a:off x="85963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700"/>
          </a:p>
        </p:txBody>
      </p:sp>
      <p:sp>
        <p:nvSpPr>
          <p:cNvPr id="1288116488" name="Text 6"/>
          <p:cNvSpPr/>
          <p:nvPr/>
        </p:nvSpPr>
        <p:spPr bwMode="auto">
          <a:xfrm>
            <a:off x="69850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traffico cresce</a:t>
            </a:r>
            <a:endParaRPr lang="en-US" sz="1600"/>
          </a:p>
        </p:txBody>
      </p:sp>
      <p:sp>
        <p:nvSpPr>
          <p:cNvPr id="403045074" name="Text 7"/>
          <p:cNvSpPr/>
          <p:nvPr/>
        </p:nvSpPr>
        <p:spPr bwMode="auto">
          <a:xfrm>
            <a:off x="69850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 spedisce sempre più pacchetti al secondo.</a:t>
            </a:r>
            <a:endParaRPr lang="en-US" sz="1400"/>
          </a:p>
        </p:txBody>
      </p:sp>
      <p:pic>
        <p:nvPicPr>
          <p:cNvPr id="1078143993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092450" y="2284678"/>
            <a:ext cx="254000" cy="177800"/>
          </a:xfrm>
          <a:prstGeom prst="rect">
            <a:avLst/>
          </a:prstGeom>
        </p:spPr>
      </p:pic>
      <p:sp>
        <p:nvSpPr>
          <p:cNvPr id="643995646" name="Shape 8"/>
          <p:cNvSpPr/>
          <p:nvPr/>
        </p:nvSpPr>
        <p:spPr bwMode="auto">
          <a:xfrm>
            <a:off x="342265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03664423" name="Shape 9"/>
          <p:cNvSpPr/>
          <p:nvPr/>
        </p:nvSpPr>
        <p:spPr bwMode="auto">
          <a:xfrm>
            <a:off x="357505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96069498" name="Text 10"/>
          <p:cNvSpPr/>
          <p:nvPr/>
        </p:nvSpPr>
        <p:spPr bwMode="auto">
          <a:xfrm>
            <a:off x="373618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700"/>
          </a:p>
        </p:txBody>
      </p:sp>
      <p:sp>
        <p:nvSpPr>
          <p:cNvPr id="1622139802" name="Text 11"/>
          <p:cNvSpPr/>
          <p:nvPr/>
        </p:nvSpPr>
        <p:spPr bwMode="auto">
          <a:xfrm>
            <a:off x="357505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coda si riempie</a:t>
            </a:r>
            <a:endParaRPr lang="en-US" sz="1600"/>
          </a:p>
        </p:txBody>
      </p:sp>
      <p:sp>
        <p:nvSpPr>
          <p:cNvPr id="279675310" name="Text 12"/>
          <p:cNvSpPr/>
          <p:nvPr/>
        </p:nvSpPr>
        <p:spPr bwMode="auto">
          <a:xfrm>
            <a:off x="357505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Davanti al nodo c'è una coda da 256 posti.</a:t>
            </a:r>
            <a:endParaRPr lang="en-US" sz="1400"/>
          </a:p>
        </p:txBody>
      </p:sp>
      <p:pic>
        <p:nvPicPr>
          <p:cNvPr id="279575702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969000" y="2284678"/>
            <a:ext cx="254000" cy="177800"/>
          </a:xfrm>
          <a:prstGeom prst="rect">
            <a:avLst/>
          </a:prstGeom>
        </p:spPr>
      </p:pic>
      <p:sp>
        <p:nvSpPr>
          <p:cNvPr id="1526394088" name="Shape 13"/>
          <p:cNvSpPr/>
          <p:nvPr/>
        </p:nvSpPr>
        <p:spPr bwMode="auto">
          <a:xfrm>
            <a:off x="629920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8120273" name="Shape 14"/>
          <p:cNvSpPr/>
          <p:nvPr/>
        </p:nvSpPr>
        <p:spPr bwMode="auto">
          <a:xfrm>
            <a:off x="645160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27608097" name="Text 15"/>
          <p:cNvSpPr/>
          <p:nvPr/>
        </p:nvSpPr>
        <p:spPr bwMode="auto">
          <a:xfrm>
            <a:off x="661273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700"/>
          </a:p>
        </p:txBody>
      </p:sp>
      <p:sp>
        <p:nvSpPr>
          <p:cNvPr id="1072881443" name="Text 16"/>
          <p:cNvSpPr/>
          <p:nvPr/>
        </p:nvSpPr>
        <p:spPr bwMode="auto">
          <a:xfrm>
            <a:off x="645160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ritardo cresce</a:t>
            </a:r>
            <a:endParaRPr lang="en-US" sz="1600"/>
          </a:p>
        </p:txBody>
      </p:sp>
      <p:sp>
        <p:nvSpPr>
          <p:cNvPr id="853502057" name="Text 17"/>
          <p:cNvSpPr/>
          <p:nvPr/>
        </p:nvSpPr>
        <p:spPr bwMode="auto">
          <a:xfrm>
            <a:off x="645160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pacchetto aspetta di più prima di essere elaborato.</a:t>
            </a:r>
            <a:endParaRPr lang="en-US" sz="1400"/>
          </a:p>
        </p:txBody>
      </p:sp>
      <p:pic>
        <p:nvPicPr>
          <p:cNvPr id="1164944349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845550" y="2284678"/>
            <a:ext cx="254000" cy="177800"/>
          </a:xfrm>
          <a:prstGeom prst="rect">
            <a:avLst/>
          </a:prstGeom>
        </p:spPr>
      </p:pic>
      <p:sp>
        <p:nvSpPr>
          <p:cNvPr id="693503564" name="Shape 18"/>
          <p:cNvSpPr/>
          <p:nvPr/>
        </p:nvSpPr>
        <p:spPr bwMode="auto">
          <a:xfrm>
            <a:off x="9175750" y="1562100"/>
            <a:ext cx="2470150" cy="1622954"/>
          </a:xfrm>
          <a:prstGeom prst="roundRect">
            <a:avLst>
              <a:gd name="adj" fmla="val 78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4144812" name="Shape 19"/>
          <p:cNvSpPr/>
          <p:nvPr/>
        </p:nvSpPr>
        <p:spPr bwMode="auto">
          <a:xfrm>
            <a:off x="9328150" y="1714500"/>
            <a:ext cx="431799" cy="431799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5018423" name="Text 20"/>
          <p:cNvSpPr/>
          <p:nvPr/>
        </p:nvSpPr>
        <p:spPr bwMode="auto">
          <a:xfrm>
            <a:off x="9489281" y="1779257"/>
            <a:ext cx="16027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700"/>
          </a:p>
        </p:txBody>
      </p:sp>
      <p:sp>
        <p:nvSpPr>
          <p:cNvPr id="1413094422" name="Text 21"/>
          <p:cNvSpPr/>
          <p:nvPr/>
        </p:nvSpPr>
        <p:spPr bwMode="auto">
          <a:xfrm>
            <a:off x="9328150" y="2209800"/>
            <a:ext cx="2230311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Si perde</a:t>
            </a:r>
            <a:endParaRPr lang="en-US" sz="1600"/>
          </a:p>
        </p:txBody>
      </p:sp>
      <p:sp>
        <p:nvSpPr>
          <p:cNvPr id="1022831212" name="Text 22"/>
          <p:cNvSpPr/>
          <p:nvPr/>
        </p:nvSpPr>
        <p:spPr bwMode="auto">
          <a:xfrm>
            <a:off x="9328150" y="2557728"/>
            <a:ext cx="223031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è piena: chi arriva viene respinto.</a:t>
            </a:r>
            <a:endParaRPr lang="en-US" sz="1400"/>
          </a:p>
        </p:txBody>
      </p:sp>
      <p:sp>
        <p:nvSpPr>
          <p:cNvPr id="1279257858" name="Text 23"/>
          <p:cNvSpPr/>
          <p:nvPr/>
        </p:nvSpPr>
        <p:spPr bwMode="auto">
          <a:xfrm>
            <a:off x="546100" y="3512807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Dove si perde dice qual è il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collo di bottiglia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264895518" name="Shape 24"/>
          <p:cNvSpPr/>
          <p:nvPr/>
        </p:nvSpPr>
        <p:spPr bwMode="auto">
          <a:xfrm>
            <a:off x="546100" y="4104614"/>
            <a:ext cx="5461000" cy="1234414"/>
          </a:xfrm>
          <a:prstGeom prst="roundRect">
            <a:avLst>
              <a:gd name="adj" fmla="val 102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2031265" name="Shape 25"/>
          <p:cNvSpPr/>
          <p:nvPr/>
        </p:nvSpPr>
        <p:spPr bwMode="auto">
          <a:xfrm>
            <a:off x="546100" y="4104614"/>
            <a:ext cx="5461000" cy="88900"/>
          </a:xfrm>
          <a:custGeom>
            <a:avLst/>
            <a:gdLst/>
            <a:ahLst/>
            <a:cxnLst/>
            <a:rect l="l" t="t" r="r" b="b"/>
            <a:pathLst>
              <a:path w="5461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5334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01391884" name="Text 26"/>
          <p:cNvSpPr/>
          <p:nvPr/>
        </p:nvSpPr>
        <p:spPr bwMode="auto">
          <a:xfrm>
            <a:off x="749300" y="4320514"/>
            <a:ext cx="5206238" cy="345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  <a:defRPr/>
            </a:pPr>
            <a:r>
              <a:rPr lang="en-US" sz="18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Si perde prima del programma</a:t>
            </a:r>
            <a:endParaRPr lang="en-US" sz="1800"/>
          </a:p>
        </p:txBody>
      </p:sp>
      <p:sp>
        <p:nvSpPr>
          <p:cNvPr id="137078595" name="Text 27"/>
          <p:cNvSpPr/>
          <p:nvPr/>
        </p:nvSpPr>
        <p:spPr bwMode="auto">
          <a:xfrm>
            <a:off x="749300" y="4691327"/>
            <a:ext cx="5206238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pacchetto non è mai entrato: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789127518" name="Shape 28"/>
          <p:cNvSpPr/>
          <p:nvPr/>
        </p:nvSpPr>
        <p:spPr bwMode="auto">
          <a:xfrm>
            <a:off x="6184900" y="4104614"/>
            <a:ext cx="5461000" cy="1234414"/>
          </a:xfrm>
          <a:prstGeom prst="roundRect">
            <a:avLst>
              <a:gd name="adj" fmla="val 102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46217693" name="Shape 29"/>
          <p:cNvSpPr/>
          <p:nvPr/>
        </p:nvSpPr>
        <p:spPr bwMode="auto">
          <a:xfrm>
            <a:off x="6184900" y="4104614"/>
            <a:ext cx="5461000" cy="88900"/>
          </a:xfrm>
          <a:custGeom>
            <a:avLst/>
            <a:gdLst/>
            <a:ahLst/>
            <a:cxnLst/>
            <a:rect l="l" t="t" r="r" b="b"/>
            <a:pathLst>
              <a:path w="5461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5334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1289201" name="Text 30"/>
          <p:cNvSpPr/>
          <p:nvPr/>
        </p:nvSpPr>
        <p:spPr bwMode="auto">
          <a:xfrm>
            <a:off x="6388100" y="4320514"/>
            <a:ext cx="5206238" cy="345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  <a:defRPr/>
            </a:pPr>
            <a:r>
              <a:rPr lang="en-US" sz="18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Si perde dopo il programma</a:t>
            </a:r>
            <a:endParaRPr lang="en-US" sz="1800"/>
          </a:p>
        </p:txBody>
      </p:sp>
      <p:sp>
        <p:nvSpPr>
          <p:cNvPr id="877762918" name="Text 31"/>
          <p:cNvSpPr/>
          <p:nvPr/>
        </p:nvSpPr>
        <p:spPr bwMode="auto">
          <a:xfrm>
            <a:off x="6388100" y="4691327"/>
            <a:ext cx="5206238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 lo ha elaborato, ma non è arrivato: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trasmissione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1043735423" name="Shape 32"/>
          <p:cNvSpPr/>
          <p:nvPr/>
        </p:nvSpPr>
        <p:spPr bwMode="auto">
          <a:xfrm>
            <a:off x="546100" y="5666780"/>
            <a:ext cx="11099800" cy="594320"/>
          </a:xfrm>
          <a:prstGeom prst="roundRect">
            <a:avLst>
              <a:gd name="adj" fmla="val 21369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97561397" name="Text 33"/>
          <p:cNvSpPr/>
          <p:nvPr/>
        </p:nvSpPr>
        <p:spPr bwMode="auto">
          <a:xfrm>
            <a:off x="800100" y="5831880"/>
            <a:ext cx="6942128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Per rispondere si contano i pacchetti che il programma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riceve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 e quelli che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rilancia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656114147" name="Text 34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risposta arriva nella parte 5; le parti 1–4 spiegano come si misura</a:t>
            </a:r>
            <a:endParaRPr lang="en-US" sz="1200"/>
          </a:p>
        </p:txBody>
      </p:sp>
      <p:sp>
        <p:nvSpPr>
          <p:cNvPr id="2096900650" name="Text 35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02229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5250510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COME È FATTA LA PRESENTAZIONE</a:t>
            </a:r>
            <a:endParaRPr lang="en-US" sz="1200"/>
          </a:p>
        </p:txBody>
      </p:sp>
      <p:sp>
        <p:nvSpPr>
          <p:cNvPr id="725757267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Cinque parti, dal banco alla risposta</a:t>
            </a:r>
            <a:endParaRPr lang="en-US" sz="3000"/>
          </a:p>
        </p:txBody>
      </p:sp>
      <p:sp>
        <p:nvSpPr>
          <p:cNvPr id="1735670217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parte risponde a una domanda: le prime quattro preparano la risposta alla quinta.</a:t>
            </a:r>
            <a:endParaRPr lang="en-US" sz="1600"/>
          </a:p>
        </p:txBody>
      </p:sp>
      <p:sp>
        <p:nvSpPr>
          <p:cNvPr id="1413608399" name="Shape 4"/>
          <p:cNvSpPr/>
          <p:nvPr/>
        </p:nvSpPr>
        <p:spPr bwMode="auto">
          <a:xfrm>
            <a:off x="546100" y="1978620"/>
            <a:ext cx="2118320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8846510" name="Text 5"/>
          <p:cNvSpPr/>
          <p:nvPr/>
        </p:nvSpPr>
        <p:spPr bwMode="auto">
          <a:xfrm>
            <a:off x="711200" y="2131020"/>
            <a:ext cx="1841764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4400"/>
          </a:p>
        </p:txBody>
      </p:sp>
      <p:sp>
        <p:nvSpPr>
          <p:cNvPr id="269500829" name="Text 6"/>
          <p:cNvSpPr/>
          <p:nvPr/>
        </p:nvSpPr>
        <p:spPr bwMode="auto">
          <a:xfrm>
            <a:off x="711200" y="2740620"/>
            <a:ext cx="18417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banco</a:t>
            </a:r>
            <a:endParaRPr lang="en-US" sz="1700"/>
          </a:p>
        </p:txBody>
      </p:sp>
      <p:sp>
        <p:nvSpPr>
          <p:cNvPr id="1314031076" name="Text 7"/>
          <p:cNvSpPr/>
          <p:nvPr/>
        </p:nvSpPr>
        <p:spPr bwMode="auto">
          <a:xfrm>
            <a:off x="711200" y="3093641"/>
            <a:ext cx="1841764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Che cosa si misura, con quali programmi e come.</a:t>
            </a:r>
            <a:endParaRPr lang="en-US" sz="1400"/>
          </a:p>
        </p:txBody>
      </p:sp>
      <p:sp>
        <p:nvSpPr>
          <p:cNvPr id="1954458159" name="Shape 8"/>
          <p:cNvSpPr/>
          <p:nvPr/>
        </p:nvSpPr>
        <p:spPr bwMode="auto">
          <a:xfrm>
            <a:off x="720724" y="4543425"/>
            <a:ext cx="1769070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96156104" name="Text 9"/>
          <p:cNvSpPr/>
          <p:nvPr/>
        </p:nvSpPr>
        <p:spPr bwMode="auto">
          <a:xfrm>
            <a:off x="842433" y="4748213"/>
            <a:ext cx="1491258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Che cosa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misuriamo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?</a:t>
            </a:r>
            <a:endParaRPr lang="en-US" sz="1300"/>
          </a:p>
        </p:txBody>
      </p:sp>
      <p:sp>
        <p:nvSpPr>
          <p:cNvPr id="269382682" name="Shape 10"/>
          <p:cNvSpPr/>
          <p:nvPr/>
        </p:nvSpPr>
        <p:spPr bwMode="auto">
          <a:xfrm>
            <a:off x="2791420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8865567" name="Text 11"/>
          <p:cNvSpPr/>
          <p:nvPr/>
        </p:nvSpPr>
        <p:spPr bwMode="auto">
          <a:xfrm>
            <a:off x="2956520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4400"/>
          </a:p>
        </p:txBody>
      </p:sp>
      <p:sp>
        <p:nvSpPr>
          <p:cNvPr id="708049761" name="Text 12"/>
          <p:cNvSpPr/>
          <p:nvPr/>
        </p:nvSpPr>
        <p:spPr bwMode="auto">
          <a:xfrm>
            <a:off x="2956520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macchina</a:t>
            </a:r>
            <a:endParaRPr lang="en-US" sz="1700"/>
          </a:p>
        </p:txBody>
      </p:sp>
      <p:sp>
        <p:nvSpPr>
          <p:cNvPr id="666393152" name="Text 13"/>
          <p:cNvSpPr/>
          <p:nvPr/>
        </p:nvSpPr>
        <p:spPr bwMode="auto">
          <a:xfrm>
            <a:off x="2956520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Perché il nodo vuole un core vero, tutto suo.</a:t>
            </a:r>
          </a:p>
        </p:txBody>
      </p:sp>
      <p:sp>
        <p:nvSpPr>
          <p:cNvPr id="1281328027" name="Shape 14"/>
          <p:cNvSpPr/>
          <p:nvPr/>
        </p:nvSpPr>
        <p:spPr bwMode="auto">
          <a:xfrm>
            <a:off x="2966045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50702703" name="Text 15"/>
          <p:cNvSpPr/>
          <p:nvPr/>
        </p:nvSpPr>
        <p:spPr bwMode="auto">
          <a:xfrm>
            <a:off x="3087754" y="4645025"/>
            <a:ext cx="157652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Perché fidarsi dei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numeri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?</a:t>
            </a:r>
            <a:endParaRPr lang="en-US" sz="1300"/>
          </a:p>
        </p:txBody>
      </p:sp>
      <p:sp>
        <p:nvSpPr>
          <p:cNvPr id="599468114" name="Shape 16"/>
          <p:cNvSpPr/>
          <p:nvPr/>
        </p:nvSpPr>
        <p:spPr bwMode="auto">
          <a:xfrm>
            <a:off x="5036807" y="1978620"/>
            <a:ext cx="2118320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7210863" name="Text 17"/>
          <p:cNvSpPr/>
          <p:nvPr/>
        </p:nvSpPr>
        <p:spPr bwMode="auto">
          <a:xfrm>
            <a:off x="5201907" y="2131020"/>
            <a:ext cx="1841764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4400"/>
          </a:p>
        </p:txBody>
      </p:sp>
      <p:sp>
        <p:nvSpPr>
          <p:cNvPr id="2018731478" name="Text 18"/>
          <p:cNvSpPr/>
          <p:nvPr/>
        </p:nvSpPr>
        <p:spPr bwMode="auto">
          <a:xfrm>
            <a:off x="5201907" y="2740620"/>
            <a:ext cx="18417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generatore</a:t>
            </a:r>
            <a:endParaRPr lang="en-US" sz="1700"/>
          </a:p>
        </p:txBody>
      </p:sp>
      <p:sp>
        <p:nvSpPr>
          <p:cNvPr id="1143910684" name="Text 19"/>
          <p:cNvSpPr/>
          <p:nvPr/>
        </p:nvSpPr>
        <p:spPr bwMode="auto">
          <a:xfrm>
            <a:off x="5201907" y="3093641"/>
            <a:ext cx="1841764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xdp_gen: pacchetti come da una scheda di rete.</a:t>
            </a:r>
            <a:endParaRPr lang="en-US" sz="1400"/>
          </a:p>
        </p:txBody>
      </p:sp>
      <p:sp>
        <p:nvSpPr>
          <p:cNvPr id="1583488916" name="Shape 20"/>
          <p:cNvSpPr/>
          <p:nvPr/>
        </p:nvSpPr>
        <p:spPr bwMode="auto">
          <a:xfrm>
            <a:off x="5211432" y="4543425"/>
            <a:ext cx="1769070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995820" name="Text 21"/>
          <p:cNvSpPr/>
          <p:nvPr/>
        </p:nvSpPr>
        <p:spPr bwMode="auto">
          <a:xfrm>
            <a:off x="5333140" y="4645025"/>
            <a:ext cx="1576454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che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traffico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si misura?</a:t>
            </a:r>
            <a:endParaRPr lang="en-US" sz="1300"/>
          </a:p>
        </p:txBody>
      </p:sp>
      <p:sp>
        <p:nvSpPr>
          <p:cNvPr id="1847828594" name="Shape 22"/>
          <p:cNvSpPr/>
          <p:nvPr/>
        </p:nvSpPr>
        <p:spPr bwMode="auto">
          <a:xfrm>
            <a:off x="7282128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3106278" name="Text 23"/>
          <p:cNvSpPr/>
          <p:nvPr/>
        </p:nvSpPr>
        <p:spPr bwMode="auto">
          <a:xfrm>
            <a:off x="7447227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4400"/>
          </a:p>
        </p:txBody>
      </p:sp>
      <p:sp>
        <p:nvSpPr>
          <p:cNvPr id="748896676" name="Text 24"/>
          <p:cNvSpPr/>
          <p:nvPr/>
        </p:nvSpPr>
        <p:spPr bwMode="auto">
          <a:xfrm>
            <a:off x="7447227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 risultati</a:t>
            </a:r>
            <a:endParaRPr lang="en-US" sz="1700"/>
          </a:p>
        </p:txBody>
      </p:sp>
      <p:sp>
        <p:nvSpPr>
          <p:cNvPr id="211167969" name="Text 25"/>
          <p:cNvSpPr/>
          <p:nvPr/>
        </p:nvSpPr>
        <p:spPr bwMode="auto">
          <a:xfrm>
            <a:off x="7447227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Quanto regge il nodo, su uno e due core, e sui core lenti.</a:t>
            </a:r>
          </a:p>
        </p:txBody>
      </p:sp>
      <p:sp>
        <p:nvSpPr>
          <p:cNvPr id="1962788930" name="Shape 26"/>
          <p:cNvSpPr/>
          <p:nvPr/>
        </p:nvSpPr>
        <p:spPr bwMode="auto">
          <a:xfrm>
            <a:off x="7456753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5376053" name="Text 27"/>
          <p:cNvSpPr/>
          <p:nvPr/>
        </p:nvSpPr>
        <p:spPr bwMode="auto">
          <a:xfrm>
            <a:off x="7578461" y="4645025"/>
            <a:ext cx="1576520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Quanti </a:t>
            </a: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pacchetti</a:t>
            </a:r>
            <a:r>
              <a:rPr lang="en-US" sz="13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 al secondo?</a:t>
            </a:r>
            <a:endParaRPr lang="en-US" sz="1300"/>
          </a:p>
        </p:txBody>
      </p:sp>
      <p:sp>
        <p:nvSpPr>
          <p:cNvPr id="516297805" name="Shape 28"/>
          <p:cNvSpPr/>
          <p:nvPr/>
        </p:nvSpPr>
        <p:spPr bwMode="auto">
          <a:xfrm>
            <a:off x="9527514" y="1978620"/>
            <a:ext cx="2118387" cy="3355380"/>
          </a:xfrm>
          <a:prstGeom prst="roundRect">
            <a:avLst>
              <a:gd name="adj" fmla="val 599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913171" name="Text 29"/>
          <p:cNvSpPr/>
          <p:nvPr/>
        </p:nvSpPr>
        <p:spPr bwMode="auto">
          <a:xfrm>
            <a:off x="9692614" y="2131020"/>
            <a:ext cx="184183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  <a:defRPr/>
            </a:pPr>
            <a:r>
              <a:rPr lang="en-US" sz="4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</a:t>
            </a:r>
            <a:endParaRPr lang="en-US" sz="4400"/>
          </a:p>
        </p:txBody>
      </p:sp>
      <p:sp>
        <p:nvSpPr>
          <p:cNvPr id="931238491" name="Text 30"/>
          <p:cNvSpPr/>
          <p:nvPr/>
        </p:nvSpPr>
        <p:spPr bwMode="auto">
          <a:xfrm>
            <a:off x="9692614" y="2740620"/>
            <a:ext cx="184183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domanda</a:t>
            </a:r>
            <a:endParaRPr lang="en-US" sz="1700"/>
          </a:p>
        </p:txBody>
      </p:sp>
      <p:sp>
        <p:nvSpPr>
          <p:cNvPr id="1489375659" name="Text 31"/>
          <p:cNvSpPr/>
          <p:nvPr/>
        </p:nvSpPr>
        <p:spPr bwMode="auto">
          <a:xfrm>
            <a:off x="9692614" y="3093641"/>
            <a:ext cx="184183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Che cosa succede quando il traffico cresce.</a:t>
            </a:r>
            <a:endParaRPr lang="en-US" sz="1400"/>
          </a:p>
        </p:txBody>
      </p:sp>
      <p:sp>
        <p:nvSpPr>
          <p:cNvPr id="928909722" name="Shape 32"/>
          <p:cNvSpPr/>
          <p:nvPr/>
        </p:nvSpPr>
        <p:spPr bwMode="auto">
          <a:xfrm>
            <a:off x="9702139" y="4543425"/>
            <a:ext cx="1769137" cy="615950"/>
          </a:xfrm>
          <a:prstGeom prst="roundRect">
            <a:avLst>
              <a:gd name="adj" fmla="val 14948"/>
            </a:avLst>
          </a:prstGeom>
          <a:solidFill>
            <a:srgbClr val="FFFFFF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4626819" name="Text 33"/>
          <p:cNvSpPr/>
          <p:nvPr/>
        </p:nvSpPr>
        <p:spPr bwMode="auto">
          <a:xfrm>
            <a:off x="9823847" y="4748213"/>
            <a:ext cx="1049602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Dove</a:t>
            </a:r>
            <a:r>
              <a:rPr lang="en-US" sz="13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 si perde?</a:t>
            </a:r>
            <a:endParaRPr lang="en-US" sz="1300"/>
          </a:p>
        </p:txBody>
      </p:sp>
      <p:sp>
        <p:nvSpPr>
          <p:cNvPr id="454797470" name="Shape 34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3527219" name="Shape 35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70232371" name="Text 36"/>
          <p:cNvSpPr/>
          <p:nvPr/>
        </p:nvSpPr>
        <p:spPr bwMode="auto">
          <a:xfrm>
            <a:off x="819150" y="5767057"/>
            <a:ext cx="1003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IN BREVE</a:t>
            </a:r>
            <a:endParaRPr lang="en-US" sz="1200"/>
          </a:p>
        </p:txBody>
      </p:sp>
      <p:sp>
        <p:nvSpPr>
          <p:cNvPr id="240257583" name="Text 37"/>
          <p:cNvSpPr/>
          <p:nvPr/>
        </p:nvSpPr>
        <p:spPr bwMode="auto">
          <a:xfrm>
            <a:off x="1949450" y="5626100"/>
            <a:ext cx="975188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risposta, in anticipo: si perde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prima</a:t>
            </a:r>
            <a:r>
              <a:rPr lang="en-US" sz="15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 programma, quindi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 E le misure si ripetono entro pochi punti.</a:t>
            </a:r>
          </a:p>
        </p:txBody>
      </p:sp>
      <p:sp>
        <p:nvSpPr>
          <p:cNvPr id="1888702531" name="Text 38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Tutte le cifre: campagna del 6 ottobre 2026, nodo su un P-core a 3,5 GHz salvo dove detto</a:t>
            </a:r>
          </a:p>
        </p:txBody>
      </p:sp>
      <p:sp>
        <p:nvSpPr>
          <p:cNvPr id="1368976705" name="Text 3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7775681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368775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1 · IL BANCO · I PROGRAMMI</a:t>
            </a:r>
            <a:endParaRPr lang="en-US" sz="1200"/>
          </a:p>
        </p:txBody>
      </p:sp>
      <p:sp>
        <p:nvSpPr>
          <p:cNvPr id="44163990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Sei programmi, che cambiano per una cosa sola</a:t>
            </a:r>
            <a:endParaRPr lang="en-US" sz="3000"/>
          </a:p>
        </p:txBody>
      </p:sp>
      <p:sp>
        <p:nvSpPr>
          <p:cNvPr id="708535377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Calcolano la stessa rete e prendono la stessa decisione. Cambia quanto sanno già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quando vengono compilati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710765556" name="Shape 4"/>
          <p:cNvSpPr/>
          <p:nvPr/>
        </p:nvSpPr>
        <p:spPr bwMode="auto">
          <a:xfrm>
            <a:off x="546100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86677312" name="Shape 5"/>
          <p:cNvSpPr/>
          <p:nvPr/>
        </p:nvSpPr>
        <p:spPr bwMode="auto">
          <a:xfrm>
            <a:off x="711200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819498" name="Text 6"/>
          <p:cNvSpPr/>
          <p:nvPr/>
        </p:nvSpPr>
        <p:spPr bwMode="auto">
          <a:xfrm>
            <a:off x="990600" y="2276013"/>
            <a:ext cx="60900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700"/>
          </a:p>
        </p:txBody>
      </p:sp>
      <p:sp>
        <p:nvSpPr>
          <p:cNvPr id="1551493660" name="Text 7"/>
          <p:cNvSpPr/>
          <p:nvPr/>
        </p:nvSpPr>
        <p:spPr bwMode="auto">
          <a:xfrm>
            <a:off x="711200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solo ricezione</a:t>
            </a:r>
            <a:endParaRPr lang="en-US" sz="1300"/>
          </a:p>
        </p:txBody>
      </p:sp>
      <p:sp>
        <p:nvSpPr>
          <p:cNvPr id="166064766" name="Text 8"/>
          <p:cNvSpPr/>
          <p:nvPr/>
        </p:nvSpPr>
        <p:spPr bwMode="auto">
          <a:xfrm>
            <a:off x="711200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Prende il pacchetto e lo butta. È il pavimento: sotto non si scende.</a:t>
            </a:r>
            <a:endParaRPr lang="en-US" sz="1400"/>
          </a:p>
        </p:txBody>
      </p:sp>
      <p:sp>
        <p:nvSpPr>
          <p:cNvPr id="1529447162" name="Shape 9"/>
          <p:cNvSpPr/>
          <p:nvPr/>
        </p:nvSpPr>
        <p:spPr bwMode="auto">
          <a:xfrm>
            <a:off x="4296833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8188820" name="Shape 10"/>
          <p:cNvSpPr/>
          <p:nvPr/>
        </p:nvSpPr>
        <p:spPr bwMode="auto">
          <a:xfrm>
            <a:off x="4461933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71184220" name="Text 11"/>
          <p:cNvSpPr/>
          <p:nvPr/>
        </p:nvSpPr>
        <p:spPr bwMode="auto">
          <a:xfrm>
            <a:off x="4741333" y="2276013"/>
            <a:ext cx="79871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700"/>
          </a:p>
        </p:txBody>
      </p:sp>
      <p:sp>
        <p:nvSpPr>
          <p:cNvPr id="864461147" name="Text 12"/>
          <p:cNvSpPr/>
          <p:nvPr/>
        </p:nvSpPr>
        <p:spPr bwMode="auto">
          <a:xfrm>
            <a:off x="4461933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nessuna rete</a:t>
            </a:r>
            <a:endParaRPr lang="en-US" sz="1300"/>
          </a:p>
        </p:txBody>
      </p:sp>
      <p:sp>
        <p:nvSpPr>
          <p:cNvPr id="1162945605" name="Text 13"/>
          <p:cNvSpPr/>
          <p:nvPr/>
        </p:nvSpPr>
        <p:spPr bwMode="auto">
          <a:xfrm>
            <a:off x="4461933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Legge l'intestazione, decrementa il TTL e inoltra su una classe fissa.</a:t>
            </a:r>
            <a:endParaRPr lang="en-US" sz="1400"/>
          </a:p>
        </p:txBody>
      </p:sp>
      <p:sp>
        <p:nvSpPr>
          <p:cNvPr id="1738687286" name="Shape 14"/>
          <p:cNvSpPr/>
          <p:nvPr/>
        </p:nvSpPr>
        <p:spPr bwMode="auto">
          <a:xfrm>
            <a:off x="8047567" y="2123613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3971024" name="Shape 15"/>
          <p:cNvSpPr/>
          <p:nvPr/>
        </p:nvSpPr>
        <p:spPr bwMode="auto">
          <a:xfrm>
            <a:off x="8212667" y="2331839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8952294" name="Text 16"/>
          <p:cNvSpPr/>
          <p:nvPr/>
        </p:nvSpPr>
        <p:spPr bwMode="auto">
          <a:xfrm>
            <a:off x="8492067" y="2276013"/>
            <a:ext cx="907058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 statica</a:t>
            </a:r>
            <a:endParaRPr lang="en-US" sz="1700"/>
          </a:p>
        </p:txBody>
      </p:sp>
      <p:sp>
        <p:nvSpPr>
          <p:cNvPr id="286196842" name="Text 17"/>
          <p:cNvSpPr/>
          <p:nvPr/>
        </p:nvSpPr>
        <p:spPr bwMode="auto">
          <a:xfrm>
            <a:off x="8212667" y="2629033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tutto compilato</a:t>
            </a:r>
            <a:endParaRPr lang="en-US" sz="1300"/>
          </a:p>
        </p:txBody>
      </p:sp>
      <p:sp>
        <p:nvSpPr>
          <p:cNvPr id="420194813" name="Text 18"/>
          <p:cNvSpPr/>
          <p:nvPr/>
        </p:nvSpPr>
        <p:spPr bwMode="auto">
          <a:xfrm>
            <a:off x="8212667" y="2910946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Pesi e indice del nodo sono scritti nel programma: un binario per nodo.</a:t>
            </a:r>
            <a:endParaRPr lang="en-US" sz="1400"/>
          </a:p>
        </p:txBody>
      </p:sp>
      <p:sp>
        <p:nvSpPr>
          <p:cNvPr id="1419395517" name="Shape 19"/>
          <p:cNvSpPr/>
          <p:nvPr/>
        </p:nvSpPr>
        <p:spPr bwMode="auto">
          <a:xfrm>
            <a:off x="546100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6714951" name="Shape 20"/>
          <p:cNvSpPr/>
          <p:nvPr/>
        </p:nvSpPr>
        <p:spPr bwMode="auto">
          <a:xfrm>
            <a:off x="711200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238902" name="Text 21"/>
          <p:cNvSpPr/>
          <p:nvPr/>
        </p:nvSpPr>
        <p:spPr bwMode="auto">
          <a:xfrm>
            <a:off x="990600" y="3843074"/>
            <a:ext cx="1449255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 hardcoded</a:t>
            </a:r>
            <a:endParaRPr lang="en-US" sz="1700"/>
          </a:p>
        </p:txBody>
      </p:sp>
      <p:sp>
        <p:nvSpPr>
          <p:cNvPr id="1120200835" name="Text 22"/>
          <p:cNvSpPr/>
          <p:nvPr/>
        </p:nvSpPr>
        <p:spPr bwMode="auto">
          <a:xfrm>
            <a:off x="711200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pesi compilati</a:t>
            </a:r>
            <a:endParaRPr lang="en-US" sz="1300"/>
          </a:p>
        </p:txBody>
      </p:sp>
      <p:sp>
        <p:nvSpPr>
          <p:cNvPr id="1904094855" name="Text 23"/>
          <p:cNvSpPr/>
          <p:nvPr/>
        </p:nvSpPr>
        <p:spPr bwMode="auto">
          <a:xfrm>
            <a:off x="711200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Pesi nel programma, nodo letto a runtime: un binario per modello.</a:t>
            </a:r>
            <a:endParaRPr lang="en-US" sz="1400"/>
          </a:p>
        </p:txBody>
      </p:sp>
      <p:sp>
        <p:nvSpPr>
          <p:cNvPr id="429254552" name="Shape 24"/>
          <p:cNvSpPr/>
          <p:nvPr/>
        </p:nvSpPr>
        <p:spPr bwMode="auto">
          <a:xfrm>
            <a:off x="4296833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16710365" name="Shape 25"/>
          <p:cNvSpPr/>
          <p:nvPr/>
        </p:nvSpPr>
        <p:spPr bwMode="auto">
          <a:xfrm>
            <a:off x="4461933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03619252" name="Text 26"/>
          <p:cNvSpPr/>
          <p:nvPr/>
        </p:nvSpPr>
        <p:spPr bwMode="auto">
          <a:xfrm>
            <a:off x="4741333" y="3843074"/>
            <a:ext cx="1134864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 template</a:t>
            </a:r>
            <a:endParaRPr lang="en-US" sz="1700"/>
          </a:p>
        </p:txBody>
      </p:sp>
      <p:sp>
        <p:nvSpPr>
          <p:cNvPr id="1067653268" name="Text 27"/>
          <p:cNvSpPr/>
          <p:nvPr/>
        </p:nvSpPr>
        <p:spPr bwMode="auto">
          <a:xfrm>
            <a:off x="4461933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forma da tabella</a:t>
            </a:r>
            <a:endParaRPr lang="en-US" sz="1300"/>
          </a:p>
        </p:txBody>
      </p:sp>
      <p:sp>
        <p:nvSpPr>
          <p:cNvPr id="1414903235" name="Text 28"/>
          <p:cNvSpPr/>
          <p:nvPr/>
        </p:nvSpPr>
        <p:spPr bwMode="auto">
          <a:xfrm>
            <a:off x="4461933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forma si legge da tabella: solo i soffitti sono compilati.</a:t>
            </a:r>
            <a:endParaRPr lang="en-US" sz="1400"/>
          </a:p>
        </p:txBody>
      </p:sp>
      <p:sp>
        <p:nvSpPr>
          <p:cNvPr id="1955683381" name="Shape 29"/>
          <p:cNvSpPr/>
          <p:nvPr/>
        </p:nvSpPr>
        <p:spPr bwMode="auto">
          <a:xfrm>
            <a:off x="8047567" y="3690674"/>
            <a:ext cx="3598333" cy="1414661"/>
          </a:xfrm>
          <a:prstGeom prst="roundRect">
            <a:avLst>
              <a:gd name="adj" fmla="val 897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9175650" name="Shape 30"/>
          <p:cNvSpPr/>
          <p:nvPr/>
        </p:nvSpPr>
        <p:spPr bwMode="auto">
          <a:xfrm>
            <a:off x="8212667" y="3898900"/>
            <a:ext cx="190500" cy="190500"/>
          </a:xfrm>
          <a:prstGeom prst="roundRect">
            <a:avLst>
              <a:gd name="adj" fmla="val 26667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03123995" name="Text 31"/>
          <p:cNvSpPr/>
          <p:nvPr/>
        </p:nvSpPr>
        <p:spPr bwMode="auto">
          <a:xfrm>
            <a:off x="8492067" y="3843074"/>
            <a:ext cx="1083733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 modular</a:t>
            </a:r>
            <a:endParaRPr lang="en-US" sz="1700"/>
          </a:p>
        </p:txBody>
      </p:sp>
      <p:sp>
        <p:nvSpPr>
          <p:cNvPr id="441600" name="Text 32"/>
          <p:cNvSpPr/>
          <p:nvPr/>
        </p:nvSpPr>
        <p:spPr bwMode="auto">
          <a:xfrm>
            <a:off x="8212667" y="4196094"/>
            <a:ext cx="3366177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anche la profondità</a:t>
            </a:r>
            <a:endParaRPr lang="en-US" sz="1300"/>
          </a:p>
        </p:txBody>
      </p:sp>
      <p:sp>
        <p:nvSpPr>
          <p:cNvPr id="290015319" name="Text 33"/>
          <p:cNvSpPr/>
          <p:nvPr/>
        </p:nvSpPr>
        <p:spPr bwMode="auto">
          <a:xfrm>
            <a:off x="8212667" y="4478007"/>
            <a:ext cx="3366177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Anche il numero di strati si legge da tabella: un programma per tutto.</a:t>
            </a:r>
            <a:endParaRPr lang="en-US" sz="1400"/>
          </a:p>
        </p:txBody>
      </p:sp>
      <p:sp>
        <p:nvSpPr>
          <p:cNvPr id="1983914555" name="Shape 34"/>
          <p:cNvSpPr/>
          <p:nvPr/>
        </p:nvSpPr>
        <p:spPr bwMode="auto">
          <a:xfrm>
            <a:off x="546100" y="5402659"/>
            <a:ext cx="11099800" cy="858441"/>
          </a:xfrm>
          <a:prstGeom prst="roundRect">
            <a:avLst>
              <a:gd name="adj" fmla="val 14794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89284685" name="Text 35"/>
          <p:cNvSpPr/>
          <p:nvPr/>
        </p:nvSpPr>
        <p:spPr bwMode="auto">
          <a:xfrm>
            <a:off x="800100" y="5567759"/>
            <a:ext cx="10909554" cy="553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Più informazioni si spostano dalla compilazione all'esecuzione, più il programma è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riutilizzabile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, e più cresce il </a:t>
            </a:r>
            <a:r>
              <a:rPr lang="en-US" sz="16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costo per pacchetto</a:t>
            </a:r>
            <a:r>
              <a:rPr lang="en-US" sz="16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600"/>
          </a:p>
        </p:txBody>
      </p:sp>
      <p:sp>
        <p:nvSpPr>
          <p:cNvPr id="1646726678" name="Text 36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Cinque pipeline più rxonly, che misura la sola ricezione · i colori dei quadratini tornano in tutti i grafici</a:t>
            </a:r>
            <a:endParaRPr lang="en-US" sz="1200"/>
          </a:p>
        </p:txBody>
      </p:sp>
      <p:sp>
        <p:nvSpPr>
          <p:cNvPr id="1635323633" name="Text 37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7286976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56492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1 · IL BANCO · COME SI MISURA</a:t>
            </a:r>
            <a:endParaRPr lang="en-US" sz="1200"/>
          </a:p>
        </p:txBody>
      </p:sp>
      <p:sp>
        <p:nvSpPr>
          <p:cNvPr id="58468255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banco misura quanti pacchetti regge il nodo</a:t>
            </a:r>
            <a:endParaRPr lang="en-US" sz="3000"/>
          </a:p>
        </p:txBody>
      </p:sp>
      <p:sp>
        <p:nvSpPr>
          <p:cNvPr id="1875761483" name="Shape 3"/>
          <p:cNvSpPr/>
          <p:nvPr/>
        </p:nvSpPr>
        <p:spPr bwMode="auto">
          <a:xfrm>
            <a:off x="546100" y="1562100"/>
            <a:ext cx="1915980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878113" name="Text 4"/>
          <p:cNvSpPr/>
          <p:nvPr/>
        </p:nvSpPr>
        <p:spPr bwMode="auto">
          <a:xfrm>
            <a:off x="1029031" y="1701800"/>
            <a:ext cx="95011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500"/>
          </a:p>
        </p:txBody>
      </p:sp>
      <p:sp>
        <p:nvSpPr>
          <p:cNvPr id="1589431674" name="Text 5"/>
          <p:cNvSpPr/>
          <p:nvPr/>
        </p:nvSpPr>
        <p:spPr bwMode="auto">
          <a:xfrm>
            <a:off x="971815" y="2006600"/>
            <a:ext cx="106455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crea i pacchetti</a:t>
            </a:r>
            <a:endParaRPr lang="en-US" sz="1300"/>
          </a:p>
        </p:txBody>
      </p:sp>
      <p:sp>
        <p:nvSpPr>
          <p:cNvPr id="2028666697" name="Text 6"/>
          <p:cNvSpPr/>
          <p:nvPr/>
        </p:nvSpPr>
        <p:spPr bwMode="auto">
          <a:xfrm>
            <a:off x="1035381" y="2251075"/>
            <a:ext cx="93741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10</a:t>
            </a:r>
            <a:endParaRPr lang="en-US" sz="1300"/>
          </a:p>
        </p:txBody>
      </p:sp>
      <p:pic>
        <p:nvPicPr>
          <p:cNvPr id="1721495703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525580" y="1990725"/>
            <a:ext cx="254000" cy="177800"/>
          </a:xfrm>
          <a:prstGeom prst="rect">
            <a:avLst/>
          </a:prstGeom>
        </p:spPr>
      </p:pic>
      <p:sp>
        <p:nvSpPr>
          <p:cNvPr id="49030332" name="Shape 7"/>
          <p:cNvSpPr/>
          <p:nvPr/>
        </p:nvSpPr>
        <p:spPr bwMode="auto">
          <a:xfrm>
            <a:off x="2843080" y="1562100"/>
            <a:ext cx="1916046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56877994" name="Text 8"/>
          <p:cNvSpPr/>
          <p:nvPr/>
        </p:nvSpPr>
        <p:spPr bwMode="auto">
          <a:xfrm>
            <a:off x="3575910" y="1701800"/>
            <a:ext cx="45032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</a:t>
            </a:r>
            <a:endParaRPr lang="en-US" sz="1500"/>
          </a:p>
        </p:txBody>
      </p:sp>
      <p:sp>
        <p:nvSpPr>
          <p:cNvPr id="1238593075" name="Text 9"/>
          <p:cNvSpPr/>
          <p:nvPr/>
        </p:nvSpPr>
        <p:spPr bwMode="auto">
          <a:xfrm>
            <a:off x="2971800" y="2006600"/>
            <a:ext cx="165854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256 posti (cavo virtuale)</a:t>
            </a:r>
            <a:endParaRPr lang="en-US" sz="1300"/>
          </a:p>
        </p:txBody>
      </p:sp>
      <p:sp>
        <p:nvSpPr>
          <p:cNvPr id="1042295117" name="Text 10"/>
          <p:cNvSpPr/>
          <p:nvPr/>
        </p:nvSpPr>
        <p:spPr bwMode="auto">
          <a:xfrm>
            <a:off x="3157934" y="2251075"/>
            <a:ext cx="1286272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se è piena: respinto</a:t>
            </a:r>
            <a:endParaRPr lang="en-US" sz="1200"/>
          </a:p>
        </p:txBody>
      </p:sp>
      <p:pic>
        <p:nvPicPr>
          <p:cNvPr id="572393279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822627" y="1990725"/>
            <a:ext cx="254000" cy="177800"/>
          </a:xfrm>
          <a:prstGeom prst="rect">
            <a:avLst/>
          </a:prstGeom>
        </p:spPr>
      </p:pic>
      <p:sp>
        <p:nvSpPr>
          <p:cNvPr id="2135167334" name="Shape 11"/>
          <p:cNvSpPr/>
          <p:nvPr/>
        </p:nvSpPr>
        <p:spPr bwMode="auto">
          <a:xfrm>
            <a:off x="5149652" y="1571625"/>
            <a:ext cx="1892697" cy="1016000"/>
          </a:xfrm>
          <a:prstGeom prst="roundRect">
            <a:avLst>
              <a:gd name="adj" fmla="val 11562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45711851" name="Text 12"/>
          <p:cNvSpPr/>
          <p:nvPr/>
        </p:nvSpPr>
        <p:spPr bwMode="auto">
          <a:xfrm>
            <a:off x="5818981" y="1699685"/>
            <a:ext cx="55403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NODO</a:t>
            </a:r>
            <a:endParaRPr lang="en-US" sz="1500"/>
          </a:p>
        </p:txBody>
      </p:sp>
      <p:sp>
        <p:nvSpPr>
          <p:cNvPr id="1352226705" name="Text 13"/>
          <p:cNvSpPr/>
          <p:nvPr/>
        </p:nvSpPr>
        <p:spPr bwMode="auto">
          <a:xfrm>
            <a:off x="5488384" y="2004485"/>
            <a:ext cx="121516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pipeline in XDP</a:t>
            </a:r>
            <a:endParaRPr lang="en-US" sz="1300"/>
          </a:p>
        </p:txBody>
      </p:sp>
      <p:sp>
        <p:nvSpPr>
          <p:cNvPr id="637788621" name="Text 14"/>
          <p:cNvSpPr/>
          <p:nvPr/>
        </p:nvSpPr>
        <p:spPr bwMode="auto">
          <a:xfrm>
            <a:off x="5870443" y="2248960"/>
            <a:ext cx="45111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6</a:t>
            </a:r>
            <a:endParaRPr lang="en-US" sz="1300"/>
          </a:p>
        </p:txBody>
      </p:sp>
      <p:pic>
        <p:nvPicPr>
          <p:cNvPr id="1484706763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115373" y="1990725"/>
            <a:ext cx="254000" cy="177800"/>
          </a:xfrm>
          <a:prstGeom prst="rect">
            <a:avLst/>
          </a:prstGeom>
        </p:spPr>
      </p:pic>
      <p:sp>
        <p:nvSpPr>
          <p:cNvPr id="1786583356" name="Shape 15"/>
          <p:cNvSpPr/>
          <p:nvPr/>
        </p:nvSpPr>
        <p:spPr bwMode="auto">
          <a:xfrm>
            <a:off x="7432873" y="1562100"/>
            <a:ext cx="1916046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48242358" name="Text 16"/>
          <p:cNvSpPr/>
          <p:nvPr/>
        </p:nvSpPr>
        <p:spPr bwMode="auto">
          <a:xfrm>
            <a:off x="7839340" y="1701800"/>
            <a:ext cx="110304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 d'uscita</a:t>
            </a:r>
            <a:endParaRPr lang="en-US" sz="1500"/>
          </a:p>
        </p:txBody>
      </p:sp>
      <p:sp>
        <p:nvSpPr>
          <p:cNvPr id="1682931023" name="Text 17"/>
          <p:cNvSpPr/>
          <p:nvPr/>
        </p:nvSpPr>
        <p:spPr bwMode="auto">
          <a:xfrm>
            <a:off x="7566951" y="2006600"/>
            <a:ext cx="164789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verso il nodo successivo</a:t>
            </a:r>
            <a:endParaRPr lang="en-US" sz="1300"/>
          </a:p>
        </p:txBody>
      </p:sp>
      <p:pic>
        <p:nvPicPr>
          <p:cNvPr id="53291411" name="Image 3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412420" y="1990725"/>
            <a:ext cx="254000" cy="177800"/>
          </a:xfrm>
          <a:prstGeom prst="rect">
            <a:avLst/>
          </a:prstGeom>
        </p:spPr>
      </p:pic>
      <p:sp>
        <p:nvSpPr>
          <p:cNvPr id="816556281" name="Shape 18"/>
          <p:cNvSpPr/>
          <p:nvPr/>
        </p:nvSpPr>
        <p:spPr bwMode="auto">
          <a:xfrm>
            <a:off x="9729920" y="1562100"/>
            <a:ext cx="1915980" cy="1035050"/>
          </a:xfrm>
          <a:prstGeom prst="roundRect">
            <a:avLst>
              <a:gd name="adj" fmla="val 122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54488910" name="Text 19"/>
          <p:cNvSpPr/>
          <p:nvPr/>
        </p:nvSpPr>
        <p:spPr bwMode="auto">
          <a:xfrm>
            <a:off x="10013090" y="1701800"/>
            <a:ext cx="134957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500"/>
          </a:p>
        </p:txBody>
      </p:sp>
      <p:sp>
        <p:nvSpPr>
          <p:cNvPr id="446053604" name="Text 20"/>
          <p:cNvSpPr/>
          <p:nvPr/>
        </p:nvSpPr>
        <p:spPr bwMode="auto">
          <a:xfrm>
            <a:off x="10196513" y="2006600"/>
            <a:ext cx="982729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e scarta</a:t>
            </a:r>
            <a:endParaRPr lang="en-US" sz="1300"/>
          </a:p>
        </p:txBody>
      </p:sp>
      <p:sp>
        <p:nvSpPr>
          <p:cNvPr id="446900287" name="Text 21"/>
          <p:cNvSpPr/>
          <p:nvPr/>
        </p:nvSpPr>
        <p:spPr bwMode="auto">
          <a:xfrm>
            <a:off x="10462353" y="2251075"/>
            <a:ext cx="45111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CPU 8</a:t>
            </a:r>
            <a:endParaRPr lang="en-US" sz="1300"/>
          </a:p>
        </p:txBody>
      </p:sp>
      <p:sp>
        <p:nvSpPr>
          <p:cNvPr id="932063453" name="Shape 22"/>
          <p:cNvSpPr/>
          <p:nvPr/>
        </p:nvSpPr>
        <p:spPr bwMode="auto">
          <a:xfrm>
            <a:off x="546100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2068562" name="Shape 23"/>
          <p:cNvSpPr/>
          <p:nvPr/>
        </p:nvSpPr>
        <p:spPr bwMode="auto">
          <a:xfrm>
            <a:off x="698500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19662269" name="Text 24"/>
          <p:cNvSpPr/>
          <p:nvPr/>
        </p:nvSpPr>
        <p:spPr bwMode="auto">
          <a:xfrm>
            <a:off x="831189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1684564021" name="Text 25"/>
          <p:cNvSpPr/>
          <p:nvPr/>
        </p:nvSpPr>
        <p:spPr bwMode="auto">
          <a:xfrm>
            <a:off x="1143000" y="3617649"/>
            <a:ext cx="1669389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Coda sempre piena</a:t>
            </a:r>
            <a:endParaRPr lang="en-US" sz="1600"/>
          </a:p>
        </p:txBody>
      </p:sp>
      <p:sp>
        <p:nvSpPr>
          <p:cNvPr id="1291886892" name="Text 26"/>
          <p:cNvSpPr/>
          <p:nvPr/>
        </p:nvSpPr>
        <p:spPr bwMode="auto">
          <a:xfrm>
            <a:off x="698500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 offre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più pacchetti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di quanti il nodo riesca a elaborare.</a:t>
            </a:r>
            <a:endParaRPr lang="en-US" sz="1400"/>
          </a:p>
        </p:txBody>
      </p:sp>
      <p:sp>
        <p:nvSpPr>
          <p:cNvPr id="22355976" name="Shape 27"/>
          <p:cNvSpPr/>
          <p:nvPr/>
        </p:nvSpPr>
        <p:spPr bwMode="auto">
          <a:xfrm>
            <a:off x="4296833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6843559" name="Shape 28"/>
          <p:cNvSpPr/>
          <p:nvPr/>
        </p:nvSpPr>
        <p:spPr bwMode="auto">
          <a:xfrm>
            <a:off x="4449233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5808770" name="Text 29"/>
          <p:cNvSpPr/>
          <p:nvPr/>
        </p:nvSpPr>
        <p:spPr bwMode="auto">
          <a:xfrm>
            <a:off x="4581922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1577148377" name="Text 30"/>
          <p:cNvSpPr/>
          <p:nvPr/>
        </p:nvSpPr>
        <p:spPr bwMode="auto">
          <a:xfrm>
            <a:off x="4893733" y="3617649"/>
            <a:ext cx="201542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sempre occupato</a:t>
            </a:r>
            <a:endParaRPr lang="en-US" sz="1600"/>
          </a:p>
        </p:txBody>
      </p:sp>
      <p:sp>
        <p:nvSpPr>
          <p:cNvPr id="127092116" name="Text 31"/>
          <p:cNvSpPr/>
          <p:nvPr/>
        </p:nvSpPr>
        <p:spPr bwMode="auto">
          <a:xfrm>
            <a:off x="4449233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suo core non resta mai senza lavoro: il ritmo a cui elabora è la sua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capacità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sp>
        <p:nvSpPr>
          <p:cNvPr id="1274866179" name="Shape 32"/>
          <p:cNvSpPr/>
          <p:nvPr/>
        </p:nvSpPr>
        <p:spPr bwMode="auto">
          <a:xfrm>
            <a:off x="8047567" y="3442363"/>
            <a:ext cx="3598333" cy="1198827"/>
          </a:xfrm>
          <a:prstGeom prst="roundRect">
            <a:avLst>
              <a:gd name="adj" fmla="val 1059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46971699" name="Shape 33"/>
          <p:cNvSpPr/>
          <p:nvPr/>
        </p:nvSpPr>
        <p:spPr bwMode="auto">
          <a:xfrm>
            <a:off x="8199967" y="3582064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79970751" name="Text 34"/>
          <p:cNvSpPr/>
          <p:nvPr/>
        </p:nvSpPr>
        <p:spPr bwMode="auto">
          <a:xfrm>
            <a:off x="8332656" y="363537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720767067" name="Text 35"/>
          <p:cNvSpPr/>
          <p:nvPr/>
        </p:nvSpPr>
        <p:spPr bwMode="auto">
          <a:xfrm>
            <a:off x="8644467" y="3617649"/>
            <a:ext cx="1696575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Costo = 1 / capacità</a:t>
            </a:r>
            <a:endParaRPr lang="en-US" sz="1600"/>
          </a:p>
        </p:txBody>
      </p:sp>
      <p:sp>
        <p:nvSpPr>
          <p:cNvPr id="403748906" name="Text 36"/>
          <p:cNvSpPr/>
          <p:nvPr/>
        </p:nvSpPr>
        <p:spPr bwMode="auto">
          <a:xfrm>
            <a:off x="8199967" y="4013863"/>
            <a:ext cx="3392339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Se elabora 5 milioni di pacchetti al secondo, spende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200 ns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per ciascuno.</a:t>
            </a:r>
            <a:endParaRPr lang="en-US" sz="1400"/>
          </a:p>
        </p:txBody>
      </p:sp>
      <p:sp>
        <p:nvSpPr>
          <p:cNvPr id="1395151945" name="Shape 3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6498549" name="Shape 3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4656355" name="Text 3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982625433" name="Text 4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Si misurano 300 ms a regime: costo per pacchetto = tempo ÷ pacchetti elaborati. Il generatore sta su altri core, quindi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entra nella misura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2036136352" name="Text 4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Un solo portatile: generatore, nodo e nodo successivo ciascuno sul proprio core fisico</a:t>
            </a:r>
            <a:endParaRPr lang="en-US" sz="1200"/>
          </a:p>
        </p:txBody>
      </p:sp>
      <p:sp>
        <p:nvSpPr>
          <p:cNvPr id="709961720" name="Text 4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5856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1237156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LA MACCHINA · IL VINCOLO</a:t>
            </a:r>
          </a:p>
        </p:txBody>
      </p:sp>
      <p:sp>
        <p:nvSpPr>
          <p:cNvPr id="1457606499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nodo non può fermarsi più di 170 µs</a:t>
            </a:r>
          </a:p>
        </p:txBody>
      </p:sp>
      <p:sp>
        <p:nvSpPr>
          <p:cNvPr id="1428434123" name="Shape 3"/>
          <p:cNvSpPr/>
          <p:nvPr/>
        </p:nvSpPr>
        <p:spPr bwMode="auto">
          <a:xfrm>
            <a:off x="546100" y="1562100"/>
            <a:ext cx="6096000" cy="3144441"/>
          </a:xfrm>
          <a:prstGeom prst="roundRect">
            <a:avLst>
              <a:gd name="adj" fmla="val 403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2937571" name="Text 4"/>
          <p:cNvSpPr/>
          <p:nvPr/>
        </p:nvSpPr>
        <p:spPr bwMode="auto">
          <a:xfrm>
            <a:off x="749300" y="1739900"/>
            <a:ext cx="586028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Quanto può stare fermo il nodo</a:t>
            </a:r>
            <a:endParaRPr lang="en-US" sz="1600"/>
          </a:p>
        </p:txBody>
      </p:sp>
      <p:sp>
        <p:nvSpPr>
          <p:cNvPr id="693519202" name="Text 5"/>
          <p:cNvSpPr/>
          <p:nvPr/>
        </p:nvSpPr>
        <p:spPr bwMode="auto">
          <a:xfrm>
            <a:off x="749300" y="2075129"/>
            <a:ext cx="586028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prima che la coda da 256 posti trabocchi</a:t>
            </a:r>
            <a:endParaRPr lang="en-US" sz="1300"/>
          </a:p>
        </p:txBody>
      </p:sp>
      <p:sp>
        <p:nvSpPr>
          <p:cNvPr id="1209171073" name="Text 6"/>
          <p:cNvSpPr/>
          <p:nvPr/>
        </p:nvSpPr>
        <p:spPr bwMode="auto">
          <a:xfrm>
            <a:off x="3695700" y="2357041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trabocca</a:t>
            </a:r>
            <a:endParaRPr lang="en-US" sz="1200"/>
          </a:p>
        </p:txBody>
      </p:sp>
      <p:sp>
        <p:nvSpPr>
          <p:cNvPr id="2037239734" name="Shape 7"/>
          <p:cNvSpPr/>
          <p:nvPr/>
        </p:nvSpPr>
        <p:spPr bwMode="auto">
          <a:xfrm>
            <a:off x="4492625" y="2598341"/>
            <a:ext cx="0" cy="1917700"/>
          </a:xfrm>
          <a:prstGeom prst="line">
            <a:avLst/>
          </a:prstGeom>
          <a:noFill/>
          <a:ln w="19050">
            <a:solidFill>
              <a:srgbClr val="222B36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0557593" name="Text 8"/>
          <p:cNvSpPr/>
          <p:nvPr/>
        </p:nvSpPr>
        <p:spPr bwMode="auto">
          <a:xfrm>
            <a:off x="749300" y="2661841"/>
            <a:ext cx="2223770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Riempire la coda (1,5 M pacchetti/s)</a:t>
            </a:r>
            <a:endParaRPr lang="en-US" sz="1400"/>
          </a:p>
        </p:txBody>
      </p:sp>
      <p:sp>
        <p:nvSpPr>
          <p:cNvPr id="1608978969" name="Shape 9"/>
          <p:cNvSpPr/>
          <p:nvPr/>
        </p:nvSpPr>
        <p:spPr bwMode="auto">
          <a:xfrm>
            <a:off x="3035300" y="2687241"/>
            <a:ext cx="1447800" cy="355600"/>
          </a:xfrm>
          <a:prstGeom prst="roundRect">
            <a:avLst>
              <a:gd name="adj" fmla="val 14286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1592410" name="Text 10"/>
          <p:cNvSpPr/>
          <p:nvPr/>
        </p:nvSpPr>
        <p:spPr bwMode="auto">
          <a:xfrm>
            <a:off x="4559300" y="2744391"/>
            <a:ext cx="1320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170 µs</a:t>
            </a:r>
            <a:endParaRPr lang="en-US" sz="1500"/>
          </a:p>
        </p:txBody>
      </p:sp>
      <p:sp>
        <p:nvSpPr>
          <p:cNvPr id="426057821" name="Text 11"/>
          <p:cNvSpPr/>
          <p:nvPr/>
        </p:nvSpPr>
        <p:spPr bwMode="auto">
          <a:xfrm>
            <a:off x="749300" y="3296841"/>
            <a:ext cx="2223770" cy="22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Risveglio da sonno profondo</a:t>
            </a:r>
            <a:endParaRPr lang="en-US" sz="1400"/>
          </a:p>
        </p:txBody>
      </p:sp>
      <p:sp>
        <p:nvSpPr>
          <p:cNvPr id="1930497055" name="Shape 12"/>
          <p:cNvSpPr/>
          <p:nvPr/>
        </p:nvSpPr>
        <p:spPr bwMode="auto">
          <a:xfrm>
            <a:off x="3035300" y="3322241"/>
            <a:ext cx="2635250" cy="355600"/>
          </a:xfrm>
          <a:prstGeom prst="roundRect">
            <a:avLst>
              <a:gd name="adj" fmla="val 14286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87442151" name="Text 13"/>
          <p:cNvSpPr/>
          <p:nvPr/>
        </p:nvSpPr>
        <p:spPr bwMode="auto">
          <a:xfrm>
            <a:off x="5746750" y="3379391"/>
            <a:ext cx="7429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310 µs</a:t>
            </a:r>
            <a:endParaRPr lang="en-US" sz="1500"/>
          </a:p>
        </p:txBody>
      </p:sp>
      <p:sp>
        <p:nvSpPr>
          <p:cNvPr id="727893488" name="Text 14"/>
          <p:cNvSpPr/>
          <p:nvPr/>
        </p:nvSpPr>
        <p:spPr bwMode="auto">
          <a:xfrm>
            <a:off x="749300" y="3931841"/>
            <a:ext cx="2223770" cy="2298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Pausa di un core virtuale</a:t>
            </a:r>
            <a:endParaRPr lang="en-US" sz="1400"/>
          </a:p>
        </p:txBody>
      </p:sp>
      <p:sp>
        <p:nvSpPr>
          <p:cNvPr id="549519943" name="Shape 15"/>
          <p:cNvSpPr/>
          <p:nvPr/>
        </p:nvSpPr>
        <p:spPr bwMode="auto">
          <a:xfrm>
            <a:off x="3035300" y="3957241"/>
            <a:ext cx="3403600" cy="355600"/>
          </a:xfrm>
          <a:prstGeom prst="roundRect">
            <a:avLst>
              <a:gd name="adj" fmla="val 14286"/>
            </a:avLst>
          </a:prstGeom>
          <a:gradFill>
            <a:gsLst>
              <a:gs pos="78000">
                <a:srgbClr val="C0443C"/>
              </a:gs>
              <a:gs pos="100000">
                <a:srgbClr val="C0443C">
                  <a:alpha val="15000"/>
                </a:srgbClr>
              </a:gs>
            </a:gsLst>
            <a:lin ang="0" scaled="0"/>
          </a:gra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2465730" name="Text 16"/>
          <p:cNvSpPr/>
          <p:nvPr/>
        </p:nvSpPr>
        <p:spPr bwMode="auto">
          <a:xfrm>
            <a:off x="3136900" y="4014391"/>
            <a:ext cx="313944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alcuni millisecondi</a:t>
            </a:r>
            <a:endParaRPr lang="en-US" sz="1400"/>
          </a:p>
        </p:txBody>
      </p:sp>
      <p:sp>
        <p:nvSpPr>
          <p:cNvPr id="585402186" name="Text 17"/>
          <p:cNvSpPr/>
          <p:nvPr/>
        </p:nvSpPr>
        <p:spPr bwMode="auto">
          <a:xfrm>
            <a:off x="6819900" y="1562100"/>
            <a:ext cx="497078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Che cosa succede se si ferma</a:t>
            </a:r>
          </a:p>
        </p:txBody>
      </p:sp>
      <p:sp>
        <p:nvSpPr>
          <p:cNvPr id="183134241" name="Shape 18"/>
          <p:cNvSpPr/>
          <p:nvPr/>
        </p:nvSpPr>
        <p:spPr bwMode="auto">
          <a:xfrm>
            <a:off x="6819900" y="1935429"/>
            <a:ext cx="4826000" cy="1341107"/>
          </a:xfrm>
          <a:prstGeom prst="roundRect">
            <a:avLst>
              <a:gd name="adj" fmla="val 94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5903533" name="Shape 19"/>
          <p:cNvSpPr/>
          <p:nvPr/>
        </p:nvSpPr>
        <p:spPr bwMode="auto">
          <a:xfrm>
            <a:off x="6819900" y="1935429"/>
            <a:ext cx="4826000" cy="88900"/>
          </a:xfrm>
          <a:custGeom>
            <a:avLst/>
            <a:gdLst/>
            <a:ahLst/>
            <a:cxnLst/>
            <a:rect l="l" t="t" r="r" b="b"/>
            <a:pathLst>
              <a:path w="4826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699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539619" name="Text 20"/>
          <p:cNvSpPr/>
          <p:nvPr/>
        </p:nvSpPr>
        <p:spPr bwMode="auto">
          <a:xfrm>
            <a:off x="6997700" y="2151329"/>
            <a:ext cx="4604512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Se il core del nodo si ferma</a:t>
            </a:r>
          </a:p>
        </p:txBody>
      </p:sp>
      <p:sp>
        <p:nvSpPr>
          <p:cNvPr id="723117973" name="Text 21"/>
          <p:cNvSpPr/>
          <p:nvPr/>
        </p:nvSpPr>
        <p:spPr bwMode="auto">
          <a:xfrm>
            <a:off x="6997700" y="2486555"/>
            <a:ext cx="460451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trabocca e si perde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 qualunque ritmo</a:t>
            </a:r>
            <a:r>
              <a:rPr lang="en-US" sz="14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anche lentissimo: la perdita misura le assenze del core.</a:t>
            </a:r>
          </a:p>
        </p:txBody>
      </p:sp>
      <p:sp>
        <p:nvSpPr>
          <p:cNvPr id="1394114680" name="Shape 22"/>
          <p:cNvSpPr/>
          <p:nvPr/>
        </p:nvSpPr>
        <p:spPr bwMode="auto">
          <a:xfrm>
            <a:off x="6819900" y="3365435"/>
            <a:ext cx="4826000" cy="1341107"/>
          </a:xfrm>
          <a:prstGeom prst="roundRect">
            <a:avLst>
              <a:gd name="adj" fmla="val 947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1100629" name="Shape 23"/>
          <p:cNvSpPr/>
          <p:nvPr/>
        </p:nvSpPr>
        <p:spPr bwMode="auto">
          <a:xfrm>
            <a:off x="6819900" y="3365435"/>
            <a:ext cx="4826000" cy="88900"/>
          </a:xfrm>
          <a:custGeom>
            <a:avLst/>
            <a:gdLst/>
            <a:ahLst/>
            <a:cxnLst/>
            <a:rect l="l" t="t" r="r" b="b"/>
            <a:pathLst>
              <a:path w="4826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699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62846349" name="Text 24"/>
          <p:cNvSpPr/>
          <p:nvPr/>
        </p:nvSpPr>
        <p:spPr bwMode="auto">
          <a:xfrm>
            <a:off x="6997700" y="3581334"/>
            <a:ext cx="4604512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Se generatore e nodo dividono il core</a:t>
            </a:r>
          </a:p>
        </p:txBody>
      </p:sp>
      <p:sp>
        <p:nvSpPr>
          <p:cNvPr id="51812062" name="Text 25"/>
          <p:cNvSpPr/>
          <p:nvPr/>
        </p:nvSpPr>
        <p:spPr bwMode="auto">
          <a:xfrm>
            <a:off x="6997700" y="3916561"/>
            <a:ext cx="460451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si perde niente, ma il core fa il lavoro di tutti e due: il collo di bottiglia diventa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generatore</a:t>
            </a:r>
            <a:r>
              <a:rPr lang="en-US" sz="14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</a:p>
        </p:txBody>
      </p:sp>
      <p:sp>
        <p:nvSpPr>
          <p:cNvPr id="1060580951" name="Shape 26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0520419" name="Shape 27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90792528" name="Text 28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587291219" name="Text 29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nodo vuole un core fisico suo, sveglio e senza interruzioni: per questo il banco gira sul portatile vero, non in una macchina virtuale, dove un core può sparire per millisecondi.</a:t>
            </a:r>
          </a:p>
        </p:txBody>
      </p:sp>
      <p:sp>
        <p:nvSpPr>
          <p:cNvPr id="1919576730" name="Text 30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3930082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65910947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LA MACCHINA · LA SOLUZIONE</a:t>
            </a:r>
          </a:p>
        </p:txBody>
      </p:sp>
      <p:sp>
        <p:nvSpPr>
          <p:cNvPr id="1328918946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Ogni core ha un ruolo fisso</a:t>
            </a:r>
          </a:p>
        </p:txBody>
      </p:sp>
      <p:sp>
        <p:nvSpPr>
          <p:cNvPr id="1004643786" name="Shape 3"/>
          <p:cNvSpPr/>
          <p:nvPr/>
        </p:nvSpPr>
        <p:spPr bwMode="auto">
          <a:xfrm>
            <a:off x="546100" y="1562100"/>
            <a:ext cx="5842000" cy="3151717"/>
          </a:xfrm>
          <a:prstGeom prst="roundRect">
            <a:avLst>
              <a:gd name="adj" fmla="val 403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48470487" name="Text 4"/>
          <p:cNvSpPr/>
          <p:nvPr/>
        </p:nvSpPr>
        <p:spPr bwMode="auto">
          <a:xfrm>
            <a:off x="749300" y="1739900"/>
            <a:ext cx="5598668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macchina: un processore ibrido</a:t>
            </a:r>
            <a:endParaRPr lang="en-US" sz="1600"/>
          </a:p>
        </p:txBody>
      </p:sp>
      <p:sp>
        <p:nvSpPr>
          <p:cNvPr id="1517137629" name="Text 5"/>
          <p:cNvSpPr/>
          <p:nvPr/>
        </p:nvSpPr>
        <p:spPr bwMode="auto">
          <a:xfrm>
            <a:off x="749300" y="2087829"/>
            <a:ext cx="559866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Intel Core Ultra 7 155H, 22 CPU: ognuna ha il suo ruolo</a:t>
            </a:r>
            <a:endParaRPr lang="en-US" sz="1300"/>
          </a:p>
        </p:txBody>
      </p:sp>
      <p:sp>
        <p:nvSpPr>
          <p:cNvPr id="1735062347" name="Shape 6"/>
          <p:cNvSpPr/>
          <p:nvPr/>
        </p:nvSpPr>
        <p:spPr bwMode="auto">
          <a:xfrm>
            <a:off x="7493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183307" name="Text 7"/>
          <p:cNvSpPr/>
          <p:nvPr/>
        </p:nvSpPr>
        <p:spPr bwMode="auto">
          <a:xfrm>
            <a:off x="11359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400"/>
          </a:p>
        </p:txBody>
      </p:sp>
      <p:sp>
        <p:nvSpPr>
          <p:cNvPr id="696961395" name="Shape 8"/>
          <p:cNvSpPr/>
          <p:nvPr/>
        </p:nvSpPr>
        <p:spPr bwMode="auto">
          <a:xfrm>
            <a:off x="749300" y="28904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24129880" name="Text 9"/>
          <p:cNvSpPr/>
          <p:nvPr/>
        </p:nvSpPr>
        <p:spPr bwMode="auto">
          <a:xfrm>
            <a:off x="1135989" y="29691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400"/>
          </a:p>
        </p:txBody>
      </p:sp>
      <p:sp>
        <p:nvSpPr>
          <p:cNvPr id="1757651601" name="Text 10"/>
          <p:cNvSpPr/>
          <p:nvPr/>
        </p:nvSpPr>
        <p:spPr bwMode="auto">
          <a:xfrm>
            <a:off x="7239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sistema</a:t>
            </a:r>
            <a:endParaRPr lang="en-US" sz="1200"/>
          </a:p>
        </p:txBody>
      </p:sp>
      <p:sp>
        <p:nvSpPr>
          <p:cNvPr id="130271912" name="Shape 11"/>
          <p:cNvSpPr/>
          <p:nvPr/>
        </p:nvSpPr>
        <p:spPr bwMode="auto">
          <a:xfrm>
            <a:off x="16637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78420526" name="Text 12"/>
          <p:cNvSpPr/>
          <p:nvPr/>
        </p:nvSpPr>
        <p:spPr bwMode="auto">
          <a:xfrm>
            <a:off x="20503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405531575" name="Shape 13"/>
          <p:cNvSpPr/>
          <p:nvPr/>
        </p:nvSpPr>
        <p:spPr bwMode="auto">
          <a:xfrm>
            <a:off x="1670050" y="2896791"/>
            <a:ext cx="850900" cy="3937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94072020" name="Text 14"/>
          <p:cNvSpPr/>
          <p:nvPr/>
        </p:nvSpPr>
        <p:spPr bwMode="auto">
          <a:xfrm>
            <a:off x="20568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630004265" name="Text 15"/>
          <p:cNvSpPr/>
          <p:nvPr/>
        </p:nvSpPr>
        <p:spPr bwMode="auto">
          <a:xfrm>
            <a:off x="16383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sistema</a:t>
            </a:r>
            <a:endParaRPr lang="en-US" sz="1200"/>
          </a:p>
        </p:txBody>
      </p:sp>
      <p:sp>
        <p:nvSpPr>
          <p:cNvPr id="1667799749" name="Shape 16"/>
          <p:cNvSpPr/>
          <p:nvPr/>
        </p:nvSpPr>
        <p:spPr bwMode="auto">
          <a:xfrm>
            <a:off x="25781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450695" name="Text 17"/>
          <p:cNvSpPr/>
          <p:nvPr/>
        </p:nvSpPr>
        <p:spPr bwMode="auto">
          <a:xfrm>
            <a:off x="29647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694195541" name="Shape 18"/>
          <p:cNvSpPr/>
          <p:nvPr/>
        </p:nvSpPr>
        <p:spPr bwMode="auto">
          <a:xfrm>
            <a:off x="2584450" y="2896791"/>
            <a:ext cx="850900" cy="393700"/>
          </a:xfrm>
          <a:prstGeom prst="roundRect">
            <a:avLst>
              <a:gd name="adj" fmla="val 15625"/>
            </a:avLst>
          </a:prstGeom>
          <a:solidFill>
            <a:srgbClr val="D5DBE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258960" name="Text 19"/>
          <p:cNvSpPr/>
          <p:nvPr/>
        </p:nvSpPr>
        <p:spPr bwMode="auto">
          <a:xfrm>
            <a:off x="29712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244306158" name="Text 20"/>
          <p:cNvSpPr/>
          <p:nvPr/>
        </p:nvSpPr>
        <p:spPr bwMode="auto">
          <a:xfrm>
            <a:off x="25527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sistema</a:t>
            </a:r>
            <a:endParaRPr lang="en-US" sz="1200"/>
          </a:p>
        </p:txBody>
      </p:sp>
      <p:sp>
        <p:nvSpPr>
          <p:cNvPr id="2131593269" name="Shape 21"/>
          <p:cNvSpPr/>
          <p:nvPr/>
        </p:nvSpPr>
        <p:spPr bwMode="auto">
          <a:xfrm>
            <a:off x="34925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85023210" name="Text 22"/>
          <p:cNvSpPr/>
          <p:nvPr/>
        </p:nvSpPr>
        <p:spPr bwMode="auto">
          <a:xfrm>
            <a:off x="38791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400"/>
          </a:p>
        </p:txBody>
      </p:sp>
      <p:sp>
        <p:nvSpPr>
          <p:cNvPr id="7460411" name="Shape 23"/>
          <p:cNvSpPr/>
          <p:nvPr/>
        </p:nvSpPr>
        <p:spPr bwMode="auto">
          <a:xfrm>
            <a:off x="34988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8310824" name="Text 24"/>
          <p:cNvSpPr/>
          <p:nvPr/>
        </p:nvSpPr>
        <p:spPr bwMode="auto">
          <a:xfrm>
            <a:off x="38856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7</a:t>
            </a:r>
            <a:endParaRPr lang="en-US" sz="1200"/>
          </a:p>
        </p:txBody>
      </p:sp>
      <p:sp>
        <p:nvSpPr>
          <p:cNvPr id="1997930544" name="Text 25"/>
          <p:cNvSpPr/>
          <p:nvPr/>
        </p:nvSpPr>
        <p:spPr bwMode="auto">
          <a:xfrm>
            <a:off x="3467100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</a:t>
            </a:r>
            <a:endParaRPr lang="en-US" sz="1200"/>
          </a:p>
        </p:txBody>
      </p:sp>
      <p:sp>
        <p:nvSpPr>
          <p:cNvPr id="1882495708" name="Shape 26"/>
          <p:cNvSpPr/>
          <p:nvPr/>
        </p:nvSpPr>
        <p:spPr bwMode="auto">
          <a:xfrm>
            <a:off x="44069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9959537" name="Text 27"/>
          <p:cNvSpPr/>
          <p:nvPr/>
        </p:nvSpPr>
        <p:spPr bwMode="auto">
          <a:xfrm>
            <a:off x="4793589" y="2524655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8</a:t>
            </a:r>
            <a:endParaRPr lang="en-US" sz="1400"/>
          </a:p>
        </p:txBody>
      </p:sp>
      <p:sp>
        <p:nvSpPr>
          <p:cNvPr id="1063052890" name="Shape 28"/>
          <p:cNvSpPr/>
          <p:nvPr/>
        </p:nvSpPr>
        <p:spPr bwMode="auto">
          <a:xfrm>
            <a:off x="44132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8771934" name="Text 29"/>
          <p:cNvSpPr/>
          <p:nvPr/>
        </p:nvSpPr>
        <p:spPr bwMode="auto">
          <a:xfrm>
            <a:off x="4800071" y="2986949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9</a:t>
            </a:r>
            <a:endParaRPr lang="en-US" sz="1200"/>
          </a:p>
        </p:txBody>
      </p:sp>
      <p:sp>
        <p:nvSpPr>
          <p:cNvPr id="957317869" name="Text 30"/>
          <p:cNvSpPr/>
          <p:nvPr/>
        </p:nvSpPr>
        <p:spPr bwMode="auto">
          <a:xfrm>
            <a:off x="4381500" y="3334941"/>
            <a:ext cx="9144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200"/>
          </a:p>
        </p:txBody>
      </p:sp>
      <p:sp>
        <p:nvSpPr>
          <p:cNvPr id="1716953207" name="Shape 31"/>
          <p:cNvSpPr/>
          <p:nvPr/>
        </p:nvSpPr>
        <p:spPr bwMode="auto">
          <a:xfrm>
            <a:off x="5321300" y="2445941"/>
            <a:ext cx="863599" cy="406400"/>
          </a:xfrm>
          <a:prstGeom prst="roundRect">
            <a:avLst>
              <a:gd name="adj" fmla="val 15625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6827515" name="Text 32"/>
          <p:cNvSpPr/>
          <p:nvPr/>
        </p:nvSpPr>
        <p:spPr bwMode="auto">
          <a:xfrm>
            <a:off x="5662943" y="2524655"/>
            <a:ext cx="23104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10</a:t>
            </a:r>
            <a:endParaRPr lang="en-US" sz="1400"/>
          </a:p>
        </p:txBody>
      </p:sp>
      <p:sp>
        <p:nvSpPr>
          <p:cNvPr id="824182101" name="Shape 33"/>
          <p:cNvSpPr/>
          <p:nvPr/>
        </p:nvSpPr>
        <p:spPr bwMode="auto">
          <a:xfrm>
            <a:off x="5327650" y="2896791"/>
            <a:ext cx="850900" cy="393700"/>
          </a:xfrm>
          <a:prstGeom prst="roundRect">
            <a:avLst>
              <a:gd name="adj" fmla="val 14516"/>
            </a:avLst>
          </a:prstGeom>
          <a:noFill/>
          <a:ln w="12700">
            <a:solidFill>
              <a:srgbClr val="B8C2CF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4848907" name="Text 34"/>
          <p:cNvSpPr/>
          <p:nvPr/>
        </p:nvSpPr>
        <p:spPr bwMode="auto">
          <a:xfrm>
            <a:off x="5675842" y="2986949"/>
            <a:ext cx="2053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11</a:t>
            </a:r>
            <a:endParaRPr lang="en-US" sz="1200"/>
          </a:p>
        </p:txBody>
      </p:sp>
      <p:sp>
        <p:nvSpPr>
          <p:cNvPr id="1667861662" name="Text 35"/>
          <p:cNvSpPr/>
          <p:nvPr/>
        </p:nvSpPr>
        <p:spPr bwMode="auto">
          <a:xfrm>
            <a:off x="5295899" y="3334941"/>
            <a:ext cx="914400" cy="2082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200"/>
          </a:p>
        </p:txBody>
      </p:sp>
      <p:sp>
        <p:nvSpPr>
          <p:cNvPr id="809506196" name="Shape 36"/>
          <p:cNvSpPr/>
          <p:nvPr/>
        </p:nvSpPr>
        <p:spPr bwMode="auto">
          <a:xfrm>
            <a:off x="749300" y="3766741"/>
            <a:ext cx="5435600" cy="355600"/>
          </a:xfrm>
          <a:prstGeom prst="roundRect">
            <a:avLst>
              <a:gd name="adj" fmla="val 17857"/>
            </a:avLst>
          </a:prstGeom>
          <a:solidFill>
            <a:srgbClr val="E4E8E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30853033" name="Text 37"/>
          <p:cNvSpPr/>
          <p:nvPr/>
        </p:nvSpPr>
        <p:spPr bwMode="auto">
          <a:xfrm>
            <a:off x="2223360" y="3837849"/>
            <a:ext cx="25621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E-core 12–19 e LP E-core 20–21: sistema (o il nodo, slide 12)</a:t>
            </a:r>
          </a:p>
        </p:txBody>
      </p:sp>
      <p:sp>
        <p:nvSpPr>
          <p:cNvPr id="1935843366" name="Text 38"/>
          <p:cNvSpPr/>
          <p:nvPr/>
        </p:nvSpPr>
        <p:spPr bwMode="auto">
          <a:xfrm>
            <a:off x="749300" y="4185841"/>
            <a:ext cx="55986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 tratteggio: il thread gemello di ogni core, lasciato a riposo.</a:t>
            </a:r>
            <a:endParaRPr lang="en-US" sz="1200"/>
          </a:p>
        </p:txBody>
      </p:sp>
      <p:sp>
        <p:nvSpPr>
          <p:cNvPr id="591224627" name="Shape 39"/>
          <p:cNvSpPr/>
          <p:nvPr/>
        </p:nvSpPr>
        <p:spPr bwMode="auto">
          <a:xfrm>
            <a:off x="6565900" y="156210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5946678" name="Text 40"/>
          <p:cNvSpPr/>
          <p:nvPr/>
        </p:nvSpPr>
        <p:spPr bwMode="auto">
          <a:xfrm>
            <a:off x="6676430" y="1598944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300"/>
          </a:p>
        </p:txBody>
      </p:sp>
      <p:sp>
        <p:nvSpPr>
          <p:cNvPr id="2075745009" name="Text 41"/>
          <p:cNvSpPr/>
          <p:nvPr/>
        </p:nvSpPr>
        <p:spPr bwMode="auto">
          <a:xfrm>
            <a:off x="6985000" y="1562100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Frequenza fissa e misurata</a:t>
            </a:r>
            <a:endParaRPr lang="en-US" sz="1500"/>
          </a:p>
        </p:txBody>
      </p:sp>
      <p:sp>
        <p:nvSpPr>
          <p:cNvPr id="1690642339" name="Text 42"/>
          <p:cNvSpPr/>
          <p:nvPr/>
        </p:nvSpPr>
        <p:spPr bwMode="auto">
          <a:xfrm>
            <a:off x="6985000" y="1854200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3,5 GHz richiesti, 3 472–3 507 MHz misurati dai contatori del processore durante ogni misura.</a:t>
            </a:r>
          </a:p>
        </p:txBody>
      </p:sp>
      <p:sp>
        <p:nvSpPr>
          <p:cNvPr id="2035035443" name="Shape 43"/>
          <p:cNvSpPr/>
          <p:nvPr/>
        </p:nvSpPr>
        <p:spPr bwMode="auto">
          <a:xfrm>
            <a:off x="6565900" y="237225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6149070" name="Text 44"/>
          <p:cNvSpPr/>
          <p:nvPr/>
        </p:nvSpPr>
        <p:spPr bwMode="auto">
          <a:xfrm>
            <a:off x="6676430" y="2409099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300"/>
          </a:p>
        </p:txBody>
      </p:sp>
      <p:sp>
        <p:nvSpPr>
          <p:cNvPr id="31533274" name="Text 45"/>
          <p:cNvSpPr/>
          <p:nvPr/>
        </p:nvSpPr>
        <p:spPr bwMode="auto">
          <a:xfrm>
            <a:off x="6985000" y="2372255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Niente sonno profondo</a:t>
            </a:r>
            <a:endParaRPr lang="en-US" sz="1500"/>
          </a:p>
        </p:txBody>
      </p:sp>
      <p:sp>
        <p:nvSpPr>
          <p:cNvPr id="581001926" name="Text 46"/>
          <p:cNvSpPr/>
          <p:nvPr/>
        </p:nvSpPr>
        <p:spPr bwMode="auto">
          <a:xfrm>
            <a:off x="6985000" y="2664355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core che dorme impiega 310 µs a svegliarsi, più dei 170 µs che la coda concede.</a:t>
            </a:r>
            <a:endParaRPr lang="en-US" sz="1300"/>
          </a:p>
        </p:txBody>
      </p:sp>
      <p:sp>
        <p:nvSpPr>
          <p:cNvPr id="1169629068" name="Shape 47"/>
          <p:cNvSpPr/>
          <p:nvPr/>
        </p:nvSpPr>
        <p:spPr bwMode="auto">
          <a:xfrm>
            <a:off x="6565900" y="318241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7318761" name="Text 48"/>
          <p:cNvSpPr/>
          <p:nvPr/>
        </p:nvSpPr>
        <p:spPr bwMode="auto">
          <a:xfrm>
            <a:off x="6676430" y="3219252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300"/>
          </a:p>
        </p:txBody>
      </p:sp>
      <p:sp>
        <p:nvSpPr>
          <p:cNvPr id="1301618743" name="Text 49"/>
          <p:cNvSpPr/>
          <p:nvPr/>
        </p:nvSpPr>
        <p:spPr bwMode="auto">
          <a:xfrm>
            <a:off x="6985000" y="3182410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resto del sistema altrove</a:t>
            </a:r>
            <a:endParaRPr lang="en-US" sz="1500"/>
          </a:p>
        </p:txBody>
      </p:sp>
      <p:sp>
        <p:nvSpPr>
          <p:cNvPr id="1617509775" name="Text 50"/>
          <p:cNvSpPr/>
          <p:nvPr/>
        </p:nvSpPr>
        <p:spPr bwMode="auto">
          <a:xfrm>
            <a:off x="6985000" y="3474510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Desktop, servizi, interruzioni e thread del kernel stanno sulle altre CPU.</a:t>
            </a:r>
            <a:endParaRPr lang="en-US" sz="1300"/>
          </a:p>
        </p:txBody>
      </p:sp>
      <p:sp>
        <p:nvSpPr>
          <p:cNvPr id="2108056701" name="Shape 51"/>
          <p:cNvSpPr/>
          <p:nvPr/>
        </p:nvSpPr>
        <p:spPr bwMode="auto">
          <a:xfrm>
            <a:off x="6565900" y="39925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69879022" name="Text 52"/>
          <p:cNvSpPr/>
          <p:nvPr/>
        </p:nvSpPr>
        <p:spPr bwMode="auto">
          <a:xfrm>
            <a:off x="6676430" y="402940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300"/>
          </a:p>
        </p:txBody>
      </p:sp>
      <p:sp>
        <p:nvSpPr>
          <p:cNvPr id="517801180" name="Text 53"/>
          <p:cNvSpPr/>
          <p:nvPr/>
        </p:nvSpPr>
        <p:spPr bwMode="auto">
          <a:xfrm>
            <a:off x="6985000" y="3992563"/>
            <a:ext cx="48007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Un monitor sempre acceso</a:t>
            </a:r>
            <a:endParaRPr lang="en-US" sz="1500"/>
          </a:p>
        </p:txBody>
      </p:sp>
      <p:sp>
        <p:nvSpPr>
          <p:cNvPr id="315556873" name="Text 54"/>
          <p:cNvSpPr/>
          <p:nvPr/>
        </p:nvSpPr>
        <p:spPr bwMode="auto">
          <a:xfrm>
            <a:off x="6985000" y="4284663"/>
            <a:ext cx="480072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Temperatura, throttling e frequenza vera: una finestra fuori condizione si conta, non si scarta.</a:t>
            </a:r>
            <a:endParaRPr lang="en-US" sz="1300"/>
          </a:p>
        </p:txBody>
      </p:sp>
      <p:sp>
        <p:nvSpPr>
          <p:cNvPr id="545695317" name="Shape 55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53007901" name="Shape 56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241529" name="Text 57"/>
          <p:cNvSpPr/>
          <p:nvPr/>
        </p:nvSpPr>
        <p:spPr bwMode="auto">
          <a:xfrm>
            <a:off x="819150" y="5890884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318542729" name="Text 58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core del nodo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dorme, non cambia frequenza e nessuno lo interrompe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si misura il programma, non la macchina.</a:t>
            </a:r>
            <a:endParaRPr lang="en-US" sz="1500"/>
          </a:p>
        </p:txBody>
      </p:sp>
      <p:sp>
        <p:nvSpPr>
          <p:cNvPr id="465296751" name="Text 60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367219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3760309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2 · LA MACCHINA · RIPETIBILITÀ</a:t>
            </a:r>
          </a:p>
        </p:txBody>
      </p:sp>
      <p:sp>
        <p:nvSpPr>
          <p:cNvPr id="88974799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Le misure si ripetono entro pochi punti</a:t>
            </a:r>
          </a:p>
        </p:txBody>
      </p:sp>
      <p:sp>
        <p:nvSpPr>
          <p:cNvPr id="1709741813" name="Shape 3"/>
          <p:cNvSpPr/>
          <p:nvPr/>
        </p:nvSpPr>
        <p:spPr bwMode="auto">
          <a:xfrm>
            <a:off x="546100" y="1562100"/>
            <a:ext cx="2355850" cy="292100"/>
          </a:xfrm>
          <a:prstGeom prst="roundRect">
            <a:avLst>
              <a:gd name="adj" fmla="val 26087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846286" name="Text 4"/>
          <p:cNvSpPr/>
          <p:nvPr/>
        </p:nvSpPr>
        <p:spPr bwMode="auto">
          <a:xfrm>
            <a:off x="1109530" y="1592594"/>
            <a:ext cx="1279723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ns di CPU per pacchetto</a:t>
            </a:r>
          </a:p>
        </p:txBody>
      </p:sp>
      <p:sp>
        <p:nvSpPr>
          <p:cNvPr id="669109554" name="Shape 5"/>
          <p:cNvSpPr/>
          <p:nvPr/>
        </p:nvSpPr>
        <p:spPr bwMode="auto">
          <a:xfrm>
            <a:off x="2940050" y="1562100"/>
            <a:ext cx="2355850" cy="292100"/>
          </a:xfrm>
          <a:prstGeom prst="roundRect">
            <a:avLst>
              <a:gd name="adj" fmla="val 26087"/>
            </a:avLst>
          </a:pr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6071177" name="Text 6"/>
          <p:cNvSpPr/>
          <p:nvPr/>
        </p:nvSpPr>
        <p:spPr bwMode="auto">
          <a:xfrm>
            <a:off x="3780234" y="1592594"/>
            <a:ext cx="726215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stessa sessione</a:t>
            </a:r>
          </a:p>
        </p:txBody>
      </p:sp>
      <p:graphicFrame>
        <p:nvGraphicFramePr>
          <p:cNvPr id="577513570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58800" y="1943100"/>
          <a:ext cx="6400800" cy="179652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631576"/>
                <a:gridCol w="1192306"/>
                <a:gridCol w="1192306"/>
                <a:gridCol w="1192306"/>
                <a:gridCol w="1192306"/>
              </a:tblGrid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Pipeline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64 B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classe 0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512 B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  <a:latin typeface="Carlito"/>
                          <a:ea typeface="Carlito"/>
                          <a:cs typeface="Carlito"/>
                        </a:rPr>
                        <a:t>1514 B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1D324E"/>
                      </a:solidFill>
                    </a:lnL>
                    <a:lnR w="12700" algn="ctr">
                      <a:solidFill>
                        <a:srgbClr val="1D324E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1D324E"/>
                      </a:solidFill>
                    </a:lnB>
                    <a:solidFill>
                      <a:srgbClr val="1F3A5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P1 statica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latin typeface="Carlito"/>
                          <a:ea typeface="Carlito"/>
                          <a:cs typeface="Carlito"/>
                        </a:rPr>
                        <a:t>117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latin typeface="Carlito"/>
                          <a:ea typeface="Carlito"/>
                          <a:cs typeface="Carlito"/>
                        </a:rPr>
                        <a:t>118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latin typeface="Carlito"/>
                          <a:ea typeface="Carlito"/>
                          <a:cs typeface="Carlito"/>
                        </a:rPr>
                        <a:t>120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latin typeface="Carlito"/>
                          <a:ea typeface="Carlito"/>
                          <a:cs typeface="Carlito"/>
                        </a:rPr>
                        <a:t>119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1D324E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P1.5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latin typeface="Carlito"/>
                          <a:ea typeface="Carlito"/>
                          <a:cs typeface="Carlito"/>
                        </a:rPr>
                        <a:t>124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latin typeface="Carlito"/>
                          <a:ea typeface="Carlito"/>
                          <a:cs typeface="Carlito"/>
                        </a:rPr>
                        <a:t>124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latin typeface="Carlito"/>
                          <a:ea typeface="Carlito"/>
                          <a:cs typeface="Carlito"/>
                        </a:rPr>
                        <a:t>126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latin typeface="Carlito"/>
                          <a:ea typeface="Carlito"/>
                          <a:cs typeface="Carlito"/>
                        </a:rPr>
                        <a:t>127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P2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latin typeface="Carlito"/>
                          <a:ea typeface="Carlito"/>
                          <a:cs typeface="Carlito"/>
                        </a:rPr>
                        <a:t>290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latin typeface="Carlito"/>
                          <a:ea typeface="Carlito"/>
                          <a:cs typeface="Carlito"/>
                        </a:rPr>
                        <a:t>274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latin typeface="Carlito"/>
                          <a:ea typeface="Carlito"/>
                          <a:cs typeface="Carlito"/>
                        </a:rPr>
                        <a:t>284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latin typeface="Carlito"/>
                          <a:ea typeface="Carlito"/>
                          <a:cs typeface="Carlito"/>
                        </a:rPr>
                        <a:t>287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BCBCB"/>
                      </a:solidFill>
                    </a:lnR>
                    <a:lnT w="12700" algn="ctr">
                      <a:solidFill>
                        <a:srgbClr val="C2C4C6"/>
                      </a:solidFill>
                    </a:lnT>
                    <a:lnB w="12700" algn="ctr">
                      <a:solidFill>
                        <a:srgbClr val="CBCBC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304">
                <a:tc>
                  <a:txBody>
                    <a:bodyPr/>
                    <a:p>
                      <a:pPr marL="0" indent="0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solidFill>
                            <a:srgbClr val="222B36"/>
                          </a:solidFill>
                          <a:latin typeface="Carlito"/>
                          <a:ea typeface="Carlito"/>
                          <a:cs typeface="Carlito"/>
                        </a:rPr>
                        <a:t>P3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BCBCB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latin typeface="Carlito"/>
                          <a:ea typeface="Carlito"/>
                          <a:cs typeface="Carlito"/>
                        </a:rPr>
                        <a:t>425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latin typeface="Carlito"/>
                          <a:ea typeface="Carlito"/>
                          <a:cs typeface="Carlito"/>
                        </a:rPr>
                        <a:t>416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latin typeface="Carlito"/>
                          <a:ea typeface="Carlito"/>
                          <a:cs typeface="Carlito"/>
                        </a:rPr>
                        <a:t>419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ts val="1820"/>
                        </a:lnSpc>
                        <a:buNone/>
                        <a:defRPr/>
                      </a:pPr>
                      <a:r>
                        <a:rPr lang="en-US" sz="1300">
                          <a:latin typeface="Carlito"/>
                          <a:ea typeface="Carlito"/>
                          <a:cs typeface="Carlito"/>
                        </a:rPr>
                        <a:t>418</a:t>
                      </a:r>
                    </a:p>
                  </a:txBody>
                  <a:tcPr marL="57785" marR="57785" marT="57785" marB="57785">
                    <a:lnL w="12700" algn="ctr">
                      <a:solidFill>
                        <a:srgbClr val="C2C4C6"/>
                      </a:solidFill>
                    </a:lnL>
                    <a:lnR w="12700" algn="ctr">
                      <a:solidFill>
                        <a:srgbClr val="C2C4C6"/>
                      </a:solidFill>
                    </a:lnR>
                    <a:lnT w="12700" algn="ctr">
                      <a:solidFill>
                        <a:srgbClr val="CBCBCB"/>
                      </a:solidFill>
                    </a:lnT>
                    <a:lnB w="12700" algn="ctr">
                      <a:solidFill>
                        <a:srgbClr val="C2C4C6"/>
                      </a:solidFill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12499594" name="Text 7"/>
          <p:cNvSpPr/>
          <p:nvPr/>
        </p:nvSpPr>
        <p:spPr bwMode="auto">
          <a:xfrm>
            <a:off x="546100" y="3815822"/>
            <a:ext cx="6605905" cy="421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Quattro misure diverse dello stesso nodo: pacchetti da 64 byte, una classe scelta apposta, due taglie. La porta d'uscita e la taglia non contano.</a:t>
            </a:r>
          </a:p>
        </p:txBody>
      </p:sp>
      <p:sp>
        <p:nvSpPr>
          <p:cNvPr id="912041783" name="Shape 8"/>
          <p:cNvSpPr/>
          <p:nvPr/>
        </p:nvSpPr>
        <p:spPr bwMode="auto">
          <a:xfrm>
            <a:off x="7137400" y="1562100"/>
            <a:ext cx="4508500" cy="918104"/>
          </a:xfrm>
          <a:prstGeom prst="roundRect">
            <a:avLst>
              <a:gd name="adj" fmla="val 13833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87348926" name="Text 9"/>
          <p:cNvSpPr/>
          <p:nvPr/>
        </p:nvSpPr>
        <p:spPr bwMode="auto">
          <a:xfrm>
            <a:off x="7315200" y="1701800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≤ 2%</a:t>
            </a:r>
          </a:p>
        </p:txBody>
      </p:sp>
      <p:sp>
        <p:nvSpPr>
          <p:cNvPr id="1012064834" name="Text 10"/>
          <p:cNvSpPr/>
          <p:nvPr/>
        </p:nvSpPr>
        <p:spPr bwMode="auto">
          <a:xfrm>
            <a:off x="7315200" y="2113229"/>
            <a:ext cx="4277487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scarto del costo di P1 e P1.5 fra le quattro misure</a:t>
            </a:r>
          </a:p>
        </p:txBody>
      </p:sp>
      <p:sp>
        <p:nvSpPr>
          <p:cNvPr id="2031283049" name="Shape 11"/>
          <p:cNvSpPr/>
          <p:nvPr/>
        </p:nvSpPr>
        <p:spPr bwMode="auto">
          <a:xfrm>
            <a:off x="7137400" y="2569105"/>
            <a:ext cx="4508500" cy="918104"/>
          </a:xfrm>
          <a:prstGeom prst="roundRect">
            <a:avLst>
              <a:gd name="adj" fmla="val 13833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9434226" name="Text 12"/>
          <p:cNvSpPr/>
          <p:nvPr/>
        </p:nvSpPr>
        <p:spPr bwMode="auto">
          <a:xfrm>
            <a:off x="7315200" y="2708805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0</a:t>
            </a:r>
          </a:p>
        </p:txBody>
      </p:sp>
      <p:sp>
        <p:nvSpPr>
          <p:cNvPr id="23424263" name="Text 13"/>
          <p:cNvSpPr/>
          <p:nvPr/>
        </p:nvSpPr>
        <p:spPr bwMode="auto">
          <a:xfrm>
            <a:off x="7315200" y="3120231"/>
            <a:ext cx="4277487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pacchetti respinti con il nodo sotto la sua capacità</a:t>
            </a:r>
          </a:p>
        </p:txBody>
      </p:sp>
      <p:sp>
        <p:nvSpPr>
          <p:cNvPr id="205062432" name="Shape 14"/>
          <p:cNvSpPr/>
          <p:nvPr/>
        </p:nvSpPr>
        <p:spPr bwMode="auto">
          <a:xfrm>
            <a:off x="7137400" y="3576110"/>
            <a:ext cx="4508500" cy="1132681"/>
          </a:xfrm>
          <a:prstGeom prst="roundRect">
            <a:avLst>
              <a:gd name="adj" fmla="val 1121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6514591" name="Text 15"/>
          <p:cNvSpPr/>
          <p:nvPr/>
        </p:nvSpPr>
        <p:spPr bwMode="auto">
          <a:xfrm>
            <a:off x="7315200" y="3715810"/>
            <a:ext cx="4277487" cy="398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40"/>
              </a:lnSpc>
              <a:buNone/>
              <a:defRPr/>
            </a:pPr>
            <a:r>
              <a:rPr lang="en-US" sz="28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≈ 0,1%</a:t>
            </a:r>
          </a:p>
        </p:txBody>
      </p:sp>
      <p:sp>
        <p:nvSpPr>
          <p:cNvPr id="940656906" name="Text 16"/>
          <p:cNvSpPr/>
          <p:nvPr/>
        </p:nvSpPr>
        <p:spPr bwMode="auto">
          <a:xfrm>
            <a:off x="7315200" y="4127240"/>
            <a:ext cx="427748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scarto dell'inoltro allo stesso punto in cinque giri; al massimo 6% vicino al ginocchio</a:t>
            </a:r>
          </a:p>
        </p:txBody>
      </p:sp>
      <p:sp>
        <p:nvSpPr>
          <p:cNvPr id="1678636330" name="Shape 17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13783479" name="Shape 18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4740786" name="Text 19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186830746" name="Text 20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core del nodo non dorme, non cambia frequenza e nessuno lo interrompe: differenze piccole, come P1 contro P1.5 o scartare contro inoltrare, si misurano.</a:t>
            </a:r>
          </a:p>
        </p:txBody>
      </p:sp>
      <p:sp>
        <p:nvSpPr>
          <p:cNvPr id="293805069" name="Text 2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Campagna del 6 ottobre · xdp_gen · nodo su CPU 6 a 3,5 GHz · tempo di CPU per pacchetto, mediana di 3 giri</a:t>
            </a:r>
          </a:p>
        </p:txBody>
      </p:sp>
      <p:sp>
        <p:nvSpPr>
          <p:cNvPr id="596416759" name="Text 2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361526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6029865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3 · IL GENERATORE · XDP_GEN</a:t>
            </a:r>
            <a:endParaRPr lang="en-US" sz="1200"/>
          </a:p>
        </p:txBody>
      </p:sp>
      <p:sp>
        <p:nvSpPr>
          <p:cNvPr id="1117737650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xdp_gen consegna pacchetti già nel formato di XDP</a:t>
            </a:r>
            <a:endParaRPr lang="en-US" sz="3000"/>
          </a:p>
        </p:txBody>
      </p:sp>
      <p:sp>
        <p:nvSpPr>
          <p:cNvPr id="2060501885" name="Shape 3"/>
          <p:cNvSpPr/>
          <p:nvPr/>
        </p:nvSpPr>
        <p:spPr bwMode="auto">
          <a:xfrm>
            <a:off x="5461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59162961" name="Shape 4"/>
          <p:cNvSpPr/>
          <p:nvPr/>
        </p:nvSpPr>
        <p:spPr bwMode="auto">
          <a:xfrm>
            <a:off x="7239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1312236" name="Text 5"/>
          <p:cNvSpPr/>
          <p:nvPr/>
        </p:nvSpPr>
        <p:spPr bwMode="auto">
          <a:xfrm>
            <a:off x="8565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400"/>
          </a:p>
        </p:txBody>
      </p:sp>
      <p:sp>
        <p:nvSpPr>
          <p:cNvPr id="1009118715" name="Text 6"/>
          <p:cNvSpPr/>
          <p:nvPr/>
        </p:nvSpPr>
        <p:spPr bwMode="auto">
          <a:xfrm>
            <a:off x="1168400" y="1750089"/>
            <a:ext cx="186377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xdp_gen crea il frame</a:t>
            </a:r>
            <a:endParaRPr lang="en-US" sz="1600"/>
          </a:p>
        </p:txBody>
      </p:sp>
      <p:sp>
        <p:nvSpPr>
          <p:cNvPr id="1455199403" name="Shape 7"/>
          <p:cNvSpPr/>
          <p:nvPr/>
        </p:nvSpPr>
        <p:spPr bwMode="auto">
          <a:xfrm>
            <a:off x="723900" y="2146300"/>
            <a:ext cx="1625600" cy="355600"/>
          </a:xfrm>
          <a:custGeom>
            <a:avLst/>
            <a:gdLst/>
            <a:ahLst/>
            <a:cxnLst/>
            <a:rect l="l" t="t" r="r" b="b"/>
            <a:pathLst>
              <a:path w="1625600" h="355600" fill="norm" stroke="1" extrusionOk="0">
                <a:moveTo>
                  <a:pt x="50800" y="0"/>
                </a:moveTo>
                <a:lnTo>
                  <a:pt x="1625600" y="0"/>
                </a:lnTo>
                <a:lnTo>
                  <a:pt x="16256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32695411" name="Text 8"/>
          <p:cNvSpPr/>
          <p:nvPr/>
        </p:nvSpPr>
        <p:spPr bwMode="auto">
          <a:xfrm>
            <a:off x="1360883" y="2217409"/>
            <a:ext cx="402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256 B</a:t>
            </a:r>
            <a:endParaRPr lang="en-US" sz="1200"/>
          </a:p>
        </p:txBody>
      </p:sp>
      <p:sp>
        <p:nvSpPr>
          <p:cNvPr id="265969" name="Shape 9"/>
          <p:cNvSpPr/>
          <p:nvPr/>
        </p:nvSpPr>
        <p:spPr bwMode="auto">
          <a:xfrm>
            <a:off x="23495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62739379" name="Text 10"/>
          <p:cNvSpPr/>
          <p:nvPr/>
        </p:nvSpPr>
        <p:spPr bwMode="auto">
          <a:xfrm>
            <a:off x="26781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822319174" name="Shape 11"/>
          <p:cNvSpPr/>
          <p:nvPr/>
        </p:nvSpPr>
        <p:spPr bwMode="auto">
          <a:xfrm>
            <a:off x="723900" y="2578100"/>
            <a:ext cx="1732293" cy="289520"/>
          </a:xfrm>
          <a:prstGeom prst="roundRect">
            <a:avLst>
              <a:gd name="adj" fmla="val 21933"/>
            </a:avLst>
          </a:prstGeom>
          <a:solidFill>
            <a:srgbClr val="1E273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86817484" name="Text 12"/>
          <p:cNvSpPr/>
          <p:nvPr/>
        </p:nvSpPr>
        <p:spPr bwMode="auto">
          <a:xfrm>
            <a:off x="812800" y="2616200"/>
            <a:ext cx="16052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E8ECF1"/>
                </a:solidFill>
                <a:latin typeface="JetBrains Mono"/>
                <a:ea typeface="JetBrains Mono"/>
                <a:cs typeface="JetBrains Mono"/>
              </a:rPr>
              <a:t>BPF_PROG_TEST_RUN</a:t>
            </a:r>
            <a:endParaRPr lang="en-US" sz="1200"/>
          </a:p>
        </p:txBody>
      </p:sp>
      <p:sp>
        <p:nvSpPr>
          <p:cNvPr id="1445438294" name="Text 13"/>
          <p:cNvSpPr/>
          <p:nvPr/>
        </p:nvSpPr>
        <p:spPr bwMode="auto">
          <a:xfrm>
            <a:off x="2532393" y="2616200"/>
            <a:ext cx="7250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live frames</a:t>
            </a:r>
            <a:endParaRPr lang="en-US" sz="1200"/>
          </a:p>
        </p:txBody>
      </p:sp>
      <p:sp>
        <p:nvSpPr>
          <p:cNvPr id="712569637" name="Text 14"/>
          <p:cNvSpPr/>
          <p:nvPr/>
        </p:nvSpPr>
        <p:spPr bwMode="auto">
          <a:xfrm>
            <a:off x="723900" y="29438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frame grezzo, già con 256 byte liberi: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niente skb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pic>
        <p:nvPicPr>
          <p:cNvPr id="957839717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051300" y="2477691"/>
            <a:ext cx="254000" cy="177800"/>
          </a:xfrm>
          <a:prstGeom prst="rect">
            <a:avLst/>
          </a:prstGeom>
        </p:spPr>
      </p:pic>
      <p:sp>
        <p:nvSpPr>
          <p:cNvPr id="1296383969" name="Shape 15"/>
          <p:cNvSpPr/>
          <p:nvPr/>
        </p:nvSpPr>
        <p:spPr bwMode="auto">
          <a:xfrm>
            <a:off x="43815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10443295" name="Shape 16"/>
          <p:cNvSpPr/>
          <p:nvPr/>
        </p:nvSpPr>
        <p:spPr bwMode="auto">
          <a:xfrm>
            <a:off x="45593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5218749" name="Text 17"/>
          <p:cNvSpPr/>
          <p:nvPr/>
        </p:nvSpPr>
        <p:spPr bwMode="auto">
          <a:xfrm>
            <a:off x="46919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400"/>
          </a:p>
        </p:txBody>
      </p:sp>
      <p:sp>
        <p:nvSpPr>
          <p:cNvPr id="1455884360" name="Text 18"/>
          <p:cNvSpPr/>
          <p:nvPr/>
        </p:nvSpPr>
        <p:spPr bwMode="auto">
          <a:xfrm>
            <a:off x="5003800" y="1750089"/>
            <a:ext cx="2012430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cavo virtuale lo passa</a:t>
            </a:r>
            <a:endParaRPr lang="en-US" sz="1600"/>
          </a:p>
        </p:txBody>
      </p:sp>
      <p:sp>
        <p:nvSpPr>
          <p:cNvPr id="38509721" name="Shape 19"/>
          <p:cNvSpPr/>
          <p:nvPr/>
        </p:nvSpPr>
        <p:spPr bwMode="auto">
          <a:xfrm>
            <a:off x="4559300" y="2146300"/>
            <a:ext cx="1625600" cy="355600"/>
          </a:xfrm>
          <a:custGeom>
            <a:avLst/>
            <a:gdLst/>
            <a:ahLst/>
            <a:cxnLst/>
            <a:rect l="l" t="t" r="r" b="b"/>
            <a:pathLst>
              <a:path w="1625600" h="355600" fill="norm" stroke="1" extrusionOk="0">
                <a:moveTo>
                  <a:pt x="50800" y="0"/>
                </a:moveTo>
                <a:lnTo>
                  <a:pt x="1625600" y="0"/>
                </a:lnTo>
                <a:lnTo>
                  <a:pt x="1625600" y="355600"/>
                </a:lnTo>
                <a:lnTo>
                  <a:pt x="50800" y="35560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4274757" name="Text 20"/>
          <p:cNvSpPr/>
          <p:nvPr/>
        </p:nvSpPr>
        <p:spPr bwMode="auto">
          <a:xfrm>
            <a:off x="5196284" y="2217409"/>
            <a:ext cx="402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256 B</a:t>
            </a:r>
            <a:endParaRPr lang="en-US" sz="1200"/>
          </a:p>
        </p:txBody>
      </p:sp>
      <p:sp>
        <p:nvSpPr>
          <p:cNvPr id="691664466" name="Shape 21"/>
          <p:cNvSpPr/>
          <p:nvPr/>
        </p:nvSpPr>
        <p:spPr bwMode="auto">
          <a:xfrm>
            <a:off x="6184900" y="2146300"/>
            <a:ext cx="1270000" cy="355600"/>
          </a:xfrm>
          <a:custGeom>
            <a:avLst/>
            <a:gdLst/>
            <a:ahLst/>
            <a:cxnLst/>
            <a:rect l="l" t="t" r="r" b="b"/>
            <a:pathLst>
              <a:path w="1270000" h="355600" fill="norm" stroke="1" extrusionOk="0">
                <a:moveTo>
                  <a:pt x="0" y="0"/>
                </a:moveTo>
                <a:lnTo>
                  <a:pt x="1219200" y="0"/>
                </a:lnTo>
                <a:arcTo wR="50800" hR="50800" stAng="16200000" swAng="5400000"/>
                <a:lnTo>
                  <a:pt x="1270000" y="304800"/>
                </a:lnTo>
                <a:arcTo wR="50800" hR="50800" stAng="0" swAng="5400000"/>
                <a:lnTo>
                  <a:pt x="0" y="355600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35724347" name="Text 22"/>
          <p:cNvSpPr/>
          <p:nvPr/>
        </p:nvSpPr>
        <p:spPr bwMode="auto">
          <a:xfrm>
            <a:off x="6513579" y="2217409"/>
            <a:ext cx="6633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pacchetto</a:t>
            </a:r>
            <a:endParaRPr lang="en-US" sz="1200"/>
          </a:p>
        </p:txBody>
      </p:sp>
      <p:sp>
        <p:nvSpPr>
          <p:cNvPr id="1163504650" name="Text 23"/>
          <p:cNvSpPr/>
          <p:nvPr/>
        </p:nvSpPr>
        <p:spPr bwMode="auto">
          <a:xfrm>
            <a:off x="45593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frame non cambia</a:t>
            </a:r>
            <a:endParaRPr lang="en-US" sz="1200"/>
          </a:p>
        </p:txBody>
      </p:sp>
      <p:sp>
        <p:nvSpPr>
          <p:cNvPr id="1228238246" name="Text 24"/>
          <p:cNvSpPr/>
          <p:nvPr/>
        </p:nvSpPr>
        <p:spPr bwMode="auto">
          <a:xfrm>
            <a:off x="45593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Nessuna copia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il frame arriva al nodo com'è.</a:t>
            </a:r>
            <a:endParaRPr lang="en-US" sz="1400"/>
          </a:p>
        </p:txBody>
      </p:sp>
      <p:pic>
        <p:nvPicPr>
          <p:cNvPr id="235906512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886700" y="2477691"/>
            <a:ext cx="254000" cy="177800"/>
          </a:xfrm>
          <a:prstGeom prst="rect">
            <a:avLst/>
          </a:prstGeom>
        </p:spPr>
      </p:pic>
      <p:sp>
        <p:nvSpPr>
          <p:cNvPr id="947860522" name="Shape 25"/>
          <p:cNvSpPr/>
          <p:nvPr/>
        </p:nvSpPr>
        <p:spPr bwMode="auto">
          <a:xfrm>
            <a:off x="8216900" y="1562100"/>
            <a:ext cx="3429000" cy="2009048"/>
          </a:xfrm>
          <a:prstGeom prst="roundRect">
            <a:avLst>
              <a:gd name="adj" fmla="val 632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6746541" name="Shape 26"/>
          <p:cNvSpPr/>
          <p:nvPr/>
        </p:nvSpPr>
        <p:spPr bwMode="auto">
          <a:xfrm>
            <a:off x="8394700" y="171450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63861884" name="Text 27"/>
          <p:cNvSpPr/>
          <p:nvPr/>
        </p:nvSpPr>
        <p:spPr bwMode="auto">
          <a:xfrm>
            <a:off x="8527389" y="1767818"/>
            <a:ext cx="140957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400"/>
          </a:p>
        </p:txBody>
      </p:sp>
      <p:sp>
        <p:nvSpPr>
          <p:cNvPr id="788901066" name="Text 28"/>
          <p:cNvSpPr/>
          <p:nvPr/>
        </p:nvSpPr>
        <p:spPr bwMode="auto">
          <a:xfrm>
            <a:off x="8839200" y="1750089"/>
            <a:ext cx="1527307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  <a:defRPr/>
            </a:pPr>
            <a:r>
              <a:rPr lang="en-US" sz="1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nodo lo elabora</a:t>
            </a:r>
            <a:endParaRPr lang="en-US" sz="1600"/>
          </a:p>
        </p:txBody>
      </p:sp>
      <p:sp>
        <p:nvSpPr>
          <p:cNvPr id="1469038266" name="Shape 29"/>
          <p:cNvSpPr/>
          <p:nvPr/>
        </p:nvSpPr>
        <p:spPr bwMode="auto">
          <a:xfrm>
            <a:off x="8404225" y="2155825"/>
            <a:ext cx="3054350" cy="336550"/>
          </a:xfrm>
          <a:prstGeom prst="roundRect">
            <a:avLst>
              <a:gd name="adj" fmla="val 19811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57398044" name="Text 30"/>
          <p:cNvSpPr/>
          <p:nvPr/>
        </p:nvSpPr>
        <p:spPr bwMode="auto">
          <a:xfrm>
            <a:off x="9451843" y="2208547"/>
            <a:ext cx="1009848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NODO · CPU 6</a:t>
            </a:r>
            <a:endParaRPr lang="en-US" sz="1300"/>
          </a:p>
        </p:txBody>
      </p:sp>
      <p:sp>
        <p:nvSpPr>
          <p:cNvPr id="1040673037" name="Text 31"/>
          <p:cNvSpPr/>
          <p:nvPr/>
        </p:nvSpPr>
        <p:spPr bwMode="auto">
          <a:xfrm>
            <a:off x="8394700" y="2578100"/>
            <a:ext cx="31656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senza il costo del generatore</a:t>
            </a:r>
            <a:endParaRPr lang="en-US" sz="1200"/>
          </a:p>
        </p:txBody>
      </p:sp>
      <p:sp>
        <p:nvSpPr>
          <p:cNvPr id="699686560" name="Text 32"/>
          <p:cNvSpPr/>
          <p:nvPr/>
        </p:nvSpPr>
        <p:spPr bwMode="auto">
          <a:xfrm>
            <a:off x="8394700" y="2867620"/>
            <a:ext cx="3165602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Come da una scheda di rete con </a:t>
            </a: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XDP nativo</a:t>
            </a: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400"/>
          </a:p>
        </p:txBody>
      </p:sp>
      <p:sp>
        <p:nvSpPr>
          <p:cNvPr id="1376690012" name="Shape 33"/>
          <p:cNvSpPr/>
          <p:nvPr/>
        </p:nvSpPr>
        <p:spPr bwMode="auto">
          <a:xfrm>
            <a:off x="546100" y="4157997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7118770" name="Text 34"/>
          <p:cNvSpPr/>
          <p:nvPr/>
        </p:nvSpPr>
        <p:spPr bwMode="auto">
          <a:xfrm>
            <a:off x="723900" y="43002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15–19</a:t>
            </a:r>
            <a:endParaRPr lang="en-US" sz="3600"/>
          </a:p>
        </p:txBody>
      </p:sp>
      <p:sp>
        <p:nvSpPr>
          <p:cNvPr id="953161277" name="Text 35"/>
          <p:cNvSpPr/>
          <p:nvPr/>
        </p:nvSpPr>
        <p:spPr bwMode="auto">
          <a:xfrm>
            <a:off x="3035300" y="42976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milioni di pacchetti al secondo offerti da un solo thread</a:t>
            </a:r>
            <a:endParaRPr lang="en-US" sz="1400"/>
          </a:p>
        </p:txBody>
      </p:sp>
      <p:sp>
        <p:nvSpPr>
          <p:cNvPr id="1880720026" name="Shape 36"/>
          <p:cNvSpPr/>
          <p:nvPr/>
        </p:nvSpPr>
        <p:spPr bwMode="auto">
          <a:xfrm>
            <a:off x="6172200" y="4157997"/>
            <a:ext cx="5473700" cy="741627"/>
          </a:xfrm>
          <a:prstGeom prst="roundRect">
            <a:avLst>
              <a:gd name="adj" fmla="val 17125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04498679" name="Text 37"/>
          <p:cNvSpPr/>
          <p:nvPr/>
        </p:nvSpPr>
        <p:spPr bwMode="auto">
          <a:xfrm>
            <a:off x="6350000" y="4300209"/>
            <a:ext cx="222377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  <a:defRPr/>
            </a:pPr>
            <a:r>
              <a:rPr lang="en-US" sz="36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 chiamata</a:t>
            </a:r>
          </a:p>
        </p:txBody>
      </p:sp>
      <p:sp>
        <p:nvSpPr>
          <p:cNvPr id="1657468180" name="Text 38"/>
          <p:cNvSpPr/>
          <p:nvPr/>
        </p:nvSpPr>
        <p:spPr bwMode="auto">
          <a:xfrm>
            <a:off x="8661400" y="4297697"/>
            <a:ext cx="2890901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per finestra di misura: il generatore non si ferma mai mentre si conta</a:t>
            </a:r>
          </a:p>
        </p:txBody>
      </p:sp>
      <p:sp>
        <p:nvSpPr>
          <p:cNvPr id="688378167" name="Shape 39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2604949" name="Shape 40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3670232" name="Text 41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06496708" name="Text 42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costo del generatore non passa dal nodo. Si usa un thread per coda: più thread nella stessa coda si intralciano e rallentano anche il nodo. pktgen, che copia ogni pacchetto, resta un'alternativa.</a:t>
            </a:r>
          </a:p>
        </p:txBody>
      </p:sp>
      <p:sp>
        <p:nvSpPr>
          <p:cNvPr id="1544636020" name="Text 43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Frame grezzi creati con BPF_PROG_TEST_RUN in modalità live frames · script ipa/test/xdp_gen.py</a:t>
            </a:r>
            <a:endParaRPr lang="en-US" sz="1200"/>
          </a:p>
        </p:txBody>
      </p:sp>
      <p:sp>
        <p:nvSpPr>
          <p:cNvPr id="1639922481" name="Text 44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4083399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9797831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· XDP_GEN</a:t>
            </a:r>
          </a:p>
        </p:txBody>
      </p:sp>
      <p:sp>
        <p:nvSpPr>
          <p:cNvPr id="53632714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xdp_gen le pipeline saturano e si ordinano</a:t>
            </a:r>
            <a:endParaRPr lang="en-US" sz="3000"/>
          </a:p>
        </p:txBody>
      </p:sp>
      <p:sp>
        <p:nvSpPr>
          <p:cNvPr id="893306286" name="Text 3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 giri, 64 byte · un thread di xdp_gen, uscita su un core suo · nodo al 100% · contatori hardware del core del nodo</a:t>
            </a:r>
          </a:p>
        </p:txBody>
      </p:sp>
      <p:sp>
        <p:nvSpPr>
          <p:cNvPr id="1910261858" name="Text 4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10</a:t>
            </a:r>
          </a:p>
        </p:txBody>
      </p:sp>
      <p:sp>
        <p:nvSpPr>
          <p:cNvPr id="861404636" name="Text 5"/>
          <p:cNvSpPr/>
          <p:nvPr/>
        </p:nvSpPr>
        <p:spPr bwMode="auto">
          <a:xfrm>
            <a:off x="2599816" y="1653579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 al secondo</a:t>
            </a:r>
            <a:endParaRPr lang="en-US" sz="1200"/>
          </a:p>
        </p:txBody>
      </p:sp>
      <p:sp>
        <p:nvSpPr>
          <p:cNvPr id="1109358125" name="Text 6"/>
          <p:cNvSpPr/>
          <p:nvPr/>
        </p:nvSpPr>
        <p:spPr bwMode="auto">
          <a:xfrm>
            <a:off x="6262497" y="1653579"/>
            <a:ext cx="1003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ns/pacchetto</a:t>
            </a:r>
            <a:endParaRPr lang="en-US" sz="1200"/>
          </a:p>
        </p:txBody>
      </p:sp>
      <p:sp>
        <p:nvSpPr>
          <p:cNvPr id="2072870536" name="Text 7"/>
          <p:cNvSpPr/>
          <p:nvPr/>
        </p:nvSpPr>
        <p:spPr bwMode="auto">
          <a:xfrm flipH="0" flipV="0">
            <a:off x="7551152" y="1650999"/>
            <a:ext cx="952499" cy="2387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sopra baseline</a:t>
            </a:r>
            <a:endParaRPr lang="en-US" sz="1200"/>
          </a:p>
        </p:txBody>
      </p:sp>
      <p:sp>
        <p:nvSpPr>
          <p:cNvPr id="445628566" name="Shape 8"/>
          <p:cNvSpPr/>
          <p:nvPr/>
        </p:nvSpPr>
        <p:spPr bwMode="auto">
          <a:xfrm>
            <a:off x="546100" y="20382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2535326" name="Text 9"/>
          <p:cNvSpPr/>
          <p:nvPr/>
        </p:nvSpPr>
        <p:spPr bwMode="auto">
          <a:xfrm>
            <a:off x="787400" y="1996418"/>
            <a:ext cx="51051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400"/>
          </a:p>
        </p:txBody>
      </p:sp>
      <p:sp>
        <p:nvSpPr>
          <p:cNvPr id="610077576" name="Shape 10"/>
          <p:cNvSpPr/>
          <p:nvPr/>
        </p:nvSpPr>
        <p:spPr bwMode="auto">
          <a:xfrm>
            <a:off x="2514600" y="1917700"/>
            <a:ext cx="3130004" cy="279400"/>
          </a:xfrm>
          <a:prstGeom prst="roundRect">
            <a:avLst>
              <a:gd name="adj" fmla="val 13636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8618175" name="Text 11"/>
          <p:cNvSpPr/>
          <p:nvPr/>
        </p:nvSpPr>
        <p:spPr bwMode="auto">
          <a:xfrm>
            <a:off x="5708104" y="19367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19,47</a:t>
            </a:r>
          </a:p>
        </p:txBody>
      </p:sp>
      <p:sp>
        <p:nvSpPr>
          <p:cNvPr id="1413649438" name="Text 12"/>
          <p:cNvSpPr/>
          <p:nvPr/>
        </p:nvSpPr>
        <p:spPr bwMode="auto">
          <a:xfrm>
            <a:off x="6146800" y="19964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≈ 41 ns</a:t>
            </a:r>
          </a:p>
        </p:txBody>
      </p:sp>
      <p:sp>
        <p:nvSpPr>
          <p:cNvPr id="90523107" name="Text 13"/>
          <p:cNvSpPr/>
          <p:nvPr/>
        </p:nvSpPr>
        <p:spPr bwMode="auto">
          <a:xfrm>
            <a:off x="7226300" y="19964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1112953265" name="Shape 14"/>
          <p:cNvSpPr/>
          <p:nvPr/>
        </p:nvSpPr>
        <p:spPr bwMode="auto">
          <a:xfrm>
            <a:off x="546100" y="24954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23666099" name="Text 15"/>
          <p:cNvSpPr/>
          <p:nvPr/>
        </p:nvSpPr>
        <p:spPr bwMode="auto">
          <a:xfrm>
            <a:off x="787400" y="2453618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560298444" name="Shape 16"/>
          <p:cNvSpPr/>
          <p:nvPr/>
        </p:nvSpPr>
        <p:spPr bwMode="auto">
          <a:xfrm>
            <a:off x="2514600" y="2374900"/>
            <a:ext cx="2454810" cy="279400"/>
          </a:xfrm>
          <a:prstGeom prst="roundRect">
            <a:avLst>
              <a:gd name="adj" fmla="val 13636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72694460" name="Text 17"/>
          <p:cNvSpPr/>
          <p:nvPr/>
        </p:nvSpPr>
        <p:spPr bwMode="auto">
          <a:xfrm>
            <a:off x="5032910" y="23939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15,27</a:t>
            </a:r>
          </a:p>
        </p:txBody>
      </p:sp>
      <p:sp>
        <p:nvSpPr>
          <p:cNvPr id="960834326" name="Text 18"/>
          <p:cNvSpPr/>
          <p:nvPr/>
        </p:nvSpPr>
        <p:spPr bwMode="auto">
          <a:xfrm>
            <a:off x="6146800" y="24536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66 ns</a:t>
            </a:r>
          </a:p>
        </p:txBody>
      </p:sp>
      <p:sp>
        <p:nvSpPr>
          <p:cNvPr id="1798542865" name="Text 19"/>
          <p:cNvSpPr/>
          <p:nvPr/>
        </p:nvSpPr>
        <p:spPr bwMode="auto">
          <a:xfrm>
            <a:off x="7226300" y="24536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1304371161" name="Shape 20"/>
          <p:cNvSpPr/>
          <p:nvPr/>
        </p:nvSpPr>
        <p:spPr bwMode="auto">
          <a:xfrm>
            <a:off x="546100" y="29526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5013140" name="Text 21"/>
          <p:cNvSpPr/>
          <p:nvPr/>
        </p:nvSpPr>
        <p:spPr bwMode="auto">
          <a:xfrm>
            <a:off x="787400" y="2910818"/>
            <a:ext cx="75598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 statica</a:t>
            </a:r>
            <a:endParaRPr lang="en-US" sz="1400"/>
          </a:p>
        </p:txBody>
      </p:sp>
      <p:sp>
        <p:nvSpPr>
          <p:cNvPr id="1482702441" name="Shape 22"/>
          <p:cNvSpPr/>
          <p:nvPr/>
        </p:nvSpPr>
        <p:spPr bwMode="auto">
          <a:xfrm>
            <a:off x="2514600" y="2832100"/>
            <a:ext cx="1376108" cy="279400"/>
          </a:xfrm>
          <a:prstGeom prst="roundRect">
            <a:avLst>
              <a:gd name="adj" fmla="val 13636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00272069" name="Text 23"/>
          <p:cNvSpPr/>
          <p:nvPr/>
        </p:nvSpPr>
        <p:spPr bwMode="auto">
          <a:xfrm>
            <a:off x="3954208" y="28511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8,56</a:t>
            </a:r>
          </a:p>
        </p:txBody>
      </p:sp>
      <p:sp>
        <p:nvSpPr>
          <p:cNvPr id="1020742350" name="Text 24"/>
          <p:cNvSpPr/>
          <p:nvPr/>
        </p:nvSpPr>
        <p:spPr bwMode="auto">
          <a:xfrm>
            <a:off x="6146800" y="29108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117 ns</a:t>
            </a:r>
          </a:p>
        </p:txBody>
      </p:sp>
      <p:sp>
        <p:nvSpPr>
          <p:cNvPr id="817162400" name="Text 25"/>
          <p:cNvSpPr/>
          <p:nvPr/>
        </p:nvSpPr>
        <p:spPr bwMode="auto">
          <a:xfrm>
            <a:off x="7226300" y="29108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+51 ns</a:t>
            </a:r>
          </a:p>
        </p:txBody>
      </p:sp>
      <p:sp>
        <p:nvSpPr>
          <p:cNvPr id="758748805" name="Shape 26"/>
          <p:cNvSpPr/>
          <p:nvPr/>
        </p:nvSpPr>
        <p:spPr bwMode="auto">
          <a:xfrm>
            <a:off x="546100" y="3409887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88970033" name="Text 27"/>
          <p:cNvSpPr/>
          <p:nvPr/>
        </p:nvSpPr>
        <p:spPr bwMode="auto">
          <a:xfrm>
            <a:off x="787400" y="3368018"/>
            <a:ext cx="120246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 hardcoded</a:t>
            </a:r>
            <a:endParaRPr lang="en-US" sz="1400"/>
          </a:p>
        </p:txBody>
      </p:sp>
      <p:sp>
        <p:nvSpPr>
          <p:cNvPr id="2071565254" name="Shape 28"/>
          <p:cNvSpPr/>
          <p:nvPr/>
        </p:nvSpPr>
        <p:spPr bwMode="auto">
          <a:xfrm>
            <a:off x="2514600" y="3289300"/>
            <a:ext cx="1292513" cy="279400"/>
          </a:xfrm>
          <a:prstGeom prst="roundRect">
            <a:avLst>
              <a:gd name="adj" fmla="val 13636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0906181" name="Text 29"/>
          <p:cNvSpPr/>
          <p:nvPr/>
        </p:nvSpPr>
        <p:spPr bwMode="auto">
          <a:xfrm>
            <a:off x="3870613" y="33083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8,04</a:t>
            </a:r>
          </a:p>
        </p:txBody>
      </p:sp>
      <p:sp>
        <p:nvSpPr>
          <p:cNvPr id="494621169" name="Text 30"/>
          <p:cNvSpPr/>
          <p:nvPr/>
        </p:nvSpPr>
        <p:spPr bwMode="auto">
          <a:xfrm>
            <a:off x="6146800" y="33680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124 ns</a:t>
            </a:r>
          </a:p>
        </p:txBody>
      </p:sp>
      <p:sp>
        <p:nvSpPr>
          <p:cNvPr id="1176981325" name="Text 31"/>
          <p:cNvSpPr/>
          <p:nvPr/>
        </p:nvSpPr>
        <p:spPr bwMode="auto">
          <a:xfrm>
            <a:off x="7226300" y="33680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+58 ns</a:t>
            </a:r>
          </a:p>
        </p:txBody>
      </p:sp>
      <p:sp>
        <p:nvSpPr>
          <p:cNvPr id="411254010" name="Shape 32"/>
          <p:cNvSpPr/>
          <p:nvPr/>
        </p:nvSpPr>
        <p:spPr bwMode="auto">
          <a:xfrm>
            <a:off x="546100" y="38670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6256395" name="Text 33"/>
          <p:cNvSpPr/>
          <p:nvPr/>
        </p:nvSpPr>
        <p:spPr bwMode="auto">
          <a:xfrm>
            <a:off x="787400" y="3825218"/>
            <a:ext cx="943569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 template</a:t>
            </a:r>
            <a:endParaRPr lang="en-US" sz="1400"/>
          </a:p>
        </p:txBody>
      </p:sp>
      <p:sp>
        <p:nvSpPr>
          <p:cNvPr id="868211761" name="Shape 34"/>
          <p:cNvSpPr/>
          <p:nvPr/>
        </p:nvSpPr>
        <p:spPr bwMode="auto">
          <a:xfrm>
            <a:off x="2514600" y="3746500"/>
            <a:ext cx="554623" cy="279400"/>
          </a:xfrm>
          <a:prstGeom prst="roundRect">
            <a:avLst>
              <a:gd name="adj" fmla="val 13636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6941863" name="Text 35"/>
          <p:cNvSpPr/>
          <p:nvPr/>
        </p:nvSpPr>
        <p:spPr bwMode="auto">
          <a:xfrm>
            <a:off x="3132723" y="37655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3,45</a:t>
            </a:r>
          </a:p>
        </p:txBody>
      </p:sp>
      <p:sp>
        <p:nvSpPr>
          <p:cNvPr id="1001429822" name="Text 36"/>
          <p:cNvSpPr/>
          <p:nvPr/>
        </p:nvSpPr>
        <p:spPr bwMode="auto">
          <a:xfrm>
            <a:off x="6146800" y="38252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290 ns</a:t>
            </a:r>
          </a:p>
        </p:txBody>
      </p:sp>
      <p:sp>
        <p:nvSpPr>
          <p:cNvPr id="520676296" name="Text 37"/>
          <p:cNvSpPr/>
          <p:nvPr/>
        </p:nvSpPr>
        <p:spPr bwMode="auto">
          <a:xfrm>
            <a:off x="7226300" y="38252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+224 ns</a:t>
            </a:r>
          </a:p>
        </p:txBody>
      </p:sp>
      <p:sp>
        <p:nvSpPr>
          <p:cNvPr id="909484785" name="Shape 38"/>
          <p:cNvSpPr/>
          <p:nvPr/>
        </p:nvSpPr>
        <p:spPr bwMode="auto">
          <a:xfrm>
            <a:off x="546100" y="43242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1509049" name="Text 39"/>
          <p:cNvSpPr/>
          <p:nvPr/>
        </p:nvSpPr>
        <p:spPr bwMode="auto">
          <a:xfrm>
            <a:off x="787400" y="4282418"/>
            <a:ext cx="90143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 modular</a:t>
            </a:r>
            <a:endParaRPr lang="en-US" sz="1400"/>
          </a:p>
        </p:txBody>
      </p:sp>
      <p:sp>
        <p:nvSpPr>
          <p:cNvPr id="2142854648" name="Shape 40"/>
          <p:cNvSpPr/>
          <p:nvPr/>
        </p:nvSpPr>
        <p:spPr bwMode="auto">
          <a:xfrm>
            <a:off x="2514600" y="4203700"/>
            <a:ext cx="379394" cy="279400"/>
          </a:xfrm>
          <a:prstGeom prst="roundRect">
            <a:avLst>
              <a:gd name="adj" fmla="val 13636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70568141" name="Text 41"/>
          <p:cNvSpPr/>
          <p:nvPr/>
        </p:nvSpPr>
        <p:spPr bwMode="auto">
          <a:xfrm>
            <a:off x="2957494" y="42227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2,36</a:t>
            </a:r>
          </a:p>
        </p:txBody>
      </p:sp>
      <p:sp>
        <p:nvSpPr>
          <p:cNvPr id="1067422778" name="Text 42"/>
          <p:cNvSpPr/>
          <p:nvPr/>
        </p:nvSpPr>
        <p:spPr bwMode="auto">
          <a:xfrm>
            <a:off x="6146800" y="42824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425 ns</a:t>
            </a:r>
          </a:p>
        </p:txBody>
      </p:sp>
      <p:sp>
        <p:nvSpPr>
          <p:cNvPr id="523887834" name="Text 43"/>
          <p:cNvSpPr/>
          <p:nvPr/>
        </p:nvSpPr>
        <p:spPr bwMode="auto">
          <a:xfrm>
            <a:off x="7226300" y="42824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+359 ns</a:t>
            </a:r>
          </a:p>
        </p:txBody>
      </p:sp>
      <p:sp>
        <p:nvSpPr>
          <p:cNvPr id="774944657" name="Shape 44"/>
          <p:cNvSpPr/>
          <p:nvPr/>
        </p:nvSpPr>
        <p:spPr bwMode="auto">
          <a:xfrm>
            <a:off x="8597900" y="1562100"/>
            <a:ext cx="3048000" cy="1479550"/>
          </a:xfrm>
          <a:prstGeom prst="roundRect">
            <a:avLst>
              <a:gd name="adj" fmla="val 858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4408267" name="Shape 45"/>
          <p:cNvSpPr/>
          <p:nvPr/>
        </p:nvSpPr>
        <p:spPr bwMode="auto">
          <a:xfrm>
            <a:off x="8597900" y="1562100"/>
            <a:ext cx="3048000" cy="88900"/>
          </a:xfrm>
          <a:custGeom>
            <a:avLst/>
            <a:gdLst/>
            <a:ahLst/>
            <a:cxnLst/>
            <a:rect l="l" t="t" r="r" b="b"/>
            <a:pathLst>
              <a:path w="304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921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5921690" name="Text 46"/>
          <p:cNvSpPr/>
          <p:nvPr/>
        </p:nvSpPr>
        <p:spPr bwMode="auto">
          <a:xfrm>
            <a:off x="8775700" y="1765300"/>
            <a:ext cx="2773172" cy="282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74"/>
              </a:lnSpc>
              <a:buNone/>
              <a:defRPr/>
            </a:pPr>
            <a:r>
              <a:rPr lang="en-US" sz="15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Sotto capacità, zero perdite</a:t>
            </a:r>
            <a:endParaRPr lang="en-US" sz="1500"/>
          </a:p>
        </p:txBody>
      </p:sp>
      <p:sp>
        <p:nvSpPr>
          <p:cNvPr id="1990490635" name="Text 47"/>
          <p:cNvSpPr/>
          <p:nvPr/>
        </p:nvSpPr>
        <p:spPr bwMode="auto">
          <a:xfrm>
            <a:off x="8775700" y="2073542"/>
            <a:ext cx="2773172" cy="853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7"/>
              </a:lnSpc>
              <a:buNone/>
              <a:defRPr/>
            </a:pPr>
            <a:r>
              <a:rPr lang="en-US" sz="125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Sotto la sua capacità nessuna pipeline respinge un pacchetto: perdita ≤ 0,05% (curve della slide 15).</a:t>
            </a:r>
          </a:p>
        </p:txBody>
      </p:sp>
      <p:sp>
        <p:nvSpPr>
          <p:cNvPr id="748434634" name="Shape 48"/>
          <p:cNvSpPr/>
          <p:nvPr/>
        </p:nvSpPr>
        <p:spPr bwMode="auto">
          <a:xfrm>
            <a:off x="8597900" y="3130550"/>
            <a:ext cx="3048000" cy="1479550"/>
          </a:xfrm>
          <a:prstGeom prst="roundRect">
            <a:avLst>
              <a:gd name="adj" fmla="val 858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6727113" name="Shape 49"/>
          <p:cNvSpPr/>
          <p:nvPr/>
        </p:nvSpPr>
        <p:spPr bwMode="auto">
          <a:xfrm>
            <a:off x="8597900" y="3130550"/>
            <a:ext cx="3048000" cy="88900"/>
          </a:xfrm>
          <a:custGeom>
            <a:avLst/>
            <a:gdLst/>
            <a:ahLst/>
            <a:cxnLst/>
            <a:rect l="l" t="t" r="r" b="b"/>
            <a:pathLst>
              <a:path w="304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921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1311119" name="Text 50"/>
          <p:cNvSpPr/>
          <p:nvPr/>
        </p:nvSpPr>
        <p:spPr bwMode="auto">
          <a:xfrm>
            <a:off x="8775700" y="3333750"/>
            <a:ext cx="277317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P1 e P1.5 si separano</a:t>
            </a:r>
            <a:endParaRPr lang="en-US" sz="1500"/>
          </a:p>
        </p:txBody>
      </p:sp>
      <p:sp>
        <p:nvSpPr>
          <p:cNvPr id="967400100" name="Text 51"/>
          <p:cNvSpPr/>
          <p:nvPr/>
        </p:nvSpPr>
        <p:spPr bwMode="auto">
          <a:xfrm>
            <a:off x="8775700" y="3651250"/>
            <a:ext cx="2773172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8,56 contro 8,04 M/s: congelare il nodo vale circa 7 ns e 206 istruzioni per pacchetto.</a:t>
            </a:r>
          </a:p>
        </p:txBody>
      </p:sp>
      <p:sp>
        <p:nvSpPr>
          <p:cNvPr id="1123068523" name="Shape 52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1332435" name="Shape 53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27862420" name="Text 54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695097562" name="Text 55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Sopra la baseline, la rete neurale costa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~50–60 ns</a:t>
            </a:r>
            <a:r>
              <a:rPr lang="en-US" sz="15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i pesi compilati (P1, P1.5),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~225 ns</a:t>
            </a:r>
            <a:r>
              <a:rPr lang="en-US" sz="15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la forma letta da tabella (P2),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~360 ns</a:t>
            </a:r>
            <a:r>
              <a:rPr lang="en-US" sz="15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con anche la profondità (P3).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07050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06333966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· XDP_GEN</a:t>
            </a:r>
          </a:p>
        </p:txBody>
      </p:sp>
      <p:sp>
        <p:nvSpPr>
          <p:cNvPr id="9174861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Con xdp_gen due core reggono il doppio</a:t>
            </a:r>
            <a:endParaRPr lang="en-US" sz="3000"/>
          </a:p>
        </p:txBody>
      </p:sp>
      <p:sp>
        <p:nvSpPr>
          <p:cNvPr id="464131968" name="Shape 3"/>
          <p:cNvSpPr/>
          <p:nvPr/>
        </p:nvSpPr>
        <p:spPr bwMode="auto">
          <a:xfrm>
            <a:off x="546100" y="1562100"/>
            <a:ext cx="6477000" cy="3350220"/>
          </a:xfrm>
          <a:prstGeom prst="roundRect">
            <a:avLst>
              <a:gd name="adj" fmla="val 3791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3396140" name="Text 4"/>
          <p:cNvSpPr/>
          <p:nvPr/>
        </p:nvSpPr>
        <p:spPr bwMode="auto">
          <a:xfrm>
            <a:off x="736600" y="1714500"/>
            <a:ext cx="627888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Milioni di pacchetti al secondo elaborati, con xdp_gen</a:t>
            </a:r>
            <a:endParaRPr lang="en-US" sz="1500"/>
          </a:p>
        </p:txBody>
      </p:sp>
      <p:sp>
        <p:nvSpPr>
          <p:cNvPr id="1170117660" name="Shape 5"/>
          <p:cNvSpPr/>
          <p:nvPr/>
        </p:nvSpPr>
        <p:spPr bwMode="auto">
          <a:xfrm>
            <a:off x="736600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0626657" name="Text 6"/>
          <p:cNvSpPr/>
          <p:nvPr/>
        </p:nvSpPr>
        <p:spPr bwMode="auto">
          <a:xfrm>
            <a:off x="952500" y="2044700"/>
            <a:ext cx="11793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 core, misurati</a:t>
            </a:r>
            <a:endParaRPr lang="en-US" sz="1200"/>
          </a:p>
        </p:txBody>
      </p:sp>
      <p:sp>
        <p:nvSpPr>
          <p:cNvPr id="636982891" name="Shape 7"/>
          <p:cNvSpPr/>
          <p:nvPr/>
        </p:nvSpPr>
        <p:spPr bwMode="auto">
          <a:xfrm>
            <a:off x="2258880" y="207512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66026758" name="Text 8"/>
          <p:cNvSpPr/>
          <p:nvPr/>
        </p:nvSpPr>
        <p:spPr bwMode="auto">
          <a:xfrm>
            <a:off x="2474780" y="2044700"/>
            <a:ext cx="1060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 × un core</a:t>
            </a:r>
            <a:endParaRPr lang="en-US" sz="1200"/>
          </a:p>
        </p:txBody>
      </p:sp>
      <p:sp>
        <p:nvSpPr>
          <p:cNvPr id="521121237" name="Text 9"/>
          <p:cNvSpPr/>
          <p:nvPr/>
        </p:nvSpPr>
        <p:spPr bwMode="auto">
          <a:xfrm>
            <a:off x="836016" y="2404741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29,11</a:t>
            </a:r>
          </a:p>
        </p:txBody>
      </p:sp>
      <p:sp>
        <p:nvSpPr>
          <p:cNvPr id="630462220" name="Shape 10"/>
          <p:cNvSpPr/>
          <p:nvPr/>
        </p:nvSpPr>
        <p:spPr bwMode="auto">
          <a:xfrm>
            <a:off x="736600" y="2633341"/>
            <a:ext cx="469900" cy="1847219"/>
          </a:xfrm>
          <a:custGeom>
            <a:avLst/>
            <a:gdLst/>
            <a:ahLst/>
            <a:cxnLst/>
            <a:rect l="l" t="t" r="r" b="b"/>
            <a:pathLst>
              <a:path w="469900" h="19177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917700"/>
                </a:lnTo>
                <a:lnTo>
                  <a:pt x="0" y="19177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1504903" name="Text 11"/>
          <p:cNvSpPr/>
          <p:nvPr/>
        </p:nvSpPr>
        <p:spPr bwMode="auto">
          <a:xfrm>
            <a:off x="1356717" y="2313998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30,54</a:t>
            </a:r>
          </a:p>
        </p:txBody>
      </p:sp>
      <p:sp>
        <p:nvSpPr>
          <p:cNvPr id="137455863" name="Shape 12"/>
          <p:cNvSpPr/>
          <p:nvPr/>
        </p:nvSpPr>
        <p:spPr bwMode="auto">
          <a:xfrm>
            <a:off x="1257300" y="2542598"/>
            <a:ext cx="469900" cy="1937962"/>
          </a:xfrm>
          <a:custGeom>
            <a:avLst/>
            <a:gdLst/>
            <a:ahLst/>
            <a:cxnLst/>
            <a:rect l="l" t="t" r="r" b="b"/>
            <a:pathLst>
              <a:path w="469900" h="11811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181100"/>
                </a:lnTo>
                <a:lnTo>
                  <a:pt x="0" y="11811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2999033" name="Text 13"/>
          <p:cNvSpPr/>
          <p:nvPr/>
        </p:nvSpPr>
        <p:spPr bwMode="auto">
          <a:xfrm>
            <a:off x="2112367" y="3144009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17,46</a:t>
            </a:r>
          </a:p>
        </p:txBody>
      </p:sp>
      <p:sp>
        <p:nvSpPr>
          <p:cNvPr id="591046988" name="Shape 14"/>
          <p:cNvSpPr/>
          <p:nvPr/>
        </p:nvSpPr>
        <p:spPr bwMode="auto">
          <a:xfrm>
            <a:off x="2012949" y="3372609"/>
            <a:ext cx="469900" cy="1107951"/>
          </a:xfrm>
          <a:custGeom>
            <a:avLst/>
            <a:gdLst/>
            <a:ahLst/>
            <a:cxnLst/>
            <a:rect l="l" t="t" r="r" b="b"/>
            <a:pathLst>
              <a:path w="469900" h="17081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708150"/>
                </a:lnTo>
                <a:lnTo>
                  <a:pt x="0" y="17081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10566992" name="Text 15"/>
          <p:cNvSpPr/>
          <p:nvPr/>
        </p:nvSpPr>
        <p:spPr bwMode="auto">
          <a:xfrm>
            <a:off x="2633067" y="3165585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17,12</a:t>
            </a:r>
          </a:p>
        </p:txBody>
      </p:sp>
      <p:sp>
        <p:nvSpPr>
          <p:cNvPr id="208194458" name="Shape 16"/>
          <p:cNvSpPr/>
          <p:nvPr/>
        </p:nvSpPr>
        <p:spPr bwMode="auto">
          <a:xfrm>
            <a:off x="2533650" y="3394185"/>
            <a:ext cx="469900" cy="1086375"/>
          </a:xfrm>
          <a:custGeom>
            <a:avLst/>
            <a:gdLst/>
            <a:ahLst/>
            <a:cxnLst/>
            <a:rect l="l" t="t" r="r" b="b"/>
            <a:pathLst>
              <a:path w="469900" h="12890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289050"/>
                </a:lnTo>
                <a:lnTo>
                  <a:pt x="0" y="12890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87127817" name="Text 17"/>
          <p:cNvSpPr/>
          <p:nvPr/>
        </p:nvSpPr>
        <p:spPr bwMode="auto">
          <a:xfrm>
            <a:off x="3388717" y="3224599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16,19</a:t>
            </a:r>
          </a:p>
        </p:txBody>
      </p:sp>
      <p:sp>
        <p:nvSpPr>
          <p:cNvPr id="329804581" name="Shape 18"/>
          <p:cNvSpPr/>
          <p:nvPr/>
        </p:nvSpPr>
        <p:spPr bwMode="auto">
          <a:xfrm>
            <a:off x="3289300" y="3453199"/>
            <a:ext cx="469900" cy="1027361"/>
          </a:xfrm>
          <a:custGeom>
            <a:avLst/>
            <a:gdLst/>
            <a:ahLst/>
            <a:cxnLst/>
            <a:rect l="l" t="t" r="r" b="b"/>
            <a:pathLst>
              <a:path w="469900" h="16827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682750"/>
                </a:lnTo>
                <a:lnTo>
                  <a:pt x="0" y="16827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76210340" name="Text 19"/>
          <p:cNvSpPr/>
          <p:nvPr/>
        </p:nvSpPr>
        <p:spPr bwMode="auto">
          <a:xfrm>
            <a:off x="3909417" y="3231579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16,08</a:t>
            </a:r>
          </a:p>
        </p:txBody>
      </p:sp>
      <p:sp>
        <p:nvSpPr>
          <p:cNvPr id="1992133746" name="Shape 20"/>
          <p:cNvSpPr/>
          <p:nvPr/>
        </p:nvSpPr>
        <p:spPr bwMode="auto">
          <a:xfrm>
            <a:off x="3810000" y="3460179"/>
            <a:ext cx="469900" cy="1020381"/>
          </a:xfrm>
          <a:custGeom>
            <a:avLst/>
            <a:gdLst/>
            <a:ahLst/>
            <a:cxnLst/>
            <a:rect l="l" t="t" r="r" b="b"/>
            <a:pathLst>
              <a:path w="469900" h="131445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1314450"/>
                </a:lnTo>
                <a:lnTo>
                  <a:pt x="0" y="131445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1899441" name="Text 21"/>
          <p:cNvSpPr/>
          <p:nvPr/>
        </p:nvSpPr>
        <p:spPr bwMode="auto">
          <a:xfrm>
            <a:off x="4665067" y="3831243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6,63</a:t>
            </a:r>
          </a:p>
        </p:txBody>
      </p:sp>
      <p:sp>
        <p:nvSpPr>
          <p:cNvPr id="1598288918" name="Shape 22"/>
          <p:cNvSpPr/>
          <p:nvPr/>
        </p:nvSpPr>
        <p:spPr bwMode="auto">
          <a:xfrm>
            <a:off x="4565650" y="4059843"/>
            <a:ext cx="469900" cy="420717"/>
          </a:xfrm>
          <a:custGeom>
            <a:avLst/>
            <a:gdLst/>
            <a:ahLst/>
            <a:cxnLst/>
            <a:rect l="l" t="t" r="r" b="b"/>
            <a:pathLst>
              <a:path w="469900" h="9144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914400"/>
                </a:lnTo>
                <a:lnTo>
                  <a:pt x="0" y="914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19153219" name="Text 23"/>
          <p:cNvSpPr/>
          <p:nvPr/>
        </p:nvSpPr>
        <p:spPr bwMode="auto">
          <a:xfrm>
            <a:off x="5185767" y="3814110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6,90</a:t>
            </a:r>
          </a:p>
        </p:txBody>
      </p:sp>
      <p:sp>
        <p:nvSpPr>
          <p:cNvPr id="1176724652" name="Shape 24"/>
          <p:cNvSpPr/>
          <p:nvPr/>
        </p:nvSpPr>
        <p:spPr bwMode="auto">
          <a:xfrm>
            <a:off x="5086350" y="4042710"/>
            <a:ext cx="469900" cy="437850"/>
          </a:xfrm>
          <a:custGeom>
            <a:avLst/>
            <a:gdLst/>
            <a:ahLst/>
            <a:cxnLst/>
            <a:rect l="l" t="t" r="r" b="b"/>
            <a:pathLst>
              <a:path w="469900" h="9144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914400"/>
                </a:lnTo>
                <a:lnTo>
                  <a:pt x="0" y="9144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89404908" name="Text 25"/>
          <p:cNvSpPr/>
          <p:nvPr/>
        </p:nvSpPr>
        <p:spPr bwMode="auto">
          <a:xfrm>
            <a:off x="5941417" y="3960060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4,60</a:t>
            </a:r>
          </a:p>
        </p:txBody>
      </p:sp>
      <p:sp>
        <p:nvSpPr>
          <p:cNvPr id="872509772" name="Shape 26"/>
          <p:cNvSpPr/>
          <p:nvPr/>
        </p:nvSpPr>
        <p:spPr bwMode="auto">
          <a:xfrm>
            <a:off x="5842000" y="4188660"/>
            <a:ext cx="469900" cy="291900"/>
          </a:xfrm>
          <a:custGeom>
            <a:avLst/>
            <a:gdLst/>
            <a:ahLst/>
            <a:cxnLst/>
            <a:rect l="l" t="t" r="r" b="b"/>
            <a:pathLst>
              <a:path w="469900" h="6223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622300"/>
                </a:lnTo>
                <a:lnTo>
                  <a:pt x="0" y="6223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59851264" name="Text 27"/>
          <p:cNvSpPr/>
          <p:nvPr/>
        </p:nvSpPr>
        <p:spPr bwMode="auto">
          <a:xfrm>
            <a:off x="6462117" y="3952445"/>
            <a:ext cx="4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4,72</a:t>
            </a:r>
          </a:p>
        </p:txBody>
      </p:sp>
      <p:sp>
        <p:nvSpPr>
          <p:cNvPr id="632825712" name="Shape 28"/>
          <p:cNvSpPr/>
          <p:nvPr/>
        </p:nvSpPr>
        <p:spPr bwMode="auto">
          <a:xfrm>
            <a:off x="6362700" y="4181045"/>
            <a:ext cx="469900" cy="299515"/>
          </a:xfrm>
          <a:custGeom>
            <a:avLst/>
            <a:gdLst/>
            <a:ahLst/>
            <a:cxnLst/>
            <a:rect l="l" t="t" r="r" b="b"/>
            <a:pathLst>
              <a:path w="469900" h="622300" fill="norm" stroke="1" extrusionOk="0">
                <a:moveTo>
                  <a:pt x="38100" y="0"/>
                </a:moveTo>
                <a:lnTo>
                  <a:pt x="431800" y="0"/>
                </a:lnTo>
                <a:arcTo wR="38100" hR="38100" stAng="16200000" swAng="5400000"/>
                <a:lnTo>
                  <a:pt x="469900" y="622300"/>
                </a:lnTo>
                <a:lnTo>
                  <a:pt x="0" y="622300"/>
                </a:lnTo>
                <a:lnTo>
                  <a:pt x="0" y="38100"/>
                </a:lnTo>
                <a:arcTo wR="38100" hR="38100" stAng="10800000" swAng="5400000"/>
                <a:close/>
              </a:path>
            </a:pathLst>
          </a:custGeom>
          <a:solidFill>
            <a:srgbClr val="B8C2C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4056157" name="Text 29"/>
          <p:cNvSpPr/>
          <p:nvPr/>
        </p:nvSpPr>
        <p:spPr bwMode="auto">
          <a:xfrm>
            <a:off x="7112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300"/>
          </a:p>
        </p:txBody>
      </p:sp>
      <p:sp>
        <p:nvSpPr>
          <p:cNvPr id="1781221583" name="Text 30"/>
          <p:cNvSpPr/>
          <p:nvPr/>
        </p:nvSpPr>
        <p:spPr bwMode="auto">
          <a:xfrm>
            <a:off x="198755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300"/>
          </a:p>
        </p:txBody>
      </p:sp>
      <p:sp>
        <p:nvSpPr>
          <p:cNvPr id="780245428" name="Text 31"/>
          <p:cNvSpPr/>
          <p:nvPr/>
        </p:nvSpPr>
        <p:spPr bwMode="auto">
          <a:xfrm>
            <a:off x="32639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300"/>
          </a:p>
        </p:txBody>
      </p:sp>
      <p:sp>
        <p:nvSpPr>
          <p:cNvPr id="1270807852" name="Text 32"/>
          <p:cNvSpPr/>
          <p:nvPr/>
        </p:nvSpPr>
        <p:spPr bwMode="auto">
          <a:xfrm>
            <a:off x="454025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300"/>
          </a:p>
        </p:txBody>
      </p:sp>
      <p:sp>
        <p:nvSpPr>
          <p:cNvPr id="303957450" name="Text 33"/>
          <p:cNvSpPr/>
          <p:nvPr/>
        </p:nvSpPr>
        <p:spPr bwMode="auto">
          <a:xfrm>
            <a:off x="5816600" y="4531320"/>
            <a:ext cx="1041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300"/>
          </a:p>
        </p:txBody>
      </p:sp>
      <p:sp>
        <p:nvSpPr>
          <p:cNvPr id="1936906822" name="Shape 36"/>
          <p:cNvSpPr/>
          <p:nvPr/>
        </p:nvSpPr>
        <p:spPr bwMode="auto">
          <a:xfrm>
            <a:off x="7200900" y="1562100"/>
            <a:ext cx="4445000" cy="1630627"/>
          </a:xfrm>
          <a:prstGeom prst="roundRect">
            <a:avLst>
              <a:gd name="adj" fmla="val 77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6190844" name="Shape 37"/>
          <p:cNvSpPr/>
          <p:nvPr/>
        </p:nvSpPr>
        <p:spPr bwMode="auto">
          <a:xfrm>
            <a:off x="7200900" y="1562100"/>
            <a:ext cx="4445000" cy="88900"/>
          </a:xfrm>
          <a:custGeom>
            <a:avLst/>
            <a:gdLst/>
            <a:ahLst/>
            <a:cxnLst/>
            <a:rect l="l" t="t" r="r" b="b"/>
            <a:pathLst>
              <a:path w="4445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318000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8928411" name="Text 38"/>
          <p:cNvSpPr/>
          <p:nvPr/>
        </p:nvSpPr>
        <p:spPr bwMode="auto">
          <a:xfrm>
            <a:off x="7378700" y="1765300"/>
            <a:ext cx="421208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Una coda d'uscita per ogni core</a:t>
            </a:r>
            <a:endParaRPr lang="en-US" sz="1500"/>
          </a:p>
        </p:txBody>
      </p:sp>
      <p:sp>
        <p:nvSpPr>
          <p:cNvPr id="280366088" name="Text 39"/>
          <p:cNvSpPr/>
          <p:nvPr/>
        </p:nvSpPr>
        <p:spPr bwMode="auto">
          <a:xfrm>
            <a:off x="7378700" y="2082800"/>
            <a:ext cx="4212082" cy="883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cavo virtuale sceglie la coda d'uscita dal core che inoltra: ogni core del nodo ha la sua coda e il suo core d'uscita, così nessuna coda ha due scrittori e arrivano tutti.</a:t>
            </a:r>
          </a:p>
        </p:txBody>
      </p:sp>
      <p:sp>
        <p:nvSpPr>
          <p:cNvPr id="244920080" name="Shape 40"/>
          <p:cNvSpPr/>
          <p:nvPr/>
        </p:nvSpPr>
        <p:spPr bwMode="auto">
          <a:xfrm>
            <a:off x="7200900" y="3281629"/>
            <a:ext cx="4445000" cy="1630693"/>
          </a:xfrm>
          <a:prstGeom prst="roundRect">
            <a:avLst>
              <a:gd name="adj" fmla="val 778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6335300" name="Shape 41"/>
          <p:cNvSpPr/>
          <p:nvPr/>
        </p:nvSpPr>
        <p:spPr bwMode="auto">
          <a:xfrm>
            <a:off x="7200900" y="3281629"/>
            <a:ext cx="4445000" cy="88900"/>
          </a:xfrm>
          <a:custGeom>
            <a:avLst/>
            <a:gdLst/>
            <a:ahLst/>
            <a:cxnLst/>
            <a:rect l="l" t="t" r="r" b="b"/>
            <a:pathLst>
              <a:path w="4445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318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52434944" name="Text 42"/>
          <p:cNvSpPr/>
          <p:nvPr/>
        </p:nvSpPr>
        <p:spPr bwMode="auto">
          <a:xfrm>
            <a:off x="7378700" y="3484829"/>
            <a:ext cx="421208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Il costo per core non cambia</a:t>
            </a:r>
            <a:endParaRPr lang="en-US" sz="1500"/>
          </a:p>
        </p:txBody>
      </p:sp>
      <p:sp>
        <p:nvSpPr>
          <p:cNvPr id="1539934491" name="Text 43"/>
          <p:cNvSpPr/>
          <p:nvPr/>
        </p:nvSpPr>
        <p:spPr bwMode="auto">
          <a:xfrm>
            <a:off x="7378700" y="3802329"/>
            <a:ext cx="4212082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Tempo di CPU per pacchetto di ogni core: 67, 114, 124, 301 e 434 ns, contro 66, 117, 124, 290 e 425 con un core solo (slide 10).</a:t>
            </a:r>
          </a:p>
        </p:txBody>
      </p:sp>
      <p:sp>
        <p:nvSpPr>
          <p:cNvPr id="985847929" name="Shape 44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457357" name="Shape 45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9745142" name="Text 46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375110392" name="Text 47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Con uno scrittore per coda anche in uscita, due core elaborano il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95–102% del doppio</a:t>
            </a:r>
            <a:r>
              <a:rPr lang="en-US" sz="15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di un core: il costo misurato su un core vale per ogni core. Lo stesso su due E-core (99–102%).</a:t>
            </a:r>
          </a:p>
        </p:txBody>
      </p:sp>
      <p:sp>
        <p:nvSpPr>
          <p:cNvPr id="1948934027" name="Text 48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xdp_gen, 64 byte, 3 giri · nodo su CPU 6 e 8, un thread per coda, uscita su CPU 3 e 5 · 2 × un core = il doppio della slide 10</a:t>
            </a:r>
          </a:p>
        </p:txBody>
      </p:sp>
      <p:sp>
        <p:nvSpPr>
          <p:cNvPr id="1551553591" name="Text 4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844083399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9797831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4 · I RISULTATI · I CORE LENTI</a:t>
            </a:r>
          </a:p>
        </p:txBody>
      </p:sp>
      <p:sp>
        <p:nvSpPr>
          <p:cNvPr id="53632714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Su un E-core il nodo regge dal 61 all'82%</a:t>
            </a:r>
          </a:p>
        </p:txBody>
      </p:sp>
      <p:sp>
        <p:nvSpPr>
          <p:cNvPr id="893306286" name="Text 3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E-core (CPU 12) a 3,5 GHz, il suo modulo a riposo · generatore e uscita su P-core · 3 giri, 64 byte · IPC dai contatori hardware</a:t>
            </a:r>
          </a:p>
        </p:txBody>
      </p:sp>
      <p:sp>
        <p:nvSpPr>
          <p:cNvPr id="1910261858" name="Text 4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12</a:t>
            </a:r>
          </a:p>
        </p:txBody>
      </p:sp>
      <p:sp>
        <p:nvSpPr>
          <p:cNvPr id="861404636" name="Text 5"/>
          <p:cNvSpPr/>
          <p:nvPr/>
        </p:nvSpPr>
        <p:spPr bwMode="auto">
          <a:xfrm>
            <a:off x="2599816" y="1653579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 al secondo, E-core</a:t>
            </a:r>
          </a:p>
        </p:txBody>
      </p:sp>
      <p:sp>
        <p:nvSpPr>
          <p:cNvPr id="1109358125" name="Text 6"/>
          <p:cNvSpPr/>
          <p:nvPr/>
        </p:nvSpPr>
        <p:spPr bwMode="auto">
          <a:xfrm>
            <a:off x="6262497" y="1653579"/>
            <a:ext cx="1003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ns/pacchetto</a:t>
            </a:r>
          </a:p>
        </p:txBody>
      </p:sp>
      <p:sp>
        <p:nvSpPr>
          <p:cNvPr id="2072870536" name="Text 7"/>
          <p:cNvSpPr/>
          <p:nvPr/>
        </p:nvSpPr>
        <p:spPr bwMode="auto">
          <a:xfrm flipH="0" flipV="0">
            <a:off x="7551152" y="1650999"/>
            <a:ext cx="952499" cy="2387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rispetto al P-core</a:t>
            </a:r>
          </a:p>
        </p:txBody>
      </p:sp>
      <p:sp>
        <p:nvSpPr>
          <p:cNvPr id="445628566" name="Shape 8"/>
          <p:cNvSpPr/>
          <p:nvPr/>
        </p:nvSpPr>
        <p:spPr bwMode="auto">
          <a:xfrm>
            <a:off x="546100" y="20382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2535326" name="Text 9"/>
          <p:cNvSpPr/>
          <p:nvPr/>
        </p:nvSpPr>
        <p:spPr bwMode="auto">
          <a:xfrm>
            <a:off x="787400" y="1996418"/>
            <a:ext cx="51051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400"/>
          </a:p>
        </p:txBody>
      </p:sp>
      <p:sp>
        <p:nvSpPr>
          <p:cNvPr id="610077576" name="Shape 10"/>
          <p:cNvSpPr/>
          <p:nvPr/>
        </p:nvSpPr>
        <p:spPr bwMode="auto">
          <a:xfrm>
            <a:off x="2514600" y="1917700"/>
            <a:ext cx="2054517" cy="279400"/>
          </a:xfrm>
          <a:prstGeom prst="roundRect">
            <a:avLst>
              <a:gd name="adj" fmla="val 13636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8618175" name="Text 11"/>
          <p:cNvSpPr/>
          <p:nvPr/>
        </p:nvSpPr>
        <p:spPr bwMode="auto">
          <a:xfrm>
            <a:off x="4632617" y="19367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12,78</a:t>
            </a:r>
          </a:p>
        </p:txBody>
      </p:sp>
      <p:sp>
        <p:nvSpPr>
          <p:cNvPr id="1413649438" name="Text 12"/>
          <p:cNvSpPr/>
          <p:nvPr/>
        </p:nvSpPr>
        <p:spPr bwMode="auto">
          <a:xfrm>
            <a:off x="6146800" y="19964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78 ns</a:t>
            </a:r>
          </a:p>
        </p:txBody>
      </p:sp>
      <p:sp>
        <p:nvSpPr>
          <p:cNvPr id="90523107" name="Text 13"/>
          <p:cNvSpPr/>
          <p:nvPr/>
        </p:nvSpPr>
        <p:spPr bwMode="auto">
          <a:xfrm>
            <a:off x="7226300" y="19964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0,66</a:t>
            </a:r>
          </a:p>
        </p:txBody>
      </p:sp>
      <p:sp>
        <p:nvSpPr>
          <p:cNvPr id="1112953265" name="Shape 14"/>
          <p:cNvSpPr/>
          <p:nvPr/>
        </p:nvSpPr>
        <p:spPr bwMode="auto">
          <a:xfrm>
            <a:off x="546100" y="24954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23666099" name="Text 15"/>
          <p:cNvSpPr/>
          <p:nvPr/>
        </p:nvSpPr>
        <p:spPr bwMode="auto">
          <a:xfrm>
            <a:off x="787400" y="2453618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560298444" name="Shape 16"/>
          <p:cNvSpPr/>
          <p:nvPr/>
        </p:nvSpPr>
        <p:spPr bwMode="auto">
          <a:xfrm>
            <a:off x="2514600" y="2374900"/>
            <a:ext cx="1509540" cy="279400"/>
          </a:xfrm>
          <a:prstGeom prst="roundRect">
            <a:avLst>
              <a:gd name="adj" fmla="val 13636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72694460" name="Text 17"/>
          <p:cNvSpPr/>
          <p:nvPr/>
        </p:nvSpPr>
        <p:spPr bwMode="auto">
          <a:xfrm>
            <a:off x="4087640" y="23939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9,39</a:t>
            </a:r>
          </a:p>
        </p:txBody>
      </p:sp>
      <p:sp>
        <p:nvSpPr>
          <p:cNvPr id="960834326" name="Text 18"/>
          <p:cNvSpPr/>
          <p:nvPr/>
        </p:nvSpPr>
        <p:spPr bwMode="auto">
          <a:xfrm>
            <a:off x="6146800" y="24536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106 ns</a:t>
            </a:r>
          </a:p>
        </p:txBody>
      </p:sp>
      <p:sp>
        <p:nvSpPr>
          <p:cNvPr id="1798542865" name="Text 19"/>
          <p:cNvSpPr/>
          <p:nvPr/>
        </p:nvSpPr>
        <p:spPr bwMode="auto">
          <a:xfrm>
            <a:off x="7226300" y="24536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0,61</a:t>
            </a:r>
          </a:p>
        </p:txBody>
      </p:sp>
      <p:sp>
        <p:nvSpPr>
          <p:cNvPr id="1304371161" name="Shape 20"/>
          <p:cNvSpPr/>
          <p:nvPr/>
        </p:nvSpPr>
        <p:spPr bwMode="auto">
          <a:xfrm>
            <a:off x="546100" y="29526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5013140" name="Text 21"/>
          <p:cNvSpPr/>
          <p:nvPr/>
        </p:nvSpPr>
        <p:spPr bwMode="auto">
          <a:xfrm>
            <a:off x="787400" y="2910818"/>
            <a:ext cx="75598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 statica</a:t>
            </a:r>
            <a:endParaRPr lang="en-US" sz="1400"/>
          </a:p>
        </p:txBody>
      </p:sp>
      <p:sp>
        <p:nvSpPr>
          <p:cNvPr id="1482702441" name="Shape 22"/>
          <p:cNvSpPr/>
          <p:nvPr/>
        </p:nvSpPr>
        <p:spPr bwMode="auto">
          <a:xfrm>
            <a:off x="2514600" y="2832100"/>
            <a:ext cx="1020828" cy="279400"/>
          </a:xfrm>
          <a:prstGeom prst="roundRect">
            <a:avLst>
              <a:gd name="adj" fmla="val 13636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00272069" name="Text 23"/>
          <p:cNvSpPr/>
          <p:nvPr/>
        </p:nvSpPr>
        <p:spPr bwMode="auto">
          <a:xfrm>
            <a:off x="3598928" y="28511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6,35</a:t>
            </a:r>
          </a:p>
        </p:txBody>
      </p:sp>
      <p:sp>
        <p:nvSpPr>
          <p:cNvPr id="1020742350" name="Text 24"/>
          <p:cNvSpPr/>
          <p:nvPr/>
        </p:nvSpPr>
        <p:spPr bwMode="auto">
          <a:xfrm>
            <a:off x="6146800" y="29108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158 ns</a:t>
            </a:r>
          </a:p>
        </p:txBody>
      </p:sp>
      <p:sp>
        <p:nvSpPr>
          <p:cNvPr id="817162400" name="Text 25"/>
          <p:cNvSpPr/>
          <p:nvPr/>
        </p:nvSpPr>
        <p:spPr bwMode="auto">
          <a:xfrm>
            <a:off x="7226300" y="29108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0,74</a:t>
            </a:r>
          </a:p>
        </p:txBody>
      </p:sp>
      <p:sp>
        <p:nvSpPr>
          <p:cNvPr id="758748805" name="Shape 26"/>
          <p:cNvSpPr/>
          <p:nvPr/>
        </p:nvSpPr>
        <p:spPr bwMode="auto">
          <a:xfrm>
            <a:off x="546100" y="3409887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88970033" name="Text 27"/>
          <p:cNvSpPr/>
          <p:nvPr/>
        </p:nvSpPr>
        <p:spPr bwMode="auto">
          <a:xfrm>
            <a:off x="787400" y="3368018"/>
            <a:ext cx="120246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 hardcoded</a:t>
            </a:r>
            <a:endParaRPr lang="en-US" sz="1400"/>
          </a:p>
        </p:txBody>
      </p:sp>
      <p:sp>
        <p:nvSpPr>
          <p:cNvPr id="2071565254" name="Shape 28"/>
          <p:cNvSpPr/>
          <p:nvPr/>
        </p:nvSpPr>
        <p:spPr bwMode="auto">
          <a:xfrm>
            <a:off x="2514600" y="3289300"/>
            <a:ext cx="938840" cy="279400"/>
          </a:xfrm>
          <a:prstGeom prst="roundRect">
            <a:avLst>
              <a:gd name="adj" fmla="val 13636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0906181" name="Text 29"/>
          <p:cNvSpPr/>
          <p:nvPr/>
        </p:nvSpPr>
        <p:spPr bwMode="auto">
          <a:xfrm>
            <a:off x="3516940" y="33083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5,84</a:t>
            </a:r>
          </a:p>
        </p:txBody>
      </p:sp>
      <p:sp>
        <p:nvSpPr>
          <p:cNvPr id="494621169" name="Text 30"/>
          <p:cNvSpPr/>
          <p:nvPr/>
        </p:nvSpPr>
        <p:spPr bwMode="auto">
          <a:xfrm>
            <a:off x="6146800" y="33680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171 ns</a:t>
            </a:r>
          </a:p>
        </p:txBody>
      </p:sp>
      <p:sp>
        <p:nvSpPr>
          <p:cNvPr id="1176981325" name="Text 31"/>
          <p:cNvSpPr/>
          <p:nvPr/>
        </p:nvSpPr>
        <p:spPr bwMode="auto">
          <a:xfrm>
            <a:off x="7226300" y="33680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0,73</a:t>
            </a:r>
          </a:p>
        </p:txBody>
      </p:sp>
      <p:sp>
        <p:nvSpPr>
          <p:cNvPr id="411254010" name="Shape 32"/>
          <p:cNvSpPr/>
          <p:nvPr/>
        </p:nvSpPr>
        <p:spPr bwMode="auto">
          <a:xfrm>
            <a:off x="546100" y="38670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6256395" name="Text 33"/>
          <p:cNvSpPr/>
          <p:nvPr/>
        </p:nvSpPr>
        <p:spPr bwMode="auto">
          <a:xfrm>
            <a:off x="787400" y="3825218"/>
            <a:ext cx="943569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 template</a:t>
            </a:r>
            <a:endParaRPr lang="en-US" sz="1400"/>
          </a:p>
        </p:txBody>
      </p:sp>
      <p:sp>
        <p:nvSpPr>
          <p:cNvPr id="868211761" name="Shape 34"/>
          <p:cNvSpPr/>
          <p:nvPr/>
        </p:nvSpPr>
        <p:spPr bwMode="auto">
          <a:xfrm>
            <a:off x="2514600" y="3746500"/>
            <a:ext cx="454952" cy="279400"/>
          </a:xfrm>
          <a:prstGeom prst="roundRect">
            <a:avLst>
              <a:gd name="adj" fmla="val 13636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6941863" name="Text 35"/>
          <p:cNvSpPr/>
          <p:nvPr/>
        </p:nvSpPr>
        <p:spPr bwMode="auto">
          <a:xfrm>
            <a:off x="3033052" y="37655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2,83</a:t>
            </a:r>
          </a:p>
        </p:txBody>
      </p:sp>
      <p:sp>
        <p:nvSpPr>
          <p:cNvPr id="1001429822" name="Text 36"/>
          <p:cNvSpPr/>
          <p:nvPr/>
        </p:nvSpPr>
        <p:spPr bwMode="auto">
          <a:xfrm>
            <a:off x="6146800" y="38252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354 ns</a:t>
            </a:r>
          </a:p>
        </p:txBody>
      </p:sp>
      <p:sp>
        <p:nvSpPr>
          <p:cNvPr id="520676296" name="Text 37"/>
          <p:cNvSpPr/>
          <p:nvPr/>
        </p:nvSpPr>
        <p:spPr bwMode="auto">
          <a:xfrm>
            <a:off x="7226300" y="38252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0,82</a:t>
            </a:r>
          </a:p>
        </p:txBody>
      </p:sp>
      <p:sp>
        <p:nvSpPr>
          <p:cNvPr id="909484785" name="Shape 38"/>
          <p:cNvSpPr/>
          <p:nvPr/>
        </p:nvSpPr>
        <p:spPr bwMode="auto">
          <a:xfrm>
            <a:off x="546100" y="4324288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1509049" name="Text 39"/>
          <p:cNvSpPr/>
          <p:nvPr/>
        </p:nvSpPr>
        <p:spPr bwMode="auto">
          <a:xfrm>
            <a:off x="787400" y="4282418"/>
            <a:ext cx="90143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 modular</a:t>
            </a:r>
            <a:endParaRPr lang="en-US" sz="1400"/>
          </a:p>
        </p:txBody>
      </p:sp>
      <p:sp>
        <p:nvSpPr>
          <p:cNvPr id="2142854648" name="Shape 40"/>
          <p:cNvSpPr/>
          <p:nvPr/>
        </p:nvSpPr>
        <p:spPr bwMode="auto">
          <a:xfrm>
            <a:off x="2514600" y="4203700"/>
            <a:ext cx="311875" cy="279400"/>
          </a:xfrm>
          <a:prstGeom prst="roundRect">
            <a:avLst>
              <a:gd name="adj" fmla="val 13636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70568141" name="Text 41"/>
          <p:cNvSpPr/>
          <p:nvPr/>
        </p:nvSpPr>
        <p:spPr bwMode="auto">
          <a:xfrm>
            <a:off x="2889975" y="4222750"/>
            <a:ext cx="58521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1,94</a:t>
            </a:r>
          </a:p>
        </p:txBody>
      </p:sp>
      <p:sp>
        <p:nvSpPr>
          <p:cNvPr id="1067422778" name="Text 42"/>
          <p:cNvSpPr/>
          <p:nvPr/>
        </p:nvSpPr>
        <p:spPr bwMode="auto">
          <a:xfrm>
            <a:off x="6146800" y="4282418"/>
            <a:ext cx="1003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515 ns</a:t>
            </a:r>
          </a:p>
        </p:txBody>
      </p:sp>
      <p:sp>
        <p:nvSpPr>
          <p:cNvPr id="523887834" name="Text 43"/>
          <p:cNvSpPr/>
          <p:nvPr/>
        </p:nvSpPr>
        <p:spPr bwMode="auto">
          <a:xfrm>
            <a:off x="7226300" y="4282418"/>
            <a:ext cx="1193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0,82</a:t>
            </a:r>
          </a:p>
        </p:txBody>
      </p:sp>
      <p:sp>
        <p:nvSpPr>
          <p:cNvPr id="774944657" name="Shape 44"/>
          <p:cNvSpPr/>
          <p:nvPr/>
        </p:nvSpPr>
        <p:spPr bwMode="auto">
          <a:xfrm>
            <a:off x="8597900" y="1562100"/>
            <a:ext cx="3048000" cy="1479550"/>
          </a:xfrm>
          <a:prstGeom prst="roundRect">
            <a:avLst>
              <a:gd name="adj" fmla="val 858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4408267" name="Shape 45"/>
          <p:cNvSpPr/>
          <p:nvPr/>
        </p:nvSpPr>
        <p:spPr bwMode="auto">
          <a:xfrm>
            <a:off x="8597900" y="1562100"/>
            <a:ext cx="3048000" cy="88900"/>
          </a:xfrm>
          <a:custGeom>
            <a:avLst/>
            <a:gdLst/>
            <a:ahLst/>
            <a:cxnLst/>
            <a:rect l="l" t="t" r="r" b="b"/>
            <a:pathLst>
              <a:path w="304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921000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5921690" name="Text 46"/>
          <p:cNvSpPr/>
          <p:nvPr/>
        </p:nvSpPr>
        <p:spPr bwMode="auto">
          <a:xfrm>
            <a:off x="8775700" y="1765300"/>
            <a:ext cx="2773172" cy="282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74"/>
              </a:lnSpc>
              <a:buNone/>
              <a:defRPr/>
            </a:pPr>
            <a:r>
              <a:rPr lang="en-US" sz="1500" b="1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Stesso codice, meno IPC</a:t>
            </a:r>
          </a:p>
        </p:txBody>
      </p:sp>
      <p:sp>
        <p:nvSpPr>
          <p:cNvPr id="1990490635" name="Text 47"/>
          <p:cNvSpPr/>
          <p:nvPr/>
        </p:nvSpPr>
        <p:spPr bwMode="auto">
          <a:xfrm>
            <a:off x="8775700" y="2073542"/>
            <a:ext cx="2773172" cy="853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7"/>
              </a:lnSpc>
              <a:buNone/>
              <a:defRPr/>
            </a:pPr>
            <a:r>
              <a:rPr lang="en-US" sz="125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Le istruzioni per pacchetto sono le stesse sul P-core e sull'E-core. Cambia quante il core ne esegue per ciclo.</a:t>
            </a:r>
          </a:p>
        </p:txBody>
      </p:sp>
      <p:sp>
        <p:nvSpPr>
          <p:cNvPr id="748434634" name="Shape 48"/>
          <p:cNvSpPr/>
          <p:nvPr/>
        </p:nvSpPr>
        <p:spPr bwMode="auto">
          <a:xfrm>
            <a:off x="8597900" y="3130550"/>
            <a:ext cx="3048000" cy="1479550"/>
          </a:xfrm>
          <a:prstGeom prst="roundRect">
            <a:avLst>
              <a:gd name="adj" fmla="val 858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6727113" name="Shape 49"/>
          <p:cNvSpPr/>
          <p:nvPr/>
        </p:nvSpPr>
        <p:spPr bwMode="auto">
          <a:xfrm>
            <a:off x="8597900" y="3130550"/>
            <a:ext cx="3048000" cy="88900"/>
          </a:xfrm>
          <a:custGeom>
            <a:avLst/>
            <a:gdLst/>
            <a:ahLst/>
            <a:cxnLst/>
            <a:rect l="l" t="t" r="r" b="b"/>
            <a:pathLst>
              <a:path w="3048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2921000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1311119" name="Text 50"/>
          <p:cNvSpPr/>
          <p:nvPr/>
        </p:nvSpPr>
        <p:spPr bwMode="auto">
          <a:xfrm>
            <a:off x="8775700" y="3333750"/>
            <a:ext cx="277317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Paga la parte fissa</a:t>
            </a:r>
          </a:p>
        </p:txBody>
      </p:sp>
      <p:sp>
        <p:nvSpPr>
          <p:cNvPr id="967400100" name="Text 51"/>
          <p:cNvSpPr/>
          <p:nvPr/>
        </p:nvSpPr>
        <p:spPr bwMode="auto">
          <a:xfrm>
            <a:off x="8775700" y="3651250"/>
            <a:ext cx="2773172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IPC 2,7 → 1,7 per la baseline (ricezione, redirect), 4,4 → 3,7 per P3 (aritmetica in fila).</a:t>
            </a:r>
          </a:p>
        </p:txBody>
      </p:sp>
      <p:sp>
        <p:nvSpPr>
          <p:cNvPr id="1123068523" name="Shape 52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1332435" name="Shape 53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27862420" name="Text 54"/>
          <p:cNvSpPr/>
          <p:nvPr/>
        </p:nvSpPr>
        <p:spPr bwMode="auto">
          <a:xfrm>
            <a:off x="819150" y="5767058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695097562" name="Text 55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L'E-core rallenta soprattutto il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lavoro di rete del kernel</a:t>
            </a:r>
            <a:r>
              <a:rPr lang="en-US" sz="15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(baseline +60%) e poco la rete neurale (P3 +14% sopra la baseline). Il LP E-core, fuori dalla L3 e a 2,5 GHz, regge il 36–47%.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0676494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7954917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COME SI MISURA</a:t>
            </a:r>
            <a:endParaRPr lang="en-US" sz="1200"/>
          </a:p>
        </p:txBody>
      </p:sp>
      <p:sp>
        <p:nvSpPr>
          <p:cNvPr id="1831484691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Due programmi sullo stesso aggancio, tre conteggi</a:t>
            </a:r>
            <a:endParaRPr lang="en-US" sz="3000"/>
          </a:p>
        </p:txBody>
      </p:sp>
      <p:sp>
        <p:nvSpPr>
          <p:cNvPr id="1502651254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Un'interfaccia porta un solo programma XDP: i due si mettono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catena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con un salto.</a:t>
            </a:r>
            <a:endParaRPr lang="en-US" sz="1600"/>
          </a:p>
        </p:txBody>
      </p:sp>
      <p:sp>
        <p:nvSpPr>
          <p:cNvPr id="501249711" name="Shape 4"/>
          <p:cNvSpPr/>
          <p:nvPr/>
        </p:nvSpPr>
        <p:spPr bwMode="auto">
          <a:xfrm>
            <a:off x="546100" y="2427821"/>
            <a:ext cx="1841500" cy="1940256"/>
          </a:xfrm>
          <a:prstGeom prst="roundRect">
            <a:avLst>
              <a:gd name="adj" fmla="val 689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6661482" name="Text 5"/>
          <p:cNvSpPr/>
          <p:nvPr/>
        </p:nvSpPr>
        <p:spPr bwMode="auto">
          <a:xfrm>
            <a:off x="660400" y="2554821"/>
            <a:ext cx="16637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Generatore</a:t>
            </a:r>
            <a:endParaRPr lang="en-US" sz="1400"/>
          </a:p>
        </p:txBody>
      </p:sp>
      <p:sp>
        <p:nvSpPr>
          <p:cNvPr id="800237013" name="Text 6"/>
          <p:cNvSpPr/>
          <p:nvPr/>
        </p:nvSpPr>
        <p:spPr bwMode="auto">
          <a:xfrm>
            <a:off x="660400" y="2841823"/>
            <a:ext cx="166370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xdp_gen</a:t>
            </a:r>
            <a:endParaRPr lang="en-US" sz="1300"/>
          </a:p>
        </p:txBody>
      </p:sp>
      <p:sp>
        <p:nvSpPr>
          <p:cNvPr id="402805141" name="Shape 7"/>
          <p:cNvSpPr/>
          <p:nvPr/>
        </p:nvSpPr>
        <p:spPr bwMode="auto">
          <a:xfrm>
            <a:off x="660400" y="396168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37352815" name="Text 8"/>
          <p:cNvSpPr/>
          <p:nvPr/>
        </p:nvSpPr>
        <p:spPr bwMode="auto">
          <a:xfrm>
            <a:off x="761471" y="3994682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673783404" name="Text 9"/>
          <p:cNvSpPr/>
          <p:nvPr/>
        </p:nvSpPr>
        <p:spPr bwMode="auto">
          <a:xfrm>
            <a:off x="1003300" y="3976886"/>
            <a:ext cx="50542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400"/>
          </a:p>
        </p:txBody>
      </p:sp>
      <p:sp>
        <p:nvSpPr>
          <p:cNvPr id="1389056267" name="Text 10"/>
          <p:cNvSpPr/>
          <p:nvPr/>
        </p:nvSpPr>
        <p:spPr bwMode="auto">
          <a:xfrm>
            <a:off x="2563085" y="3183334"/>
            <a:ext cx="3474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coda</a:t>
            </a:r>
            <a:endParaRPr lang="en-US" sz="1200"/>
          </a:p>
        </p:txBody>
      </p:sp>
      <p:pic>
        <p:nvPicPr>
          <p:cNvPr id="1729172445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609850" y="3434755"/>
            <a:ext cx="254000" cy="177800"/>
          </a:xfrm>
          <a:prstGeom prst="rect">
            <a:avLst/>
          </a:prstGeom>
        </p:spPr>
      </p:pic>
      <p:sp>
        <p:nvSpPr>
          <p:cNvPr id="1757472348" name="Shape 11"/>
          <p:cNvSpPr/>
          <p:nvPr/>
        </p:nvSpPr>
        <p:spPr bwMode="auto">
          <a:xfrm>
            <a:off x="3095625" y="2437346"/>
            <a:ext cx="5513917" cy="1921206"/>
          </a:xfrm>
          <a:prstGeom prst="roundRect">
            <a:avLst>
              <a:gd name="adj" fmla="val 7437"/>
            </a:avLst>
          </a:prstGeom>
          <a:noFill/>
          <a:ln w="19050">
            <a:solidFill>
              <a:srgbClr val="6B7C93"/>
            </a:solidFill>
            <a:prstDash val="dash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63425224" name="Text 12"/>
          <p:cNvSpPr/>
          <p:nvPr/>
        </p:nvSpPr>
        <p:spPr bwMode="auto">
          <a:xfrm>
            <a:off x="3138276" y="2533650"/>
            <a:ext cx="542861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un solo aggancio XDP</a:t>
            </a:r>
            <a:endParaRPr lang="en-US" sz="1200"/>
          </a:p>
        </p:txBody>
      </p:sp>
      <p:sp>
        <p:nvSpPr>
          <p:cNvPr id="2140098721" name="Shape 13"/>
          <p:cNvSpPr/>
          <p:nvPr/>
        </p:nvSpPr>
        <p:spPr bwMode="auto">
          <a:xfrm>
            <a:off x="3226858" y="2819995"/>
            <a:ext cx="2139950" cy="1407319"/>
          </a:xfrm>
          <a:prstGeom prst="roundRect">
            <a:avLst>
              <a:gd name="adj" fmla="val 8347"/>
            </a:avLst>
          </a:prstGeom>
          <a:solidFill>
            <a:srgbClr val="FDEBDB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1931800" name="Text 14"/>
          <p:cNvSpPr/>
          <p:nvPr/>
        </p:nvSpPr>
        <p:spPr bwMode="auto">
          <a:xfrm>
            <a:off x="3329517" y="2935362"/>
            <a:ext cx="199267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Programma 1</a:t>
            </a:r>
            <a:endParaRPr lang="en-US" sz="1400"/>
          </a:p>
        </p:txBody>
      </p:sp>
      <p:sp>
        <p:nvSpPr>
          <p:cNvPr id="91826709" name="Text 15"/>
          <p:cNvSpPr/>
          <p:nvPr/>
        </p:nvSpPr>
        <p:spPr bwMode="auto">
          <a:xfrm>
            <a:off x="3329517" y="3222365"/>
            <a:ext cx="199267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e basta</a:t>
            </a:r>
            <a:endParaRPr lang="en-US" sz="1300"/>
          </a:p>
        </p:txBody>
      </p:sp>
      <p:sp>
        <p:nvSpPr>
          <p:cNvPr id="1191179001" name="Shape 16"/>
          <p:cNvSpPr/>
          <p:nvPr/>
        </p:nvSpPr>
        <p:spPr bwMode="auto">
          <a:xfrm>
            <a:off x="3329517" y="3466840"/>
            <a:ext cx="1457985" cy="289520"/>
          </a:xfrm>
          <a:prstGeom prst="roundRect">
            <a:avLst>
              <a:gd name="adj" fmla="val 21933"/>
            </a:avLst>
          </a:prstGeom>
          <a:solidFill>
            <a:srgbClr val="1E273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67512178" name="Text 17"/>
          <p:cNvSpPr/>
          <p:nvPr/>
        </p:nvSpPr>
        <p:spPr bwMode="auto">
          <a:xfrm>
            <a:off x="3418417" y="3504940"/>
            <a:ext cx="133098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E8ECF1"/>
                </a:solidFill>
                <a:latin typeface="JetBrains Mono"/>
                <a:ea typeface="JetBrains Mono"/>
                <a:cs typeface="JetBrains Mono"/>
              </a:rPr>
              <a:t>ing_count += 1</a:t>
            </a:r>
            <a:endParaRPr lang="en-US" sz="1200"/>
          </a:p>
        </p:txBody>
      </p:sp>
      <p:sp>
        <p:nvSpPr>
          <p:cNvPr id="1191820074" name="Shape 18"/>
          <p:cNvSpPr/>
          <p:nvPr/>
        </p:nvSpPr>
        <p:spPr bwMode="auto">
          <a:xfrm>
            <a:off x="3329517" y="3832560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362551" name="Text 19"/>
          <p:cNvSpPr/>
          <p:nvPr/>
        </p:nvSpPr>
        <p:spPr bwMode="auto">
          <a:xfrm>
            <a:off x="3430588" y="3865563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670381494" name="Text 20"/>
          <p:cNvSpPr/>
          <p:nvPr/>
        </p:nvSpPr>
        <p:spPr bwMode="auto">
          <a:xfrm>
            <a:off x="3672417" y="3847778"/>
            <a:ext cx="60437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</a:t>
            </a:r>
            <a:endParaRPr lang="en-US" sz="1400"/>
          </a:p>
        </p:txBody>
      </p:sp>
      <p:sp>
        <p:nvSpPr>
          <p:cNvPr id="1084961673" name="Text 21"/>
          <p:cNvSpPr/>
          <p:nvPr/>
        </p:nvSpPr>
        <p:spPr bwMode="auto">
          <a:xfrm>
            <a:off x="5551422" y="3309020"/>
            <a:ext cx="3483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salto</a:t>
            </a:r>
            <a:endParaRPr lang="en-US" sz="1200"/>
          </a:p>
        </p:txBody>
      </p:sp>
      <p:pic>
        <p:nvPicPr>
          <p:cNvPr id="461268320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598583" y="3560440"/>
            <a:ext cx="254000" cy="177800"/>
          </a:xfrm>
          <a:prstGeom prst="rect">
            <a:avLst/>
          </a:prstGeom>
        </p:spPr>
      </p:pic>
      <p:sp>
        <p:nvSpPr>
          <p:cNvPr id="80165458" name="Shape 22"/>
          <p:cNvSpPr/>
          <p:nvPr/>
        </p:nvSpPr>
        <p:spPr bwMode="auto">
          <a:xfrm>
            <a:off x="6074833" y="2810470"/>
            <a:ext cx="2413000" cy="1426369"/>
          </a:xfrm>
          <a:prstGeom prst="roundRect">
            <a:avLst>
              <a:gd name="adj" fmla="val 890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019473" name="Text 23"/>
          <p:cNvSpPr/>
          <p:nvPr/>
        </p:nvSpPr>
        <p:spPr bwMode="auto">
          <a:xfrm>
            <a:off x="6189133" y="2937470"/>
            <a:ext cx="224993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Programma 2</a:t>
            </a:r>
            <a:endParaRPr lang="en-US" sz="1400"/>
          </a:p>
        </p:txBody>
      </p:sp>
      <p:sp>
        <p:nvSpPr>
          <p:cNvPr id="670639941" name="Text 24"/>
          <p:cNvSpPr/>
          <p:nvPr/>
        </p:nvSpPr>
        <p:spPr bwMode="auto">
          <a:xfrm>
            <a:off x="6189133" y="3224485"/>
            <a:ext cx="2249932" cy="438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la pipeline: baseline, P1, P1.5, P2 o P3</a:t>
            </a:r>
            <a:endParaRPr lang="en-US" sz="1300"/>
          </a:p>
        </p:txBody>
      </p:sp>
      <p:sp>
        <p:nvSpPr>
          <p:cNvPr id="1931531702" name="Text 25"/>
          <p:cNvSpPr/>
          <p:nvPr/>
        </p:nvSpPr>
        <p:spPr bwMode="auto">
          <a:xfrm>
            <a:off x="8700691" y="3183334"/>
            <a:ext cx="5352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redirect</a:t>
            </a:r>
            <a:endParaRPr lang="en-US" sz="1200"/>
          </a:p>
        </p:txBody>
      </p:sp>
      <p:pic>
        <p:nvPicPr>
          <p:cNvPr id="1508502833" name="Image 2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841317" y="3434755"/>
            <a:ext cx="254000" cy="177800"/>
          </a:xfrm>
          <a:prstGeom prst="rect">
            <a:avLst/>
          </a:prstGeom>
        </p:spPr>
      </p:pic>
      <p:sp>
        <p:nvSpPr>
          <p:cNvPr id="752483824" name="Shape 26"/>
          <p:cNvSpPr/>
          <p:nvPr/>
        </p:nvSpPr>
        <p:spPr bwMode="auto">
          <a:xfrm>
            <a:off x="9317567" y="2427821"/>
            <a:ext cx="1841500" cy="1940256"/>
          </a:xfrm>
          <a:prstGeom prst="roundRect">
            <a:avLst>
              <a:gd name="adj" fmla="val 6897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83320654" name="Text 27"/>
          <p:cNvSpPr/>
          <p:nvPr/>
        </p:nvSpPr>
        <p:spPr bwMode="auto">
          <a:xfrm>
            <a:off x="9431867" y="2554821"/>
            <a:ext cx="16637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Nodo successivo</a:t>
            </a:r>
            <a:endParaRPr lang="en-US" sz="1400"/>
          </a:p>
        </p:txBody>
      </p:sp>
      <p:sp>
        <p:nvSpPr>
          <p:cNvPr id="585442274" name="Text 28"/>
          <p:cNvSpPr/>
          <p:nvPr/>
        </p:nvSpPr>
        <p:spPr bwMode="auto">
          <a:xfrm>
            <a:off x="9431867" y="2841823"/>
            <a:ext cx="1663700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conta gli arrivi</a:t>
            </a:r>
            <a:endParaRPr lang="en-US" sz="1300"/>
          </a:p>
        </p:txBody>
      </p:sp>
      <p:sp>
        <p:nvSpPr>
          <p:cNvPr id="1255154879" name="Shape 29"/>
          <p:cNvSpPr/>
          <p:nvPr/>
        </p:nvSpPr>
        <p:spPr bwMode="auto">
          <a:xfrm>
            <a:off x="9431867" y="396168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62855382" name="Text 30"/>
          <p:cNvSpPr/>
          <p:nvPr/>
        </p:nvSpPr>
        <p:spPr bwMode="auto">
          <a:xfrm>
            <a:off x="9532938" y="3994682"/>
            <a:ext cx="12805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1876427376" name="Text 31"/>
          <p:cNvSpPr/>
          <p:nvPr/>
        </p:nvSpPr>
        <p:spPr bwMode="auto">
          <a:xfrm>
            <a:off x="9774767" y="3976886"/>
            <a:ext cx="6402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inoltrati</a:t>
            </a:r>
            <a:endParaRPr lang="en-US" sz="1400"/>
          </a:p>
        </p:txBody>
      </p:sp>
      <p:sp>
        <p:nvSpPr>
          <p:cNvPr id="735021578" name="Shape 32"/>
          <p:cNvSpPr/>
          <p:nvPr/>
        </p:nvSpPr>
        <p:spPr bwMode="auto">
          <a:xfrm>
            <a:off x="546100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36901996" name="Shape 33"/>
          <p:cNvSpPr/>
          <p:nvPr/>
        </p:nvSpPr>
        <p:spPr bwMode="auto">
          <a:xfrm>
            <a:off x="546100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63378961" name="Text 34"/>
          <p:cNvSpPr/>
          <p:nvPr/>
        </p:nvSpPr>
        <p:spPr bwMode="auto">
          <a:xfrm>
            <a:off x="723900" y="5172869"/>
            <a:ext cx="33400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 − ricevuti</a:t>
            </a:r>
            <a:endParaRPr lang="en-US" sz="2000"/>
          </a:p>
        </p:txBody>
      </p:sp>
      <p:sp>
        <p:nvSpPr>
          <p:cNvPr id="996557132" name="Text 35"/>
          <p:cNvSpPr/>
          <p:nvPr/>
        </p:nvSpPr>
        <p:spPr bwMode="auto">
          <a:xfrm>
            <a:off x="723900" y="55665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= persi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prima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 programma</a:t>
            </a:r>
            <a:endParaRPr lang="en-US" sz="1500"/>
          </a:p>
        </p:txBody>
      </p:sp>
      <p:sp>
        <p:nvSpPr>
          <p:cNvPr id="802310770" name="Text 36"/>
          <p:cNvSpPr/>
          <p:nvPr/>
        </p:nvSpPr>
        <p:spPr bwMode="auto">
          <a:xfrm>
            <a:off x="723900" y="5871369"/>
            <a:ext cx="3340014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respinti dalla coda d'ingresso</a:t>
            </a:r>
            <a:endParaRPr lang="en-US" sz="1300"/>
          </a:p>
        </p:txBody>
      </p:sp>
      <p:sp>
        <p:nvSpPr>
          <p:cNvPr id="1539620471" name="Shape 37"/>
          <p:cNvSpPr/>
          <p:nvPr/>
        </p:nvSpPr>
        <p:spPr bwMode="auto">
          <a:xfrm>
            <a:off x="4296833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60899558" name="Shape 38"/>
          <p:cNvSpPr/>
          <p:nvPr/>
        </p:nvSpPr>
        <p:spPr bwMode="auto">
          <a:xfrm>
            <a:off x="4296833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2E9C6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3942103" name="Text 39"/>
          <p:cNvSpPr/>
          <p:nvPr/>
        </p:nvSpPr>
        <p:spPr bwMode="auto">
          <a:xfrm>
            <a:off x="4474633" y="5172869"/>
            <a:ext cx="33400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  <a:defRPr/>
            </a:pPr>
            <a:r>
              <a:rPr lang="en-US" sz="2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− inoltrati</a:t>
            </a:r>
            <a:endParaRPr lang="en-US" sz="2000"/>
          </a:p>
        </p:txBody>
      </p:sp>
      <p:sp>
        <p:nvSpPr>
          <p:cNvPr id="336036575" name="Text 40"/>
          <p:cNvSpPr/>
          <p:nvPr/>
        </p:nvSpPr>
        <p:spPr bwMode="auto">
          <a:xfrm>
            <a:off x="4474633" y="55665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= persi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dopo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il programma</a:t>
            </a:r>
            <a:endParaRPr lang="en-US" sz="1500"/>
          </a:p>
        </p:txBody>
      </p:sp>
      <p:sp>
        <p:nvSpPr>
          <p:cNvPr id="173621689" name="Text 41"/>
          <p:cNvSpPr/>
          <p:nvPr/>
        </p:nvSpPr>
        <p:spPr bwMode="auto">
          <a:xfrm>
            <a:off x="4474633" y="5871369"/>
            <a:ext cx="3340014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o decisioni del modello (scarta)</a:t>
            </a:r>
            <a:endParaRPr lang="en-US" sz="1300"/>
          </a:p>
        </p:txBody>
      </p:sp>
      <p:sp>
        <p:nvSpPr>
          <p:cNvPr id="590517771" name="Shape 42"/>
          <p:cNvSpPr/>
          <p:nvPr/>
        </p:nvSpPr>
        <p:spPr bwMode="auto">
          <a:xfrm>
            <a:off x="8047567" y="4969669"/>
            <a:ext cx="3598333" cy="1291431"/>
          </a:xfrm>
          <a:prstGeom prst="roundRect">
            <a:avLst>
              <a:gd name="adj" fmla="val 9834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73241189" name="Shape 43"/>
          <p:cNvSpPr/>
          <p:nvPr/>
        </p:nvSpPr>
        <p:spPr bwMode="auto">
          <a:xfrm>
            <a:off x="8047567" y="4969669"/>
            <a:ext cx="3598333" cy="88900"/>
          </a:xfrm>
          <a:custGeom>
            <a:avLst/>
            <a:gdLst/>
            <a:ahLst/>
            <a:cxnLst/>
            <a:rect l="l" t="t" r="r" b="b"/>
            <a:pathLst>
              <a:path w="3598333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3471333" y="0"/>
                </a:lnTo>
                <a:arcTo wR="127000" hR="127000" stAng="16200000" swAng="4352544"/>
                <a:close/>
              </a:path>
            </a:pathLst>
          </a:cu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29668951" name="Text 44"/>
          <p:cNvSpPr/>
          <p:nvPr/>
        </p:nvSpPr>
        <p:spPr bwMode="auto">
          <a:xfrm>
            <a:off x="8225367" y="5172869"/>
            <a:ext cx="334001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rxonly = il solo programma 1</a:t>
            </a:r>
            <a:endParaRPr lang="en-US" sz="1500"/>
          </a:p>
        </p:txBody>
      </p:sp>
      <p:sp>
        <p:nvSpPr>
          <p:cNvPr id="1929743973" name="Text 45"/>
          <p:cNvSpPr/>
          <p:nvPr/>
        </p:nvSpPr>
        <p:spPr bwMode="auto">
          <a:xfrm>
            <a:off x="8225367" y="5477669"/>
            <a:ext cx="3340014" cy="669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Dice quanto regge la sola ricezione allo stesso ritmo. Il programma 1 costa da −3 a +2 ns: dentro il rumore.</a:t>
            </a:r>
          </a:p>
        </p:txBody>
      </p:sp>
      <p:sp>
        <p:nvSpPr>
          <p:cNvPr id="1942178308" name="Text 46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salto è la tail call che le pipeline già usano · costo del programma 1 misurato con le statistiche del kernel</a:t>
            </a:r>
            <a:endParaRPr lang="en-US" sz="1200"/>
          </a:p>
        </p:txBody>
      </p:sp>
      <p:sp>
        <p:nvSpPr>
          <p:cNvPr id="308181973" name="Text 47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278033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587942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COME SI LEGGE</a:t>
            </a:r>
            <a:endParaRPr lang="en-US" sz="1200"/>
          </a:p>
        </p:txBody>
      </p:sp>
      <p:sp>
        <p:nvSpPr>
          <p:cNvPr id="1546599962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Dove mancano i pacchetti indica il collo di bottiglia</a:t>
            </a:r>
            <a:endParaRPr lang="en-US" sz="3000"/>
          </a:p>
        </p:txBody>
      </p:sp>
      <p:sp>
        <p:nvSpPr>
          <p:cNvPr id="1701456581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 programma XDP non ha una coda sua: se è lento, si riempie la coda che sta </a:t>
            </a:r>
            <a:r>
              <a:rPr lang="en-US" sz="16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davanti</a:t>
            </a: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a lui.</a:t>
            </a:r>
            <a:endParaRPr lang="en-US" sz="1600"/>
          </a:p>
        </p:txBody>
      </p:sp>
      <p:sp>
        <p:nvSpPr>
          <p:cNvPr id="524893936" name="Shape 4"/>
          <p:cNvSpPr/>
          <p:nvPr/>
        </p:nvSpPr>
        <p:spPr bwMode="auto">
          <a:xfrm>
            <a:off x="546100" y="2270658"/>
            <a:ext cx="4883348" cy="1038754"/>
          </a:xfrm>
          <a:prstGeom prst="roundRect">
            <a:avLst>
              <a:gd name="adj" fmla="val 12226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93685201" name="Text 5"/>
          <p:cNvSpPr/>
          <p:nvPr/>
        </p:nvSpPr>
        <p:spPr bwMode="auto">
          <a:xfrm>
            <a:off x="723900" y="2384958"/>
            <a:ext cx="46635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SI OSSERVA</a:t>
            </a:r>
            <a:endParaRPr lang="en-US" sz="1200"/>
          </a:p>
        </p:txBody>
      </p:sp>
      <p:sp>
        <p:nvSpPr>
          <p:cNvPr id="734267060" name="Text 6"/>
          <p:cNvSpPr/>
          <p:nvPr/>
        </p:nvSpPr>
        <p:spPr bwMode="auto">
          <a:xfrm>
            <a:off x="723900" y="2623679"/>
            <a:ext cx="4663581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inviati &gt; ricevuti</a:t>
            </a:r>
            <a:endParaRPr lang="en-US" sz="1700"/>
          </a:p>
        </p:txBody>
      </p:sp>
      <p:sp>
        <p:nvSpPr>
          <p:cNvPr id="319559885" name="Text 7"/>
          <p:cNvSpPr/>
          <p:nvPr/>
        </p:nvSpPr>
        <p:spPr bwMode="auto">
          <a:xfrm>
            <a:off x="723900" y="2951299"/>
            <a:ext cx="466358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mancano pacchetti prima di XDP</a:t>
            </a:r>
            <a:endParaRPr lang="en-US" sz="1300"/>
          </a:p>
        </p:txBody>
      </p:sp>
      <p:pic>
        <p:nvPicPr>
          <p:cNvPr id="1104291401" name="Image 0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518348" y="2701131"/>
            <a:ext cx="254000" cy="177800"/>
          </a:xfrm>
          <a:prstGeom prst="rect">
            <a:avLst/>
          </a:prstGeom>
        </p:spPr>
      </p:pic>
      <p:sp>
        <p:nvSpPr>
          <p:cNvPr id="1333745996" name="Shape 8"/>
          <p:cNvSpPr/>
          <p:nvPr/>
        </p:nvSpPr>
        <p:spPr bwMode="auto">
          <a:xfrm>
            <a:off x="5870773" y="2280183"/>
            <a:ext cx="5765602" cy="1019703"/>
          </a:xfrm>
          <a:prstGeom prst="roundRect">
            <a:avLst>
              <a:gd name="adj" fmla="val 11521"/>
            </a:avLst>
          </a:prstGeom>
          <a:solidFill>
            <a:srgbClr val="FFFFFF"/>
          </a:solidFill>
          <a:ln w="19050">
            <a:solidFill>
              <a:srgbClr val="E07A2D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90623587" name="Text 9"/>
          <p:cNvSpPr/>
          <p:nvPr/>
        </p:nvSpPr>
        <p:spPr bwMode="auto">
          <a:xfrm>
            <a:off x="6036932" y="2382838"/>
            <a:ext cx="55962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VUOL DIRE</a:t>
            </a:r>
            <a:endParaRPr lang="en-US" sz="1200"/>
          </a:p>
        </p:txBody>
      </p:sp>
      <p:sp>
        <p:nvSpPr>
          <p:cNvPr id="1748506692" name="Text 10"/>
          <p:cNvSpPr/>
          <p:nvPr/>
        </p:nvSpPr>
        <p:spPr bwMode="auto">
          <a:xfrm>
            <a:off x="6036932" y="2621558"/>
            <a:ext cx="5596284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coda d'ingresso è piena: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(o la sola ricezione: lo separa rxonly).</a:t>
            </a:r>
            <a:endParaRPr lang="en-US" sz="1500"/>
          </a:p>
        </p:txBody>
      </p:sp>
      <p:sp>
        <p:nvSpPr>
          <p:cNvPr id="1407940152" name="Shape 11"/>
          <p:cNvSpPr/>
          <p:nvPr/>
        </p:nvSpPr>
        <p:spPr bwMode="auto">
          <a:xfrm>
            <a:off x="546100" y="3753842"/>
            <a:ext cx="5043025" cy="1535774"/>
          </a:xfrm>
          <a:prstGeom prst="roundRect">
            <a:avLst>
              <a:gd name="adj" fmla="val 826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6195779" name="Text 12"/>
          <p:cNvSpPr/>
          <p:nvPr/>
        </p:nvSpPr>
        <p:spPr bwMode="auto">
          <a:xfrm>
            <a:off x="723900" y="4017640"/>
            <a:ext cx="482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SI OSSERVA</a:t>
            </a:r>
            <a:endParaRPr lang="en-US" sz="1200"/>
          </a:p>
        </p:txBody>
      </p:sp>
      <p:sp>
        <p:nvSpPr>
          <p:cNvPr id="509483718" name="Text 13"/>
          <p:cNvSpPr/>
          <p:nvPr/>
        </p:nvSpPr>
        <p:spPr bwMode="auto">
          <a:xfrm>
            <a:off x="723900" y="4256360"/>
            <a:ext cx="4828047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&gt; inoltrati</a:t>
            </a:r>
            <a:endParaRPr lang="en-US" sz="1700"/>
          </a:p>
        </p:txBody>
      </p:sp>
      <p:sp>
        <p:nvSpPr>
          <p:cNvPr id="1212135264" name="Text 14"/>
          <p:cNvSpPr/>
          <p:nvPr/>
        </p:nvSpPr>
        <p:spPr bwMode="auto">
          <a:xfrm>
            <a:off x="723900" y="4583981"/>
            <a:ext cx="4828047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al nodo successivo ne arrivano meno: si guarda che cosa aveva deciso il programma</a:t>
            </a:r>
            <a:endParaRPr lang="en-US" sz="1300"/>
          </a:p>
        </p:txBody>
      </p:sp>
      <p:pic>
        <p:nvPicPr>
          <p:cNvPr id="788636605" name="Image 1" descr="arrow-righ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678025" y="4432833"/>
            <a:ext cx="254000" cy="177800"/>
          </a:xfrm>
          <a:prstGeom prst="rect">
            <a:avLst/>
          </a:prstGeom>
        </p:spPr>
      </p:pic>
      <p:sp>
        <p:nvSpPr>
          <p:cNvPr id="668576566" name="Shape 15"/>
          <p:cNvSpPr/>
          <p:nvPr/>
        </p:nvSpPr>
        <p:spPr bwMode="auto">
          <a:xfrm>
            <a:off x="6030450" y="3763367"/>
            <a:ext cx="5605926" cy="704387"/>
          </a:xfrm>
          <a:prstGeom prst="roundRect">
            <a:avLst>
              <a:gd name="adj" fmla="val 16678"/>
            </a:avLst>
          </a:prstGeom>
          <a:solidFill>
            <a:srgbClr val="FFFFFF"/>
          </a:solidFill>
          <a:ln w="19050">
            <a:solidFill>
              <a:srgbClr val="2E9C6E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25190217" name="Text 16"/>
          <p:cNvSpPr/>
          <p:nvPr/>
        </p:nvSpPr>
        <p:spPr bwMode="auto">
          <a:xfrm>
            <a:off x="6196607" y="3866034"/>
            <a:ext cx="54318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2E9C6E"/>
                </a:solidFill>
                <a:latin typeface="Carlito"/>
                <a:ea typeface="Carlito"/>
                <a:cs typeface="Carlito"/>
              </a:rPr>
              <a:t>SE AVEVA DECISO DI INOLTRARE</a:t>
            </a:r>
            <a:endParaRPr lang="en-US" sz="1200"/>
          </a:p>
        </p:txBody>
      </p:sp>
      <p:sp>
        <p:nvSpPr>
          <p:cNvPr id="1130598826" name="Text 17"/>
          <p:cNvSpPr/>
          <p:nvPr/>
        </p:nvSpPr>
        <p:spPr bwMode="auto">
          <a:xfrm>
            <a:off x="6196607" y="4104754"/>
            <a:ext cx="5431817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pacchetto non è arrivato: il collo di bottiglia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trasmissione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.</a:t>
            </a:r>
            <a:endParaRPr lang="en-US" sz="1500"/>
          </a:p>
        </p:txBody>
      </p:sp>
      <p:sp>
        <p:nvSpPr>
          <p:cNvPr id="1976015038" name="Shape 18"/>
          <p:cNvSpPr/>
          <p:nvPr/>
        </p:nvSpPr>
        <p:spPr bwMode="auto">
          <a:xfrm>
            <a:off x="6030450" y="4575708"/>
            <a:ext cx="5605926" cy="704387"/>
          </a:xfrm>
          <a:prstGeom prst="roundRect">
            <a:avLst>
              <a:gd name="adj" fmla="val 16678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14328207" name="Text 19"/>
          <p:cNvSpPr/>
          <p:nvPr/>
        </p:nvSpPr>
        <p:spPr bwMode="auto">
          <a:xfrm>
            <a:off x="6196607" y="4678363"/>
            <a:ext cx="543181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SE AVEVA DECISO DI SCARTARE (O NON USATA)</a:t>
            </a:r>
            <a:endParaRPr lang="en-US" sz="1200"/>
          </a:p>
        </p:txBody>
      </p:sp>
      <p:sp>
        <p:nvSpPr>
          <p:cNvPr id="283104236" name="Text 20"/>
          <p:cNvSpPr/>
          <p:nvPr/>
        </p:nvSpPr>
        <p:spPr bwMode="auto">
          <a:xfrm>
            <a:off x="6196607" y="4917083"/>
            <a:ext cx="5431817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Non è una perdita: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una decisione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della rete neurale.</a:t>
            </a:r>
            <a:endParaRPr lang="en-US" sz="1500"/>
          </a:p>
        </p:txBody>
      </p:sp>
      <p:sp>
        <p:nvSpPr>
          <p:cNvPr id="1717949444" name="Shape 21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0517019" name="Shape 22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1444520" name="Text 23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676002854" name="Text 24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Tre conteggi più le decisioni del programma separano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tre casi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che altrimenti sembrerebbero uguali.</a:t>
            </a:r>
            <a:endParaRPr lang="en-US" sz="1500"/>
          </a:p>
        </p:txBody>
      </p:sp>
      <p:sp>
        <p:nvSpPr>
          <p:cNvPr id="1796943261" name="Text 25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Inviati: generatore · ricevuti: programma 1 · inoltrati: nodo successivo · decisioni: contatori della pipeline (HIT, MISS, DROP)</a:t>
            </a:r>
            <a:endParaRPr lang="en-US" sz="1200"/>
          </a:p>
        </p:txBody>
      </p:sp>
      <p:sp>
        <p:nvSpPr>
          <p:cNvPr id="816164744" name="Text 26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61320539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48542884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PACCHETTI INOLTRATI</a:t>
            </a:r>
            <a:endParaRPr lang="en-US" sz="1200"/>
          </a:p>
        </p:txBody>
      </p:sp>
      <p:sp>
        <p:nvSpPr>
          <p:cNvPr id="1065761639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Ogni curva sale con il traffico e poi si ferma</a:t>
            </a:r>
            <a:endParaRPr lang="en-US" sz="3000"/>
          </a:p>
        </p:txBody>
      </p:sp>
      <p:pic>
        <p:nvPicPr>
          <p:cNvPr id="1516013105" name="Image 0" descr="Pacchetti inoltrati al secondo contro traffico inviato: ogni pipeline segue la diagonale e si ferma alla propria capacità (P1 8,7, P1.5 8,2, P2 3,5, P3 2,4 milioni al secondo)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501503217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pacchetti/s inoltrati</a:t>
            </a:r>
            <a:endParaRPr lang="en-US" sz="1200"/>
          </a:p>
        </p:txBody>
      </p:sp>
      <p:sp>
        <p:nvSpPr>
          <p:cNvPr id="432164483" name="Text 4"/>
          <p:cNvSpPr/>
          <p:nvPr/>
        </p:nvSpPr>
        <p:spPr bwMode="auto">
          <a:xfrm>
            <a:off x="495300" y="45821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608310193" name="Text 5"/>
          <p:cNvSpPr/>
          <p:nvPr/>
        </p:nvSpPr>
        <p:spPr bwMode="auto">
          <a:xfrm>
            <a:off x="495300" y="39852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197476078" name="Text 6"/>
          <p:cNvSpPr/>
          <p:nvPr/>
        </p:nvSpPr>
        <p:spPr bwMode="auto">
          <a:xfrm>
            <a:off x="495300" y="33883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202781063" name="Text 7"/>
          <p:cNvSpPr/>
          <p:nvPr/>
        </p:nvSpPr>
        <p:spPr bwMode="auto">
          <a:xfrm>
            <a:off x="495300" y="27914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200"/>
          </a:p>
        </p:txBody>
      </p:sp>
      <p:sp>
        <p:nvSpPr>
          <p:cNvPr id="1844517580" name="Text 8"/>
          <p:cNvSpPr/>
          <p:nvPr/>
        </p:nvSpPr>
        <p:spPr bwMode="auto">
          <a:xfrm>
            <a:off x="495300" y="21945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8</a:t>
            </a:r>
            <a:endParaRPr lang="en-US" sz="1200"/>
          </a:p>
        </p:txBody>
      </p:sp>
      <p:sp>
        <p:nvSpPr>
          <p:cNvPr id="2146217695" name="Text 8"/>
          <p:cNvSpPr/>
          <p:nvPr/>
        </p:nvSpPr>
        <p:spPr bwMode="auto">
          <a:xfrm>
            <a:off x="495300" y="15976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10</a:t>
            </a:r>
            <a:endParaRPr lang="en-US" sz="1200"/>
          </a:p>
        </p:txBody>
      </p:sp>
      <p:sp>
        <p:nvSpPr>
          <p:cNvPr id="1320873304" name="Text 10"/>
          <p:cNvSpPr/>
          <p:nvPr/>
        </p:nvSpPr>
        <p:spPr bwMode="auto">
          <a:xfrm>
            <a:off x="774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393229814" name="Text 11"/>
          <p:cNvSpPr/>
          <p:nvPr/>
        </p:nvSpPr>
        <p:spPr bwMode="auto">
          <a:xfrm>
            <a:off x="1917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1417996682" name="Text 12"/>
          <p:cNvSpPr/>
          <p:nvPr/>
        </p:nvSpPr>
        <p:spPr bwMode="auto">
          <a:xfrm>
            <a:off x="3060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2086912781" name="Text 13"/>
          <p:cNvSpPr/>
          <p:nvPr/>
        </p:nvSpPr>
        <p:spPr bwMode="auto">
          <a:xfrm>
            <a:off x="4203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807668496" name="Text 14"/>
          <p:cNvSpPr/>
          <p:nvPr/>
        </p:nvSpPr>
        <p:spPr bwMode="auto">
          <a:xfrm>
            <a:off x="5346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2146217694" name="Text 14"/>
          <p:cNvSpPr/>
          <p:nvPr/>
        </p:nvSpPr>
        <p:spPr bwMode="auto">
          <a:xfrm>
            <a:off x="6489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  <p:sp>
        <p:nvSpPr>
          <p:cNvPr id="514848756" name="Text 17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1274350883" name="Text 18"/>
          <p:cNvSpPr/>
          <p:nvPr/>
        </p:nvSpPr>
        <p:spPr bwMode="auto">
          <a:xfrm>
            <a:off x="2014219" y="3181857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200"/>
          </a:p>
        </p:txBody>
      </p:sp>
      <p:sp>
        <p:nvSpPr>
          <p:cNvPr id="971787188" name="Text 20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Dove si ferma ogni pipeline</a:t>
            </a:r>
            <a:endParaRPr lang="en-US" sz="1500"/>
          </a:p>
        </p:txBody>
      </p:sp>
      <p:sp>
        <p:nvSpPr>
          <p:cNvPr id="1856316116" name="Text 21"/>
          <p:cNvSpPr/>
          <p:nvPr/>
        </p:nvSpPr>
        <p:spPr bwMode="auto">
          <a:xfrm>
            <a:off x="7162800" y="2139429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pipeline</a:t>
            </a:r>
            <a:endParaRPr lang="en-US" sz="1200"/>
          </a:p>
        </p:txBody>
      </p:sp>
      <p:sp>
        <p:nvSpPr>
          <p:cNvPr id="1278333431" name="Text 22"/>
          <p:cNvSpPr/>
          <p:nvPr/>
        </p:nvSpPr>
        <p:spPr bwMode="auto">
          <a:xfrm>
            <a:off x="8128000" y="1987091"/>
            <a:ext cx="11303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pulita fino a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(Gbit/s)</a:t>
            </a:r>
            <a:endParaRPr lang="en-US" sz="1200"/>
          </a:p>
        </p:txBody>
      </p:sp>
      <p:sp>
        <p:nvSpPr>
          <p:cNvPr id="998988649" name="Text 23"/>
          <p:cNvSpPr/>
          <p:nvPr/>
        </p:nvSpPr>
        <p:spPr bwMode="auto">
          <a:xfrm>
            <a:off x="9207500" y="1987091"/>
            <a:ext cx="9398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perde da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(Gbit/s)</a:t>
            </a:r>
            <a:endParaRPr lang="en-US" sz="1200"/>
          </a:p>
        </p:txBody>
      </p:sp>
      <p:sp>
        <p:nvSpPr>
          <p:cNvPr id="320730489" name="Text 24"/>
          <p:cNvSpPr/>
          <p:nvPr/>
        </p:nvSpPr>
        <p:spPr bwMode="auto">
          <a:xfrm>
            <a:off x="10096500" y="1987091"/>
            <a:ext cx="1320800" cy="391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inoltro max</a:t>
            </a:r>
            <a:endParaRPr lang="en-US" sz="1200"/>
          </a:p>
          <a:p>
            <a:pPr marL="0" indent="0" algn="r">
              <a:lnSpc>
                <a:spcPts val="144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(M pacchetti/s)</a:t>
            </a:r>
            <a:endParaRPr lang="en-US" sz="1200"/>
          </a:p>
        </p:txBody>
      </p:sp>
      <p:sp>
        <p:nvSpPr>
          <p:cNvPr id="1150075413" name="Shape 25"/>
          <p:cNvSpPr/>
          <p:nvPr/>
        </p:nvSpPr>
        <p:spPr bwMode="auto">
          <a:xfrm>
            <a:off x="7073900" y="2457648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12902227" name="Shape 26"/>
          <p:cNvSpPr/>
          <p:nvPr/>
        </p:nvSpPr>
        <p:spPr bwMode="auto">
          <a:xfrm>
            <a:off x="7162800" y="2559186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83601735" name="Text 27"/>
          <p:cNvSpPr/>
          <p:nvPr/>
        </p:nvSpPr>
        <p:spPr bwMode="auto">
          <a:xfrm>
            <a:off x="7378700" y="2510966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237564669" name="Text 28"/>
          <p:cNvSpPr/>
          <p:nvPr/>
        </p:nvSpPr>
        <p:spPr bwMode="auto">
          <a:xfrm>
            <a:off x="8128000" y="2510966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≥ 4,05</a:t>
            </a:r>
            <a:endParaRPr lang="en-US" sz="1400"/>
          </a:p>
        </p:txBody>
      </p:sp>
      <p:sp>
        <p:nvSpPr>
          <p:cNvPr id="1086593318" name="Text 29"/>
          <p:cNvSpPr/>
          <p:nvPr/>
        </p:nvSpPr>
        <p:spPr bwMode="auto">
          <a:xfrm>
            <a:off x="9207500" y="2510966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379252684" name="Text 30"/>
          <p:cNvSpPr/>
          <p:nvPr/>
        </p:nvSpPr>
        <p:spPr bwMode="auto">
          <a:xfrm>
            <a:off x="10096500" y="2510966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9,02*</a:t>
            </a:r>
          </a:p>
        </p:txBody>
      </p:sp>
      <p:sp>
        <p:nvSpPr>
          <p:cNvPr id="1292659127" name="Shape 31"/>
          <p:cNvSpPr/>
          <p:nvPr/>
        </p:nvSpPr>
        <p:spPr bwMode="auto">
          <a:xfrm>
            <a:off x="7073900" y="2918098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2326486" name="Shape 32"/>
          <p:cNvSpPr/>
          <p:nvPr/>
        </p:nvSpPr>
        <p:spPr bwMode="auto">
          <a:xfrm>
            <a:off x="7162800" y="3019623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5668774" name="Text 33"/>
          <p:cNvSpPr/>
          <p:nvPr/>
        </p:nvSpPr>
        <p:spPr bwMode="auto">
          <a:xfrm>
            <a:off x="7378700" y="2971403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155331024" name="Text 34"/>
          <p:cNvSpPr/>
          <p:nvPr/>
        </p:nvSpPr>
        <p:spPr bwMode="auto">
          <a:xfrm>
            <a:off x="8128000" y="2971403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4,04</a:t>
            </a:r>
            <a:endParaRPr lang="en-US" sz="1400"/>
          </a:p>
        </p:txBody>
      </p:sp>
      <p:sp>
        <p:nvSpPr>
          <p:cNvPr id="642692999" name="Text 35"/>
          <p:cNvSpPr/>
          <p:nvPr/>
        </p:nvSpPr>
        <p:spPr bwMode="auto">
          <a:xfrm>
            <a:off x="9207500" y="2971403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4,56</a:t>
            </a:r>
            <a:endParaRPr lang="en-US" sz="1400"/>
          </a:p>
        </p:txBody>
      </p:sp>
      <p:sp>
        <p:nvSpPr>
          <p:cNvPr id="218981886" name="Text 36"/>
          <p:cNvSpPr/>
          <p:nvPr/>
        </p:nvSpPr>
        <p:spPr bwMode="auto">
          <a:xfrm>
            <a:off x="10096500" y="2971403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8,66</a:t>
            </a:r>
          </a:p>
        </p:txBody>
      </p:sp>
      <p:sp>
        <p:nvSpPr>
          <p:cNvPr id="172165083" name="Shape 37"/>
          <p:cNvSpPr/>
          <p:nvPr/>
        </p:nvSpPr>
        <p:spPr bwMode="auto">
          <a:xfrm>
            <a:off x="7073900" y="3378597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0842438" name="Shape 38"/>
          <p:cNvSpPr/>
          <p:nvPr/>
        </p:nvSpPr>
        <p:spPr bwMode="auto">
          <a:xfrm>
            <a:off x="7162800" y="3480135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85195158" name="Text 39"/>
          <p:cNvSpPr/>
          <p:nvPr/>
        </p:nvSpPr>
        <p:spPr bwMode="auto">
          <a:xfrm>
            <a:off x="7378700" y="343191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563266348" name="Text 40"/>
          <p:cNvSpPr/>
          <p:nvPr/>
        </p:nvSpPr>
        <p:spPr bwMode="auto">
          <a:xfrm>
            <a:off x="8128000" y="3431915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4,08</a:t>
            </a:r>
          </a:p>
        </p:txBody>
      </p:sp>
      <p:sp>
        <p:nvSpPr>
          <p:cNvPr id="1508428133" name="Text 41"/>
          <p:cNvSpPr/>
          <p:nvPr/>
        </p:nvSpPr>
        <p:spPr bwMode="auto">
          <a:xfrm>
            <a:off x="9207500" y="3431915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4,56</a:t>
            </a:r>
          </a:p>
        </p:txBody>
      </p:sp>
      <p:sp>
        <p:nvSpPr>
          <p:cNvPr id="1277103624" name="Text 42"/>
          <p:cNvSpPr/>
          <p:nvPr/>
        </p:nvSpPr>
        <p:spPr bwMode="auto">
          <a:xfrm>
            <a:off x="10096500" y="343191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8,17</a:t>
            </a:r>
          </a:p>
        </p:txBody>
      </p:sp>
      <p:sp>
        <p:nvSpPr>
          <p:cNvPr id="260382075" name="Shape 43"/>
          <p:cNvSpPr/>
          <p:nvPr/>
        </p:nvSpPr>
        <p:spPr bwMode="auto">
          <a:xfrm>
            <a:off x="7073900" y="3839046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28752026" name="Shape 44"/>
          <p:cNvSpPr/>
          <p:nvPr/>
        </p:nvSpPr>
        <p:spPr bwMode="auto">
          <a:xfrm>
            <a:off x="7162800" y="3940572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36318165" name="Text 45"/>
          <p:cNvSpPr/>
          <p:nvPr/>
        </p:nvSpPr>
        <p:spPr bwMode="auto">
          <a:xfrm>
            <a:off x="7378700" y="3892352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397400571" name="Text 46"/>
          <p:cNvSpPr/>
          <p:nvPr/>
        </p:nvSpPr>
        <p:spPr bwMode="auto">
          <a:xfrm>
            <a:off x="8128000" y="3892352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1,54</a:t>
            </a:r>
            <a:endParaRPr lang="en-US" sz="1400"/>
          </a:p>
        </p:txBody>
      </p:sp>
      <p:sp>
        <p:nvSpPr>
          <p:cNvPr id="688041895" name="Text 47"/>
          <p:cNvSpPr/>
          <p:nvPr/>
        </p:nvSpPr>
        <p:spPr bwMode="auto">
          <a:xfrm>
            <a:off x="9207500" y="3892352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1,79</a:t>
            </a:r>
            <a:endParaRPr lang="en-US" sz="1400"/>
          </a:p>
        </p:txBody>
      </p:sp>
      <p:sp>
        <p:nvSpPr>
          <p:cNvPr id="1822472197" name="Text 48"/>
          <p:cNvSpPr/>
          <p:nvPr/>
        </p:nvSpPr>
        <p:spPr bwMode="auto">
          <a:xfrm>
            <a:off x="10096500" y="3892352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3,45</a:t>
            </a:r>
          </a:p>
        </p:txBody>
      </p:sp>
      <p:sp>
        <p:nvSpPr>
          <p:cNvPr id="278094196" name="Shape 49"/>
          <p:cNvSpPr/>
          <p:nvPr/>
        </p:nvSpPr>
        <p:spPr bwMode="auto">
          <a:xfrm>
            <a:off x="7073900" y="4299545"/>
            <a:ext cx="4572000" cy="355600"/>
          </a:xfrm>
          <a:prstGeom prst="roundRect">
            <a:avLst>
              <a:gd name="adj" fmla="val 21429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27421109" name="Shape 50"/>
          <p:cNvSpPr/>
          <p:nvPr/>
        </p:nvSpPr>
        <p:spPr bwMode="auto">
          <a:xfrm>
            <a:off x="7162800" y="4401083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32338426" name="Text 51"/>
          <p:cNvSpPr/>
          <p:nvPr/>
        </p:nvSpPr>
        <p:spPr bwMode="auto">
          <a:xfrm>
            <a:off x="7378700" y="4352863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264335640" name="Text 52"/>
          <p:cNvSpPr/>
          <p:nvPr/>
        </p:nvSpPr>
        <p:spPr bwMode="auto">
          <a:xfrm>
            <a:off x="8128000" y="4352863"/>
            <a:ext cx="1130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1,02</a:t>
            </a:r>
            <a:endParaRPr lang="en-US" sz="1400"/>
          </a:p>
        </p:txBody>
      </p:sp>
      <p:sp>
        <p:nvSpPr>
          <p:cNvPr id="726002821" name="Text 53"/>
          <p:cNvSpPr/>
          <p:nvPr/>
        </p:nvSpPr>
        <p:spPr bwMode="auto">
          <a:xfrm>
            <a:off x="9207500" y="4352863"/>
            <a:ext cx="939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1,28</a:t>
            </a:r>
            <a:endParaRPr lang="en-US" sz="1400"/>
          </a:p>
        </p:txBody>
      </p:sp>
      <p:sp>
        <p:nvSpPr>
          <p:cNvPr id="1502563335" name="Text 54"/>
          <p:cNvSpPr/>
          <p:nvPr/>
        </p:nvSpPr>
        <p:spPr bwMode="auto">
          <a:xfrm>
            <a:off x="10096500" y="4352863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2,37</a:t>
            </a:r>
          </a:p>
        </p:txBody>
      </p:sp>
      <p:sp>
        <p:nvSpPr>
          <p:cNvPr id="940055482" name="Text 55"/>
          <p:cNvSpPr/>
          <p:nvPr/>
        </p:nvSpPr>
        <p:spPr bwMode="auto">
          <a:xfrm>
            <a:off x="7073900" y="4759995"/>
            <a:ext cx="4709160" cy="4216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* Baseline: oltre 8 M/s il nodo è al 60%: il limite è del banco, non del programma.</a:t>
            </a:r>
          </a:p>
        </p:txBody>
      </p:sp>
      <p:sp>
        <p:nvSpPr>
          <p:cNvPr id="1336295453" name="Shape 56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74098306" name="Shape 57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44064995" name="Text 58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426815261" name="Text 59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Ogni curva si ferma alla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capacità della sua pipeline</a:t>
            </a:r>
            <a:r>
              <a:rPr lang="en-US" sz="15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P1 a 8,7, P1.5 a 8,2, P2 a 3,5 e P3 a 2,4 milioni di pacchetti al secondo, le stesse cifre del test di saturazione (slide 10).</a:t>
            </a:r>
          </a:p>
        </p:txBody>
      </p:sp>
      <p:sp>
        <p:nvSpPr>
          <p:cNvPr id="623512826" name="Text 60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16 valori di traffico, 5 giri ciascuno, 64 byte · xdp_gen, ritmo tenuto dal generatore · nodo su un P-core a 3,5 GHz</a:t>
            </a:r>
          </a:p>
        </p:txBody>
      </p:sp>
      <p:sp>
        <p:nvSpPr>
          <p:cNvPr id="417555541" name="Text 61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2202998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27036469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RICEVUTI E INOLTRATI</a:t>
            </a:r>
            <a:endParaRPr lang="en-US" sz="1200"/>
          </a:p>
        </p:txBody>
      </p:sp>
      <p:sp>
        <p:nvSpPr>
          <p:cNvPr id="10047965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programma rilancia tutto ciò che riceve</a:t>
            </a:r>
            <a:endParaRPr lang="en-US" sz="3000"/>
          </a:p>
        </p:txBody>
      </p:sp>
      <p:pic>
        <p:nvPicPr>
          <p:cNvPr id="505416" name="Image 0" descr="P2: ricevuti e inoltrati coincidono e si fermano a 3,45 milioni al secondo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590546161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milioni di pacchetti/s (pipeline P2)</a:t>
            </a:r>
            <a:endParaRPr lang="en-US" sz="1200"/>
          </a:p>
        </p:txBody>
      </p:sp>
      <p:sp>
        <p:nvSpPr>
          <p:cNvPr id="91008670" name="Text 4"/>
          <p:cNvSpPr/>
          <p:nvPr/>
        </p:nvSpPr>
        <p:spPr bwMode="auto">
          <a:xfrm>
            <a:off x="495300" y="45821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325859467" name="Text 5"/>
          <p:cNvSpPr/>
          <p:nvPr/>
        </p:nvSpPr>
        <p:spPr bwMode="auto">
          <a:xfrm>
            <a:off x="495300" y="39852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405509497" name="Text 6"/>
          <p:cNvSpPr/>
          <p:nvPr/>
        </p:nvSpPr>
        <p:spPr bwMode="auto">
          <a:xfrm>
            <a:off x="495300" y="33883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1418828811" name="Text 7"/>
          <p:cNvSpPr/>
          <p:nvPr/>
        </p:nvSpPr>
        <p:spPr bwMode="auto">
          <a:xfrm>
            <a:off x="495300" y="27914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</a:t>
            </a:r>
            <a:endParaRPr lang="en-US" sz="1200"/>
          </a:p>
        </p:txBody>
      </p:sp>
      <p:sp>
        <p:nvSpPr>
          <p:cNvPr id="139057289" name="Text 8"/>
          <p:cNvSpPr/>
          <p:nvPr/>
        </p:nvSpPr>
        <p:spPr bwMode="auto">
          <a:xfrm>
            <a:off x="495300" y="21945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8</a:t>
            </a:r>
            <a:endParaRPr lang="en-US" sz="1200"/>
          </a:p>
        </p:txBody>
      </p:sp>
      <p:sp>
        <p:nvSpPr>
          <p:cNvPr id="2146217697" name="Text 8"/>
          <p:cNvSpPr/>
          <p:nvPr/>
        </p:nvSpPr>
        <p:spPr bwMode="auto">
          <a:xfrm>
            <a:off x="495300" y="15976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10</a:t>
            </a:r>
            <a:endParaRPr lang="en-US" sz="1200"/>
          </a:p>
        </p:txBody>
      </p:sp>
      <p:sp>
        <p:nvSpPr>
          <p:cNvPr id="2093196938" name="Text 11"/>
          <p:cNvSpPr/>
          <p:nvPr/>
        </p:nvSpPr>
        <p:spPr bwMode="auto">
          <a:xfrm>
            <a:off x="774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87827372" name="Text 12"/>
          <p:cNvSpPr/>
          <p:nvPr/>
        </p:nvSpPr>
        <p:spPr bwMode="auto">
          <a:xfrm>
            <a:off x="1917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709986950" name="Text 13"/>
          <p:cNvSpPr/>
          <p:nvPr/>
        </p:nvSpPr>
        <p:spPr bwMode="auto">
          <a:xfrm>
            <a:off x="3060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62909204" name="Text 14"/>
          <p:cNvSpPr/>
          <p:nvPr/>
        </p:nvSpPr>
        <p:spPr bwMode="auto">
          <a:xfrm>
            <a:off x="4203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116052092" name="Text 15"/>
          <p:cNvSpPr/>
          <p:nvPr/>
        </p:nvSpPr>
        <p:spPr bwMode="auto">
          <a:xfrm>
            <a:off x="5346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2146217696" name="Text 15"/>
          <p:cNvSpPr/>
          <p:nvPr/>
        </p:nvSpPr>
        <p:spPr bwMode="auto">
          <a:xfrm>
            <a:off x="6489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  <p:sp>
        <p:nvSpPr>
          <p:cNvPr id="1325430124" name="Text 18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1562964909" name="Text 19"/>
          <p:cNvSpPr/>
          <p:nvPr/>
        </p:nvSpPr>
        <p:spPr bwMode="auto">
          <a:xfrm>
            <a:off x="3145515" y="195580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da qui la coda è piena</a:t>
            </a:r>
            <a:endParaRPr lang="en-US" sz="1200"/>
          </a:p>
        </p:txBody>
      </p:sp>
      <p:sp>
        <p:nvSpPr>
          <p:cNvPr id="1461732952" name="Text 20"/>
          <p:cNvSpPr/>
          <p:nvPr/>
        </p:nvSpPr>
        <p:spPr bwMode="auto">
          <a:xfrm>
            <a:off x="3884167" y="2495422"/>
            <a:ext cx="939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inviati</a:t>
            </a:r>
            <a:endParaRPr lang="en-US" sz="1200"/>
          </a:p>
        </p:txBody>
      </p:sp>
      <p:sp>
        <p:nvSpPr>
          <p:cNvPr id="120502757" name="Text 21"/>
          <p:cNvSpPr/>
          <p:nvPr/>
        </p:nvSpPr>
        <p:spPr bwMode="auto">
          <a:xfrm>
            <a:off x="4025899" y="3708145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ricevuti = inoltrati</a:t>
            </a:r>
            <a:endParaRPr lang="en-US" sz="1200"/>
          </a:p>
        </p:txBody>
      </p:sp>
      <p:sp>
        <p:nvSpPr>
          <p:cNvPr id="1053609570" name="Shape 22"/>
          <p:cNvSpPr/>
          <p:nvPr/>
        </p:nvSpPr>
        <p:spPr bwMode="auto">
          <a:xfrm>
            <a:off x="7073900" y="1562100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94996076" name="Shape 23"/>
          <p:cNvSpPr/>
          <p:nvPr/>
        </p:nvSpPr>
        <p:spPr bwMode="auto">
          <a:xfrm>
            <a:off x="7251700" y="168910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4122110" name="Text 24"/>
          <p:cNvSpPr/>
          <p:nvPr/>
        </p:nvSpPr>
        <p:spPr bwMode="auto">
          <a:xfrm>
            <a:off x="7362230" y="172594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300"/>
          </a:p>
        </p:txBody>
      </p:sp>
      <p:sp>
        <p:nvSpPr>
          <p:cNvPr id="797762814" name="Text 25"/>
          <p:cNvSpPr/>
          <p:nvPr/>
        </p:nvSpPr>
        <p:spPr bwMode="auto">
          <a:xfrm>
            <a:off x="7645400" y="1708150"/>
            <a:ext cx="2755594" cy="29210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So</a:t>
            </a: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tto il limite, le curve coincidono</a:t>
            </a:r>
            <a:endParaRPr lang="en-US" sz="1500"/>
          </a:p>
        </p:txBody>
      </p:sp>
      <p:sp>
        <p:nvSpPr>
          <p:cNvPr id="538401678" name="Text 26"/>
          <p:cNvSpPr/>
          <p:nvPr/>
        </p:nvSpPr>
        <p:spPr bwMode="auto">
          <a:xfrm>
            <a:off x="7251700" y="2032000"/>
            <a:ext cx="4342892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Tutto ciò che si invia viene ricevuto e inoltrato.</a:t>
            </a:r>
            <a:endParaRPr lang="en-US" sz="1300"/>
          </a:p>
        </p:txBody>
      </p:sp>
      <p:sp>
        <p:nvSpPr>
          <p:cNvPr id="2038918631" name="Shape 27"/>
          <p:cNvSpPr/>
          <p:nvPr/>
        </p:nvSpPr>
        <p:spPr bwMode="auto">
          <a:xfrm>
            <a:off x="7073900" y="2789771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49377882" name="Shape 28"/>
          <p:cNvSpPr/>
          <p:nvPr/>
        </p:nvSpPr>
        <p:spPr bwMode="auto">
          <a:xfrm>
            <a:off x="7251700" y="29167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10518033" name="Text 29"/>
          <p:cNvSpPr/>
          <p:nvPr/>
        </p:nvSpPr>
        <p:spPr bwMode="auto">
          <a:xfrm>
            <a:off x="7362230" y="2953618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300"/>
          </a:p>
        </p:txBody>
      </p:sp>
      <p:sp>
        <p:nvSpPr>
          <p:cNvPr id="1308399480" name="Text 30"/>
          <p:cNvSpPr/>
          <p:nvPr/>
        </p:nvSpPr>
        <p:spPr bwMode="auto">
          <a:xfrm>
            <a:off x="7645400" y="2935821"/>
            <a:ext cx="300679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Sopra il limite, salgono solo gli inviati</a:t>
            </a:r>
            <a:endParaRPr lang="en-US" sz="1500"/>
          </a:p>
        </p:txBody>
      </p:sp>
      <p:sp>
        <p:nvSpPr>
          <p:cNvPr id="1220391394" name="Text 31"/>
          <p:cNvSpPr/>
          <p:nvPr/>
        </p:nvSpPr>
        <p:spPr bwMode="auto">
          <a:xfrm>
            <a:off x="7251700" y="3259671"/>
            <a:ext cx="4342892" cy="454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Ricevuti e inoltrati si fermano insieme, a 3,45 milioni al secondo.</a:t>
            </a:r>
          </a:p>
        </p:txBody>
      </p:sp>
      <p:sp>
        <p:nvSpPr>
          <p:cNvPr id="1552000361" name="Shape 32"/>
          <p:cNvSpPr/>
          <p:nvPr/>
        </p:nvSpPr>
        <p:spPr bwMode="auto">
          <a:xfrm>
            <a:off x="7073900" y="4017442"/>
            <a:ext cx="4572000" cy="1138767"/>
          </a:xfrm>
          <a:prstGeom prst="roundRect">
            <a:avLst>
              <a:gd name="adj" fmla="val 1115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98146029" name="Shape 33"/>
          <p:cNvSpPr/>
          <p:nvPr/>
        </p:nvSpPr>
        <p:spPr bwMode="auto">
          <a:xfrm>
            <a:off x="7251700" y="414444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847657" name="Text 34"/>
          <p:cNvSpPr/>
          <p:nvPr/>
        </p:nvSpPr>
        <p:spPr bwMode="auto">
          <a:xfrm>
            <a:off x="7362230" y="4181277"/>
            <a:ext cx="134541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300"/>
          </a:p>
        </p:txBody>
      </p:sp>
      <p:sp>
        <p:nvSpPr>
          <p:cNvPr id="238516387" name="Text 35"/>
          <p:cNvSpPr/>
          <p:nvPr/>
        </p:nvSpPr>
        <p:spPr bwMode="auto">
          <a:xfrm>
            <a:off x="7645400" y="4163492"/>
            <a:ext cx="267138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Ciò che manca non è mai entrato</a:t>
            </a:r>
            <a:endParaRPr lang="en-US" sz="1500"/>
          </a:p>
        </p:txBody>
      </p:sp>
      <p:sp>
        <p:nvSpPr>
          <p:cNvPr id="782415224" name="Text 36"/>
          <p:cNvSpPr/>
          <p:nvPr/>
        </p:nvSpPr>
        <p:spPr bwMode="auto">
          <a:xfrm>
            <a:off x="7251700" y="4487342"/>
            <a:ext cx="4342892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Il programma non perde niente di quello che prende.</a:t>
            </a:r>
            <a:endParaRPr lang="en-US" sz="1300"/>
          </a:p>
        </p:txBody>
      </p:sp>
      <p:sp>
        <p:nvSpPr>
          <p:cNvPr id="1178229569" name="Shape 37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02330877" name="Shape 38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97077033" name="Text 39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867611939" name="Text 40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Ricevuti e inoltrati restano sovrapposti in tutte e cinque le pipeline: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dopo XDP si perde al massimo lo 0,04%</a:t>
            </a:r>
            <a:r>
              <a:rPr lang="en-US" sz="1500" b="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 degli inviati (baseline 0,15%, sopra 8 M/s).</a:t>
            </a:r>
          </a:p>
        </p:txBody>
      </p:sp>
      <p:sp>
        <p:nvSpPr>
          <p:cNvPr id="1270720501" name="Text 41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Esempio: P2, mediana di 5 giri, xdp_gen · linea scura = ricevuti da XDP, arancione = inoltrati: coincidono</a:t>
            </a:r>
            <a:endParaRPr lang="en-US" sz="1200"/>
          </a:p>
        </p:txBody>
      </p:sp>
      <p:sp>
        <p:nvSpPr>
          <p:cNvPr id="1895212810" name="Text 42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981945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72597728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LA PERDITA</a:t>
            </a:r>
            <a:endParaRPr lang="en-US" sz="1200"/>
          </a:p>
        </p:txBody>
      </p:sp>
      <p:sp>
        <p:nvSpPr>
          <p:cNvPr id="300519361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perdita è tutta prima del programma</a:t>
            </a:r>
            <a:endParaRPr lang="en-US" sz="3000"/>
          </a:p>
        </p:txBody>
      </p:sp>
      <p:pic>
        <p:nvPicPr>
          <p:cNvPr id="1819112788" name="Image 0" descr="Perdita prima del programma al crescere del traffico; dopo il programma resta a zero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350184843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% dei pacchetti inviati che si perde</a:t>
            </a:r>
            <a:endParaRPr lang="en-US" sz="1200"/>
          </a:p>
        </p:txBody>
      </p:sp>
      <p:sp>
        <p:nvSpPr>
          <p:cNvPr id="2036028975" name="Text 4"/>
          <p:cNvSpPr/>
          <p:nvPr/>
        </p:nvSpPr>
        <p:spPr bwMode="auto">
          <a:xfrm>
            <a:off x="495300" y="45821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249203114" name="Text 5"/>
          <p:cNvSpPr/>
          <p:nvPr/>
        </p:nvSpPr>
        <p:spPr bwMode="auto">
          <a:xfrm>
            <a:off x="495300" y="3836034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20</a:t>
            </a:r>
            <a:endParaRPr lang="en-US" sz="1200"/>
          </a:p>
        </p:txBody>
      </p:sp>
      <p:sp>
        <p:nvSpPr>
          <p:cNvPr id="322057412" name="Text 6"/>
          <p:cNvSpPr/>
          <p:nvPr/>
        </p:nvSpPr>
        <p:spPr bwMode="auto">
          <a:xfrm>
            <a:off x="495300" y="308990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40</a:t>
            </a:r>
            <a:endParaRPr lang="en-US" sz="1200"/>
          </a:p>
        </p:txBody>
      </p:sp>
      <p:sp>
        <p:nvSpPr>
          <p:cNvPr id="1650279091" name="Text 7"/>
          <p:cNvSpPr/>
          <p:nvPr/>
        </p:nvSpPr>
        <p:spPr bwMode="auto">
          <a:xfrm>
            <a:off x="495300" y="2343784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60</a:t>
            </a:r>
            <a:endParaRPr lang="en-US" sz="1200"/>
          </a:p>
        </p:txBody>
      </p:sp>
      <p:sp>
        <p:nvSpPr>
          <p:cNvPr id="551496937" name="Text 8"/>
          <p:cNvSpPr/>
          <p:nvPr/>
        </p:nvSpPr>
        <p:spPr bwMode="auto">
          <a:xfrm>
            <a:off x="495300" y="15976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80</a:t>
            </a:r>
            <a:endParaRPr lang="en-US" sz="1200"/>
          </a:p>
        </p:txBody>
      </p:sp>
      <p:sp>
        <p:nvSpPr>
          <p:cNvPr id="1964803276" name="Text 9"/>
          <p:cNvSpPr/>
          <p:nvPr/>
        </p:nvSpPr>
        <p:spPr bwMode="auto">
          <a:xfrm>
            <a:off x="774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921241186" name="Text 10"/>
          <p:cNvSpPr/>
          <p:nvPr/>
        </p:nvSpPr>
        <p:spPr bwMode="auto">
          <a:xfrm>
            <a:off x="1917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1645994134" name="Text 11"/>
          <p:cNvSpPr/>
          <p:nvPr/>
        </p:nvSpPr>
        <p:spPr bwMode="auto">
          <a:xfrm>
            <a:off x="3060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444151063" name="Text 12"/>
          <p:cNvSpPr/>
          <p:nvPr/>
        </p:nvSpPr>
        <p:spPr bwMode="auto">
          <a:xfrm>
            <a:off x="4203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234002464" name="Text 13"/>
          <p:cNvSpPr/>
          <p:nvPr/>
        </p:nvSpPr>
        <p:spPr bwMode="auto">
          <a:xfrm>
            <a:off x="5346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2146217698" name="Text 13"/>
          <p:cNvSpPr/>
          <p:nvPr/>
        </p:nvSpPr>
        <p:spPr bwMode="auto">
          <a:xfrm>
            <a:off x="6489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  <p:sp>
        <p:nvSpPr>
          <p:cNvPr id="697998378" name="Text 16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706055998" name="Text 17"/>
          <p:cNvSpPr/>
          <p:nvPr/>
        </p:nvSpPr>
        <p:spPr bwMode="auto">
          <a:xfrm>
            <a:off x="3682999" y="4381500"/>
            <a:ext cx="17659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dopo XDP: ≤ 0,04%</a:t>
            </a:r>
            <a:endParaRPr lang="en-US" sz="1200"/>
          </a:p>
        </p:txBody>
      </p:sp>
      <p:sp>
        <p:nvSpPr>
          <p:cNvPr id="112649686" name="Text 18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Perdita al traffico più alto</a:t>
            </a:r>
            <a:endParaRPr lang="en-US" sz="1500"/>
          </a:p>
        </p:txBody>
      </p:sp>
      <p:sp>
        <p:nvSpPr>
          <p:cNvPr id="1126774871" name="Text 19"/>
          <p:cNvSpPr/>
          <p:nvPr/>
        </p:nvSpPr>
        <p:spPr bwMode="auto">
          <a:xfrm>
            <a:off x="7073900" y="184150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prima del programma, % degli inviati</a:t>
            </a:r>
            <a:endParaRPr lang="en-US" sz="1200"/>
          </a:p>
        </p:txBody>
      </p:sp>
      <p:sp>
        <p:nvSpPr>
          <p:cNvPr id="1083932606" name="Shape 20"/>
          <p:cNvSpPr/>
          <p:nvPr/>
        </p:nvSpPr>
        <p:spPr bwMode="auto">
          <a:xfrm>
            <a:off x="7073900" y="21310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91205073" name="Shape 21"/>
          <p:cNvSpPr/>
          <p:nvPr/>
        </p:nvSpPr>
        <p:spPr bwMode="auto">
          <a:xfrm>
            <a:off x="7188200" y="22135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3271220" name="Text 22"/>
          <p:cNvSpPr/>
          <p:nvPr/>
        </p:nvSpPr>
        <p:spPr bwMode="auto">
          <a:xfrm>
            <a:off x="7416800" y="21652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497914668" name="Text 23"/>
          <p:cNvSpPr/>
          <p:nvPr/>
        </p:nvSpPr>
        <p:spPr bwMode="auto">
          <a:xfrm>
            <a:off x="10718800" y="21386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76%</a:t>
            </a:r>
            <a:endParaRPr lang="en-US" sz="1700"/>
          </a:p>
        </p:txBody>
      </p:sp>
      <p:sp>
        <p:nvSpPr>
          <p:cNvPr id="913096462" name="Shape 24"/>
          <p:cNvSpPr/>
          <p:nvPr/>
        </p:nvSpPr>
        <p:spPr bwMode="auto">
          <a:xfrm>
            <a:off x="7073900" y="25247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20942187" name="Shape 25"/>
          <p:cNvSpPr/>
          <p:nvPr/>
        </p:nvSpPr>
        <p:spPr bwMode="auto">
          <a:xfrm>
            <a:off x="7188200" y="26072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60228955" name="Text 26"/>
          <p:cNvSpPr/>
          <p:nvPr/>
        </p:nvSpPr>
        <p:spPr bwMode="auto">
          <a:xfrm>
            <a:off x="7416800" y="25589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2010186790" name="Text 27"/>
          <p:cNvSpPr/>
          <p:nvPr/>
        </p:nvSpPr>
        <p:spPr bwMode="auto">
          <a:xfrm>
            <a:off x="10718800" y="25323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63%</a:t>
            </a:r>
          </a:p>
        </p:txBody>
      </p:sp>
      <p:sp>
        <p:nvSpPr>
          <p:cNvPr id="374400949" name="Shape 28"/>
          <p:cNvSpPr/>
          <p:nvPr/>
        </p:nvSpPr>
        <p:spPr bwMode="auto">
          <a:xfrm>
            <a:off x="7073900" y="29184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5867019" name="Shape 29"/>
          <p:cNvSpPr/>
          <p:nvPr/>
        </p:nvSpPr>
        <p:spPr bwMode="auto">
          <a:xfrm>
            <a:off x="7188200" y="30009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02654887" name="Text 30"/>
          <p:cNvSpPr/>
          <p:nvPr/>
        </p:nvSpPr>
        <p:spPr bwMode="auto">
          <a:xfrm>
            <a:off x="7416800" y="29526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1247205245" name="Text 31"/>
          <p:cNvSpPr/>
          <p:nvPr/>
        </p:nvSpPr>
        <p:spPr bwMode="auto">
          <a:xfrm>
            <a:off x="10718800" y="29260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9%</a:t>
            </a:r>
            <a:endParaRPr lang="en-US" sz="1700"/>
          </a:p>
        </p:txBody>
      </p:sp>
      <p:sp>
        <p:nvSpPr>
          <p:cNvPr id="366863888" name="Shape 32"/>
          <p:cNvSpPr/>
          <p:nvPr/>
        </p:nvSpPr>
        <p:spPr bwMode="auto">
          <a:xfrm>
            <a:off x="7073900" y="33121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05050507" name="Shape 33"/>
          <p:cNvSpPr/>
          <p:nvPr/>
        </p:nvSpPr>
        <p:spPr bwMode="auto">
          <a:xfrm>
            <a:off x="7188200" y="33946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31807493" name="Text 34"/>
          <p:cNvSpPr/>
          <p:nvPr/>
        </p:nvSpPr>
        <p:spPr bwMode="auto">
          <a:xfrm>
            <a:off x="7416800" y="33463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969953443" name="Text 35"/>
          <p:cNvSpPr/>
          <p:nvPr/>
        </p:nvSpPr>
        <p:spPr bwMode="auto">
          <a:xfrm>
            <a:off x="10718800" y="33197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7%</a:t>
            </a:r>
            <a:endParaRPr lang="en-US" sz="1700"/>
          </a:p>
        </p:txBody>
      </p:sp>
      <p:sp>
        <p:nvSpPr>
          <p:cNvPr id="1681157903" name="Shape 36"/>
          <p:cNvSpPr/>
          <p:nvPr/>
        </p:nvSpPr>
        <p:spPr bwMode="auto">
          <a:xfrm>
            <a:off x="7073900" y="37058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59747775" name="Shape 37"/>
          <p:cNvSpPr/>
          <p:nvPr/>
        </p:nvSpPr>
        <p:spPr bwMode="auto">
          <a:xfrm>
            <a:off x="7188200" y="3788370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29506332" name="Text 38"/>
          <p:cNvSpPr/>
          <p:nvPr/>
        </p:nvSpPr>
        <p:spPr bwMode="auto">
          <a:xfrm>
            <a:off x="7416800" y="37400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701958759" name="Text 39"/>
          <p:cNvSpPr/>
          <p:nvPr/>
        </p:nvSpPr>
        <p:spPr bwMode="auto">
          <a:xfrm>
            <a:off x="10718800" y="37134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1,3%*</a:t>
            </a:r>
          </a:p>
        </p:txBody>
      </p:sp>
      <p:sp>
        <p:nvSpPr>
          <p:cNvPr id="818091034" name="Shape 40"/>
          <p:cNvSpPr/>
          <p:nvPr/>
        </p:nvSpPr>
        <p:spPr bwMode="auto">
          <a:xfrm>
            <a:off x="7073900" y="4099520"/>
            <a:ext cx="4572000" cy="317500"/>
          </a:xfrm>
          <a:prstGeom prst="roundRect">
            <a:avLst>
              <a:gd name="adj" fmla="val 24000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67080235" name="Shape 41"/>
          <p:cNvSpPr/>
          <p:nvPr/>
        </p:nvSpPr>
        <p:spPr bwMode="auto">
          <a:xfrm>
            <a:off x="7188200" y="4182069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6040803" name="Text 42"/>
          <p:cNvSpPr/>
          <p:nvPr/>
        </p:nvSpPr>
        <p:spPr bwMode="auto">
          <a:xfrm>
            <a:off x="7416800" y="4133788"/>
            <a:ext cx="337489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 (solo ricezione)</a:t>
            </a:r>
            <a:endParaRPr lang="en-US" sz="1400"/>
          </a:p>
        </p:txBody>
      </p:sp>
      <p:sp>
        <p:nvSpPr>
          <p:cNvPr id="1399327055" name="Text 43"/>
          <p:cNvSpPr/>
          <p:nvPr/>
        </p:nvSpPr>
        <p:spPr bwMode="auto">
          <a:xfrm>
            <a:off x="10718800" y="4107135"/>
            <a:ext cx="81280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380"/>
              </a:lnSpc>
              <a:buNone/>
              <a:defRPr/>
            </a:pPr>
            <a:r>
              <a:rPr lang="en-US" sz="17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0,1%</a:t>
            </a:r>
          </a:p>
        </p:txBody>
      </p:sp>
      <p:sp>
        <p:nvSpPr>
          <p:cNvPr id="783115801" name="Shape 44"/>
          <p:cNvSpPr/>
          <p:nvPr/>
        </p:nvSpPr>
        <p:spPr bwMode="auto">
          <a:xfrm>
            <a:off x="7073900" y="4493220"/>
            <a:ext cx="4572000" cy="718807"/>
          </a:xfrm>
          <a:prstGeom prst="roundRect">
            <a:avLst>
              <a:gd name="adj" fmla="val 17668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5394865" name="Shape 45"/>
          <p:cNvSpPr/>
          <p:nvPr/>
        </p:nvSpPr>
        <p:spPr bwMode="auto">
          <a:xfrm>
            <a:off x="7073900" y="4493220"/>
            <a:ext cx="4572000" cy="88900"/>
          </a:xfrm>
          <a:custGeom>
            <a:avLst/>
            <a:gdLst/>
            <a:ahLst/>
            <a:cxnLst/>
            <a:rect l="l" t="t" r="r" b="b"/>
            <a:pathLst>
              <a:path w="4572000" h="88900" fill="norm" stroke="1" extrusionOk="0">
                <a:moveTo>
                  <a:pt x="5850" y="88900"/>
                </a:moveTo>
                <a:arcTo wR="127000" hR="127000" stAng="11847456" swAng="4352544"/>
                <a:lnTo>
                  <a:pt x="4445000" y="0"/>
                </a:lnTo>
                <a:arcTo wR="127000" hR="127000" stAng="16200000" swAng="4352544"/>
                <a:close/>
              </a:path>
            </a:pathLst>
          </a:custGeom>
          <a:solidFill>
            <a:srgbClr val="C0443C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28092544" name="Text 46"/>
          <p:cNvSpPr/>
          <p:nvPr/>
        </p:nvSpPr>
        <p:spPr bwMode="auto">
          <a:xfrm>
            <a:off x="7226300" y="4658320"/>
            <a:ext cx="4395216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C0443C"/>
                </a:solidFill>
                <a:latin typeface="Carlito"/>
                <a:ea typeface="Carlito"/>
                <a:cs typeface="Carlito"/>
              </a:rPr>
              <a:t>Dopo il programma: ≤ 0,04%</a:t>
            </a:r>
            <a:endParaRPr lang="en-US" sz="1400"/>
          </a:p>
        </p:txBody>
      </p:sp>
      <p:sp>
        <p:nvSpPr>
          <p:cNvPr id="1073373321" name="Text 47"/>
          <p:cNvSpPr/>
          <p:nvPr/>
        </p:nvSpPr>
        <p:spPr bwMode="auto">
          <a:xfrm>
            <a:off x="7226300" y="4932635"/>
            <a:ext cx="4395216" cy="215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 ogni traffico (* baseline: banco, nodo al 60%; 0,15% dopo)</a:t>
            </a:r>
          </a:p>
        </p:txBody>
      </p:sp>
      <p:sp>
        <p:nvSpPr>
          <p:cNvPr id="761347182" name="Shape 48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6250230" name="Shape 49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7567346" name="Text 50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1039198027" name="Text 51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Se si perde all'ingresso il collo di bottiglia è il programma: qui la perdita è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tutta all'ingresso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, quindi il collo di bottiglia non è la trasmissione.</a:t>
            </a:r>
            <a:endParaRPr lang="en-US" sz="1500"/>
          </a:p>
        </p:txBody>
      </p:sp>
      <p:sp>
        <p:nvSpPr>
          <p:cNvPr id="192449605" name="Text 52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Perdita = (inviati − inoltrati) / inviati · mediana di 5 giri · si chiedono fino a 12 M pacchetti/s; a coda piena il generatore ne invia 9,0–9,5</a:t>
            </a:r>
          </a:p>
        </p:txBody>
      </p:sp>
      <p:sp>
        <p:nvSpPr>
          <p:cNvPr id="86038796" name="Text 53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2381838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97908374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IL PROGRAMMA O LA RICEZIONE?</a:t>
            </a:r>
            <a:endParaRPr lang="en-US" sz="1200"/>
          </a:p>
        </p:txBody>
      </p:sp>
      <p:sp>
        <p:nvSpPr>
          <p:cNvPr id="1465708447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sola ricezione non perde: la perdita è del programma</a:t>
            </a:r>
            <a:endParaRPr lang="en-US" sz="3000"/>
          </a:p>
        </p:txBody>
      </p:sp>
      <p:sp>
        <p:nvSpPr>
          <p:cNvPr id="415683769" name="Text 3"/>
          <p:cNvSpPr/>
          <p:nvPr/>
        </p:nvSpPr>
        <p:spPr bwMode="auto">
          <a:xfrm>
            <a:off x="546100" y="1562100"/>
            <a:ext cx="114327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80"/>
              </a:lnSpc>
              <a:buNone/>
              <a:defRPr/>
            </a:pPr>
            <a:r>
              <a:rPr lang="en-US" sz="16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Fino a 11 milioni di pacchetti al secondo il solo contatore (rxonly) non perde niente; a 12 milioni perde lo 0,1%.</a:t>
            </a:r>
          </a:p>
        </p:txBody>
      </p:sp>
      <p:sp>
        <p:nvSpPr>
          <p:cNvPr id="581397948" name="Shape 4"/>
          <p:cNvSpPr/>
          <p:nvPr/>
        </p:nvSpPr>
        <p:spPr bwMode="auto">
          <a:xfrm>
            <a:off x="546100" y="214623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BD2D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63802359" name="Text 5"/>
          <p:cNvSpPr/>
          <p:nvPr/>
        </p:nvSpPr>
        <p:spPr bwMode="auto">
          <a:xfrm>
            <a:off x="762000" y="2115815"/>
            <a:ext cx="21329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quanto perde già la sola ricezione</a:t>
            </a:r>
            <a:endParaRPr lang="en-US" sz="1200"/>
          </a:p>
        </p:txBody>
      </p:sp>
      <p:sp>
        <p:nvSpPr>
          <p:cNvPr id="997605000" name="Shape 6"/>
          <p:cNvSpPr/>
          <p:nvPr/>
        </p:nvSpPr>
        <p:spPr bwMode="auto">
          <a:xfrm>
            <a:off x="3010628" y="214623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44613797" name="Text 7"/>
          <p:cNvSpPr/>
          <p:nvPr/>
        </p:nvSpPr>
        <p:spPr bwMode="auto">
          <a:xfrm>
            <a:off x="3226528" y="2115815"/>
            <a:ext cx="34668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più: la perdita del programma (colore della pipeline)</a:t>
            </a:r>
            <a:endParaRPr lang="en-US" sz="1200"/>
          </a:p>
        </p:txBody>
      </p:sp>
      <p:sp>
        <p:nvSpPr>
          <p:cNvPr id="1366971700" name="Text 8"/>
          <p:cNvSpPr/>
          <p:nvPr/>
        </p:nvSpPr>
        <p:spPr bwMode="auto">
          <a:xfrm>
            <a:off x="546100" y="2621297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% dei pacchetti inviati che si perde prima del programma</a:t>
            </a:r>
            <a:endParaRPr lang="en-US" sz="1200"/>
          </a:p>
        </p:txBody>
      </p:sp>
      <p:sp>
        <p:nvSpPr>
          <p:cNvPr id="120604668" name="Text 9"/>
          <p:cNvSpPr/>
          <p:nvPr/>
        </p:nvSpPr>
        <p:spPr bwMode="auto">
          <a:xfrm>
            <a:off x="6337299" y="2621297"/>
            <a:ext cx="749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totale</a:t>
            </a:r>
            <a:endParaRPr lang="en-US" sz="1200"/>
          </a:p>
        </p:txBody>
      </p:sp>
      <p:sp>
        <p:nvSpPr>
          <p:cNvPr id="1953176325" name="Text 10"/>
          <p:cNvSpPr/>
          <p:nvPr/>
        </p:nvSpPr>
        <p:spPr bwMode="auto">
          <a:xfrm>
            <a:off x="7162800" y="2621297"/>
            <a:ext cx="1257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in più</a:t>
            </a:r>
            <a:endParaRPr lang="en-US" sz="1200"/>
          </a:p>
        </p:txBody>
      </p:sp>
      <p:sp>
        <p:nvSpPr>
          <p:cNvPr id="736057303" name="Text 11"/>
          <p:cNvSpPr/>
          <p:nvPr/>
        </p:nvSpPr>
        <p:spPr bwMode="auto">
          <a:xfrm>
            <a:off x="8496300" y="2621297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dopo il programma</a:t>
            </a:r>
            <a:endParaRPr lang="en-US" sz="1200"/>
          </a:p>
        </p:txBody>
      </p:sp>
      <p:sp>
        <p:nvSpPr>
          <p:cNvPr id="353697287" name="Shape 12"/>
          <p:cNvSpPr/>
          <p:nvPr/>
        </p:nvSpPr>
        <p:spPr bwMode="auto">
          <a:xfrm>
            <a:off x="546100" y="29679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6B7C93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71006667" name="Text 13"/>
          <p:cNvSpPr/>
          <p:nvPr/>
        </p:nvSpPr>
        <p:spPr bwMode="auto">
          <a:xfrm>
            <a:off x="787400" y="2926035"/>
            <a:ext cx="51051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rxonly</a:t>
            </a:r>
            <a:endParaRPr lang="en-US" sz="1400"/>
          </a:p>
        </p:txBody>
      </p:sp>
      <p:sp>
        <p:nvSpPr>
          <p:cNvPr id="1364638063" name="Text 15"/>
          <p:cNvSpPr/>
          <p:nvPr/>
        </p:nvSpPr>
        <p:spPr bwMode="auto">
          <a:xfrm>
            <a:off x="7861300" y="29171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0,1%</a:t>
            </a:r>
          </a:p>
        </p:txBody>
      </p:sp>
      <p:sp>
        <p:nvSpPr>
          <p:cNvPr id="1146616982" name="Text 16"/>
          <p:cNvSpPr/>
          <p:nvPr/>
        </p:nvSpPr>
        <p:spPr bwMode="auto">
          <a:xfrm>
            <a:off x="8686800" y="2934965"/>
            <a:ext cx="12573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pavimento</a:t>
            </a:r>
            <a:endParaRPr lang="en-US" sz="1300"/>
          </a:p>
        </p:txBody>
      </p:sp>
      <p:sp>
        <p:nvSpPr>
          <p:cNvPr id="565744934" name="Text 17"/>
          <p:cNvSpPr/>
          <p:nvPr/>
        </p:nvSpPr>
        <p:spPr bwMode="auto">
          <a:xfrm>
            <a:off x="10020299" y="2934965"/>
            <a:ext cx="132080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300"/>
          </a:p>
        </p:txBody>
      </p:sp>
      <p:sp>
        <p:nvSpPr>
          <p:cNvPr id="1577784615" name="Shape 18"/>
          <p:cNvSpPr/>
          <p:nvPr/>
        </p:nvSpPr>
        <p:spPr bwMode="auto">
          <a:xfrm>
            <a:off x="546100" y="33616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6665039" name="Text 19"/>
          <p:cNvSpPr/>
          <p:nvPr/>
        </p:nvSpPr>
        <p:spPr bwMode="auto">
          <a:xfrm>
            <a:off x="787400" y="3319735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95485778" name="Shape 21"/>
          <p:cNvSpPr/>
          <p:nvPr/>
        </p:nvSpPr>
        <p:spPr bwMode="auto">
          <a:xfrm>
            <a:off x="2066543" y="3304517"/>
            <a:ext cx="60234" cy="279400"/>
          </a:xfrm>
          <a:custGeom>
            <a:avLst/>
            <a:gdLst/>
            <a:ahLst/>
            <a:cxnLst/>
            <a:rect l="l" t="t" r="r" b="b"/>
            <a:pathLst>
              <a:path w="1454150" h="279400" fill="norm" stroke="1" extrusionOk="0">
                <a:moveTo>
                  <a:pt x="0" y="0"/>
                </a:moveTo>
                <a:lnTo>
                  <a:pt x="1416050" y="0"/>
                </a:lnTo>
                <a:arcTo wR="38100" hR="38100" stAng="16200000" swAng="5400000"/>
                <a:lnTo>
                  <a:pt x="145415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7480062" name="Text 22"/>
          <p:cNvSpPr/>
          <p:nvPr/>
        </p:nvSpPr>
        <p:spPr bwMode="auto">
          <a:xfrm>
            <a:off x="7861300" y="33108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1,1%</a:t>
            </a:r>
          </a:p>
        </p:txBody>
      </p:sp>
      <p:sp>
        <p:nvSpPr>
          <p:cNvPr id="1820584905" name="Text 23"/>
          <p:cNvSpPr/>
          <p:nvPr/>
        </p:nvSpPr>
        <p:spPr bwMode="auto">
          <a:xfrm>
            <a:off x="8686800" y="33197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banco*</a:t>
            </a:r>
            <a:endParaRPr lang="en-US" sz="1400"/>
          </a:p>
        </p:txBody>
      </p:sp>
      <p:sp>
        <p:nvSpPr>
          <p:cNvPr id="339120980" name="Text 24"/>
          <p:cNvSpPr/>
          <p:nvPr/>
        </p:nvSpPr>
        <p:spPr bwMode="auto">
          <a:xfrm>
            <a:off x="10020299" y="33197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0,15%</a:t>
            </a:r>
          </a:p>
        </p:txBody>
      </p:sp>
      <p:sp>
        <p:nvSpPr>
          <p:cNvPr id="1911913696" name="Shape 25"/>
          <p:cNvSpPr/>
          <p:nvPr/>
        </p:nvSpPr>
        <p:spPr bwMode="auto">
          <a:xfrm>
            <a:off x="546100" y="37553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57307856" name="Text 26"/>
          <p:cNvSpPr/>
          <p:nvPr/>
        </p:nvSpPr>
        <p:spPr bwMode="auto">
          <a:xfrm>
            <a:off x="787400" y="37134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112582581" name="Shape 28"/>
          <p:cNvSpPr/>
          <p:nvPr/>
        </p:nvSpPr>
        <p:spPr bwMode="auto">
          <a:xfrm>
            <a:off x="2066543" y="3698218"/>
            <a:ext cx="370194" cy="279400"/>
          </a:xfrm>
          <a:custGeom>
            <a:avLst/>
            <a:gdLst/>
            <a:ahLst/>
            <a:cxnLst/>
            <a:rect l="l" t="t" r="r" b="b"/>
            <a:pathLst>
              <a:path w="1879600" h="279400" fill="norm" stroke="1" extrusionOk="0">
                <a:moveTo>
                  <a:pt x="0" y="0"/>
                </a:moveTo>
                <a:lnTo>
                  <a:pt x="1841500" y="0"/>
                </a:lnTo>
                <a:arcTo wR="38100" hR="38100" stAng="16200000" swAng="5400000"/>
                <a:lnTo>
                  <a:pt x="18796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57615494" name="Text 29"/>
          <p:cNvSpPr/>
          <p:nvPr/>
        </p:nvSpPr>
        <p:spPr bwMode="auto">
          <a:xfrm>
            <a:off x="7861300" y="37045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6,9%</a:t>
            </a:r>
          </a:p>
        </p:txBody>
      </p:sp>
      <p:sp>
        <p:nvSpPr>
          <p:cNvPr id="1485762197" name="Text 30"/>
          <p:cNvSpPr/>
          <p:nvPr/>
        </p:nvSpPr>
        <p:spPr bwMode="auto">
          <a:xfrm>
            <a:off x="8686800" y="37134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+6,7 punti</a:t>
            </a:r>
          </a:p>
        </p:txBody>
      </p:sp>
      <p:sp>
        <p:nvSpPr>
          <p:cNvPr id="437419427" name="Text 31"/>
          <p:cNvSpPr/>
          <p:nvPr/>
        </p:nvSpPr>
        <p:spPr bwMode="auto">
          <a:xfrm>
            <a:off x="10020299" y="37134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0,04%</a:t>
            </a:r>
            <a:endParaRPr lang="en-US" sz="1400"/>
          </a:p>
        </p:txBody>
      </p:sp>
      <p:sp>
        <p:nvSpPr>
          <p:cNvPr id="1472827554" name="Shape 32"/>
          <p:cNvSpPr/>
          <p:nvPr/>
        </p:nvSpPr>
        <p:spPr bwMode="auto">
          <a:xfrm>
            <a:off x="546100" y="41490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7887506" name="Text 33"/>
          <p:cNvSpPr/>
          <p:nvPr/>
        </p:nvSpPr>
        <p:spPr bwMode="auto">
          <a:xfrm>
            <a:off x="787400" y="410713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2043973487" name="Shape 35"/>
          <p:cNvSpPr/>
          <p:nvPr/>
        </p:nvSpPr>
        <p:spPr bwMode="auto">
          <a:xfrm>
            <a:off x="2066543" y="4091918"/>
            <a:ext cx="480039" cy="279400"/>
          </a:xfrm>
          <a:custGeom>
            <a:avLst/>
            <a:gdLst/>
            <a:ahLst/>
            <a:cxnLst/>
            <a:rect l="l" t="t" r="r" b="b"/>
            <a:pathLst>
              <a:path w="1949450" h="279400" fill="norm" stroke="1" extrusionOk="0">
                <a:moveTo>
                  <a:pt x="0" y="0"/>
                </a:moveTo>
                <a:lnTo>
                  <a:pt x="1911350" y="0"/>
                </a:lnTo>
                <a:arcTo wR="38100" hR="38100" stAng="16200000" swAng="5400000"/>
                <a:lnTo>
                  <a:pt x="194945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05274653" name="Text 36"/>
          <p:cNvSpPr/>
          <p:nvPr/>
        </p:nvSpPr>
        <p:spPr bwMode="auto">
          <a:xfrm>
            <a:off x="7861300" y="40982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8,9%</a:t>
            </a:r>
          </a:p>
        </p:txBody>
      </p:sp>
      <p:sp>
        <p:nvSpPr>
          <p:cNvPr id="1028761823" name="Text 37"/>
          <p:cNvSpPr/>
          <p:nvPr/>
        </p:nvSpPr>
        <p:spPr bwMode="auto">
          <a:xfrm>
            <a:off x="8686800" y="41071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+8,8 punti</a:t>
            </a:r>
          </a:p>
        </p:txBody>
      </p:sp>
      <p:sp>
        <p:nvSpPr>
          <p:cNvPr id="773249687" name="Text 38"/>
          <p:cNvSpPr/>
          <p:nvPr/>
        </p:nvSpPr>
        <p:spPr bwMode="auto">
          <a:xfrm>
            <a:off x="10020299" y="41071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0,04%</a:t>
            </a:r>
            <a:endParaRPr lang="en-US" sz="1400"/>
          </a:p>
        </p:txBody>
      </p:sp>
      <p:sp>
        <p:nvSpPr>
          <p:cNvPr id="1760716052" name="Shape 39"/>
          <p:cNvSpPr/>
          <p:nvPr/>
        </p:nvSpPr>
        <p:spPr bwMode="auto">
          <a:xfrm>
            <a:off x="546100" y="45427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8779852" name="Text 40"/>
          <p:cNvSpPr/>
          <p:nvPr/>
        </p:nvSpPr>
        <p:spPr bwMode="auto">
          <a:xfrm>
            <a:off x="787400" y="45008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852387014" name="Shape 42"/>
          <p:cNvSpPr/>
          <p:nvPr/>
        </p:nvSpPr>
        <p:spPr bwMode="auto">
          <a:xfrm>
            <a:off x="2066543" y="4485618"/>
            <a:ext cx="3371167" cy="279400"/>
          </a:xfrm>
          <a:custGeom>
            <a:avLst/>
            <a:gdLst/>
            <a:ahLst/>
            <a:cxnLst/>
            <a:rect l="l" t="t" r="r" b="b"/>
            <a:pathLst>
              <a:path w="2997200" h="279400" fill="norm" stroke="1" extrusionOk="0">
                <a:moveTo>
                  <a:pt x="0" y="0"/>
                </a:moveTo>
                <a:lnTo>
                  <a:pt x="2959100" y="0"/>
                </a:lnTo>
                <a:arcTo wR="38100" hR="38100" stAng="16200000" swAng="5400000"/>
                <a:lnTo>
                  <a:pt x="29972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49215772" name="Text 43"/>
          <p:cNvSpPr/>
          <p:nvPr/>
        </p:nvSpPr>
        <p:spPr bwMode="auto">
          <a:xfrm>
            <a:off x="7861300" y="44919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63%</a:t>
            </a:r>
          </a:p>
        </p:txBody>
      </p:sp>
      <p:sp>
        <p:nvSpPr>
          <p:cNvPr id="1046904969" name="Text 44"/>
          <p:cNvSpPr/>
          <p:nvPr/>
        </p:nvSpPr>
        <p:spPr bwMode="auto">
          <a:xfrm>
            <a:off x="8686800" y="45008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+62 punti</a:t>
            </a:r>
          </a:p>
        </p:txBody>
      </p:sp>
      <p:sp>
        <p:nvSpPr>
          <p:cNvPr id="1334287549" name="Text 45"/>
          <p:cNvSpPr/>
          <p:nvPr/>
        </p:nvSpPr>
        <p:spPr bwMode="auto">
          <a:xfrm>
            <a:off x="10020299" y="45008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0,04%</a:t>
            </a:r>
            <a:endParaRPr lang="en-US" sz="1400"/>
          </a:p>
        </p:txBody>
      </p:sp>
      <p:sp>
        <p:nvSpPr>
          <p:cNvPr id="1646252156" name="Shape 46"/>
          <p:cNvSpPr/>
          <p:nvPr/>
        </p:nvSpPr>
        <p:spPr bwMode="auto">
          <a:xfrm>
            <a:off x="546100" y="4936406"/>
            <a:ext cx="165100" cy="165100"/>
          </a:xfrm>
          <a:prstGeom prst="roundRect">
            <a:avLst>
              <a:gd name="adj" fmla="val 26923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697438" name="Text 47"/>
          <p:cNvSpPr/>
          <p:nvPr/>
        </p:nvSpPr>
        <p:spPr bwMode="auto">
          <a:xfrm>
            <a:off x="787400" y="4894535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258087848" name="Shape 49"/>
          <p:cNvSpPr/>
          <p:nvPr/>
        </p:nvSpPr>
        <p:spPr bwMode="auto">
          <a:xfrm>
            <a:off x="2066543" y="4879318"/>
            <a:ext cx="4079848" cy="279400"/>
          </a:xfrm>
          <a:custGeom>
            <a:avLst/>
            <a:gdLst/>
            <a:ahLst/>
            <a:cxnLst/>
            <a:rect l="l" t="t" r="r" b="b"/>
            <a:pathLst>
              <a:path w="3403600" h="279400" fill="norm" stroke="1" extrusionOk="0">
                <a:moveTo>
                  <a:pt x="0" y="0"/>
                </a:moveTo>
                <a:lnTo>
                  <a:pt x="3365500" y="0"/>
                </a:lnTo>
                <a:arcTo wR="38100" hR="38100" stAng="16200000" swAng="5400000"/>
                <a:lnTo>
                  <a:pt x="3403600" y="241300"/>
                </a:lnTo>
                <a:arcTo wR="38100" hR="38100" stAng="0" swAng="5400000"/>
                <a:lnTo>
                  <a:pt x="0" y="279400"/>
                </a:lnTo>
                <a:lnTo>
                  <a:pt x="0" y="0"/>
                </a:lnTo>
                <a:close/>
              </a:path>
            </a:pathLst>
          </a:cu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17602634" name="Text 50"/>
          <p:cNvSpPr/>
          <p:nvPr/>
        </p:nvSpPr>
        <p:spPr bwMode="auto">
          <a:xfrm>
            <a:off x="7861300" y="4885668"/>
            <a:ext cx="7493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76%</a:t>
            </a:r>
          </a:p>
        </p:txBody>
      </p:sp>
      <p:sp>
        <p:nvSpPr>
          <p:cNvPr id="1747410109" name="Text 51"/>
          <p:cNvSpPr/>
          <p:nvPr/>
        </p:nvSpPr>
        <p:spPr bwMode="auto">
          <a:xfrm>
            <a:off x="8686800" y="4894535"/>
            <a:ext cx="1257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+76 punti</a:t>
            </a:r>
          </a:p>
        </p:txBody>
      </p:sp>
      <p:sp>
        <p:nvSpPr>
          <p:cNvPr id="1903987821" name="Text 52"/>
          <p:cNvSpPr/>
          <p:nvPr/>
        </p:nvSpPr>
        <p:spPr bwMode="auto">
          <a:xfrm>
            <a:off x="10020299" y="4894535"/>
            <a:ext cx="1320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≤ 0,04%</a:t>
            </a:r>
            <a:endParaRPr lang="en-US" sz="1400"/>
          </a:p>
        </p:txBody>
      </p:sp>
      <p:sp>
        <p:nvSpPr>
          <p:cNvPr id="1527680013" name="Shape 53"/>
          <p:cNvSpPr/>
          <p:nvPr/>
        </p:nvSpPr>
        <p:spPr bwMode="auto">
          <a:xfrm>
            <a:off x="546100" y="5486400"/>
            <a:ext cx="11099800" cy="774700"/>
          </a:xfrm>
          <a:prstGeom prst="roundRect">
            <a:avLst>
              <a:gd name="adj" fmla="val 13115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30674709" name="Shape 54"/>
          <p:cNvSpPr/>
          <p:nvPr/>
        </p:nvSpPr>
        <p:spPr bwMode="auto">
          <a:xfrm>
            <a:off x="546100" y="5486400"/>
            <a:ext cx="82550" cy="774700"/>
          </a:xfrm>
          <a:custGeom>
            <a:avLst/>
            <a:gdLst/>
            <a:ahLst/>
            <a:cxnLst/>
            <a:rect l="l" t="t" r="r" b="b"/>
            <a:pathLst>
              <a:path w="82550" h="77470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77289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07082372" name="Text 55"/>
          <p:cNvSpPr/>
          <p:nvPr/>
        </p:nvSpPr>
        <p:spPr bwMode="auto">
          <a:xfrm>
            <a:off x="819150" y="5767065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912216479" name="Text 56"/>
          <p:cNvSpPr/>
          <p:nvPr/>
        </p:nvSpPr>
        <p:spPr bwMode="auto">
          <a:xfrm>
            <a:off x="1822450" y="5626100"/>
            <a:ext cx="9882696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La perdita cresce con il costo del programma: 7% per P1, 9% per P1.5, 63% per P2, 76% per P3. *La baseline perde l'1% con il nodo al 60%: è il banco, non il programma.</a:t>
            </a:r>
          </a:p>
        </p:txBody>
      </p:sp>
      <p:sp>
        <p:nvSpPr>
          <p:cNvPr id="2068154323" name="Text 57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Traffico più alto chiesto: 12 M pacchetti/s · xdp_gen · rxonly su un core regge 19 M/s: qui non arriva al suo limite</a:t>
            </a:r>
            <a:endParaRPr lang="en-US" sz="1200"/>
          </a:p>
        </p:txBody>
      </p:sp>
      <p:sp>
        <p:nvSpPr>
          <p:cNvPr id="1410208826" name="Text 58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9052956" name="Shape 0"/>
          <p:cNvSpPr/>
          <p:nvPr/>
        </p:nvSpPr>
        <p:spPr bwMode="auto">
          <a:xfrm>
            <a:off x="0" y="0"/>
            <a:ext cx="12192000" cy="107949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96999131" name="Text 1"/>
          <p:cNvSpPr/>
          <p:nvPr/>
        </p:nvSpPr>
        <p:spPr bwMode="auto">
          <a:xfrm>
            <a:off x="546100" y="330200"/>
            <a:ext cx="114327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E07A2D"/>
                </a:solidFill>
                <a:latin typeface="Carlito"/>
                <a:ea typeface="Carlito"/>
                <a:cs typeface="Carlito"/>
              </a:rPr>
              <a:t>5 · LA DOMANDA · IL RITARDO</a:t>
            </a:r>
            <a:endParaRPr lang="en-US" sz="1200"/>
          </a:p>
        </p:txBody>
      </p:sp>
      <p:sp>
        <p:nvSpPr>
          <p:cNvPr id="847990038" name="Text 2"/>
          <p:cNvSpPr/>
          <p:nvPr/>
        </p:nvSpPr>
        <p:spPr bwMode="auto">
          <a:xfrm>
            <a:off x="546100" y="584200"/>
            <a:ext cx="114327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  <a:defRPr/>
            </a:pPr>
            <a:r>
              <a:rPr lang="en-US" sz="30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Il ritardo salta dove comincia la perdita</a:t>
            </a:r>
            <a:endParaRPr lang="en-US" sz="3000"/>
          </a:p>
        </p:txBody>
      </p:sp>
      <p:pic>
        <p:nvPicPr>
          <p:cNvPr id="1585532326" name="Image 0" descr="Ritardo mediano al crescere del traffico: salta dove comincia la perdita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546100" y="1562100"/>
            <a:ext cx="6350000" cy="3594100"/>
          </a:xfrm>
          <a:prstGeom prst="rect">
            <a:avLst/>
          </a:prstGeom>
        </p:spPr>
      </p:pic>
      <p:sp>
        <p:nvSpPr>
          <p:cNvPr id="1231863700" name="Text 3"/>
          <p:cNvSpPr/>
          <p:nvPr/>
        </p:nvSpPr>
        <p:spPr bwMode="auto">
          <a:xfrm>
            <a:off x="1130300" y="1727199"/>
            <a:ext cx="27470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ritardo mediano, in µs</a:t>
            </a:r>
            <a:endParaRPr lang="en-US" sz="1200"/>
          </a:p>
        </p:txBody>
      </p:sp>
      <p:sp>
        <p:nvSpPr>
          <p:cNvPr id="1538481002" name="Text 4"/>
          <p:cNvSpPr/>
          <p:nvPr/>
        </p:nvSpPr>
        <p:spPr bwMode="auto">
          <a:xfrm>
            <a:off x="1308100" y="1981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pulita</a:t>
            </a:r>
            <a:endParaRPr lang="en-US" sz="1200"/>
          </a:p>
        </p:txBody>
      </p:sp>
      <p:sp>
        <p:nvSpPr>
          <p:cNvPr id="160847849" name="Text 5"/>
          <p:cNvSpPr/>
          <p:nvPr/>
        </p:nvSpPr>
        <p:spPr bwMode="auto">
          <a:xfrm>
            <a:off x="2146300" y="198120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in perdita</a:t>
            </a:r>
            <a:endParaRPr lang="en-US" sz="1200"/>
          </a:p>
        </p:txBody>
      </p:sp>
      <p:sp>
        <p:nvSpPr>
          <p:cNvPr id="849849906" name="Text 6"/>
          <p:cNvSpPr/>
          <p:nvPr/>
        </p:nvSpPr>
        <p:spPr bwMode="auto">
          <a:xfrm>
            <a:off x="495300" y="45821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570675742" name="Text 7"/>
          <p:cNvSpPr/>
          <p:nvPr/>
        </p:nvSpPr>
        <p:spPr bwMode="auto">
          <a:xfrm>
            <a:off x="495300" y="3587326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50</a:t>
            </a:r>
            <a:endParaRPr lang="en-US" sz="1200"/>
          </a:p>
        </p:txBody>
      </p:sp>
      <p:sp>
        <p:nvSpPr>
          <p:cNvPr id="1752162078" name="Text 8"/>
          <p:cNvSpPr/>
          <p:nvPr/>
        </p:nvSpPr>
        <p:spPr bwMode="auto">
          <a:xfrm>
            <a:off x="495300" y="2592492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100</a:t>
            </a:r>
            <a:endParaRPr lang="en-US" sz="1200"/>
          </a:p>
        </p:txBody>
      </p:sp>
      <p:sp>
        <p:nvSpPr>
          <p:cNvPr id="590839205" name="Text 9"/>
          <p:cNvSpPr/>
          <p:nvPr/>
        </p:nvSpPr>
        <p:spPr bwMode="auto">
          <a:xfrm>
            <a:off x="495300" y="1597659"/>
            <a:ext cx="482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150</a:t>
            </a:r>
            <a:endParaRPr lang="en-US" sz="1200"/>
          </a:p>
        </p:txBody>
      </p:sp>
      <p:sp>
        <p:nvSpPr>
          <p:cNvPr id="225425045" name="Text 11"/>
          <p:cNvSpPr/>
          <p:nvPr/>
        </p:nvSpPr>
        <p:spPr bwMode="auto">
          <a:xfrm>
            <a:off x="774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0</a:t>
            </a:r>
            <a:endParaRPr lang="en-US" sz="1200"/>
          </a:p>
        </p:txBody>
      </p:sp>
      <p:sp>
        <p:nvSpPr>
          <p:cNvPr id="1922660306" name="Text 12"/>
          <p:cNvSpPr/>
          <p:nvPr/>
        </p:nvSpPr>
        <p:spPr bwMode="auto">
          <a:xfrm>
            <a:off x="1917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200"/>
          </a:p>
        </p:txBody>
      </p:sp>
      <p:sp>
        <p:nvSpPr>
          <p:cNvPr id="570375041" name="Text 13"/>
          <p:cNvSpPr/>
          <p:nvPr/>
        </p:nvSpPr>
        <p:spPr bwMode="auto">
          <a:xfrm>
            <a:off x="3060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200"/>
          </a:p>
        </p:txBody>
      </p:sp>
      <p:sp>
        <p:nvSpPr>
          <p:cNvPr id="1491128679" name="Text 14"/>
          <p:cNvSpPr/>
          <p:nvPr/>
        </p:nvSpPr>
        <p:spPr bwMode="auto">
          <a:xfrm>
            <a:off x="4203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200"/>
          </a:p>
        </p:txBody>
      </p:sp>
      <p:sp>
        <p:nvSpPr>
          <p:cNvPr id="753965364" name="Text 15"/>
          <p:cNvSpPr/>
          <p:nvPr/>
        </p:nvSpPr>
        <p:spPr bwMode="auto">
          <a:xfrm>
            <a:off x="5346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4</a:t>
            </a:r>
            <a:endParaRPr lang="en-US" sz="1200"/>
          </a:p>
        </p:txBody>
      </p:sp>
      <p:sp>
        <p:nvSpPr>
          <p:cNvPr id="2146217699" name="Text 15"/>
          <p:cNvSpPr/>
          <p:nvPr/>
        </p:nvSpPr>
        <p:spPr bwMode="auto">
          <a:xfrm>
            <a:off x="6489699" y="473710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5</a:t>
            </a:r>
            <a:endParaRPr lang="en-US" sz="1200"/>
          </a:p>
        </p:txBody>
      </p:sp>
      <p:sp>
        <p:nvSpPr>
          <p:cNvPr id="1500197874" name="Text 18"/>
          <p:cNvSpPr/>
          <p:nvPr/>
        </p:nvSpPr>
        <p:spPr bwMode="auto">
          <a:xfrm>
            <a:off x="968375" y="49530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traffico inviato (Gbit/s, pacchetti da 64 byte)</a:t>
            </a:r>
            <a:endParaRPr lang="en-US" sz="1200"/>
          </a:p>
        </p:txBody>
      </p:sp>
      <p:sp>
        <p:nvSpPr>
          <p:cNvPr id="840371550" name="Text 19"/>
          <p:cNvSpPr/>
          <p:nvPr/>
        </p:nvSpPr>
        <p:spPr bwMode="auto">
          <a:xfrm>
            <a:off x="7073900" y="1562100"/>
            <a:ext cx="47091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La coda piena spiega il ritardo</a:t>
            </a:r>
            <a:endParaRPr lang="en-US" sz="1500"/>
          </a:p>
        </p:txBody>
      </p:sp>
      <p:sp>
        <p:nvSpPr>
          <p:cNvPr id="2122700187" name="Text 20"/>
          <p:cNvSpPr/>
          <p:nvPr/>
        </p:nvSpPr>
        <p:spPr bwMode="auto">
          <a:xfrm>
            <a:off x="7073900" y="1854200"/>
            <a:ext cx="4709160" cy="2399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  <a:defRPr/>
            </a:pPr>
            <a:r>
              <a:rPr lang="en-US" sz="13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attesa prevista = 256 posti ÷ capacità della pipeline</a:t>
            </a:r>
            <a:endParaRPr lang="en-US" sz="1300"/>
          </a:p>
        </p:txBody>
      </p:sp>
      <p:sp>
        <p:nvSpPr>
          <p:cNvPr id="1354707861" name="Text 21"/>
          <p:cNvSpPr/>
          <p:nvPr/>
        </p:nvSpPr>
        <p:spPr bwMode="auto">
          <a:xfrm>
            <a:off x="7175500" y="2241029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pipeline</a:t>
            </a:r>
            <a:endParaRPr lang="en-US" sz="1200"/>
          </a:p>
        </p:txBody>
      </p:sp>
      <p:sp>
        <p:nvSpPr>
          <p:cNvPr id="301966077" name="Text 22"/>
          <p:cNvSpPr/>
          <p:nvPr/>
        </p:nvSpPr>
        <p:spPr bwMode="auto">
          <a:xfrm>
            <a:off x="8394700" y="2241029"/>
            <a:ext cx="1574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prevista</a:t>
            </a:r>
            <a:endParaRPr lang="en-US" sz="1200"/>
          </a:p>
        </p:txBody>
      </p:sp>
      <p:sp>
        <p:nvSpPr>
          <p:cNvPr id="2014645229" name="Text 23"/>
          <p:cNvSpPr/>
          <p:nvPr/>
        </p:nvSpPr>
        <p:spPr bwMode="auto">
          <a:xfrm>
            <a:off x="9918700" y="2241029"/>
            <a:ext cx="138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misurata (p50)</a:t>
            </a:r>
            <a:endParaRPr lang="en-US" sz="1200"/>
          </a:p>
        </p:txBody>
      </p:sp>
      <p:sp>
        <p:nvSpPr>
          <p:cNvPr id="2124876929" name="Shape 24"/>
          <p:cNvSpPr/>
          <p:nvPr/>
        </p:nvSpPr>
        <p:spPr bwMode="auto">
          <a:xfrm>
            <a:off x="7073900" y="2585839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22932718" name="Shape 25"/>
          <p:cNvSpPr/>
          <p:nvPr/>
        </p:nvSpPr>
        <p:spPr bwMode="auto">
          <a:xfrm>
            <a:off x="7175500" y="2681027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8794A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04701643" name="Text 26"/>
          <p:cNvSpPr/>
          <p:nvPr/>
        </p:nvSpPr>
        <p:spPr bwMode="auto">
          <a:xfrm>
            <a:off x="7391400" y="2632807"/>
            <a:ext cx="666683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baseline</a:t>
            </a:r>
            <a:endParaRPr lang="en-US" sz="1400"/>
          </a:p>
        </p:txBody>
      </p:sp>
      <p:sp>
        <p:nvSpPr>
          <p:cNvPr id="1697684380" name="Text 27"/>
          <p:cNvSpPr/>
          <p:nvPr/>
        </p:nvSpPr>
        <p:spPr bwMode="auto">
          <a:xfrm>
            <a:off x="8394700" y="2632807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1926103116" name="Text 28"/>
          <p:cNvSpPr/>
          <p:nvPr/>
        </p:nvSpPr>
        <p:spPr bwMode="auto">
          <a:xfrm>
            <a:off x="9918700" y="2632807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—</a:t>
            </a:r>
            <a:endParaRPr lang="en-US" sz="1400"/>
          </a:p>
        </p:txBody>
      </p:sp>
      <p:sp>
        <p:nvSpPr>
          <p:cNvPr id="373273043" name="Shape 29"/>
          <p:cNvSpPr/>
          <p:nvPr/>
        </p:nvSpPr>
        <p:spPr bwMode="auto">
          <a:xfrm>
            <a:off x="7073900" y="3060303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76571649" name="Shape 30"/>
          <p:cNvSpPr/>
          <p:nvPr/>
        </p:nvSpPr>
        <p:spPr bwMode="auto">
          <a:xfrm>
            <a:off x="7175500" y="3155491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C8551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67985432" name="Text 31"/>
          <p:cNvSpPr/>
          <p:nvPr/>
        </p:nvSpPr>
        <p:spPr bwMode="auto">
          <a:xfrm>
            <a:off x="7391400" y="3107271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</a:t>
            </a:r>
            <a:endParaRPr lang="en-US" sz="1400"/>
          </a:p>
        </p:txBody>
      </p:sp>
      <p:sp>
        <p:nvSpPr>
          <p:cNvPr id="823391305" name="Text 32"/>
          <p:cNvSpPr/>
          <p:nvPr/>
        </p:nvSpPr>
        <p:spPr bwMode="auto">
          <a:xfrm>
            <a:off x="8394700" y="3107271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30 µs</a:t>
            </a:r>
            <a:endParaRPr lang="en-US" sz="1400"/>
          </a:p>
        </p:txBody>
      </p:sp>
      <p:sp>
        <p:nvSpPr>
          <p:cNvPr id="291426118" name="Text 33"/>
          <p:cNvSpPr/>
          <p:nvPr/>
        </p:nvSpPr>
        <p:spPr bwMode="auto">
          <a:xfrm>
            <a:off x="9918700" y="3107271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34 µs</a:t>
            </a:r>
          </a:p>
        </p:txBody>
      </p:sp>
      <p:sp>
        <p:nvSpPr>
          <p:cNvPr id="263023725" name="Shape 34"/>
          <p:cNvSpPr/>
          <p:nvPr/>
        </p:nvSpPr>
        <p:spPr bwMode="auto">
          <a:xfrm>
            <a:off x="7073900" y="3534767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91956746" name="Shape 35"/>
          <p:cNvSpPr/>
          <p:nvPr/>
        </p:nvSpPr>
        <p:spPr bwMode="auto">
          <a:xfrm>
            <a:off x="7175500" y="3629955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F09A3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3775612" name="Text 36"/>
          <p:cNvSpPr/>
          <p:nvPr/>
        </p:nvSpPr>
        <p:spPr bwMode="auto">
          <a:xfrm>
            <a:off x="7391400" y="3581735"/>
            <a:ext cx="37319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P1.5</a:t>
            </a:r>
            <a:endParaRPr lang="en-US" sz="1400"/>
          </a:p>
        </p:txBody>
      </p:sp>
      <p:sp>
        <p:nvSpPr>
          <p:cNvPr id="118837679" name="Text 37"/>
          <p:cNvSpPr/>
          <p:nvPr/>
        </p:nvSpPr>
        <p:spPr bwMode="auto">
          <a:xfrm>
            <a:off x="8394700" y="3581735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32 µs</a:t>
            </a:r>
            <a:endParaRPr lang="en-US" sz="1400"/>
          </a:p>
        </p:txBody>
      </p:sp>
      <p:sp>
        <p:nvSpPr>
          <p:cNvPr id="1538432312" name="Text 38"/>
          <p:cNvSpPr/>
          <p:nvPr/>
        </p:nvSpPr>
        <p:spPr bwMode="auto">
          <a:xfrm>
            <a:off x="9918700" y="3581735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35 µs</a:t>
            </a:r>
          </a:p>
        </p:txBody>
      </p:sp>
      <p:sp>
        <p:nvSpPr>
          <p:cNvPr id="377915570" name="Shape 39"/>
          <p:cNvSpPr/>
          <p:nvPr/>
        </p:nvSpPr>
        <p:spPr bwMode="auto">
          <a:xfrm>
            <a:off x="7073900" y="4009231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1556474" name="Shape 40"/>
          <p:cNvSpPr/>
          <p:nvPr/>
        </p:nvSpPr>
        <p:spPr bwMode="auto">
          <a:xfrm>
            <a:off x="7175500" y="4104418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2E9C8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65664395" name="Text 41"/>
          <p:cNvSpPr/>
          <p:nvPr/>
        </p:nvSpPr>
        <p:spPr bwMode="auto">
          <a:xfrm>
            <a:off x="7391400" y="4056199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P2</a:t>
            </a:r>
            <a:endParaRPr lang="en-US" sz="1400"/>
          </a:p>
        </p:txBody>
      </p:sp>
      <p:sp>
        <p:nvSpPr>
          <p:cNvPr id="1592436618" name="Text 42"/>
          <p:cNvSpPr/>
          <p:nvPr/>
        </p:nvSpPr>
        <p:spPr bwMode="auto">
          <a:xfrm>
            <a:off x="8394700" y="4056199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74 µs</a:t>
            </a:r>
            <a:endParaRPr lang="en-US" sz="1400"/>
          </a:p>
        </p:txBody>
      </p:sp>
      <p:sp>
        <p:nvSpPr>
          <p:cNvPr id="510040582" name="Text 43"/>
          <p:cNvSpPr/>
          <p:nvPr/>
        </p:nvSpPr>
        <p:spPr bwMode="auto">
          <a:xfrm>
            <a:off x="9918700" y="4056199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84 µs</a:t>
            </a:r>
          </a:p>
        </p:txBody>
      </p:sp>
      <p:sp>
        <p:nvSpPr>
          <p:cNvPr id="2094004657" name="Shape 44"/>
          <p:cNvSpPr/>
          <p:nvPr/>
        </p:nvSpPr>
        <p:spPr bwMode="auto">
          <a:xfrm>
            <a:off x="7073900" y="4483633"/>
            <a:ext cx="4572000" cy="342900"/>
          </a:xfrm>
          <a:prstGeom prst="roundRect">
            <a:avLst>
              <a:gd name="adj" fmla="val 22222"/>
            </a:avLst>
          </a:prstGeom>
          <a:solidFill>
            <a:srgbClr val="F3F5F8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34622360" name="Shape 45"/>
          <p:cNvSpPr/>
          <p:nvPr/>
        </p:nvSpPr>
        <p:spPr bwMode="auto">
          <a:xfrm>
            <a:off x="7175500" y="4578821"/>
            <a:ext cx="152400" cy="152400"/>
          </a:xfrm>
          <a:prstGeom prst="roundRect">
            <a:avLst>
              <a:gd name="adj" fmla="val 25000"/>
            </a:avLst>
          </a:prstGeom>
          <a:solidFill>
            <a:srgbClr val="1F5F8B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52868581" name="Text 46"/>
          <p:cNvSpPr/>
          <p:nvPr/>
        </p:nvSpPr>
        <p:spPr bwMode="auto">
          <a:xfrm>
            <a:off x="7391400" y="4530601"/>
            <a:ext cx="235545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P3</a:t>
            </a:r>
            <a:endParaRPr lang="en-US" sz="1400"/>
          </a:p>
        </p:txBody>
      </p:sp>
      <p:sp>
        <p:nvSpPr>
          <p:cNvPr id="1255375501" name="Text 47"/>
          <p:cNvSpPr/>
          <p:nvPr/>
        </p:nvSpPr>
        <p:spPr bwMode="auto">
          <a:xfrm>
            <a:off x="8394700" y="4530601"/>
            <a:ext cx="15748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109 µs</a:t>
            </a:r>
          </a:p>
        </p:txBody>
      </p:sp>
      <p:sp>
        <p:nvSpPr>
          <p:cNvPr id="779229104" name="Text 48"/>
          <p:cNvSpPr/>
          <p:nvPr/>
        </p:nvSpPr>
        <p:spPr bwMode="auto">
          <a:xfrm>
            <a:off x="9918700" y="4530601"/>
            <a:ext cx="1384300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  <a:defRPr/>
            </a:pPr>
            <a:r>
              <a:rPr lang="en-US" sz="14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125 µs</a:t>
            </a:r>
          </a:p>
        </p:txBody>
      </p:sp>
      <p:sp>
        <p:nvSpPr>
          <p:cNvPr id="1516578980" name="Text 49"/>
          <p:cNvSpPr/>
          <p:nvPr/>
        </p:nvSpPr>
        <p:spPr bwMode="auto">
          <a:xfrm>
            <a:off x="7073900" y="4958097"/>
            <a:ext cx="4709160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Il resto (10–15%) è il percorso fino al nodo successivo; — = coda mai piena.</a:t>
            </a:r>
            <a:endParaRPr lang="en-US" sz="1200"/>
          </a:p>
        </p:txBody>
      </p:sp>
      <p:sp>
        <p:nvSpPr>
          <p:cNvPr id="1969432019" name="Shape 50"/>
          <p:cNvSpPr/>
          <p:nvPr/>
        </p:nvSpPr>
        <p:spPr bwMode="auto">
          <a:xfrm>
            <a:off x="546100" y="5734050"/>
            <a:ext cx="11099800" cy="527050"/>
          </a:xfrm>
          <a:prstGeom prst="roundRect">
            <a:avLst>
              <a:gd name="adj" fmla="val 19277"/>
            </a:avLst>
          </a:prstGeom>
          <a:solidFill>
            <a:srgbClr val="FFF4DE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92044801" name="Shape 51"/>
          <p:cNvSpPr/>
          <p:nvPr/>
        </p:nvSpPr>
        <p:spPr bwMode="auto">
          <a:xfrm>
            <a:off x="546100" y="5734050"/>
            <a:ext cx="82550" cy="527050"/>
          </a:xfrm>
          <a:custGeom>
            <a:avLst/>
            <a:gdLst/>
            <a:ahLst/>
            <a:cxnLst/>
            <a:rect l="l" t="t" r="r" b="b"/>
            <a:pathLst>
              <a:path w="82550" h="527050" fill="norm" stroke="1" extrusionOk="0">
                <a:moveTo>
                  <a:pt x="0" y="101600"/>
                </a:moveTo>
                <a:arcTo wR="101600" hR="101600" stAng="10800000" swAng="4751585"/>
                <a:lnTo>
                  <a:pt x="82550" y="525248"/>
                </a:lnTo>
                <a:arcTo wR="101600" hR="101600" stAng="6048415" swAng="4751585"/>
                <a:close/>
              </a:path>
            </a:pathLst>
          </a:cu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5357696" name="Text 52"/>
          <p:cNvSpPr/>
          <p:nvPr/>
        </p:nvSpPr>
        <p:spPr bwMode="auto">
          <a:xfrm>
            <a:off x="819150" y="5890890"/>
            <a:ext cx="8762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b="1" spc="100">
                <a:solidFill>
                  <a:srgbClr val="B57A00"/>
                </a:solidFill>
                <a:latin typeface="Carlito"/>
                <a:ea typeface="Carlito"/>
                <a:cs typeface="Carlito"/>
              </a:rPr>
              <a:t>QUINDI</a:t>
            </a:r>
            <a:endParaRPr lang="en-US" sz="1200"/>
          </a:p>
        </p:txBody>
      </p:sp>
      <p:sp>
        <p:nvSpPr>
          <p:cNvPr id="238880386" name="Text 53"/>
          <p:cNvSpPr/>
          <p:nvPr/>
        </p:nvSpPr>
        <p:spPr bwMode="auto">
          <a:xfrm>
            <a:off x="1822450" y="5873750"/>
            <a:ext cx="9882696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0"/>
              </a:lnSpc>
              <a:buNone/>
              <a:defRPr/>
            </a:pP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Oltre la sua capacità il nodo non riesce a svuotare la coda, che resta </a:t>
            </a:r>
            <a:r>
              <a:rPr lang="en-US" sz="1500" b="1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piena</a:t>
            </a:r>
            <a:r>
              <a:rPr lang="en-US" sz="1500">
                <a:solidFill>
                  <a:srgbClr val="222B36"/>
                </a:solidFill>
                <a:latin typeface="Carlito"/>
                <a:ea typeface="Carlito"/>
                <a:cs typeface="Carlito"/>
              </a:rPr>
              <a:t>: il ritardo si ferma e cresce la perdita.</a:t>
            </a:r>
            <a:endParaRPr lang="en-US" sz="1500"/>
          </a:p>
        </p:txBody>
      </p:sp>
      <p:sp>
        <p:nvSpPr>
          <p:cNvPr id="1052403528" name="Text 54"/>
          <p:cNvSpPr/>
          <p:nvPr/>
        </p:nvSpPr>
        <p:spPr bwMode="auto">
          <a:xfrm>
            <a:off x="546100" y="6426200"/>
            <a:ext cx="100723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  <a:defRPr/>
            </a:pPr>
            <a:r>
              <a:rPr lang="en-US" sz="1200" i="1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Ritardo dal timbro di xdp_gen al nodo successivo · p50 · — = la baseline non riempie la coda · a basso carico c'è l'attesa nel generatore</a:t>
            </a:r>
            <a:endParaRPr lang="en-US" sz="1200"/>
          </a:p>
        </p:txBody>
      </p:sp>
      <p:sp>
        <p:nvSpPr>
          <p:cNvPr id="1990810389" name="Text 55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6B7C93"/>
                </a:solidFill>
                <a:latin typeface="Carlito"/>
                <a:ea typeface="Carlito"/>
                <a:cs typeface="Carlito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4">
    <p:bg>
      <p:bgPr shadeToTitle="0">
        <a:solidFill>
          <a:srgbClr val="1F3A5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9209" name="Shape 0"/>
          <p:cNvSpPr/>
          <p:nvPr/>
        </p:nvSpPr>
        <p:spPr bwMode="auto">
          <a:xfrm>
            <a:off x="0" y="0"/>
            <a:ext cx="317500" cy="6858000"/>
          </a:xfrm>
          <a:prstGeom prst="rect">
            <a:avLst/>
          </a:prstGeom>
          <a:solidFill>
            <a:srgbClr val="E07A2D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39810982" name="Text 1"/>
          <p:cNvSpPr/>
          <p:nvPr/>
        </p:nvSpPr>
        <p:spPr bwMode="auto">
          <a:xfrm>
            <a:off x="914400" y="952500"/>
            <a:ext cx="10674096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  <a:defRPr/>
            </a:pPr>
            <a:r>
              <a:rPr lang="en-US" sz="1400" b="1" spc="100">
                <a:solidFill>
                  <a:srgbClr val="F2B134"/>
                </a:solidFill>
                <a:latin typeface="Carlito"/>
                <a:ea typeface="Carlito"/>
                <a:cs typeface="Carlito"/>
              </a:rPr>
              <a:t>IN CHIUSURA · SINTESI</a:t>
            </a:r>
            <a:endParaRPr lang="en-US" sz="1400"/>
          </a:p>
        </p:txBody>
      </p:sp>
      <p:sp>
        <p:nvSpPr>
          <p:cNvPr id="811176331" name="Text 2"/>
          <p:cNvSpPr/>
          <p:nvPr/>
        </p:nvSpPr>
        <p:spPr bwMode="auto">
          <a:xfrm>
            <a:off x="914400" y="1290315"/>
            <a:ext cx="10674096" cy="612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620"/>
              </a:lnSpc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In sintesi</a:t>
            </a:r>
            <a:endParaRPr lang="en-US" sz="4200"/>
          </a:p>
        </p:txBody>
      </p:sp>
      <p:sp>
        <p:nvSpPr>
          <p:cNvPr id="1703730981" name="Shape 3"/>
          <p:cNvSpPr/>
          <p:nvPr/>
        </p:nvSpPr>
        <p:spPr bwMode="auto">
          <a:xfrm>
            <a:off x="914400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59790798" name="Shape 4"/>
          <p:cNvSpPr/>
          <p:nvPr/>
        </p:nvSpPr>
        <p:spPr bwMode="auto">
          <a:xfrm>
            <a:off x="1130300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02722690" name="Text 5"/>
          <p:cNvSpPr/>
          <p:nvPr/>
        </p:nvSpPr>
        <p:spPr bwMode="auto">
          <a:xfrm>
            <a:off x="1297715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1</a:t>
            </a:r>
            <a:endParaRPr lang="en-US" sz="1900"/>
          </a:p>
        </p:txBody>
      </p:sp>
      <p:sp>
        <p:nvSpPr>
          <p:cNvPr id="666194076" name="Text 6"/>
          <p:cNvSpPr/>
          <p:nvPr/>
        </p:nvSpPr>
        <p:spPr bwMode="auto">
          <a:xfrm>
            <a:off x="1130300" y="3219723"/>
            <a:ext cx="2973747" cy="580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Le misure si ripetono</a:t>
            </a:r>
          </a:p>
        </p:txBody>
      </p:sp>
      <p:sp>
        <p:nvSpPr>
          <p:cNvPr id="1438087814" name="Text 7"/>
          <p:cNvSpPr/>
          <p:nvPr/>
        </p:nvSpPr>
        <p:spPr bwMode="auto">
          <a:xfrm>
            <a:off x="1130300" y="3876278"/>
            <a:ext cx="2973747" cy="10197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Quattro misure diverse dello stesso nodo danno lo stesso costo entro il 2%. Il core del nodo non dorme, non cambia frequenza e nessuno lo interrompe.</a:t>
            </a:r>
          </a:p>
        </p:txBody>
      </p:sp>
      <p:sp>
        <p:nvSpPr>
          <p:cNvPr id="108534207" name="Shape 8"/>
          <p:cNvSpPr/>
          <p:nvPr/>
        </p:nvSpPr>
        <p:spPr bwMode="auto">
          <a:xfrm>
            <a:off x="4436533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25198686" name="Shape 9"/>
          <p:cNvSpPr/>
          <p:nvPr/>
        </p:nvSpPr>
        <p:spPr bwMode="auto">
          <a:xfrm>
            <a:off x="4652433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1244115" name="Text 10"/>
          <p:cNvSpPr/>
          <p:nvPr/>
        </p:nvSpPr>
        <p:spPr bwMode="auto">
          <a:xfrm>
            <a:off x="4819848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2</a:t>
            </a:r>
            <a:endParaRPr lang="en-US" sz="1900"/>
          </a:p>
        </p:txBody>
      </p:sp>
      <p:sp>
        <p:nvSpPr>
          <p:cNvPr id="1114023944" name="Text 11"/>
          <p:cNvSpPr/>
          <p:nvPr/>
        </p:nvSpPr>
        <p:spPr bwMode="auto">
          <a:xfrm>
            <a:off x="4652433" y="3219723"/>
            <a:ext cx="2973747" cy="302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Come una scheda vera</a:t>
            </a:r>
            <a:endParaRPr lang="en-US" sz="1900"/>
          </a:p>
        </p:txBody>
      </p:sp>
      <p:sp>
        <p:nvSpPr>
          <p:cNvPr id="1167123841" name="Text 12"/>
          <p:cNvSpPr/>
          <p:nvPr/>
        </p:nvSpPr>
        <p:spPr bwMode="auto">
          <a:xfrm>
            <a:off x="4652433" y="3598800"/>
            <a:ext cx="2973747" cy="126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xdp_gen consegna frame senza copia: P1–P3 da 117 a 425 ns, due core reggono il doppio, e su un E-core il nodo regge il 61–82%.</a:t>
            </a:r>
          </a:p>
        </p:txBody>
      </p:sp>
      <p:sp>
        <p:nvSpPr>
          <p:cNvPr id="604098758" name="Shape 13"/>
          <p:cNvSpPr/>
          <p:nvPr/>
        </p:nvSpPr>
        <p:spPr bwMode="auto">
          <a:xfrm>
            <a:off x="7958667" y="2445023"/>
            <a:ext cx="3318933" cy="2915444"/>
          </a:xfrm>
          <a:prstGeom prst="roundRect">
            <a:avLst>
              <a:gd name="adj" fmla="val 5227"/>
            </a:avLst>
          </a:prstGeom>
          <a:solidFill>
            <a:srgbClr val="27476F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3608362" name="Shape 14"/>
          <p:cNvSpPr/>
          <p:nvPr/>
        </p:nvSpPr>
        <p:spPr bwMode="auto">
          <a:xfrm>
            <a:off x="8174567" y="2660923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55739281" name="Text 15"/>
          <p:cNvSpPr/>
          <p:nvPr/>
        </p:nvSpPr>
        <p:spPr bwMode="auto">
          <a:xfrm>
            <a:off x="8341982" y="2720578"/>
            <a:ext cx="173104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  <a:defRPr/>
            </a:pPr>
            <a:r>
              <a:rPr lang="en-US" sz="1900" b="1">
                <a:solidFill>
                  <a:srgbClr val="1F3A5F"/>
                </a:solidFill>
                <a:latin typeface="Carlito"/>
                <a:ea typeface="Carlito"/>
                <a:cs typeface="Carlito"/>
              </a:rPr>
              <a:t>3</a:t>
            </a:r>
            <a:endParaRPr lang="en-US" sz="1900"/>
          </a:p>
        </p:txBody>
      </p:sp>
      <p:sp>
        <p:nvSpPr>
          <p:cNvPr id="1440241615" name="Text 16"/>
          <p:cNvSpPr/>
          <p:nvPr/>
        </p:nvSpPr>
        <p:spPr bwMode="auto">
          <a:xfrm>
            <a:off x="8174567" y="3219723"/>
            <a:ext cx="2973747" cy="580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85"/>
              </a:lnSpc>
              <a:buNone/>
              <a:defRPr/>
            </a:pPr>
            <a:r>
              <a:rPr lang="en-US" sz="1900" b="1">
                <a:solidFill>
                  <a:srgbClr val="FFFFFF"/>
                </a:solidFill>
                <a:latin typeface="Carlito"/>
                <a:ea typeface="Carlito"/>
                <a:cs typeface="Carlito"/>
              </a:rPr>
              <a:t>Si perde prima del programma</a:t>
            </a:r>
            <a:endParaRPr lang="en-US" sz="1900"/>
          </a:p>
        </p:txBody>
      </p:sp>
      <p:sp>
        <p:nvSpPr>
          <p:cNvPr id="36496254" name="Text 17"/>
          <p:cNvSpPr/>
          <p:nvPr/>
        </p:nvSpPr>
        <p:spPr bwMode="auto">
          <a:xfrm>
            <a:off x="8174567" y="3876278"/>
            <a:ext cx="2973747" cy="1268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  <a:defRPr/>
            </a:pPr>
            <a:r>
              <a:rPr lang="en-US" sz="1450">
                <a:solidFill>
                  <a:srgbClr val="D6DEE9"/>
                </a:solidFill>
                <a:latin typeface="Carlito"/>
                <a:ea typeface="Carlito"/>
                <a:cs typeface="Carlito"/>
              </a:rPr>
              <a:t>Il nodo satura alla sua capacità, il ritardo sale alla coda piena e la perdita è tutta all'ingresso: il collo di bottiglia è il programma.</a:t>
            </a:r>
          </a:p>
        </p:txBody>
      </p:sp>
      <p:sp>
        <p:nvSpPr>
          <p:cNvPr id="1206520092" name="Text 18"/>
          <p:cNvSpPr/>
          <p:nvPr/>
        </p:nvSpPr>
        <p:spPr bwMode="auto">
          <a:xfrm>
            <a:off x="914400" y="5928395"/>
            <a:ext cx="10674096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  <a:defRPr/>
            </a:pPr>
            <a:r>
              <a:rPr lang="en-US" sz="1300">
                <a:solidFill>
                  <a:srgbClr val="9FB0C6"/>
                </a:solidFill>
                <a:latin typeface="Carlito"/>
                <a:ea typeface="Carlito"/>
                <a:cs typeface="Carlito"/>
              </a:rPr>
              <a:t>Ettore Cantile · ottobre 2026</a:t>
            </a:r>
            <a:endParaRPr lang="en-US" sz="1300"/>
          </a:p>
        </p:txBody>
      </p:sp>
      <p:sp>
        <p:nvSpPr>
          <p:cNvPr id="1502667220" name="Text 19"/>
          <p:cNvSpPr/>
          <p:nvPr/>
        </p:nvSpPr>
        <p:spPr bwMode="auto">
          <a:xfrm>
            <a:off x="10960099" y="642620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  <a:defRPr/>
            </a:pPr>
            <a:r>
              <a:rPr lang="en-US" sz="1200">
                <a:solidFill>
                  <a:srgbClr val="9FB0C6"/>
                </a:solidFill>
                <a:latin typeface="Carlito"/>
                <a:ea typeface="Carlito"/>
                <a:cs typeface="Carlito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24</Slides>
  <Notes>24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reale su dual boot</dc:title>
  <dc:subject>PptxGenJS Presentation</dc:subject>
  <dc:creator>PptxGenJS</dc:creator>
  <cp:lastModifiedBy/>
  <cp:revision>4</cp:revision>
  <dcterms:created xsi:type="dcterms:W3CDTF">2026-09-29T15:31:22Z</dcterms:created>
  <dcterms:modified xsi:type="dcterms:W3CDTF">2026-09-30T16:52:04Z</dcterms:modified>
</cp:coreProperties>
</file>