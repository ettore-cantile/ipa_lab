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74" d="100"/>
          <a:sy n="74" d="100"/>
        </p:scale>
        <p:origin x="352" y="56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tableStyles" Target="tableStyles.xml"/><Relationship Id="rId31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264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8161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910529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9222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82598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1053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808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363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520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2290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571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4106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04172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4322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58137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5635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75986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9720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9991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38661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1788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2227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3434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1418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06696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35246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6563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6516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6081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37936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6872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16086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56366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244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49438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1883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60493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9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4237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56918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05892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719697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0177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97873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683609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3592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88133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934997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21292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6605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388860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33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22205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45701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27164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9197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067395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6042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89046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5282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6923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8435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06498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960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34498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9763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02979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17164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00179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0525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97861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758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F3A5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854695" name="Shape 0"/>
          <p:cNvSpPr/>
          <p:nvPr/>
        </p:nvSpPr>
        <p:spPr bwMode="auto">
          <a:xfrm>
            <a:off x="0" y="0"/>
            <a:ext cx="317500" cy="6858000"/>
          </a:xfrm>
          <a:prstGeom prst="rect">
            <a:avLst/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48343889" name="Text 1"/>
          <p:cNvSpPr/>
          <p:nvPr/>
        </p:nvSpPr>
        <p:spPr bwMode="auto">
          <a:xfrm>
            <a:off x="914400" y="1079500"/>
            <a:ext cx="1046480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 spc="100">
                <a:solidFill>
                  <a:srgbClr val="F2B134"/>
                </a:solidFill>
                <a:latin typeface="Carlito"/>
                <a:ea typeface="Carlito"/>
                <a:cs typeface="Carlito"/>
              </a:rPr>
              <a:t>TESI · EBPF / XDP</a:t>
            </a:r>
            <a:endParaRPr lang="en-US" sz="1600"/>
          </a:p>
        </p:txBody>
      </p:sp>
      <p:sp>
        <p:nvSpPr>
          <p:cNvPr id="1929620387" name="Text 2"/>
          <p:cNvSpPr/>
          <p:nvPr/>
        </p:nvSpPr>
        <p:spPr bwMode="auto">
          <a:xfrm>
            <a:off x="914400" y="1587500"/>
            <a:ext cx="10726420" cy="13689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90"/>
              </a:lnSpc>
              <a:buNone/>
              <a:defRPr/>
            </a:pPr>
            <a:r>
              <a:rPr lang="en-US" sz="4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Il test reale su dual boot</a:t>
            </a:r>
            <a:endParaRPr lang="en-US" sz="4600"/>
          </a:p>
          <a:p>
            <a:pPr marL="0" indent="0" algn="l">
              <a:lnSpc>
                <a:spcPts val="5290"/>
              </a:lnSpc>
              <a:buNone/>
              <a:defRPr/>
            </a:pPr>
            <a:r>
              <a:rPr lang="en-US" sz="4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e la domanda sul bit rate</a:t>
            </a:r>
            <a:endParaRPr lang="en-US" sz="4600"/>
          </a:p>
        </p:txBody>
      </p:sp>
      <p:sp>
        <p:nvSpPr>
          <p:cNvPr id="175244843" name="Text 3"/>
          <p:cNvSpPr/>
          <p:nvPr/>
        </p:nvSpPr>
        <p:spPr bwMode="auto">
          <a:xfrm>
            <a:off x="914400" y="3429000"/>
            <a:ext cx="981075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en-US" sz="200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Come si misura quanti pacchetti regge un nodo, con quali generatori di traffico, e che cosa succede quando il traffico offerto cresce.</a:t>
            </a:r>
            <a:endParaRPr lang="en-US" sz="2000"/>
          </a:p>
        </p:txBody>
      </p:sp>
      <p:sp>
        <p:nvSpPr>
          <p:cNvPr id="758403659" name="Shape 4"/>
          <p:cNvSpPr/>
          <p:nvPr/>
        </p:nvSpPr>
        <p:spPr bwMode="auto">
          <a:xfrm>
            <a:off x="914400" y="4889500"/>
            <a:ext cx="2012949" cy="44450"/>
          </a:xfrm>
          <a:prstGeom prst="rect">
            <a:avLst/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5634089" name="Text 5"/>
          <p:cNvSpPr/>
          <p:nvPr/>
        </p:nvSpPr>
        <p:spPr bwMode="auto">
          <a:xfrm>
            <a:off x="914400" y="5118100"/>
            <a:ext cx="7848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Ettore Cantile</a:t>
            </a:r>
            <a:endParaRPr lang="en-US" sz="2000"/>
          </a:p>
        </p:txBody>
      </p:sp>
      <p:sp>
        <p:nvSpPr>
          <p:cNvPr id="512399186" name="Text 6"/>
          <p:cNvSpPr/>
          <p:nvPr/>
        </p:nvSpPr>
        <p:spPr bwMode="auto">
          <a:xfrm>
            <a:off x="914400" y="5473700"/>
            <a:ext cx="7848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settembre 2026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77811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957523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LA DOMANDA DEL RELATORE</a:t>
            </a:r>
            <a:endParaRPr lang="en-US" sz="1200"/>
          </a:p>
        </p:txBody>
      </p:sp>
      <p:sp>
        <p:nvSpPr>
          <p:cNvPr id="244348176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Quando il traffico cresce, dove si perde?</a:t>
            </a:r>
            <a:endParaRPr lang="en-US" sz="3000"/>
          </a:p>
        </p:txBody>
      </p:sp>
      <p:sp>
        <p:nvSpPr>
          <p:cNvPr id="1064731516" name="Shape 3"/>
          <p:cNvSpPr/>
          <p:nvPr/>
        </p:nvSpPr>
        <p:spPr bwMode="auto">
          <a:xfrm>
            <a:off x="54610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47032689" name="Shape 4"/>
          <p:cNvSpPr/>
          <p:nvPr/>
        </p:nvSpPr>
        <p:spPr bwMode="auto">
          <a:xfrm>
            <a:off x="69850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2869494" name="Text 5"/>
          <p:cNvSpPr/>
          <p:nvPr/>
        </p:nvSpPr>
        <p:spPr bwMode="auto">
          <a:xfrm>
            <a:off x="85963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700"/>
          </a:p>
        </p:txBody>
      </p:sp>
      <p:sp>
        <p:nvSpPr>
          <p:cNvPr id="1288116488" name="Text 6"/>
          <p:cNvSpPr/>
          <p:nvPr/>
        </p:nvSpPr>
        <p:spPr bwMode="auto">
          <a:xfrm>
            <a:off x="69850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traffico cresce</a:t>
            </a:r>
            <a:endParaRPr lang="en-US" sz="1600"/>
          </a:p>
        </p:txBody>
      </p:sp>
      <p:sp>
        <p:nvSpPr>
          <p:cNvPr id="403045074" name="Text 7"/>
          <p:cNvSpPr/>
          <p:nvPr/>
        </p:nvSpPr>
        <p:spPr bwMode="auto">
          <a:xfrm>
            <a:off x="69850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 spedisce sempre più pacchetti al secondo.</a:t>
            </a:r>
            <a:endParaRPr lang="en-US" sz="1400"/>
          </a:p>
        </p:txBody>
      </p:sp>
      <p:pic>
        <p:nvPicPr>
          <p:cNvPr id="1078143993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092450" y="2284678"/>
            <a:ext cx="254000" cy="177800"/>
          </a:xfrm>
          <a:prstGeom prst="rect">
            <a:avLst/>
          </a:prstGeom>
        </p:spPr>
      </p:pic>
      <p:sp>
        <p:nvSpPr>
          <p:cNvPr id="643995646" name="Shape 8"/>
          <p:cNvSpPr/>
          <p:nvPr/>
        </p:nvSpPr>
        <p:spPr bwMode="auto">
          <a:xfrm>
            <a:off x="342265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03664423" name="Shape 9"/>
          <p:cNvSpPr/>
          <p:nvPr/>
        </p:nvSpPr>
        <p:spPr bwMode="auto">
          <a:xfrm>
            <a:off x="357505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96069498" name="Text 10"/>
          <p:cNvSpPr/>
          <p:nvPr/>
        </p:nvSpPr>
        <p:spPr bwMode="auto">
          <a:xfrm>
            <a:off x="373618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700"/>
          </a:p>
        </p:txBody>
      </p:sp>
      <p:sp>
        <p:nvSpPr>
          <p:cNvPr id="1622139802" name="Text 11"/>
          <p:cNvSpPr/>
          <p:nvPr/>
        </p:nvSpPr>
        <p:spPr bwMode="auto">
          <a:xfrm>
            <a:off x="357505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coda si riempie</a:t>
            </a:r>
            <a:endParaRPr lang="en-US" sz="1600"/>
          </a:p>
        </p:txBody>
      </p:sp>
      <p:sp>
        <p:nvSpPr>
          <p:cNvPr id="279675310" name="Text 12"/>
          <p:cNvSpPr/>
          <p:nvPr/>
        </p:nvSpPr>
        <p:spPr bwMode="auto">
          <a:xfrm>
            <a:off x="357505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Davanti al nodo c'è una coda da 256 posti.</a:t>
            </a:r>
            <a:endParaRPr lang="en-US" sz="1400"/>
          </a:p>
        </p:txBody>
      </p:sp>
      <p:pic>
        <p:nvPicPr>
          <p:cNvPr id="27957570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969000" y="2284678"/>
            <a:ext cx="254000" cy="177800"/>
          </a:xfrm>
          <a:prstGeom prst="rect">
            <a:avLst/>
          </a:prstGeom>
        </p:spPr>
      </p:pic>
      <p:sp>
        <p:nvSpPr>
          <p:cNvPr id="1526394088" name="Shape 13"/>
          <p:cNvSpPr/>
          <p:nvPr/>
        </p:nvSpPr>
        <p:spPr bwMode="auto">
          <a:xfrm>
            <a:off x="629920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8120273" name="Shape 14"/>
          <p:cNvSpPr/>
          <p:nvPr/>
        </p:nvSpPr>
        <p:spPr bwMode="auto">
          <a:xfrm>
            <a:off x="645160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27608097" name="Text 15"/>
          <p:cNvSpPr/>
          <p:nvPr/>
        </p:nvSpPr>
        <p:spPr bwMode="auto">
          <a:xfrm>
            <a:off x="661273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700"/>
          </a:p>
        </p:txBody>
      </p:sp>
      <p:sp>
        <p:nvSpPr>
          <p:cNvPr id="1072881443" name="Text 16"/>
          <p:cNvSpPr/>
          <p:nvPr/>
        </p:nvSpPr>
        <p:spPr bwMode="auto">
          <a:xfrm>
            <a:off x="645160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ritardo cresce</a:t>
            </a:r>
            <a:endParaRPr lang="en-US" sz="1600"/>
          </a:p>
        </p:txBody>
      </p:sp>
      <p:sp>
        <p:nvSpPr>
          <p:cNvPr id="853502057" name="Text 17"/>
          <p:cNvSpPr/>
          <p:nvPr/>
        </p:nvSpPr>
        <p:spPr bwMode="auto">
          <a:xfrm>
            <a:off x="645160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pacchetto aspetta di più prima di essere elaborato.</a:t>
            </a:r>
            <a:endParaRPr lang="en-US" sz="1400"/>
          </a:p>
        </p:txBody>
      </p:sp>
      <p:pic>
        <p:nvPicPr>
          <p:cNvPr id="1164944349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845550" y="2284678"/>
            <a:ext cx="254000" cy="177800"/>
          </a:xfrm>
          <a:prstGeom prst="rect">
            <a:avLst/>
          </a:prstGeom>
        </p:spPr>
      </p:pic>
      <p:sp>
        <p:nvSpPr>
          <p:cNvPr id="693503564" name="Shape 18"/>
          <p:cNvSpPr/>
          <p:nvPr/>
        </p:nvSpPr>
        <p:spPr bwMode="auto">
          <a:xfrm>
            <a:off x="917575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4144812" name="Shape 19"/>
          <p:cNvSpPr/>
          <p:nvPr/>
        </p:nvSpPr>
        <p:spPr bwMode="auto">
          <a:xfrm>
            <a:off x="932815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5018423" name="Text 20"/>
          <p:cNvSpPr/>
          <p:nvPr/>
        </p:nvSpPr>
        <p:spPr bwMode="auto">
          <a:xfrm>
            <a:off x="948928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700"/>
          </a:p>
        </p:txBody>
      </p:sp>
      <p:sp>
        <p:nvSpPr>
          <p:cNvPr id="1413094422" name="Text 21"/>
          <p:cNvSpPr/>
          <p:nvPr/>
        </p:nvSpPr>
        <p:spPr bwMode="auto">
          <a:xfrm>
            <a:off x="932815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 perde</a:t>
            </a:r>
            <a:endParaRPr lang="en-US" sz="1600"/>
          </a:p>
        </p:txBody>
      </p:sp>
      <p:sp>
        <p:nvSpPr>
          <p:cNvPr id="1022831212" name="Text 22"/>
          <p:cNvSpPr/>
          <p:nvPr/>
        </p:nvSpPr>
        <p:spPr bwMode="auto">
          <a:xfrm>
            <a:off x="932815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è piena: chi arriva viene respinto.</a:t>
            </a:r>
            <a:endParaRPr lang="en-US" sz="1400"/>
          </a:p>
        </p:txBody>
      </p:sp>
      <p:sp>
        <p:nvSpPr>
          <p:cNvPr id="1279257858" name="Text 23"/>
          <p:cNvSpPr/>
          <p:nvPr/>
        </p:nvSpPr>
        <p:spPr bwMode="auto">
          <a:xfrm>
            <a:off x="546100" y="3512807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Dove si perde dice qual è il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collo di bottiglia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264895518" name="Shape 24"/>
          <p:cNvSpPr/>
          <p:nvPr/>
        </p:nvSpPr>
        <p:spPr bwMode="auto">
          <a:xfrm>
            <a:off x="546100" y="4104614"/>
            <a:ext cx="5461000" cy="1234414"/>
          </a:xfrm>
          <a:prstGeom prst="roundRect">
            <a:avLst>
              <a:gd name="adj" fmla="val 102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2031265" name="Shape 25"/>
          <p:cNvSpPr/>
          <p:nvPr/>
        </p:nvSpPr>
        <p:spPr bwMode="auto">
          <a:xfrm>
            <a:off x="546100" y="4104614"/>
            <a:ext cx="5461000" cy="88900"/>
          </a:xfrm>
          <a:custGeom>
            <a:avLst/>
            <a:gdLst/>
            <a:ahLst/>
            <a:cxnLst/>
            <a:rect l="l" t="t" r="r" b="b"/>
            <a:pathLst>
              <a:path w="5461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5334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01391884" name="Text 26"/>
          <p:cNvSpPr/>
          <p:nvPr/>
        </p:nvSpPr>
        <p:spPr bwMode="auto">
          <a:xfrm>
            <a:off x="749300" y="4320514"/>
            <a:ext cx="5206238" cy="345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  <a:defRPr/>
            </a:pPr>
            <a:r>
              <a:rPr lang="en-US" sz="18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Si perde prima del programma</a:t>
            </a:r>
            <a:endParaRPr lang="en-US" sz="1800"/>
          </a:p>
        </p:txBody>
      </p:sp>
      <p:sp>
        <p:nvSpPr>
          <p:cNvPr id="137078595" name="Text 27"/>
          <p:cNvSpPr/>
          <p:nvPr/>
        </p:nvSpPr>
        <p:spPr bwMode="auto">
          <a:xfrm>
            <a:off x="749300" y="4691327"/>
            <a:ext cx="5206238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pacchetto non è mai entrato: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789127518" name="Shape 28"/>
          <p:cNvSpPr/>
          <p:nvPr/>
        </p:nvSpPr>
        <p:spPr bwMode="auto">
          <a:xfrm>
            <a:off x="6184900" y="4104614"/>
            <a:ext cx="5461000" cy="1234414"/>
          </a:xfrm>
          <a:prstGeom prst="roundRect">
            <a:avLst>
              <a:gd name="adj" fmla="val 102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46217693" name="Shape 29"/>
          <p:cNvSpPr/>
          <p:nvPr/>
        </p:nvSpPr>
        <p:spPr bwMode="auto">
          <a:xfrm>
            <a:off x="6184900" y="4104614"/>
            <a:ext cx="5461000" cy="88900"/>
          </a:xfrm>
          <a:custGeom>
            <a:avLst/>
            <a:gdLst/>
            <a:ahLst/>
            <a:cxnLst/>
            <a:rect l="l" t="t" r="r" b="b"/>
            <a:pathLst>
              <a:path w="5461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5334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1289201" name="Text 30"/>
          <p:cNvSpPr/>
          <p:nvPr/>
        </p:nvSpPr>
        <p:spPr bwMode="auto">
          <a:xfrm>
            <a:off x="6388100" y="4320514"/>
            <a:ext cx="5206238" cy="345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  <a:defRPr/>
            </a:pPr>
            <a:r>
              <a:rPr lang="en-US" sz="1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Si perde dopo il programma</a:t>
            </a:r>
            <a:endParaRPr lang="en-US" sz="1800"/>
          </a:p>
        </p:txBody>
      </p:sp>
      <p:sp>
        <p:nvSpPr>
          <p:cNvPr id="877762918" name="Text 31"/>
          <p:cNvSpPr/>
          <p:nvPr/>
        </p:nvSpPr>
        <p:spPr bwMode="auto">
          <a:xfrm>
            <a:off x="6388100" y="4691327"/>
            <a:ext cx="5206238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 lo ha elaborato, ma non è arrivato: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trasmissione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1043735423" name="Shape 32"/>
          <p:cNvSpPr/>
          <p:nvPr/>
        </p:nvSpPr>
        <p:spPr bwMode="auto">
          <a:xfrm>
            <a:off x="546100" y="5666780"/>
            <a:ext cx="11099800" cy="594320"/>
          </a:xfrm>
          <a:prstGeom prst="roundRect">
            <a:avLst>
              <a:gd name="adj" fmla="val 21369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7561397" name="Text 33"/>
          <p:cNvSpPr/>
          <p:nvPr/>
        </p:nvSpPr>
        <p:spPr bwMode="auto">
          <a:xfrm>
            <a:off x="800100" y="5831880"/>
            <a:ext cx="6942128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Per rispondere si contano i pacchetti che il programma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riceve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 e quelli che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rilancia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656114147" name="Text 34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risposta arriva nella parte 5; le parti 1–4 spiegano come si misura</a:t>
            </a:r>
            <a:endParaRPr lang="en-US" sz="1200"/>
          </a:p>
        </p:txBody>
      </p:sp>
      <p:sp>
        <p:nvSpPr>
          <p:cNvPr id="2096900650" name="Text 35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02229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5250510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COME È FATTA LA PRESENTAZIONE</a:t>
            </a:r>
            <a:endParaRPr lang="en-US" sz="1200"/>
          </a:p>
        </p:txBody>
      </p:sp>
      <p:sp>
        <p:nvSpPr>
          <p:cNvPr id="72575726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Cinque parti, dal banco alla risposta</a:t>
            </a:r>
            <a:endParaRPr lang="en-US" sz="3000"/>
          </a:p>
        </p:txBody>
      </p:sp>
      <p:sp>
        <p:nvSpPr>
          <p:cNvPr id="1735670217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parte risponde a una domanda: le prime quattro preparano la risposta alla quinta.</a:t>
            </a:r>
            <a:endParaRPr lang="en-US" sz="1600"/>
          </a:p>
        </p:txBody>
      </p:sp>
      <p:sp>
        <p:nvSpPr>
          <p:cNvPr id="1413608399" name="Shape 4"/>
          <p:cNvSpPr/>
          <p:nvPr/>
        </p:nvSpPr>
        <p:spPr bwMode="auto">
          <a:xfrm>
            <a:off x="546100" y="1978620"/>
            <a:ext cx="2118320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8846510" name="Text 5"/>
          <p:cNvSpPr/>
          <p:nvPr/>
        </p:nvSpPr>
        <p:spPr bwMode="auto">
          <a:xfrm>
            <a:off x="711200" y="2131020"/>
            <a:ext cx="1841764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4400"/>
          </a:p>
        </p:txBody>
      </p:sp>
      <p:sp>
        <p:nvSpPr>
          <p:cNvPr id="269500829" name="Text 6"/>
          <p:cNvSpPr/>
          <p:nvPr/>
        </p:nvSpPr>
        <p:spPr bwMode="auto">
          <a:xfrm>
            <a:off x="711200" y="2740620"/>
            <a:ext cx="18417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banco</a:t>
            </a:r>
            <a:endParaRPr lang="en-US" sz="1700"/>
          </a:p>
        </p:txBody>
      </p:sp>
      <p:sp>
        <p:nvSpPr>
          <p:cNvPr id="1314031076" name="Text 7"/>
          <p:cNvSpPr/>
          <p:nvPr/>
        </p:nvSpPr>
        <p:spPr bwMode="auto">
          <a:xfrm>
            <a:off x="711200" y="3093641"/>
            <a:ext cx="1841764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Che cosa si misura, con quali programmi e come.</a:t>
            </a:r>
            <a:endParaRPr lang="en-US" sz="1400"/>
          </a:p>
        </p:txBody>
      </p:sp>
      <p:sp>
        <p:nvSpPr>
          <p:cNvPr id="1954458159" name="Shape 8"/>
          <p:cNvSpPr/>
          <p:nvPr/>
        </p:nvSpPr>
        <p:spPr bwMode="auto">
          <a:xfrm>
            <a:off x="720724" y="4543425"/>
            <a:ext cx="1769070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96156104" name="Text 9"/>
          <p:cNvSpPr/>
          <p:nvPr/>
        </p:nvSpPr>
        <p:spPr bwMode="auto">
          <a:xfrm>
            <a:off x="842433" y="4748213"/>
            <a:ext cx="1491258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Che cosa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misuriamo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?</a:t>
            </a:r>
            <a:endParaRPr lang="en-US" sz="1300"/>
          </a:p>
        </p:txBody>
      </p:sp>
      <p:sp>
        <p:nvSpPr>
          <p:cNvPr id="269382682" name="Shape 10"/>
          <p:cNvSpPr/>
          <p:nvPr/>
        </p:nvSpPr>
        <p:spPr bwMode="auto">
          <a:xfrm>
            <a:off x="2791420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8865567" name="Text 11"/>
          <p:cNvSpPr/>
          <p:nvPr/>
        </p:nvSpPr>
        <p:spPr bwMode="auto">
          <a:xfrm>
            <a:off x="2956520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4400"/>
          </a:p>
        </p:txBody>
      </p:sp>
      <p:sp>
        <p:nvSpPr>
          <p:cNvPr id="708049761" name="Text 12"/>
          <p:cNvSpPr/>
          <p:nvPr/>
        </p:nvSpPr>
        <p:spPr bwMode="auto">
          <a:xfrm>
            <a:off x="2956520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macchina</a:t>
            </a:r>
            <a:endParaRPr lang="en-US" sz="1700"/>
          </a:p>
        </p:txBody>
      </p:sp>
      <p:sp>
        <p:nvSpPr>
          <p:cNvPr id="666393152" name="Text 13"/>
          <p:cNvSpPr/>
          <p:nvPr/>
        </p:nvSpPr>
        <p:spPr bwMode="auto">
          <a:xfrm>
            <a:off x="2956520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Dalla macchina virtuale al dual boot.</a:t>
            </a:r>
            <a:endParaRPr lang="en-US" sz="1400"/>
          </a:p>
        </p:txBody>
      </p:sp>
      <p:sp>
        <p:nvSpPr>
          <p:cNvPr id="1281328027" name="Shape 14"/>
          <p:cNvSpPr/>
          <p:nvPr/>
        </p:nvSpPr>
        <p:spPr bwMode="auto">
          <a:xfrm>
            <a:off x="2966045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50702703" name="Text 15"/>
          <p:cNvSpPr/>
          <p:nvPr/>
        </p:nvSpPr>
        <p:spPr bwMode="auto">
          <a:xfrm>
            <a:off x="3087754" y="4645025"/>
            <a:ext cx="157652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Perché fidarsi dei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numeri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?</a:t>
            </a:r>
            <a:endParaRPr lang="en-US" sz="1300"/>
          </a:p>
        </p:txBody>
      </p:sp>
      <p:sp>
        <p:nvSpPr>
          <p:cNvPr id="599468114" name="Shape 16"/>
          <p:cNvSpPr/>
          <p:nvPr/>
        </p:nvSpPr>
        <p:spPr bwMode="auto">
          <a:xfrm>
            <a:off x="5036807" y="1978620"/>
            <a:ext cx="2118320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7210863" name="Text 17"/>
          <p:cNvSpPr/>
          <p:nvPr/>
        </p:nvSpPr>
        <p:spPr bwMode="auto">
          <a:xfrm>
            <a:off x="5201907" y="2131020"/>
            <a:ext cx="1841764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4400"/>
          </a:p>
        </p:txBody>
      </p:sp>
      <p:sp>
        <p:nvSpPr>
          <p:cNvPr id="2018731478" name="Text 18"/>
          <p:cNvSpPr/>
          <p:nvPr/>
        </p:nvSpPr>
        <p:spPr bwMode="auto">
          <a:xfrm>
            <a:off x="5201907" y="2740620"/>
            <a:ext cx="18417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 generatori</a:t>
            </a:r>
            <a:endParaRPr lang="en-US" sz="1700"/>
          </a:p>
        </p:txBody>
      </p:sp>
      <p:sp>
        <p:nvSpPr>
          <p:cNvPr id="1143910684" name="Text 19"/>
          <p:cNvSpPr/>
          <p:nvPr/>
        </p:nvSpPr>
        <p:spPr bwMode="auto">
          <a:xfrm>
            <a:off x="5201907" y="3093641"/>
            <a:ext cx="1841764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pktgen e xdp_gen: due modi di produrre traffico.</a:t>
            </a:r>
            <a:endParaRPr lang="en-US" sz="1400"/>
          </a:p>
        </p:txBody>
      </p:sp>
      <p:sp>
        <p:nvSpPr>
          <p:cNvPr id="1583488916" name="Shape 20"/>
          <p:cNvSpPr/>
          <p:nvPr/>
        </p:nvSpPr>
        <p:spPr bwMode="auto">
          <a:xfrm>
            <a:off x="5211432" y="4543425"/>
            <a:ext cx="1769070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995820" name="Text 21"/>
          <p:cNvSpPr/>
          <p:nvPr/>
        </p:nvSpPr>
        <p:spPr bwMode="auto">
          <a:xfrm>
            <a:off x="5333140" y="4645025"/>
            <a:ext cx="1576454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che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traffico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si misura?</a:t>
            </a:r>
            <a:endParaRPr lang="en-US" sz="1300"/>
          </a:p>
        </p:txBody>
      </p:sp>
      <p:sp>
        <p:nvSpPr>
          <p:cNvPr id="1847828594" name="Shape 22"/>
          <p:cNvSpPr/>
          <p:nvPr/>
        </p:nvSpPr>
        <p:spPr bwMode="auto">
          <a:xfrm>
            <a:off x="7282128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3106278" name="Text 23"/>
          <p:cNvSpPr/>
          <p:nvPr/>
        </p:nvSpPr>
        <p:spPr bwMode="auto">
          <a:xfrm>
            <a:off x="7447227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4400"/>
          </a:p>
        </p:txBody>
      </p:sp>
      <p:sp>
        <p:nvSpPr>
          <p:cNvPr id="748896676" name="Text 24"/>
          <p:cNvSpPr/>
          <p:nvPr/>
        </p:nvSpPr>
        <p:spPr bwMode="auto">
          <a:xfrm>
            <a:off x="7447227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 risultati</a:t>
            </a:r>
            <a:endParaRPr lang="en-US" sz="1700"/>
          </a:p>
        </p:txBody>
      </p:sp>
      <p:sp>
        <p:nvSpPr>
          <p:cNvPr id="211167969" name="Text 25"/>
          <p:cNvSpPr/>
          <p:nvPr/>
        </p:nvSpPr>
        <p:spPr bwMode="auto">
          <a:xfrm>
            <a:off x="7447227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Quanto regge il nodo, con l'uno e con l'altro.</a:t>
            </a:r>
            <a:endParaRPr lang="en-US" sz="1400"/>
          </a:p>
        </p:txBody>
      </p:sp>
      <p:sp>
        <p:nvSpPr>
          <p:cNvPr id="1962788930" name="Shape 26"/>
          <p:cNvSpPr/>
          <p:nvPr/>
        </p:nvSpPr>
        <p:spPr bwMode="auto">
          <a:xfrm>
            <a:off x="7456753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376053" name="Text 27"/>
          <p:cNvSpPr/>
          <p:nvPr/>
        </p:nvSpPr>
        <p:spPr bwMode="auto">
          <a:xfrm>
            <a:off x="7578461" y="4645025"/>
            <a:ext cx="157652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Quanti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pacchetti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al secondo?</a:t>
            </a:r>
            <a:endParaRPr lang="en-US" sz="1300"/>
          </a:p>
        </p:txBody>
      </p:sp>
      <p:sp>
        <p:nvSpPr>
          <p:cNvPr id="516297805" name="Shape 28"/>
          <p:cNvSpPr/>
          <p:nvPr/>
        </p:nvSpPr>
        <p:spPr bwMode="auto">
          <a:xfrm>
            <a:off x="9527514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913171" name="Text 29"/>
          <p:cNvSpPr/>
          <p:nvPr/>
        </p:nvSpPr>
        <p:spPr bwMode="auto">
          <a:xfrm>
            <a:off x="9692614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</a:t>
            </a:r>
            <a:endParaRPr lang="en-US" sz="4400"/>
          </a:p>
        </p:txBody>
      </p:sp>
      <p:sp>
        <p:nvSpPr>
          <p:cNvPr id="931238491" name="Text 30"/>
          <p:cNvSpPr/>
          <p:nvPr/>
        </p:nvSpPr>
        <p:spPr bwMode="auto">
          <a:xfrm>
            <a:off x="9692614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domanda</a:t>
            </a:r>
            <a:endParaRPr lang="en-US" sz="1700"/>
          </a:p>
        </p:txBody>
      </p:sp>
      <p:sp>
        <p:nvSpPr>
          <p:cNvPr id="1489375659" name="Text 31"/>
          <p:cNvSpPr/>
          <p:nvPr/>
        </p:nvSpPr>
        <p:spPr bwMode="auto">
          <a:xfrm>
            <a:off x="9692614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Che cosa succede quando il traffico cresce.</a:t>
            </a:r>
            <a:endParaRPr lang="en-US" sz="1400"/>
          </a:p>
        </p:txBody>
      </p:sp>
      <p:sp>
        <p:nvSpPr>
          <p:cNvPr id="928909722" name="Shape 32"/>
          <p:cNvSpPr/>
          <p:nvPr/>
        </p:nvSpPr>
        <p:spPr bwMode="auto">
          <a:xfrm>
            <a:off x="9702139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4626819" name="Text 33"/>
          <p:cNvSpPr/>
          <p:nvPr/>
        </p:nvSpPr>
        <p:spPr bwMode="auto">
          <a:xfrm>
            <a:off x="9823847" y="4748213"/>
            <a:ext cx="104960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Dove</a:t>
            </a:r>
            <a:r>
              <a:rPr lang="en-US" sz="13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 si perde?</a:t>
            </a:r>
            <a:endParaRPr lang="en-US" sz="1300"/>
          </a:p>
        </p:txBody>
      </p:sp>
      <p:sp>
        <p:nvSpPr>
          <p:cNvPr id="454797470" name="Shape 34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3527219" name="Shape 35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0232371" name="Text 36"/>
          <p:cNvSpPr/>
          <p:nvPr/>
        </p:nvSpPr>
        <p:spPr bwMode="auto">
          <a:xfrm>
            <a:off x="819150" y="5767057"/>
            <a:ext cx="1003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IN BREVE</a:t>
            </a:r>
            <a:endParaRPr lang="en-US" sz="1200"/>
          </a:p>
        </p:txBody>
      </p:sp>
      <p:sp>
        <p:nvSpPr>
          <p:cNvPr id="240257583" name="Text 37"/>
          <p:cNvSpPr/>
          <p:nvPr/>
        </p:nvSpPr>
        <p:spPr bwMode="auto">
          <a:xfrm>
            <a:off x="1949450" y="5626100"/>
            <a:ext cx="975188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risposta, in anticipo: si perde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 programma, quindi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 E le misure ora si ripetono.</a:t>
            </a:r>
            <a:endParaRPr lang="en-US" sz="1500"/>
          </a:p>
        </p:txBody>
      </p:sp>
      <p:sp>
        <p:nvSpPr>
          <p:cNvPr id="1888702531" name="Text 3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Le parti 2–5 raccontano ciò che è cambiato dal test in macchina virtuale</a:t>
            </a:r>
            <a:endParaRPr lang="en-US" sz="1200"/>
          </a:p>
        </p:txBody>
      </p:sp>
      <p:sp>
        <p:nvSpPr>
          <p:cNvPr id="1368976705" name="Text 3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775681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368775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1 · IL BANCO · I PROGRAMMI</a:t>
            </a:r>
            <a:endParaRPr lang="en-US" sz="1200"/>
          </a:p>
        </p:txBody>
      </p:sp>
      <p:sp>
        <p:nvSpPr>
          <p:cNvPr id="44163990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Sei programmi, che cambiano per una cosa sola</a:t>
            </a:r>
            <a:endParaRPr lang="en-US" sz="3000"/>
          </a:p>
        </p:txBody>
      </p:sp>
      <p:sp>
        <p:nvSpPr>
          <p:cNvPr id="708535377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Calcolano la stessa rete e prendono la stessa decisione. Cambia quanto sanno già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quando vengono compilati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710765556" name="Shape 4"/>
          <p:cNvSpPr/>
          <p:nvPr/>
        </p:nvSpPr>
        <p:spPr bwMode="auto">
          <a:xfrm>
            <a:off x="546100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6677312" name="Shape 5"/>
          <p:cNvSpPr/>
          <p:nvPr/>
        </p:nvSpPr>
        <p:spPr bwMode="auto">
          <a:xfrm>
            <a:off x="711200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819498" name="Text 6"/>
          <p:cNvSpPr/>
          <p:nvPr/>
        </p:nvSpPr>
        <p:spPr bwMode="auto">
          <a:xfrm>
            <a:off x="990600" y="2276013"/>
            <a:ext cx="60900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700"/>
          </a:p>
        </p:txBody>
      </p:sp>
      <p:sp>
        <p:nvSpPr>
          <p:cNvPr id="1551493660" name="Text 7"/>
          <p:cNvSpPr/>
          <p:nvPr/>
        </p:nvSpPr>
        <p:spPr bwMode="auto">
          <a:xfrm>
            <a:off x="711200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solo ricezione</a:t>
            </a:r>
            <a:endParaRPr lang="en-US" sz="1300"/>
          </a:p>
        </p:txBody>
      </p:sp>
      <p:sp>
        <p:nvSpPr>
          <p:cNvPr id="166064766" name="Text 8"/>
          <p:cNvSpPr/>
          <p:nvPr/>
        </p:nvSpPr>
        <p:spPr bwMode="auto">
          <a:xfrm>
            <a:off x="711200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Prende il pacchetto e lo butta. È il pavimento: sotto non si scende.</a:t>
            </a:r>
            <a:endParaRPr lang="en-US" sz="1400"/>
          </a:p>
        </p:txBody>
      </p:sp>
      <p:sp>
        <p:nvSpPr>
          <p:cNvPr id="1529447162" name="Shape 9"/>
          <p:cNvSpPr/>
          <p:nvPr/>
        </p:nvSpPr>
        <p:spPr bwMode="auto">
          <a:xfrm>
            <a:off x="4296833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8188820" name="Shape 10"/>
          <p:cNvSpPr/>
          <p:nvPr/>
        </p:nvSpPr>
        <p:spPr bwMode="auto">
          <a:xfrm>
            <a:off x="4461933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1184220" name="Text 11"/>
          <p:cNvSpPr/>
          <p:nvPr/>
        </p:nvSpPr>
        <p:spPr bwMode="auto">
          <a:xfrm>
            <a:off x="4741333" y="2276013"/>
            <a:ext cx="79871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700"/>
          </a:p>
        </p:txBody>
      </p:sp>
      <p:sp>
        <p:nvSpPr>
          <p:cNvPr id="864461147" name="Text 12"/>
          <p:cNvSpPr/>
          <p:nvPr/>
        </p:nvSpPr>
        <p:spPr bwMode="auto">
          <a:xfrm>
            <a:off x="4461933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nessuna rete</a:t>
            </a:r>
            <a:endParaRPr lang="en-US" sz="1300"/>
          </a:p>
        </p:txBody>
      </p:sp>
      <p:sp>
        <p:nvSpPr>
          <p:cNvPr id="1162945605" name="Text 13"/>
          <p:cNvSpPr/>
          <p:nvPr/>
        </p:nvSpPr>
        <p:spPr bwMode="auto">
          <a:xfrm>
            <a:off x="4461933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Legge l'intestazione, decrementa il TTL e inoltra su una classe fissa.</a:t>
            </a:r>
            <a:endParaRPr lang="en-US" sz="1400"/>
          </a:p>
        </p:txBody>
      </p:sp>
      <p:sp>
        <p:nvSpPr>
          <p:cNvPr id="1738687286" name="Shape 14"/>
          <p:cNvSpPr/>
          <p:nvPr/>
        </p:nvSpPr>
        <p:spPr bwMode="auto">
          <a:xfrm>
            <a:off x="8047567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3971024" name="Shape 15"/>
          <p:cNvSpPr/>
          <p:nvPr/>
        </p:nvSpPr>
        <p:spPr bwMode="auto">
          <a:xfrm>
            <a:off x="8212667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8952294" name="Text 16"/>
          <p:cNvSpPr/>
          <p:nvPr/>
        </p:nvSpPr>
        <p:spPr bwMode="auto">
          <a:xfrm>
            <a:off x="8492067" y="2276013"/>
            <a:ext cx="907058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 statica</a:t>
            </a:r>
            <a:endParaRPr lang="en-US" sz="1700"/>
          </a:p>
        </p:txBody>
      </p:sp>
      <p:sp>
        <p:nvSpPr>
          <p:cNvPr id="286196842" name="Text 17"/>
          <p:cNvSpPr/>
          <p:nvPr/>
        </p:nvSpPr>
        <p:spPr bwMode="auto">
          <a:xfrm>
            <a:off x="8212667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tutto compilato</a:t>
            </a:r>
            <a:endParaRPr lang="en-US" sz="1300"/>
          </a:p>
        </p:txBody>
      </p:sp>
      <p:sp>
        <p:nvSpPr>
          <p:cNvPr id="420194813" name="Text 18"/>
          <p:cNvSpPr/>
          <p:nvPr/>
        </p:nvSpPr>
        <p:spPr bwMode="auto">
          <a:xfrm>
            <a:off x="8212667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Pesi e indice del nodo sono scritti nel programma: un binario per nodo.</a:t>
            </a:r>
            <a:endParaRPr lang="en-US" sz="1400"/>
          </a:p>
        </p:txBody>
      </p:sp>
      <p:sp>
        <p:nvSpPr>
          <p:cNvPr id="1419395517" name="Shape 19"/>
          <p:cNvSpPr/>
          <p:nvPr/>
        </p:nvSpPr>
        <p:spPr bwMode="auto">
          <a:xfrm>
            <a:off x="546100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6714951" name="Shape 20"/>
          <p:cNvSpPr/>
          <p:nvPr/>
        </p:nvSpPr>
        <p:spPr bwMode="auto">
          <a:xfrm>
            <a:off x="711200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238902" name="Text 21"/>
          <p:cNvSpPr/>
          <p:nvPr/>
        </p:nvSpPr>
        <p:spPr bwMode="auto">
          <a:xfrm>
            <a:off x="990600" y="3843074"/>
            <a:ext cx="144925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 hardcoded</a:t>
            </a:r>
            <a:endParaRPr lang="en-US" sz="1700"/>
          </a:p>
        </p:txBody>
      </p:sp>
      <p:sp>
        <p:nvSpPr>
          <p:cNvPr id="1120200835" name="Text 22"/>
          <p:cNvSpPr/>
          <p:nvPr/>
        </p:nvSpPr>
        <p:spPr bwMode="auto">
          <a:xfrm>
            <a:off x="711200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pesi compilati</a:t>
            </a:r>
            <a:endParaRPr lang="en-US" sz="1300"/>
          </a:p>
        </p:txBody>
      </p:sp>
      <p:sp>
        <p:nvSpPr>
          <p:cNvPr id="1904094855" name="Text 23"/>
          <p:cNvSpPr/>
          <p:nvPr/>
        </p:nvSpPr>
        <p:spPr bwMode="auto">
          <a:xfrm>
            <a:off x="711200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Pesi nel programma, nodo letto a runtime: un binario per modello.</a:t>
            </a:r>
            <a:endParaRPr lang="en-US" sz="1400"/>
          </a:p>
        </p:txBody>
      </p:sp>
      <p:sp>
        <p:nvSpPr>
          <p:cNvPr id="429254552" name="Shape 24"/>
          <p:cNvSpPr/>
          <p:nvPr/>
        </p:nvSpPr>
        <p:spPr bwMode="auto">
          <a:xfrm>
            <a:off x="4296833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6710365" name="Shape 25"/>
          <p:cNvSpPr/>
          <p:nvPr/>
        </p:nvSpPr>
        <p:spPr bwMode="auto">
          <a:xfrm>
            <a:off x="4461933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03619252" name="Text 26"/>
          <p:cNvSpPr/>
          <p:nvPr/>
        </p:nvSpPr>
        <p:spPr bwMode="auto">
          <a:xfrm>
            <a:off x="4741333" y="3843074"/>
            <a:ext cx="11348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 template</a:t>
            </a:r>
            <a:endParaRPr lang="en-US" sz="1700"/>
          </a:p>
        </p:txBody>
      </p:sp>
      <p:sp>
        <p:nvSpPr>
          <p:cNvPr id="1067653268" name="Text 27"/>
          <p:cNvSpPr/>
          <p:nvPr/>
        </p:nvSpPr>
        <p:spPr bwMode="auto">
          <a:xfrm>
            <a:off x="4461933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forma da tabella</a:t>
            </a:r>
            <a:endParaRPr lang="en-US" sz="1300"/>
          </a:p>
        </p:txBody>
      </p:sp>
      <p:sp>
        <p:nvSpPr>
          <p:cNvPr id="1414903235" name="Text 28"/>
          <p:cNvSpPr/>
          <p:nvPr/>
        </p:nvSpPr>
        <p:spPr bwMode="auto">
          <a:xfrm>
            <a:off x="4461933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forma si legge da tabella: solo i soffitti sono compilati.</a:t>
            </a:r>
            <a:endParaRPr lang="en-US" sz="1400"/>
          </a:p>
        </p:txBody>
      </p:sp>
      <p:sp>
        <p:nvSpPr>
          <p:cNvPr id="1955683381" name="Shape 29"/>
          <p:cNvSpPr/>
          <p:nvPr/>
        </p:nvSpPr>
        <p:spPr bwMode="auto">
          <a:xfrm>
            <a:off x="8047567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9175650" name="Shape 30"/>
          <p:cNvSpPr/>
          <p:nvPr/>
        </p:nvSpPr>
        <p:spPr bwMode="auto">
          <a:xfrm>
            <a:off x="8212667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3123995" name="Text 31"/>
          <p:cNvSpPr/>
          <p:nvPr/>
        </p:nvSpPr>
        <p:spPr bwMode="auto">
          <a:xfrm>
            <a:off x="8492067" y="3843074"/>
            <a:ext cx="1083733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 modular</a:t>
            </a:r>
            <a:endParaRPr lang="en-US" sz="1700"/>
          </a:p>
        </p:txBody>
      </p:sp>
      <p:sp>
        <p:nvSpPr>
          <p:cNvPr id="441600" name="Text 32"/>
          <p:cNvSpPr/>
          <p:nvPr/>
        </p:nvSpPr>
        <p:spPr bwMode="auto">
          <a:xfrm>
            <a:off x="8212667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anche la profondità</a:t>
            </a:r>
            <a:endParaRPr lang="en-US" sz="1300"/>
          </a:p>
        </p:txBody>
      </p:sp>
      <p:sp>
        <p:nvSpPr>
          <p:cNvPr id="290015319" name="Text 33"/>
          <p:cNvSpPr/>
          <p:nvPr/>
        </p:nvSpPr>
        <p:spPr bwMode="auto">
          <a:xfrm>
            <a:off x="8212667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Anche il numero di strati si legge da tabella: un programma per tutto.</a:t>
            </a:r>
            <a:endParaRPr lang="en-US" sz="1400"/>
          </a:p>
        </p:txBody>
      </p:sp>
      <p:sp>
        <p:nvSpPr>
          <p:cNvPr id="1983914555" name="Shape 34"/>
          <p:cNvSpPr/>
          <p:nvPr/>
        </p:nvSpPr>
        <p:spPr bwMode="auto">
          <a:xfrm>
            <a:off x="546100" y="5402659"/>
            <a:ext cx="11099800" cy="858441"/>
          </a:xfrm>
          <a:prstGeom prst="roundRect">
            <a:avLst>
              <a:gd name="adj" fmla="val 14794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89284685" name="Text 35"/>
          <p:cNvSpPr/>
          <p:nvPr/>
        </p:nvSpPr>
        <p:spPr bwMode="auto">
          <a:xfrm>
            <a:off x="800100" y="5567759"/>
            <a:ext cx="10909554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Più informazioni si spostano dalla compilazione all'esecuzione, più il programma è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riutilizzabile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, e più cresce il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costo per pacchetto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646726678" name="Text 36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Cinque pipeline più rxonly, che misura la sola ricezione · i colori dei quadratini tornano in tutti i grafici</a:t>
            </a:r>
            <a:endParaRPr lang="en-US" sz="1200"/>
          </a:p>
        </p:txBody>
      </p:sp>
      <p:sp>
        <p:nvSpPr>
          <p:cNvPr id="1635323633" name="Text 37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286976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5649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1 · IL BANCO · COME SI MISURA</a:t>
            </a:r>
            <a:endParaRPr lang="en-US" sz="1200"/>
          </a:p>
        </p:txBody>
      </p:sp>
      <p:sp>
        <p:nvSpPr>
          <p:cNvPr id="58468255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banco misura quanti pacchetti regge il nodo</a:t>
            </a:r>
            <a:endParaRPr lang="en-US" sz="3000"/>
          </a:p>
        </p:txBody>
      </p:sp>
      <p:sp>
        <p:nvSpPr>
          <p:cNvPr id="1875761483" name="Shape 3"/>
          <p:cNvSpPr/>
          <p:nvPr/>
        </p:nvSpPr>
        <p:spPr bwMode="auto">
          <a:xfrm>
            <a:off x="546100" y="1562100"/>
            <a:ext cx="1915980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878113" name="Text 4"/>
          <p:cNvSpPr/>
          <p:nvPr/>
        </p:nvSpPr>
        <p:spPr bwMode="auto">
          <a:xfrm>
            <a:off x="1029031" y="1701800"/>
            <a:ext cx="95011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500"/>
          </a:p>
        </p:txBody>
      </p:sp>
      <p:sp>
        <p:nvSpPr>
          <p:cNvPr id="1589431674" name="Text 5"/>
          <p:cNvSpPr/>
          <p:nvPr/>
        </p:nvSpPr>
        <p:spPr bwMode="auto">
          <a:xfrm>
            <a:off x="971815" y="2006600"/>
            <a:ext cx="106455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crea i pacchetti</a:t>
            </a:r>
            <a:endParaRPr lang="en-US" sz="1300"/>
          </a:p>
        </p:txBody>
      </p:sp>
      <p:sp>
        <p:nvSpPr>
          <p:cNvPr id="2028666697" name="Text 6"/>
          <p:cNvSpPr/>
          <p:nvPr/>
        </p:nvSpPr>
        <p:spPr bwMode="auto">
          <a:xfrm>
            <a:off x="1035381" y="2251075"/>
            <a:ext cx="93741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10, 1 e 3</a:t>
            </a:r>
            <a:endParaRPr lang="en-US" sz="1300"/>
          </a:p>
        </p:txBody>
      </p:sp>
      <p:pic>
        <p:nvPicPr>
          <p:cNvPr id="1721495703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525580" y="1990725"/>
            <a:ext cx="254000" cy="177800"/>
          </a:xfrm>
          <a:prstGeom prst="rect">
            <a:avLst/>
          </a:prstGeom>
        </p:spPr>
      </p:pic>
      <p:sp>
        <p:nvSpPr>
          <p:cNvPr id="49030332" name="Shape 7"/>
          <p:cNvSpPr/>
          <p:nvPr/>
        </p:nvSpPr>
        <p:spPr bwMode="auto">
          <a:xfrm>
            <a:off x="2843080" y="1562100"/>
            <a:ext cx="1916046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6877994" name="Text 8"/>
          <p:cNvSpPr/>
          <p:nvPr/>
        </p:nvSpPr>
        <p:spPr bwMode="auto">
          <a:xfrm>
            <a:off x="3575910" y="1701800"/>
            <a:ext cx="45032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</a:t>
            </a:r>
            <a:endParaRPr lang="en-US" sz="1500"/>
          </a:p>
        </p:txBody>
      </p:sp>
      <p:sp>
        <p:nvSpPr>
          <p:cNvPr id="1238593075" name="Text 9"/>
          <p:cNvSpPr/>
          <p:nvPr/>
        </p:nvSpPr>
        <p:spPr bwMode="auto">
          <a:xfrm>
            <a:off x="2971800" y="2006600"/>
            <a:ext cx="165854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256 posti (cavo virtuale)</a:t>
            </a:r>
            <a:endParaRPr lang="en-US" sz="1300"/>
          </a:p>
        </p:txBody>
      </p:sp>
      <p:sp>
        <p:nvSpPr>
          <p:cNvPr id="1042295117" name="Text 10"/>
          <p:cNvSpPr/>
          <p:nvPr/>
        </p:nvSpPr>
        <p:spPr bwMode="auto">
          <a:xfrm>
            <a:off x="3157934" y="2251075"/>
            <a:ext cx="1286272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se è piena: respinto</a:t>
            </a:r>
            <a:endParaRPr lang="en-US" sz="1200"/>
          </a:p>
        </p:txBody>
      </p:sp>
      <p:pic>
        <p:nvPicPr>
          <p:cNvPr id="572393279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822627" y="1990725"/>
            <a:ext cx="254000" cy="177800"/>
          </a:xfrm>
          <a:prstGeom prst="rect">
            <a:avLst/>
          </a:prstGeom>
        </p:spPr>
      </p:pic>
      <p:sp>
        <p:nvSpPr>
          <p:cNvPr id="2135167334" name="Shape 11"/>
          <p:cNvSpPr/>
          <p:nvPr/>
        </p:nvSpPr>
        <p:spPr bwMode="auto">
          <a:xfrm>
            <a:off x="5149652" y="1571625"/>
            <a:ext cx="1892697" cy="1016000"/>
          </a:xfrm>
          <a:prstGeom prst="roundRect">
            <a:avLst>
              <a:gd name="adj" fmla="val 11562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45711851" name="Text 12"/>
          <p:cNvSpPr/>
          <p:nvPr/>
        </p:nvSpPr>
        <p:spPr bwMode="auto">
          <a:xfrm>
            <a:off x="5818981" y="1699685"/>
            <a:ext cx="55403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</a:t>
            </a:r>
            <a:endParaRPr lang="en-US" sz="1500"/>
          </a:p>
        </p:txBody>
      </p:sp>
      <p:sp>
        <p:nvSpPr>
          <p:cNvPr id="1352226705" name="Text 13"/>
          <p:cNvSpPr/>
          <p:nvPr/>
        </p:nvSpPr>
        <p:spPr bwMode="auto">
          <a:xfrm>
            <a:off x="5488384" y="2004485"/>
            <a:ext cx="121516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pipeline in XDP</a:t>
            </a:r>
            <a:endParaRPr lang="en-US" sz="1300"/>
          </a:p>
        </p:txBody>
      </p:sp>
      <p:sp>
        <p:nvSpPr>
          <p:cNvPr id="637788621" name="Text 14"/>
          <p:cNvSpPr/>
          <p:nvPr/>
        </p:nvSpPr>
        <p:spPr bwMode="auto">
          <a:xfrm>
            <a:off x="5870443" y="2248960"/>
            <a:ext cx="45111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6</a:t>
            </a:r>
            <a:endParaRPr lang="en-US" sz="1300"/>
          </a:p>
        </p:txBody>
      </p:sp>
      <p:pic>
        <p:nvPicPr>
          <p:cNvPr id="1484706763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115373" y="1990725"/>
            <a:ext cx="254000" cy="177800"/>
          </a:xfrm>
          <a:prstGeom prst="rect">
            <a:avLst/>
          </a:prstGeom>
        </p:spPr>
      </p:pic>
      <p:sp>
        <p:nvSpPr>
          <p:cNvPr id="1786583356" name="Shape 15"/>
          <p:cNvSpPr/>
          <p:nvPr/>
        </p:nvSpPr>
        <p:spPr bwMode="auto">
          <a:xfrm>
            <a:off x="7432873" y="1562100"/>
            <a:ext cx="1916046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48242358" name="Text 16"/>
          <p:cNvSpPr/>
          <p:nvPr/>
        </p:nvSpPr>
        <p:spPr bwMode="auto">
          <a:xfrm>
            <a:off x="7839340" y="1701800"/>
            <a:ext cx="11030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 d'uscita</a:t>
            </a:r>
            <a:endParaRPr lang="en-US" sz="1500"/>
          </a:p>
        </p:txBody>
      </p:sp>
      <p:sp>
        <p:nvSpPr>
          <p:cNvPr id="1682931023" name="Text 17"/>
          <p:cNvSpPr/>
          <p:nvPr/>
        </p:nvSpPr>
        <p:spPr bwMode="auto">
          <a:xfrm>
            <a:off x="7566951" y="2006600"/>
            <a:ext cx="164789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verso il nodo successivo</a:t>
            </a:r>
            <a:endParaRPr lang="en-US" sz="1300"/>
          </a:p>
        </p:txBody>
      </p:sp>
      <p:pic>
        <p:nvPicPr>
          <p:cNvPr id="53291411" name="Image 3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412420" y="1990725"/>
            <a:ext cx="254000" cy="177800"/>
          </a:xfrm>
          <a:prstGeom prst="rect">
            <a:avLst/>
          </a:prstGeom>
        </p:spPr>
      </p:pic>
      <p:sp>
        <p:nvSpPr>
          <p:cNvPr id="816556281" name="Shape 18"/>
          <p:cNvSpPr/>
          <p:nvPr/>
        </p:nvSpPr>
        <p:spPr bwMode="auto">
          <a:xfrm>
            <a:off x="9729920" y="1562100"/>
            <a:ext cx="1915980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54488910" name="Text 19"/>
          <p:cNvSpPr/>
          <p:nvPr/>
        </p:nvSpPr>
        <p:spPr bwMode="auto">
          <a:xfrm>
            <a:off x="10013090" y="1701800"/>
            <a:ext cx="134957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500"/>
          </a:p>
        </p:txBody>
      </p:sp>
      <p:sp>
        <p:nvSpPr>
          <p:cNvPr id="446053604" name="Text 20"/>
          <p:cNvSpPr/>
          <p:nvPr/>
        </p:nvSpPr>
        <p:spPr bwMode="auto">
          <a:xfrm>
            <a:off x="10196513" y="2006600"/>
            <a:ext cx="98272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e scarta</a:t>
            </a:r>
            <a:endParaRPr lang="en-US" sz="1300"/>
          </a:p>
        </p:txBody>
      </p:sp>
      <p:sp>
        <p:nvSpPr>
          <p:cNvPr id="446900287" name="Text 21"/>
          <p:cNvSpPr/>
          <p:nvPr/>
        </p:nvSpPr>
        <p:spPr bwMode="auto">
          <a:xfrm>
            <a:off x="10462353" y="2251075"/>
            <a:ext cx="45111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8</a:t>
            </a:r>
            <a:endParaRPr lang="en-US" sz="1300"/>
          </a:p>
        </p:txBody>
      </p:sp>
      <p:sp>
        <p:nvSpPr>
          <p:cNvPr id="932063453" name="Shape 22"/>
          <p:cNvSpPr/>
          <p:nvPr/>
        </p:nvSpPr>
        <p:spPr bwMode="auto">
          <a:xfrm>
            <a:off x="546100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2068562" name="Shape 23"/>
          <p:cNvSpPr/>
          <p:nvPr/>
        </p:nvSpPr>
        <p:spPr bwMode="auto">
          <a:xfrm>
            <a:off x="698500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19662269" name="Text 24"/>
          <p:cNvSpPr/>
          <p:nvPr/>
        </p:nvSpPr>
        <p:spPr bwMode="auto">
          <a:xfrm>
            <a:off x="831189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684564021" name="Text 25"/>
          <p:cNvSpPr/>
          <p:nvPr/>
        </p:nvSpPr>
        <p:spPr bwMode="auto">
          <a:xfrm>
            <a:off x="1143000" y="3617649"/>
            <a:ext cx="166938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 sempre piena</a:t>
            </a:r>
            <a:endParaRPr lang="en-US" sz="1600"/>
          </a:p>
        </p:txBody>
      </p:sp>
      <p:sp>
        <p:nvSpPr>
          <p:cNvPr id="1291886892" name="Text 26"/>
          <p:cNvSpPr/>
          <p:nvPr/>
        </p:nvSpPr>
        <p:spPr bwMode="auto">
          <a:xfrm>
            <a:off x="698500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 offre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più pacchetti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di quanti il nodo riesca a elaborare.</a:t>
            </a:r>
            <a:endParaRPr lang="en-US" sz="1400"/>
          </a:p>
        </p:txBody>
      </p:sp>
      <p:sp>
        <p:nvSpPr>
          <p:cNvPr id="22355976" name="Shape 27"/>
          <p:cNvSpPr/>
          <p:nvPr/>
        </p:nvSpPr>
        <p:spPr bwMode="auto">
          <a:xfrm>
            <a:off x="4296833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6843559" name="Shape 28"/>
          <p:cNvSpPr/>
          <p:nvPr/>
        </p:nvSpPr>
        <p:spPr bwMode="auto">
          <a:xfrm>
            <a:off x="4449233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5808770" name="Text 29"/>
          <p:cNvSpPr/>
          <p:nvPr/>
        </p:nvSpPr>
        <p:spPr bwMode="auto">
          <a:xfrm>
            <a:off x="4581922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1577148377" name="Text 30"/>
          <p:cNvSpPr/>
          <p:nvPr/>
        </p:nvSpPr>
        <p:spPr bwMode="auto">
          <a:xfrm>
            <a:off x="4893733" y="3617649"/>
            <a:ext cx="201542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sempre occupato</a:t>
            </a:r>
            <a:endParaRPr lang="en-US" sz="1600"/>
          </a:p>
        </p:txBody>
      </p:sp>
      <p:sp>
        <p:nvSpPr>
          <p:cNvPr id="127092116" name="Text 31"/>
          <p:cNvSpPr/>
          <p:nvPr/>
        </p:nvSpPr>
        <p:spPr bwMode="auto">
          <a:xfrm>
            <a:off x="4449233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suo core non resta mai senza lavoro: il ritmo a cui elabora è la sua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capacità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274866179" name="Shape 32"/>
          <p:cNvSpPr/>
          <p:nvPr/>
        </p:nvSpPr>
        <p:spPr bwMode="auto">
          <a:xfrm>
            <a:off x="8047567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46971699" name="Shape 33"/>
          <p:cNvSpPr/>
          <p:nvPr/>
        </p:nvSpPr>
        <p:spPr bwMode="auto">
          <a:xfrm>
            <a:off x="8199967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9970751" name="Text 34"/>
          <p:cNvSpPr/>
          <p:nvPr/>
        </p:nvSpPr>
        <p:spPr bwMode="auto">
          <a:xfrm>
            <a:off x="8332656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720767067" name="Text 35"/>
          <p:cNvSpPr/>
          <p:nvPr/>
        </p:nvSpPr>
        <p:spPr bwMode="auto">
          <a:xfrm>
            <a:off x="8644467" y="3617649"/>
            <a:ext cx="1696575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Costo = 1 / capacità</a:t>
            </a:r>
            <a:endParaRPr lang="en-US" sz="1600"/>
          </a:p>
        </p:txBody>
      </p:sp>
      <p:sp>
        <p:nvSpPr>
          <p:cNvPr id="403748906" name="Text 36"/>
          <p:cNvSpPr/>
          <p:nvPr/>
        </p:nvSpPr>
        <p:spPr bwMode="auto">
          <a:xfrm>
            <a:off x="8199967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Se elabora 5 milioni di pacchetti al secondo, spende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200 ns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per ciascuno.</a:t>
            </a:r>
            <a:endParaRPr lang="en-US" sz="1400"/>
          </a:p>
        </p:txBody>
      </p:sp>
      <p:sp>
        <p:nvSpPr>
          <p:cNvPr id="1395151945" name="Shape 3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6498549" name="Shape 3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4656355" name="Text 3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982625433" name="Text 4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Si misurano 300 ms a regime: costo per pacchetto = tempo ÷ pacchetti elaborati. Il generatore sta su altri core, quindi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entra nella misura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2036136352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Un solo portatile: generatore, nodo e nodo successivo ciascuno sul proprio core fisico</a:t>
            </a:r>
            <a:endParaRPr lang="en-US" sz="1200"/>
          </a:p>
        </p:txBody>
      </p:sp>
      <p:sp>
        <p:nvSpPr>
          <p:cNvPr id="70996172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5856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1237156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IL PROBLEMA</a:t>
            </a:r>
            <a:endParaRPr lang="en-US" sz="1200"/>
          </a:p>
        </p:txBody>
      </p:sp>
      <p:sp>
        <p:nvSpPr>
          <p:cNvPr id="145760649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Nella macchina virtuale il nodo ogni tanto si fermava</a:t>
            </a:r>
            <a:endParaRPr lang="en-US" sz="3000"/>
          </a:p>
        </p:txBody>
      </p:sp>
      <p:sp>
        <p:nvSpPr>
          <p:cNvPr id="1428434123" name="Shape 3"/>
          <p:cNvSpPr/>
          <p:nvPr/>
        </p:nvSpPr>
        <p:spPr bwMode="auto">
          <a:xfrm>
            <a:off x="546100" y="1562100"/>
            <a:ext cx="6096000" cy="3144441"/>
          </a:xfrm>
          <a:prstGeom prst="roundRect">
            <a:avLst>
              <a:gd name="adj" fmla="val 403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2937571" name="Text 4"/>
          <p:cNvSpPr/>
          <p:nvPr/>
        </p:nvSpPr>
        <p:spPr bwMode="auto">
          <a:xfrm>
            <a:off x="749300" y="1739900"/>
            <a:ext cx="586028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Quanto può stare fermo il nodo</a:t>
            </a:r>
            <a:endParaRPr lang="en-US" sz="1600"/>
          </a:p>
        </p:txBody>
      </p:sp>
      <p:sp>
        <p:nvSpPr>
          <p:cNvPr id="693519202" name="Text 5"/>
          <p:cNvSpPr/>
          <p:nvPr/>
        </p:nvSpPr>
        <p:spPr bwMode="auto">
          <a:xfrm>
            <a:off x="749300" y="2075129"/>
            <a:ext cx="586028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prima che la coda da 256 posti trabocchi</a:t>
            </a:r>
            <a:endParaRPr lang="en-US" sz="1300"/>
          </a:p>
        </p:txBody>
      </p:sp>
      <p:sp>
        <p:nvSpPr>
          <p:cNvPr id="1209171073" name="Text 6"/>
          <p:cNvSpPr/>
          <p:nvPr/>
        </p:nvSpPr>
        <p:spPr bwMode="auto">
          <a:xfrm>
            <a:off x="3695700" y="235704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trabocca</a:t>
            </a:r>
            <a:endParaRPr lang="en-US" sz="1200"/>
          </a:p>
        </p:txBody>
      </p:sp>
      <p:sp>
        <p:nvSpPr>
          <p:cNvPr id="2037239734" name="Shape 7"/>
          <p:cNvSpPr/>
          <p:nvPr/>
        </p:nvSpPr>
        <p:spPr bwMode="auto">
          <a:xfrm>
            <a:off x="4492625" y="2598341"/>
            <a:ext cx="0" cy="1917700"/>
          </a:xfrm>
          <a:prstGeom prst="line">
            <a:avLst/>
          </a:prstGeom>
          <a:noFill/>
          <a:ln w="19050">
            <a:solidFill>
              <a:srgbClr val="222B36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0557593" name="Text 8"/>
          <p:cNvSpPr/>
          <p:nvPr/>
        </p:nvSpPr>
        <p:spPr bwMode="auto">
          <a:xfrm>
            <a:off x="749300" y="2661841"/>
            <a:ext cx="2223770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Riempire la coda (1,5 M pacchetti/s)</a:t>
            </a:r>
            <a:endParaRPr lang="en-US" sz="1400"/>
          </a:p>
        </p:txBody>
      </p:sp>
      <p:sp>
        <p:nvSpPr>
          <p:cNvPr id="1608978969" name="Shape 9"/>
          <p:cNvSpPr/>
          <p:nvPr/>
        </p:nvSpPr>
        <p:spPr bwMode="auto">
          <a:xfrm>
            <a:off x="3035300" y="2687241"/>
            <a:ext cx="1447800" cy="355600"/>
          </a:xfrm>
          <a:prstGeom prst="roundRect">
            <a:avLst>
              <a:gd name="adj" fmla="val 14286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1592410" name="Text 10"/>
          <p:cNvSpPr/>
          <p:nvPr/>
        </p:nvSpPr>
        <p:spPr bwMode="auto">
          <a:xfrm>
            <a:off x="4559300" y="2744391"/>
            <a:ext cx="1320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170 µs</a:t>
            </a:r>
            <a:endParaRPr lang="en-US" sz="1500"/>
          </a:p>
        </p:txBody>
      </p:sp>
      <p:sp>
        <p:nvSpPr>
          <p:cNvPr id="426057821" name="Text 11"/>
          <p:cNvSpPr/>
          <p:nvPr/>
        </p:nvSpPr>
        <p:spPr bwMode="auto">
          <a:xfrm>
            <a:off x="749300" y="3296841"/>
            <a:ext cx="2223770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Risveglio da sonno profondo</a:t>
            </a:r>
            <a:endParaRPr lang="en-US" sz="1400"/>
          </a:p>
        </p:txBody>
      </p:sp>
      <p:sp>
        <p:nvSpPr>
          <p:cNvPr id="1930497055" name="Shape 12"/>
          <p:cNvSpPr/>
          <p:nvPr/>
        </p:nvSpPr>
        <p:spPr bwMode="auto">
          <a:xfrm>
            <a:off x="3035300" y="3322241"/>
            <a:ext cx="2635250" cy="355600"/>
          </a:xfrm>
          <a:prstGeom prst="roundRect">
            <a:avLst>
              <a:gd name="adj" fmla="val 14286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87442151" name="Text 13"/>
          <p:cNvSpPr/>
          <p:nvPr/>
        </p:nvSpPr>
        <p:spPr bwMode="auto">
          <a:xfrm>
            <a:off x="5746750" y="3379391"/>
            <a:ext cx="7429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310 µs</a:t>
            </a:r>
            <a:endParaRPr lang="en-US" sz="1500"/>
          </a:p>
        </p:txBody>
      </p:sp>
      <p:sp>
        <p:nvSpPr>
          <p:cNvPr id="727893488" name="Text 14"/>
          <p:cNvSpPr/>
          <p:nvPr/>
        </p:nvSpPr>
        <p:spPr bwMode="auto">
          <a:xfrm>
            <a:off x="749300" y="3931841"/>
            <a:ext cx="2223770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Pausa di un core virtuale</a:t>
            </a:r>
            <a:endParaRPr lang="en-US" sz="1400"/>
          </a:p>
        </p:txBody>
      </p:sp>
      <p:sp>
        <p:nvSpPr>
          <p:cNvPr id="549519943" name="Shape 15"/>
          <p:cNvSpPr/>
          <p:nvPr/>
        </p:nvSpPr>
        <p:spPr bwMode="auto">
          <a:xfrm>
            <a:off x="3035300" y="3957241"/>
            <a:ext cx="3403600" cy="355600"/>
          </a:xfrm>
          <a:prstGeom prst="roundRect">
            <a:avLst>
              <a:gd name="adj" fmla="val 14286"/>
            </a:avLst>
          </a:prstGeom>
          <a:gradFill>
            <a:gsLst>
              <a:gs pos="78000">
                <a:srgbClr val="C0443C"/>
              </a:gs>
              <a:gs pos="100000">
                <a:srgbClr val="C0443C">
                  <a:alpha val="15000"/>
                </a:srgbClr>
              </a:gs>
            </a:gsLst>
            <a:lin ang="0" scaled="0"/>
          </a:gra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2465730" name="Text 16"/>
          <p:cNvSpPr/>
          <p:nvPr/>
        </p:nvSpPr>
        <p:spPr bwMode="auto">
          <a:xfrm>
            <a:off x="3136900" y="4014391"/>
            <a:ext cx="313944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alcuni millisecondi</a:t>
            </a:r>
            <a:endParaRPr lang="en-US" sz="1400"/>
          </a:p>
        </p:txBody>
      </p:sp>
      <p:sp>
        <p:nvSpPr>
          <p:cNvPr id="585402186" name="Text 17"/>
          <p:cNvSpPr/>
          <p:nvPr/>
        </p:nvSpPr>
        <p:spPr bwMode="auto">
          <a:xfrm>
            <a:off x="6819900" y="1562100"/>
            <a:ext cx="497078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strade, entrambe cattive</a:t>
            </a:r>
            <a:endParaRPr lang="en-US" sz="1600"/>
          </a:p>
        </p:txBody>
      </p:sp>
      <p:sp>
        <p:nvSpPr>
          <p:cNvPr id="183134241" name="Shape 18"/>
          <p:cNvSpPr/>
          <p:nvPr/>
        </p:nvSpPr>
        <p:spPr bwMode="auto">
          <a:xfrm>
            <a:off x="6819900" y="1935429"/>
            <a:ext cx="4826000" cy="1341107"/>
          </a:xfrm>
          <a:prstGeom prst="roundRect">
            <a:avLst>
              <a:gd name="adj" fmla="val 94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5903533" name="Shape 19"/>
          <p:cNvSpPr/>
          <p:nvPr/>
        </p:nvSpPr>
        <p:spPr bwMode="auto">
          <a:xfrm>
            <a:off x="6819900" y="1935429"/>
            <a:ext cx="4826000" cy="88900"/>
          </a:xfrm>
          <a:custGeom>
            <a:avLst/>
            <a:gdLst/>
            <a:ahLst/>
            <a:cxnLst/>
            <a:rect l="l" t="t" r="r" b="b"/>
            <a:pathLst>
              <a:path w="4826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699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539619" name="Text 20"/>
          <p:cNvSpPr/>
          <p:nvPr/>
        </p:nvSpPr>
        <p:spPr bwMode="auto">
          <a:xfrm>
            <a:off x="6997700" y="2151329"/>
            <a:ext cx="460451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Generatore e nodo su core separati</a:t>
            </a:r>
            <a:endParaRPr lang="en-US" sz="1600"/>
          </a:p>
        </p:txBody>
      </p:sp>
      <p:sp>
        <p:nvSpPr>
          <p:cNvPr id="723117973" name="Text 21"/>
          <p:cNvSpPr/>
          <p:nvPr/>
        </p:nvSpPr>
        <p:spPr bwMode="auto">
          <a:xfrm>
            <a:off x="6997700" y="2486555"/>
            <a:ext cx="460451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nodo perdeva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fra l'8 e il 70%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dei pacchetti a qualunque ritmo, anche lentissimo.</a:t>
            </a:r>
            <a:endParaRPr lang="en-US" sz="1400"/>
          </a:p>
        </p:txBody>
      </p:sp>
      <p:sp>
        <p:nvSpPr>
          <p:cNvPr id="1394114680" name="Shape 22"/>
          <p:cNvSpPr/>
          <p:nvPr/>
        </p:nvSpPr>
        <p:spPr bwMode="auto">
          <a:xfrm>
            <a:off x="6819900" y="3365435"/>
            <a:ext cx="4826000" cy="1341107"/>
          </a:xfrm>
          <a:prstGeom prst="roundRect">
            <a:avLst>
              <a:gd name="adj" fmla="val 94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1100629" name="Shape 23"/>
          <p:cNvSpPr/>
          <p:nvPr/>
        </p:nvSpPr>
        <p:spPr bwMode="auto">
          <a:xfrm>
            <a:off x="6819900" y="3365435"/>
            <a:ext cx="4826000" cy="88900"/>
          </a:xfrm>
          <a:custGeom>
            <a:avLst/>
            <a:gdLst/>
            <a:ahLst/>
            <a:cxnLst/>
            <a:rect l="l" t="t" r="r" b="b"/>
            <a:pathLst>
              <a:path w="4826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699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62846349" name="Text 24"/>
          <p:cNvSpPr/>
          <p:nvPr/>
        </p:nvSpPr>
        <p:spPr bwMode="auto">
          <a:xfrm>
            <a:off x="6997700" y="3581334"/>
            <a:ext cx="460451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Generatore e nodo sullo stesso core</a:t>
            </a:r>
            <a:endParaRPr lang="en-US" sz="1600"/>
          </a:p>
        </p:txBody>
      </p:sp>
      <p:sp>
        <p:nvSpPr>
          <p:cNvPr id="51812062" name="Text 25"/>
          <p:cNvSpPr/>
          <p:nvPr/>
        </p:nvSpPr>
        <p:spPr bwMode="auto">
          <a:xfrm>
            <a:off x="6997700" y="3916561"/>
            <a:ext cx="460451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si perdeva niente, ma il core faceva il lavoro di tutti e due: il collo di bottiglia era sempre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060580951" name="Shape 26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0520419" name="Shape 27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0792528" name="Text 28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587291219" name="Text 29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perdita misurava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 assenze del core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non il programma: dentro la macchina virtuale un core può fermarsi per millisecondi, e non si vede né si può impedire.</a:t>
            </a:r>
            <a:endParaRPr lang="en-US" sz="1500"/>
          </a:p>
        </p:txBody>
      </p:sp>
      <p:sp>
        <p:nvSpPr>
          <p:cNvPr id="1919576730" name="Text 30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3930082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591094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LA SOLUZIONE</a:t>
            </a:r>
            <a:endParaRPr lang="en-US" sz="1200"/>
          </a:p>
        </p:txBody>
      </p:sp>
      <p:sp>
        <p:nvSpPr>
          <p:cNvPr id="1328918946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Sul dual boot ogni core ha un ruolo fisso</a:t>
            </a:r>
            <a:endParaRPr lang="en-US" sz="3000"/>
          </a:p>
        </p:txBody>
      </p:sp>
      <p:sp>
        <p:nvSpPr>
          <p:cNvPr id="1004643786" name="Shape 3"/>
          <p:cNvSpPr/>
          <p:nvPr/>
        </p:nvSpPr>
        <p:spPr bwMode="auto">
          <a:xfrm>
            <a:off x="546100" y="1562100"/>
            <a:ext cx="5842000" cy="3151717"/>
          </a:xfrm>
          <a:prstGeom prst="roundRect">
            <a:avLst>
              <a:gd name="adj" fmla="val 403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48470487" name="Text 4"/>
          <p:cNvSpPr/>
          <p:nvPr/>
        </p:nvSpPr>
        <p:spPr bwMode="auto">
          <a:xfrm>
            <a:off x="749300" y="1739900"/>
            <a:ext cx="559866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macchina: un processore ibrido</a:t>
            </a:r>
            <a:endParaRPr lang="en-US" sz="1600"/>
          </a:p>
        </p:txBody>
      </p:sp>
      <p:sp>
        <p:nvSpPr>
          <p:cNvPr id="1517137629" name="Text 5"/>
          <p:cNvSpPr/>
          <p:nvPr/>
        </p:nvSpPr>
        <p:spPr bwMode="auto">
          <a:xfrm>
            <a:off x="749300" y="2087829"/>
            <a:ext cx="559866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Intel Core Ultra 7 155H, 22 CPU: ognuna ha il suo ruolo</a:t>
            </a:r>
            <a:endParaRPr lang="en-US" sz="1300"/>
          </a:p>
        </p:txBody>
      </p:sp>
      <p:sp>
        <p:nvSpPr>
          <p:cNvPr id="1735062347" name="Shape 6"/>
          <p:cNvSpPr/>
          <p:nvPr/>
        </p:nvSpPr>
        <p:spPr bwMode="auto">
          <a:xfrm>
            <a:off x="7493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183307" name="Text 7"/>
          <p:cNvSpPr/>
          <p:nvPr/>
        </p:nvSpPr>
        <p:spPr bwMode="auto">
          <a:xfrm>
            <a:off x="11359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400"/>
          </a:p>
        </p:txBody>
      </p:sp>
      <p:sp>
        <p:nvSpPr>
          <p:cNvPr id="696961395" name="Shape 8"/>
          <p:cNvSpPr/>
          <p:nvPr/>
        </p:nvSpPr>
        <p:spPr bwMode="auto">
          <a:xfrm>
            <a:off x="749300" y="28904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24129880" name="Text 9"/>
          <p:cNvSpPr/>
          <p:nvPr/>
        </p:nvSpPr>
        <p:spPr bwMode="auto">
          <a:xfrm>
            <a:off x="1135989" y="29691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400"/>
          </a:p>
        </p:txBody>
      </p:sp>
      <p:sp>
        <p:nvSpPr>
          <p:cNvPr id="1757651601" name="Text 10"/>
          <p:cNvSpPr/>
          <p:nvPr/>
        </p:nvSpPr>
        <p:spPr bwMode="auto">
          <a:xfrm>
            <a:off x="7239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sistema</a:t>
            </a:r>
            <a:endParaRPr lang="en-US" sz="1200"/>
          </a:p>
        </p:txBody>
      </p:sp>
      <p:sp>
        <p:nvSpPr>
          <p:cNvPr id="130271912" name="Shape 11"/>
          <p:cNvSpPr/>
          <p:nvPr/>
        </p:nvSpPr>
        <p:spPr bwMode="auto">
          <a:xfrm>
            <a:off x="16637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78420526" name="Text 12"/>
          <p:cNvSpPr/>
          <p:nvPr/>
        </p:nvSpPr>
        <p:spPr bwMode="auto">
          <a:xfrm>
            <a:off x="20503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405531575" name="Shape 13"/>
          <p:cNvSpPr/>
          <p:nvPr/>
        </p:nvSpPr>
        <p:spPr bwMode="auto">
          <a:xfrm>
            <a:off x="16700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94072020" name="Text 14"/>
          <p:cNvSpPr/>
          <p:nvPr/>
        </p:nvSpPr>
        <p:spPr bwMode="auto">
          <a:xfrm>
            <a:off x="20568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630004265" name="Text 15"/>
          <p:cNvSpPr/>
          <p:nvPr/>
        </p:nvSpPr>
        <p:spPr bwMode="auto">
          <a:xfrm>
            <a:off x="16383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200"/>
          </a:p>
        </p:txBody>
      </p:sp>
      <p:sp>
        <p:nvSpPr>
          <p:cNvPr id="1667799749" name="Shape 16"/>
          <p:cNvSpPr/>
          <p:nvPr/>
        </p:nvSpPr>
        <p:spPr bwMode="auto">
          <a:xfrm>
            <a:off x="25781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450695" name="Text 17"/>
          <p:cNvSpPr/>
          <p:nvPr/>
        </p:nvSpPr>
        <p:spPr bwMode="auto">
          <a:xfrm>
            <a:off x="29647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694195541" name="Shape 18"/>
          <p:cNvSpPr/>
          <p:nvPr/>
        </p:nvSpPr>
        <p:spPr bwMode="auto">
          <a:xfrm>
            <a:off x="25844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258960" name="Text 19"/>
          <p:cNvSpPr/>
          <p:nvPr/>
        </p:nvSpPr>
        <p:spPr bwMode="auto">
          <a:xfrm>
            <a:off x="29712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44306158" name="Text 20"/>
          <p:cNvSpPr/>
          <p:nvPr/>
        </p:nvSpPr>
        <p:spPr bwMode="auto">
          <a:xfrm>
            <a:off x="25527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200"/>
          </a:p>
        </p:txBody>
      </p:sp>
      <p:sp>
        <p:nvSpPr>
          <p:cNvPr id="2131593269" name="Shape 21"/>
          <p:cNvSpPr/>
          <p:nvPr/>
        </p:nvSpPr>
        <p:spPr bwMode="auto">
          <a:xfrm>
            <a:off x="34925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85023210" name="Text 22"/>
          <p:cNvSpPr/>
          <p:nvPr/>
        </p:nvSpPr>
        <p:spPr bwMode="auto">
          <a:xfrm>
            <a:off x="38791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400"/>
          </a:p>
        </p:txBody>
      </p:sp>
      <p:sp>
        <p:nvSpPr>
          <p:cNvPr id="7460411" name="Shape 23"/>
          <p:cNvSpPr/>
          <p:nvPr/>
        </p:nvSpPr>
        <p:spPr bwMode="auto">
          <a:xfrm>
            <a:off x="34988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8310824" name="Text 24"/>
          <p:cNvSpPr/>
          <p:nvPr/>
        </p:nvSpPr>
        <p:spPr bwMode="auto">
          <a:xfrm>
            <a:off x="38856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7</a:t>
            </a:r>
            <a:endParaRPr lang="en-US" sz="1200"/>
          </a:p>
        </p:txBody>
      </p:sp>
      <p:sp>
        <p:nvSpPr>
          <p:cNvPr id="1997930544" name="Text 25"/>
          <p:cNvSpPr/>
          <p:nvPr/>
        </p:nvSpPr>
        <p:spPr bwMode="auto">
          <a:xfrm>
            <a:off x="34671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</a:t>
            </a:r>
            <a:endParaRPr lang="en-US" sz="1200"/>
          </a:p>
        </p:txBody>
      </p:sp>
      <p:sp>
        <p:nvSpPr>
          <p:cNvPr id="1882495708" name="Shape 26"/>
          <p:cNvSpPr/>
          <p:nvPr/>
        </p:nvSpPr>
        <p:spPr bwMode="auto">
          <a:xfrm>
            <a:off x="44069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9959537" name="Text 27"/>
          <p:cNvSpPr/>
          <p:nvPr/>
        </p:nvSpPr>
        <p:spPr bwMode="auto">
          <a:xfrm>
            <a:off x="47935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400"/>
          </a:p>
        </p:txBody>
      </p:sp>
      <p:sp>
        <p:nvSpPr>
          <p:cNvPr id="1063052890" name="Shape 28"/>
          <p:cNvSpPr/>
          <p:nvPr/>
        </p:nvSpPr>
        <p:spPr bwMode="auto">
          <a:xfrm>
            <a:off x="44132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8771934" name="Text 29"/>
          <p:cNvSpPr/>
          <p:nvPr/>
        </p:nvSpPr>
        <p:spPr bwMode="auto">
          <a:xfrm>
            <a:off x="48000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9</a:t>
            </a:r>
            <a:endParaRPr lang="en-US" sz="1200"/>
          </a:p>
        </p:txBody>
      </p:sp>
      <p:sp>
        <p:nvSpPr>
          <p:cNvPr id="957317869" name="Text 30"/>
          <p:cNvSpPr/>
          <p:nvPr/>
        </p:nvSpPr>
        <p:spPr bwMode="auto">
          <a:xfrm>
            <a:off x="4381500" y="3334941"/>
            <a:ext cx="9144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200"/>
          </a:p>
        </p:txBody>
      </p:sp>
      <p:sp>
        <p:nvSpPr>
          <p:cNvPr id="1716953207" name="Shape 31"/>
          <p:cNvSpPr/>
          <p:nvPr/>
        </p:nvSpPr>
        <p:spPr bwMode="auto">
          <a:xfrm>
            <a:off x="53213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6827515" name="Text 32"/>
          <p:cNvSpPr/>
          <p:nvPr/>
        </p:nvSpPr>
        <p:spPr bwMode="auto">
          <a:xfrm>
            <a:off x="5662943" y="2524655"/>
            <a:ext cx="23104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400"/>
          </a:p>
        </p:txBody>
      </p:sp>
      <p:sp>
        <p:nvSpPr>
          <p:cNvPr id="824182101" name="Shape 33"/>
          <p:cNvSpPr/>
          <p:nvPr/>
        </p:nvSpPr>
        <p:spPr bwMode="auto">
          <a:xfrm>
            <a:off x="53276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4848907" name="Text 34"/>
          <p:cNvSpPr/>
          <p:nvPr/>
        </p:nvSpPr>
        <p:spPr bwMode="auto">
          <a:xfrm>
            <a:off x="5675842" y="2986949"/>
            <a:ext cx="2053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11</a:t>
            </a:r>
            <a:endParaRPr lang="en-US" sz="1200"/>
          </a:p>
        </p:txBody>
      </p:sp>
      <p:sp>
        <p:nvSpPr>
          <p:cNvPr id="1667861662" name="Text 35"/>
          <p:cNvSpPr/>
          <p:nvPr/>
        </p:nvSpPr>
        <p:spPr bwMode="auto">
          <a:xfrm>
            <a:off x="5295899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200"/>
          </a:p>
        </p:txBody>
      </p:sp>
      <p:sp>
        <p:nvSpPr>
          <p:cNvPr id="809506196" name="Shape 36"/>
          <p:cNvSpPr/>
          <p:nvPr/>
        </p:nvSpPr>
        <p:spPr bwMode="auto">
          <a:xfrm>
            <a:off x="749300" y="3766741"/>
            <a:ext cx="5435600" cy="355600"/>
          </a:xfrm>
          <a:prstGeom prst="roundRect">
            <a:avLst>
              <a:gd name="adj" fmla="val 17857"/>
            </a:avLst>
          </a:prstGeom>
          <a:solidFill>
            <a:srgbClr val="E4E8E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30853033" name="Text 37"/>
          <p:cNvSpPr/>
          <p:nvPr/>
        </p:nvSpPr>
        <p:spPr bwMode="auto">
          <a:xfrm>
            <a:off x="2223360" y="3837849"/>
            <a:ext cx="25621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E-core 12–19 e LP E-core 20–21: sistema</a:t>
            </a:r>
            <a:endParaRPr lang="en-US" sz="1200"/>
          </a:p>
        </p:txBody>
      </p:sp>
      <p:sp>
        <p:nvSpPr>
          <p:cNvPr id="1935843366" name="Text 38"/>
          <p:cNvSpPr/>
          <p:nvPr/>
        </p:nvSpPr>
        <p:spPr bwMode="auto">
          <a:xfrm>
            <a:off x="749300" y="4185841"/>
            <a:ext cx="55986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 tratteggio: il thread gemello di ogni core, lasciato a riposo.</a:t>
            </a:r>
            <a:endParaRPr lang="en-US" sz="1200"/>
          </a:p>
        </p:txBody>
      </p:sp>
      <p:sp>
        <p:nvSpPr>
          <p:cNvPr id="591224627" name="Shape 39"/>
          <p:cNvSpPr/>
          <p:nvPr/>
        </p:nvSpPr>
        <p:spPr bwMode="auto">
          <a:xfrm>
            <a:off x="6565900" y="15621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5946678" name="Text 40"/>
          <p:cNvSpPr/>
          <p:nvPr/>
        </p:nvSpPr>
        <p:spPr bwMode="auto">
          <a:xfrm>
            <a:off x="6676430" y="1598944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300"/>
          </a:p>
        </p:txBody>
      </p:sp>
      <p:sp>
        <p:nvSpPr>
          <p:cNvPr id="2075745009" name="Text 41"/>
          <p:cNvSpPr/>
          <p:nvPr/>
        </p:nvSpPr>
        <p:spPr bwMode="auto">
          <a:xfrm>
            <a:off x="6985000" y="1562100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Frequenza fissa e misurata</a:t>
            </a:r>
            <a:endParaRPr lang="en-US" sz="1500"/>
          </a:p>
        </p:txBody>
      </p:sp>
      <p:sp>
        <p:nvSpPr>
          <p:cNvPr id="1690642339" name="Text 42"/>
          <p:cNvSpPr/>
          <p:nvPr/>
        </p:nvSpPr>
        <p:spPr bwMode="auto">
          <a:xfrm>
            <a:off x="6985000" y="1854200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3,5 GHz richiesti, 3 494 MHz misurati dai contatori del processore durante ogni misura.</a:t>
            </a:r>
            <a:endParaRPr lang="en-US" sz="1300"/>
          </a:p>
        </p:txBody>
      </p:sp>
      <p:sp>
        <p:nvSpPr>
          <p:cNvPr id="2035035443" name="Shape 43"/>
          <p:cNvSpPr/>
          <p:nvPr/>
        </p:nvSpPr>
        <p:spPr bwMode="auto">
          <a:xfrm>
            <a:off x="6565900" y="237225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6149070" name="Text 44"/>
          <p:cNvSpPr/>
          <p:nvPr/>
        </p:nvSpPr>
        <p:spPr bwMode="auto">
          <a:xfrm>
            <a:off x="6676430" y="2409099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300"/>
          </a:p>
        </p:txBody>
      </p:sp>
      <p:sp>
        <p:nvSpPr>
          <p:cNvPr id="31533274" name="Text 45"/>
          <p:cNvSpPr/>
          <p:nvPr/>
        </p:nvSpPr>
        <p:spPr bwMode="auto">
          <a:xfrm>
            <a:off x="6985000" y="2372255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Niente sonno profondo</a:t>
            </a:r>
            <a:endParaRPr lang="en-US" sz="1500"/>
          </a:p>
        </p:txBody>
      </p:sp>
      <p:sp>
        <p:nvSpPr>
          <p:cNvPr id="581001926" name="Text 46"/>
          <p:cNvSpPr/>
          <p:nvPr/>
        </p:nvSpPr>
        <p:spPr bwMode="auto">
          <a:xfrm>
            <a:off x="6985000" y="2664355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core che dorme impiega 310 µs a svegliarsi, più dei 170 µs che la coda concede.</a:t>
            </a:r>
            <a:endParaRPr lang="en-US" sz="1300"/>
          </a:p>
        </p:txBody>
      </p:sp>
      <p:sp>
        <p:nvSpPr>
          <p:cNvPr id="1169629068" name="Shape 47"/>
          <p:cNvSpPr/>
          <p:nvPr/>
        </p:nvSpPr>
        <p:spPr bwMode="auto">
          <a:xfrm>
            <a:off x="6565900" y="318241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7318761" name="Text 48"/>
          <p:cNvSpPr/>
          <p:nvPr/>
        </p:nvSpPr>
        <p:spPr bwMode="auto">
          <a:xfrm>
            <a:off x="6676430" y="3219252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300"/>
          </a:p>
        </p:txBody>
      </p:sp>
      <p:sp>
        <p:nvSpPr>
          <p:cNvPr id="1301618743" name="Text 49"/>
          <p:cNvSpPr/>
          <p:nvPr/>
        </p:nvSpPr>
        <p:spPr bwMode="auto">
          <a:xfrm>
            <a:off x="6985000" y="3182410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resto del sistema altrove</a:t>
            </a:r>
            <a:endParaRPr lang="en-US" sz="1500"/>
          </a:p>
        </p:txBody>
      </p:sp>
      <p:sp>
        <p:nvSpPr>
          <p:cNvPr id="1617509775" name="Text 50"/>
          <p:cNvSpPr/>
          <p:nvPr/>
        </p:nvSpPr>
        <p:spPr bwMode="auto">
          <a:xfrm>
            <a:off x="6985000" y="3474510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Desktop, servizi, interruzioni e thread del kernel stanno sulle altre CPU.</a:t>
            </a:r>
            <a:endParaRPr lang="en-US" sz="1300"/>
          </a:p>
        </p:txBody>
      </p:sp>
      <p:sp>
        <p:nvSpPr>
          <p:cNvPr id="2108056701" name="Shape 51"/>
          <p:cNvSpPr/>
          <p:nvPr/>
        </p:nvSpPr>
        <p:spPr bwMode="auto">
          <a:xfrm>
            <a:off x="6565900" y="39925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9879022" name="Text 52"/>
          <p:cNvSpPr/>
          <p:nvPr/>
        </p:nvSpPr>
        <p:spPr bwMode="auto">
          <a:xfrm>
            <a:off x="6676430" y="402940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300"/>
          </a:p>
        </p:txBody>
      </p:sp>
      <p:sp>
        <p:nvSpPr>
          <p:cNvPr id="517801180" name="Text 53"/>
          <p:cNvSpPr/>
          <p:nvPr/>
        </p:nvSpPr>
        <p:spPr bwMode="auto">
          <a:xfrm>
            <a:off x="6985000" y="3992563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 monitor sempre acceso</a:t>
            </a:r>
            <a:endParaRPr lang="en-US" sz="1500"/>
          </a:p>
        </p:txBody>
      </p:sp>
      <p:sp>
        <p:nvSpPr>
          <p:cNvPr id="315556873" name="Text 54"/>
          <p:cNvSpPr/>
          <p:nvPr/>
        </p:nvSpPr>
        <p:spPr bwMode="auto">
          <a:xfrm>
            <a:off x="6985000" y="4284663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Temperatura, throttling e frequenza vera: una finestra fuori condizione si conta, non si scarta.</a:t>
            </a:r>
            <a:endParaRPr lang="en-US" sz="1300"/>
          </a:p>
        </p:txBody>
      </p:sp>
      <p:sp>
        <p:nvSpPr>
          <p:cNvPr id="545695317" name="Shape 55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3007901" name="Shape 56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241529" name="Text 57"/>
          <p:cNvSpPr/>
          <p:nvPr/>
        </p:nvSpPr>
        <p:spPr bwMode="auto">
          <a:xfrm>
            <a:off x="819150" y="5890884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318542729" name="Text 58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core del nodo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dorme, non cambia frequenza e nessuno lo interrompe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si misura il programma, non la macchina.</a:t>
            </a:r>
            <a:endParaRPr lang="en-US" sz="1500"/>
          </a:p>
        </p:txBody>
      </p:sp>
      <p:sp>
        <p:nvSpPr>
          <p:cNvPr id="465296751" name="Text 60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7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36721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3760309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PRIMA E DOPO</a:t>
            </a:r>
            <a:endParaRPr lang="en-US" sz="1200"/>
          </a:p>
        </p:txBody>
      </p:sp>
      <p:sp>
        <p:nvSpPr>
          <p:cNvPr id="88974799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il dual boot le misure si ripetono</a:t>
            </a:r>
            <a:endParaRPr lang="en-US" sz="3000"/>
          </a:p>
        </p:txBody>
      </p:sp>
      <p:sp>
        <p:nvSpPr>
          <p:cNvPr id="1709741813" name="Shape 3"/>
          <p:cNvSpPr/>
          <p:nvPr/>
        </p:nvSpPr>
        <p:spPr bwMode="auto">
          <a:xfrm>
            <a:off x="546100" y="1562100"/>
            <a:ext cx="2355850" cy="292100"/>
          </a:xfrm>
          <a:prstGeom prst="roundRect">
            <a:avLst>
              <a:gd name="adj" fmla="val 26087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846286" name="Text 4"/>
          <p:cNvSpPr/>
          <p:nvPr/>
        </p:nvSpPr>
        <p:spPr bwMode="auto">
          <a:xfrm>
            <a:off x="1109530" y="1592594"/>
            <a:ext cx="1279723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Macchina virtuale</a:t>
            </a:r>
            <a:endParaRPr lang="en-US" sz="1300"/>
          </a:p>
        </p:txBody>
      </p:sp>
      <p:sp>
        <p:nvSpPr>
          <p:cNvPr id="669109554" name="Shape 5"/>
          <p:cNvSpPr/>
          <p:nvPr/>
        </p:nvSpPr>
        <p:spPr bwMode="auto">
          <a:xfrm>
            <a:off x="2940050" y="1562100"/>
            <a:ext cx="2355850" cy="292100"/>
          </a:xfrm>
          <a:prstGeom prst="roundRect">
            <a:avLst>
              <a:gd name="adj" fmla="val 26087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6071177" name="Text 6"/>
          <p:cNvSpPr/>
          <p:nvPr/>
        </p:nvSpPr>
        <p:spPr bwMode="auto">
          <a:xfrm>
            <a:off x="3780234" y="1592594"/>
            <a:ext cx="726215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Dual boot</a:t>
            </a:r>
            <a:endParaRPr lang="en-US" sz="1300"/>
          </a:p>
        </p:txBody>
      </p:sp>
      <p:graphicFrame>
        <p:nvGraphicFramePr>
          <p:cNvPr id="577513570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58800" y="1943100"/>
          <a:ext cx="6400800" cy="179652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31576"/>
                <a:gridCol w="1192306"/>
                <a:gridCol w="1192306"/>
                <a:gridCol w="1192306"/>
                <a:gridCol w="1192306"/>
              </a:tblGrid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Pipeline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costo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variazione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costo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variazione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P1 statica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~82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160%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38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0,5%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P1.5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~116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104%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53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0,6%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P2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~430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19%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226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0,5%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P3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~670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15%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364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0,3%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12499594" name="Text 7"/>
          <p:cNvSpPr/>
          <p:nvPr/>
        </p:nvSpPr>
        <p:spPr bwMode="auto">
          <a:xfrm>
            <a:off x="546100" y="3815822"/>
            <a:ext cx="6605905" cy="421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Costo sopra la baseline, per pacchetto. Le cifre assolute non si confrontano (frequenza e metodo erano diversi): si confronta la variazione.</a:t>
            </a:r>
            <a:endParaRPr lang="en-US" sz="1200"/>
          </a:p>
        </p:txBody>
      </p:sp>
      <p:sp>
        <p:nvSpPr>
          <p:cNvPr id="912041783" name="Shape 8"/>
          <p:cNvSpPr/>
          <p:nvPr/>
        </p:nvSpPr>
        <p:spPr bwMode="auto">
          <a:xfrm>
            <a:off x="7137400" y="1562100"/>
            <a:ext cx="4508500" cy="918104"/>
          </a:xfrm>
          <a:prstGeom prst="roundRect">
            <a:avLst>
              <a:gd name="adj" fmla="val 13833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7348926" name="Text 9"/>
          <p:cNvSpPr/>
          <p:nvPr/>
        </p:nvSpPr>
        <p:spPr bwMode="auto">
          <a:xfrm>
            <a:off x="7315200" y="1701800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160%</a:t>
            </a:r>
            <a:r>
              <a:rPr lang="en-US" sz="28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→ </a:t>
            </a:r>
            <a:r>
              <a:rPr lang="en-US" sz="2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0,5%</a:t>
            </a:r>
            <a:endParaRPr lang="en-US" sz="2800"/>
          </a:p>
        </p:txBody>
      </p:sp>
      <p:sp>
        <p:nvSpPr>
          <p:cNvPr id="1012064834" name="Text 10"/>
          <p:cNvSpPr/>
          <p:nvPr/>
        </p:nvSpPr>
        <p:spPr bwMode="auto">
          <a:xfrm>
            <a:off x="7315200" y="2113229"/>
            <a:ext cx="4277487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variazione del costo di P1 fra le esecuzioni</a:t>
            </a:r>
            <a:endParaRPr lang="en-US" sz="1300"/>
          </a:p>
        </p:txBody>
      </p:sp>
      <p:sp>
        <p:nvSpPr>
          <p:cNvPr id="2031283049" name="Shape 11"/>
          <p:cNvSpPr/>
          <p:nvPr/>
        </p:nvSpPr>
        <p:spPr bwMode="auto">
          <a:xfrm>
            <a:off x="7137400" y="2569105"/>
            <a:ext cx="4508500" cy="918104"/>
          </a:xfrm>
          <a:prstGeom prst="roundRect">
            <a:avLst>
              <a:gd name="adj" fmla="val 13833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9434226" name="Text 12"/>
          <p:cNvSpPr/>
          <p:nvPr/>
        </p:nvSpPr>
        <p:spPr bwMode="auto">
          <a:xfrm>
            <a:off x="7315200" y="2708805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1–2%</a:t>
            </a:r>
            <a:r>
              <a:rPr lang="en-US" sz="28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→ </a:t>
            </a:r>
            <a:r>
              <a:rPr lang="en-US" sz="2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0</a:t>
            </a:r>
            <a:endParaRPr lang="en-US" sz="2800"/>
          </a:p>
        </p:txBody>
      </p:sp>
      <p:sp>
        <p:nvSpPr>
          <p:cNvPr id="23424263" name="Text 13"/>
          <p:cNvSpPr/>
          <p:nvPr/>
        </p:nvSpPr>
        <p:spPr bwMode="auto">
          <a:xfrm>
            <a:off x="7315200" y="3120231"/>
            <a:ext cx="4277487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pacchetti respinti sotto capacità, anche per il solo contatore</a:t>
            </a:r>
            <a:endParaRPr lang="en-US" sz="1300"/>
          </a:p>
        </p:txBody>
      </p:sp>
      <p:sp>
        <p:nvSpPr>
          <p:cNvPr id="205062432" name="Shape 14"/>
          <p:cNvSpPr/>
          <p:nvPr/>
        </p:nvSpPr>
        <p:spPr bwMode="auto">
          <a:xfrm>
            <a:off x="7137400" y="3576110"/>
            <a:ext cx="4508500" cy="1132681"/>
          </a:xfrm>
          <a:prstGeom prst="roundRect">
            <a:avLst>
              <a:gd name="adj" fmla="val 1121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6514591" name="Text 15"/>
          <p:cNvSpPr/>
          <p:nvPr/>
        </p:nvSpPr>
        <p:spPr bwMode="auto">
          <a:xfrm>
            <a:off x="7315200" y="3715810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58% · 0,2% · 7,7%</a:t>
            </a:r>
            <a:endParaRPr lang="en-US" sz="2800"/>
          </a:p>
        </p:txBody>
      </p:sp>
      <p:sp>
        <p:nvSpPr>
          <p:cNvPr id="940656906" name="Text 16"/>
          <p:cNvSpPr/>
          <p:nvPr/>
        </p:nvSpPr>
        <p:spPr bwMode="auto">
          <a:xfrm>
            <a:off x="7315200" y="4127240"/>
            <a:ext cx="427748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perdita dello stesso punto in tre giri (macchina virtuale). Sul dual boot: entro lo 0,4–2%</a:t>
            </a:r>
            <a:endParaRPr lang="en-US" sz="1300"/>
          </a:p>
        </p:txBody>
      </p:sp>
      <p:sp>
        <p:nvSpPr>
          <p:cNvPr id="1678636330" name="Shape 1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13783479" name="Shape 1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4740786" name="Text 1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186830746" name="Text 2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guadagno vero non è la velocità, è la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ripetibilità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differenze che prima sparivano nel rumore, come P1 contro P1.5 o scartare contro inoltrare, ora si misurano.</a:t>
            </a:r>
            <a:endParaRPr lang="en-US" sz="1500"/>
          </a:p>
        </p:txBody>
      </p:sp>
      <p:sp>
        <p:nvSpPr>
          <p:cNvPr id="293805069" name="Text 2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Macchina virtuale: 18 settembre, 512 byte · dual boot: 28 settembre, core separati, 64 byte · variazione fra le esecuzioni</a:t>
            </a:r>
            <a:endParaRPr lang="en-US" sz="1200"/>
          </a:p>
        </p:txBody>
      </p:sp>
      <p:sp>
        <p:nvSpPr>
          <p:cNvPr id="596416759" name="Text 2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187793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9697440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 DUE GENERATORI DI TRAFFICO · PKTGEN</a:t>
            </a:r>
            <a:endParaRPr lang="en-US" sz="1200"/>
          </a:p>
        </p:txBody>
      </p:sp>
      <p:sp>
        <p:nvSpPr>
          <p:cNvPr id="154350214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pktgen produce i pacchetti come li produce Linux</a:t>
            </a:r>
            <a:endParaRPr lang="en-US" sz="3000"/>
          </a:p>
        </p:txBody>
      </p:sp>
      <p:sp>
        <p:nvSpPr>
          <p:cNvPr id="11790583" name="Shape 3"/>
          <p:cNvSpPr/>
          <p:nvPr/>
        </p:nvSpPr>
        <p:spPr bwMode="auto">
          <a:xfrm>
            <a:off x="546100" y="1562100"/>
            <a:ext cx="3429000" cy="1932848"/>
          </a:xfrm>
          <a:prstGeom prst="roundRect">
            <a:avLst>
              <a:gd name="adj" fmla="val 657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07610651" name="Shape 4"/>
          <p:cNvSpPr/>
          <p:nvPr/>
        </p:nvSpPr>
        <p:spPr bwMode="auto">
          <a:xfrm>
            <a:off x="7239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0721742" name="Text 5"/>
          <p:cNvSpPr/>
          <p:nvPr/>
        </p:nvSpPr>
        <p:spPr bwMode="auto">
          <a:xfrm>
            <a:off x="8565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50775647" name="Text 6"/>
          <p:cNvSpPr/>
          <p:nvPr/>
        </p:nvSpPr>
        <p:spPr bwMode="auto">
          <a:xfrm>
            <a:off x="1168400" y="1750089"/>
            <a:ext cx="1565605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pktgen crea la skb</a:t>
            </a:r>
            <a:endParaRPr lang="en-US" sz="1600"/>
          </a:p>
        </p:txBody>
      </p:sp>
      <p:sp>
        <p:nvSpPr>
          <p:cNvPr id="408732314" name="Shape 7"/>
          <p:cNvSpPr/>
          <p:nvPr/>
        </p:nvSpPr>
        <p:spPr bwMode="auto">
          <a:xfrm>
            <a:off x="723900" y="2146300"/>
            <a:ext cx="406400" cy="355600"/>
          </a:xfrm>
          <a:custGeom>
            <a:avLst/>
            <a:gdLst/>
            <a:ahLst/>
            <a:cxnLst/>
            <a:rect l="l" t="t" r="r" b="b"/>
            <a:pathLst>
              <a:path w="406400" h="355600" fill="norm" stroke="1" extrusionOk="0">
                <a:moveTo>
                  <a:pt x="50800" y="0"/>
                </a:moveTo>
                <a:lnTo>
                  <a:pt x="406400" y="0"/>
                </a:lnTo>
                <a:lnTo>
                  <a:pt x="4064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19719683" name="Text 8"/>
          <p:cNvSpPr/>
          <p:nvPr/>
        </p:nvSpPr>
        <p:spPr bwMode="auto">
          <a:xfrm>
            <a:off x="789914" y="2217409"/>
            <a:ext cx="3251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64 B</a:t>
            </a:r>
            <a:endParaRPr lang="en-US" sz="1200"/>
          </a:p>
        </p:txBody>
      </p:sp>
      <p:sp>
        <p:nvSpPr>
          <p:cNvPr id="1781734756" name="Shape 9"/>
          <p:cNvSpPr/>
          <p:nvPr/>
        </p:nvSpPr>
        <p:spPr bwMode="auto">
          <a:xfrm>
            <a:off x="11303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1933043" name="Text 10"/>
          <p:cNvSpPr/>
          <p:nvPr/>
        </p:nvSpPr>
        <p:spPr bwMode="auto">
          <a:xfrm>
            <a:off x="14589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1985916691" name="Text 11"/>
          <p:cNvSpPr/>
          <p:nvPr/>
        </p:nvSpPr>
        <p:spPr bwMode="auto">
          <a:xfrm>
            <a:off x="7239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64 byte liberi davanti ai dati</a:t>
            </a:r>
            <a:endParaRPr lang="en-US" sz="1200"/>
          </a:p>
        </p:txBody>
      </p:sp>
      <p:sp>
        <p:nvSpPr>
          <p:cNvPr id="477950799" name="Text 12"/>
          <p:cNvSpPr/>
          <p:nvPr/>
        </p:nvSpPr>
        <p:spPr bwMode="auto">
          <a:xfrm>
            <a:off x="7239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skb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è la struttura con cui Linux descrive un pacchetto.</a:t>
            </a:r>
            <a:endParaRPr lang="en-US" sz="1400"/>
          </a:p>
        </p:txBody>
      </p:sp>
      <p:pic>
        <p:nvPicPr>
          <p:cNvPr id="1913766995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051300" y="2439591"/>
            <a:ext cx="254000" cy="177800"/>
          </a:xfrm>
          <a:prstGeom prst="rect">
            <a:avLst/>
          </a:prstGeom>
        </p:spPr>
      </p:pic>
      <p:sp>
        <p:nvSpPr>
          <p:cNvPr id="1252417289" name="Shape 13"/>
          <p:cNvSpPr/>
          <p:nvPr/>
        </p:nvSpPr>
        <p:spPr bwMode="auto">
          <a:xfrm>
            <a:off x="4381500" y="1562100"/>
            <a:ext cx="3429000" cy="1932848"/>
          </a:xfrm>
          <a:prstGeom prst="roundRect">
            <a:avLst>
              <a:gd name="adj" fmla="val 657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79466632" name="Shape 14"/>
          <p:cNvSpPr/>
          <p:nvPr/>
        </p:nvSpPr>
        <p:spPr bwMode="auto">
          <a:xfrm>
            <a:off x="45593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24432" name="Text 15"/>
          <p:cNvSpPr/>
          <p:nvPr/>
        </p:nvSpPr>
        <p:spPr bwMode="auto">
          <a:xfrm>
            <a:off x="46919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409501141" name="Text 16"/>
          <p:cNvSpPr/>
          <p:nvPr/>
        </p:nvSpPr>
        <p:spPr bwMode="auto">
          <a:xfrm>
            <a:off x="5003800" y="1750089"/>
            <a:ext cx="198340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cavo virtuale la copia</a:t>
            </a:r>
            <a:endParaRPr lang="en-US" sz="1600"/>
          </a:p>
        </p:txBody>
      </p:sp>
      <p:sp>
        <p:nvSpPr>
          <p:cNvPr id="1306516448" name="Shape 17"/>
          <p:cNvSpPr/>
          <p:nvPr/>
        </p:nvSpPr>
        <p:spPr bwMode="auto">
          <a:xfrm>
            <a:off x="45593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2977721" name="Text 18"/>
          <p:cNvSpPr/>
          <p:nvPr/>
        </p:nvSpPr>
        <p:spPr bwMode="auto">
          <a:xfrm>
            <a:off x="5196284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1342221976" name="Shape 19"/>
          <p:cNvSpPr/>
          <p:nvPr/>
        </p:nvSpPr>
        <p:spPr bwMode="auto">
          <a:xfrm>
            <a:off x="61849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65825445" name="Text 20"/>
          <p:cNvSpPr/>
          <p:nvPr/>
        </p:nvSpPr>
        <p:spPr bwMode="auto">
          <a:xfrm>
            <a:off x="65135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1588738729" name="Text 21"/>
          <p:cNvSpPr/>
          <p:nvPr/>
        </p:nvSpPr>
        <p:spPr bwMode="auto">
          <a:xfrm>
            <a:off x="45593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XDP vuole 256 byte liberi davanti</a:t>
            </a:r>
            <a:endParaRPr lang="en-US" sz="1200"/>
          </a:p>
        </p:txBody>
      </p:sp>
      <p:sp>
        <p:nvSpPr>
          <p:cNvPr id="859665174" name="Text 22"/>
          <p:cNvSpPr/>
          <p:nvPr/>
        </p:nvSpPr>
        <p:spPr bwMode="auto">
          <a:xfrm>
            <a:off x="45593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pacchetto viene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copiato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in una pagina nuova prima di arrivare al nodo.</a:t>
            </a:r>
            <a:endParaRPr lang="en-US" sz="1400"/>
          </a:p>
        </p:txBody>
      </p:sp>
      <p:pic>
        <p:nvPicPr>
          <p:cNvPr id="173017013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886700" y="2439591"/>
            <a:ext cx="254000" cy="177800"/>
          </a:xfrm>
          <a:prstGeom prst="rect">
            <a:avLst/>
          </a:prstGeom>
        </p:spPr>
      </p:pic>
      <p:sp>
        <p:nvSpPr>
          <p:cNvPr id="1128232433" name="Shape 23"/>
          <p:cNvSpPr/>
          <p:nvPr/>
        </p:nvSpPr>
        <p:spPr bwMode="auto">
          <a:xfrm>
            <a:off x="8216900" y="1562100"/>
            <a:ext cx="3429000" cy="1932848"/>
          </a:xfrm>
          <a:prstGeom prst="roundRect">
            <a:avLst>
              <a:gd name="adj" fmla="val 657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979516" name="Shape 24"/>
          <p:cNvSpPr/>
          <p:nvPr/>
        </p:nvSpPr>
        <p:spPr bwMode="auto">
          <a:xfrm>
            <a:off x="83947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5044354" name="Text 25"/>
          <p:cNvSpPr/>
          <p:nvPr/>
        </p:nvSpPr>
        <p:spPr bwMode="auto">
          <a:xfrm>
            <a:off x="85273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809816113" name="Text 26"/>
          <p:cNvSpPr/>
          <p:nvPr/>
        </p:nvSpPr>
        <p:spPr bwMode="auto">
          <a:xfrm>
            <a:off x="8839200" y="1750089"/>
            <a:ext cx="152730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nodo lo elabora</a:t>
            </a:r>
            <a:endParaRPr lang="en-US" sz="1600"/>
          </a:p>
        </p:txBody>
      </p:sp>
      <p:sp>
        <p:nvSpPr>
          <p:cNvPr id="1310137450" name="Shape 27"/>
          <p:cNvSpPr/>
          <p:nvPr/>
        </p:nvSpPr>
        <p:spPr bwMode="auto">
          <a:xfrm>
            <a:off x="8404225" y="2155825"/>
            <a:ext cx="3054350" cy="336550"/>
          </a:xfrm>
          <a:prstGeom prst="roundRect">
            <a:avLst>
              <a:gd name="adj" fmla="val 19811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0522241" name="Text 28"/>
          <p:cNvSpPr/>
          <p:nvPr/>
        </p:nvSpPr>
        <p:spPr bwMode="auto">
          <a:xfrm>
            <a:off x="9451843" y="2208547"/>
            <a:ext cx="100984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 · CPU 6</a:t>
            </a:r>
            <a:endParaRPr lang="en-US" sz="1300"/>
          </a:p>
        </p:txBody>
      </p:sp>
      <p:sp>
        <p:nvSpPr>
          <p:cNvPr id="1984572334" name="Text 29"/>
          <p:cNvSpPr/>
          <p:nvPr/>
        </p:nvSpPr>
        <p:spPr bwMode="auto">
          <a:xfrm>
            <a:off x="83947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core del nodo paga la copia</a:t>
            </a:r>
            <a:endParaRPr lang="en-US" sz="1200"/>
          </a:p>
        </p:txBody>
      </p:sp>
      <p:sp>
        <p:nvSpPr>
          <p:cNvPr id="1561571217" name="Text 30"/>
          <p:cNvSpPr/>
          <p:nvPr/>
        </p:nvSpPr>
        <p:spPr bwMode="auto">
          <a:xfrm>
            <a:off x="83947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copia si paga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sul core del nodo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prima ancora che il programma parta.</a:t>
            </a:r>
            <a:endParaRPr lang="en-US" sz="1400"/>
          </a:p>
        </p:txBody>
      </p:sp>
      <p:sp>
        <p:nvSpPr>
          <p:cNvPr id="1340971783" name="Shape 31"/>
          <p:cNvSpPr/>
          <p:nvPr/>
        </p:nvSpPr>
        <p:spPr bwMode="auto">
          <a:xfrm>
            <a:off x="546100" y="4119896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86095720" name="Text 32"/>
          <p:cNvSpPr/>
          <p:nvPr/>
        </p:nvSpPr>
        <p:spPr bwMode="auto">
          <a:xfrm>
            <a:off x="723900" y="42621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≈ 5,7 M/s</a:t>
            </a:r>
            <a:endParaRPr lang="en-US" sz="3600"/>
          </a:p>
        </p:txBody>
      </p:sp>
      <p:sp>
        <p:nvSpPr>
          <p:cNvPr id="1186471348" name="Text 33"/>
          <p:cNvSpPr/>
          <p:nvPr/>
        </p:nvSpPr>
        <p:spPr bwMode="auto">
          <a:xfrm>
            <a:off x="3035300" y="42595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pacchetti al secondo offerti da tre thread su tre core</a:t>
            </a:r>
            <a:endParaRPr lang="en-US" sz="1400"/>
          </a:p>
        </p:txBody>
      </p:sp>
      <p:sp>
        <p:nvSpPr>
          <p:cNvPr id="986110613" name="Shape 34"/>
          <p:cNvSpPr/>
          <p:nvPr/>
        </p:nvSpPr>
        <p:spPr bwMode="auto">
          <a:xfrm>
            <a:off x="6172200" y="4119896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5577445" name="Text 35"/>
          <p:cNvSpPr/>
          <p:nvPr/>
        </p:nvSpPr>
        <p:spPr bwMode="auto">
          <a:xfrm>
            <a:off x="6350000" y="42621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≈ 4,6 M/s</a:t>
            </a:r>
            <a:endParaRPr lang="en-US" sz="3600"/>
          </a:p>
        </p:txBody>
      </p:sp>
      <p:sp>
        <p:nvSpPr>
          <p:cNvPr id="1580790289" name="Text 36"/>
          <p:cNvSpPr/>
          <p:nvPr/>
        </p:nvSpPr>
        <p:spPr bwMode="auto">
          <a:xfrm>
            <a:off x="8661400" y="42595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quanti ne accetta la coda del nodo: lo misura rxonly</a:t>
            </a:r>
            <a:endParaRPr lang="en-US" sz="1400"/>
          </a:p>
        </p:txBody>
      </p:sp>
      <p:sp>
        <p:nvSpPr>
          <p:cNvPr id="2058322482" name="Shape 3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9939003" name="Shape 3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03918535" name="Text 3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50797188" name="Text 4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copia è una proprietà del kernel,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della macchina virtuale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dual boot non la toglie. Su una scheda di rete con XDP nativo non esisterebbe.</a:t>
            </a:r>
            <a:endParaRPr lang="en-US" sz="1500"/>
          </a:p>
        </p:txBody>
      </p:sp>
      <p:sp>
        <p:nvSpPr>
          <p:cNvPr id="1422534430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baseline costa 302 ns per pacchetto con pktgen · M/s = milioni di pacchetti al secondo</a:t>
            </a:r>
            <a:endParaRPr lang="en-US" sz="1200"/>
          </a:p>
        </p:txBody>
      </p:sp>
      <p:sp>
        <p:nvSpPr>
          <p:cNvPr id="191610362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9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361526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602986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 DUE GENERATORI DI TRAFFICO · XDP_GEN</a:t>
            </a:r>
            <a:endParaRPr lang="en-US" sz="1200"/>
          </a:p>
        </p:txBody>
      </p:sp>
      <p:sp>
        <p:nvSpPr>
          <p:cNvPr id="1117737650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xdp_gen consegna pacchetti già nel formato di XDP</a:t>
            </a:r>
            <a:endParaRPr lang="en-US" sz="3000"/>
          </a:p>
        </p:txBody>
      </p:sp>
      <p:sp>
        <p:nvSpPr>
          <p:cNvPr id="2060501885" name="Shape 3"/>
          <p:cNvSpPr/>
          <p:nvPr/>
        </p:nvSpPr>
        <p:spPr bwMode="auto">
          <a:xfrm>
            <a:off x="5461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9162961" name="Shape 4"/>
          <p:cNvSpPr/>
          <p:nvPr/>
        </p:nvSpPr>
        <p:spPr bwMode="auto">
          <a:xfrm>
            <a:off x="7239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1312236" name="Text 5"/>
          <p:cNvSpPr/>
          <p:nvPr/>
        </p:nvSpPr>
        <p:spPr bwMode="auto">
          <a:xfrm>
            <a:off x="8565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009118715" name="Text 6"/>
          <p:cNvSpPr/>
          <p:nvPr/>
        </p:nvSpPr>
        <p:spPr bwMode="auto">
          <a:xfrm>
            <a:off x="1168400" y="1750089"/>
            <a:ext cx="186377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xdp_gen crea il frame</a:t>
            </a:r>
            <a:endParaRPr lang="en-US" sz="1600"/>
          </a:p>
        </p:txBody>
      </p:sp>
      <p:sp>
        <p:nvSpPr>
          <p:cNvPr id="1455199403" name="Shape 7"/>
          <p:cNvSpPr/>
          <p:nvPr/>
        </p:nvSpPr>
        <p:spPr bwMode="auto">
          <a:xfrm>
            <a:off x="7239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32695411" name="Text 8"/>
          <p:cNvSpPr/>
          <p:nvPr/>
        </p:nvSpPr>
        <p:spPr bwMode="auto">
          <a:xfrm>
            <a:off x="1360883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265969" name="Shape 9"/>
          <p:cNvSpPr/>
          <p:nvPr/>
        </p:nvSpPr>
        <p:spPr bwMode="auto">
          <a:xfrm>
            <a:off x="23495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2739379" name="Text 10"/>
          <p:cNvSpPr/>
          <p:nvPr/>
        </p:nvSpPr>
        <p:spPr bwMode="auto">
          <a:xfrm>
            <a:off x="26781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822319174" name="Shape 11"/>
          <p:cNvSpPr/>
          <p:nvPr/>
        </p:nvSpPr>
        <p:spPr bwMode="auto">
          <a:xfrm>
            <a:off x="723900" y="2578100"/>
            <a:ext cx="1732293" cy="289520"/>
          </a:xfrm>
          <a:prstGeom prst="roundRect">
            <a:avLst>
              <a:gd name="adj" fmla="val 21933"/>
            </a:avLst>
          </a:prstGeom>
          <a:solidFill>
            <a:srgbClr val="1E273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86817484" name="Text 12"/>
          <p:cNvSpPr/>
          <p:nvPr/>
        </p:nvSpPr>
        <p:spPr bwMode="auto">
          <a:xfrm>
            <a:off x="812800" y="2616200"/>
            <a:ext cx="16052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E8ECF1"/>
                </a:solidFill>
                <a:latin typeface="JetBrains Mono"/>
                <a:ea typeface="JetBrains Mono"/>
                <a:cs typeface="JetBrains Mono"/>
              </a:rPr>
              <a:t>BPF_PROG_TEST_RUN</a:t>
            </a:r>
            <a:endParaRPr lang="en-US" sz="1200"/>
          </a:p>
        </p:txBody>
      </p:sp>
      <p:sp>
        <p:nvSpPr>
          <p:cNvPr id="1445438294" name="Text 13"/>
          <p:cNvSpPr/>
          <p:nvPr/>
        </p:nvSpPr>
        <p:spPr bwMode="auto">
          <a:xfrm>
            <a:off x="2532393" y="2616200"/>
            <a:ext cx="7250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live frames</a:t>
            </a:r>
            <a:endParaRPr lang="en-US" sz="1200"/>
          </a:p>
        </p:txBody>
      </p:sp>
      <p:sp>
        <p:nvSpPr>
          <p:cNvPr id="712569637" name="Text 14"/>
          <p:cNvSpPr/>
          <p:nvPr/>
        </p:nvSpPr>
        <p:spPr bwMode="auto">
          <a:xfrm>
            <a:off x="723900" y="29438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frame grezzo, già con 256 byte liberi: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niente skb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pic>
        <p:nvPicPr>
          <p:cNvPr id="957839717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051300" y="2477691"/>
            <a:ext cx="254000" cy="177800"/>
          </a:xfrm>
          <a:prstGeom prst="rect">
            <a:avLst/>
          </a:prstGeom>
        </p:spPr>
      </p:pic>
      <p:sp>
        <p:nvSpPr>
          <p:cNvPr id="1296383969" name="Shape 15"/>
          <p:cNvSpPr/>
          <p:nvPr/>
        </p:nvSpPr>
        <p:spPr bwMode="auto">
          <a:xfrm>
            <a:off x="43815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0443295" name="Shape 16"/>
          <p:cNvSpPr/>
          <p:nvPr/>
        </p:nvSpPr>
        <p:spPr bwMode="auto">
          <a:xfrm>
            <a:off x="45593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5218749" name="Text 17"/>
          <p:cNvSpPr/>
          <p:nvPr/>
        </p:nvSpPr>
        <p:spPr bwMode="auto">
          <a:xfrm>
            <a:off x="46919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1455884360" name="Text 18"/>
          <p:cNvSpPr/>
          <p:nvPr/>
        </p:nvSpPr>
        <p:spPr bwMode="auto">
          <a:xfrm>
            <a:off x="5003800" y="1750089"/>
            <a:ext cx="201243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cavo virtuale lo passa</a:t>
            </a:r>
            <a:endParaRPr lang="en-US" sz="1600"/>
          </a:p>
        </p:txBody>
      </p:sp>
      <p:sp>
        <p:nvSpPr>
          <p:cNvPr id="38509721" name="Shape 19"/>
          <p:cNvSpPr/>
          <p:nvPr/>
        </p:nvSpPr>
        <p:spPr bwMode="auto">
          <a:xfrm>
            <a:off x="45593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4274757" name="Text 20"/>
          <p:cNvSpPr/>
          <p:nvPr/>
        </p:nvSpPr>
        <p:spPr bwMode="auto">
          <a:xfrm>
            <a:off x="5196284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691664466" name="Shape 21"/>
          <p:cNvSpPr/>
          <p:nvPr/>
        </p:nvSpPr>
        <p:spPr bwMode="auto">
          <a:xfrm>
            <a:off x="61849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35724347" name="Text 22"/>
          <p:cNvSpPr/>
          <p:nvPr/>
        </p:nvSpPr>
        <p:spPr bwMode="auto">
          <a:xfrm>
            <a:off x="65135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1163504650" name="Text 23"/>
          <p:cNvSpPr/>
          <p:nvPr/>
        </p:nvSpPr>
        <p:spPr bwMode="auto">
          <a:xfrm>
            <a:off x="45593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frame non cambia</a:t>
            </a:r>
            <a:endParaRPr lang="en-US" sz="1200"/>
          </a:p>
        </p:txBody>
      </p:sp>
      <p:sp>
        <p:nvSpPr>
          <p:cNvPr id="1228238246" name="Text 24"/>
          <p:cNvSpPr/>
          <p:nvPr/>
        </p:nvSpPr>
        <p:spPr bwMode="auto">
          <a:xfrm>
            <a:off x="45593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Nessuna copia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frame arriva al nodo com'è.</a:t>
            </a:r>
            <a:endParaRPr lang="en-US" sz="1400"/>
          </a:p>
        </p:txBody>
      </p:sp>
      <p:pic>
        <p:nvPicPr>
          <p:cNvPr id="23590651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886700" y="2477691"/>
            <a:ext cx="254000" cy="177800"/>
          </a:xfrm>
          <a:prstGeom prst="rect">
            <a:avLst/>
          </a:prstGeom>
        </p:spPr>
      </p:pic>
      <p:sp>
        <p:nvSpPr>
          <p:cNvPr id="947860522" name="Shape 25"/>
          <p:cNvSpPr/>
          <p:nvPr/>
        </p:nvSpPr>
        <p:spPr bwMode="auto">
          <a:xfrm>
            <a:off x="82169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6746541" name="Shape 26"/>
          <p:cNvSpPr/>
          <p:nvPr/>
        </p:nvSpPr>
        <p:spPr bwMode="auto">
          <a:xfrm>
            <a:off x="83947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3861884" name="Text 27"/>
          <p:cNvSpPr/>
          <p:nvPr/>
        </p:nvSpPr>
        <p:spPr bwMode="auto">
          <a:xfrm>
            <a:off x="85273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788901066" name="Text 28"/>
          <p:cNvSpPr/>
          <p:nvPr/>
        </p:nvSpPr>
        <p:spPr bwMode="auto">
          <a:xfrm>
            <a:off x="8839200" y="1750089"/>
            <a:ext cx="152730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nodo lo elabora</a:t>
            </a:r>
            <a:endParaRPr lang="en-US" sz="1600"/>
          </a:p>
        </p:txBody>
      </p:sp>
      <p:sp>
        <p:nvSpPr>
          <p:cNvPr id="1469038266" name="Shape 29"/>
          <p:cNvSpPr/>
          <p:nvPr/>
        </p:nvSpPr>
        <p:spPr bwMode="auto">
          <a:xfrm>
            <a:off x="8404225" y="2155825"/>
            <a:ext cx="3054350" cy="336550"/>
          </a:xfrm>
          <a:prstGeom prst="roundRect">
            <a:avLst>
              <a:gd name="adj" fmla="val 19811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57398044" name="Text 30"/>
          <p:cNvSpPr/>
          <p:nvPr/>
        </p:nvSpPr>
        <p:spPr bwMode="auto">
          <a:xfrm>
            <a:off x="9451843" y="2208547"/>
            <a:ext cx="100984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 · CPU 6</a:t>
            </a:r>
            <a:endParaRPr lang="en-US" sz="1300"/>
          </a:p>
        </p:txBody>
      </p:sp>
      <p:sp>
        <p:nvSpPr>
          <p:cNvPr id="1040673037" name="Text 31"/>
          <p:cNvSpPr/>
          <p:nvPr/>
        </p:nvSpPr>
        <p:spPr bwMode="auto">
          <a:xfrm>
            <a:off x="83947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senza il costo del generatore</a:t>
            </a:r>
            <a:endParaRPr lang="en-US" sz="1200"/>
          </a:p>
        </p:txBody>
      </p:sp>
      <p:sp>
        <p:nvSpPr>
          <p:cNvPr id="699686560" name="Text 32"/>
          <p:cNvSpPr/>
          <p:nvPr/>
        </p:nvSpPr>
        <p:spPr bwMode="auto">
          <a:xfrm>
            <a:off x="83947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Come da una scheda di rete con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XDP nativo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376690012" name="Shape 33"/>
          <p:cNvSpPr/>
          <p:nvPr/>
        </p:nvSpPr>
        <p:spPr bwMode="auto">
          <a:xfrm>
            <a:off x="546100" y="4157997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7118770" name="Text 34"/>
          <p:cNvSpPr/>
          <p:nvPr/>
        </p:nvSpPr>
        <p:spPr bwMode="auto">
          <a:xfrm>
            <a:off x="723900" y="43002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12–15</a:t>
            </a:r>
            <a:endParaRPr lang="en-US" sz="3600"/>
          </a:p>
        </p:txBody>
      </p:sp>
      <p:sp>
        <p:nvSpPr>
          <p:cNvPr id="953161277" name="Text 35"/>
          <p:cNvSpPr/>
          <p:nvPr/>
        </p:nvSpPr>
        <p:spPr bwMode="auto">
          <a:xfrm>
            <a:off x="3035300" y="42976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milioni di pacchetti al secondo offerti da un solo thread</a:t>
            </a:r>
            <a:endParaRPr lang="en-US" sz="1400"/>
          </a:p>
        </p:txBody>
      </p:sp>
      <p:sp>
        <p:nvSpPr>
          <p:cNvPr id="1880720026" name="Shape 36"/>
          <p:cNvSpPr/>
          <p:nvPr/>
        </p:nvSpPr>
        <p:spPr bwMode="auto">
          <a:xfrm>
            <a:off x="6172200" y="4157997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04498679" name="Text 37"/>
          <p:cNvSpPr/>
          <p:nvPr/>
        </p:nvSpPr>
        <p:spPr bwMode="auto">
          <a:xfrm>
            <a:off x="6350000" y="43002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292 ns</a:t>
            </a:r>
            <a:endParaRPr lang="en-US" sz="3600"/>
          </a:p>
        </p:txBody>
      </p:sp>
      <p:sp>
        <p:nvSpPr>
          <p:cNvPr id="1657468180" name="Text 38"/>
          <p:cNvSpPr/>
          <p:nvPr/>
        </p:nvSpPr>
        <p:spPr bwMode="auto">
          <a:xfrm>
            <a:off x="8661400" y="42976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 con xdp_gen, contro 529 ns con pktgen</a:t>
            </a:r>
            <a:endParaRPr lang="en-US" sz="1400"/>
          </a:p>
        </p:txBody>
      </p:sp>
      <p:sp>
        <p:nvSpPr>
          <p:cNvPr id="688378167" name="Shape 39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2604949" name="Shape 40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3670232" name="Text 41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06496708" name="Text 42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costo del generatore non passa più dal nodo. Si usa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thread per coda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più thread nella stessa coda si intralciano e rallentano anche il nodo (slide 13).</a:t>
            </a:r>
            <a:endParaRPr lang="en-US" sz="1500"/>
          </a:p>
        </p:txBody>
      </p:sp>
      <p:sp>
        <p:nvSpPr>
          <p:cNvPr id="1544636020" name="Text 4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Frame grezzi creati con BPF_PROG_TEST_RUN in modalità live frames · script ipa/test/xdp_gen.py</a:t>
            </a:r>
            <a:endParaRPr lang="en-US" sz="1200"/>
          </a:p>
        </p:txBody>
      </p:sp>
      <p:sp>
        <p:nvSpPr>
          <p:cNvPr id="1639922481" name="Text 4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92161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976765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 DUE GENERATORI DI TRAFFICO · A CONFRONTO</a:t>
            </a:r>
            <a:endParaRPr lang="en-US" sz="1200"/>
          </a:p>
        </p:txBody>
      </p:sp>
      <p:sp>
        <p:nvSpPr>
          <p:cNvPr id="7850610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generatori, per due scopi diversi</a:t>
            </a:r>
            <a:endParaRPr lang="en-US" sz="3000"/>
          </a:p>
        </p:txBody>
      </p:sp>
      <p:sp>
        <p:nvSpPr>
          <p:cNvPr id="28145589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Stesso nodo, stessi programmi: cambia solo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come arriva il pacchetto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graphicFrame>
        <p:nvGraphicFramePr>
          <p:cNvPr id="429695555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58800" y="2628640"/>
          <a:ext cx="11087100" cy="2315766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439161"/>
                <a:gridCol w="4323969"/>
                <a:gridCol w="4323969"/>
              </a:tblGrid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Confronto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pktgen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xdp_gen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Come crea il pacchetto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una skb, come lo stack di Linux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un frame grezzo, già nel formato di XDP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Copia prima del nodo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sì, a ogni pacchetto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no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Pacchetti offerti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≈ 5,7 M/s (il nodo ne accetta ≈ 4,6)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≈ 12–15 M/s (un thread)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Chi arriva al tetto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nessuna pipeline: tutte e cinque saturano sotto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baseline e rxonly; P1, P1.5, P2 e P3 saturano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Serve per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confrontare tutte le pipeline fra loro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misurare il costo di P1–P3 senza la copia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967962" name="Shape 4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5986332" name="Shape 5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1466169" name="Text 6"/>
          <p:cNvSpPr/>
          <p:nvPr/>
        </p:nvSpPr>
        <p:spPr bwMode="auto">
          <a:xfrm>
            <a:off x="819150" y="5890884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577693695" name="Text 7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Si usano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insieme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ognuno confronta le pipeline al suo interno, e le cifre dei due generatori non si mescolano.</a:t>
            </a:r>
            <a:endParaRPr lang="en-US" sz="1500"/>
          </a:p>
        </p:txBody>
      </p:sp>
      <p:sp>
        <p:nvSpPr>
          <p:cNvPr id="1815941717" name="Text 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tetto di pktgen è il tetto di ricezione del nodo (rxonly, 4,6 M/s) · M/s = milioni di pacchetti al secondo</a:t>
            </a:r>
            <a:endParaRPr lang="en-US" sz="1200"/>
          </a:p>
        </p:txBody>
      </p:sp>
      <p:sp>
        <p:nvSpPr>
          <p:cNvPr id="878478925" name="Text 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11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08339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797831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PKTGEN</a:t>
            </a:r>
            <a:endParaRPr lang="en-US" sz="1200"/>
          </a:p>
        </p:txBody>
      </p:sp>
      <p:sp>
        <p:nvSpPr>
          <p:cNvPr id="53632714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pktgen tutte le pipeline saturano e si ordinano</a:t>
            </a:r>
            <a:endParaRPr lang="en-US" sz="3000"/>
          </a:p>
        </p:txBody>
      </p:sp>
      <p:sp>
        <p:nvSpPr>
          <p:cNvPr id="893306286" name="Text 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 giri × 3 ripetizioni, 64 byte, 28 settembre · variazione fra i giri 0,2–0,9% · DUT a 3 494 MHz, nessun throttling</a:t>
            </a:r>
            <a:endParaRPr lang="en-US" sz="1200"/>
          </a:p>
        </p:txBody>
      </p:sp>
      <p:sp>
        <p:nvSpPr>
          <p:cNvPr id="1910261858" name="Text 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12</a:t>
            </a:r>
            <a:endParaRPr lang="en-US" sz="1200"/>
          </a:p>
        </p:txBody>
      </p:sp>
      <p:sp>
        <p:nvSpPr>
          <p:cNvPr id="861404636" name="Text 5"/>
          <p:cNvSpPr/>
          <p:nvPr/>
        </p:nvSpPr>
        <p:spPr bwMode="auto">
          <a:xfrm>
            <a:off x="2599816" y="1653579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 al secondo</a:t>
            </a:r>
            <a:endParaRPr lang="en-US" sz="1200"/>
          </a:p>
        </p:txBody>
      </p:sp>
      <p:sp>
        <p:nvSpPr>
          <p:cNvPr id="1109358125" name="Text 6"/>
          <p:cNvSpPr/>
          <p:nvPr/>
        </p:nvSpPr>
        <p:spPr bwMode="auto">
          <a:xfrm>
            <a:off x="6262497" y="1653579"/>
            <a:ext cx="1003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ns/pacchetto</a:t>
            </a:r>
            <a:endParaRPr lang="en-US" sz="1200"/>
          </a:p>
        </p:txBody>
      </p:sp>
      <p:sp>
        <p:nvSpPr>
          <p:cNvPr id="2072870536" name="Text 7"/>
          <p:cNvSpPr/>
          <p:nvPr/>
        </p:nvSpPr>
        <p:spPr bwMode="auto">
          <a:xfrm flipH="0" flipV="0">
            <a:off x="7551152" y="1650999"/>
            <a:ext cx="952499" cy="2387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sopra baseline</a:t>
            </a:r>
            <a:endParaRPr lang="en-US" sz="1200"/>
          </a:p>
        </p:txBody>
      </p:sp>
      <p:sp>
        <p:nvSpPr>
          <p:cNvPr id="445628566" name="Shape 8"/>
          <p:cNvSpPr/>
          <p:nvPr/>
        </p:nvSpPr>
        <p:spPr bwMode="auto">
          <a:xfrm>
            <a:off x="546100" y="20382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2535326" name="Text 9"/>
          <p:cNvSpPr/>
          <p:nvPr/>
        </p:nvSpPr>
        <p:spPr bwMode="auto">
          <a:xfrm>
            <a:off x="787400" y="1996418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610077576" name="Shape 10"/>
          <p:cNvSpPr/>
          <p:nvPr/>
        </p:nvSpPr>
        <p:spPr bwMode="auto">
          <a:xfrm>
            <a:off x="2514600" y="1917700"/>
            <a:ext cx="3073400" cy="279400"/>
          </a:xfrm>
          <a:prstGeom prst="roundRect">
            <a:avLst>
              <a:gd name="adj" fmla="val 13636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8618175" name="Text 11"/>
          <p:cNvSpPr/>
          <p:nvPr/>
        </p:nvSpPr>
        <p:spPr bwMode="auto">
          <a:xfrm>
            <a:off x="5664200" y="19367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4,61</a:t>
            </a:r>
            <a:endParaRPr lang="en-US" sz="1500"/>
          </a:p>
        </p:txBody>
      </p:sp>
      <p:sp>
        <p:nvSpPr>
          <p:cNvPr id="1413649438" name="Text 12"/>
          <p:cNvSpPr/>
          <p:nvPr/>
        </p:nvSpPr>
        <p:spPr bwMode="auto">
          <a:xfrm>
            <a:off x="6146800" y="19964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217 ns</a:t>
            </a:r>
            <a:endParaRPr lang="en-US" sz="1400"/>
          </a:p>
        </p:txBody>
      </p:sp>
      <p:sp>
        <p:nvSpPr>
          <p:cNvPr id="90523107" name="Text 13"/>
          <p:cNvSpPr/>
          <p:nvPr/>
        </p:nvSpPr>
        <p:spPr bwMode="auto">
          <a:xfrm>
            <a:off x="7226300" y="19964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1112953265" name="Shape 14"/>
          <p:cNvSpPr/>
          <p:nvPr/>
        </p:nvSpPr>
        <p:spPr bwMode="auto">
          <a:xfrm>
            <a:off x="546100" y="24954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23666099" name="Text 15"/>
          <p:cNvSpPr/>
          <p:nvPr/>
        </p:nvSpPr>
        <p:spPr bwMode="auto">
          <a:xfrm>
            <a:off x="787400" y="2453618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560298444" name="Shape 16"/>
          <p:cNvSpPr/>
          <p:nvPr/>
        </p:nvSpPr>
        <p:spPr bwMode="auto">
          <a:xfrm>
            <a:off x="2514600" y="2374900"/>
            <a:ext cx="2209800" cy="279400"/>
          </a:xfrm>
          <a:prstGeom prst="roundRect">
            <a:avLst>
              <a:gd name="adj" fmla="val 13636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72694460" name="Text 17"/>
          <p:cNvSpPr/>
          <p:nvPr/>
        </p:nvSpPr>
        <p:spPr bwMode="auto">
          <a:xfrm>
            <a:off x="4800600" y="23939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3,31</a:t>
            </a:r>
            <a:endParaRPr lang="en-US" sz="1500"/>
          </a:p>
        </p:txBody>
      </p:sp>
      <p:sp>
        <p:nvSpPr>
          <p:cNvPr id="960834326" name="Text 18"/>
          <p:cNvSpPr/>
          <p:nvPr/>
        </p:nvSpPr>
        <p:spPr bwMode="auto">
          <a:xfrm>
            <a:off x="6146800" y="24536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302 ns</a:t>
            </a:r>
            <a:endParaRPr lang="en-US" sz="1400"/>
          </a:p>
        </p:txBody>
      </p:sp>
      <p:sp>
        <p:nvSpPr>
          <p:cNvPr id="1798542865" name="Text 19"/>
          <p:cNvSpPr/>
          <p:nvPr/>
        </p:nvSpPr>
        <p:spPr bwMode="auto">
          <a:xfrm>
            <a:off x="7226300" y="24536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1304371161" name="Shape 20"/>
          <p:cNvSpPr/>
          <p:nvPr/>
        </p:nvSpPr>
        <p:spPr bwMode="auto">
          <a:xfrm>
            <a:off x="546100" y="29526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5013140" name="Text 21"/>
          <p:cNvSpPr/>
          <p:nvPr/>
        </p:nvSpPr>
        <p:spPr bwMode="auto">
          <a:xfrm>
            <a:off x="787400" y="2910818"/>
            <a:ext cx="75598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 statica</a:t>
            </a:r>
            <a:endParaRPr lang="en-US" sz="1400"/>
          </a:p>
        </p:txBody>
      </p:sp>
      <p:sp>
        <p:nvSpPr>
          <p:cNvPr id="1482702441" name="Shape 22"/>
          <p:cNvSpPr/>
          <p:nvPr/>
        </p:nvSpPr>
        <p:spPr bwMode="auto">
          <a:xfrm>
            <a:off x="2514600" y="2832100"/>
            <a:ext cx="1962150" cy="279400"/>
          </a:xfrm>
          <a:prstGeom prst="roundRect">
            <a:avLst>
              <a:gd name="adj" fmla="val 13636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00272069" name="Text 23"/>
          <p:cNvSpPr/>
          <p:nvPr/>
        </p:nvSpPr>
        <p:spPr bwMode="auto">
          <a:xfrm>
            <a:off x="4552950" y="28511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2,94</a:t>
            </a:r>
            <a:endParaRPr lang="en-US" sz="1500"/>
          </a:p>
        </p:txBody>
      </p:sp>
      <p:sp>
        <p:nvSpPr>
          <p:cNvPr id="1020742350" name="Text 24"/>
          <p:cNvSpPr/>
          <p:nvPr/>
        </p:nvSpPr>
        <p:spPr bwMode="auto">
          <a:xfrm>
            <a:off x="6146800" y="29108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340 ns</a:t>
            </a:r>
            <a:endParaRPr lang="en-US" sz="1400"/>
          </a:p>
        </p:txBody>
      </p:sp>
      <p:sp>
        <p:nvSpPr>
          <p:cNvPr id="817162400" name="Text 25"/>
          <p:cNvSpPr/>
          <p:nvPr/>
        </p:nvSpPr>
        <p:spPr bwMode="auto">
          <a:xfrm>
            <a:off x="7226300" y="29108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+38 ns</a:t>
            </a:r>
            <a:endParaRPr lang="en-US" sz="1400"/>
          </a:p>
        </p:txBody>
      </p:sp>
      <p:sp>
        <p:nvSpPr>
          <p:cNvPr id="758748805" name="Shape 26"/>
          <p:cNvSpPr/>
          <p:nvPr/>
        </p:nvSpPr>
        <p:spPr bwMode="auto">
          <a:xfrm>
            <a:off x="546100" y="3409887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8970033" name="Text 27"/>
          <p:cNvSpPr/>
          <p:nvPr/>
        </p:nvSpPr>
        <p:spPr bwMode="auto">
          <a:xfrm>
            <a:off x="787400" y="3368018"/>
            <a:ext cx="120246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 hardcoded</a:t>
            </a:r>
            <a:endParaRPr lang="en-US" sz="1400"/>
          </a:p>
        </p:txBody>
      </p:sp>
      <p:sp>
        <p:nvSpPr>
          <p:cNvPr id="2071565254" name="Shape 28"/>
          <p:cNvSpPr/>
          <p:nvPr/>
        </p:nvSpPr>
        <p:spPr bwMode="auto">
          <a:xfrm>
            <a:off x="2514600" y="3289300"/>
            <a:ext cx="1873250" cy="279400"/>
          </a:xfrm>
          <a:prstGeom prst="roundRect">
            <a:avLst>
              <a:gd name="adj" fmla="val 13636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0906181" name="Text 29"/>
          <p:cNvSpPr/>
          <p:nvPr/>
        </p:nvSpPr>
        <p:spPr bwMode="auto">
          <a:xfrm>
            <a:off x="4464050" y="33083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2,81</a:t>
            </a:r>
            <a:endParaRPr lang="en-US" sz="1500"/>
          </a:p>
        </p:txBody>
      </p:sp>
      <p:sp>
        <p:nvSpPr>
          <p:cNvPr id="494621169" name="Text 30"/>
          <p:cNvSpPr/>
          <p:nvPr/>
        </p:nvSpPr>
        <p:spPr bwMode="auto">
          <a:xfrm>
            <a:off x="6146800" y="33680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356 ns</a:t>
            </a:r>
            <a:endParaRPr lang="en-US" sz="1400"/>
          </a:p>
        </p:txBody>
      </p:sp>
      <p:sp>
        <p:nvSpPr>
          <p:cNvPr id="1176981325" name="Text 31"/>
          <p:cNvSpPr/>
          <p:nvPr/>
        </p:nvSpPr>
        <p:spPr bwMode="auto">
          <a:xfrm>
            <a:off x="7226300" y="33680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+53 ns</a:t>
            </a:r>
            <a:endParaRPr lang="en-US" sz="1400"/>
          </a:p>
        </p:txBody>
      </p:sp>
      <p:sp>
        <p:nvSpPr>
          <p:cNvPr id="411254010" name="Shape 32"/>
          <p:cNvSpPr/>
          <p:nvPr/>
        </p:nvSpPr>
        <p:spPr bwMode="auto">
          <a:xfrm>
            <a:off x="546100" y="38670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6256395" name="Text 33"/>
          <p:cNvSpPr/>
          <p:nvPr/>
        </p:nvSpPr>
        <p:spPr bwMode="auto">
          <a:xfrm>
            <a:off x="787400" y="3825218"/>
            <a:ext cx="943569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 template</a:t>
            </a:r>
            <a:endParaRPr lang="en-US" sz="1400"/>
          </a:p>
        </p:txBody>
      </p:sp>
      <p:sp>
        <p:nvSpPr>
          <p:cNvPr id="868211761" name="Shape 34"/>
          <p:cNvSpPr/>
          <p:nvPr/>
        </p:nvSpPr>
        <p:spPr bwMode="auto">
          <a:xfrm>
            <a:off x="2514600" y="3746500"/>
            <a:ext cx="1257300" cy="279400"/>
          </a:xfrm>
          <a:prstGeom prst="roundRect">
            <a:avLst>
              <a:gd name="adj" fmla="val 13636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6941863" name="Text 35"/>
          <p:cNvSpPr/>
          <p:nvPr/>
        </p:nvSpPr>
        <p:spPr bwMode="auto">
          <a:xfrm>
            <a:off x="3848100" y="37655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1,89</a:t>
            </a:r>
            <a:endParaRPr lang="en-US" sz="1500"/>
          </a:p>
        </p:txBody>
      </p:sp>
      <p:sp>
        <p:nvSpPr>
          <p:cNvPr id="1001429822" name="Text 36"/>
          <p:cNvSpPr/>
          <p:nvPr/>
        </p:nvSpPr>
        <p:spPr bwMode="auto">
          <a:xfrm>
            <a:off x="6146800" y="38252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529 ns</a:t>
            </a:r>
            <a:endParaRPr lang="en-US" sz="1400"/>
          </a:p>
        </p:txBody>
      </p:sp>
      <p:sp>
        <p:nvSpPr>
          <p:cNvPr id="520676296" name="Text 37"/>
          <p:cNvSpPr/>
          <p:nvPr/>
        </p:nvSpPr>
        <p:spPr bwMode="auto">
          <a:xfrm>
            <a:off x="7226300" y="38252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+226 ns</a:t>
            </a:r>
            <a:endParaRPr lang="en-US" sz="1400"/>
          </a:p>
        </p:txBody>
      </p:sp>
      <p:sp>
        <p:nvSpPr>
          <p:cNvPr id="909484785" name="Shape 38"/>
          <p:cNvSpPr/>
          <p:nvPr/>
        </p:nvSpPr>
        <p:spPr bwMode="auto">
          <a:xfrm>
            <a:off x="546100" y="43242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1509049" name="Text 39"/>
          <p:cNvSpPr/>
          <p:nvPr/>
        </p:nvSpPr>
        <p:spPr bwMode="auto">
          <a:xfrm>
            <a:off x="787400" y="4282418"/>
            <a:ext cx="90143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 modular</a:t>
            </a:r>
            <a:endParaRPr lang="en-US" sz="1400"/>
          </a:p>
        </p:txBody>
      </p:sp>
      <p:sp>
        <p:nvSpPr>
          <p:cNvPr id="2142854648" name="Shape 40"/>
          <p:cNvSpPr/>
          <p:nvPr/>
        </p:nvSpPr>
        <p:spPr bwMode="auto">
          <a:xfrm>
            <a:off x="2514600" y="4203700"/>
            <a:ext cx="1003300" cy="279400"/>
          </a:xfrm>
          <a:prstGeom prst="roundRect">
            <a:avLst>
              <a:gd name="adj" fmla="val 13636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0568141" name="Text 41"/>
          <p:cNvSpPr/>
          <p:nvPr/>
        </p:nvSpPr>
        <p:spPr bwMode="auto">
          <a:xfrm>
            <a:off x="3594100" y="42227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1,50</a:t>
            </a:r>
            <a:endParaRPr lang="en-US" sz="1500"/>
          </a:p>
        </p:txBody>
      </p:sp>
      <p:sp>
        <p:nvSpPr>
          <p:cNvPr id="1067422778" name="Text 42"/>
          <p:cNvSpPr/>
          <p:nvPr/>
        </p:nvSpPr>
        <p:spPr bwMode="auto">
          <a:xfrm>
            <a:off x="6146800" y="42824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666 ns</a:t>
            </a:r>
            <a:endParaRPr lang="en-US" sz="1400"/>
          </a:p>
        </p:txBody>
      </p:sp>
      <p:sp>
        <p:nvSpPr>
          <p:cNvPr id="523887834" name="Text 43"/>
          <p:cNvSpPr/>
          <p:nvPr/>
        </p:nvSpPr>
        <p:spPr bwMode="auto">
          <a:xfrm>
            <a:off x="7226300" y="42824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+364 ns</a:t>
            </a:r>
            <a:endParaRPr lang="en-US" sz="1400"/>
          </a:p>
        </p:txBody>
      </p:sp>
      <p:sp>
        <p:nvSpPr>
          <p:cNvPr id="774944657" name="Shape 44"/>
          <p:cNvSpPr/>
          <p:nvPr/>
        </p:nvSpPr>
        <p:spPr bwMode="auto">
          <a:xfrm>
            <a:off x="8597900" y="1562100"/>
            <a:ext cx="3048000" cy="1479550"/>
          </a:xfrm>
          <a:prstGeom prst="roundRect">
            <a:avLst>
              <a:gd name="adj" fmla="val 858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4408267" name="Shape 45"/>
          <p:cNvSpPr/>
          <p:nvPr/>
        </p:nvSpPr>
        <p:spPr bwMode="auto">
          <a:xfrm>
            <a:off x="8597900" y="1562100"/>
            <a:ext cx="3048000" cy="88900"/>
          </a:xfrm>
          <a:custGeom>
            <a:avLst/>
            <a:gdLst/>
            <a:ahLst/>
            <a:cxnLst/>
            <a:rect l="l" t="t" r="r" b="b"/>
            <a:pathLst>
              <a:path w="304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921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5921690" name="Text 46"/>
          <p:cNvSpPr/>
          <p:nvPr/>
        </p:nvSpPr>
        <p:spPr bwMode="auto">
          <a:xfrm>
            <a:off x="8775700" y="1765300"/>
            <a:ext cx="2773172" cy="282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74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Sotto capacità, zero perdite</a:t>
            </a:r>
            <a:endParaRPr lang="en-US" sz="1500"/>
          </a:p>
        </p:txBody>
      </p:sp>
      <p:sp>
        <p:nvSpPr>
          <p:cNvPr id="1990490635" name="Text 47"/>
          <p:cNvSpPr/>
          <p:nvPr/>
        </p:nvSpPr>
        <p:spPr bwMode="auto">
          <a:xfrm>
            <a:off x="8775700" y="2073542"/>
            <a:ext cx="2773172" cy="853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7"/>
              </a:lnSpc>
              <a:buNone/>
              <a:defRPr/>
            </a:pPr>
            <a:r>
              <a:rPr lang="en-US" sz="125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1,37 M/s offerti (il 91% di quanto regge la più lenta) nessuna pipeline respinge un pacchetto: perdita totale ≤ 0,02%.</a:t>
            </a:r>
            <a:endParaRPr lang="en-US" sz="1250"/>
          </a:p>
        </p:txBody>
      </p:sp>
      <p:sp>
        <p:nvSpPr>
          <p:cNvPr id="748434634" name="Shape 48"/>
          <p:cNvSpPr/>
          <p:nvPr/>
        </p:nvSpPr>
        <p:spPr bwMode="auto">
          <a:xfrm>
            <a:off x="8597900" y="3130550"/>
            <a:ext cx="3048000" cy="1479550"/>
          </a:xfrm>
          <a:prstGeom prst="roundRect">
            <a:avLst>
              <a:gd name="adj" fmla="val 858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6727113" name="Shape 49"/>
          <p:cNvSpPr/>
          <p:nvPr/>
        </p:nvSpPr>
        <p:spPr bwMode="auto">
          <a:xfrm>
            <a:off x="8597900" y="3130550"/>
            <a:ext cx="3048000" cy="88900"/>
          </a:xfrm>
          <a:custGeom>
            <a:avLst/>
            <a:gdLst/>
            <a:ahLst/>
            <a:cxnLst/>
            <a:rect l="l" t="t" r="r" b="b"/>
            <a:pathLst>
              <a:path w="304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921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1311119" name="Text 50"/>
          <p:cNvSpPr/>
          <p:nvPr/>
        </p:nvSpPr>
        <p:spPr bwMode="auto">
          <a:xfrm>
            <a:off x="8775700" y="3333750"/>
            <a:ext cx="277317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P1 e P1.5 si separano</a:t>
            </a:r>
            <a:endParaRPr lang="en-US" sz="1500"/>
          </a:p>
        </p:txBody>
      </p:sp>
      <p:sp>
        <p:nvSpPr>
          <p:cNvPr id="967400100" name="Text 51"/>
          <p:cNvSpPr/>
          <p:nvPr/>
        </p:nvSpPr>
        <p:spPr bwMode="auto">
          <a:xfrm>
            <a:off x="8775700" y="3651250"/>
            <a:ext cx="2773172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2,94 contro 2,81 M/s, con variazioni dello 0,5 e 0,6%: congelare il nodo vale circa 15 ns per pacchetto.</a:t>
            </a:r>
            <a:endParaRPr lang="en-US" sz="1300"/>
          </a:p>
        </p:txBody>
      </p:sp>
      <p:sp>
        <p:nvSpPr>
          <p:cNvPr id="1123068523" name="Shape 52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1332435" name="Shape 53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27862420" name="Text 54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695097562" name="Text 55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Sopra la baseline, la rete neurale costa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~40–50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i pesi compilati (P1, P1.5),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~220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la forma letta da tabella (P2),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~370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anche la profondità (P3).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216989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912132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XDP_GEN</a:t>
            </a:r>
            <a:endParaRPr lang="en-US" sz="1200"/>
          </a:p>
        </p:txBody>
      </p:sp>
      <p:sp>
        <p:nvSpPr>
          <p:cNvPr id="184938454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xdp_gen, un thread per coda: il costo del nodo</a:t>
            </a:r>
            <a:endParaRPr lang="en-US" sz="3000"/>
          </a:p>
        </p:txBody>
      </p:sp>
      <p:sp>
        <p:nvSpPr>
          <p:cNvPr id="1825182562" name="Text 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 thread, 1 core, uscita separata · 3 giri, 64 byte · costo = tempo di CPU del nodo per pacchetto · a 512 e 1 514 byte P2 e P3 restano entro il 3%</a:t>
            </a:r>
            <a:endParaRPr lang="en-US" sz="1200"/>
          </a:p>
        </p:txBody>
      </p:sp>
      <p:sp>
        <p:nvSpPr>
          <p:cNvPr id="237250594" name="Text 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13</a:t>
            </a:r>
            <a:endParaRPr lang="en-US" sz="1200"/>
          </a:p>
        </p:txBody>
      </p:sp>
      <p:sp>
        <p:nvSpPr>
          <p:cNvPr id="434538022" name="Text 5"/>
          <p:cNvSpPr/>
          <p:nvPr/>
        </p:nvSpPr>
        <p:spPr bwMode="auto">
          <a:xfrm>
            <a:off x="546100" y="1742480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elaborati</a:t>
            </a:r>
            <a:endParaRPr lang="en-US" sz="1200"/>
          </a:p>
        </p:txBody>
      </p:sp>
      <p:sp>
        <p:nvSpPr>
          <p:cNvPr id="1870652887" name="Shape 6"/>
          <p:cNvSpPr/>
          <p:nvPr/>
        </p:nvSpPr>
        <p:spPr bwMode="auto">
          <a:xfrm>
            <a:off x="546100" y="21271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453186" name="Text 7"/>
          <p:cNvSpPr/>
          <p:nvPr/>
        </p:nvSpPr>
        <p:spPr bwMode="auto">
          <a:xfrm>
            <a:off x="787400" y="2085318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683660798" name="Shape 8"/>
          <p:cNvSpPr/>
          <p:nvPr/>
        </p:nvSpPr>
        <p:spPr bwMode="auto">
          <a:xfrm>
            <a:off x="1943100" y="2006600"/>
            <a:ext cx="3284700" cy="279400"/>
          </a:xfrm>
          <a:prstGeom prst="roundRect">
            <a:avLst>
              <a:gd name="adj" fmla="val 13636"/>
            </a:avLst>
          </a:prstGeom>
          <a:solidFill>
            <a:srgbClr val="6B7C93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8320308" name="Text 9"/>
          <p:cNvSpPr/>
          <p:nvPr/>
        </p:nvSpPr>
        <p:spPr bwMode="auto">
          <a:xfrm>
            <a:off x="5306438" y="20256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14,96</a:t>
            </a:r>
            <a:endParaRPr lang="en-US" sz="1500"/>
          </a:p>
        </p:txBody>
      </p:sp>
      <p:sp>
        <p:nvSpPr>
          <p:cNvPr id="1384641601" name="Text 10"/>
          <p:cNvSpPr/>
          <p:nvPr/>
        </p:nvSpPr>
        <p:spPr bwMode="auto">
          <a:xfrm>
            <a:off x="6083300" y="20853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≈ 40 ns</a:t>
            </a:r>
            <a:endParaRPr lang="en-US" sz="1400"/>
          </a:p>
        </p:txBody>
      </p:sp>
      <p:sp>
        <p:nvSpPr>
          <p:cNvPr id="163845684" name="Text 11"/>
          <p:cNvSpPr/>
          <p:nvPr/>
        </p:nvSpPr>
        <p:spPr bwMode="auto">
          <a:xfrm>
            <a:off x="7213600" y="20942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non satura</a:t>
            </a:r>
            <a:endParaRPr lang="en-US" sz="1300"/>
          </a:p>
        </p:txBody>
      </p:sp>
      <p:sp>
        <p:nvSpPr>
          <p:cNvPr id="2123053824" name="Shape 12"/>
          <p:cNvSpPr/>
          <p:nvPr/>
        </p:nvSpPr>
        <p:spPr bwMode="auto">
          <a:xfrm>
            <a:off x="546100" y="25843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7747571" name="Text 13"/>
          <p:cNvSpPr/>
          <p:nvPr/>
        </p:nvSpPr>
        <p:spPr bwMode="auto">
          <a:xfrm>
            <a:off x="787400" y="2542518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251355615" name="Shape 14"/>
          <p:cNvSpPr/>
          <p:nvPr/>
        </p:nvSpPr>
        <p:spPr bwMode="auto">
          <a:xfrm>
            <a:off x="1943100" y="2463800"/>
            <a:ext cx="2724807" cy="279400"/>
          </a:xfrm>
          <a:prstGeom prst="roundRect">
            <a:avLst>
              <a:gd name="adj" fmla="val 13636"/>
            </a:avLst>
          </a:prstGeom>
          <a:solidFill>
            <a:srgbClr val="8794A6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27712767" name="Text 15"/>
          <p:cNvSpPr/>
          <p:nvPr/>
        </p:nvSpPr>
        <p:spPr bwMode="auto">
          <a:xfrm>
            <a:off x="4746545" y="24828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12,41</a:t>
            </a:r>
            <a:endParaRPr lang="en-US" sz="1500"/>
          </a:p>
        </p:txBody>
      </p:sp>
      <p:sp>
        <p:nvSpPr>
          <p:cNvPr id="1753744008" name="Text 16"/>
          <p:cNvSpPr/>
          <p:nvPr/>
        </p:nvSpPr>
        <p:spPr bwMode="auto">
          <a:xfrm>
            <a:off x="6083300" y="25425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≈ 65 ns</a:t>
            </a:r>
            <a:endParaRPr lang="en-US" sz="1400"/>
          </a:p>
        </p:txBody>
      </p:sp>
      <p:sp>
        <p:nvSpPr>
          <p:cNvPr id="1365550929" name="Text 17"/>
          <p:cNvSpPr/>
          <p:nvPr/>
        </p:nvSpPr>
        <p:spPr bwMode="auto">
          <a:xfrm>
            <a:off x="7213600" y="25514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non satura</a:t>
            </a:r>
            <a:endParaRPr lang="en-US" sz="1300"/>
          </a:p>
        </p:txBody>
      </p:sp>
      <p:sp>
        <p:nvSpPr>
          <p:cNvPr id="1441226028" name="Shape 18"/>
          <p:cNvSpPr/>
          <p:nvPr/>
        </p:nvSpPr>
        <p:spPr bwMode="auto">
          <a:xfrm>
            <a:off x="546100" y="30415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999952" name="Text 19"/>
          <p:cNvSpPr/>
          <p:nvPr/>
        </p:nvSpPr>
        <p:spPr bwMode="auto">
          <a:xfrm>
            <a:off x="787400" y="2999718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52909557" name="Shape 20"/>
          <p:cNvSpPr/>
          <p:nvPr/>
        </p:nvSpPr>
        <p:spPr bwMode="auto">
          <a:xfrm>
            <a:off x="1943100" y="2921000"/>
            <a:ext cx="1666502" cy="279400"/>
          </a:xfrm>
          <a:prstGeom prst="roundRect">
            <a:avLst>
              <a:gd name="adj" fmla="val 13636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2138541" name="Text 21"/>
          <p:cNvSpPr/>
          <p:nvPr/>
        </p:nvSpPr>
        <p:spPr bwMode="auto">
          <a:xfrm>
            <a:off x="3688240" y="29400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7,59</a:t>
            </a:r>
            <a:endParaRPr lang="en-US" sz="1500"/>
          </a:p>
        </p:txBody>
      </p:sp>
      <p:sp>
        <p:nvSpPr>
          <p:cNvPr id="1681999173" name="Text 22"/>
          <p:cNvSpPr/>
          <p:nvPr/>
        </p:nvSpPr>
        <p:spPr bwMode="auto">
          <a:xfrm>
            <a:off x="6083300" y="29997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117 ns</a:t>
            </a:r>
            <a:endParaRPr lang="en-US" sz="1400"/>
          </a:p>
        </p:txBody>
      </p:sp>
      <p:sp>
        <p:nvSpPr>
          <p:cNvPr id="2039033020" name="Text 23"/>
          <p:cNvSpPr/>
          <p:nvPr/>
        </p:nvSpPr>
        <p:spPr bwMode="auto">
          <a:xfrm>
            <a:off x="7213600" y="30086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costo del nodo</a:t>
            </a:r>
            <a:endParaRPr lang="en-US" sz="1300"/>
          </a:p>
        </p:txBody>
      </p:sp>
      <p:sp>
        <p:nvSpPr>
          <p:cNvPr id="138194688" name="Shape 24"/>
          <p:cNvSpPr/>
          <p:nvPr/>
        </p:nvSpPr>
        <p:spPr bwMode="auto">
          <a:xfrm>
            <a:off x="546100" y="34987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3038951" name="Text 25"/>
          <p:cNvSpPr/>
          <p:nvPr/>
        </p:nvSpPr>
        <p:spPr bwMode="auto">
          <a:xfrm>
            <a:off x="787400" y="3456918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186288367" name="Shape 26"/>
          <p:cNvSpPr/>
          <p:nvPr/>
        </p:nvSpPr>
        <p:spPr bwMode="auto">
          <a:xfrm>
            <a:off x="1943100" y="3378200"/>
            <a:ext cx="1554523" cy="279400"/>
          </a:xfrm>
          <a:prstGeom prst="roundRect">
            <a:avLst>
              <a:gd name="adj" fmla="val 13636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2400810" name="Text 27"/>
          <p:cNvSpPr/>
          <p:nvPr/>
        </p:nvSpPr>
        <p:spPr bwMode="auto">
          <a:xfrm>
            <a:off x="3576261" y="33972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7,08</a:t>
            </a:r>
            <a:endParaRPr lang="en-US" sz="1500"/>
          </a:p>
        </p:txBody>
      </p:sp>
      <p:sp>
        <p:nvSpPr>
          <p:cNvPr id="2031653900" name="Text 28"/>
          <p:cNvSpPr/>
          <p:nvPr/>
        </p:nvSpPr>
        <p:spPr bwMode="auto">
          <a:xfrm>
            <a:off x="6083300" y="34569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124 ns</a:t>
            </a:r>
            <a:endParaRPr lang="en-US" sz="1400"/>
          </a:p>
        </p:txBody>
      </p:sp>
      <p:sp>
        <p:nvSpPr>
          <p:cNvPr id="1047577687" name="Text 29"/>
          <p:cNvSpPr/>
          <p:nvPr/>
        </p:nvSpPr>
        <p:spPr bwMode="auto">
          <a:xfrm>
            <a:off x="7213600" y="34658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costo del nodo</a:t>
            </a:r>
            <a:endParaRPr lang="en-US" sz="1300"/>
          </a:p>
        </p:txBody>
      </p:sp>
      <p:sp>
        <p:nvSpPr>
          <p:cNvPr id="424049343" name="Shape 30"/>
          <p:cNvSpPr/>
          <p:nvPr/>
        </p:nvSpPr>
        <p:spPr bwMode="auto">
          <a:xfrm>
            <a:off x="546100" y="39559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33193574" name="Text 31"/>
          <p:cNvSpPr/>
          <p:nvPr/>
        </p:nvSpPr>
        <p:spPr bwMode="auto">
          <a:xfrm>
            <a:off x="787400" y="3914118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875243096" name="Shape 32"/>
          <p:cNvSpPr/>
          <p:nvPr/>
        </p:nvSpPr>
        <p:spPr bwMode="auto">
          <a:xfrm>
            <a:off x="1943100" y="3835400"/>
            <a:ext cx="652109" cy="279400"/>
          </a:xfrm>
          <a:prstGeom prst="roundRect">
            <a:avLst>
              <a:gd name="adj" fmla="val 13636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95745612" name="Text 33"/>
          <p:cNvSpPr/>
          <p:nvPr/>
        </p:nvSpPr>
        <p:spPr bwMode="auto">
          <a:xfrm>
            <a:off x="2673847" y="38544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2,97</a:t>
            </a:r>
            <a:endParaRPr lang="en-US" sz="1500"/>
          </a:p>
        </p:txBody>
      </p:sp>
      <p:sp>
        <p:nvSpPr>
          <p:cNvPr id="380081980" name="Text 34"/>
          <p:cNvSpPr/>
          <p:nvPr/>
        </p:nvSpPr>
        <p:spPr bwMode="auto">
          <a:xfrm>
            <a:off x="6083300" y="39141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292 ns</a:t>
            </a:r>
            <a:endParaRPr lang="en-US" sz="1400"/>
          </a:p>
        </p:txBody>
      </p:sp>
      <p:sp>
        <p:nvSpPr>
          <p:cNvPr id="917303359" name="Text 35"/>
          <p:cNvSpPr/>
          <p:nvPr/>
        </p:nvSpPr>
        <p:spPr bwMode="auto">
          <a:xfrm>
            <a:off x="7213600" y="39230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costo del nodo</a:t>
            </a:r>
            <a:endParaRPr lang="en-US" sz="1300"/>
          </a:p>
        </p:txBody>
      </p:sp>
      <p:sp>
        <p:nvSpPr>
          <p:cNvPr id="713967221" name="Shape 36"/>
          <p:cNvSpPr/>
          <p:nvPr/>
        </p:nvSpPr>
        <p:spPr bwMode="auto">
          <a:xfrm>
            <a:off x="546100" y="44131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60584901" name="Text 37"/>
          <p:cNvSpPr/>
          <p:nvPr/>
        </p:nvSpPr>
        <p:spPr bwMode="auto">
          <a:xfrm>
            <a:off x="787400" y="4371318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160406558" name="Shape 38"/>
          <p:cNvSpPr/>
          <p:nvPr/>
        </p:nvSpPr>
        <p:spPr bwMode="auto">
          <a:xfrm>
            <a:off x="1943100" y="4292600"/>
            <a:ext cx="441326" cy="279400"/>
          </a:xfrm>
          <a:prstGeom prst="roundRect">
            <a:avLst>
              <a:gd name="adj" fmla="val 13636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6993320" name="Text 39"/>
          <p:cNvSpPr/>
          <p:nvPr/>
        </p:nvSpPr>
        <p:spPr bwMode="auto">
          <a:xfrm>
            <a:off x="2463064" y="43116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2,01</a:t>
            </a:r>
            <a:endParaRPr lang="en-US" sz="1500"/>
          </a:p>
        </p:txBody>
      </p:sp>
      <p:sp>
        <p:nvSpPr>
          <p:cNvPr id="843863443" name="Text 40"/>
          <p:cNvSpPr/>
          <p:nvPr/>
        </p:nvSpPr>
        <p:spPr bwMode="auto">
          <a:xfrm>
            <a:off x="6083300" y="43713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432 ns</a:t>
            </a:r>
            <a:endParaRPr lang="en-US" sz="1400"/>
          </a:p>
        </p:txBody>
      </p:sp>
      <p:sp>
        <p:nvSpPr>
          <p:cNvPr id="1586038403" name="Text 41"/>
          <p:cNvSpPr/>
          <p:nvPr/>
        </p:nvSpPr>
        <p:spPr bwMode="auto">
          <a:xfrm>
            <a:off x="7213600" y="43802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costo del nodo</a:t>
            </a:r>
            <a:endParaRPr lang="en-US" sz="1300"/>
          </a:p>
        </p:txBody>
      </p:sp>
      <p:sp>
        <p:nvSpPr>
          <p:cNvPr id="1584697841" name="Shape 43"/>
          <p:cNvSpPr/>
          <p:nvPr/>
        </p:nvSpPr>
        <p:spPr bwMode="auto">
          <a:xfrm>
            <a:off x="8978900" y="1562100"/>
            <a:ext cx="2667000" cy="3136900"/>
          </a:xfrm>
          <a:prstGeom prst="roundRect">
            <a:avLst>
              <a:gd name="adj" fmla="val 47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5715410" name="Shape 44"/>
          <p:cNvSpPr/>
          <p:nvPr/>
        </p:nvSpPr>
        <p:spPr bwMode="auto">
          <a:xfrm>
            <a:off x="8978900" y="1562100"/>
            <a:ext cx="2667000" cy="88900"/>
          </a:xfrm>
          <a:custGeom>
            <a:avLst/>
            <a:gdLst/>
            <a:ahLst/>
            <a:cxnLst/>
            <a:rect l="l" t="t" r="r" b="b"/>
            <a:pathLst>
              <a:path w="2667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540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4351" name="Text 45"/>
          <p:cNvSpPr/>
          <p:nvPr/>
        </p:nvSpPr>
        <p:spPr bwMode="auto">
          <a:xfrm>
            <a:off x="9156700" y="1778000"/>
            <a:ext cx="238074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Il tetto era la coda</a:t>
            </a:r>
            <a:endParaRPr lang="en-US" sz="1500"/>
          </a:p>
        </p:txBody>
      </p:sp>
      <p:sp>
        <p:nvSpPr>
          <p:cNvPr id="1914920541" name="Text 46"/>
          <p:cNvSpPr/>
          <p:nvPr/>
        </p:nvSpPr>
        <p:spPr bwMode="auto">
          <a:xfrm>
            <a:off x="9156700" y="2108200"/>
            <a:ext cx="2380742" cy="1098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tre thread nella stessa coda il nodo si fermava a ~7 M/s. Con un thread per coda la baseline elabora 12 M/s.</a:t>
            </a:r>
            <a:endParaRPr lang="en-US" sz="1300"/>
          </a:p>
        </p:txBody>
      </p:sp>
      <p:sp>
        <p:nvSpPr>
          <p:cNvPr id="1018342996" name="Shape 4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0997271" name="Shape 4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5224850" name="Text 4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40556221" name="Text 5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P1, P1.5, P2 e P3 sono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costi del nodo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117, 124, 292 e 432 ns di CPU. Baseline e rxonly, con un thread, non saturano: i loro valori sono indicativi.</a:t>
            </a:r>
            <a:endParaRPr lang="en-US" sz="1500"/>
          </a:p>
        </p:txBody>
      </p:sp>
      <p:sp>
        <p:nvSpPr>
          <p:cNvPr id="1242584780" name="Text 52"/>
          <p:cNvSpPr/>
          <p:nvPr/>
        </p:nvSpPr>
        <p:spPr bwMode="auto">
          <a:xfrm>
            <a:off x="6250000" y="1793615"/>
            <a:ext cx="190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ns di CPU/pacchetto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07050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06333966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XDP_GEN</a:t>
            </a:r>
            <a:endParaRPr lang="en-US" sz="1200"/>
          </a:p>
        </p:txBody>
      </p:sp>
      <p:sp>
        <p:nvSpPr>
          <p:cNvPr id="9174861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 due core reggono il doppio</a:t>
            </a:r>
            <a:endParaRPr lang="en-US" sz="3000"/>
          </a:p>
        </p:txBody>
      </p:sp>
      <p:sp>
        <p:nvSpPr>
          <p:cNvPr id="464131968" name="Shape 3"/>
          <p:cNvSpPr/>
          <p:nvPr/>
        </p:nvSpPr>
        <p:spPr bwMode="auto">
          <a:xfrm>
            <a:off x="546100" y="1562100"/>
            <a:ext cx="6477000" cy="3350220"/>
          </a:xfrm>
          <a:prstGeom prst="roundRect">
            <a:avLst>
              <a:gd name="adj" fmla="val 379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3396140" name="Text 4"/>
          <p:cNvSpPr/>
          <p:nvPr/>
        </p:nvSpPr>
        <p:spPr bwMode="auto">
          <a:xfrm>
            <a:off x="736600" y="1714500"/>
            <a:ext cx="62788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Milioni di pacchetti al secondo elaborati, con xdp_gen</a:t>
            </a:r>
            <a:endParaRPr lang="en-US" sz="1500"/>
          </a:p>
        </p:txBody>
      </p:sp>
      <p:sp>
        <p:nvSpPr>
          <p:cNvPr id="1170117660" name="Shape 5"/>
          <p:cNvSpPr/>
          <p:nvPr/>
        </p:nvSpPr>
        <p:spPr bwMode="auto">
          <a:xfrm>
            <a:off x="73660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0626657" name="Text 6"/>
          <p:cNvSpPr/>
          <p:nvPr/>
        </p:nvSpPr>
        <p:spPr bwMode="auto">
          <a:xfrm>
            <a:off x="952500" y="2044700"/>
            <a:ext cx="11793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 core, misurati</a:t>
            </a:r>
            <a:endParaRPr lang="en-US" sz="1200"/>
          </a:p>
        </p:txBody>
      </p:sp>
      <p:sp>
        <p:nvSpPr>
          <p:cNvPr id="636982891" name="Shape 7"/>
          <p:cNvSpPr/>
          <p:nvPr/>
        </p:nvSpPr>
        <p:spPr bwMode="auto">
          <a:xfrm>
            <a:off x="225888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6026758" name="Text 8"/>
          <p:cNvSpPr/>
          <p:nvPr/>
        </p:nvSpPr>
        <p:spPr bwMode="auto">
          <a:xfrm>
            <a:off x="2474780" y="2044700"/>
            <a:ext cx="1060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 × un core</a:t>
            </a:r>
            <a:endParaRPr lang="en-US" sz="1200"/>
          </a:p>
        </p:txBody>
      </p:sp>
      <p:sp>
        <p:nvSpPr>
          <p:cNvPr id="521121237" name="Text 9"/>
          <p:cNvSpPr/>
          <p:nvPr/>
        </p:nvSpPr>
        <p:spPr bwMode="auto">
          <a:xfrm>
            <a:off x="836016" y="2479407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28,80</a:t>
            </a:r>
            <a:endParaRPr lang="en-US" sz="1200"/>
          </a:p>
        </p:txBody>
      </p:sp>
      <p:sp>
        <p:nvSpPr>
          <p:cNvPr id="630462220" name="Shape 10"/>
          <p:cNvSpPr/>
          <p:nvPr/>
        </p:nvSpPr>
        <p:spPr bwMode="auto">
          <a:xfrm>
            <a:off x="736600" y="2694291"/>
            <a:ext cx="469900" cy="1786269"/>
          </a:xfrm>
          <a:custGeom>
            <a:avLst/>
            <a:gdLst/>
            <a:ahLst/>
            <a:cxnLst/>
            <a:rect l="l" t="t" r="r" b="b"/>
            <a:pathLst>
              <a:path w="469900" h="19177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917700"/>
                </a:lnTo>
                <a:lnTo>
                  <a:pt x="0" y="19177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504903" name="Text 11"/>
          <p:cNvSpPr/>
          <p:nvPr/>
        </p:nvSpPr>
        <p:spPr bwMode="auto">
          <a:xfrm>
            <a:off x="1356717" y="2345452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30,96</a:t>
            </a:r>
            <a:endParaRPr lang="en-US" sz="1200"/>
          </a:p>
        </p:txBody>
      </p:sp>
      <p:sp>
        <p:nvSpPr>
          <p:cNvPr id="137455863" name="Shape 12"/>
          <p:cNvSpPr/>
          <p:nvPr/>
        </p:nvSpPr>
        <p:spPr bwMode="auto">
          <a:xfrm>
            <a:off x="1257300" y="2560336"/>
            <a:ext cx="469900" cy="1920224"/>
          </a:xfrm>
          <a:custGeom>
            <a:avLst/>
            <a:gdLst/>
            <a:ahLst/>
            <a:cxnLst/>
            <a:rect l="l" t="t" r="r" b="b"/>
            <a:pathLst>
              <a:path w="469900" h="11811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181100"/>
                </a:lnTo>
                <a:lnTo>
                  <a:pt x="0" y="11811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999033" name="Text 13"/>
          <p:cNvSpPr/>
          <p:nvPr/>
        </p:nvSpPr>
        <p:spPr bwMode="auto">
          <a:xfrm>
            <a:off x="2112367" y="3237951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16,57</a:t>
            </a:r>
            <a:endParaRPr lang="en-US" sz="1200"/>
          </a:p>
        </p:txBody>
      </p:sp>
      <p:sp>
        <p:nvSpPr>
          <p:cNvPr id="591046988" name="Shape 14"/>
          <p:cNvSpPr/>
          <p:nvPr/>
        </p:nvSpPr>
        <p:spPr bwMode="auto">
          <a:xfrm>
            <a:off x="2012949" y="3452835"/>
            <a:ext cx="469900" cy="1027725"/>
          </a:xfrm>
          <a:custGeom>
            <a:avLst/>
            <a:gdLst/>
            <a:ahLst/>
            <a:cxnLst/>
            <a:rect l="l" t="t" r="r" b="b"/>
            <a:pathLst>
              <a:path w="469900" h="17081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708150"/>
                </a:lnTo>
                <a:lnTo>
                  <a:pt x="0" y="17081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10566992" name="Text 15"/>
          <p:cNvSpPr/>
          <p:nvPr/>
        </p:nvSpPr>
        <p:spPr bwMode="auto">
          <a:xfrm>
            <a:off x="2633067" y="3201813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17,15</a:t>
            </a:r>
            <a:endParaRPr lang="en-US" sz="1200"/>
          </a:p>
        </p:txBody>
      </p:sp>
      <p:sp>
        <p:nvSpPr>
          <p:cNvPr id="208194458" name="Shape 16"/>
          <p:cNvSpPr/>
          <p:nvPr/>
        </p:nvSpPr>
        <p:spPr bwMode="auto">
          <a:xfrm>
            <a:off x="2533650" y="3416697"/>
            <a:ext cx="469900" cy="1063863"/>
          </a:xfrm>
          <a:custGeom>
            <a:avLst/>
            <a:gdLst/>
            <a:ahLst/>
            <a:cxnLst/>
            <a:rect l="l" t="t" r="r" b="b"/>
            <a:pathLst>
              <a:path w="469900" h="12890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289050"/>
                </a:lnTo>
                <a:lnTo>
                  <a:pt x="0" y="12890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87127817" name="Text 17"/>
          <p:cNvSpPr/>
          <p:nvPr/>
        </p:nvSpPr>
        <p:spPr bwMode="auto">
          <a:xfrm>
            <a:off x="3388717" y="3280747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15,88</a:t>
            </a:r>
            <a:endParaRPr lang="en-US" sz="1200"/>
          </a:p>
        </p:txBody>
      </p:sp>
      <p:sp>
        <p:nvSpPr>
          <p:cNvPr id="329804581" name="Shape 18"/>
          <p:cNvSpPr/>
          <p:nvPr/>
        </p:nvSpPr>
        <p:spPr bwMode="auto">
          <a:xfrm>
            <a:off x="3289300" y="3495631"/>
            <a:ext cx="469900" cy="984929"/>
          </a:xfrm>
          <a:custGeom>
            <a:avLst/>
            <a:gdLst/>
            <a:ahLst/>
            <a:cxnLst/>
            <a:rect l="l" t="t" r="r" b="b"/>
            <a:pathLst>
              <a:path w="469900" h="16827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682750"/>
                </a:lnTo>
                <a:lnTo>
                  <a:pt x="0" y="16827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6210340" name="Text 19"/>
          <p:cNvSpPr/>
          <p:nvPr/>
        </p:nvSpPr>
        <p:spPr bwMode="auto">
          <a:xfrm>
            <a:off x="3909417" y="3265301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16,13</a:t>
            </a:r>
            <a:endParaRPr lang="en-US" sz="1200"/>
          </a:p>
        </p:txBody>
      </p:sp>
      <p:sp>
        <p:nvSpPr>
          <p:cNvPr id="1992133746" name="Shape 20"/>
          <p:cNvSpPr/>
          <p:nvPr/>
        </p:nvSpPr>
        <p:spPr bwMode="auto">
          <a:xfrm>
            <a:off x="3810000" y="3480185"/>
            <a:ext cx="469900" cy="1000375"/>
          </a:xfrm>
          <a:custGeom>
            <a:avLst/>
            <a:gdLst/>
            <a:ahLst/>
            <a:cxnLst/>
            <a:rect l="l" t="t" r="r" b="b"/>
            <a:pathLst>
              <a:path w="469900" h="13144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314450"/>
                </a:lnTo>
                <a:lnTo>
                  <a:pt x="0" y="13144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1899441" name="Text 21"/>
          <p:cNvSpPr/>
          <p:nvPr/>
        </p:nvSpPr>
        <p:spPr bwMode="auto">
          <a:xfrm>
            <a:off x="4665067" y="3847640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6,74</a:t>
            </a:r>
            <a:endParaRPr lang="en-US" sz="1200"/>
          </a:p>
        </p:txBody>
      </p:sp>
      <p:sp>
        <p:nvSpPr>
          <p:cNvPr id="1598288918" name="Shape 22"/>
          <p:cNvSpPr/>
          <p:nvPr/>
        </p:nvSpPr>
        <p:spPr bwMode="auto">
          <a:xfrm>
            <a:off x="4565650" y="4062524"/>
            <a:ext cx="469900" cy="418036"/>
          </a:xfrm>
          <a:custGeom>
            <a:avLst/>
            <a:gdLst/>
            <a:ahLst/>
            <a:cxnLst/>
            <a:rect l="l" t="t" r="r" b="b"/>
            <a:pathLst>
              <a:path w="469900" h="9144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914400"/>
                </a:lnTo>
                <a:lnTo>
                  <a:pt x="0" y="914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9153219" name="Text 23"/>
          <p:cNvSpPr/>
          <p:nvPr/>
        </p:nvSpPr>
        <p:spPr bwMode="auto">
          <a:xfrm>
            <a:off x="5185767" y="3841296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6,84</a:t>
            </a:r>
            <a:endParaRPr lang="en-US" sz="1200"/>
          </a:p>
        </p:txBody>
      </p:sp>
      <p:sp>
        <p:nvSpPr>
          <p:cNvPr id="1176724652" name="Shape 24"/>
          <p:cNvSpPr/>
          <p:nvPr/>
        </p:nvSpPr>
        <p:spPr bwMode="auto">
          <a:xfrm>
            <a:off x="5086350" y="4056180"/>
            <a:ext cx="469900" cy="424380"/>
          </a:xfrm>
          <a:custGeom>
            <a:avLst/>
            <a:gdLst/>
            <a:ahLst/>
            <a:cxnLst/>
            <a:rect l="l" t="t" r="r" b="b"/>
            <a:pathLst>
              <a:path w="469900" h="9144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914400"/>
                </a:lnTo>
                <a:lnTo>
                  <a:pt x="0" y="914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89404908" name="Text 25"/>
          <p:cNvSpPr/>
          <p:nvPr/>
        </p:nvSpPr>
        <p:spPr bwMode="auto">
          <a:xfrm>
            <a:off x="5941417" y="3983471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4,55</a:t>
            </a:r>
            <a:endParaRPr lang="en-US" sz="1200"/>
          </a:p>
        </p:txBody>
      </p:sp>
      <p:sp>
        <p:nvSpPr>
          <p:cNvPr id="872509772" name="Shape 26"/>
          <p:cNvSpPr/>
          <p:nvPr/>
        </p:nvSpPr>
        <p:spPr bwMode="auto">
          <a:xfrm>
            <a:off x="5842000" y="4198355"/>
            <a:ext cx="469900" cy="282205"/>
          </a:xfrm>
          <a:custGeom>
            <a:avLst/>
            <a:gdLst/>
            <a:ahLst/>
            <a:cxnLst/>
            <a:rect l="l" t="t" r="r" b="b"/>
            <a:pathLst>
              <a:path w="469900" h="6223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622300"/>
                </a:lnTo>
                <a:lnTo>
                  <a:pt x="0" y="6223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59851264" name="Text 27"/>
          <p:cNvSpPr/>
          <p:nvPr/>
        </p:nvSpPr>
        <p:spPr bwMode="auto">
          <a:xfrm>
            <a:off x="6462117" y="3978199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4,63</a:t>
            </a:r>
            <a:endParaRPr lang="en-US" sz="1200"/>
          </a:p>
        </p:txBody>
      </p:sp>
      <p:sp>
        <p:nvSpPr>
          <p:cNvPr id="632825712" name="Shape 28"/>
          <p:cNvSpPr/>
          <p:nvPr/>
        </p:nvSpPr>
        <p:spPr bwMode="auto">
          <a:xfrm>
            <a:off x="6362700" y="4193083"/>
            <a:ext cx="469900" cy="287477"/>
          </a:xfrm>
          <a:custGeom>
            <a:avLst/>
            <a:gdLst/>
            <a:ahLst/>
            <a:cxnLst/>
            <a:rect l="l" t="t" r="r" b="b"/>
            <a:pathLst>
              <a:path w="469900" h="6223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622300"/>
                </a:lnTo>
                <a:lnTo>
                  <a:pt x="0" y="6223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4056157" name="Text 29"/>
          <p:cNvSpPr/>
          <p:nvPr/>
        </p:nvSpPr>
        <p:spPr bwMode="auto">
          <a:xfrm>
            <a:off x="7112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781221583" name="Text 30"/>
          <p:cNvSpPr/>
          <p:nvPr/>
        </p:nvSpPr>
        <p:spPr bwMode="auto">
          <a:xfrm>
            <a:off x="198755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780245428" name="Text 31"/>
          <p:cNvSpPr/>
          <p:nvPr/>
        </p:nvSpPr>
        <p:spPr bwMode="auto">
          <a:xfrm>
            <a:off x="32639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1270807852" name="Text 32"/>
          <p:cNvSpPr/>
          <p:nvPr/>
        </p:nvSpPr>
        <p:spPr bwMode="auto">
          <a:xfrm>
            <a:off x="454025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303957450" name="Text 33"/>
          <p:cNvSpPr/>
          <p:nvPr/>
        </p:nvSpPr>
        <p:spPr bwMode="auto">
          <a:xfrm>
            <a:off x="58166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1936906822" name="Shape 36"/>
          <p:cNvSpPr/>
          <p:nvPr/>
        </p:nvSpPr>
        <p:spPr bwMode="auto">
          <a:xfrm>
            <a:off x="7200900" y="1562100"/>
            <a:ext cx="4445000" cy="1630627"/>
          </a:xfrm>
          <a:prstGeom prst="roundRect">
            <a:avLst>
              <a:gd name="adj" fmla="val 77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6190844" name="Shape 37"/>
          <p:cNvSpPr/>
          <p:nvPr/>
        </p:nvSpPr>
        <p:spPr bwMode="auto">
          <a:xfrm>
            <a:off x="7200900" y="1562100"/>
            <a:ext cx="4445000" cy="88900"/>
          </a:xfrm>
          <a:custGeom>
            <a:avLst/>
            <a:gdLst/>
            <a:ahLst/>
            <a:cxnLst/>
            <a:rect l="l" t="t" r="r" b="b"/>
            <a:pathLst>
              <a:path w="4445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3180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8928411" name="Text 38"/>
          <p:cNvSpPr/>
          <p:nvPr/>
        </p:nvSpPr>
        <p:spPr bwMode="auto">
          <a:xfrm>
            <a:off x="7378700" y="1765300"/>
            <a:ext cx="42120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Una coda d'uscita per ogni core</a:t>
            </a:r>
            <a:endParaRPr lang="en-US" sz="1500"/>
          </a:p>
        </p:txBody>
      </p:sp>
      <p:sp>
        <p:nvSpPr>
          <p:cNvPr id="280366088" name="Text 39"/>
          <p:cNvSpPr/>
          <p:nvPr/>
        </p:nvSpPr>
        <p:spPr bwMode="auto">
          <a:xfrm>
            <a:off x="7378700" y="2082800"/>
            <a:ext cx="4212082" cy="883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 i due core del nodo scrivevano nella stessa coda d'uscita, svuotata da un solo core: la baseline elaborava 13,1 M/s e ne arrivavano 4,3. Ora ogni core ha la sua coda e il suo core d'uscita: arrivano tutti.</a:t>
            </a:r>
            <a:endParaRPr lang="en-US" sz="1300"/>
          </a:p>
        </p:txBody>
      </p:sp>
      <p:sp>
        <p:nvSpPr>
          <p:cNvPr id="244920080" name="Shape 40"/>
          <p:cNvSpPr/>
          <p:nvPr/>
        </p:nvSpPr>
        <p:spPr bwMode="auto">
          <a:xfrm>
            <a:off x="7200900" y="3281629"/>
            <a:ext cx="4445000" cy="1630693"/>
          </a:xfrm>
          <a:prstGeom prst="roundRect">
            <a:avLst>
              <a:gd name="adj" fmla="val 77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6335300" name="Shape 41"/>
          <p:cNvSpPr/>
          <p:nvPr/>
        </p:nvSpPr>
        <p:spPr bwMode="auto">
          <a:xfrm>
            <a:off x="7200900" y="3281629"/>
            <a:ext cx="4445000" cy="88900"/>
          </a:xfrm>
          <a:custGeom>
            <a:avLst/>
            <a:gdLst/>
            <a:ahLst/>
            <a:cxnLst/>
            <a:rect l="l" t="t" r="r" b="b"/>
            <a:pathLst>
              <a:path w="4445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318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434944" name="Text 42"/>
          <p:cNvSpPr/>
          <p:nvPr/>
        </p:nvSpPr>
        <p:spPr bwMode="auto">
          <a:xfrm>
            <a:off x="7378700" y="3484829"/>
            <a:ext cx="42120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Il costo per core non cambia</a:t>
            </a:r>
            <a:endParaRPr lang="en-US" sz="1500"/>
          </a:p>
        </p:txBody>
      </p:sp>
      <p:sp>
        <p:nvSpPr>
          <p:cNvPr id="1539934491" name="Text 43"/>
          <p:cNvSpPr/>
          <p:nvPr/>
        </p:nvSpPr>
        <p:spPr bwMode="auto">
          <a:xfrm>
            <a:off x="7378700" y="3802329"/>
            <a:ext cx="4212082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Tempo di CPU per pacchetto di ogni core: 68, 121, 126, 297 e 439 ns, contro 65, 117, 124, 292 e 432 con un core solo (slide 13).</a:t>
            </a:r>
            <a:endParaRPr lang="en-US" sz="1300"/>
          </a:p>
        </p:txBody>
      </p:sp>
      <p:sp>
        <p:nvSpPr>
          <p:cNvPr id="985847929" name="Shape 44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457357" name="Shape 45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9745142" name="Text 46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375110392" name="Text 47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uno scrittore per coda anche in uscita, due core elaborano il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97–99% del doppio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di un core (P1–P3): il costo misurato su un core vale per ogni core.</a:t>
            </a:r>
            <a:endParaRPr lang="en-US" sz="1500"/>
          </a:p>
        </p:txBody>
      </p:sp>
      <p:sp>
        <p:nvSpPr>
          <p:cNvPr id="1948934027" name="Text 4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xdp_gen, 1 ottobre, 64 byte, 3 giri · nodo su CPU 6 e 8, un thread per coda, uscita su CPU 3 e 5 · 2 × un core = 2 ÷ tempo di CPU della slide 13</a:t>
            </a:r>
            <a:endParaRPr lang="en-US" sz="1200"/>
          </a:p>
        </p:txBody>
      </p:sp>
      <p:sp>
        <p:nvSpPr>
          <p:cNvPr id="1551553591" name="Text 4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14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26228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234617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LE DIFFERENZE</a:t>
            </a:r>
            <a:endParaRPr lang="en-US" sz="1200"/>
          </a:p>
        </p:txBody>
      </p:sp>
      <p:sp>
        <p:nvSpPr>
          <p:cNvPr id="101843931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 lo stesso programma costa ~230 ns in meno</a:t>
            </a:r>
            <a:endParaRPr lang="en-US" sz="3000"/>
          </a:p>
        </p:txBody>
      </p:sp>
      <p:sp>
        <p:nvSpPr>
          <p:cNvPr id="1550892152" name="Shape 3"/>
          <p:cNvSpPr/>
          <p:nvPr/>
        </p:nvSpPr>
        <p:spPr bwMode="auto">
          <a:xfrm>
            <a:off x="546100" y="1562100"/>
            <a:ext cx="6540500" cy="3477220"/>
          </a:xfrm>
          <a:prstGeom prst="roundRect">
            <a:avLst>
              <a:gd name="adj" fmla="val 36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12120802" name="Text 4"/>
          <p:cNvSpPr/>
          <p:nvPr/>
        </p:nvSpPr>
        <p:spPr bwMode="auto">
          <a:xfrm>
            <a:off x="736600" y="1714500"/>
            <a:ext cx="634428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Nanosecondi per pacchetto, stesso programma</a:t>
            </a:r>
            <a:endParaRPr lang="en-US" sz="1500"/>
          </a:p>
        </p:txBody>
      </p:sp>
      <p:sp>
        <p:nvSpPr>
          <p:cNvPr id="1869677495" name="Shape 5"/>
          <p:cNvSpPr/>
          <p:nvPr/>
        </p:nvSpPr>
        <p:spPr bwMode="auto">
          <a:xfrm>
            <a:off x="73660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3226184" name="Text 6"/>
          <p:cNvSpPr/>
          <p:nvPr/>
        </p:nvSpPr>
        <p:spPr bwMode="auto">
          <a:xfrm>
            <a:off x="952500" y="2044700"/>
            <a:ext cx="11934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pktgen (con copia)</a:t>
            </a:r>
            <a:endParaRPr lang="en-US" sz="1200"/>
          </a:p>
        </p:txBody>
      </p:sp>
      <p:sp>
        <p:nvSpPr>
          <p:cNvPr id="2037176914" name="Shape 7"/>
          <p:cNvSpPr/>
          <p:nvPr/>
        </p:nvSpPr>
        <p:spPr bwMode="auto">
          <a:xfrm>
            <a:off x="2272903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7724669" name="Text 8"/>
          <p:cNvSpPr/>
          <p:nvPr/>
        </p:nvSpPr>
        <p:spPr bwMode="auto">
          <a:xfrm>
            <a:off x="2488803" y="2044700"/>
            <a:ext cx="1415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xdp_gen (senza copia)</a:t>
            </a:r>
            <a:endParaRPr lang="en-US" sz="1200"/>
          </a:p>
        </p:txBody>
      </p:sp>
      <p:sp>
        <p:nvSpPr>
          <p:cNvPr id="1274116744" name="Text 9"/>
          <p:cNvSpPr/>
          <p:nvPr/>
        </p:nvSpPr>
        <p:spPr bwMode="auto">
          <a:xfrm>
            <a:off x="736600" y="24663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359008047" name="Shape 10"/>
          <p:cNvSpPr/>
          <p:nvPr/>
        </p:nvSpPr>
        <p:spPr bwMode="auto">
          <a:xfrm>
            <a:off x="1689100" y="2359620"/>
            <a:ext cx="1752599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7606422" name="Text 11"/>
          <p:cNvSpPr/>
          <p:nvPr/>
        </p:nvSpPr>
        <p:spPr bwMode="auto">
          <a:xfrm>
            <a:off x="3517900" y="23659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302 ns</a:t>
            </a:r>
            <a:endParaRPr lang="en-US" sz="1300"/>
          </a:p>
        </p:txBody>
      </p:sp>
      <p:sp>
        <p:nvSpPr>
          <p:cNvPr id="874054731" name="Shape 12"/>
          <p:cNvSpPr/>
          <p:nvPr/>
        </p:nvSpPr>
        <p:spPr bwMode="auto">
          <a:xfrm>
            <a:off x="1689100" y="2600920"/>
            <a:ext cx="374985" cy="203200"/>
          </a:xfrm>
          <a:prstGeom prst="roundRect">
            <a:avLst>
              <a:gd name="adj" fmla="val 18750"/>
            </a:avLst>
          </a:prstGeom>
          <a:solidFill>
            <a:srgbClr val="2E9C6E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34871553" name="Text 13"/>
          <p:cNvSpPr/>
          <p:nvPr/>
        </p:nvSpPr>
        <p:spPr bwMode="auto">
          <a:xfrm>
            <a:off x="2142519" y="2607270"/>
            <a:ext cx="1066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≈ 65 ns</a:t>
            </a:r>
            <a:endParaRPr lang="en-US" sz="1300"/>
          </a:p>
        </p:txBody>
      </p:sp>
      <p:sp>
        <p:nvSpPr>
          <p:cNvPr id="854225757" name="Text 14"/>
          <p:cNvSpPr/>
          <p:nvPr/>
        </p:nvSpPr>
        <p:spPr bwMode="auto">
          <a:xfrm>
            <a:off x="736600" y="29870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106711211" name="Shape 15"/>
          <p:cNvSpPr/>
          <p:nvPr/>
        </p:nvSpPr>
        <p:spPr bwMode="auto">
          <a:xfrm>
            <a:off x="1689100" y="2880320"/>
            <a:ext cx="19748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0770838" name="Text 16"/>
          <p:cNvSpPr/>
          <p:nvPr/>
        </p:nvSpPr>
        <p:spPr bwMode="auto">
          <a:xfrm>
            <a:off x="3740149" y="28866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340 ns</a:t>
            </a:r>
            <a:endParaRPr lang="en-US" sz="1300"/>
          </a:p>
        </p:txBody>
      </p:sp>
      <p:sp>
        <p:nvSpPr>
          <p:cNvPr id="482346709" name="Shape 17"/>
          <p:cNvSpPr/>
          <p:nvPr/>
        </p:nvSpPr>
        <p:spPr bwMode="auto">
          <a:xfrm>
            <a:off x="1689100" y="3121620"/>
            <a:ext cx="676830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6932008" name="Text 18"/>
          <p:cNvSpPr/>
          <p:nvPr/>
        </p:nvSpPr>
        <p:spPr bwMode="auto">
          <a:xfrm>
            <a:off x="2444364" y="3127970"/>
            <a:ext cx="17000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117 ns   −223 ns</a:t>
            </a:r>
            <a:endParaRPr lang="en-US" sz="1300"/>
          </a:p>
        </p:txBody>
      </p:sp>
      <p:sp>
        <p:nvSpPr>
          <p:cNvPr id="1558560373" name="Text 19"/>
          <p:cNvSpPr/>
          <p:nvPr/>
        </p:nvSpPr>
        <p:spPr bwMode="auto">
          <a:xfrm>
            <a:off x="736600" y="35077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686066982" name="Shape 20"/>
          <p:cNvSpPr/>
          <p:nvPr/>
        </p:nvSpPr>
        <p:spPr bwMode="auto">
          <a:xfrm>
            <a:off x="1689100" y="3401020"/>
            <a:ext cx="20637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33058696" name="Text 21"/>
          <p:cNvSpPr/>
          <p:nvPr/>
        </p:nvSpPr>
        <p:spPr bwMode="auto">
          <a:xfrm>
            <a:off x="3829050" y="34073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356 ns</a:t>
            </a:r>
            <a:endParaRPr lang="en-US" sz="1300"/>
          </a:p>
        </p:txBody>
      </p:sp>
      <p:sp>
        <p:nvSpPr>
          <p:cNvPr id="1561069790" name="Shape 22"/>
          <p:cNvSpPr/>
          <p:nvPr/>
        </p:nvSpPr>
        <p:spPr bwMode="auto">
          <a:xfrm>
            <a:off x="1689100" y="3642320"/>
            <a:ext cx="719785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44850430" name="Text 23"/>
          <p:cNvSpPr/>
          <p:nvPr/>
        </p:nvSpPr>
        <p:spPr bwMode="auto">
          <a:xfrm>
            <a:off x="2487319" y="3648670"/>
            <a:ext cx="17000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124 ns   −232 ns</a:t>
            </a:r>
            <a:endParaRPr lang="en-US" sz="1300"/>
          </a:p>
        </p:txBody>
      </p:sp>
      <p:sp>
        <p:nvSpPr>
          <p:cNvPr id="311158080" name="Text 24"/>
          <p:cNvSpPr/>
          <p:nvPr/>
        </p:nvSpPr>
        <p:spPr bwMode="auto">
          <a:xfrm>
            <a:off x="736600" y="40284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599369607" name="Shape 25"/>
          <p:cNvSpPr/>
          <p:nvPr/>
        </p:nvSpPr>
        <p:spPr bwMode="auto">
          <a:xfrm>
            <a:off x="1689100" y="3921720"/>
            <a:ext cx="307340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26970025" name="Text 26"/>
          <p:cNvSpPr/>
          <p:nvPr/>
        </p:nvSpPr>
        <p:spPr bwMode="auto">
          <a:xfrm>
            <a:off x="4838700" y="39280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529 ns</a:t>
            </a:r>
            <a:endParaRPr lang="en-US" sz="1300"/>
          </a:p>
        </p:txBody>
      </p:sp>
      <p:sp>
        <p:nvSpPr>
          <p:cNvPr id="1286915460" name="Shape 27"/>
          <p:cNvSpPr/>
          <p:nvPr/>
        </p:nvSpPr>
        <p:spPr bwMode="auto">
          <a:xfrm>
            <a:off x="1689100" y="4163020"/>
            <a:ext cx="1696720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403374" name="Text 28"/>
          <p:cNvSpPr/>
          <p:nvPr/>
        </p:nvSpPr>
        <p:spPr bwMode="auto">
          <a:xfrm>
            <a:off x="3464254" y="4169370"/>
            <a:ext cx="685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292 ns</a:t>
            </a:r>
            <a:endParaRPr lang="en-US" sz="1300"/>
          </a:p>
        </p:txBody>
      </p:sp>
      <p:sp>
        <p:nvSpPr>
          <p:cNvPr id="327375694" name="Text 29"/>
          <p:cNvSpPr/>
          <p:nvPr/>
        </p:nvSpPr>
        <p:spPr bwMode="auto">
          <a:xfrm>
            <a:off x="4204918" y="4169370"/>
            <a:ext cx="1193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−237 ns</a:t>
            </a:r>
            <a:endParaRPr lang="en-US" sz="1300"/>
          </a:p>
        </p:txBody>
      </p:sp>
      <p:sp>
        <p:nvSpPr>
          <p:cNvPr id="1955929787" name="Text 30"/>
          <p:cNvSpPr/>
          <p:nvPr/>
        </p:nvSpPr>
        <p:spPr bwMode="auto">
          <a:xfrm>
            <a:off x="736600" y="45491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552882207" name="Shape 31"/>
          <p:cNvSpPr/>
          <p:nvPr/>
        </p:nvSpPr>
        <p:spPr bwMode="auto">
          <a:xfrm>
            <a:off x="1689100" y="4442420"/>
            <a:ext cx="38671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3156934" name="Text 32"/>
          <p:cNvSpPr/>
          <p:nvPr/>
        </p:nvSpPr>
        <p:spPr bwMode="auto">
          <a:xfrm>
            <a:off x="5632450" y="444877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666 ns</a:t>
            </a:r>
            <a:endParaRPr lang="en-US" sz="1300"/>
          </a:p>
        </p:txBody>
      </p:sp>
      <p:sp>
        <p:nvSpPr>
          <p:cNvPr id="1214684123" name="Shape 33"/>
          <p:cNvSpPr/>
          <p:nvPr/>
        </p:nvSpPr>
        <p:spPr bwMode="auto">
          <a:xfrm>
            <a:off x="1689100" y="4683720"/>
            <a:ext cx="2504738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30826382" name="Text 34"/>
          <p:cNvSpPr/>
          <p:nvPr/>
        </p:nvSpPr>
        <p:spPr bwMode="auto">
          <a:xfrm>
            <a:off x="4272272" y="4690070"/>
            <a:ext cx="685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432 ns</a:t>
            </a:r>
            <a:endParaRPr lang="en-US" sz="1300"/>
          </a:p>
        </p:txBody>
      </p:sp>
      <p:sp>
        <p:nvSpPr>
          <p:cNvPr id="1564814363" name="Text 35"/>
          <p:cNvSpPr/>
          <p:nvPr/>
        </p:nvSpPr>
        <p:spPr bwMode="auto">
          <a:xfrm>
            <a:off x="5012936" y="4690070"/>
            <a:ext cx="1193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−234 ns</a:t>
            </a:r>
            <a:endParaRPr lang="en-US" sz="1300"/>
          </a:p>
        </p:txBody>
      </p:sp>
      <p:sp>
        <p:nvSpPr>
          <p:cNvPr id="320966211" name="Shape 36"/>
          <p:cNvSpPr/>
          <p:nvPr/>
        </p:nvSpPr>
        <p:spPr bwMode="auto">
          <a:xfrm>
            <a:off x="7264400" y="1562100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3815715" name="Shape 37"/>
          <p:cNvSpPr/>
          <p:nvPr/>
        </p:nvSpPr>
        <p:spPr bwMode="auto">
          <a:xfrm>
            <a:off x="7264400" y="1562100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76191563" name="Text 38"/>
          <p:cNvSpPr/>
          <p:nvPr/>
        </p:nvSpPr>
        <p:spPr bwMode="auto">
          <a:xfrm>
            <a:off x="7442200" y="1752599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Con pktgen si citano tutte e cinque</a:t>
            </a:r>
            <a:endParaRPr lang="en-US" sz="1400"/>
          </a:p>
        </p:txBody>
      </p:sp>
      <p:sp>
        <p:nvSpPr>
          <p:cNvPr id="1413696015" name="Text 39"/>
          <p:cNvSpPr/>
          <p:nvPr/>
        </p:nvSpPr>
        <p:spPr bwMode="auto">
          <a:xfrm>
            <a:off x="7442200" y="2039609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Costo sopra la baseline: +38, +53, +226 e +364 ns per P1, P1.5, P2 e P3.</a:t>
            </a:r>
            <a:endParaRPr lang="en-US" sz="1300"/>
          </a:p>
        </p:txBody>
      </p:sp>
      <p:sp>
        <p:nvSpPr>
          <p:cNvPr id="33363353" name="Shape 40"/>
          <p:cNvSpPr/>
          <p:nvPr/>
        </p:nvSpPr>
        <p:spPr bwMode="auto">
          <a:xfrm>
            <a:off x="7264400" y="2750809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87019319" name="Shape 41"/>
          <p:cNvSpPr/>
          <p:nvPr/>
        </p:nvSpPr>
        <p:spPr bwMode="auto">
          <a:xfrm>
            <a:off x="7264400" y="2750809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4735577" name="Text 42"/>
          <p:cNvSpPr/>
          <p:nvPr/>
        </p:nvSpPr>
        <p:spPr bwMode="auto">
          <a:xfrm>
            <a:off x="7442200" y="2941309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Con xdp_gen si citano P1, P1.5, P2 e P3</a:t>
            </a:r>
            <a:endParaRPr lang="en-US" sz="1400"/>
          </a:p>
        </p:txBody>
      </p:sp>
      <p:sp>
        <p:nvSpPr>
          <p:cNvPr id="1037587850" name="Text 43"/>
          <p:cNvSpPr/>
          <p:nvPr/>
        </p:nvSpPr>
        <p:spPr bwMode="auto">
          <a:xfrm>
            <a:off x="7442200" y="3228318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117, 124, 292 e 432 ns di CPU, un thread per coda. Baseline ≈ 65 ns: indicativa.</a:t>
            </a:r>
            <a:endParaRPr lang="en-US" sz="1300"/>
          </a:p>
        </p:txBody>
      </p:sp>
      <p:sp>
        <p:nvSpPr>
          <p:cNvPr id="1058785538" name="Shape 44"/>
          <p:cNvSpPr/>
          <p:nvPr/>
        </p:nvSpPr>
        <p:spPr bwMode="auto">
          <a:xfrm>
            <a:off x="7264400" y="3939518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20531357" name="Shape 45"/>
          <p:cNvSpPr/>
          <p:nvPr/>
        </p:nvSpPr>
        <p:spPr bwMode="auto">
          <a:xfrm>
            <a:off x="7264400" y="3939518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9062466" name="Text 46"/>
          <p:cNvSpPr/>
          <p:nvPr/>
        </p:nvSpPr>
        <p:spPr bwMode="auto">
          <a:xfrm>
            <a:off x="7442200" y="4130018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Da dove vengono i ~230 ns</a:t>
            </a:r>
            <a:endParaRPr lang="en-US" sz="1400"/>
          </a:p>
        </p:txBody>
      </p:sp>
      <p:sp>
        <p:nvSpPr>
          <p:cNvPr id="1739680763" name="Text 47"/>
          <p:cNvSpPr/>
          <p:nvPr/>
        </p:nvSpPr>
        <p:spPr bwMode="auto">
          <a:xfrm>
            <a:off x="7442200" y="4417020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Dalla copia della skb e dal percorso dello stack: il costo del generatore, pagato sul core del nodo.</a:t>
            </a:r>
            <a:endParaRPr lang="en-US" sz="1300"/>
          </a:p>
        </p:txBody>
      </p:sp>
      <p:sp>
        <p:nvSpPr>
          <p:cNvPr id="1701427139" name="Shape 48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08521586" name="Shape 49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8972013" name="Text 50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844412690" name="Text 51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 due generatori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si confrontano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fra loro: ognuno confronta le pipeline al suo interno. La differenza è il costo del percorso skb.</a:t>
            </a:r>
            <a:endParaRPr lang="en-US" sz="1500"/>
          </a:p>
        </p:txBody>
      </p:sp>
      <p:sp>
        <p:nvSpPr>
          <p:cNvPr id="47309394" name="Text 52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pktgen 28/9, xdp_gen 1/10 (tempo di CPU) · P1: 340 − 117 = 223 · P1.5: 356 − 124 = 232 · P2: 529 − 292 = 237 · P3: 666 − 432 = 234 ns</a:t>
            </a:r>
            <a:endParaRPr lang="en-US" sz="1200"/>
          </a:p>
        </p:txBody>
      </p:sp>
      <p:sp>
        <p:nvSpPr>
          <p:cNvPr id="1874844399" name="Text 53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15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067649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795491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COME SI MISURA</a:t>
            </a:r>
            <a:endParaRPr lang="en-US" sz="1200"/>
          </a:p>
        </p:txBody>
      </p:sp>
      <p:sp>
        <p:nvSpPr>
          <p:cNvPr id="1831484691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programmi sullo stesso aggancio, tre conteggi</a:t>
            </a:r>
            <a:endParaRPr lang="en-US" sz="3000"/>
          </a:p>
        </p:txBody>
      </p:sp>
      <p:sp>
        <p:nvSpPr>
          <p:cNvPr id="1502651254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Un'interfaccia porta un solo programma XDP: i due si mettono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catena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con un salto.</a:t>
            </a:r>
            <a:endParaRPr lang="en-US" sz="1600"/>
          </a:p>
        </p:txBody>
      </p:sp>
      <p:sp>
        <p:nvSpPr>
          <p:cNvPr id="501249711" name="Shape 4"/>
          <p:cNvSpPr/>
          <p:nvPr/>
        </p:nvSpPr>
        <p:spPr bwMode="auto">
          <a:xfrm>
            <a:off x="546100" y="2427821"/>
            <a:ext cx="1841500" cy="1940256"/>
          </a:xfrm>
          <a:prstGeom prst="roundRect">
            <a:avLst>
              <a:gd name="adj" fmla="val 689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6661482" name="Text 5"/>
          <p:cNvSpPr/>
          <p:nvPr/>
        </p:nvSpPr>
        <p:spPr bwMode="auto">
          <a:xfrm>
            <a:off x="660400" y="2554821"/>
            <a:ext cx="16637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400"/>
          </a:p>
        </p:txBody>
      </p:sp>
      <p:sp>
        <p:nvSpPr>
          <p:cNvPr id="800237013" name="Text 6"/>
          <p:cNvSpPr/>
          <p:nvPr/>
        </p:nvSpPr>
        <p:spPr bwMode="auto">
          <a:xfrm>
            <a:off x="660400" y="2841823"/>
            <a:ext cx="166370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pktgen o xdp_gen</a:t>
            </a:r>
            <a:endParaRPr lang="en-US" sz="1300"/>
          </a:p>
        </p:txBody>
      </p:sp>
      <p:sp>
        <p:nvSpPr>
          <p:cNvPr id="402805141" name="Shape 7"/>
          <p:cNvSpPr/>
          <p:nvPr/>
        </p:nvSpPr>
        <p:spPr bwMode="auto">
          <a:xfrm>
            <a:off x="660400" y="396168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37352815" name="Text 8"/>
          <p:cNvSpPr/>
          <p:nvPr/>
        </p:nvSpPr>
        <p:spPr bwMode="auto">
          <a:xfrm>
            <a:off x="761471" y="3994682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673783404" name="Text 9"/>
          <p:cNvSpPr/>
          <p:nvPr/>
        </p:nvSpPr>
        <p:spPr bwMode="auto">
          <a:xfrm>
            <a:off x="1003300" y="3976886"/>
            <a:ext cx="50542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400"/>
          </a:p>
        </p:txBody>
      </p:sp>
      <p:sp>
        <p:nvSpPr>
          <p:cNvPr id="1389056267" name="Text 10"/>
          <p:cNvSpPr/>
          <p:nvPr/>
        </p:nvSpPr>
        <p:spPr bwMode="auto">
          <a:xfrm>
            <a:off x="2563085" y="3183334"/>
            <a:ext cx="347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coda</a:t>
            </a:r>
            <a:endParaRPr lang="en-US" sz="1200"/>
          </a:p>
        </p:txBody>
      </p:sp>
      <p:pic>
        <p:nvPicPr>
          <p:cNvPr id="1729172445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609850" y="3434755"/>
            <a:ext cx="254000" cy="177800"/>
          </a:xfrm>
          <a:prstGeom prst="rect">
            <a:avLst/>
          </a:prstGeom>
        </p:spPr>
      </p:pic>
      <p:sp>
        <p:nvSpPr>
          <p:cNvPr id="1757472348" name="Shape 11"/>
          <p:cNvSpPr/>
          <p:nvPr/>
        </p:nvSpPr>
        <p:spPr bwMode="auto">
          <a:xfrm>
            <a:off x="3095625" y="2437346"/>
            <a:ext cx="5513917" cy="1921206"/>
          </a:xfrm>
          <a:prstGeom prst="roundRect">
            <a:avLst>
              <a:gd name="adj" fmla="val 7437"/>
            </a:avLst>
          </a:prstGeom>
          <a:noFill/>
          <a:ln w="19050">
            <a:solidFill>
              <a:srgbClr val="6B7C93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3425224" name="Text 12"/>
          <p:cNvSpPr/>
          <p:nvPr/>
        </p:nvSpPr>
        <p:spPr bwMode="auto">
          <a:xfrm>
            <a:off x="3138276" y="2533650"/>
            <a:ext cx="54286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un solo aggancio XDP</a:t>
            </a:r>
            <a:endParaRPr lang="en-US" sz="1200"/>
          </a:p>
        </p:txBody>
      </p:sp>
      <p:sp>
        <p:nvSpPr>
          <p:cNvPr id="2140098721" name="Shape 13"/>
          <p:cNvSpPr/>
          <p:nvPr/>
        </p:nvSpPr>
        <p:spPr bwMode="auto">
          <a:xfrm>
            <a:off x="3226858" y="2819995"/>
            <a:ext cx="2139950" cy="1407319"/>
          </a:xfrm>
          <a:prstGeom prst="roundRect">
            <a:avLst>
              <a:gd name="adj" fmla="val 8347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1931800" name="Text 14"/>
          <p:cNvSpPr/>
          <p:nvPr/>
        </p:nvSpPr>
        <p:spPr bwMode="auto">
          <a:xfrm>
            <a:off x="3329517" y="2935362"/>
            <a:ext cx="199267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Programma 1</a:t>
            </a:r>
            <a:endParaRPr lang="en-US" sz="1400"/>
          </a:p>
        </p:txBody>
      </p:sp>
      <p:sp>
        <p:nvSpPr>
          <p:cNvPr id="91826709" name="Text 15"/>
          <p:cNvSpPr/>
          <p:nvPr/>
        </p:nvSpPr>
        <p:spPr bwMode="auto">
          <a:xfrm>
            <a:off x="3329517" y="3222365"/>
            <a:ext cx="199267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e basta</a:t>
            </a:r>
            <a:endParaRPr lang="en-US" sz="1300"/>
          </a:p>
        </p:txBody>
      </p:sp>
      <p:sp>
        <p:nvSpPr>
          <p:cNvPr id="1191179001" name="Shape 16"/>
          <p:cNvSpPr/>
          <p:nvPr/>
        </p:nvSpPr>
        <p:spPr bwMode="auto">
          <a:xfrm>
            <a:off x="3329517" y="3466840"/>
            <a:ext cx="1457985" cy="289520"/>
          </a:xfrm>
          <a:prstGeom prst="roundRect">
            <a:avLst>
              <a:gd name="adj" fmla="val 21933"/>
            </a:avLst>
          </a:prstGeom>
          <a:solidFill>
            <a:srgbClr val="1E273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67512178" name="Text 17"/>
          <p:cNvSpPr/>
          <p:nvPr/>
        </p:nvSpPr>
        <p:spPr bwMode="auto">
          <a:xfrm>
            <a:off x="3418417" y="3504940"/>
            <a:ext cx="133098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E8ECF1"/>
                </a:solidFill>
                <a:latin typeface="JetBrains Mono"/>
                <a:ea typeface="JetBrains Mono"/>
                <a:cs typeface="JetBrains Mono"/>
              </a:rPr>
              <a:t>ing_count += 1</a:t>
            </a:r>
            <a:endParaRPr lang="en-US" sz="1200"/>
          </a:p>
        </p:txBody>
      </p:sp>
      <p:sp>
        <p:nvSpPr>
          <p:cNvPr id="1191820074" name="Shape 18"/>
          <p:cNvSpPr/>
          <p:nvPr/>
        </p:nvSpPr>
        <p:spPr bwMode="auto">
          <a:xfrm>
            <a:off x="3329517" y="383256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362551" name="Text 19"/>
          <p:cNvSpPr/>
          <p:nvPr/>
        </p:nvSpPr>
        <p:spPr bwMode="auto">
          <a:xfrm>
            <a:off x="3430588" y="3865563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670381494" name="Text 20"/>
          <p:cNvSpPr/>
          <p:nvPr/>
        </p:nvSpPr>
        <p:spPr bwMode="auto">
          <a:xfrm>
            <a:off x="3672417" y="3847778"/>
            <a:ext cx="60437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</a:t>
            </a:r>
            <a:endParaRPr lang="en-US" sz="1400"/>
          </a:p>
        </p:txBody>
      </p:sp>
      <p:sp>
        <p:nvSpPr>
          <p:cNvPr id="1084961673" name="Text 21"/>
          <p:cNvSpPr/>
          <p:nvPr/>
        </p:nvSpPr>
        <p:spPr bwMode="auto">
          <a:xfrm>
            <a:off x="5551422" y="3309020"/>
            <a:ext cx="3483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salto</a:t>
            </a:r>
            <a:endParaRPr lang="en-US" sz="1200"/>
          </a:p>
        </p:txBody>
      </p:sp>
      <p:pic>
        <p:nvPicPr>
          <p:cNvPr id="461268320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98583" y="3560440"/>
            <a:ext cx="254000" cy="177800"/>
          </a:xfrm>
          <a:prstGeom prst="rect">
            <a:avLst/>
          </a:prstGeom>
        </p:spPr>
      </p:pic>
      <p:sp>
        <p:nvSpPr>
          <p:cNvPr id="80165458" name="Shape 22"/>
          <p:cNvSpPr/>
          <p:nvPr/>
        </p:nvSpPr>
        <p:spPr bwMode="auto">
          <a:xfrm>
            <a:off x="6074833" y="2810470"/>
            <a:ext cx="2413000" cy="1426369"/>
          </a:xfrm>
          <a:prstGeom prst="roundRect">
            <a:avLst>
              <a:gd name="adj" fmla="val 890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019473" name="Text 23"/>
          <p:cNvSpPr/>
          <p:nvPr/>
        </p:nvSpPr>
        <p:spPr bwMode="auto">
          <a:xfrm>
            <a:off x="6189133" y="2937470"/>
            <a:ext cx="224993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Programma 2</a:t>
            </a:r>
            <a:endParaRPr lang="en-US" sz="1400"/>
          </a:p>
        </p:txBody>
      </p:sp>
      <p:sp>
        <p:nvSpPr>
          <p:cNvPr id="670639941" name="Text 24"/>
          <p:cNvSpPr/>
          <p:nvPr/>
        </p:nvSpPr>
        <p:spPr bwMode="auto">
          <a:xfrm>
            <a:off x="6189133" y="3224485"/>
            <a:ext cx="2249932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pipeline: baseline, P1, P1.5, P2 o P3</a:t>
            </a:r>
            <a:endParaRPr lang="en-US" sz="1300"/>
          </a:p>
        </p:txBody>
      </p:sp>
      <p:sp>
        <p:nvSpPr>
          <p:cNvPr id="1931531702" name="Text 25"/>
          <p:cNvSpPr/>
          <p:nvPr/>
        </p:nvSpPr>
        <p:spPr bwMode="auto">
          <a:xfrm>
            <a:off x="8700691" y="3183334"/>
            <a:ext cx="5352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redirect</a:t>
            </a:r>
            <a:endParaRPr lang="en-US" sz="1200"/>
          </a:p>
        </p:txBody>
      </p:sp>
      <p:pic>
        <p:nvPicPr>
          <p:cNvPr id="1508502833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841317" y="3434755"/>
            <a:ext cx="254000" cy="177800"/>
          </a:xfrm>
          <a:prstGeom prst="rect">
            <a:avLst/>
          </a:prstGeom>
        </p:spPr>
      </p:pic>
      <p:sp>
        <p:nvSpPr>
          <p:cNvPr id="752483824" name="Shape 26"/>
          <p:cNvSpPr/>
          <p:nvPr/>
        </p:nvSpPr>
        <p:spPr bwMode="auto">
          <a:xfrm>
            <a:off x="9317567" y="2427821"/>
            <a:ext cx="1841500" cy="1940256"/>
          </a:xfrm>
          <a:prstGeom prst="roundRect">
            <a:avLst>
              <a:gd name="adj" fmla="val 689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83320654" name="Text 27"/>
          <p:cNvSpPr/>
          <p:nvPr/>
        </p:nvSpPr>
        <p:spPr bwMode="auto">
          <a:xfrm>
            <a:off x="9431867" y="2554821"/>
            <a:ext cx="16637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400"/>
          </a:p>
        </p:txBody>
      </p:sp>
      <p:sp>
        <p:nvSpPr>
          <p:cNvPr id="585442274" name="Text 28"/>
          <p:cNvSpPr/>
          <p:nvPr/>
        </p:nvSpPr>
        <p:spPr bwMode="auto">
          <a:xfrm>
            <a:off x="9431867" y="2841823"/>
            <a:ext cx="166370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gli arrivi</a:t>
            </a:r>
            <a:endParaRPr lang="en-US" sz="1300"/>
          </a:p>
        </p:txBody>
      </p:sp>
      <p:sp>
        <p:nvSpPr>
          <p:cNvPr id="1255154879" name="Shape 29"/>
          <p:cNvSpPr/>
          <p:nvPr/>
        </p:nvSpPr>
        <p:spPr bwMode="auto">
          <a:xfrm>
            <a:off x="9431867" y="396168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62855382" name="Text 30"/>
          <p:cNvSpPr/>
          <p:nvPr/>
        </p:nvSpPr>
        <p:spPr bwMode="auto">
          <a:xfrm>
            <a:off x="9532938" y="3994682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876427376" name="Text 31"/>
          <p:cNvSpPr/>
          <p:nvPr/>
        </p:nvSpPr>
        <p:spPr bwMode="auto">
          <a:xfrm>
            <a:off x="9774767" y="3976886"/>
            <a:ext cx="6402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inoltrati</a:t>
            </a:r>
            <a:endParaRPr lang="en-US" sz="1400"/>
          </a:p>
        </p:txBody>
      </p:sp>
      <p:sp>
        <p:nvSpPr>
          <p:cNvPr id="735021578" name="Shape 32"/>
          <p:cNvSpPr/>
          <p:nvPr/>
        </p:nvSpPr>
        <p:spPr bwMode="auto">
          <a:xfrm>
            <a:off x="546100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36901996" name="Shape 33"/>
          <p:cNvSpPr/>
          <p:nvPr/>
        </p:nvSpPr>
        <p:spPr bwMode="auto">
          <a:xfrm>
            <a:off x="546100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3378961" name="Text 34"/>
          <p:cNvSpPr/>
          <p:nvPr/>
        </p:nvSpPr>
        <p:spPr bwMode="auto">
          <a:xfrm>
            <a:off x="723900" y="5172869"/>
            <a:ext cx="33400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 − ricevuti</a:t>
            </a:r>
            <a:endParaRPr lang="en-US" sz="2000"/>
          </a:p>
        </p:txBody>
      </p:sp>
      <p:sp>
        <p:nvSpPr>
          <p:cNvPr id="996557132" name="Text 35"/>
          <p:cNvSpPr/>
          <p:nvPr/>
        </p:nvSpPr>
        <p:spPr bwMode="auto">
          <a:xfrm>
            <a:off x="723900" y="55665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= persi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 programma</a:t>
            </a:r>
            <a:endParaRPr lang="en-US" sz="1500"/>
          </a:p>
        </p:txBody>
      </p:sp>
      <p:sp>
        <p:nvSpPr>
          <p:cNvPr id="802310770" name="Text 36"/>
          <p:cNvSpPr/>
          <p:nvPr/>
        </p:nvSpPr>
        <p:spPr bwMode="auto">
          <a:xfrm>
            <a:off x="723900" y="5871369"/>
            <a:ext cx="334001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respinti dalla coda d'ingresso</a:t>
            </a:r>
            <a:endParaRPr lang="en-US" sz="1300"/>
          </a:p>
        </p:txBody>
      </p:sp>
      <p:sp>
        <p:nvSpPr>
          <p:cNvPr id="1539620471" name="Shape 37"/>
          <p:cNvSpPr/>
          <p:nvPr/>
        </p:nvSpPr>
        <p:spPr bwMode="auto">
          <a:xfrm>
            <a:off x="4296833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0899558" name="Shape 38"/>
          <p:cNvSpPr/>
          <p:nvPr/>
        </p:nvSpPr>
        <p:spPr bwMode="auto">
          <a:xfrm>
            <a:off x="4296833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3942103" name="Text 39"/>
          <p:cNvSpPr/>
          <p:nvPr/>
        </p:nvSpPr>
        <p:spPr bwMode="auto">
          <a:xfrm>
            <a:off x="4474633" y="5172869"/>
            <a:ext cx="33400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− inoltrati</a:t>
            </a:r>
            <a:endParaRPr lang="en-US" sz="2000"/>
          </a:p>
        </p:txBody>
      </p:sp>
      <p:sp>
        <p:nvSpPr>
          <p:cNvPr id="336036575" name="Text 40"/>
          <p:cNvSpPr/>
          <p:nvPr/>
        </p:nvSpPr>
        <p:spPr bwMode="auto">
          <a:xfrm>
            <a:off x="4474633" y="55665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= persi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dopo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il programma</a:t>
            </a:r>
            <a:endParaRPr lang="en-US" sz="1500"/>
          </a:p>
        </p:txBody>
      </p:sp>
      <p:sp>
        <p:nvSpPr>
          <p:cNvPr id="173621689" name="Text 41"/>
          <p:cNvSpPr/>
          <p:nvPr/>
        </p:nvSpPr>
        <p:spPr bwMode="auto">
          <a:xfrm>
            <a:off x="4474633" y="5871369"/>
            <a:ext cx="334001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o decisioni del modello (scarta)</a:t>
            </a:r>
            <a:endParaRPr lang="en-US" sz="1300"/>
          </a:p>
        </p:txBody>
      </p:sp>
      <p:sp>
        <p:nvSpPr>
          <p:cNvPr id="590517771" name="Shape 42"/>
          <p:cNvSpPr/>
          <p:nvPr/>
        </p:nvSpPr>
        <p:spPr bwMode="auto">
          <a:xfrm>
            <a:off x="8047567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73241189" name="Shape 43"/>
          <p:cNvSpPr/>
          <p:nvPr/>
        </p:nvSpPr>
        <p:spPr bwMode="auto">
          <a:xfrm>
            <a:off x="8047567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9668951" name="Text 44"/>
          <p:cNvSpPr/>
          <p:nvPr/>
        </p:nvSpPr>
        <p:spPr bwMode="auto">
          <a:xfrm>
            <a:off x="8225367" y="51728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 = il solo programma 1</a:t>
            </a:r>
            <a:endParaRPr lang="en-US" sz="1500"/>
          </a:p>
        </p:txBody>
      </p:sp>
      <p:sp>
        <p:nvSpPr>
          <p:cNvPr id="1929743973" name="Text 45"/>
          <p:cNvSpPr/>
          <p:nvPr/>
        </p:nvSpPr>
        <p:spPr bwMode="auto">
          <a:xfrm>
            <a:off x="8225367" y="5477669"/>
            <a:ext cx="3340014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Dice quanto regge la sola ricezione allo stesso ritmo. Il programma 1 costa fino a +5 ns: dentro il rumore.</a:t>
            </a:r>
            <a:endParaRPr lang="en-US" sz="1300"/>
          </a:p>
        </p:txBody>
      </p:sp>
      <p:sp>
        <p:nvSpPr>
          <p:cNvPr id="1942178308" name="Text 46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salto è la tail call che le pipeline già usano · costo del programma 1 misurato con le statistiche del kernel</a:t>
            </a:r>
            <a:endParaRPr lang="en-US" sz="1200"/>
          </a:p>
        </p:txBody>
      </p:sp>
      <p:sp>
        <p:nvSpPr>
          <p:cNvPr id="308181973" name="Text 47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16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278033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58794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COME SI LEGGE</a:t>
            </a:r>
            <a:endParaRPr lang="en-US" sz="1200"/>
          </a:p>
        </p:txBody>
      </p:sp>
      <p:sp>
        <p:nvSpPr>
          <p:cNvPr id="154659996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Dove mancano i pacchetti indica il collo di bottiglia</a:t>
            </a:r>
            <a:endParaRPr lang="en-US" sz="3000"/>
          </a:p>
        </p:txBody>
      </p:sp>
      <p:sp>
        <p:nvSpPr>
          <p:cNvPr id="1701456581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programma XDP non ha una coda sua: se è lento, si riempie la coda che sta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davanti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a lui.</a:t>
            </a:r>
            <a:endParaRPr lang="en-US" sz="1600"/>
          </a:p>
        </p:txBody>
      </p:sp>
      <p:sp>
        <p:nvSpPr>
          <p:cNvPr id="524893936" name="Shape 4"/>
          <p:cNvSpPr/>
          <p:nvPr/>
        </p:nvSpPr>
        <p:spPr bwMode="auto">
          <a:xfrm>
            <a:off x="546100" y="2270658"/>
            <a:ext cx="4883348" cy="1038754"/>
          </a:xfrm>
          <a:prstGeom prst="roundRect">
            <a:avLst>
              <a:gd name="adj" fmla="val 12226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93685201" name="Text 5"/>
          <p:cNvSpPr/>
          <p:nvPr/>
        </p:nvSpPr>
        <p:spPr bwMode="auto">
          <a:xfrm>
            <a:off x="723900" y="2384958"/>
            <a:ext cx="46635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SI OSSERVA</a:t>
            </a:r>
            <a:endParaRPr lang="en-US" sz="1200"/>
          </a:p>
        </p:txBody>
      </p:sp>
      <p:sp>
        <p:nvSpPr>
          <p:cNvPr id="734267060" name="Text 6"/>
          <p:cNvSpPr/>
          <p:nvPr/>
        </p:nvSpPr>
        <p:spPr bwMode="auto">
          <a:xfrm>
            <a:off x="723900" y="2623679"/>
            <a:ext cx="466358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 &gt; ricevuti</a:t>
            </a:r>
            <a:endParaRPr lang="en-US" sz="1700"/>
          </a:p>
        </p:txBody>
      </p:sp>
      <p:sp>
        <p:nvSpPr>
          <p:cNvPr id="319559885" name="Text 7"/>
          <p:cNvSpPr/>
          <p:nvPr/>
        </p:nvSpPr>
        <p:spPr bwMode="auto">
          <a:xfrm>
            <a:off x="723900" y="2951299"/>
            <a:ext cx="466358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mancano pacchetti prima di XDP</a:t>
            </a:r>
            <a:endParaRPr lang="en-US" sz="1300"/>
          </a:p>
        </p:txBody>
      </p:sp>
      <p:pic>
        <p:nvPicPr>
          <p:cNvPr id="1104291401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18348" y="2701131"/>
            <a:ext cx="254000" cy="177800"/>
          </a:xfrm>
          <a:prstGeom prst="rect">
            <a:avLst/>
          </a:prstGeom>
        </p:spPr>
      </p:pic>
      <p:sp>
        <p:nvSpPr>
          <p:cNvPr id="1333745996" name="Shape 8"/>
          <p:cNvSpPr/>
          <p:nvPr/>
        </p:nvSpPr>
        <p:spPr bwMode="auto">
          <a:xfrm>
            <a:off x="5870773" y="2280183"/>
            <a:ext cx="5765602" cy="1019703"/>
          </a:xfrm>
          <a:prstGeom prst="roundRect">
            <a:avLst>
              <a:gd name="adj" fmla="val 11521"/>
            </a:avLst>
          </a:prstGeom>
          <a:solidFill>
            <a:srgbClr val="FFFFFF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90623587" name="Text 9"/>
          <p:cNvSpPr/>
          <p:nvPr/>
        </p:nvSpPr>
        <p:spPr bwMode="auto">
          <a:xfrm>
            <a:off x="6036932" y="2382838"/>
            <a:ext cx="55962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VUOL DIRE</a:t>
            </a:r>
            <a:endParaRPr lang="en-US" sz="1200"/>
          </a:p>
        </p:txBody>
      </p:sp>
      <p:sp>
        <p:nvSpPr>
          <p:cNvPr id="1748506692" name="Text 10"/>
          <p:cNvSpPr/>
          <p:nvPr/>
        </p:nvSpPr>
        <p:spPr bwMode="auto">
          <a:xfrm>
            <a:off x="6036932" y="2621558"/>
            <a:ext cx="5596284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d'ingresso è piena: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(o la sola ricezione: lo separa rxonly).</a:t>
            </a:r>
            <a:endParaRPr lang="en-US" sz="1500"/>
          </a:p>
        </p:txBody>
      </p:sp>
      <p:sp>
        <p:nvSpPr>
          <p:cNvPr id="1407940152" name="Shape 11"/>
          <p:cNvSpPr/>
          <p:nvPr/>
        </p:nvSpPr>
        <p:spPr bwMode="auto">
          <a:xfrm>
            <a:off x="546100" y="3753842"/>
            <a:ext cx="5043025" cy="1535774"/>
          </a:xfrm>
          <a:prstGeom prst="roundRect">
            <a:avLst>
              <a:gd name="adj" fmla="val 826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195779" name="Text 12"/>
          <p:cNvSpPr/>
          <p:nvPr/>
        </p:nvSpPr>
        <p:spPr bwMode="auto">
          <a:xfrm>
            <a:off x="723900" y="4017640"/>
            <a:ext cx="482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SI OSSERVA</a:t>
            </a:r>
            <a:endParaRPr lang="en-US" sz="1200"/>
          </a:p>
        </p:txBody>
      </p:sp>
      <p:sp>
        <p:nvSpPr>
          <p:cNvPr id="509483718" name="Text 13"/>
          <p:cNvSpPr/>
          <p:nvPr/>
        </p:nvSpPr>
        <p:spPr bwMode="auto">
          <a:xfrm>
            <a:off x="723900" y="4256360"/>
            <a:ext cx="4828047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&gt; inoltrati</a:t>
            </a:r>
            <a:endParaRPr lang="en-US" sz="1700"/>
          </a:p>
        </p:txBody>
      </p:sp>
      <p:sp>
        <p:nvSpPr>
          <p:cNvPr id="1212135264" name="Text 14"/>
          <p:cNvSpPr/>
          <p:nvPr/>
        </p:nvSpPr>
        <p:spPr bwMode="auto">
          <a:xfrm>
            <a:off x="723900" y="4583981"/>
            <a:ext cx="482804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al nodo successivo ne arrivano meno: si guarda che cosa aveva deciso il programma</a:t>
            </a:r>
            <a:endParaRPr lang="en-US" sz="1300"/>
          </a:p>
        </p:txBody>
      </p:sp>
      <p:pic>
        <p:nvPicPr>
          <p:cNvPr id="788636605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678025" y="4432833"/>
            <a:ext cx="254000" cy="177800"/>
          </a:xfrm>
          <a:prstGeom prst="rect">
            <a:avLst/>
          </a:prstGeom>
        </p:spPr>
      </p:pic>
      <p:sp>
        <p:nvSpPr>
          <p:cNvPr id="668576566" name="Shape 15"/>
          <p:cNvSpPr/>
          <p:nvPr/>
        </p:nvSpPr>
        <p:spPr bwMode="auto">
          <a:xfrm>
            <a:off x="6030450" y="3763367"/>
            <a:ext cx="5605926" cy="704387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 w="19050">
            <a:solidFill>
              <a:srgbClr val="2E9C6E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5190217" name="Text 16"/>
          <p:cNvSpPr/>
          <p:nvPr/>
        </p:nvSpPr>
        <p:spPr bwMode="auto">
          <a:xfrm>
            <a:off x="6196607" y="3866034"/>
            <a:ext cx="54318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SE AVEVA DECISO DI INOLTRARE</a:t>
            </a:r>
            <a:endParaRPr lang="en-US" sz="1200"/>
          </a:p>
        </p:txBody>
      </p:sp>
      <p:sp>
        <p:nvSpPr>
          <p:cNvPr id="1130598826" name="Text 17"/>
          <p:cNvSpPr/>
          <p:nvPr/>
        </p:nvSpPr>
        <p:spPr bwMode="auto">
          <a:xfrm>
            <a:off x="6196607" y="4104754"/>
            <a:ext cx="5431817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pacchetto non è arrivato: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trasmissione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1976015038" name="Shape 18"/>
          <p:cNvSpPr/>
          <p:nvPr/>
        </p:nvSpPr>
        <p:spPr bwMode="auto">
          <a:xfrm>
            <a:off x="6030450" y="4575708"/>
            <a:ext cx="5605926" cy="704387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14328207" name="Text 19"/>
          <p:cNvSpPr/>
          <p:nvPr/>
        </p:nvSpPr>
        <p:spPr bwMode="auto">
          <a:xfrm>
            <a:off x="6196607" y="4678363"/>
            <a:ext cx="54318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SE AVEVA DECISO DI SCARTARE (O NON USATA)</a:t>
            </a:r>
            <a:endParaRPr lang="en-US" sz="1200"/>
          </a:p>
        </p:txBody>
      </p:sp>
      <p:sp>
        <p:nvSpPr>
          <p:cNvPr id="283104236" name="Text 20"/>
          <p:cNvSpPr/>
          <p:nvPr/>
        </p:nvSpPr>
        <p:spPr bwMode="auto">
          <a:xfrm>
            <a:off x="6196607" y="4917083"/>
            <a:ext cx="5431817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è una perdita: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una decisione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della rete neurale.</a:t>
            </a:r>
            <a:endParaRPr lang="en-US" sz="1500"/>
          </a:p>
        </p:txBody>
      </p:sp>
      <p:sp>
        <p:nvSpPr>
          <p:cNvPr id="1717949444" name="Shape 21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0517019" name="Shape 22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1444520" name="Text 23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676002854" name="Text 24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Tre conteggi più le decisioni del programma separano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tre casi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che altrimenti sembrerebbero uguali.</a:t>
            </a:r>
            <a:endParaRPr lang="en-US" sz="1500"/>
          </a:p>
        </p:txBody>
      </p:sp>
      <p:sp>
        <p:nvSpPr>
          <p:cNvPr id="1796943261" name="Text 25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Inviati: generatore · ricevuti: programma 1 · inoltrati: nodo successivo · decisioni: contatori della pipeline (HIT, MISS, DROP)</a:t>
            </a:r>
            <a:endParaRPr lang="en-US" sz="1200"/>
          </a:p>
        </p:txBody>
      </p:sp>
      <p:sp>
        <p:nvSpPr>
          <p:cNvPr id="816164744" name="Text 26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17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20539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4854288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PACCHETTI INOLTRATI</a:t>
            </a:r>
            <a:endParaRPr lang="en-US" sz="1200"/>
          </a:p>
        </p:txBody>
      </p:sp>
      <p:sp>
        <p:nvSpPr>
          <p:cNvPr id="106576163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Ogni curva sale con il traffico e poi si ferma</a:t>
            </a:r>
            <a:endParaRPr lang="en-US" sz="3000"/>
          </a:p>
        </p:txBody>
      </p:sp>
      <p:pic>
        <p:nvPicPr>
          <p:cNvPr id="1516013105" name="Image 0" descr="Pacchetti inoltrati al secondo contro traffico inviato. Ogni pipeline segue la diagonale e poi si ferma alla propria capacità: baseline 3,3, P1 2,9, P1.5 2,8, P2 1,9, P3 1,5 milioni al secondo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501503217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inoltrati</a:t>
            </a:r>
            <a:endParaRPr lang="en-US" sz="1200"/>
          </a:p>
        </p:txBody>
      </p:sp>
      <p:sp>
        <p:nvSpPr>
          <p:cNvPr id="432164483" name="Text 4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608310193" name="Text 5"/>
          <p:cNvSpPr/>
          <p:nvPr/>
        </p:nvSpPr>
        <p:spPr bwMode="auto">
          <a:xfrm>
            <a:off x="495300" y="39814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1197476078" name="Text 6"/>
          <p:cNvSpPr/>
          <p:nvPr/>
        </p:nvSpPr>
        <p:spPr bwMode="auto">
          <a:xfrm>
            <a:off x="495300" y="33845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202781063" name="Text 7"/>
          <p:cNvSpPr/>
          <p:nvPr/>
        </p:nvSpPr>
        <p:spPr bwMode="auto">
          <a:xfrm>
            <a:off x="495300" y="27876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844517580" name="Text 8"/>
          <p:cNvSpPr/>
          <p:nvPr/>
        </p:nvSpPr>
        <p:spPr bwMode="auto">
          <a:xfrm>
            <a:off x="495300" y="21907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1843937933" name="Text 9"/>
          <p:cNvSpPr/>
          <p:nvPr/>
        </p:nvSpPr>
        <p:spPr bwMode="auto">
          <a:xfrm>
            <a:off x="495300" y="15938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1320873304" name="Text 10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393229814" name="Text 11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1417996682" name="Text 12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2086912781" name="Text 13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807668496" name="Text 14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210189422" name="Text 15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521617939" name="Text 16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514848756" name="Text 17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1274350883" name="Text 18"/>
          <p:cNvSpPr/>
          <p:nvPr/>
        </p:nvSpPr>
        <p:spPr bwMode="auto">
          <a:xfrm>
            <a:off x="3797300" y="217170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200"/>
          </a:p>
        </p:txBody>
      </p:sp>
      <p:sp>
        <p:nvSpPr>
          <p:cNvPr id="1356753853" name="Text 19"/>
          <p:cNvSpPr/>
          <p:nvPr/>
        </p:nvSpPr>
        <p:spPr bwMode="auto">
          <a:xfrm>
            <a:off x="4927600" y="163830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solo ricezione</a:t>
            </a:r>
            <a:endParaRPr lang="en-US" sz="1200"/>
          </a:p>
        </p:txBody>
      </p:sp>
      <p:sp>
        <p:nvSpPr>
          <p:cNvPr id="971787188" name="Text 20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Dove si ferma ogni pipeline</a:t>
            </a:r>
            <a:endParaRPr lang="en-US" sz="1500"/>
          </a:p>
        </p:txBody>
      </p:sp>
      <p:sp>
        <p:nvSpPr>
          <p:cNvPr id="1856316116" name="Text 21"/>
          <p:cNvSpPr/>
          <p:nvPr/>
        </p:nvSpPr>
        <p:spPr bwMode="auto">
          <a:xfrm>
            <a:off x="7162800" y="2139429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pipeline</a:t>
            </a:r>
            <a:endParaRPr lang="en-US" sz="1200"/>
          </a:p>
        </p:txBody>
      </p:sp>
      <p:sp>
        <p:nvSpPr>
          <p:cNvPr id="1278333431" name="Text 22"/>
          <p:cNvSpPr/>
          <p:nvPr/>
        </p:nvSpPr>
        <p:spPr bwMode="auto">
          <a:xfrm>
            <a:off x="8128000" y="1987091"/>
            <a:ext cx="11303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pulita fino a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(Gbit/s)</a:t>
            </a:r>
            <a:endParaRPr lang="en-US" sz="1200"/>
          </a:p>
        </p:txBody>
      </p:sp>
      <p:sp>
        <p:nvSpPr>
          <p:cNvPr id="998988649" name="Text 23"/>
          <p:cNvSpPr/>
          <p:nvPr/>
        </p:nvSpPr>
        <p:spPr bwMode="auto">
          <a:xfrm>
            <a:off x="9207500" y="1987091"/>
            <a:ext cx="9398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perde da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(Gbit/s)</a:t>
            </a:r>
            <a:endParaRPr lang="en-US" sz="1200"/>
          </a:p>
        </p:txBody>
      </p:sp>
      <p:sp>
        <p:nvSpPr>
          <p:cNvPr id="320730489" name="Text 24"/>
          <p:cNvSpPr/>
          <p:nvPr/>
        </p:nvSpPr>
        <p:spPr bwMode="auto">
          <a:xfrm>
            <a:off x="10096500" y="1987091"/>
            <a:ext cx="13208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inoltro max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(M pacchetti/s)</a:t>
            </a:r>
            <a:endParaRPr lang="en-US" sz="1200"/>
          </a:p>
        </p:txBody>
      </p:sp>
      <p:sp>
        <p:nvSpPr>
          <p:cNvPr id="1150075413" name="Shape 25"/>
          <p:cNvSpPr/>
          <p:nvPr/>
        </p:nvSpPr>
        <p:spPr bwMode="auto">
          <a:xfrm>
            <a:off x="7073900" y="2457648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2902227" name="Shape 26"/>
          <p:cNvSpPr/>
          <p:nvPr/>
        </p:nvSpPr>
        <p:spPr bwMode="auto">
          <a:xfrm>
            <a:off x="7162800" y="2559186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83601735" name="Text 27"/>
          <p:cNvSpPr/>
          <p:nvPr/>
        </p:nvSpPr>
        <p:spPr bwMode="auto">
          <a:xfrm>
            <a:off x="7378700" y="2510966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237564669" name="Text 28"/>
          <p:cNvSpPr/>
          <p:nvPr/>
        </p:nvSpPr>
        <p:spPr bwMode="auto">
          <a:xfrm>
            <a:off x="8128000" y="2510966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1,44</a:t>
            </a:r>
            <a:endParaRPr lang="en-US" sz="1400"/>
          </a:p>
        </p:txBody>
      </p:sp>
      <p:sp>
        <p:nvSpPr>
          <p:cNvPr id="1086593318" name="Text 29"/>
          <p:cNvSpPr/>
          <p:nvPr/>
        </p:nvSpPr>
        <p:spPr bwMode="auto">
          <a:xfrm>
            <a:off x="9207500" y="2510966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1,68</a:t>
            </a:r>
            <a:endParaRPr lang="en-US" sz="1400"/>
          </a:p>
        </p:txBody>
      </p:sp>
      <p:sp>
        <p:nvSpPr>
          <p:cNvPr id="379252684" name="Text 30"/>
          <p:cNvSpPr/>
          <p:nvPr/>
        </p:nvSpPr>
        <p:spPr bwMode="auto">
          <a:xfrm>
            <a:off x="10096500" y="2510966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3,34</a:t>
            </a:r>
            <a:endParaRPr lang="en-US" sz="1400"/>
          </a:p>
        </p:txBody>
      </p:sp>
      <p:sp>
        <p:nvSpPr>
          <p:cNvPr id="1292659127" name="Shape 31"/>
          <p:cNvSpPr/>
          <p:nvPr/>
        </p:nvSpPr>
        <p:spPr bwMode="auto">
          <a:xfrm>
            <a:off x="7073900" y="2918098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2326486" name="Shape 32"/>
          <p:cNvSpPr/>
          <p:nvPr/>
        </p:nvSpPr>
        <p:spPr bwMode="auto">
          <a:xfrm>
            <a:off x="7162800" y="3019623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5668774" name="Text 33"/>
          <p:cNvSpPr/>
          <p:nvPr/>
        </p:nvSpPr>
        <p:spPr bwMode="auto">
          <a:xfrm>
            <a:off x="7378700" y="2971403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155331024" name="Text 34"/>
          <p:cNvSpPr/>
          <p:nvPr/>
        </p:nvSpPr>
        <p:spPr bwMode="auto">
          <a:xfrm>
            <a:off x="8128000" y="2971403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1,20</a:t>
            </a:r>
            <a:endParaRPr lang="en-US" sz="1400"/>
          </a:p>
        </p:txBody>
      </p:sp>
      <p:sp>
        <p:nvSpPr>
          <p:cNvPr id="642692999" name="Text 35"/>
          <p:cNvSpPr/>
          <p:nvPr/>
        </p:nvSpPr>
        <p:spPr bwMode="auto">
          <a:xfrm>
            <a:off x="9207500" y="2971403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1,44</a:t>
            </a:r>
            <a:endParaRPr lang="en-US" sz="1400"/>
          </a:p>
        </p:txBody>
      </p:sp>
      <p:sp>
        <p:nvSpPr>
          <p:cNvPr id="218981886" name="Text 36"/>
          <p:cNvSpPr/>
          <p:nvPr/>
        </p:nvSpPr>
        <p:spPr bwMode="auto">
          <a:xfrm>
            <a:off x="10096500" y="2971403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2,94</a:t>
            </a:r>
            <a:endParaRPr lang="en-US" sz="1400"/>
          </a:p>
        </p:txBody>
      </p:sp>
      <p:sp>
        <p:nvSpPr>
          <p:cNvPr id="172165083" name="Shape 37"/>
          <p:cNvSpPr/>
          <p:nvPr/>
        </p:nvSpPr>
        <p:spPr bwMode="auto">
          <a:xfrm>
            <a:off x="7073900" y="3378597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0842438" name="Shape 38"/>
          <p:cNvSpPr/>
          <p:nvPr/>
        </p:nvSpPr>
        <p:spPr bwMode="auto">
          <a:xfrm>
            <a:off x="7162800" y="3480135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85195158" name="Text 39"/>
          <p:cNvSpPr/>
          <p:nvPr/>
        </p:nvSpPr>
        <p:spPr bwMode="auto">
          <a:xfrm>
            <a:off x="7378700" y="343191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563266348" name="Text 40"/>
          <p:cNvSpPr/>
          <p:nvPr/>
        </p:nvSpPr>
        <p:spPr bwMode="auto">
          <a:xfrm>
            <a:off x="8128000" y="3431915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1,20</a:t>
            </a:r>
            <a:endParaRPr lang="en-US" sz="1400"/>
          </a:p>
        </p:txBody>
      </p:sp>
      <p:sp>
        <p:nvSpPr>
          <p:cNvPr id="1508428133" name="Text 41"/>
          <p:cNvSpPr/>
          <p:nvPr/>
        </p:nvSpPr>
        <p:spPr bwMode="auto">
          <a:xfrm>
            <a:off x="9207500" y="3431915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1,44</a:t>
            </a:r>
            <a:endParaRPr lang="en-US" sz="1400"/>
          </a:p>
        </p:txBody>
      </p:sp>
      <p:sp>
        <p:nvSpPr>
          <p:cNvPr id="1277103624" name="Text 42"/>
          <p:cNvSpPr/>
          <p:nvPr/>
        </p:nvSpPr>
        <p:spPr bwMode="auto">
          <a:xfrm>
            <a:off x="10096500" y="343191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2,84</a:t>
            </a:r>
            <a:endParaRPr lang="en-US" sz="1400"/>
          </a:p>
        </p:txBody>
      </p:sp>
      <p:sp>
        <p:nvSpPr>
          <p:cNvPr id="260382075" name="Shape 43"/>
          <p:cNvSpPr/>
          <p:nvPr/>
        </p:nvSpPr>
        <p:spPr bwMode="auto">
          <a:xfrm>
            <a:off x="7073900" y="3839046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8752026" name="Shape 44"/>
          <p:cNvSpPr/>
          <p:nvPr/>
        </p:nvSpPr>
        <p:spPr bwMode="auto">
          <a:xfrm>
            <a:off x="7162800" y="3940572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6318165" name="Text 45"/>
          <p:cNvSpPr/>
          <p:nvPr/>
        </p:nvSpPr>
        <p:spPr bwMode="auto">
          <a:xfrm>
            <a:off x="7378700" y="3892352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397400571" name="Text 46"/>
          <p:cNvSpPr/>
          <p:nvPr/>
        </p:nvSpPr>
        <p:spPr bwMode="auto">
          <a:xfrm>
            <a:off x="8128000" y="3892352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0,72</a:t>
            </a:r>
            <a:endParaRPr lang="en-US" sz="1400"/>
          </a:p>
        </p:txBody>
      </p:sp>
      <p:sp>
        <p:nvSpPr>
          <p:cNvPr id="688041895" name="Text 47"/>
          <p:cNvSpPr/>
          <p:nvPr/>
        </p:nvSpPr>
        <p:spPr bwMode="auto">
          <a:xfrm>
            <a:off x="9207500" y="3892352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0,96</a:t>
            </a:r>
            <a:endParaRPr lang="en-US" sz="1400"/>
          </a:p>
        </p:txBody>
      </p:sp>
      <p:sp>
        <p:nvSpPr>
          <p:cNvPr id="1822472197" name="Text 48"/>
          <p:cNvSpPr/>
          <p:nvPr/>
        </p:nvSpPr>
        <p:spPr bwMode="auto">
          <a:xfrm>
            <a:off x="10096500" y="3892352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1,89</a:t>
            </a:r>
            <a:endParaRPr lang="en-US" sz="1400"/>
          </a:p>
        </p:txBody>
      </p:sp>
      <p:sp>
        <p:nvSpPr>
          <p:cNvPr id="278094196" name="Shape 49"/>
          <p:cNvSpPr/>
          <p:nvPr/>
        </p:nvSpPr>
        <p:spPr bwMode="auto">
          <a:xfrm>
            <a:off x="7073900" y="4299545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7421109" name="Shape 50"/>
          <p:cNvSpPr/>
          <p:nvPr/>
        </p:nvSpPr>
        <p:spPr bwMode="auto">
          <a:xfrm>
            <a:off x="7162800" y="4401083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2338426" name="Text 51"/>
          <p:cNvSpPr/>
          <p:nvPr/>
        </p:nvSpPr>
        <p:spPr bwMode="auto">
          <a:xfrm>
            <a:off x="7378700" y="4352863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64335640" name="Text 52"/>
          <p:cNvSpPr/>
          <p:nvPr/>
        </p:nvSpPr>
        <p:spPr bwMode="auto">
          <a:xfrm>
            <a:off x="8128000" y="4352863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</a:t>
            </a:r>
            <a:r>
              <a:rPr lang="it-IT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726002821" name="Text 53"/>
          <p:cNvSpPr/>
          <p:nvPr/>
        </p:nvSpPr>
        <p:spPr bwMode="auto">
          <a:xfrm>
            <a:off x="9207500" y="4352863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</a:t>
            </a:r>
            <a:r>
              <a:rPr lang="it-IT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96</a:t>
            </a:r>
            <a:endParaRPr lang="en-US" sz="1400"/>
          </a:p>
        </p:txBody>
      </p:sp>
      <p:sp>
        <p:nvSpPr>
          <p:cNvPr id="1502563335" name="Text 54"/>
          <p:cNvSpPr/>
          <p:nvPr/>
        </p:nvSpPr>
        <p:spPr bwMode="auto">
          <a:xfrm>
            <a:off x="10096500" y="4352863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1,50</a:t>
            </a:r>
            <a:endParaRPr lang="en-US" sz="1400"/>
          </a:p>
        </p:txBody>
      </p:sp>
      <p:sp>
        <p:nvSpPr>
          <p:cNvPr id="940055482" name="Text 55"/>
          <p:cNvSpPr/>
          <p:nvPr/>
        </p:nvSpPr>
        <p:spPr bwMode="auto">
          <a:xfrm>
            <a:off x="7073900" y="4759995"/>
            <a:ext cx="4709160" cy="421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Sono gradini della scala (~0,24 Gbit/s), non soglie esatte. A 64 byte, 1 Gbit/s ≈ 1,95 milioni di pacchetti al secondo.</a:t>
            </a:r>
            <a:endParaRPr lang="en-US" sz="1200"/>
          </a:p>
        </p:txBody>
      </p:sp>
      <p:sp>
        <p:nvSpPr>
          <p:cNvPr id="1336295453" name="Shape 56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4098306" name="Shape 57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4064995" name="Text 58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26815261" name="Text 59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curva si ferma alla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capacità della sua pipeline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3,3 · 2,9 · 2,8 · 1,9 · 1,5 milioni di pacchetti al secondo, la stessa cifra del test di saturazione.</a:t>
            </a:r>
            <a:endParaRPr lang="en-US" sz="1500"/>
          </a:p>
        </p:txBody>
      </p:sp>
      <p:sp>
        <p:nvSpPr>
          <p:cNvPr id="623512826" name="Text 60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13 valori di traffico, 5 giri ciascuno, 64 byte, 390 finestre · DUT a 3 494 MHz, nessun throttling</a:t>
            </a:r>
            <a:endParaRPr lang="en-US" sz="1200"/>
          </a:p>
        </p:txBody>
      </p:sp>
      <p:sp>
        <p:nvSpPr>
          <p:cNvPr id="417555541" name="Text 61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18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2202998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27036469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RICEVUTI E INOLTRATI</a:t>
            </a:r>
            <a:endParaRPr lang="en-US" sz="1200"/>
          </a:p>
        </p:txBody>
      </p:sp>
      <p:sp>
        <p:nvSpPr>
          <p:cNvPr id="10047965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programma rilancia tutto ciò che riceve</a:t>
            </a:r>
            <a:endParaRPr lang="en-US" sz="3000"/>
          </a:p>
        </p:txBody>
      </p:sp>
      <p:pic>
        <p:nvPicPr>
          <p:cNvPr id="505416" name="Image 0" descr="Pipeline P2: pacchetti inviati, ricevuti da XDP e inoltrati al secondo contro traffico inviato. Gli inviati continuano a salire, ricevuti e inoltrati si fermano insieme a 1,9 milioni al secondo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590546161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(pipeline P2)</a:t>
            </a:r>
            <a:endParaRPr lang="en-US" sz="1200"/>
          </a:p>
        </p:txBody>
      </p:sp>
      <p:sp>
        <p:nvSpPr>
          <p:cNvPr id="91008670" name="Text 4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325859467" name="Text 5"/>
          <p:cNvSpPr/>
          <p:nvPr/>
        </p:nvSpPr>
        <p:spPr bwMode="auto">
          <a:xfrm>
            <a:off x="495300" y="408114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405509497" name="Text 6"/>
          <p:cNvSpPr/>
          <p:nvPr/>
        </p:nvSpPr>
        <p:spPr bwMode="auto">
          <a:xfrm>
            <a:off x="495300" y="358326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418828811" name="Text 7"/>
          <p:cNvSpPr/>
          <p:nvPr/>
        </p:nvSpPr>
        <p:spPr bwMode="auto">
          <a:xfrm>
            <a:off x="495300" y="308610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39057289" name="Text 8"/>
          <p:cNvSpPr/>
          <p:nvPr/>
        </p:nvSpPr>
        <p:spPr bwMode="auto">
          <a:xfrm>
            <a:off x="495300" y="258889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160478813" name="Text 9"/>
          <p:cNvSpPr/>
          <p:nvPr/>
        </p:nvSpPr>
        <p:spPr bwMode="auto">
          <a:xfrm>
            <a:off x="495300" y="209101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920411992" name="Text 10"/>
          <p:cNvSpPr/>
          <p:nvPr/>
        </p:nvSpPr>
        <p:spPr bwMode="auto">
          <a:xfrm>
            <a:off x="495300" y="15938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200"/>
          </a:p>
        </p:txBody>
      </p:sp>
      <p:sp>
        <p:nvSpPr>
          <p:cNvPr id="2093196938" name="Text 11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87827372" name="Text 12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709986950" name="Text 13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62909204" name="Text 14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116052092" name="Text 15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812259568" name="Text 16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379763847" name="Text 17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1325430124" name="Text 18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1562964909" name="Text 19"/>
          <p:cNvSpPr/>
          <p:nvPr/>
        </p:nvSpPr>
        <p:spPr bwMode="auto">
          <a:xfrm>
            <a:off x="2946400" y="195580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da qui la coda è piena</a:t>
            </a:r>
            <a:endParaRPr lang="en-US" sz="1200"/>
          </a:p>
        </p:txBody>
      </p:sp>
      <p:sp>
        <p:nvSpPr>
          <p:cNvPr id="1461732952" name="Text 20"/>
          <p:cNvSpPr/>
          <p:nvPr/>
        </p:nvSpPr>
        <p:spPr bwMode="auto">
          <a:xfrm>
            <a:off x="3225800" y="2768600"/>
            <a:ext cx="939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200"/>
          </a:p>
        </p:txBody>
      </p:sp>
      <p:sp>
        <p:nvSpPr>
          <p:cNvPr id="120502757" name="Text 21"/>
          <p:cNvSpPr/>
          <p:nvPr/>
        </p:nvSpPr>
        <p:spPr bwMode="auto">
          <a:xfrm>
            <a:off x="4610100" y="344170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= inoltrati</a:t>
            </a:r>
            <a:endParaRPr lang="en-US" sz="1200"/>
          </a:p>
        </p:txBody>
      </p:sp>
      <p:sp>
        <p:nvSpPr>
          <p:cNvPr id="1053609570" name="Shape 22"/>
          <p:cNvSpPr/>
          <p:nvPr/>
        </p:nvSpPr>
        <p:spPr bwMode="auto">
          <a:xfrm>
            <a:off x="7073900" y="1562100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4996076" name="Shape 23"/>
          <p:cNvSpPr/>
          <p:nvPr/>
        </p:nvSpPr>
        <p:spPr bwMode="auto">
          <a:xfrm>
            <a:off x="7251700" y="16891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4122110" name="Text 24"/>
          <p:cNvSpPr/>
          <p:nvPr/>
        </p:nvSpPr>
        <p:spPr bwMode="auto">
          <a:xfrm>
            <a:off x="7362230" y="172594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300"/>
          </a:p>
        </p:txBody>
      </p:sp>
      <p:sp>
        <p:nvSpPr>
          <p:cNvPr id="797762814" name="Text 25"/>
          <p:cNvSpPr/>
          <p:nvPr/>
        </p:nvSpPr>
        <p:spPr bwMode="auto">
          <a:xfrm>
            <a:off x="7645400" y="1708150"/>
            <a:ext cx="2755594" cy="29210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So</a:t>
            </a: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tto il limite, le curve coincidono</a:t>
            </a:r>
            <a:endParaRPr lang="en-US" sz="1500"/>
          </a:p>
        </p:txBody>
      </p:sp>
      <p:sp>
        <p:nvSpPr>
          <p:cNvPr id="538401678" name="Text 26"/>
          <p:cNvSpPr/>
          <p:nvPr/>
        </p:nvSpPr>
        <p:spPr bwMode="auto">
          <a:xfrm>
            <a:off x="7251700" y="2032000"/>
            <a:ext cx="4342892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Tutto ciò che si invia viene ricevuto e inoltrato.</a:t>
            </a:r>
            <a:endParaRPr lang="en-US" sz="1300"/>
          </a:p>
        </p:txBody>
      </p:sp>
      <p:sp>
        <p:nvSpPr>
          <p:cNvPr id="2038918631" name="Shape 27"/>
          <p:cNvSpPr/>
          <p:nvPr/>
        </p:nvSpPr>
        <p:spPr bwMode="auto">
          <a:xfrm>
            <a:off x="7073900" y="2789771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49377882" name="Shape 28"/>
          <p:cNvSpPr/>
          <p:nvPr/>
        </p:nvSpPr>
        <p:spPr bwMode="auto">
          <a:xfrm>
            <a:off x="7251700" y="29167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0518033" name="Text 29"/>
          <p:cNvSpPr/>
          <p:nvPr/>
        </p:nvSpPr>
        <p:spPr bwMode="auto">
          <a:xfrm>
            <a:off x="7362230" y="2953618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300"/>
          </a:p>
        </p:txBody>
      </p:sp>
      <p:sp>
        <p:nvSpPr>
          <p:cNvPr id="1308399480" name="Text 30"/>
          <p:cNvSpPr/>
          <p:nvPr/>
        </p:nvSpPr>
        <p:spPr bwMode="auto">
          <a:xfrm>
            <a:off x="7645400" y="2935821"/>
            <a:ext cx="300679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Sopra il limite, salgono solo gli inviati</a:t>
            </a:r>
            <a:endParaRPr lang="en-US" sz="1500"/>
          </a:p>
        </p:txBody>
      </p:sp>
      <p:sp>
        <p:nvSpPr>
          <p:cNvPr id="1220391394" name="Text 31"/>
          <p:cNvSpPr/>
          <p:nvPr/>
        </p:nvSpPr>
        <p:spPr bwMode="auto">
          <a:xfrm>
            <a:off x="7251700" y="3259671"/>
            <a:ext cx="4342892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Ricevuti e inoltrati si fermano insieme, a 1,9 milioni al secondo.</a:t>
            </a:r>
            <a:endParaRPr lang="en-US" sz="1300"/>
          </a:p>
        </p:txBody>
      </p:sp>
      <p:sp>
        <p:nvSpPr>
          <p:cNvPr id="1552000361" name="Shape 32"/>
          <p:cNvSpPr/>
          <p:nvPr/>
        </p:nvSpPr>
        <p:spPr bwMode="auto">
          <a:xfrm>
            <a:off x="7073900" y="4017442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8146029" name="Shape 33"/>
          <p:cNvSpPr/>
          <p:nvPr/>
        </p:nvSpPr>
        <p:spPr bwMode="auto">
          <a:xfrm>
            <a:off x="7251700" y="414444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847657" name="Text 34"/>
          <p:cNvSpPr/>
          <p:nvPr/>
        </p:nvSpPr>
        <p:spPr bwMode="auto">
          <a:xfrm>
            <a:off x="7362230" y="418127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300"/>
          </a:p>
        </p:txBody>
      </p:sp>
      <p:sp>
        <p:nvSpPr>
          <p:cNvPr id="238516387" name="Text 35"/>
          <p:cNvSpPr/>
          <p:nvPr/>
        </p:nvSpPr>
        <p:spPr bwMode="auto">
          <a:xfrm>
            <a:off x="7645400" y="4163492"/>
            <a:ext cx="267138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Ciò che manca non è mai entrato</a:t>
            </a:r>
            <a:endParaRPr lang="en-US" sz="1500"/>
          </a:p>
        </p:txBody>
      </p:sp>
      <p:sp>
        <p:nvSpPr>
          <p:cNvPr id="782415224" name="Text 36"/>
          <p:cNvSpPr/>
          <p:nvPr/>
        </p:nvSpPr>
        <p:spPr bwMode="auto">
          <a:xfrm>
            <a:off x="7251700" y="4487342"/>
            <a:ext cx="4342892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 non perde niente di quello che prende.</a:t>
            </a:r>
            <a:endParaRPr lang="en-US" sz="1300"/>
          </a:p>
        </p:txBody>
      </p:sp>
      <p:sp>
        <p:nvSpPr>
          <p:cNvPr id="1178229569" name="Shape 37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2330877" name="Shape 38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7077033" name="Text 39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867611939" name="Text 40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Ricevuti e inoltrati restano sovrapposti in tutte e cinque le pipeline: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dopo XDP si perde al massimo lo 0,02%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degli inviati.</a:t>
            </a:r>
            <a:endParaRPr lang="en-US" sz="1500"/>
          </a:p>
        </p:txBody>
      </p:sp>
      <p:sp>
        <p:nvSpPr>
          <p:cNvPr id="1270720501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Esempio: P2, mediana di 5 giri · linea scura = ricevuti da XDP, arancione = inoltrati: coincidono</a:t>
            </a:r>
            <a:endParaRPr lang="en-US" sz="1200"/>
          </a:p>
        </p:txBody>
      </p:sp>
      <p:sp>
        <p:nvSpPr>
          <p:cNvPr id="189521281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19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98194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725977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LA PERDITA</a:t>
            </a:r>
            <a:endParaRPr lang="en-US" sz="1200"/>
          </a:p>
        </p:txBody>
      </p:sp>
      <p:sp>
        <p:nvSpPr>
          <p:cNvPr id="300519361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perdita è tutta prima del programma</a:t>
            </a:r>
            <a:endParaRPr lang="en-US" sz="3000"/>
          </a:p>
        </p:txBody>
      </p:sp>
      <p:pic>
        <p:nvPicPr>
          <p:cNvPr id="1819112788" name="Image 0" descr="Perdita in percentuale dei pacchetti inviati contro traffico inviato, per pipeline. Le curve salgono dopo il ginocchio di ogni pipeline fino al 43, 50, 51, 68 e 74 per cento; dopo il programma la perdita resta sotto lo 0,02 per cento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350184843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% dei pacchetti inviati che si perde</a:t>
            </a:r>
            <a:endParaRPr lang="en-US" sz="1200"/>
          </a:p>
        </p:txBody>
      </p:sp>
      <p:sp>
        <p:nvSpPr>
          <p:cNvPr id="2036028975" name="Text 4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249203114" name="Text 5"/>
          <p:cNvSpPr/>
          <p:nvPr/>
        </p:nvSpPr>
        <p:spPr bwMode="auto">
          <a:xfrm>
            <a:off x="495300" y="383222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20</a:t>
            </a:r>
            <a:endParaRPr lang="en-US" sz="1200"/>
          </a:p>
        </p:txBody>
      </p:sp>
      <p:sp>
        <p:nvSpPr>
          <p:cNvPr id="322057412" name="Text 6"/>
          <p:cNvSpPr/>
          <p:nvPr/>
        </p:nvSpPr>
        <p:spPr bwMode="auto">
          <a:xfrm>
            <a:off x="495300" y="308610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40</a:t>
            </a:r>
            <a:endParaRPr lang="en-US" sz="1200"/>
          </a:p>
        </p:txBody>
      </p:sp>
      <p:sp>
        <p:nvSpPr>
          <p:cNvPr id="1650279091" name="Text 7"/>
          <p:cNvSpPr/>
          <p:nvPr/>
        </p:nvSpPr>
        <p:spPr bwMode="auto">
          <a:xfrm>
            <a:off x="495300" y="233997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60</a:t>
            </a:r>
            <a:endParaRPr lang="en-US" sz="1200"/>
          </a:p>
        </p:txBody>
      </p:sp>
      <p:sp>
        <p:nvSpPr>
          <p:cNvPr id="551496937" name="Text 8"/>
          <p:cNvSpPr/>
          <p:nvPr/>
        </p:nvSpPr>
        <p:spPr bwMode="auto">
          <a:xfrm>
            <a:off x="495300" y="15938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80</a:t>
            </a:r>
            <a:endParaRPr lang="en-US" sz="1200"/>
          </a:p>
        </p:txBody>
      </p:sp>
      <p:sp>
        <p:nvSpPr>
          <p:cNvPr id="1964803276" name="Text 9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921241186" name="Text 10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1645994134" name="Text 11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444151063" name="Text 12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234002464" name="Text 13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1776787693" name="Text 14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248882710" name="Text 15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697998378" name="Text 16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706055998" name="Text 17"/>
          <p:cNvSpPr/>
          <p:nvPr/>
        </p:nvSpPr>
        <p:spPr bwMode="auto">
          <a:xfrm>
            <a:off x="4939665" y="4381500"/>
            <a:ext cx="17659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dopo XDP: ≤ 0,02%</a:t>
            </a:r>
            <a:endParaRPr lang="en-US" sz="1200"/>
          </a:p>
        </p:txBody>
      </p:sp>
      <p:sp>
        <p:nvSpPr>
          <p:cNvPr id="112649686" name="Text 18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Perdita a circa 3 Gbit/s</a:t>
            </a:r>
            <a:endParaRPr lang="en-US" sz="1500"/>
          </a:p>
        </p:txBody>
      </p:sp>
      <p:sp>
        <p:nvSpPr>
          <p:cNvPr id="1126774871" name="Text 19"/>
          <p:cNvSpPr/>
          <p:nvPr/>
        </p:nvSpPr>
        <p:spPr bwMode="auto">
          <a:xfrm>
            <a:off x="7073900" y="184150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prima del programma, % degli inviati</a:t>
            </a:r>
            <a:endParaRPr lang="en-US" sz="1200"/>
          </a:p>
        </p:txBody>
      </p:sp>
      <p:sp>
        <p:nvSpPr>
          <p:cNvPr id="1083932606" name="Shape 20"/>
          <p:cNvSpPr/>
          <p:nvPr/>
        </p:nvSpPr>
        <p:spPr bwMode="auto">
          <a:xfrm>
            <a:off x="7073900" y="21310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1205073" name="Shape 21"/>
          <p:cNvSpPr/>
          <p:nvPr/>
        </p:nvSpPr>
        <p:spPr bwMode="auto">
          <a:xfrm>
            <a:off x="7188200" y="22135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3271220" name="Text 22"/>
          <p:cNvSpPr/>
          <p:nvPr/>
        </p:nvSpPr>
        <p:spPr bwMode="auto">
          <a:xfrm>
            <a:off x="7416800" y="21652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497914668" name="Text 23"/>
          <p:cNvSpPr/>
          <p:nvPr/>
        </p:nvSpPr>
        <p:spPr bwMode="auto">
          <a:xfrm>
            <a:off x="10718800" y="21386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74%</a:t>
            </a:r>
            <a:endParaRPr lang="en-US" sz="1700"/>
          </a:p>
        </p:txBody>
      </p:sp>
      <p:sp>
        <p:nvSpPr>
          <p:cNvPr id="913096462" name="Shape 24"/>
          <p:cNvSpPr/>
          <p:nvPr/>
        </p:nvSpPr>
        <p:spPr bwMode="auto">
          <a:xfrm>
            <a:off x="7073900" y="25247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20942187" name="Shape 25"/>
          <p:cNvSpPr/>
          <p:nvPr/>
        </p:nvSpPr>
        <p:spPr bwMode="auto">
          <a:xfrm>
            <a:off x="7188200" y="26072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0228955" name="Text 26"/>
          <p:cNvSpPr/>
          <p:nvPr/>
        </p:nvSpPr>
        <p:spPr bwMode="auto">
          <a:xfrm>
            <a:off x="7416800" y="25589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2010186790" name="Text 27"/>
          <p:cNvSpPr/>
          <p:nvPr/>
        </p:nvSpPr>
        <p:spPr bwMode="auto">
          <a:xfrm>
            <a:off x="10718800" y="25323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68%</a:t>
            </a:r>
            <a:endParaRPr lang="en-US" sz="1700"/>
          </a:p>
        </p:txBody>
      </p:sp>
      <p:sp>
        <p:nvSpPr>
          <p:cNvPr id="374400949" name="Shape 28"/>
          <p:cNvSpPr/>
          <p:nvPr/>
        </p:nvSpPr>
        <p:spPr bwMode="auto">
          <a:xfrm>
            <a:off x="7073900" y="29184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5867019" name="Shape 29"/>
          <p:cNvSpPr/>
          <p:nvPr/>
        </p:nvSpPr>
        <p:spPr bwMode="auto">
          <a:xfrm>
            <a:off x="7188200" y="30009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02654887" name="Text 30"/>
          <p:cNvSpPr/>
          <p:nvPr/>
        </p:nvSpPr>
        <p:spPr bwMode="auto">
          <a:xfrm>
            <a:off x="7416800" y="29526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247205245" name="Text 31"/>
          <p:cNvSpPr/>
          <p:nvPr/>
        </p:nvSpPr>
        <p:spPr bwMode="auto">
          <a:xfrm>
            <a:off x="10718800" y="29260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51%</a:t>
            </a:r>
            <a:endParaRPr lang="en-US" sz="1700"/>
          </a:p>
        </p:txBody>
      </p:sp>
      <p:sp>
        <p:nvSpPr>
          <p:cNvPr id="366863888" name="Shape 32"/>
          <p:cNvSpPr/>
          <p:nvPr/>
        </p:nvSpPr>
        <p:spPr bwMode="auto">
          <a:xfrm>
            <a:off x="7073900" y="33121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5050507" name="Shape 33"/>
          <p:cNvSpPr/>
          <p:nvPr/>
        </p:nvSpPr>
        <p:spPr bwMode="auto">
          <a:xfrm>
            <a:off x="7188200" y="33946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31807493" name="Text 34"/>
          <p:cNvSpPr/>
          <p:nvPr/>
        </p:nvSpPr>
        <p:spPr bwMode="auto">
          <a:xfrm>
            <a:off x="7416800" y="33463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969953443" name="Text 35"/>
          <p:cNvSpPr/>
          <p:nvPr/>
        </p:nvSpPr>
        <p:spPr bwMode="auto">
          <a:xfrm>
            <a:off x="10718800" y="33197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50%</a:t>
            </a:r>
            <a:endParaRPr lang="en-US" sz="1700"/>
          </a:p>
        </p:txBody>
      </p:sp>
      <p:sp>
        <p:nvSpPr>
          <p:cNvPr id="1681157903" name="Shape 36"/>
          <p:cNvSpPr/>
          <p:nvPr/>
        </p:nvSpPr>
        <p:spPr bwMode="auto">
          <a:xfrm>
            <a:off x="7073900" y="37058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9747775" name="Shape 37"/>
          <p:cNvSpPr/>
          <p:nvPr/>
        </p:nvSpPr>
        <p:spPr bwMode="auto">
          <a:xfrm>
            <a:off x="7188200" y="37883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9506332" name="Text 38"/>
          <p:cNvSpPr/>
          <p:nvPr/>
        </p:nvSpPr>
        <p:spPr bwMode="auto">
          <a:xfrm>
            <a:off x="7416800" y="37400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701958759" name="Text 39"/>
          <p:cNvSpPr/>
          <p:nvPr/>
        </p:nvSpPr>
        <p:spPr bwMode="auto">
          <a:xfrm>
            <a:off x="10718800" y="37134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43%</a:t>
            </a:r>
            <a:endParaRPr lang="en-US" sz="1700"/>
          </a:p>
        </p:txBody>
      </p:sp>
      <p:sp>
        <p:nvSpPr>
          <p:cNvPr id="818091034" name="Shape 40"/>
          <p:cNvSpPr/>
          <p:nvPr/>
        </p:nvSpPr>
        <p:spPr bwMode="auto">
          <a:xfrm>
            <a:off x="7073900" y="40995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67080235" name="Shape 41"/>
          <p:cNvSpPr/>
          <p:nvPr/>
        </p:nvSpPr>
        <p:spPr bwMode="auto">
          <a:xfrm>
            <a:off x="7188200" y="418206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6040803" name="Text 42"/>
          <p:cNvSpPr/>
          <p:nvPr/>
        </p:nvSpPr>
        <p:spPr bwMode="auto">
          <a:xfrm>
            <a:off x="7416800" y="41337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 (solo ricezione)</a:t>
            </a:r>
            <a:endParaRPr lang="en-US" sz="1400"/>
          </a:p>
        </p:txBody>
      </p:sp>
      <p:sp>
        <p:nvSpPr>
          <p:cNvPr id="1399327055" name="Text 43"/>
          <p:cNvSpPr/>
          <p:nvPr/>
        </p:nvSpPr>
        <p:spPr bwMode="auto">
          <a:xfrm>
            <a:off x="10718800" y="41071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21%</a:t>
            </a:r>
            <a:endParaRPr lang="en-US" sz="1700"/>
          </a:p>
        </p:txBody>
      </p:sp>
      <p:sp>
        <p:nvSpPr>
          <p:cNvPr id="783115801" name="Shape 44"/>
          <p:cNvSpPr/>
          <p:nvPr/>
        </p:nvSpPr>
        <p:spPr bwMode="auto">
          <a:xfrm>
            <a:off x="7073900" y="4493220"/>
            <a:ext cx="4572000" cy="718807"/>
          </a:xfrm>
          <a:prstGeom prst="roundRect">
            <a:avLst>
              <a:gd name="adj" fmla="val 1766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394865" name="Shape 45"/>
          <p:cNvSpPr/>
          <p:nvPr/>
        </p:nvSpPr>
        <p:spPr bwMode="auto">
          <a:xfrm>
            <a:off x="7073900" y="4493220"/>
            <a:ext cx="4572000" cy="88900"/>
          </a:xfrm>
          <a:custGeom>
            <a:avLst/>
            <a:gdLst/>
            <a:ahLst/>
            <a:cxnLst/>
            <a:rect l="l" t="t" r="r" b="b"/>
            <a:pathLst>
              <a:path w="4572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445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28092544" name="Text 46"/>
          <p:cNvSpPr/>
          <p:nvPr/>
        </p:nvSpPr>
        <p:spPr bwMode="auto">
          <a:xfrm>
            <a:off x="7226300" y="4658320"/>
            <a:ext cx="439521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Dopo il programma: ≤ 0,02%</a:t>
            </a:r>
            <a:endParaRPr lang="en-US" sz="1400"/>
          </a:p>
        </p:txBody>
      </p:sp>
      <p:sp>
        <p:nvSpPr>
          <p:cNvPr id="1073373321" name="Text 47"/>
          <p:cNvSpPr/>
          <p:nvPr/>
        </p:nvSpPr>
        <p:spPr bwMode="auto">
          <a:xfrm>
            <a:off x="7226300" y="4932635"/>
            <a:ext cx="4395216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tutte e cinque le pipeline, a ogni traffico</a:t>
            </a:r>
            <a:endParaRPr lang="en-US" sz="1200"/>
          </a:p>
        </p:txBody>
      </p:sp>
      <p:sp>
        <p:nvSpPr>
          <p:cNvPr id="761347182" name="Shape 48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6250230" name="Shape 49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7567346" name="Text 50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039198027" name="Text 51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Se si perde all'ingresso il collo di bottiglia è il programma: qui la perdita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tutta all'ingresso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quindi il collo di bottiglia non è la trasmissione.</a:t>
            </a:r>
            <a:endParaRPr lang="en-US" sz="1500"/>
          </a:p>
        </p:txBody>
      </p:sp>
      <p:sp>
        <p:nvSpPr>
          <p:cNvPr id="192449605" name="Text 52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Perdita = (inviati − inoltrati) / inviati · mediana di 5 giri · a circa 3 Gbit/s si inviano 5,8 M pacchetti/s (5,7 per rxonly)</a:t>
            </a:r>
            <a:endParaRPr lang="en-US" sz="1200"/>
          </a:p>
        </p:txBody>
      </p:sp>
      <p:sp>
        <p:nvSpPr>
          <p:cNvPr id="86038796" name="Text 53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20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2381838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790837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IL PROGRAMMA O LA RICEZIONE?</a:t>
            </a:r>
            <a:endParaRPr lang="en-US" sz="1200"/>
          </a:p>
        </p:txBody>
      </p:sp>
      <p:sp>
        <p:nvSpPr>
          <p:cNvPr id="146570844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Oltre la sola ricezione, la perdita è del programma</a:t>
            </a:r>
            <a:endParaRPr lang="en-US" sz="3000"/>
          </a:p>
        </p:txBody>
      </p:sp>
      <p:sp>
        <p:nvSpPr>
          <p:cNvPr id="415683769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 circa 3 Gbit/s anche il solo contatore (rxonly) perde il 21%: è il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pavimento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581397948" name="Shape 4"/>
          <p:cNvSpPr/>
          <p:nvPr/>
        </p:nvSpPr>
        <p:spPr bwMode="auto">
          <a:xfrm>
            <a:off x="546100" y="214623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3802359" name="Text 5"/>
          <p:cNvSpPr/>
          <p:nvPr/>
        </p:nvSpPr>
        <p:spPr bwMode="auto">
          <a:xfrm>
            <a:off x="762000" y="2115815"/>
            <a:ext cx="21329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quanto perde già la sola ricezione</a:t>
            </a:r>
            <a:endParaRPr lang="en-US" sz="1200"/>
          </a:p>
        </p:txBody>
      </p:sp>
      <p:sp>
        <p:nvSpPr>
          <p:cNvPr id="997605000" name="Shape 6"/>
          <p:cNvSpPr/>
          <p:nvPr/>
        </p:nvSpPr>
        <p:spPr bwMode="auto">
          <a:xfrm>
            <a:off x="3010628" y="214623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4613797" name="Text 7"/>
          <p:cNvSpPr/>
          <p:nvPr/>
        </p:nvSpPr>
        <p:spPr bwMode="auto">
          <a:xfrm>
            <a:off x="3226528" y="2115815"/>
            <a:ext cx="34668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più: la perdita del programma (colore della pipeline)</a:t>
            </a:r>
            <a:endParaRPr lang="en-US" sz="1200"/>
          </a:p>
        </p:txBody>
      </p:sp>
      <p:sp>
        <p:nvSpPr>
          <p:cNvPr id="1366971700" name="Text 8"/>
          <p:cNvSpPr/>
          <p:nvPr/>
        </p:nvSpPr>
        <p:spPr bwMode="auto">
          <a:xfrm>
            <a:off x="546100" y="2621297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% dei pacchetti inviati che si perde prima del programma</a:t>
            </a:r>
            <a:endParaRPr lang="en-US" sz="1200"/>
          </a:p>
        </p:txBody>
      </p:sp>
      <p:sp>
        <p:nvSpPr>
          <p:cNvPr id="120604668" name="Text 9"/>
          <p:cNvSpPr/>
          <p:nvPr/>
        </p:nvSpPr>
        <p:spPr bwMode="auto">
          <a:xfrm>
            <a:off x="6337299" y="2621297"/>
            <a:ext cx="749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totale</a:t>
            </a:r>
            <a:endParaRPr lang="en-US" sz="1200"/>
          </a:p>
        </p:txBody>
      </p:sp>
      <p:sp>
        <p:nvSpPr>
          <p:cNvPr id="1953176325" name="Text 10"/>
          <p:cNvSpPr/>
          <p:nvPr/>
        </p:nvSpPr>
        <p:spPr bwMode="auto">
          <a:xfrm>
            <a:off x="7162800" y="2621297"/>
            <a:ext cx="1257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 più</a:t>
            </a:r>
            <a:endParaRPr lang="en-US" sz="1200"/>
          </a:p>
        </p:txBody>
      </p:sp>
      <p:sp>
        <p:nvSpPr>
          <p:cNvPr id="736057303" name="Text 11"/>
          <p:cNvSpPr/>
          <p:nvPr/>
        </p:nvSpPr>
        <p:spPr bwMode="auto">
          <a:xfrm>
            <a:off x="8496300" y="2621297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dopo il programma</a:t>
            </a:r>
            <a:endParaRPr lang="en-US" sz="1200"/>
          </a:p>
        </p:txBody>
      </p:sp>
      <p:sp>
        <p:nvSpPr>
          <p:cNvPr id="353697287" name="Shape 12"/>
          <p:cNvSpPr/>
          <p:nvPr/>
        </p:nvSpPr>
        <p:spPr bwMode="auto">
          <a:xfrm>
            <a:off x="546100" y="29679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1006667" name="Text 13"/>
          <p:cNvSpPr/>
          <p:nvPr/>
        </p:nvSpPr>
        <p:spPr bwMode="auto">
          <a:xfrm>
            <a:off x="787400" y="2926035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1487040070" name="Shape 14"/>
          <p:cNvSpPr/>
          <p:nvPr/>
        </p:nvSpPr>
        <p:spPr bwMode="auto">
          <a:xfrm>
            <a:off x="2070100" y="2910818"/>
            <a:ext cx="1308100" cy="279400"/>
          </a:xfrm>
          <a:prstGeom prst="roundRect">
            <a:avLst>
              <a:gd name="adj" fmla="val 13636"/>
            </a:avLst>
          </a:pr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4638063" name="Text 15"/>
          <p:cNvSpPr/>
          <p:nvPr/>
        </p:nvSpPr>
        <p:spPr bwMode="auto">
          <a:xfrm>
            <a:off x="7861300" y="29171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21%</a:t>
            </a:r>
            <a:endParaRPr lang="en-US" sz="1500"/>
          </a:p>
        </p:txBody>
      </p:sp>
      <p:sp>
        <p:nvSpPr>
          <p:cNvPr id="1146616982" name="Text 16"/>
          <p:cNvSpPr/>
          <p:nvPr/>
        </p:nvSpPr>
        <p:spPr bwMode="auto">
          <a:xfrm>
            <a:off x="8686800" y="2934965"/>
            <a:ext cx="1257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pavimento</a:t>
            </a:r>
            <a:endParaRPr lang="en-US" sz="1300"/>
          </a:p>
        </p:txBody>
      </p:sp>
      <p:sp>
        <p:nvSpPr>
          <p:cNvPr id="565744934" name="Text 17"/>
          <p:cNvSpPr/>
          <p:nvPr/>
        </p:nvSpPr>
        <p:spPr bwMode="auto">
          <a:xfrm>
            <a:off x="10020299" y="2934965"/>
            <a:ext cx="1320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300"/>
          </a:p>
        </p:txBody>
      </p:sp>
      <p:sp>
        <p:nvSpPr>
          <p:cNvPr id="1577784615" name="Shape 18"/>
          <p:cNvSpPr/>
          <p:nvPr/>
        </p:nvSpPr>
        <p:spPr bwMode="auto">
          <a:xfrm>
            <a:off x="546100" y="33616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6665039" name="Text 19"/>
          <p:cNvSpPr/>
          <p:nvPr/>
        </p:nvSpPr>
        <p:spPr bwMode="auto">
          <a:xfrm>
            <a:off x="787400" y="3319735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324263238" name="Shape 20"/>
          <p:cNvSpPr/>
          <p:nvPr/>
        </p:nvSpPr>
        <p:spPr bwMode="auto">
          <a:xfrm>
            <a:off x="2070100" y="3304517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485778" name="Shape 21"/>
          <p:cNvSpPr/>
          <p:nvPr/>
        </p:nvSpPr>
        <p:spPr bwMode="auto">
          <a:xfrm>
            <a:off x="3378200" y="3304517"/>
            <a:ext cx="1454150" cy="279400"/>
          </a:xfrm>
          <a:custGeom>
            <a:avLst/>
            <a:gdLst/>
            <a:ahLst/>
            <a:cxnLst/>
            <a:rect l="l" t="t" r="r" b="b"/>
            <a:pathLst>
              <a:path w="1454150" h="279400" fill="norm" stroke="1" extrusionOk="0">
                <a:moveTo>
                  <a:pt x="0" y="0"/>
                </a:moveTo>
                <a:lnTo>
                  <a:pt x="1416050" y="0"/>
                </a:lnTo>
                <a:arcTo wR="38100" hR="38100" stAng="16200000" swAng="5400000"/>
                <a:lnTo>
                  <a:pt x="145415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7480062" name="Text 22"/>
          <p:cNvSpPr/>
          <p:nvPr/>
        </p:nvSpPr>
        <p:spPr bwMode="auto">
          <a:xfrm>
            <a:off x="7861300" y="33108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44%</a:t>
            </a:r>
            <a:endParaRPr lang="en-US" sz="1500"/>
          </a:p>
        </p:txBody>
      </p:sp>
      <p:sp>
        <p:nvSpPr>
          <p:cNvPr id="1820584905" name="Text 23"/>
          <p:cNvSpPr/>
          <p:nvPr/>
        </p:nvSpPr>
        <p:spPr bwMode="auto">
          <a:xfrm>
            <a:off x="8686800" y="33197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+23 punti</a:t>
            </a:r>
            <a:endParaRPr lang="en-US" sz="1400"/>
          </a:p>
        </p:txBody>
      </p:sp>
      <p:sp>
        <p:nvSpPr>
          <p:cNvPr id="339120980" name="Text 24"/>
          <p:cNvSpPr/>
          <p:nvPr/>
        </p:nvSpPr>
        <p:spPr bwMode="auto">
          <a:xfrm>
            <a:off x="10020299" y="33197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911913696" name="Shape 25"/>
          <p:cNvSpPr/>
          <p:nvPr/>
        </p:nvSpPr>
        <p:spPr bwMode="auto">
          <a:xfrm>
            <a:off x="546100" y="37553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7307856" name="Text 26"/>
          <p:cNvSpPr/>
          <p:nvPr/>
        </p:nvSpPr>
        <p:spPr bwMode="auto">
          <a:xfrm>
            <a:off x="787400" y="37134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1844331427" name="Shape 27"/>
          <p:cNvSpPr/>
          <p:nvPr/>
        </p:nvSpPr>
        <p:spPr bwMode="auto">
          <a:xfrm>
            <a:off x="2070100" y="36982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582581" name="Shape 28"/>
          <p:cNvSpPr/>
          <p:nvPr/>
        </p:nvSpPr>
        <p:spPr bwMode="auto">
          <a:xfrm>
            <a:off x="3378200" y="3698218"/>
            <a:ext cx="1879600" cy="279400"/>
          </a:xfrm>
          <a:custGeom>
            <a:avLst/>
            <a:gdLst/>
            <a:ahLst/>
            <a:cxnLst/>
            <a:rect l="l" t="t" r="r" b="b"/>
            <a:pathLst>
              <a:path w="1879600" h="279400" fill="norm" stroke="1" extrusionOk="0">
                <a:moveTo>
                  <a:pt x="0" y="0"/>
                </a:moveTo>
                <a:lnTo>
                  <a:pt x="1841500" y="0"/>
                </a:lnTo>
                <a:arcTo wR="38100" hR="38100" stAng="16200000" swAng="5400000"/>
                <a:lnTo>
                  <a:pt x="18796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57615494" name="Text 29"/>
          <p:cNvSpPr/>
          <p:nvPr/>
        </p:nvSpPr>
        <p:spPr bwMode="auto">
          <a:xfrm>
            <a:off x="7861300" y="37045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50%</a:t>
            </a:r>
            <a:endParaRPr lang="en-US" sz="1500"/>
          </a:p>
        </p:txBody>
      </p:sp>
      <p:sp>
        <p:nvSpPr>
          <p:cNvPr id="1485762197" name="Text 30"/>
          <p:cNvSpPr/>
          <p:nvPr/>
        </p:nvSpPr>
        <p:spPr bwMode="auto">
          <a:xfrm>
            <a:off x="8686800" y="37134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+30 punti</a:t>
            </a:r>
            <a:endParaRPr lang="en-US" sz="1400"/>
          </a:p>
        </p:txBody>
      </p:sp>
      <p:sp>
        <p:nvSpPr>
          <p:cNvPr id="437419427" name="Text 31"/>
          <p:cNvSpPr/>
          <p:nvPr/>
        </p:nvSpPr>
        <p:spPr bwMode="auto">
          <a:xfrm>
            <a:off x="10020299" y="37134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472827554" name="Shape 32"/>
          <p:cNvSpPr/>
          <p:nvPr/>
        </p:nvSpPr>
        <p:spPr bwMode="auto">
          <a:xfrm>
            <a:off x="546100" y="41490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7887506" name="Text 33"/>
          <p:cNvSpPr/>
          <p:nvPr/>
        </p:nvSpPr>
        <p:spPr bwMode="auto">
          <a:xfrm>
            <a:off x="787400" y="410713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222749472" name="Shape 34"/>
          <p:cNvSpPr/>
          <p:nvPr/>
        </p:nvSpPr>
        <p:spPr bwMode="auto">
          <a:xfrm>
            <a:off x="2070100" y="40919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43973487" name="Shape 35"/>
          <p:cNvSpPr/>
          <p:nvPr/>
        </p:nvSpPr>
        <p:spPr bwMode="auto">
          <a:xfrm>
            <a:off x="3378200" y="4091918"/>
            <a:ext cx="1949450" cy="279400"/>
          </a:xfrm>
          <a:custGeom>
            <a:avLst/>
            <a:gdLst/>
            <a:ahLst/>
            <a:cxnLst/>
            <a:rect l="l" t="t" r="r" b="b"/>
            <a:pathLst>
              <a:path w="1949450" h="279400" fill="norm" stroke="1" extrusionOk="0">
                <a:moveTo>
                  <a:pt x="0" y="0"/>
                </a:moveTo>
                <a:lnTo>
                  <a:pt x="1911350" y="0"/>
                </a:lnTo>
                <a:arcTo wR="38100" hR="38100" stAng="16200000" swAng="5400000"/>
                <a:lnTo>
                  <a:pt x="194945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5274653" name="Text 36"/>
          <p:cNvSpPr/>
          <p:nvPr/>
        </p:nvSpPr>
        <p:spPr bwMode="auto">
          <a:xfrm>
            <a:off x="7861300" y="40982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51%</a:t>
            </a:r>
            <a:endParaRPr lang="en-US" sz="1500"/>
          </a:p>
        </p:txBody>
      </p:sp>
      <p:sp>
        <p:nvSpPr>
          <p:cNvPr id="1028761823" name="Text 37"/>
          <p:cNvSpPr/>
          <p:nvPr/>
        </p:nvSpPr>
        <p:spPr bwMode="auto">
          <a:xfrm>
            <a:off x="8686800" y="41071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+31 punti</a:t>
            </a:r>
            <a:endParaRPr lang="en-US" sz="1400"/>
          </a:p>
        </p:txBody>
      </p:sp>
      <p:sp>
        <p:nvSpPr>
          <p:cNvPr id="773249687" name="Text 38"/>
          <p:cNvSpPr/>
          <p:nvPr/>
        </p:nvSpPr>
        <p:spPr bwMode="auto">
          <a:xfrm>
            <a:off x="10020299" y="41071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760716052" name="Shape 39"/>
          <p:cNvSpPr/>
          <p:nvPr/>
        </p:nvSpPr>
        <p:spPr bwMode="auto">
          <a:xfrm>
            <a:off x="546100" y="45427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8779852" name="Text 40"/>
          <p:cNvSpPr/>
          <p:nvPr/>
        </p:nvSpPr>
        <p:spPr bwMode="auto">
          <a:xfrm>
            <a:off x="787400" y="45008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731994679" name="Shape 41"/>
          <p:cNvSpPr/>
          <p:nvPr/>
        </p:nvSpPr>
        <p:spPr bwMode="auto">
          <a:xfrm>
            <a:off x="2070100" y="44856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2387014" name="Shape 42"/>
          <p:cNvSpPr/>
          <p:nvPr/>
        </p:nvSpPr>
        <p:spPr bwMode="auto">
          <a:xfrm>
            <a:off x="3378200" y="4485618"/>
            <a:ext cx="2997200" cy="279400"/>
          </a:xfrm>
          <a:custGeom>
            <a:avLst/>
            <a:gdLst/>
            <a:ahLst/>
            <a:cxnLst/>
            <a:rect l="l" t="t" r="r" b="b"/>
            <a:pathLst>
              <a:path w="2997200" h="279400" fill="norm" stroke="1" extrusionOk="0">
                <a:moveTo>
                  <a:pt x="0" y="0"/>
                </a:moveTo>
                <a:lnTo>
                  <a:pt x="2959100" y="0"/>
                </a:lnTo>
                <a:arcTo wR="38100" hR="38100" stAng="16200000" swAng="5400000"/>
                <a:lnTo>
                  <a:pt x="29972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9215772" name="Text 43"/>
          <p:cNvSpPr/>
          <p:nvPr/>
        </p:nvSpPr>
        <p:spPr bwMode="auto">
          <a:xfrm>
            <a:off x="7861300" y="44919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68%</a:t>
            </a:r>
            <a:endParaRPr lang="en-US" sz="1500"/>
          </a:p>
        </p:txBody>
      </p:sp>
      <p:sp>
        <p:nvSpPr>
          <p:cNvPr id="1046904969" name="Text 44"/>
          <p:cNvSpPr/>
          <p:nvPr/>
        </p:nvSpPr>
        <p:spPr bwMode="auto">
          <a:xfrm>
            <a:off x="8686800" y="45008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+47 punti</a:t>
            </a:r>
            <a:endParaRPr lang="en-US" sz="1400"/>
          </a:p>
        </p:txBody>
      </p:sp>
      <p:sp>
        <p:nvSpPr>
          <p:cNvPr id="1334287549" name="Text 45"/>
          <p:cNvSpPr/>
          <p:nvPr/>
        </p:nvSpPr>
        <p:spPr bwMode="auto">
          <a:xfrm>
            <a:off x="10020299" y="45008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646252156" name="Shape 46"/>
          <p:cNvSpPr/>
          <p:nvPr/>
        </p:nvSpPr>
        <p:spPr bwMode="auto">
          <a:xfrm>
            <a:off x="546100" y="49364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697438" name="Text 47"/>
          <p:cNvSpPr/>
          <p:nvPr/>
        </p:nvSpPr>
        <p:spPr bwMode="auto">
          <a:xfrm>
            <a:off x="787400" y="48945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03224959" name="Shape 48"/>
          <p:cNvSpPr/>
          <p:nvPr/>
        </p:nvSpPr>
        <p:spPr bwMode="auto">
          <a:xfrm>
            <a:off x="2070100" y="48793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58087848" name="Shape 49"/>
          <p:cNvSpPr/>
          <p:nvPr/>
        </p:nvSpPr>
        <p:spPr bwMode="auto">
          <a:xfrm>
            <a:off x="3378200" y="4879318"/>
            <a:ext cx="3403600" cy="279400"/>
          </a:xfrm>
          <a:custGeom>
            <a:avLst/>
            <a:gdLst/>
            <a:ahLst/>
            <a:cxnLst/>
            <a:rect l="l" t="t" r="r" b="b"/>
            <a:pathLst>
              <a:path w="3403600" h="279400" fill="norm" stroke="1" extrusionOk="0">
                <a:moveTo>
                  <a:pt x="0" y="0"/>
                </a:moveTo>
                <a:lnTo>
                  <a:pt x="3365500" y="0"/>
                </a:lnTo>
                <a:arcTo wR="38100" hR="38100" stAng="16200000" swAng="5400000"/>
                <a:lnTo>
                  <a:pt x="34036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602634" name="Text 50"/>
          <p:cNvSpPr/>
          <p:nvPr/>
        </p:nvSpPr>
        <p:spPr bwMode="auto">
          <a:xfrm>
            <a:off x="7861300" y="48856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74%</a:t>
            </a:r>
            <a:endParaRPr lang="en-US" sz="1500"/>
          </a:p>
        </p:txBody>
      </p:sp>
      <p:sp>
        <p:nvSpPr>
          <p:cNvPr id="1747410109" name="Text 51"/>
          <p:cNvSpPr/>
          <p:nvPr/>
        </p:nvSpPr>
        <p:spPr bwMode="auto">
          <a:xfrm>
            <a:off x="8686800" y="48945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+54 punti</a:t>
            </a:r>
            <a:endParaRPr lang="en-US" sz="1400"/>
          </a:p>
        </p:txBody>
      </p:sp>
      <p:sp>
        <p:nvSpPr>
          <p:cNvPr id="1903987821" name="Text 52"/>
          <p:cNvSpPr/>
          <p:nvPr/>
        </p:nvSpPr>
        <p:spPr bwMode="auto">
          <a:xfrm>
            <a:off x="10020299" y="48945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527680013" name="Shape 53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30674709" name="Shape 54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7082372" name="Text 55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912216479" name="Text 56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perdita in più cresce con il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costo del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 Fino a 2,4 Gbit/s la sola ricezione non perde, e dopo il programma non si perde niente.</a:t>
            </a:r>
            <a:endParaRPr lang="en-US" sz="1500"/>
          </a:p>
        </p:txBody>
      </p:sp>
      <p:sp>
        <p:nvSpPr>
          <p:cNvPr id="2068154323" name="Text 57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Traffico più alto della scala: 5,8 M pacchetti/s (5,7 per rxonly) · punti = differenza fra le due percentuali</a:t>
            </a:r>
            <a:endParaRPr lang="en-US" sz="1200"/>
          </a:p>
        </p:txBody>
      </p:sp>
      <p:sp>
        <p:nvSpPr>
          <p:cNvPr id="1410208826" name="Text 58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21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9052956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6999131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IL RITARDO</a:t>
            </a:r>
            <a:endParaRPr lang="en-US" sz="1200"/>
          </a:p>
        </p:txBody>
      </p:sp>
      <p:sp>
        <p:nvSpPr>
          <p:cNvPr id="84799003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ritardo salta dove comincia la perdita</a:t>
            </a:r>
            <a:endParaRPr lang="en-US" sz="3000"/>
          </a:p>
        </p:txBody>
      </p:sp>
      <p:pic>
        <p:nvPicPr>
          <p:cNvPr id="1585532326" name="Image 0" descr="Ritardo mediano in microsecondi contro traffico inviato. Resta di pochi microsecondi finché il nodo regge, poi salta a 85, 95, 99, 154 e 186 microsecondi per baseline, P1, P1.5, P2 e P3 dove comincia la perdita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231863700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ritardo mediano, in µs</a:t>
            </a:r>
            <a:endParaRPr lang="en-US" sz="1200"/>
          </a:p>
        </p:txBody>
      </p:sp>
      <p:sp>
        <p:nvSpPr>
          <p:cNvPr id="1538481002" name="Text 4"/>
          <p:cNvSpPr/>
          <p:nvPr/>
        </p:nvSpPr>
        <p:spPr bwMode="auto">
          <a:xfrm>
            <a:off x="1308100" y="1981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pulita</a:t>
            </a:r>
            <a:endParaRPr lang="en-US" sz="1200"/>
          </a:p>
        </p:txBody>
      </p:sp>
      <p:sp>
        <p:nvSpPr>
          <p:cNvPr id="160847849" name="Text 5"/>
          <p:cNvSpPr/>
          <p:nvPr/>
        </p:nvSpPr>
        <p:spPr bwMode="auto">
          <a:xfrm>
            <a:off x="2146300" y="198120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perdita</a:t>
            </a:r>
            <a:endParaRPr lang="en-US" sz="1200"/>
          </a:p>
        </p:txBody>
      </p:sp>
      <p:sp>
        <p:nvSpPr>
          <p:cNvPr id="849849906" name="Text 6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570675742" name="Text 7"/>
          <p:cNvSpPr/>
          <p:nvPr/>
        </p:nvSpPr>
        <p:spPr bwMode="auto">
          <a:xfrm>
            <a:off x="495300" y="390016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50</a:t>
            </a:r>
            <a:endParaRPr lang="en-US" sz="1200"/>
          </a:p>
        </p:txBody>
      </p:sp>
      <p:sp>
        <p:nvSpPr>
          <p:cNvPr id="1752162078" name="Text 8"/>
          <p:cNvSpPr/>
          <p:nvPr/>
        </p:nvSpPr>
        <p:spPr bwMode="auto">
          <a:xfrm>
            <a:off x="495300" y="3221968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100</a:t>
            </a:r>
            <a:endParaRPr lang="en-US" sz="1200"/>
          </a:p>
        </p:txBody>
      </p:sp>
      <p:sp>
        <p:nvSpPr>
          <p:cNvPr id="590839205" name="Text 9"/>
          <p:cNvSpPr/>
          <p:nvPr/>
        </p:nvSpPr>
        <p:spPr bwMode="auto">
          <a:xfrm>
            <a:off x="495300" y="254317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150</a:t>
            </a:r>
            <a:endParaRPr lang="en-US" sz="1200"/>
          </a:p>
        </p:txBody>
      </p:sp>
      <p:sp>
        <p:nvSpPr>
          <p:cNvPr id="1088346365" name="Text 10"/>
          <p:cNvSpPr/>
          <p:nvPr/>
        </p:nvSpPr>
        <p:spPr bwMode="auto">
          <a:xfrm>
            <a:off x="495300" y="186499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200</a:t>
            </a:r>
            <a:endParaRPr lang="en-US" sz="1200"/>
          </a:p>
        </p:txBody>
      </p:sp>
      <p:sp>
        <p:nvSpPr>
          <p:cNvPr id="225425045" name="Text 11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922660306" name="Text 12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570375041" name="Text 13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1491128679" name="Text 14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753965364" name="Text 15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763330554" name="Text 16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952407366" name="Text 17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1500197874" name="Text 18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840371550" name="Text 19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coda piena spiega il ritardo</a:t>
            </a:r>
            <a:endParaRPr lang="en-US" sz="1500"/>
          </a:p>
        </p:txBody>
      </p:sp>
      <p:sp>
        <p:nvSpPr>
          <p:cNvPr id="2122700187" name="Text 20"/>
          <p:cNvSpPr/>
          <p:nvPr/>
        </p:nvSpPr>
        <p:spPr bwMode="auto">
          <a:xfrm>
            <a:off x="7073900" y="1854200"/>
            <a:ext cx="4709160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attesa prevista = 256 posti ÷ capacità della pipeline</a:t>
            </a:r>
            <a:endParaRPr lang="en-US" sz="1300"/>
          </a:p>
        </p:txBody>
      </p:sp>
      <p:sp>
        <p:nvSpPr>
          <p:cNvPr id="1354707861" name="Text 21"/>
          <p:cNvSpPr/>
          <p:nvPr/>
        </p:nvSpPr>
        <p:spPr bwMode="auto">
          <a:xfrm>
            <a:off x="7175500" y="2241029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pipeline</a:t>
            </a:r>
            <a:endParaRPr lang="en-US" sz="1200"/>
          </a:p>
        </p:txBody>
      </p:sp>
      <p:sp>
        <p:nvSpPr>
          <p:cNvPr id="301966077" name="Text 22"/>
          <p:cNvSpPr/>
          <p:nvPr/>
        </p:nvSpPr>
        <p:spPr bwMode="auto">
          <a:xfrm>
            <a:off x="8394700" y="2241029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prevista</a:t>
            </a:r>
            <a:endParaRPr lang="en-US" sz="1200"/>
          </a:p>
        </p:txBody>
      </p:sp>
      <p:sp>
        <p:nvSpPr>
          <p:cNvPr id="2014645229" name="Text 23"/>
          <p:cNvSpPr/>
          <p:nvPr/>
        </p:nvSpPr>
        <p:spPr bwMode="auto">
          <a:xfrm>
            <a:off x="9918700" y="2241029"/>
            <a:ext cx="138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misurata (p50)</a:t>
            </a:r>
            <a:endParaRPr lang="en-US" sz="1200"/>
          </a:p>
        </p:txBody>
      </p:sp>
      <p:sp>
        <p:nvSpPr>
          <p:cNvPr id="2124876929" name="Shape 24"/>
          <p:cNvSpPr/>
          <p:nvPr/>
        </p:nvSpPr>
        <p:spPr bwMode="auto">
          <a:xfrm>
            <a:off x="7073900" y="2585839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22932718" name="Shape 25"/>
          <p:cNvSpPr/>
          <p:nvPr/>
        </p:nvSpPr>
        <p:spPr bwMode="auto">
          <a:xfrm>
            <a:off x="7175500" y="2681027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04701643" name="Text 26"/>
          <p:cNvSpPr/>
          <p:nvPr/>
        </p:nvSpPr>
        <p:spPr bwMode="auto">
          <a:xfrm>
            <a:off x="7391400" y="2632807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697684380" name="Text 27"/>
          <p:cNvSpPr/>
          <p:nvPr/>
        </p:nvSpPr>
        <p:spPr bwMode="auto">
          <a:xfrm>
            <a:off x="8394700" y="2632807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77 µs</a:t>
            </a:r>
            <a:endParaRPr lang="en-US" sz="1400"/>
          </a:p>
        </p:txBody>
      </p:sp>
      <p:sp>
        <p:nvSpPr>
          <p:cNvPr id="1926103116" name="Text 28"/>
          <p:cNvSpPr/>
          <p:nvPr/>
        </p:nvSpPr>
        <p:spPr bwMode="auto">
          <a:xfrm>
            <a:off x="9918700" y="2632807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84 µs</a:t>
            </a:r>
            <a:endParaRPr lang="en-US" sz="1400"/>
          </a:p>
        </p:txBody>
      </p:sp>
      <p:sp>
        <p:nvSpPr>
          <p:cNvPr id="373273043" name="Shape 29"/>
          <p:cNvSpPr/>
          <p:nvPr/>
        </p:nvSpPr>
        <p:spPr bwMode="auto">
          <a:xfrm>
            <a:off x="7073900" y="3060303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6571649" name="Shape 30"/>
          <p:cNvSpPr/>
          <p:nvPr/>
        </p:nvSpPr>
        <p:spPr bwMode="auto">
          <a:xfrm>
            <a:off x="7175500" y="3155491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985432" name="Text 31"/>
          <p:cNvSpPr/>
          <p:nvPr/>
        </p:nvSpPr>
        <p:spPr bwMode="auto">
          <a:xfrm>
            <a:off x="7391400" y="3107271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823391305" name="Text 32"/>
          <p:cNvSpPr/>
          <p:nvPr/>
        </p:nvSpPr>
        <p:spPr bwMode="auto">
          <a:xfrm>
            <a:off x="8394700" y="3107271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87 µs</a:t>
            </a:r>
            <a:endParaRPr lang="en-US" sz="1400"/>
          </a:p>
        </p:txBody>
      </p:sp>
      <p:sp>
        <p:nvSpPr>
          <p:cNvPr id="291426118" name="Text 33"/>
          <p:cNvSpPr/>
          <p:nvPr/>
        </p:nvSpPr>
        <p:spPr bwMode="auto">
          <a:xfrm>
            <a:off x="9918700" y="3107271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95 µs</a:t>
            </a:r>
            <a:endParaRPr lang="en-US" sz="1400"/>
          </a:p>
        </p:txBody>
      </p:sp>
      <p:sp>
        <p:nvSpPr>
          <p:cNvPr id="263023725" name="Shape 34"/>
          <p:cNvSpPr/>
          <p:nvPr/>
        </p:nvSpPr>
        <p:spPr bwMode="auto">
          <a:xfrm>
            <a:off x="7073900" y="3534767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91956746" name="Shape 35"/>
          <p:cNvSpPr/>
          <p:nvPr/>
        </p:nvSpPr>
        <p:spPr bwMode="auto">
          <a:xfrm>
            <a:off x="7175500" y="3629955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3775612" name="Text 36"/>
          <p:cNvSpPr/>
          <p:nvPr/>
        </p:nvSpPr>
        <p:spPr bwMode="auto">
          <a:xfrm>
            <a:off x="7391400" y="358173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18837679" name="Text 37"/>
          <p:cNvSpPr/>
          <p:nvPr/>
        </p:nvSpPr>
        <p:spPr bwMode="auto">
          <a:xfrm>
            <a:off x="8394700" y="3581735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90 µs</a:t>
            </a:r>
            <a:endParaRPr lang="en-US" sz="1400"/>
          </a:p>
        </p:txBody>
      </p:sp>
      <p:sp>
        <p:nvSpPr>
          <p:cNvPr id="1538432312" name="Text 38"/>
          <p:cNvSpPr/>
          <p:nvPr/>
        </p:nvSpPr>
        <p:spPr bwMode="auto">
          <a:xfrm>
            <a:off x="9918700" y="3581735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99 µs</a:t>
            </a:r>
            <a:endParaRPr lang="en-US" sz="1400"/>
          </a:p>
        </p:txBody>
      </p:sp>
      <p:sp>
        <p:nvSpPr>
          <p:cNvPr id="377915570" name="Shape 39"/>
          <p:cNvSpPr/>
          <p:nvPr/>
        </p:nvSpPr>
        <p:spPr bwMode="auto">
          <a:xfrm>
            <a:off x="7073900" y="4009231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1556474" name="Shape 40"/>
          <p:cNvSpPr/>
          <p:nvPr/>
        </p:nvSpPr>
        <p:spPr bwMode="auto">
          <a:xfrm>
            <a:off x="7175500" y="410441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65664395" name="Text 41"/>
          <p:cNvSpPr/>
          <p:nvPr/>
        </p:nvSpPr>
        <p:spPr bwMode="auto">
          <a:xfrm>
            <a:off x="7391400" y="4056199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592436618" name="Text 42"/>
          <p:cNvSpPr/>
          <p:nvPr/>
        </p:nvSpPr>
        <p:spPr bwMode="auto">
          <a:xfrm>
            <a:off x="8394700" y="4056199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135 µs</a:t>
            </a:r>
            <a:endParaRPr lang="en-US" sz="1400"/>
          </a:p>
        </p:txBody>
      </p:sp>
      <p:sp>
        <p:nvSpPr>
          <p:cNvPr id="510040582" name="Text 43"/>
          <p:cNvSpPr/>
          <p:nvPr/>
        </p:nvSpPr>
        <p:spPr bwMode="auto">
          <a:xfrm>
            <a:off x="9918700" y="4056199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154 µs</a:t>
            </a:r>
            <a:endParaRPr lang="en-US" sz="1400"/>
          </a:p>
        </p:txBody>
      </p:sp>
      <p:sp>
        <p:nvSpPr>
          <p:cNvPr id="2094004657" name="Shape 44"/>
          <p:cNvSpPr/>
          <p:nvPr/>
        </p:nvSpPr>
        <p:spPr bwMode="auto">
          <a:xfrm>
            <a:off x="7073900" y="4483633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4622360" name="Shape 45"/>
          <p:cNvSpPr/>
          <p:nvPr/>
        </p:nvSpPr>
        <p:spPr bwMode="auto">
          <a:xfrm>
            <a:off x="7175500" y="4578821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52868581" name="Text 46"/>
          <p:cNvSpPr/>
          <p:nvPr/>
        </p:nvSpPr>
        <p:spPr bwMode="auto">
          <a:xfrm>
            <a:off x="7391400" y="4530601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55375501" name="Text 47"/>
          <p:cNvSpPr/>
          <p:nvPr/>
        </p:nvSpPr>
        <p:spPr bwMode="auto">
          <a:xfrm>
            <a:off x="8394700" y="4530601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171 µs</a:t>
            </a:r>
            <a:endParaRPr lang="en-US" sz="1400"/>
          </a:p>
        </p:txBody>
      </p:sp>
      <p:sp>
        <p:nvSpPr>
          <p:cNvPr id="779229104" name="Text 48"/>
          <p:cNvSpPr/>
          <p:nvPr/>
        </p:nvSpPr>
        <p:spPr bwMode="auto">
          <a:xfrm>
            <a:off x="9918700" y="4530601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186 µs</a:t>
            </a:r>
            <a:endParaRPr lang="en-US" sz="1400"/>
          </a:p>
        </p:txBody>
      </p:sp>
      <p:sp>
        <p:nvSpPr>
          <p:cNvPr id="1516578980" name="Text 49"/>
          <p:cNvSpPr/>
          <p:nvPr/>
        </p:nvSpPr>
        <p:spPr bwMode="auto">
          <a:xfrm>
            <a:off x="7073900" y="4958097"/>
            <a:ext cx="4709160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resto (circa il 10%) è il percorso fino al nodo successivo.</a:t>
            </a:r>
            <a:endParaRPr lang="en-US" sz="1200"/>
          </a:p>
        </p:txBody>
      </p:sp>
      <p:sp>
        <p:nvSpPr>
          <p:cNvPr id="1969432019" name="Shape 50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2044801" name="Shape 51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5357696" name="Text 52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238880386" name="Text 53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Oltre la sua capacità il nodo non riesce a svuotare la coda, che resta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piena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ritardo si ferma e cresce la perdita.</a:t>
            </a:r>
            <a:endParaRPr lang="en-US" sz="1500"/>
          </a:p>
        </p:txBody>
      </p:sp>
      <p:sp>
        <p:nvSpPr>
          <p:cNvPr id="1052403528" name="Text 54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Ritardo dal timbro del generatore all'arrivo al nodo successivo · mediana (p50) oltre la saturazione · capacità come nella slide 18</a:t>
            </a:r>
            <a:endParaRPr lang="en-US" sz="1200"/>
          </a:p>
        </p:txBody>
      </p:sp>
      <p:sp>
        <p:nvSpPr>
          <p:cNvPr id="1990810389" name="Text 55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22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81649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984921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PIÙ CORE</a:t>
            </a:r>
            <a:endParaRPr lang="en-US" sz="1200"/>
          </a:p>
        </p:txBody>
      </p:sp>
      <p:sp>
        <p:nvSpPr>
          <p:cNvPr id="1711403555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due core la capacità raddoppia</a:t>
            </a:r>
            <a:endParaRPr lang="en-US" sz="3000"/>
          </a:p>
        </p:txBody>
      </p:sp>
      <p:sp>
        <p:nvSpPr>
          <p:cNvPr id="1043704243" name="Shape 3"/>
          <p:cNvSpPr/>
          <p:nvPr/>
        </p:nvSpPr>
        <p:spPr bwMode="auto">
          <a:xfrm>
            <a:off x="546100" y="1562100"/>
            <a:ext cx="6604000" cy="3685448"/>
          </a:xfrm>
          <a:prstGeom prst="roundRect">
            <a:avLst>
              <a:gd name="adj" fmla="val 3446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58105103" name="Text 4"/>
          <p:cNvSpPr/>
          <p:nvPr/>
        </p:nvSpPr>
        <p:spPr bwMode="auto">
          <a:xfrm>
            <a:off x="736600" y="1689100"/>
            <a:ext cx="640969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Capacità massima, in milioni di pacchetti al secondo</a:t>
            </a:r>
            <a:endParaRPr lang="en-US" sz="1500"/>
          </a:p>
        </p:txBody>
      </p:sp>
      <p:sp>
        <p:nvSpPr>
          <p:cNvPr id="2095606728" name="Shape 5"/>
          <p:cNvSpPr/>
          <p:nvPr/>
        </p:nvSpPr>
        <p:spPr bwMode="auto">
          <a:xfrm>
            <a:off x="736600" y="2037034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24538789" name="Text 6"/>
          <p:cNvSpPr/>
          <p:nvPr/>
        </p:nvSpPr>
        <p:spPr bwMode="auto">
          <a:xfrm>
            <a:off x="952500" y="2006600"/>
            <a:ext cx="4329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 core</a:t>
            </a:r>
            <a:endParaRPr lang="en-US" sz="1200"/>
          </a:p>
        </p:txBody>
      </p:sp>
      <p:sp>
        <p:nvSpPr>
          <p:cNvPr id="1718168399" name="Shape 7"/>
          <p:cNvSpPr/>
          <p:nvPr/>
        </p:nvSpPr>
        <p:spPr bwMode="auto">
          <a:xfrm>
            <a:off x="1512491" y="2037034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6614145" name="Text 8"/>
          <p:cNvSpPr/>
          <p:nvPr/>
        </p:nvSpPr>
        <p:spPr bwMode="auto">
          <a:xfrm>
            <a:off x="1728391" y="2006600"/>
            <a:ext cx="4329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 core</a:t>
            </a:r>
            <a:endParaRPr lang="en-US" sz="1200"/>
          </a:p>
        </p:txBody>
      </p:sp>
      <p:sp>
        <p:nvSpPr>
          <p:cNvPr id="415667266" name="Text 9"/>
          <p:cNvSpPr/>
          <p:nvPr/>
        </p:nvSpPr>
        <p:spPr bwMode="auto">
          <a:xfrm>
            <a:off x="797917" y="3340767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4,69</a:t>
            </a:r>
            <a:endParaRPr lang="en-US" sz="1200"/>
          </a:p>
        </p:txBody>
      </p:sp>
      <p:sp>
        <p:nvSpPr>
          <p:cNvPr id="901914092" name="Shape 10"/>
          <p:cNvSpPr/>
          <p:nvPr/>
        </p:nvSpPr>
        <p:spPr bwMode="auto">
          <a:xfrm>
            <a:off x="736600" y="3555651"/>
            <a:ext cx="393700" cy="1002633"/>
          </a:xfrm>
          <a:custGeom>
            <a:avLst/>
            <a:gdLst/>
            <a:ahLst/>
            <a:cxnLst/>
            <a:rect l="l" t="t" r="r" b="b"/>
            <a:pathLst>
              <a:path w="393700" h="12827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282700"/>
                </a:lnTo>
                <a:lnTo>
                  <a:pt x="0" y="12827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84731870" name="Text 11"/>
          <p:cNvSpPr/>
          <p:nvPr/>
        </p:nvSpPr>
        <p:spPr bwMode="auto">
          <a:xfrm>
            <a:off x="1234347" y="2357374"/>
            <a:ext cx="3125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2"/>
              </a:lnSpc>
              <a:buNone/>
              <a:defRPr/>
            </a:pPr>
            <a:r>
              <a:rPr lang="en-US" sz="115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9,29</a:t>
            </a:r>
            <a:endParaRPr lang="en-US" sz="1150"/>
          </a:p>
        </p:txBody>
      </p:sp>
      <p:sp>
        <p:nvSpPr>
          <p:cNvPr id="1377636485" name="Shape 12"/>
          <p:cNvSpPr/>
          <p:nvPr/>
        </p:nvSpPr>
        <p:spPr bwMode="auto">
          <a:xfrm>
            <a:off x="1168400" y="2572258"/>
            <a:ext cx="393700" cy="1986026"/>
          </a:xfrm>
          <a:custGeom>
            <a:avLst/>
            <a:gdLst/>
            <a:ahLst/>
            <a:cxnLst/>
            <a:rect l="l" t="t" r="r" b="b"/>
            <a:pathLst>
              <a:path w="393700" h="20828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2082800"/>
                </a:lnTo>
                <a:lnTo>
                  <a:pt x="0" y="20828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91274424" name="Text 13"/>
          <p:cNvSpPr/>
          <p:nvPr/>
        </p:nvSpPr>
        <p:spPr bwMode="auto">
          <a:xfrm>
            <a:off x="1877417" y="3614407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3,41</a:t>
            </a:r>
            <a:endParaRPr lang="en-US" sz="1200"/>
          </a:p>
        </p:txBody>
      </p:sp>
      <p:sp>
        <p:nvSpPr>
          <p:cNvPr id="407892574" name="Shape 14"/>
          <p:cNvSpPr/>
          <p:nvPr/>
        </p:nvSpPr>
        <p:spPr bwMode="auto">
          <a:xfrm>
            <a:off x="1816100" y="3829291"/>
            <a:ext cx="393700" cy="728993"/>
          </a:xfrm>
          <a:custGeom>
            <a:avLst/>
            <a:gdLst/>
            <a:ahLst/>
            <a:cxnLst/>
            <a:rect l="l" t="t" r="r" b="b"/>
            <a:pathLst>
              <a:path w="393700" h="9461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946150"/>
                </a:lnTo>
                <a:lnTo>
                  <a:pt x="0" y="9461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6387933" name="Text 15"/>
          <p:cNvSpPr/>
          <p:nvPr/>
        </p:nvSpPr>
        <p:spPr bwMode="auto">
          <a:xfrm>
            <a:off x="2309216" y="2906792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6,72</a:t>
            </a:r>
            <a:endParaRPr lang="en-US" sz="1200"/>
          </a:p>
        </p:txBody>
      </p:sp>
      <p:sp>
        <p:nvSpPr>
          <p:cNvPr id="137988166" name="Shape 16"/>
          <p:cNvSpPr/>
          <p:nvPr/>
        </p:nvSpPr>
        <p:spPr bwMode="auto">
          <a:xfrm>
            <a:off x="2247900" y="3121676"/>
            <a:ext cx="393700" cy="1436608"/>
          </a:xfrm>
          <a:custGeom>
            <a:avLst/>
            <a:gdLst/>
            <a:ahLst/>
            <a:cxnLst/>
            <a:rect l="l" t="t" r="r" b="b"/>
            <a:pathLst>
              <a:path w="393700" h="18034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803400"/>
                </a:lnTo>
                <a:lnTo>
                  <a:pt x="0" y="1803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23664956" name="Text 17"/>
          <p:cNvSpPr/>
          <p:nvPr/>
        </p:nvSpPr>
        <p:spPr bwMode="auto">
          <a:xfrm>
            <a:off x="2956917" y="3702057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3,00</a:t>
            </a:r>
            <a:endParaRPr lang="en-US" sz="1200"/>
          </a:p>
        </p:txBody>
      </p:sp>
      <p:sp>
        <p:nvSpPr>
          <p:cNvPr id="230131818" name="Shape 18"/>
          <p:cNvSpPr/>
          <p:nvPr/>
        </p:nvSpPr>
        <p:spPr bwMode="auto">
          <a:xfrm>
            <a:off x="2895600" y="3916941"/>
            <a:ext cx="393700" cy="641343"/>
          </a:xfrm>
          <a:custGeom>
            <a:avLst/>
            <a:gdLst/>
            <a:ahLst/>
            <a:cxnLst/>
            <a:rect l="l" t="t" r="r" b="b"/>
            <a:pathLst>
              <a:path w="393700" h="8382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838200"/>
                </a:lnTo>
                <a:lnTo>
                  <a:pt x="0" y="8382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9194564" name="Text 19"/>
          <p:cNvSpPr/>
          <p:nvPr/>
        </p:nvSpPr>
        <p:spPr bwMode="auto">
          <a:xfrm>
            <a:off x="3388717" y="3069265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5,96</a:t>
            </a:r>
            <a:endParaRPr lang="en-US" sz="1200"/>
          </a:p>
        </p:txBody>
      </p:sp>
      <p:sp>
        <p:nvSpPr>
          <p:cNvPr id="599234063" name="Shape 20"/>
          <p:cNvSpPr/>
          <p:nvPr/>
        </p:nvSpPr>
        <p:spPr bwMode="auto">
          <a:xfrm>
            <a:off x="3327400" y="3284149"/>
            <a:ext cx="393700" cy="1274135"/>
          </a:xfrm>
          <a:custGeom>
            <a:avLst/>
            <a:gdLst/>
            <a:ahLst/>
            <a:cxnLst/>
            <a:rect l="l" t="t" r="r" b="b"/>
            <a:pathLst>
              <a:path w="393700" h="16002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600200"/>
                </a:lnTo>
                <a:lnTo>
                  <a:pt x="0" y="16002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86603428" name="Text 21"/>
          <p:cNvSpPr/>
          <p:nvPr/>
        </p:nvSpPr>
        <p:spPr bwMode="auto">
          <a:xfrm>
            <a:off x="4036417" y="3731987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2,86</a:t>
            </a:r>
            <a:endParaRPr lang="en-US" sz="1200"/>
          </a:p>
        </p:txBody>
      </p:sp>
      <p:sp>
        <p:nvSpPr>
          <p:cNvPr id="1616931431" name="Shape 22"/>
          <p:cNvSpPr/>
          <p:nvPr/>
        </p:nvSpPr>
        <p:spPr bwMode="auto">
          <a:xfrm>
            <a:off x="3975100" y="3946871"/>
            <a:ext cx="393700" cy="611413"/>
          </a:xfrm>
          <a:custGeom>
            <a:avLst/>
            <a:gdLst/>
            <a:ahLst/>
            <a:cxnLst/>
            <a:rect l="l" t="t" r="r" b="b"/>
            <a:pathLst>
              <a:path w="393700" h="8001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800100"/>
                </a:lnTo>
                <a:lnTo>
                  <a:pt x="0" y="8001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46519633" name="Text 23"/>
          <p:cNvSpPr/>
          <p:nvPr/>
        </p:nvSpPr>
        <p:spPr bwMode="auto">
          <a:xfrm>
            <a:off x="4468217" y="3146226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5,60</a:t>
            </a:r>
            <a:endParaRPr lang="en-US" sz="1200"/>
          </a:p>
        </p:txBody>
      </p:sp>
      <p:sp>
        <p:nvSpPr>
          <p:cNvPr id="365430228" name="Shape 24"/>
          <p:cNvSpPr/>
          <p:nvPr/>
        </p:nvSpPr>
        <p:spPr bwMode="auto">
          <a:xfrm>
            <a:off x="4406900" y="3361110"/>
            <a:ext cx="393700" cy="1197174"/>
          </a:xfrm>
          <a:custGeom>
            <a:avLst/>
            <a:gdLst/>
            <a:ahLst/>
            <a:cxnLst/>
            <a:rect l="l" t="t" r="r" b="b"/>
            <a:pathLst>
              <a:path w="393700" h="15494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549400"/>
                </a:lnTo>
                <a:lnTo>
                  <a:pt x="0" y="1549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89246280" name="Text 25"/>
          <p:cNvSpPr/>
          <p:nvPr/>
        </p:nvSpPr>
        <p:spPr bwMode="auto">
          <a:xfrm>
            <a:off x="5115917" y="3937216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1,90</a:t>
            </a:r>
            <a:endParaRPr lang="en-US" sz="1200"/>
          </a:p>
        </p:txBody>
      </p:sp>
      <p:sp>
        <p:nvSpPr>
          <p:cNvPr id="58128927" name="Shape 26"/>
          <p:cNvSpPr/>
          <p:nvPr/>
        </p:nvSpPr>
        <p:spPr bwMode="auto">
          <a:xfrm>
            <a:off x="5054600" y="4152100"/>
            <a:ext cx="393700" cy="406184"/>
          </a:xfrm>
          <a:custGeom>
            <a:avLst/>
            <a:gdLst/>
            <a:ahLst/>
            <a:cxnLst/>
            <a:rect l="l" t="t" r="r" b="b"/>
            <a:pathLst>
              <a:path w="393700" h="5334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533400"/>
                </a:lnTo>
                <a:lnTo>
                  <a:pt x="0" y="533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7912359" name="Text 27"/>
          <p:cNvSpPr/>
          <p:nvPr/>
        </p:nvSpPr>
        <p:spPr bwMode="auto">
          <a:xfrm>
            <a:off x="5547717" y="3556686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3,68</a:t>
            </a:r>
            <a:endParaRPr lang="en-US" sz="1200"/>
          </a:p>
        </p:txBody>
      </p:sp>
      <p:sp>
        <p:nvSpPr>
          <p:cNvPr id="1352668887" name="Shape 28"/>
          <p:cNvSpPr/>
          <p:nvPr/>
        </p:nvSpPr>
        <p:spPr bwMode="auto">
          <a:xfrm>
            <a:off x="5486400" y="3771570"/>
            <a:ext cx="393700" cy="786714"/>
          </a:xfrm>
          <a:custGeom>
            <a:avLst/>
            <a:gdLst/>
            <a:ahLst/>
            <a:cxnLst/>
            <a:rect l="l" t="t" r="r" b="b"/>
            <a:pathLst>
              <a:path w="393700" h="10350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035050"/>
                </a:lnTo>
                <a:lnTo>
                  <a:pt x="0" y="10350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16585382" name="Text 29"/>
          <p:cNvSpPr/>
          <p:nvPr/>
        </p:nvSpPr>
        <p:spPr bwMode="auto">
          <a:xfrm>
            <a:off x="6195417" y="403128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1,46</a:t>
            </a:r>
            <a:endParaRPr lang="en-US" sz="1200"/>
          </a:p>
        </p:txBody>
      </p:sp>
      <p:sp>
        <p:nvSpPr>
          <p:cNvPr id="1964494824" name="Shape 30"/>
          <p:cNvSpPr/>
          <p:nvPr/>
        </p:nvSpPr>
        <p:spPr bwMode="auto">
          <a:xfrm>
            <a:off x="6134100" y="4246164"/>
            <a:ext cx="393700" cy="312120"/>
          </a:xfrm>
          <a:custGeom>
            <a:avLst/>
            <a:gdLst/>
            <a:ahLst/>
            <a:cxnLst/>
            <a:rect l="l" t="t" r="r" b="b"/>
            <a:pathLst>
              <a:path w="393700" h="4127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412750"/>
                </a:lnTo>
                <a:lnTo>
                  <a:pt x="0" y="4127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58965970" name="Text 31"/>
          <p:cNvSpPr/>
          <p:nvPr/>
        </p:nvSpPr>
        <p:spPr bwMode="auto">
          <a:xfrm>
            <a:off x="6627217" y="3742676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2,81</a:t>
            </a:r>
            <a:endParaRPr lang="en-US" sz="1200"/>
          </a:p>
        </p:txBody>
      </p:sp>
      <p:sp>
        <p:nvSpPr>
          <p:cNvPr id="1142726232" name="Shape 32"/>
          <p:cNvSpPr/>
          <p:nvPr/>
        </p:nvSpPr>
        <p:spPr bwMode="auto">
          <a:xfrm>
            <a:off x="6565900" y="3957560"/>
            <a:ext cx="393700" cy="600724"/>
          </a:xfrm>
          <a:custGeom>
            <a:avLst/>
            <a:gdLst/>
            <a:ahLst/>
            <a:cxnLst/>
            <a:rect l="l" t="t" r="r" b="b"/>
            <a:pathLst>
              <a:path w="393700" h="8191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819150"/>
                </a:lnTo>
                <a:lnTo>
                  <a:pt x="0" y="8191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1405239" name="Text 33"/>
          <p:cNvSpPr/>
          <p:nvPr/>
        </p:nvSpPr>
        <p:spPr bwMode="auto">
          <a:xfrm>
            <a:off x="7112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300"/>
          </a:p>
        </p:txBody>
      </p:sp>
      <p:sp>
        <p:nvSpPr>
          <p:cNvPr id="2007593634" name="Text 34"/>
          <p:cNvSpPr/>
          <p:nvPr/>
        </p:nvSpPr>
        <p:spPr bwMode="auto">
          <a:xfrm>
            <a:off x="17907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703927937" name="Text 35"/>
          <p:cNvSpPr/>
          <p:nvPr/>
        </p:nvSpPr>
        <p:spPr bwMode="auto">
          <a:xfrm>
            <a:off x="28702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208906032" name="Text 36"/>
          <p:cNvSpPr/>
          <p:nvPr/>
        </p:nvSpPr>
        <p:spPr bwMode="auto">
          <a:xfrm>
            <a:off x="39497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289323912" name="Text 37"/>
          <p:cNvSpPr/>
          <p:nvPr/>
        </p:nvSpPr>
        <p:spPr bwMode="auto">
          <a:xfrm>
            <a:off x="50292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2063210769" name="Text 38"/>
          <p:cNvSpPr/>
          <p:nvPr/>
        </p:nvSpPr>
        <p:spPr bwMode="auto">
          <a:xfrm>
            <a:off x="61087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1425659928" name="Text 39"/>
          <p:cNvSpPr/>
          <p:nvPr/>
        </p:nvSpPr>
        <p:spPr bwMode="auto">
          <a:xfrm>
            <a:off x="7112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×1,98</a:t>
            </a:r>
            <a:endParaRPr lang="en-US" sz="1300"/>
          </a:p>
        </p:txBody>
      </p:sp>
      <p:sp>
        <p:nvSpPr>
          <p:cNvPr id="1578479370" name="Text 40"/>
          <p:cNvSpPr/>
          <p:nvPr/>
        </p:nvSpPr>
        <p:spPr bwMode="auto">
          <a:xfrm>
            <a:off x="17907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×1,97</a:t>
            </a:r>
            <a:endParaRPr lang="en-US" sz="1300"/>
          </a:p>
        </p:txBody>
      </p:sp>
      <p:sp>
        <p:nvSpPr>
          <p:cNvPr id="424571824" name="Text 41"/>
          <p:cNvSpPr/>
          <p:nvPr/>
        </p:nvSpPr>
        <p:spPr bwMode="auto">
          <a:xfrm>
            <a:off x="28702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×1,99</a:t>
            </a:r>
            <a:endParaRPr lang="en-US" sz="1300"/>
          </a:p>
        </p:txBody>
      </p:sp>
      <p:sp>
        <p:nvSpPr>
          <p:cNvPr id="2094139418" name="Text 42"/>
          <p:cNvSpPr/>
          <p:nvPr/>
        </p:nvSpPr>
        <p:spPr bwMode="auto">
          <a:xfrm>
            <a:off x="39497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×1,96</a:t>
            </a:r>
            <a:endParaRPr lang="en-US" sz="1300"/>
          </a:p>
        </p:txBody>
      </p:sp>
      <p:sp>
        <p:nvSpPr>
          <p:cNvPr id="1943956499" name="Text 43"/>
          <p:cNvSpPr/>
          <p:nvPr/>
        </p:nvSpPr>
        <p:spPr bwMode="auto">
          <a:xfrm>
            <a:off x="50292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×1,94</a:t>
            </a:r>
            <a:endParaRPr lang="en-US" sz="1300"/>
          </a:p>
        </p:txBody>
      </p:sp>
      <p:sp>
        <p:nvSpPr>
          <p:cNvPr id="1649110871" name="Text 44"/>
          <p:cNvSpPr/>
          <p:nvPr/>
        </p:nvSpPr>
        <p:spPr bwMode="auto">
          <a:xfrm>
            <a:off x="61087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×1,93</a:t>
            </a:r>
            <a:endParaRPr lang="en-US" sz="1300"/>
          </a:p>
        </p:txBody>
      </p:sp>
      <p:sp>
        <p:nvSpPr>
          <p:cNvPr id="193457000" name="Shape 45"/>
          <p:cNvSpPr/>
          <p:nvPr/>
        </p:nvSpPr>
        <p:spPr bwMode="auto">
          <a:xfrm>
            <a:off x="7327900" y="1562100"/>
            <a:ext cx="4318000" cy="1169194"/>
          </a:xfrm>
          <a:prstGeom prst="roundRect">
            <a:avLst>
              <a:gd name="adj" fmla="val 108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00651161" name="Shape 46"/>
          <p:cNvSpPr/>
          <p:nvPr/>
        </p:nvSpPr>
        <p:spPr bwMode="auto">
          <a:xfrm>
            <a:off x="7327900" y="1562100"/>
            <a:ext cx="4318000" cy="88900"/>
          </a:xfrm>
          <a:custGeom>
            <a:avLst/>
            <a:gdLst/>
            <a:ahLst/>
            <a:cxnLst/>
            <a:rect l="l" t="t" r="r" b="b"/>
            <a:pathLst>
              <a:path w="431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1910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34953802" name="Text 47"/>
          <p:cNvSpPr/>
          <p:nvPr/>
        </p:nvSpPr>
        <p:spPr bwMode="auto">
          <a:xfrm>
            <a:off x="7505700" y="1752599"/>
            <a:ext cx="4081272" cy="252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19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 contatore per ogni core</a:t>
            </a:r>
            <a:endParaRPr lang="en-US" sz="1300"/>
          </a:p>
        </p:txBody>
      </p:sp>
      <p:sp>
        <p:nvSpPr>
          <p:cNvPr id="1992608866" name="Text 48"/>
          <p:cNvSpPr/>
          <p:nvPr/>
        </p:nvSpPr>
        <p:spPr bwMode="auto">
          <a:xfrm>
            <a:off x="7505700" y="2030214"/>
            <a:ext cx="4081272" cy="612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37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 statistiche sono per-core: ogni core incrementa la sua copia, senza istruzioni atomiche e senza contendersi una riga di cache. Chi legge somma.</a:t>
            </a:r>
            <a:endParaRPr lang="en-US" sz="1200"/>
          </a:p>
        </p:txBody>
      </p:sp>
      <p:sp>
        <p:nvSpPr>
          <p:cNvPr id="788594221" name="Shape 49"/>
          <p:cNvSpPr/>
          <p:nvPr/>
        </p:nvSpPr>
        <p:spPr bwMode="auto">
          <a:xfrm>
            <a:off x="7327900" y="2820194"/>
            <a:ext cx="4318000" cy="1169260"/>
          </a:xfrm>
          <a:prstGeom prst="roundRect">
            <a:avLst>
              <a:gd name="adj" fmla="val 108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5498004" name="Shape 50"/>
          <p:cNvSpPr/>
          <p:nvPr/>
        </p:nvSpPr>
        <p:spPr bwMode="auto">
          <a:xfrm>
            <a:off x="7327900" y="2820194"/>
            <a:ext cx="4318000" cy="88900"/>
          </a:xfrm>
          <a:custGeom>
            <a:avLst/>
            <a:gdLst/>
            <a:ahLst/>
            <a:cxnLst/>
            <a:rect l="l" t="t" r="r" b="b"/>
            <a:pathLst>
              <a:path w="431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191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389091" name="Text 51"/>
          <p:cNvSpPr/>
          <p:nvPr/>
        </p:nvSpPr>
        <p:spPr bwMode="auto">
          <a:xfrm>
            <a:off x="7505700" y="3010694"/>
            <a:ext cx="408127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Quattro thread, due per coda</a:t>
            </a:r>
            <a:endParaRPr lang="en-US" sz="1400"/>
          </a:p>
        </p:txBody>
      </p:sp>
      <p:sp>
        <p:nvSpPr>
          <p:cNvPr id="19081431" name="Text 52"/>
          <p:cNvSpPr/>
          <p:nvPr/>
        </p:nvSpPr>
        <p:spPr bwMode="auto">
          <a:xfrm>
            <a:off x="7505700" y="3310409"/>
            <a:ext cx="4081272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tre thread una coda ne aveva uno solo (~2,8 M/s): rxonly non saturava (×1,61).</a:t>
            </a:r>
            <a:endParaRPr lang="en-US" sz="1300"/>
          </a:p>
        </p:txBody>
      </p:sp>
      <p:sp>
        <p:nvSpPr>
          <p:cNvPr id="1038679593" name="Shape 53"/>
          <p:cNvSpPr/>
          <p:nvPr/>
        </p:nvSpPr>
        <p:spPr bwMode="auto">
          <a:xfrm>
            <a:off x="7327900" y="4078362"/>
            <a:ext cx="4318000" cy="1169194"/>
          </a:xfrm>
          <a:prstGeom prst="roundRect">
            <a:avLst>
              <a:gd name="adj" fmla="val 108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35887292" name="Shape 54"/>
          <p:cNvSpPr/>
          <p:nvPr/>
        </p:nvSpPr>
        <p:spPr bwMode="auto">
          <a:xfrm>
            <a:off x="7327900" y="4078362"/>
            <a:ext cx="4318000" cy="88900"/>
          </a:xfrm>
          <a:custGeom>
            <a:avLst/>
            <a:gdLst/>
            <a:ahLst/>
            <a:cxnLst/>
            <a:rect l="l" t="t" r="r" b="b"/>
            <a:pathLst>
              <a:path w="431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191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1564641" name="Text 55"/>
          <p:cNvSpPr/>
          <p:nvPr/>
        </p:nvSpPr>
        <p:spPr bwMode="auto">
          <a:xfrm>
            <a:off x="7505700" y="4268862"/>
            <a:ext cx="408127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Una coda e un core, per scelta</a:t>
            </a:r>
            <a:endParaRPr lang="en-US" sz="1400"/>
          </a:p>
        </p:txBody>
      </p:sp>
      <p:sp>
        <p:nvSpPr>
          <p:cNvPr id="1665259967" name="Text 56"/>
          <p:cNvSpPr/>
          <p:nvPr/>
        </p:nvSpPr>
        <p:spPr bwMode="auto">
          <a:xfrm>
            <a:off x="7505700" y="4568565"/>
            <a:ext cx="4081272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banco misura il costo per core. Una scheda vera distribuisce i pacchetti su più code e più core (RSS).</a:t>
            </a:r>
            <a:endParaRPr lang="en-US" sz="1300"/>
          </a:p>
        </p:txBody>
      </p:sp>
      <p:sp>
        <p:nvSpPr>
          <p:cNvPr id="1596740389" name="Shape 5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74036812" name="Shape 5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5932966" name="Text 59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22855187" name="Text 6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costo per pacchetto resta quello di un core: un nodo con N code regge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circa N volte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la capacità misurata su un core, con pktgen e con xdp_gen (slide 14).</a:t>
            </a:r>
            <a:endParaRPr lang="en-US" sz="1500"/>
          </a:p>
        </p:txBody>
      </p:sp>
      <p:sp>
        <p:nvSpPr>
          <p:cNvPr id="1094380034" name="Text 6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pktgen, 3 thread su 1 core, 4 (2 per coda) su 2 · una coda d'uscita per core · 64 byte, 3 giri, 1 ottobre</a:t>
            </a:r>
            <a:endParaRPr lang="en-US" sz="1200"/>
          </a:p>
        </p:txBody>
      </p:sp>
      <p:sp>
        <p:nvSpPr>
          <p:cNvPr id="433619081" name="Text 6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23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4">
    <p:bg>
      <p:bgPr shadeToTitle="0">
        <a:solidFill>
          <a:srgbClr val="1F3A5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9209" name="Shape 0"/>
          <p:cNvSpPr/>
          <p:nvPr/>
        </p:nvSpPr>
        <p:spPr bwMode="auto">
          <a:xfrm>
            <a:off x="0" y="0"/>
            <a:ext cx="317500" cy="6858000"/>
          </a:xfrm>
          <a:prstGeom prst="rect">
            <a:avLst/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9810982" name="Text 1"/>
          <p:cNvSpPr/>
          <p:nvPr/>
        </p:nvSpPr>
        <p:spPr bwMode="auto">
          <a:xfrm>
            <a:off x="914400" y="952500"/>
            <a:ext cx="1067409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 spc="100">
                <a:solidFill>
                  <a:srgbClr val="F2B134"/>
                </a:solidFill>
                <a:latin typeface="Carlito"/>
                <a:ea typeface="Carlito"/>
                <a:cs typeface="Carlito"/>
              </a:rPr>
              <a:t>IN CHIUSURA · SINTESI</a:t>
            </a:r>
            <a:endParaRPr lang="en-US" sz="1400"/>
          </a:p>
        </p:txBody>
      </p:sp>
      <p:sp>
        <p:nvSpPr>
          <p:cNvPr id="811176331" name="Text 2"/>
          <p:cNvSpPr/>
          <p:nvPr/>
        </p:nvSpPr>
        <p:spPr bwMode="auto">
          <a:xfrm>
            <a:off x="914400" y="1290315"/>
            <a:ext cx="10674096" cy="612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620"/>
              </a:lnSpc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In sintesi</a:t>
            </a:r>
            <a:endParaRPr lang="en-US" sz="4200"/>
          </a:p>
        </p:txBody>
      </p:sp>
      <p:sp>
        <p:nvSpPr>
          <p:cNvPr id="1703730981" name="Shape 3"/>
          <p:cNvSpPr/>
          <p:nvPr/>
        </p:nvSpPr>
        <p:spPr bwMode="auto">
          <a:xfrm>
            <a:off x="914400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59790798" name="Shape 4"/>
          <p:cNvSpPr/>
          <p:nvPr/>
        </p:nvSpPr>
        <p:spPr bwMode="auto">
          <a:xfrm>
            <a:off x="1130300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02722690" name="Text 5"/>
          <p:cNvSpPr/>
          <p:nvPr/>
        </p:nvSpPr>
        <p:spPr bwMode="auto">
          <a:xfrm>
            <a:off x="1297715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900"/>
          </a:p>
        </p:txBody>
      </p:sp>
      <p:sp>
        <p:nvSpPr>
          <p:cNvPr id="666194076" name="Text 6"/>
          <p:cNvSpPr/>
          <p:nvPr/>
        </p:nvSpPr>
        <p:spPr bwMode="auto">
          <a:xfrm>
            <a:off x="1130300" y="3219723"/>
            <a:ext cx="2973747" cy="580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Il dual boot rende le misure ripetibili</a:t>
            </a:r>
            <a:endParaRPr lang="en-US" sz="1900"/>
          </a:p>
        </p:txBody>
      </p:sp>
      <p:sp>
        <p:nvSpPr>
          <p:cNvPr id="1438087814" name="Text 7"/>
          <p:cNvSpPr/>
          <p:nvPr/>
        </p:nvSpPr>
        <p:spPr bwMode="auto">
          <a:xfrm>
            <a:off x="1130300" y="3876278"/>
            <a:ext cx="2973747" cy="10197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La variazione del costo scende da 15–160% a 0,3–0,6%. Il core del nodo non dorme, non cambia frequenza e nessuno lo interrompe.</a:t>
            </a:r>
            <a:endParaRPr lang="en-US" sz="1450"/>
          </a:p>
        </p:txBody>
      </p:sp>
      <p:sp>
        <p:nvSpPr>
          <p:cNvPr id="108534207" name="Shape 8"/>
          <p:cNvSpPr/>
          <p:nvPr/>
        </p:nvSpPr>
        <p:spPr bwMode="auto">
          <a:xfrm>
            <a:off x="4436533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5198686" name="Shape 9"/>
          <p:cNvSpPr/>
          <p:nvPr/>
        </p:nvSpPr>
        <p:spPr bwMode="auto">
          <a:xfrm>
            <a:off x="4652433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244115" name="Text 10"/>
          <p:cNvSpPr/>
          <p:nvPr/>
        </p:nvSpPr>
        <p:spPr bwMode="auto">
          <a:xfrm>
            <a:off x="4819848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900"/>
          </a:p>
        </p:txBody>
      </p:sp>
      <p:sp>
        <p:nvSpPr>
          <p:cNvPr id="1114023944" name="Text 11"/>
          <p:cNvSpPr/>
          <p:nvPr/>
        </p:nvSpPr>
        <p:spPr bwMode="auto">
          <a:xfrm>
            <a:off x="4652433" y="3219723"/>
            <a:ext cx="2973747" cy="302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Due generatori, due usi</a:t>
            </a:r>
            <a:endParaRPr lang="en-US" sz="1900"/>
          </a:p>
        </p:txBody>
      </p:sp>
      <p:sp>
        <p:nvSpPr>
          <p:cNvPr id="1167123841" name="Text 12"/>
          <p:cNvSpPr/>
          <p:nvPr/>
        </p:nvSpPr>
        <p:spPr bwMode="auto">
          <a:xfrm>
            <a:off x="4652433" y="3598800"/>
            <a:ext cx="2973747" cy="126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pktgen confronta tutte le pipeline, da 3,31 a 1,50 M/s. xdp_gen, un thread per coda, misura P1–P3 senza la copia: 117–432 ns.</a:t>
            </a:r>
            <a:endParaRPr lang="en-US" sz="1450"/>
          </a:p>
        </p:txBody>
      </p:sp>
      <p:sp>
        <p:nvSpPr>
          <p:cNvPr id="604098758" name="Shape 13"/>
          <p:cNvSpPr/>
          <p:nvPr/>
        </p:nvSpPr>
        <p:spPr bwMode="auto">
          <a:xfrm>
            <a:off x="7958667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3608362" name="Shape 14"/>
          <p:cNvSpPr/>
          <p:nvPr/>
        </p:nvSpPr>
        <p:spPr bwMode="auto">
          <a:xfrm>
            <a:off x="8174567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55739281" name="Text 15"/>
          <p:cNvSpPr/>
          <p:nvPr/>
        </p:nvSpPr>
        <p:spPr bwMode="auto">
          <a:xfrm>
            <a:off x="8341982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900"/>
          </a:p>
        </p:txBody>
      </p:sp>
      <p:sp>
        <p:nvSpPr>
          <p:cNvPr id="1440241615" name="Text 16"/>
          <p:cNvSpPr/>
          <p:nvPr/>
        </p:nvSpPr>
        <p:spPr bwMode="auto">
          <a:xfrm>
            <a:off x="8174567" y="3219723"/>
            <a:ext cx="2973747" cy="580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Si perde prima del programma</a:t>
            </a:r>
            <a:endParaRPr lang="en-US" sz="1900"/>
          </a:p>
        </p:txBody>
      </p:sp>
      <p:sp>
        <p:nvSpPr>
          <p:cNvPr id="36496254" name="Text 17"/>
          <p:cNvSpPr/>
          <p:nvPr/>
        </p:nvSpPr>
        <p:spPr bwMode="auto">
          <a:xfrm>
            <a:off x="8174567" y="3876278"/>
            <a:ext cx="2973747" cy="126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Il nodo satura alla sua capacità, il ritardo salta di un ordine di grandezza e la perdita è tutta all'ingresso: il collo di bottiglia è il programma, e due core reggono il doppio.</a:t>
            </a:r>
            <a:endParaRPr lang="en-US" sz="1450"/>
          </a:p>
        </p:txBody>
      </p:sp>
      <p:sp>
        <p:nvSpPr>
          <p:cNvPr id="1206520092" name="Text 18"/>
          <p:cNvSpPr/>
          <p:nvPr/>
        </p:nvSpPr>
        <p:spPr bwMode="auto">
          <a:xfrm>
            <a:off x="914400" y="5928395"/>
            <a:ext cx="10674096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9FB0C6"/>
                </a:solidFill>
                <a:latin typeface="Carlito"/>
                <a:ea typeface="Carlito"/>
                <a:cs typeface="Carlito"/>
              </a:rPr>
              <a:t>Ettore Cantile · settembre 2026</a:t>
            </a:r>
            <a:endParaRPr lang="en-US" sz="1300"/>
          </a:p>
        </p:txBody>
      </p:sp>
      <p:sp>
        <p:nvSpPr>
          <p:cNvPr id="1502667220" name="Text 1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9FB0C6"/>
                </a:solidFill>
                <a:latin typeface="Carlito"/>
                <a:ea typeface="Carlito"/>
                <a:cs typeface="Carlito"/>
              </a:rPr>
              <a:t>25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reale su dual boot</dc:title>
  <dc:subject>PptxGenJS Presentation</dc:subject>
  <dc:creator>PptxGenJS</dc:creator>
  <cp:lastModifiedBy/>
  <cp:revision>4</cp:revision>
  <dcterms:created xsi:type="dcterms:W3CDTF">2026-09-29T15:31:22Z</dcterms:created>
  <dcterms:modified xsi:type="dcterms:W3CDTF">2026-09-30T16:52:04Z</dcterms:modified>
</cp:coreProperties>
</file>