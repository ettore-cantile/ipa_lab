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5" r:id="rId13"/>
    <p:sldId id="270" r:id="rId18"/>
    <p:sldId id="267" r:id="rId15"/>
    <p:sldId id="269" r:id="rId17"/>
    <p:sldId id="271" r:id="rId19"/>
    <p:sldId id="272" r:id="rId20"/>
    <p:sldId id="280" r:id="rId32"/>
    <p:sldId id="274" r:id="rId22"/>
    <p:sldId id="275" r:id="rId23"/>
    <p:sldId id="276" r:id="rId24"/>
    <p:sldId id="277" r:id="rId25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0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7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787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360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quale generatore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ottobre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macchina virtuale al dual boot.</a:t>
            </a:r>
            <a:endParaRPr lang="en-US" sz="1400"/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generatore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xdp_gen: pacchetti come da una scheda di rete.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su uno e due core.</a:t>
            </a:r>
            <a:endParaRPr lang="en-US" sz="1400"/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ora si ripetono.</a:t>
            </a:r>
            <a:endParaRPr lang="en-US" sz="1500"/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Le parti 2–5 raccontano ciò che è cambiato dal test in macchina virtuale</a:t>
            </a:r>
            <a:endParaRPr lang="en-US" sz="1200"/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IL PROBLEMA</a:t>
            </a:r>
            <a:endParaRPr lang="en-US" sz="1200"/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Nella macchina virtuale il nodo ogni tanto si fermava</a:t>
            </a:r>
            <a:endParaRPr lang="en-US" sz="3000"/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strade, entrambe cattive</a:t>
            </a:r>
            <a:endParaRPr lang="en-US" sz="1600"/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 core separati</a:t>
            </a:r>
            <a:endParaRPr lang="en-US" sz="1600"/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perdeva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fra l'8 e il 70%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dei pacchetti a qualunque ritmo, anche lentissimo.</a:t>
            </a:r>
            <a:endParaRPr lang="en-US" sz="1400"/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sullo stesso core</a:t>
            </a:r>
            <a:endParaRPr lang="en-US" sz="1600"/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perdeva niente, ma il core faceva il lavoro di tutti e due: il collo di bottiglia era sempre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misurava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assenze del core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non il programma: dentro la macchina virtuale un core può fermarsi per millisecondi, e non si vede né si può impedire.</a:t>
            </a:r>
            <a:endParaRPr lang="en-US" sz="1500"/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LA SOLUZIONE</a:t>
            </a:r>
            <a:endParaRPr lang="en-US" sz="1200"/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Sul dual boot ogni core ha un ruolo fisso</a:t>
            </a:r>
            <a:endParaRPr lang="en-US" sz="3000"/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</a:t>
            </a:r>
            <a:endParaRPr lang="en-US" sz="1200"/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3 494 MHz misurati dai contatori del processore durante ogni misura.</a:t>
            </a:r>
            <a:endParaRPr lang="en-US" sz="1300"/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PRIMA E DOPO</a:t>
            </a:r>
            <a:endParaRPr lang="en-US" sz="1200"/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il dual boot le misure si ripetono</a:t>
            </a:r>
            <a:endParaRPr lang="en-US" sz="3000"/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Macchina virtuale</a:t>
            </a:r>
            <a:endParaRPr lang="en-US" sz="1300"/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Dual boot</a:t>
            </a:r>
            <a:endParaRPr lang="en-US" sz="1300"/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~82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160%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49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2,2%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~116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104%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58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4,3%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~430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227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2,9%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~670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350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3,6%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Costo sopra la baseline, per pacchetto. Le cifre assolute non si confrontano (frequenza e metodo erano diversi): si confronta la variazione.</a:t>
            </a:r>
            <a:endParaRPr lang="en-US" sz="1200"/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160% → 2%</a:t>
            </a:r>
            <a:endParaRPr lang="en-US" sz="2800"/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variazione del costo di P1 fra le esecuzioni</a:t>
            </a:r>
            <a:endParaRPr lang="en-US" sz="1300"/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1–2%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</a:t>
            </a:r>
            <a:endParaRPr lang="en-US" sz="2800"/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sotto capacità, anche per il solo contatore</a:t>
            </a:r>
            <a:endParaRPr lang="en-US" sz="1300"/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58% · 0,2% · 7,7%</a:t>
            </a:r>
            <a:endParaRPr lang="en-US" sz="2800"/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perdita dello stesso punto in tre giri (macchina virtuale). Sul dual boot: in genere entro lo 0,1%, al massimo 6%</a:t>
            </a:r>
            <a:endParaRPr lang="en-US" sz="1300"/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guadagno vero non è la velocità, è 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ripetibilità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differenze che prima sparivano nel rumore, come P1 contro P1.5 o scartare contro inoltrare, ora si misurano.</a:t>
            </a:r>
            <a:endParaRPr lang="en-US" sz="1500"/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Macchina virtuale: 18 settembre, pktgen, 512 byte · dual boot: 2 ottobre, xdp_gen, 64 byte · variazione fra le esecuzioni</a:t>
            </a:r>
            <a:endParaRPr lang="en-US" sz="1200"/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IL GENERATORE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15–19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milioni di pacchetti al secondo offerti da un solo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3600"/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con xdp_gen, contro 529 ns con pktgen</a:t>
            </a:r>
            <a:endParaRPr lang="en-US" sz="1400"/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più dal nodo. Si usa un thread per coda: più thread nella stessa coda si intralciano e rallentano anche il nodo.</a:t>
            </a:r>
            <a:endParaRPr lang="en-US" sz="1500"/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26228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234617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IL GENERATORE · L'ALTERNATIVA</a:t>
            </a:r>
            <a:endParaRPr lang="en-US" sz="1200"/>
          </a:p>
        </p:txBody>
      </p:sp>
      <p:sp>
        <p:nvSpPr>
          <p:cNvPr id="10184393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L'alternativa, pktgen, costa 225–250 ns in più</a:t>
            </a:r>
            <a:endParaRPr lang="en-US" sz="3000"/>
          </a:p>
        </p:txBody>
      </p:sp>
      <p:sp>
        <p:nvSpPr>
          <p:cNvPr id="1550892152" name="Shape 3"/>
          <p:cNvSpPr/>
          <p:nvPr/>
        </p:nvSpPr>
        <p:spPr bwMode="auto">
          <a:xfrm>
            <a:off x="546100" y="1562100"/>
            <a:ext cx="6540500" cy="3477220"/>
          </a:xfrm>
          <a:prstGeom prst="roundRect">
            <a:avLst>
              <a:gd name="adj" fmla="val 36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120802" name="Text 4"/>
          <p:cNvSpPr/>
          <p:nvPr/>
        </p:nvSpPr>
        <p:spPr bwMode="auto">
          <a:xfrm>
            <a:off x="736600" y="1714500"/>
            <a:ext cx="634428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Nanosecondi per pacchetto, stesso programma</a:t>
            </a:r>
            <a:endParaRPr lang="en-US" sz="1500"/>
          </a:p>
        </p:txBody>
      </p:sp>
      <p:sp>
        <p:nvSpPr>
          <p:cNvPr id="1869677495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3226184" name="Text 6"/>
          <p:cNvSpPr/>
          <p:nvPr/>
        </p:nvSpPr>
        <p:spPr bwMode="auto">
          <a:xfrm>
            <a:off x="952500" y="2044700"/>
            <a:ext cx="11934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(con copia)</a:t>
            </a:r>
            <a:endParaRPr lang="en-US" sz="1200"/>
          </a:p>
        </p:txBody>
      </p:sp>
      <p:sp>
        <p:nvSpPr>
          <p:cNvPr id="2037176914" name="Shape 7"/>
          <p:cNvSpPr/>
          <p:nvPr/>
        </p:nvSpPr>
        <p:spPr bwMode="auto">
          <a:xfrm>
            <a:off x="2272903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7724669" name="Text 8"/>
          <p:cNvSpPr/>
          <p:nvPr/>
        </p:nvSpPr>
        <p:spPr bwMode="auto">
          <a:xfrm>
            <a:off x="2488803" y="2044700"/>
            <a:ext cx="1415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 (senza copia)</a:t>
            </a:r>
            <a:endParaRPr lang="en-US" sz="1200"/>
          </a:p>
        </p:txBody>
      </p:sp>
      <p:sp>
        <p:nvSpPr>
          <p:cNvPr id="1274116744" name="Text 9"/>
          <p:cNvSpPr/>
          <p:nvPr/>
        </p:nvSpPr>
        <p:spPr bwMode="auto">
          <a:xfrm>
            <a:off x="736600" y="24663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359008047" name="Shape 10"/>
          <p:cNvSpPr/>
          <p:nvPr/>
        </p:nvSpPr>
        <p:spPr bwMode="auto">
          <a:xfrm>
            <a:off x="1689100" y="2359620"/>
            <a:ext cx="1752599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7606422" name="Text 11"/>
          <p:cNvSpPr/>
          <p:nvPr/>
        </p:nvSpPr>
        <p:spPr bwMode="auto">
          <a:xfrm>
            <a:off x="3517900" y="23659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300"/>
          </a:p>
        </p:txBody>
      </p:sp>
      <p:sp>
        <p:nvSpPr>
          <p:cNvPr id="874054731" name="Shape 12"/>
          <p:cNvSpPr/>
          <p:nvPr/>
        </p:nvSpPr>
        <p:spPr bwMode="auto">
          <a:xfrm>
            <a:off x="1689100" y="2600920"/>
            <a:ext cx="383692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4871553" name="Text 13"/>
          <p:cNvSpPr/>
          <p:nvPr/>
        </p:nvSpPr>
        <p:spPr bwMode="auto">
          <a:xfrm>
            <a:off x="2151226" y="2607270"/>
            <a:ext cx="170078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 ns   −236 ns</a:t>
            </a:r>
            <a:endParaRPr lang="en-US" sz="1300"/>
          </a:p>
        </p:txBody>
      </p:sp>
      <p:sp>
        <p:nvSpPr>
          <p:cNvPr id="854225757" name="Text 14"/>
          <p:cNvSpPr/>
          <p:nvPr/>
        </p:nvSpPr>
        <p:spPr bwMode="auto">
          <a:xfrm>
            <a:off x="736600" y="29870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106711211" name="Shape 15"/>
          <p:cNvSpPr/>
          <p:nvPr/>
        </p:nvSpPr>
        <p:spPr bwMode="auto">
          <a:xfrm>
            <a:off x="1689100" y="2880320"/>
            <a:ext cx="19748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770838" name="Text 16"/>
          <p:cNvSpPr/>
          <p:nvPr/>
        </p:nvSpPr>
        <p:spPr bwMode="auto">
          <a:xfrm>
            <a:off x="3740149" y="28866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300"/>
          </a:p>
        </p:txBody>
      </p:sp>
      <p:sp>
        <p:nvSpPr>
          <p:cNvPr id="482346709" name="Shape 17"/>
          <p:cNvSpPr/>
          <p:nvPr/>
        </p:nvSpPr>
        <p:spPr bwMode="auto">
          <a:xfrm>
            <a:off x="1689100" y="3121620"/>
            <a:ext cx="668123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932008" name="Text 18"/>
          <p:cNvSpPr/>
          <p:nvPr/>
        </p:nvSpPr>
        <p:spPr bwMode="auto">
          <a:xfrm>
            <a:off x="2435657" y="31279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115 ns   −225 ns</a:t>
            </a:r>
            <a:endParaRPr lang="en-US" sz="1300"/>
          </a:p>
        </p:txBody>
      </p:sp>
      <p:sp>
        <p:nvSpPr>
          <p:cNvPr id="1558560373" name="Text 19"/>
          <p:cNvSpPr/>
          <p:nvPr/>
        </p:nvSpPr>
        <p:spPr bwMode="auto">
          <a:xfrm>
            <a:off x="736600" y="35077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686066982" name="Shape 20"/>
          <p:cNvSpPr/>
          <p:nvPr/>
        </p:nvSpPr>
        <p:spPr bwMode="auto">
          <a:xfrm>
            <a:off x="1689100" y="3401020"/>
            <a:ext cx="20637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058696" name="Text 21"/>
          <p:cNvSpPr/>
          <p:nvPr/>
        </p:nvSpPr>
        <p:spPr bwMode="auto">
          <a:xfrm>
            <a:off x="3829050" y="34073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300"/>
          </a:p>
        </p:txBody>
      </p:sp>
      <p:sp>
        <p:nvSpPr>
          <p:cNvPr id="1561069790" name="Shape 22"/>
          <p:cNvSpPr/>
          <p:nvPr/>
        </p:nvSpPr>
        <p:spPr bwMode="auto">
          <a:xfrm>
            <a:off x="1689100" y="3642320"/>
            <a:ext cx="719205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4850430" name="Text 23"/>
          <p:cNvSpPr/>
          <p:nvPr/>
        </p:nvSpPr>
        <p:spPr bwMode="auto">
          <a:xfrm>
            <a:off x="2486739" y="36486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   −232 ns</a:t>
            </a:r>
            <a:endParaRPr lang="en-US" sz="1300"/>
          </a:p>
        </p:txBody>
      </p:sp>
      <p:sp>
        <p:nvSpPr>
          <p:cNvPr id="311158080" name="Text 24"/>
          <p:cNvSpPr/>
          <p:nvPr/>
        </p:nvSpPr>
        <p:spPr bwMode="auto">
          <a:xfrm>
            <a:off x="736600" y="40284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599369607" name="Shape 25"/>
          <p:cNvSpPr/>
          <p:nvPr/>
        </p:nvSpPr>
        <p:spPr bwMode="auto">
          <a:xfrm>
            <a:off x="1689100" y="3921720"/>
            <a:ext cx="307340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6970025" name="Text 26"/>
          <p:cNvSpPr/>
          <p:nvPr/>
        </p:nvSpPr>
        <p:spPr bwMode="auto">
          <a:xfrm>
            <a:off x="4838700" y="39280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300"/>
          </a:p>
        </p:txBody>
      </p:sp>
      <p:sp>
        <p:nvSpPr>
          <p:cNvPr id="1286915460" name="Shape 27"/>
          <p:cNvSpPr/>
          <p:nvPr/>
        </p:nvSpPr>
        <p:spPr bwMode="auto">
          <a:xfrm>
            <a:off x="1689100" y="4163020"/>
            <a:ext cx="1702525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03374" name="Text 28"/>
          <p:cNvSpPr/>
          <p:nvPr/>
        </p:nvSpPr>
        <p:spPr bwMode="auto">
          <a:xfrm>
            <a:off x="3470059" y="41693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1300"/>
          </a:p>
        </p:txBody>
      </p:sp>
      <p:sp>
        <p:nvSpPr>
          <p:cNvPr id="327375694" name="Text 29"/>
          <p:cNvSpPr/>
          <p:nvPr/>
        </p:nvSpPr>
        <p:spPr bwMode="auto">
          <a:xfrm>
            <a:off x="4210723" y="41693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−236 ns</a:t>
            </a:r>
            <a:endParaRPr lang="en-US" sz="1300"/>
          </a:p>
        </p:txBody>
      </p:sp>
      <p:sp>
        <p:nvSpPr>
          <p:cNvPr id="1955929787" name="Text 30"/>
          <p:cNvSpPr/>
          <p:nvPr/>
        </p:nvSpPr>
        <p:spPr bwMode="auto">
          <a:xfrm>
            <a:off x="736600" y="45491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552882207" name="Shape 31"/>
          <p:cNvSpPr/>
          <p:nvPr/>
        </p:nvSpPr>
        <p:spPr bwMode="auto">
          <a:xfrm>
            <a:off x="1689100" y="4442420"/>
            <a:ext cx="38671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3156934" name="Text 32"/>
          <p:cNvSpPr/>
          <p:nvPr/>
        </p:nvSpPr>
        <p:spPr bwMode="auto">
          <a:xfrm>
            <a:off x="5632450" y="444877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300"/>
          </a:p>
        </p:txBody>
      </p:sp>
      <p:sp>
        <p:nvSpPr>
          <p:cNvPr id="1214684123" name="Shape 33"/>
          <p:cNvSpPr/>
          <p:nvPr/>
        </p:nvSpPr>
        <p:spPr bwMode="auto">
          <a:xfrm>
            <a:off x="1689100" y="4683720"/>
            <a:ext cx="2413023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0826382" name="Text 34"/>
          <p:cNvSpPr/>
          <p:nvPr/>
        </p:nvSpPr>
        <p:spPr bwMode="auto">
          <a:xfrm>
            <a:off x="4180557" y="46900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416 ns</a:t>
            </a:r>
            <a:endParaRPr lang="en-US" sz="1300"/>
          </a:p>
        </p:txBody>
      </p:sp>
      <p:sp>
        <p:nvSpPr>
          <p:cNvPr id="1564814363" name="Text 35"/>
          <p:cNvSpPr/>
          <p:nvPr/>
        </p:nvSpPr>
        <p:spPr bwMode="auto">
          <a:xfrm>
            <a:off x="4921221" y="46900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−250 ns</a:t>
            </a:r>
            <a:endParaRPr lang="en-US" sz="1300"/>
          </a:p>
        </p:txBody>
      </p:sp>
      <p:sp>
        <p:nvSpPr>
          <p:cNvPr id="320966211" name="Shape 36"/>
          <p:cNvSpPr/>
          <p:nvPr/>
        </p:nvSpPr>
        <p:spPr bwMode="auto">
          <a:xfrm>
            <a:off x="7264400" y="1562100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3815715" name="Shape 37"/>
          <p:cNvSpPr/>
          <p:nvPr/>
        </p:nvSpPr>
        <p:spPr bwMode="auto">
          <a:xfrm>
            <a:off x="7264400" y="1562100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6191563" name="Text 38"/>
          <p:cNvSpPr/>
          <p:nvPr/>
        </p:nvSpPr>
        <p:spPr bwMode="auto">
          <a:xfrm>
            <a:off x="7442200" y="175259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pktgen: il generatore di Linux</a:t>
            </a:r>
            <a:endParaRPr lang="en-US" sz="1400"/>
          </a:p>
        </p:txBody>
      </p:sp>
      <p:sp>
        <p:nvSpPr>
          <p:cNvPr id="1413696015" name="Text 39"/>
          <p:cNvSpPr/>
          <p:nvPr/>
        </p:nvSpPr>
        <p:spPr bwMode="auto">
          <a:xfrm>
            <a:off x="7442200" y="2039609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Crea una skb, e il cavo virtuale la copia prima del nodo: lo stesso programma costa di più.</a:t>
            </a:r>
            <a:endParaRPr lang="en-US" sz="1300"/>
          </a:p>
        </p:txBody>
      </p:sp>
      <p:sp>
        <p:nvSpPr>
          <p:cNvPr id="33363353" name="Shape 40"/>
          <p:cNvSpPr/>
          <p:nvPr/>
        </p:nvSpPr>
        <p:spPr bwMode="auto">
          <a:xfrm>
            <a:off x="7264400" y="2750809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019319" name="Shape 41"/>
          <p:cNvSpPr/>
          <p:nvPr/>
        </p:nvSpPr>
        <p:spPr bwMode="auto">
          <a:xfrm>
            <a:off x="7264400" y="2750809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4735577" name="Text 42"/>
          <p:cNvSpPr/>
          <p:nvPr/>
        </p:nvSpPr>
        <p:spPr bwMode="auto">
          <a:xfrm>
            <a:off x="7442200" y="294130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La rete neurale costa uguale</a:t>
            </a:r>
            <a:endParaRPr lang="en-US" sz="1400"/>
          </a:p>
        </p:txBody>
      </p:sp>
      <p:sp>
        <p:nvSpPr>
          <p:cNvPr id="1037587850" name="Text 43"/>
          <p:cNvSpPr/>
          <p:nvPr/>
        </p:nvSpPr>
        <p:spPr bwMode="auto">
          <a:xfrm>
            <a:off x="7442200" y="3228318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baseline: xdp_gen +49, +58, +227, +350 ns; pktgen +38, +53, +226, +364.</a:t>
            </a:r>
            <a:endParaRPr lang="en-US" sz="1300"/>
          </a:p>
        </p:txBody>
      </p:sp>
      <p:sp>
        <p:nvSpPr>
          <p:cNvPr id="1058785538" name="Shape 44"/>
          <p:cNvSpPr/>
          <p:nvPr/>
        </p:nvSpPr>
        <p:spPr bwMode="auto">
          <a:xfrm>
            <a:off x="7264400" y="3939518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531357" name="Shape 45"/>
          <p:cNvSpPr/>
          <p:nvPr/>
        </p:nvSpPr>
        <p:spPr bwMode="auto">
          <a:xfrm>
            <a:off x="7264400" y="3939518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9062466" name="Text 46"/>
          <p:cNvSpPr/>
          <p:nvPr/>
        </p:nvSpPr>
        <p:spPr bwMode="auto">
          <a:xfrm>
            <a:off x="7442200" y="4130018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Da dove vengono i 225–250 ns</a:t>
            </a:r>
            <a:endParaRPr lang="en-US" sz="1400"/>
          </a:p>
        </p:txBody>
      </p:sp>
      <p:sp>
        <p:nvSpPr>
          <p:cNvPr id="1739680763" name="Text 47"/>
          <p:cNvSpPr/>
          <p:nvPr/>
        </p:nvSpPr>
        <p:spPr bwMode="auto">
          <a:xfrm>
            <a:off x="7442200" y="4417020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copia della skb e dal percorso dello stack: il costo del generatore, pagato sul core del nodo.</a:t>
            </a:r>
            <a:endParaRPr lang="en-US" sz="1300"/>
          </a:p>
        </p:txBody>
      </p:sp>
      <p:sp>
        <p:nvSpPr>
          <p:cNvPr id="1701427139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8521586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8972013" name="Text 50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44412690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banco usa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che non ha la copia. pktgen resta un'alternativa: sopra la baseline dà la stessa risposta.</a:t>
            </a:r>
            <a:endParaRPr lang="en-US" sz="1500"/>
          </a:p>
        </p:txBody>
      </p:sp>
      <p:sp>
        <p:nvSpPr>
          <p:cNvPr id="47309394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28/9, xdp_gen 2/10 (nodo al 100%) · P1: 340 − 115 = 225 · P1.5: 356 − 124 = 232 · P2: 529 − 293 = 236 · P3: 666 − 416 = 250 ns</a:t>
            </a:r>
            <a:endParaRPr lang="en-US" sz="1200"/>
          </a:p>
        </p:txBody>
      </p:sp>
      <p:sp>
        <p:nvSpPr>
          <p:cNvPr id="1874844399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giri, 64 byte, 2 ottobre · un thread di xdp_gen, uscita su un core suo · nodo al 100% · variazione fra i giri 1,2–3,1%</a:t>
            </a:r>
            <a:endParaRPr lang="en-US" sz="1200"/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072383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660135" y="1936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19,11</a:t>
            </a:r>
            <a:endParaRPr lang="en-US" sz="1500"/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40 ns</a:t>
            </a:r>
            <a:endParaRPr lang="en-US" sz="1400"/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432504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5020256" y="23939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15,13</a:t>
            </a:r>
            <a:endParaRPr lang="en-US" sz="1500"/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 ns</a:t>
            </a:r>
            <a:endParaRPr lang="en-US" sz="1400"/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397122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3984874" y="28511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8,69</a:t>
            </a:r>
            <a:endParaRPr lang="en-US" sz="1500"/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115 ns</a:t>
            </a:r>
            <a:endParaRPr lang="en-US" sz="1400"/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+49 ns</a:t>
            </a:r>
            <a:endParaRPr lang="en-US" sz="1400"/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297443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3885195" y="33083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8,07</a:t>
            </a:r>
            <a:endParaRPr lang="en-US" sz="1500"/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</a:t>
            </a:r>
            <a:endParaRPr lang="en-US" sz="1400"/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+58 ns</a:t>
            </a:r>
            <a:endParaRPr lang="en-US" sz="1400"/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548238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135990" y="37655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3,41</a:t>
            </a:r>
            <a:endParaRPr lang="en-US" sz="1500"/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293 ns</a:t>
            </a:r>
            <a:endParaRPr lang="en-US" sz="1400"/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+227 ns</a:t>
            </a:r>
            <a:endParaRPr lang="en-US" sz="1400"/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387464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2975216" y="4222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2,41</a:t>
            </a:r>
            <a:endParaRPr lang="en-US" sz="1500"/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416 ns</a:t>
            </a:r>
            <a:endParaRPr lang="en-US" sz="1400"/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+350 ns</a:t>
            </a:r>
            <a:endParaRPr lang="en-US" sz="1400"/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Sotto la sua capacità nessuna pipeline respinge un pacchetto: perdita ≤ 0,02% (curve della slide 15).</a:t>
            </a:r>
            <a:endParaRPr lang="en-US" sz="1250"/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8,69 contro 8,07 M/s, con variazioni dell'1,3 e 1,2% fra i giri: congelare il nodo vale circa 9 ns per pacchetto.</a:t>
            </a:r>
            <a:endParaRPr lang="en-US" sz="1300"/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~50–60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~230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~350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due core reggono il doppio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 elaborati,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core, misurati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× un core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412702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29,20</a:t>
            </a:r>
            <a:endParaRPr lang="en-US" sz="1200"/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627586"/>
            <a:ext cx="469900" cy="1852974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234543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30,26</a:t>
            </a:r>
            <a:endParaRPr lang="en-US" sz="1200"/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2560320"/>
            <a:ext cx="469900" cy="1920240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3197043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16,84</a:t>
            </a:r>
            <a:endParaRPr lang="en-US" sz="1200"/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3411927"/>
            <a:ext cx="469900" cy="1068633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316277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17,38</a:t>
            </a:r>
            <a:endParaRPr lang="en-US" sz="1200"/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377660"/>
            <a:ext cx="469900" cy="1102900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326811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15,72</a:t>
            </a:r>
            <a:endParaRPr lang="en-US" sz="1200"/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3483000"/>
            <a:ext cx="469900" cy="997560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3241464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16,14</a:t>
            </a:r>
            <a:endParaRPr lang="en-US" sz="1200"/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456348"/>
            <a:ext cx="469900" cy="1024212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83796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6,74</a:t>
            </a:r>
            <a:endParaRPr lang="en-US" sz="1200"/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4052853"/>
            <a:ext cx="469900" cy="427707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832893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6,82</a:t>
            </a:r>
            <a:endParaRPr lang="en-US" sz="1200"/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4047777"/>
            <a:ext cx="469900" cy="432783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97503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4,58</a:t>
            </a:r>
            <a:endParaRPr lang="en-US" sz="1200"/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4189923"/>
            <a:ext cx="469900" cy="290637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95980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4,82</a:t>
            </a:r>
            <a:endParaRPr lang="en-US" sz="1200"/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4174693"/>
            <a:ext cx="469900" cy="305867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Una coda d'uscita per ogni core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 i due core del nodo scrivevano nella stessa coda d'uscita, svuotata da un solo core: la baseline elaborava 13,1 M/s e ne arrivavano 4,3. Ora ogni core ha la sua coda e il suo core d'uscita: arrivano tutti.</a:t>
            </a:r>
            <a:endParaRPr lang="en-US" sz="1300"/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Il costo per core non cambia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Tempo di CPU per pacchetto di ogni core: 67, 119, 127, 297 e 436 ns, contro 66, 115, 124, 293 e 416 con un core solo (slide 11).</a:t>
            </a:r>
            <a:endParaRPr lang="en-US" sz="1300"/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uno scrittore per coda anche in uscita, due core elaborano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95–99% del doppio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un core: il costo misurato su un core vale per ogni core.</a:t>
            </a:r>
            <a:endParaRPr lang="en-US" sz="1500"/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2 ottobre, 64 byte, 3 giri · nodo su CPU 6 e 8, un thread per coda, uscita su CPU 3 e 5 · 2 × un core = il doppio della slide 11</a:t>
            </a:r>
            <a:endParaRPr lang="en-US" sz="1200"/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fino a +5 ns: dentro il rumore.</a:t>
            </a:r>
            <a:endParaRPr lang="en-US" sz="1300"/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. Ogni pipeline segue la diagonale e poi si ferma alla propria capacità: baseline 3,3, P1 2,9, P1.5 2,8, P2 1,9, P3 1,5 milioni al secondo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52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83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914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45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  <p:sp>
        <p:nvSpPr>
          <p:cNvPr id="2146217695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4" name="Text 14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2014219" y="3181857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≥ 4,05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8,89*</a:t>
            </a:r>
            <a:endParaRPr lang="en-US" sz="1400"/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4,04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4,56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8,64</a:t>
            </a:r>
            <a:endParaRPr lang="en-US" sz="1400"/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3,55</a:t>
            </a:r>
            <a:endParaRPr lang="en-US" sz="1400"/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4,08</a:t>
            </a:r>
            <a:endParaRPr lang="en-US" sz="1400"/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8,06</a:t>
            </a:r>
            <a:endParaRPr lang="en-US" sz="1400"/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1,54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1,79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3,48</a:t>
            </a:r>
            <a:endParaRPr lang="en-US" sz="1400"/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1,02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1,28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2,33</a:t>
            </a:r>
            <a:endParaRPr lang="en-US" sz="1400"/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* Baseline: oltre 8,6 M/s il nodo è al 60%: il limite è del banco, non del programma.</a:t>
            </a:r>
            <a:endParaRPr lang="en-US" sz="1200"/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P1 a 8,6, P1.5 a 8,1, P2 a 3,5 e P3 a 2,3 milioni di pacchetti al secondo, le stesse cifre del test di saturazione (slide 11).</a:t>
            </a:r>
            <a:endParaRPr lang="en-US" sz="1500"/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 valori di traffico, 5 giri ciascuno, 64 byte, 480 finestre · xdp_gen, ritmo tenuto dal generatore · DUT a 3,5 GHz</a:t>
            </a:r>
            <a:endParaRPr lang="en-US" sz="1200"/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  <a:endParaRPr lang="en-US"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ipeline P2: pacchetti inviati, ricevuti da XDP e inoltrati al secondo contro traffico inviato. Gli inviati continuano a salire, ricevuti e inoltrati si fermano insieme a 1,9 milioni al secondo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39852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3883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27914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1945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  <p:sp>
        <p:nvSpPr>
          <p:cNvPr id="2146217697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6" name="Text 15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3145515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884167" y="2495422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025899" y="3708145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3,5 milioni al secondo.</a:t>
            </a:r>
            <a:endParaRPr lang="en-US" sz="1300"/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0,04%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 (baseline 0,2%, sopra 8,6 M/s).</a:t>
            </a:r>
            <a:endParaRPr lang="en-US" sz="1500"/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giri, xdp_gen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in percentuale dei pacchetti inviati contro traffico inviato, per pipeline. Le curve salgono dopo il ginocchio di ogni pipeline fino al 43, 50, 51, 68 e 74 per cento; dopo il programma la perdita resta sotto lo 0,02 per cento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6034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990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43784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8" name="Text 13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3682999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0,04%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al traffico più alto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76%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61%</a:t>
            </a:r>
            <a:endParaRPr lang="en-US" sz="1700"/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1%*</a:t>
            </a:r>
            <a:endParaRPr lang="en-US" sz="1700"/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0,3%</a:t>
            </a:r>
            <a:endParaRPr lang="en-US" sz="1700"/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0,04%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ogni traffico (* baseline: banco, nodo al 60%; 0,2% dopo)</a:t>
            </a:r>
            <a:endParaRPr lang="en-US" sz="1200"/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si chiedono fino a 12 M pacchetti/s; a coda piena il generatore ne invia 8,7–9,4</a:t>
            </a:r>
            <a:endParaRPr lang="en-US" sz="1200"/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sola ricezione non perde: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Fino a 11 milioni di pacchetti al secondo il solo contatore (rxonly) non perde niente; a 12 milioni perde lo 0,3%.</a:t>
            </a:r>
            <a:endParaRPr lang="en-US" sz="1600"/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0,3%</a:t>
            </a:r>
            <a:endParaRPr lang="en-US" sz="1500"/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95485778" name="Shape 21"/>
          <p:cNvSpPr/>
          <p:nvPr/>
        </p:nvSpPr>
        <p:spPr bwMode="auto">
          <a:xfrm>
            <a:off x="2066543" y="3304517"/>
            <a:ext cx="64970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1,2%</a:t>
            </a:r>
            <a:endParaRPr lang="en-US" sz="1500"/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banco*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0,1%</a:t>
            </a:r>
            <a:endParaRPr lang="en-US" sz="1400"/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12582581" name="Shape 28"/>
          <p:cNvSpPr/>
          <p:nvPr/>
        </p:nvSpPr>
        <p:spPr bwMode="auto">
          <a:xfrm>
            <a:off x="2066543" y="3698218"/>
            <a:ext cx="357337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6,6%</a:t>
            </a:r>
            <a:endParaRPr lang="en-US" sz="1500"/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+6,3 punti</a:t>
            </a:r>
            <a:endParaRPr lang="en-US" sz="1400"/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043973487" name="Shape 35"/>
          <p:cNvSpPr/>
          <p:nvPr/>
        </p:nvSpPr>
        <p:spPr bwMode="auto">
          <a:xfrm>
            <a:off x="2066543" y="4091918"/>
            <a:ext cx="508935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9,4%</a:t>
            </a:r>
            <a:endParaRPr lang="en-US" sz="1500"/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+9,1 punti</a:t>
            </a:r>
            <a:endParaRPr lang="en-US" sz="1400"/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852387014" name="Shape 42"/>
          <p:cNvSpPr/>
          <p:nvPr/>
        </p:nvSpPr>
        <p:spPr bwMode="auto">
          <a:xfrm>
            <a:off x="2066543" y="4485618"/>
            <a:ext cx="3329739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61%</a:t>
            </a:r>
            <a:endParaRPr lang="en-US" sz="1500"/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+61 punti</a:t>
            </a:r>
            <a:endParaRPr lang="en-US" sz="1400"/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258087848" name="Shape 49"/>
          <p:cNvSpPr/>
          <p:nvPr/>
        </p:nvSpPr>
        <p:spPr bwMode="auto">
          <a:xfrm>
            <a:off x="2066543" y="4879318"/>
            <a:ext cx="4098557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76%</a:t>
            </a:r>
            <a:endParaRPr lang="en-US" sz="1500"/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+75 punti</a:t>
            </a:r>
            <a:endParaRPr lang="en-US" sz="1400"/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cresce con il costo del programma: 7% per P1, 9% per P1.5, 61% per P2, 76% per P3. *La baseline perde l'1% con il nodo al 60%: è il banco, non il programma.</a:t>
            </a:r>
            <a:endParaRPr lang="en-US" sz="1500"/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chiesto: 12 M pacchetti/s · xdp_gen · rxonly su un core regge 19 M/s: qui non arriva al suo limite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in microsecondi contro traffico inviato. Resta di pochi microsecondi finché il nodo regge, poi salta a 85, 95, 99, 154 e 186 microsecondi per baseline, P1, P1.5, P2 e P3 dove comincia la perdita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587326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2592492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9" name="Text 15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34 µs</a:t>
            </a:r>
            <a:endParaRPr lang="en-US" sz="1400"/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32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36 µs</a:t>
            </a:r>
            <a:endParaRPr lang="en-US" sz="1400"/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74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83 µs</a:t>
            </a:r>
            <a:endParaRPr lang="en-US" sz="1400"/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110 µs</a:t>
            </a:r>
            <a:endParaRPr lang="en-US" sz="1400"/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125 µs</a:t>
            </a:r>
            <a:endParaRPr lang="en-US" sz="1400"/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(10–15%) è il percorso fino al nodo successivo; — = coda mai piena.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di xdp_gen al nodo successivo · p50 · — = la baseline non riempie la coda · a basso carico c'è l'attesa nel generatore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dual boot rende le misure ripetibili</a:t>
            </a:r>
            <a:endParaRPr lang="en-US" sz="1900"/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La variazione del costo scende da 15–160% a 2–4%. Il core del nodo non dorme, non cambia frequenza e nessuno lo interrompe.</a:t>
            </a:r>
            <a:endParaRPr lang="en-US" sz="1450"/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Come una scheda vera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xdp_gen consegna frame senza copia: P1–P3 da 115 a 416 ns, e due core reggono il doppio. pktgen resta un'alternativa.</a:t>
            </a:r>
            <a:endParaRPr lang="en-US" sz="1450"/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sale alla coda piena e la perdita è tutta all'ingresso: il collo di bottiglia è il programma, e due core reggono il doppio.</a:t>
            </a:r>
            <a:endParaRPr lang="en-US" sz="1450"/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ottobre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