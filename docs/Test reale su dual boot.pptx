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669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524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6563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7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1608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636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0493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9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4237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7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787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360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22205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45701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297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17164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0179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quali generatori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settembre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macchina virtuale al dual boot.</a:t>
            </a:r>
            <a:endParaRPr lang="en-US" sz="1400"/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generatori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e xdp_gen: due modi di produrre traffico.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con l'uno e con l'altro.</a:t>
            </a:r>
            <a:endParaRPr lang="en-US" sz="1400"/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ora si ripetono.</a:t>
            </a:r>
            <a:endParaRPr lang="en-US" sz="1500"/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Le parti 2–5 raccontano ciò che è cambiato dal test in macchina virtuale</a:t>
            </a:r>
            <a:endParaRPr lang="en-US" sz="1200"/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10, 1 e 3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IL PROBLEMA</a:t>
            </a:r>
            <a:endParaRPr lang="en-US" sz="1200"/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Nella macchina virtuale il nodo ogni tanto si fermava</a:t>
            </a:r>
            <a:endParaRPr lang="en-US" sz="3000"/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strade, entrambe cattive</a:t>
            </a:r>
            <a:endParaRPr lang="en-US" sz="1600"/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 core separati</a:t>
            </a:r>
            <a:endParaRPr lang="en-US" sz="1600"/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perdeva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fra l'8 e il 70%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dei pacchetti a qualunque ritmo, anche lentissimo.</a:t>
            </a:r>
            <a:endParaRPr lang="en-US" sz="1400"/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Generatore e nodo sullo stesso core</a:t>
            </a:r>
            <a:endParaRPr lang="en-US" sz="1600"/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perdeva niente, ma il core faceva il lavoro di tutti e due: il collo di bottiglia era sempre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misurava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assenze del core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non il programma: dentro la macchina virtuale un core può fermarsi per millisecondi, e non si vede né si può impedire.</a:t>
            </a:r>
            <a:endParaRPr lang="en-US" sz="1500"/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LA SOLUZIONE</a:t>
            </a:r>
            <a:endParaRPr lang="en-US" sz="1200"/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Sul dual boot ogni core ha un ruolo fisso</a:t>
            </a:r>
            <a:endParaRPr lang="en-US" sz="3000"/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</a:t>
            </a:r>
            <a:endParaRPr lang="en-US" sz="1200"/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3 494 MHz misurati dai contatori del processore durante ogni misura.</a:t>
            </a:r>
            <a:endParaRPr lang="en-US" sz="1300"/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MACCHINA VIRTUALE E DUAL BOOT · PRIMA E DOPO</a:t>
            </a:r>
            <a:endParaRPr lang="en-US" sz="1200"/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il dual boot le misure si ripetono</a:t>
            </a:r>
            <a:endParaRPr lang="en-US" sz="3000"/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Macchina virtuale</a:t>
            </a:r>
            <a:endParaRPr lang="en-US" sz="1300"/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Dual boot</a:t>
            </a:r>
            <a:endParaRPr lang="en-US" sz="1300"/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costo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variazione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~82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160%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38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~116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104%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53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0,6%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~430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19%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226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~670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C0443C"/>
                          </a:solidFill>
                          <a:latin typeface="Carlito"/>
                          <a:ea typeface="Carlito"/>
                          <a:cs typeface="Carlito"/>
                        </a:rPr>
                        <a:t>15%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364 ns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E9C6E"/>
                          </a:solidFill>
                          <a:latin typeface="Carlito"/>
                          <a:ea typeface="Carlito"/>
                          <a:cs typeface="Carlito"/>
                        </a:rPr>
                        <a:t>0,3%</a:t>
                      </a:r>
                      <a:endParaRPr lang="en-US" sz="13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Costo sopra la baseline, per pacchetto. Le cifre assolute non si confrontano (frequenza e metodo erano diversi): si confronta la variazione.</a:t>
            </a:r>
            <a:endParaRPr lang="en-US" sz="1200"/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160%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0,5%</a:t>
            </a:r>
            <a:endParaRPr lang="en-US" sz="2800"/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variazione del costo di P1 fra le esecuzioni</a:t>
            </a:r>
            <a:endParaRPr lang="en-US" sz="1300"/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1–2%</a:t>
            </a:r>
            <a:r>
              <a:rPr lang="en-US" sz="28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→ </a:t>
            </a:r>
            <a:r>
              <a:rPr lang="en-US" sz="2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0</a:t>
            </a:r>
            <a:endParaRPr lang="en-US" sz="2800"/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sotto capacità, anche per il solo contatore</a:t>
            </a:r>
            <a:endParaRPr lang="en-US" sz="1300"/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58% · 0,2% · 7,7%</a:t>
            </a:r>
            <a:endParaRPr lang="en-US" sz="2800"/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perdita dello stesso punto in tre giri (macchina virtuale). Sul dual boot: entro lo 0,4–2%</a:t>
            </a:r>
            <a:endParaRPr lang="en-US" sz="1300"/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guadagno vero non è la velocità, è 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ripetibilità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differenze che prima sparivano nel rumore, come P1 contro P1.5 o scartare contro inoltrare, ora si misurano.</a:t>
            </a:r>
            <a:endParaRPr lang="en-US" sz="1500"/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Macchina virtuale: 18 settembre, 512 byte · dual boot: 28 settembre, core separati, 64 byte · variazione fra le esecuzioni</a:t>
            </a:r>
            <a:endParaRPr lang="en-US" sz="1200"/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18779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969744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PKTGEN</a:t>
            </a:r>
            <a:endParaRPr lang="en-US" sz="1200"/>
          </a:p>
        </p:txBody>
      </p:sp>
      <p:sp>
        <p:nvSpPr>
          <p:cNvPr id="154350214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produce i pacchetti come li produce Linux</a:t>
            </a:r>
            <a:endParaRPr lang="en-US" sz="3000"/>
          </a:p>
        </p:txBody>
      </p:sp>
      <p:sp>
        <p:nvSpPr>
          <p:cNvPr id="11790583" name="Shape 3"/>
          <p:cNvSpPr/>
          <p:nvPr/>
        </p:nvSpPr>
        <p:spPr bwMode="auto">
          <a:xfrm>
            <a:off x="5461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761065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0721742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50775647" name="Text 6"/>
          <p:cNvSpPr/>
          <p:nvPr/>
        </p:nvSpPr>
        <p:spPr bwMode="auto">
          <a:xfrm>
            <a:off x="1168400" y="1750089"/>
            <a:ext cx="156560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pktgen crea la skb</a:t>
            </a:r>
            <a:endParaRPr lang="en-US" sz="1600"/>
          </a:p>
        </p:txBody>
      </p:sp>
      <p:sp>
        <p:nvSpPr>
          <p:cNvPr id="408732314" name="Shape 7"/>
          <p:cNvSpPr/>
          <p:nvPr/>
        </p:nvSpPr>
        <p:spPr bwMode="auto">
          <a:xfrm>
            <a:off x="723900" y="2146300"/>
            <a:ext cx="406400" cy="355600"/>
          </a:xfrm>
          <a:custGeom>
            <a:avLst/>
            <a:gdLst/>
            <a:ahLst/>
            <a:cxnLst/>
            <a:rect l="l" t="t" r="r" b="b"/>
            <a:pathLst>
              <a:path w="406400" h="355600" fill="norm" stroke="1" extrusionOk="0">
                <a:moveTo>
                  <a:pt x="50800" y="0"/>
                </a:moveTo>
                <a:lnTo>
                  <a:pt x="406400" y="0"/>
                </a:lnTo>
                <a:lnTo>
                  <a:pt x="4064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9719683" name="Text 8"/>
          <p:cNvSpPr/>
          <p:nvPr/>
        </p:nvSpPr>
        <p:spPr bwMode="auto">
          <a:xfrm>
            <a:off x="789914" y="2217409"/>
            <a:ext cx="3251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64 B</a:t>
            </a:r>
            <a:endParaRPr lang="en-US" sz="1200"/>
          </a:p>
        </p:txBody>
      </p:sp>
      <p:sp>
        <p:nvSpPr>
          <p:cNvPr id="1781734756" name="Shape 9"/>
          <p:cNvSpPr/>
          <p:nvPr/>
        </p:nvSpPr>
        <p:spPr bwMode="auto">
          <a:xfrm>
            <a:off x="11303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1933043" name="Text 10"/>
          <p:cNvSpPr/>
          <p:nvPr/>
        </p:nvSpPr>
        <p:spPr bwMode="auto">
          <a:xfrm>
            <a:off x="14589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985916691" name="Text 11"/>
          <p:cNvSpPr/>
          <p:nvPr/>
        </p:nvSpPr>
        <p:spPr bwMode="auto">
          <a:xfrm>
            <a:off x="7239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64 byte liberi davanti ai dati</a:t>
            </a:r>
            <a:endParaRPr lang="en-US" sz="1200"/>
          </a:p>
        </p:txBody>
      </p:sp>
      <p:sp>
        <p:nvSpPr>
          <p:cNvPr id="477950799" name="Text 12"/>
          <p:cNvSpPr/>
          <p:nvPr/>
        </p:nvSpPr>
        <p:spPr bwMode="auto">
          <a:xfrm>
            <a:off x="7239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è la struttura con cui Linux descrive un pacchetto.</a:t>
            </a:r>
            <a:endParaRPr lang="en-US" sz="1400"/>
          </a:p>
        </p:txBody>
      </p:sp>
      <p:pic>
        <p:nvPicPr>
          <p:cNvPr id="191376699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39591"/>
            <a:ext cx="254000" cy="177800"/>
          </a:xfrm>
          <a:prstGeom prst="rect">
            <a:avLst/>
          </a:prstGeom>
        </p:spPr>
      </p:pic>
      <p:sp>
        <p:nvSpPr>
          <p:cNvPr id="1252417289" name="Shape 13"/>
          <p:cNvSpPr/>
          <p:nvPr/>
        </p:nvSpPr>
        <p:spPr bwMode="auto">
          <a:xfrm>
            <a:off x="43815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9466632" name="Shape 14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24432" name="Text 15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409501141" name="Text 16"/>
          <p:cNvSpPr/>
          <p:nvPr/>
        </p:nvSpPr>
        <p:spPr bwMode="auto">
          <a:xfrm>
            <a:off x="5003800" y="1750089"/>
            <a:ext cx="19834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la copia</a:t>
            </a:r>
            <a:endParaRPr lang="en-US" sz="1600"/>
          </a:p>
        </p:txBody>
      </p:sp>
      <p:sp>
        <p:nvSpPr>
          <p:cNvPr id="1306516448" name="Shape 17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977721" name="Text 18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1342221976" name="Shape 19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5825445" name="Text 20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588738729" name="Text 21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 vuole 256 byte liberi davanti</a:t>
            </a:r>
            <a:endParaRPr lang="en-US" sz="1200"/>
          </a:p>
        </p:txBody>
      </p:sp>
      <p:sp>
        <p:nvSpPr>
          <p:cNvPr id="859665174" name="Text 22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viene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copiato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in una pagina nuova prima di arrivare al nodo.</a:t>
            </a:r>
            <a:endParaRPr lang="en-US" sz="1400"/>
          </a:p>
        </p:txBody>
      </p:sp>
      <p:pic>
        <p:nvPicPr>
          <p:cNvPr id="173017013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39591"/>
            <a:ext cx="254000" cy="177800"/>
          </a:xfrm>
          <a:prstGeom prst="rect">
            <a:avLst/>
          </a:prstGeom>
        </p:spPr>
      </p:pic>
      <p:sp>
        <p:nvSpPr>
          <p:cNvPr id="1128232433" name="Shape 23"/>
          <p:cNvSpPr/>
          <p:nvPr/>
        </p:nvSpPr>
        <p:spPr bwMode="auto">
          <a:xfrm>
            <a:off x="8216900" y="1562100"/>
            <a:ext cx="3429000" cy="1932848"/>
          </a:xfrm>
          <a:prstGeom prst="roundRect">
            <a:avLst>
              <a:gd name="adj" fmla="val 657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979516" name="Shape 24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5044354" name="Text 25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809816113" name="Text 26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310137450" name="Shape 27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0522241" name="Text 28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984572334" name="Text 29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core del nodo paga la copia</a:t>
            </a:r>
            <a:endParaRPr lang="en-US" sz="1200"/>
          </a:p>
        </p:txBody>
      </p:sp>
      <p:sp>
        <p:nvSpPr>
          <p:cNvPr id="1561571217" name="Text 30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si paga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sul core del nodo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prima ancora che il programma parta.</a:t>
            </a:r>
            <a:endParaRPr lang="en-US" sz="1400"/>
          </a:p>
        </p:txBody>
      </p:sp>
      <p:sp>
        <p:nvSpPr>
          <p:cNvPr id="1340971783" name="Shape 31"/>
          <p:cNvSpPr/>
          <p:nvPr/>
        </p:nvSpPr>
        <p:spPr bwMode="auto">
          <a:xfrm>
            <a:off x="5461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095720" name="Text 32"/>
          <p:cNvSpPr/>
          <p:nvPr/>
        </p:nvSpPr>
        <p:spPr bwMode="auto">
          <a:xfrm>
            <a:off x="7239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5,7 M/s</a:t>
            </a:r>
            <a:endParaRPr lang="en-US" sz="3600"/>
          </a:p>
        </p:txBody>
      </p:sp>
      <p:sp>
        <p:nvSpPr>
          <p:cNvPr id="1186471348" name="Text 33"/>
          <p:cNvSpPr/>
          <p:nvPr/>
        </p:nvSpPr>
        <p:spPr bwMode="auto">
          <a:xfrm>
            <a:off x="30353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al secondo offerti da tre thread su tre core</a:t>
            </a:r>
            <a:endParaRPr lang="en-US" sz="1400"/>
          </a:p>
        </p:txBody>
      </p:sp>
      <p:sp>
        <p:nvSpPr>
          <p:cNvPr id="986110613" name="Shape 34"/>
          <p:cNvSpPr/>
          <p:nvPr/>
        </p:nvSpPr>
        <p:spPr bwMode="auto">
          <a:xfrm>
            <a:off x="6172200" y="4119896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5577445" name="Text 35"/>
          <p:cNvSpPr/>
          <p:nvPr/>
        </p:nvSpPr>
        <p:spPr bwMode="auto">
          <a:xfrm>
            <a:off x="6350000" y="42621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≈ 4,6 M/s</a:t>
            </a:r>
            <a:endParaRPr lang="en-US" sz="3600"/>
          </a:p>
        </p:txBody>
      </p:sp>
      <p:sp>
        <p:nvSpPr>
          <p:cNvPr id="1580790289" name="Text 36"/>
          <p:cNvSpPr/>
          <p:nvPr/>
        </p:nvSpPr>
        <p:spPr bwMode="auto">
          <a:xfrm>
            <a:off x="8661400" y="42595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quanti ne accetta la coda del nodo: lo misura rxonly</a:t>
            </a:r>
            <a:endParaRPr lang="en-US" sz="1400"/>
          </a:p>
        </p:txBody>
      </p:sp>
      <p:sp>
        <p:nvSpPr>
          <p:cNvPr id="2058322482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9939003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391853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50797188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copia è una proprietà del kernel,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della macchina virtuale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dual boot non la toglie. Su una scheda di rete con XDP nativo non esisterebbe.</a:t>
            </a:r>
            <a:endParaRPr lang="en-US" sz="1500"/>
          </a:p>
        </p:txBody>
      </p:sp>
      <p:sp>
        <p:nvSpPr>
          <p:cNvPr id="1422534430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baseline costa 302 ns per pacchetto con pktgen · M/s = milioni di pacchetti al secondo</a:t>
            </a:r>
            <a:endParaRPr lang="en-US" sz="1200"/>
          </a:p>
        </p:txBody>
      </p:sp>
      <p:sp>
        <p:nvSpPr>
          <p:cNvPr id="19161036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12–15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milioni di pacchetti al secondo offerti da un solo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3600"/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con xdp_gen, contro 529 ns con pktgen</a:t>
            </a:r>
            <a:endParaRPr lang="en-US" sz="1400"/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più dal nodo. Si usa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thread per coda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più thread nella stessa coda si intralciano e rallentano anche il nodo (slide 13).</a:t>
            </a:r>
            <a:endParaRPr lang="en-US" sz="1500"/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9216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76765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 DUE GENERATORI DI TRAFFICO · A CONFRONTO</a:t>
            </a:r>
            <a:endParaRPr lang="en-US" sz="1200"/>
          </a:p>
        </p:txBody>
      </p:sp>
      <p:sp>
        <p:nvSpPr>
          <p:cNvPr id="7850610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generatori, per due scopi diversi</a:t>
            </a:r>
            <a:endParaRPr lang="en-US" sz="3000"/>
          </a:p>
        </p:txBody>
      </p:sp>
      <p:sp>
        <p:nvSpPr>
          <p:cNvPr id="2814558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Stesso nodo, stessi programmi: cambia solo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arriva il pacchetto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graphicFrame>
        <p:nvGraphicFramePr>
          <p:cNvPr id="429695555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2628640"/>
          <a:ext cx="11087100" cy="231576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439161"/>
                <a:gridCol w="4323969"/>
                <a:gridCol w="4323969"/>
              </a:tblGrid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Confronto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pktgen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xdp_gen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Come crea il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una skb, come lo stack di Linux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un frame grezzo, già nel formato di XDP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Copia prima del nodo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sì, a ogni pacchetto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Pacchetti offerti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5,7 M/s (il nodo ne accetta ≈ 4,6)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≈ 12–15 M/s (un thread)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Chi arriva al tetto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nessuna pipeline: tutte e cinque saturano sotto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baseline e rxonly; P1, P1.5, P2 e P3 saturano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85961"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Serve per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confrontare tutte le pipeline fra loro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ts val="1960"/>
                        </a:lnSpc>
                        <a:buNone/>
                        <a:defRPr/>
                      </a:pPr>
                      <a:r>
                        <a:rPr lang="en-US" sz="14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misurare il costo di P1–P3 senza la copia</a:t>
                      </a:r>
                      <a:endParaRPr lang="en-US" sz="1400">
                        <a:latin typeface="Carlito"/>
                        <a:ea typeface="Carlito"/>
                        <a:cs typeface="Carlito"/>
                      </a:endParaRPr>
                    </a:p>
                  </a:txBody>
                  <a:tcPr marL="62230" marR="62230" marT="62230" marB="62230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67962" name="Shape 4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5986332" name="Shape 5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466169" name="Text 6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77693695" name="Text 7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usano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insieme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ognuno confronta le pipeline al suo interno, e le cifre dei due generatori non si mescolano.</a:t>
            </a:r>
            <a:endParaRPr lang="en-US" sz="1500"/>
          </a:p>
        </p:txBody>
      </p:sp>
      <p:sp>
        <p:nvSpPr>
          <p:cNvPr id="1815941717" name="Text 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tetto di pktgen è il tetto di ricezione del nodo (rxonly, 4,6 M/s) · M/s = milioni di pacchetti al secondo</a:t>
            </a:r>
            <a:endParaRPr lang="en-US" sz="1200"/>
          </a:p>
        </p:txBody>
      </p:sp>
      <p:sp>
        <p:nvSpPr>
          <p:cNvPr id="878478925" name="Text 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PKTGEN</a:t>
            </a:r>
            <a:endParaRPr lang="en-US" sz="1200"/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pktgen tutte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 × 3 ripetizioni, 64 byte, 28 settembre · variazione fra i giri 0,2–0,9% · DUT a 3 494 MHz, nessun throttling</a:t>
            </a:r>
            <a:endParaRPr lang="en-US" sz="1200"/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  <a:endParaRPr lang="en-US" sz="1200"/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073400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664200" y="1936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4,61</a:t>
            </a:r>
            <a:endParaRPr lang="en-US" sz="1500"/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217 ns</a:t>
            </a:r>
            <a:endParaRPr lang="en-US" sz="1400"/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20980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4800600" y="23939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3,31</a:t>
            </a:r>
            <a:endParaRPr lang="en-US" sz="1500"/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400"/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962150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4552950" y="28511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500"/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400"/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+38 ns</a:t>
            </a:r>
            <a:endParaRPr lang="en-US" sz="1400"/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873250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4464050" y="33083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500"/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400"/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+53 ns</a:t>
            </a:r>
            <a:endParaRPr lang="en-US" sz="1400"/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1257300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848100" y="37655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500"/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400"/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+226 ns</a:t>
            </a:r>
            <a:endParaRPr lang="en-US" sz="1400"/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1003300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3594100" y="4222750"/>
            <a:ext cx="457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500"/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400"/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+364 ns</a:t>
            </a:r>
            <a:endParaRPr lang="en-US" sz="1400"/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1,37 M/s offerti (il 91% di quanto regge la più lenta) nessuna pipeline respinge un pacchetto: perdita totale ≤ 0,02%.</a:t>
            </a:r>
            <a:endParaRPr lang="en-US" sz="1250"/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 contro 2,81 M/s, con variazioni dello 0,5 e 0,6%: congelare il nodo vale circa 15 ns per pacchetto.</a:t>
            </a:r>
            <a:endParaRPr lang="en-US" sz="1300"/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~40–50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~220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~370 ns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16989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2132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184938454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xdp_gen, un thread per coda: il costo del nodo</a:t>
            </a:r>
            <a:endParaRPr lang="en-US" sz="3000"/>
          </a:p>
        </p:txBody>
      </p:sp>
      <p:sp>
        <p:nvSpPr>
          <p:cNvPr id="1825182562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 thread, 1 core, uscita separata · 3 giri, 64 byte · costo = tempo di CPU del nodo per pacchetto · a 512 e 1 514 byte P2 e P3 restano entro il 3%</a:t>
            </a:r>
            <a:endParaRPr lang="en-US" sz="1200"/>
          </a:p>
        </p:txBody>
      </p:sp>
      <p:sp>
        <p:nvSpPr>
          <p:cNvPr id="237250594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  <a:endParaRPr lang="en-US" sz="1200"/>
          </a:p>
        </p:txBody>
      </p:sp>
      <p:sp>
        <p:nvSpPr>
          <p:cNvPr id="434538022" name="Text 5"/>
          <p:cNvSpPr/>
          <p:nvPr/>
        </p:nvSpPr>
        <p:spPr bwMode="auto">
          <a:xfrm>
            <a:off x="546100" y="17424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elaborati</a:t>
            </a:r>
            <a:endParaRPr lang="en-US" sz="1200"/>
          </a:p>
        </p:txBody>
      </p:sp>
      <p:sp>
        <p:nvSpPr>
          <p:cNvPr id="1870652887" name="Shape 6"/>
          <p:cNvSpPr/>
          <p:nvPr/>
        </p:nvSpPr>
        <p:spPr bwMode="auto">
          <a:xfrm>
            <a:off x="546100" y="2127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453186" name="Text 7"/>
          <p:cNvSpPr/>
          <p:nvPr/>
        </p:nvSpPr>
        <p:spPr bwMode="auto">
          <a:xfrm>
            <a:off x="787400" y="20853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83660798" name="Shape 8"/>
          <p:cNvSpPr/>
          <p:nvPr/>
        </p:nvSpPr>
        <p:spPr bwMode="auto">
          <a:xfrm>
            <a:off x="1943100" y="2006600"/>
            <a:ext cx="3284700" cy="279400"/>
          </a:xfrm>
          <a:prstGeom prst="roundRect">
            <a:avLst>
              <a:gd name="adj" fmla="val 13636"/>
            </a:avLst>
          </a:prstGeom>
          <a:solidFill>
            <a:srgbClr val="6B7C93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8320308" name="Text 9"/>
          <p:cNvSpPr/>
          <p:nvPr/>
        </p:nvSpPr>
        <p:spPr bwMode="auto">
          <a:xfrm>
            <a:off x="5306438" y="2025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14,96</a:t>
            </a:r>
            <a:endParaRPr lang="en-US" sz="1500"/>
          </a:p>
        </p:txBody>
      </p:sp>
      <p:sp>
        <p:nvSpPr>
          <p:cNvPr id="1384641601" name="Text 10"/>
          <p:cNvSpPr/>
          <p:nvPr/>
        </p:nvSpPr>
        <p:spPr bwMode="auto">
          <a:xfrm>
            <a:off x="6083300" y="2085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40 ns</a:t>
            </a:r>
            <a:endParaRPr lang="en-US" sz="1400"/>
          </a:p>
        </p:txBody>
      </p:sp>
      <p:sp>
        <p:nvSpPr>
          <p:cNvPr id="163845684" name="Text 11"/>
          <p:cNvSpPr/>
          <p:nvPr/>
        </p:nvSpPr>
        <p:spPr bwMode="auto">
          <a:xfrm>
            <a:off x="7213600" y="2094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2123053824" name="Shape 12"/>
          <p:cNvSpPr/>
          <p:nvPr/>
        </p:nvSpPr>
        <p:spPr bwMode="auto">
          <a:xfrm>
            <a:off x="546100" y="25843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7747571" name="Text 13"/>
          <p:cNvSpPr/>
          <p:nvPr/>
        </p:nvSpPr>
        <p:spPr bwMode="auto">
          <a:xfrm>
            <a:off x="787400" y="25425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251355615" name="Shape 14"/>
          <p:cNvSpPr/>
          <p:nvPr/>
        </p:nvSpPr>
        <p:spPr bwMode="auto">
          <a:xfrm>
            <a:off x="1943100" y="2463800"/>
            <a:ext cx="2724807" cy="279400"/>
          </a:xfrm>
          <a:prstGeom prst="roundRect">
            <a:avLst>
              <a:gd name="adj" fmla="val 13636"/>
            </a:avLst>
          </a:prstGeom>
          <a:solidFill>
            <a:srgbClr val="8794A6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712767" name="Text 15"/>
          <p:cNvSpPr/>
          <p:nvPr/>
        </p:nvSpPr>
        <p:spPr bwMode="auto">
          <a:xfrm>
            <a:off x="4746545" y="24828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12,41</a:t>
            </a:r>
            <a:endParaRPr lang="en-US" sz="1500"/>
          </a:p>
        </p:txBody>
      </p:sp>
      <p:sp>
        <p:nvSpPr>
          <p:cNvPr id="1753744008" name="Text 16"/>
          <p:cNvSpPr/>
          <p:nvPr/>
        </p:nvSpPr>
        <p:spPr bwMode="auto">
          <a:xfrm>
            <a:off x="6083300" y="25425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65 ns</a:t>
            </a:r>
            <a:endParaRPr lang="en-US" sz="1400"/>
          </a:p>
        </p:txBody>
      </p:sp>
      <p:sp>
        <p:nvSpPr>
          <p:cNvPr id="1365550929" name="Text 17"/>
          <p:cNvSpPr/>
          <p:nvPr/>
        </p:nvSpPr>
        <p:spPr bwMode="auto">
          <a:xfrm>
            <a:off x="7213600" y="25514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non satura</a:t>
            </a:r>
            <a:endParaRPr lang="en-US" sz="1300"/>
          </a:p>
        </p:txBody>
      </p:sp>
      <p:sp>
        <p:nvSpPr>
          <p:cNvPr id="1441226028" name="Shape 18"/>
          <p:cNvSpPr/>
          <p:nvPr/>
        </p:nvSpPr>
        <p:spPr bwMode="auto">
          <a:xfrm>
            <a:off x="546100" y="30415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999952" name="Text 19"/>
          <p:cNvSpPr/>
          <p:nvPr/>
        </p:nvSpPr>
        <p:spPr bwMode="auto">
          <a:xfrm>
            <a:off x="787400" y="29997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52909557" name="Shape 20"/>
          <p:cNvSpPr/>
          <p:nvPr/>
        </p:nvSpPr>
        <p:spPr bwMode="auto">
          <a:xfrm>
            <a:off x="1943100" y="2921000"/>
            <a:ext cx="1666502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2138541" name="Text 21"/>
          <p:cNvSpPr/>
          <p:nvPr/>
        </p:nvSpPr>
        <p:spPr bwMode="auto">
          <a:xfrm>
            <a:off x="3688240" y="29400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7,59</a:t>
            </a:r>
            <a:endParaRPr lang="en-US" sz="1500"/>
          </a:p>
        </p:txBody>
      </p:sp>
      <p:sp>
        <p:nvSpPr>
          <p:cNvPr id="1681999173" name="Text 22"/>
          <p:cNvSpPr/>
          <p:nvPr/>
        </p:nvSpPr>
        <p:spPr bwMode="auto">
          <a:xfrm>
            <a:off x="6083300" y="29997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 ns</a:t>
            </a:r>
            <a:endParaRPr lang="en-US" sz="1400"/>
          </a:p>
        </p:txBody>
      </p:sp>
      <p:sp>
        <p:nvSpPr>
          <p:cNvPr id="2039033020" name="Text 23"/>
          <p:cNvSpPr/>
          <p:nvPr/>
        </p:nvSpPr>
        <p:spPr bwMode="auto">
          <a:xfrm>
            <a:off x="7213600" y="30086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38194688" name="Shape 24"/>
          <p:cNvSpPr/>
          <p:nvPr/>
        </p:nvSpPr>
        <p:spPr bwMode="auto">
          <a:xfrm>
            <a:off x="546100" y="34987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038951" name="Text 25"/>
          <p:cNvSpPr/>
          <p:nvPr/>
        </p:nvSpPr>
        <p:spPr bwMode="auto">
          <a:xfrm>
            <a:off x="787400" y="3456918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6288367" name="Shape 26"/>
          <p:cNvSpPr/>
          <p:nvPr/>
        </p:nvSpPr>
        <p:spPr bwMode="auto">
          <a:xfrm>
            <a:off x="1943100" y="3378200"/>
            <a:ext cx="1554523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400810" name="Text 27"/>
          <p:cNvSpPr/>
          <p:nvPr/>
        </p:nvSpPr>
        <p:spPr bwMode="auto">
          <a:xfrm>
            <a:off x="3576261" y="33972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7,08</a:t>
            </a:r>
            <a:endParaRPr lang="en-US" sz="1500"/>
          </a:p>
        </p:txBody>
      </p:sp>
      <p:sp>
        <p:nvSpPr>
          <p:cNvPr id="2031653900" name="Text 28"/>
          <p:cNvSpPr/>
          <p:nvPr/>
        </p:nvSpPr>
        <p:spPr bwMode="auto">
          <a:xfrm>
            <a:off x="6083300" y="34569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</a:t>
            </a:r>
            <a:endParaRPr lang="en-US" sz="1400"/>
          </a:p>
        </p:txBody>
      </p:sp>
      <p:sp>
        <p:nvSpPr>
          <p:cNvPr id="1047577687" name="Text 29"/>
          <p:cNvSpPr/>
          <p:nvPr/>
        </p:nvSpPr>
        <p:spPr bwMode="auto">
          <a:xfrm>
            <a:off x="7213600" y="34658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i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424049343" name="Shape 30"/>
          <p:cNvSpPr/>
          <p:nvPr/>
        </p:nvSpPr>
        <p:spPr bwMode="auto">
          <a:xfrm>
            <a:off x="546100" y="39559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193574" name="Text 31"/>
          <p:cNvSpPr/>
          <p:nvPr/>
        </p:nvSpPr>
        <p:spPr bwMode="auto">
          <a:xfrm>
            <a:off x="787400" y="39141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875243096" name="Shape 32"/>
          <p:cNvSpPr/>
          <p:nvPr/>
        </p:nvSpPr>
        <p:spPr bwMode="auto">
          <a:xfrm>
            <a:off x="1943100" y="3835400"/>
            <a:ext cx="652109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5745612" name="Text 33"/>
          <p:cNvSpPr/>
          <p:nvPr/>
        </p:nvSpPr>
        <p:spPr bwMode="auto">
          <a:xfrm>
            <a:off x="2673847" y="38544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2,97</a:t>
            </a:r>
            <a:endParaRPr lang="en-US" sz="1500"/>
          </a:p>
        </p:txBody>
      </p:sp>
      <p:sp>
        <p:nvSpPr>
          <p:cNvPr id="380081980" name="Text 34"/>
          <p:cNvSpPr/>
          <p:nvPr/>
        </p:nvSpPr>
        <p:spPr bwMode="auto">
          <a:xfrm>
            <a:off x="6083300" y="39141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1400"/>
          </a:p>
        </p:txBody>
      </p:sp>
      <p:sp>
        <p:nvSpPr>
          <p:cNvPr id="917303359" name="Text 35"/>
          <p:cNvSpPr/>
          <p:nvPr/>
        </p:nvSpPr>
        <p:spPr bwMode="auto">
          <a:xfrm>
            <a:off x="7213600" y="39230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713967221" name="Shape 36"/>
          <p:cNvSpPr/>
          <p:nvPr/>
        </p:nvSpPr>
        <p:spPr bwMode="auto">
          <a:xfrm>
            <a:off x="546100" y="44131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60584901" name="Text 37"/>
          <p:cNvSpPr/>
          <p:nvPr/>
        </p:nvSpPr>
        <p:spPr bwMode="auto">
          <a:xfrm>
            <a:off x="787400" y="4371318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160406558" name="Shape 38"/>
          <p:cNvSpPr/>
          <p:nvPr/>
        </p:nvSpPr>
        <p:spPr bwMode="auto">
          <a:xfrm>
            <a:off x="1943100" y="4292600"/>
            <a:ext cx="441326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6993320" name="Text 39"/>
          <p:cNvSpPr/>
          <p:nvPr/>
        </p:nvSpPr>
        <p:spPr bwMode="auto">
          <a:xfrm>
            <a:off x="2463064" y="4311650"/>
            <a:ext cx="64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2,01</a:t>
            </a:r>
            <a:endParaRPr lang="en-US" sz="1500"/>
          </a:p>
        </p:txBody>
      </p:sp>
      <p:sp>
        <p:nvSpPr>
          <p:cNvPr id="843863443" name="Text 40"/>
          <p:cNvSpPr/>
          <p:nvPr/>
        </p:nvSpPr>
        <p:spPr bwMode="auto">
          <a:xfrm>
            <a:off x="6083300" y="43713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432 ns</a:t>
            </a:r>
            <a:endParaRPr lang="en-US" sz="1400"/>
          </a:p>
        </p:txBody>
      </p:sp>
      <p:sp>
        <p:nvSpPr>
          <p:cNvPr id="1586038403" name="Text 41"/>
          <p:cNvSpPr/>
          <p:nvPr/>
        </p:nvSpPr>
        <p:spPr bwMode="auto">
          <a:xfrm>
            <a:off x="7213600" y="4380247"/>
            <a:ext cx="1638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costo del nodo</a:t>
            </a:r>
            <a:endParaRPr lang="en-US" sz="1300"/>
          </a:p>
        </p:txBody>
      </p:sp>
      <p:sp>
        <p:nvSpPr>
          <p:cNvPr id="1584697841" name="Shape 43"/>
          <p:cNvSpPr/>
          <p:nvPr/>
        </p:nvSpPr>
        <p:spPr bwMode="auto">
          <a:xfrm>
            <a:off x="8978900" y="1562100"/>
            <a:ext cx="2667000" cy="3136900"/>
          </a:xfrm>
          <a:prstGeom prst="roundRect">
            <a:avLst>
              <a:gd name="adj" fmla="val 47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715410" name="Shape 44"/>
          <p:cNvSpPr/>
          <p:nvPr/>
        </p:nvSpPr>
        <p:spPr bwMode="auto">
          <a:xfrm>
            <a:off x="8978900" y="1562100"/>
            <a:ext cx="2667000" cy="88900"/>
          </a:xfrm>
          <a:custGeom>
            <a:avLst/>
            <a:gdLst/>
            <a:ahLst/>
            <a:cxnLst/>
            <a:rect l="l" t="t" r="r" b="b"/>
            <a:pathLst>
              <a:path w="2667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540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4351" name="Text 45"/>
          <p:cNvSpPr/>
          <p:nvPr/>
        </p:nvSpPr>
        <p:spPr bwMode="auto">
          <a:xfrm>
            <a:off x="9156700" y="1778000"/>
            <a:ext cx="23807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Il tetto era la coda</a:t>
            </a:r>
            <a:endParaRPr lang="en-US" sz="1500"/>
          </a:p>
        </p:txBody>
      </p:sp>
      <p:sp>
        <p:nvSpPr>
          <p:cNvPr id="1914920541" name="Text 46"/>
          <p:cNvSpPr/>
          <p:nvPr/>
        </p:nvSpPr>
        <p:spPr bwMode="auto">
          <a:xfrm>
            <a:off x="9156700" y="2108200"/>
            <a:ext cx="2380742" cy="1098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nella stessa coda il nodo si fermava a ~7 M/s. Con un thread per coda la baseline elabora 12 M/s.</a:t>
            </a:r>
            <a:endParaRPr lang="en-US" sz="1300"/>
          </a:p>
        </p:txBody>
      </p:sp>
      <p:sp>
        <p:nvSpPr>
          <p:cNvPr id="1018342996" name="Shape 4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997271" name="Shape 4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224850" name="Text 4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40556221" name="Text 5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P1, P1.5, P2 e P3 sono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costi del nodo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117, 124, 292 e 432 ns di CPU. Baseline e rxonly, con un thread, non saturano: i loro valori sono indicativi.</a:t>
            </a:r>
            <a:endParaRPr lang="en-US" sz="1500"/>
          </a:p>
        </p:txBody>
      </p:sp>
      <p:sp>
        <p:nvSpPr>
          <p:cNvPr id="1242584780" name="Text 52"/>
          <p:cNvSpPr/>
          <p:nvPr/>
        </p:nvSpPr>
        <p:spPr bwMode="auto">
          <a:xfrm>
            <a:off x="6250000" y="1793615"/>
            <a:ext cx="19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 di CPU/pacchetto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XDP_GEN</a:t>
            </a:r>
            <a:endParaRPr lang="en-US" sz="1200"/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due core reggono il doppio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 elaborati,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core, misurati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× un core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479407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28,80</a:t>
            </a:r>
            <a:endParaRPr lang="en-US" sz="1200"/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694291"/>
            <a:ext cx="469900" cy="1786269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2345452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30,96</a:t>
            </a:r>
            <a:endParaRPr lang="en-US" sz="1200"/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2560336"/>
            <a:ext cx="469900" cy="1920224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323795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16,57</a:t>
            </a:r>
            <a:endParaRPr lang="en-US" sz="1200"/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3452835"/>
            <a:ext cx="469900" cy="1027725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3201813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17,15</a:t>
            </a:r>
            <a:endParaRPr lang="en-US" sz="1200"/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416697"/>
            <a:ext cx="469900" cy="1063863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3280747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15,88</a:t>
            </a:r>
            <a:endParaRPr lang="en-US" sz="1200"/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3495631"/>
            <a:ext cx="469900" cy="984929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326530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16,13</a:t>
            </a:r>
            <a:endParaRPr lang="en-US" sz="1200"/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480185"/>
            <a:ext cx="469900" cy="1000375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847640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6,74</a:t>
            </a:r>
            <a:endParaRPr lang="en-US" sz="1200"/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4062524"/>
            <a:ext cx="469900" cy="418036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841296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6,84</a:t>
            </a:r>
            <a:endParaRPr lang="en-US" sz="1200"/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4056180"/>
            <a:ext cx="469900" cy="42438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98347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4,55</a:t>
            </a:r>
            <a:endParaRPr lang="en-US" sz="1200"/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4198355"/>
            <a:ext cx="469900" cy="282205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97819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4,63</a:t>
            </a:r>
            <a:endParaRPr lang="en-US" sz="1200"/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4193083"/>
            <a:ext cx="469900" cy="287477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Una coda d'uscita per ogni core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 i due core del nodo scrivevano nella stessa coda d'uscita, svuotata da un solo core: la baseline elaborava 13,1 M/s e ne arrivavano 4,3. Ora ogni core ha la sua coda e il suo core d'uscita: arrivano tutti.</a:t>
            </a:r>
            <a:endParaRPr lang="en-US" sz="1300"/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Il costo per core non cambia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Tempo di CPU per pacchetto di ogni core: 68, 121, 126, 297 e 439 ns, contro 65, 117, 124, 292 e 432 con un core solo (slide 13).</a:t>
            </a:r>
            <a:endParaRPr lang="en-US" sz="1300"/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uno scrittore per coda anche in uscita, due core elaborano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97–99% del doppio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un core (P1–P3): il costo misurato su un core vale per ogni core.</a:t>
            </a:r>
            <a:endParaRPr lang="en-US" sz="1500"/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1 ottobre, 64 byte, 3 giri · nodo su CPU 6 e 8, un thread per coda, uscita su CPU 3 e 5 · 2 × un core = 2 ÷ tempo di CPU della slide 13</a:t>
            </a:r>
            <a:endParaRPr lang="en-US" sz="1200"/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26228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234617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SUL DUAL BOOT · LE DIFFERENZE</a:t>
            </a:r>
            <a:endParaRPr lang="en-US" sz="1200"/>
          </a:p>
        </p:txBody>
      </p:sp>
      <p:sp>
        <p:nvSpPr>
          <p:cNvPr id="10184393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lo stesso programma costa ~230 ns in meno</a:t>
            </a:r>
            <a:endParaRPr lang="en-US" sz="3000"/>
          </a:p>
        </p:txBody>
      </p:sp>
      <p:sp>
        <p:nvSpPr>
          <p:cNvPr id="1550892152" name="Shape 3"/>
          <p:cNvSpPr/>
          <p:nvPr/>
        </p:nvSpPr>
        <p:spPr bwMode="auto">
          <a:xfrm>
            <a:off x="546100" y="1562100"/>
            <a:ext cx="6540500" cy="3477220"/>
          </a:xfrm>
          <a:prstGeom prst="roundRect">
            <a:avLst>
              <a:gd name="adj" fmla="val 36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2120802" name="Text 4"/>
          <p:cNvSpPr/>
          <p:nvPr/>
        </p:nvSpPr>
        <p:spPr bwMode="auto">
          <a:xfrm>
            <a:off x="736600" y="1714500"/>
            <a:ext cx="634428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Nanosecondi per pacchetto, stesso programma</a:t>
            </a:r>
            <a:endParaRPr lang="en-US" sz="1500"/>
          </a:p>
        </p:txBody>
      </p:sp>
      <p:sp>
        <p:nvSpPr>
          <p:cNvPr id="1869677495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3226184" name="Text 6"/>
          <p:cNvSpPr/>
          <p:nvPr/>
        </p:nvSpPr>
        <p:spPr bwMode="auto">
          <a:xfrm>
            <a:off x="952500" y="2044700"/>
            <a:ext cx="11934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pktgen (con copia)</a:t>
            </a:r>
            <a:endParaRPr lang="en-US" sz="1200"/>
          </a:p>
        </p:txBody>
      </p:sp>
      <p:sp>
        <p:nvSpPr>
          <p:cNvPr id="2037176914" name="Shape 7"/>
          <p:cNvSpPr/>
          <p:nvPr/>
        </p:nvSpPr>
        <p:spPr bwMode="auto">
          <a:xfrm>
            <a:off x="2272903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7724669" name="Text 8"/>
          <p:cNvSpPr/>
          <p:nvPr/>
        </p:nvSpPr>
        <p:spPr bwMode="auto">
          <a:xfrm>
            <a:off x="2488803" y="2044700"/>
            <a:ext cx="1415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 (senza copia)</a:t>
            </a:r>
            <a:endParaRPr lang="en-US" sz="1200"/>
          </a:p>
        </p:txBody>
      </p:sp>
      <p:sp>
        <p:nvSpPr>
          <p:cNvPr id="1274116744" name="Text 9"/>
          <p:cNvSpPr/>
          <p:nvPr/>
        </p:nvSpPr>
        <p:spPr bwMode="auto">
          <a:xfrm>
            <a:off x="736600" y="24663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359008047" name="Shape 10"/>
          <p:cNvSpPr/>
          <p:nvPr/>
        </p:nvSpPr>
        <p:spPr bwMode="auto">
          <a:xfrm>
            <a:off x="1689100" y="2359620"/>
            <a:ext cx="1752599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7606422" name="Text 11"/>
          <p:cNvSpPr/>
          <p:nvPr/>
        </p:nvSpPr>
        <p:spPr bwMode="auto">
          <a:xfrm>
            <a:off x="3517900" y="23659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302 ns</a:t>
            </a:r>
            <a:endParaRPr lang="en-US" sz="1300"/>
          </a:p>
        </p:txBody>
      </p:sp>
      <p:sp>
        <p:nvSpPr>
          <p:cNvPr id="874054731" name="Shape 12"/>
          <p:cNvSpPr/>
          <p:nvPr/>
        </p:nvSpPr>
        <p:spPr bwMode="auto">
          <a:xfrm>
            <a:off x="1689100" y="2600920"/>
            <a:ext cx="374985" cy="203200"/>
          </a:xfrm>
          <a:prstGeom prst="roundRect">
            <a:avLst>
              <a:gd name="adj" fmla="val 18750"/>
            </a:avLst>
          </a:prstGeom>
          <a:solidFill>
            <a:srgbClr val="2E9C6E">
              <a:alpha val="50000"/>
            </a:srgbClr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4871553" name="Text 13"/>
          <p:cNvSpPr/>
          <p:nvPr/>
        </p:nvSpPr>
        <p:spPr bwMode="auto">
          <a:xfrm>
            <a:off x="2142519" y="2607270"/>
            <a:ext cx="1066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65 ns</a:t>
            </a:r>
            <a:endParaRPr lang="en-US" sz="1300"/>
          </a:p>
        </p:txBody>
      </p:sp>
      <p:sp>
        <p:nvSpPr>
          <p:cNvPr id="854225757" name="Text 14"/>
          <p:cNvSpPr/>
          <p:nvPr/>
        </p:nvSpPr>
        <p:spPr bwMode="auto">
          <a:xfrm>
            <a:off x="736600" y="29870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106711211" name="Shape 15"/>
          <p:cNvSpPr/>
          <p:nvPr/>
        </p:nvSpPr>
        <p:spPr bwMode="auto">
          <a:xfrm>
            <a:off x="1689100" y="2880320"/>
            <a:ext cx="19748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770838" name="Text 16"/>
          <p:cNvSpPr/>
          <p:nvPr/>
        </p:nvSpPr>
        <p:spPr bwMode="auto">
          <a:xfrm>
            <a:off x="3740149" y="28866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340 ns</a:t>
            </a:r>
            <a:endParaRPr lang="en-US" sz="1300"/>
          </a:p>
        </p:txBody>
      </p:sp>
      <p:sp>
        <p:nvSpPr>
          <p:cNvPr id="482346709" name="Shape 17"/>
          <p:cNvSpPr/>
          <p:nvPr/>
        </p:nvSpPr>
        <p:spPr bwMode="auto">
          <a:xfrm>
            <a:off x="1689100" y="3121620"/>
            <a:ext cx="67683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6932008" name="Text 18"/>
          <p:cNvSpPr/>
          <p:nvPr/>
        </p:nvSpPr>
        <p:spPr bwMode="auto">
          <a:xfrm>
            <a:off x="2444364" y="31279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 ns   −223 ns</a:t>
            </a:r>
            <a:endParaRPr lang="en-US" sz="1300"/>
          </a:p>
        </p:txBody>
      </p:sp>
      <p:sp>
        <p:nvSpPr>
          <p:cNvPr id="1558560373" name="Text 19"/>
          <p:cNvSpPr/>
          <p:nvPr/>
        </p:nvSpPr>
        <p:spPr bwMode="auto">
          <a:xfrm>
            <a:off x="736600" y="35077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686066982" name="Shape 20"/>
          <p:cNvSpPr/>
          <p:nvPr/>
        </p:nvSpPr>
        <p:spPr bwMode="auto">
          <a:xfrm>
            <a:off x="1689100" y="3401020"/>
            <a:ext cx="20637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058696" name="Text 21"/>
          <p:cNvSpPr/>
          <p:nvPr/>
        </p:nvSpPr>
        <p:spPr bwMode="auto">
          <a:xfrm>
            <a:off x="3829050" y="34073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356 ns</a:t>
            </a:r>
            <a:endParaRPr lang="en-US" sz="1300"/>
          </a:p>
        </p:txBody>
      </p:sp>
      <p:sp>
        <p:nvSpPr>
          <p:cNvPr id="1561069790" name="Shape 22"/>
          <p:cNvSpPr/>
          <p:nvPr/>
        </p:nvSpPr>
        <p:spPr bwMode="auto">
          <a:xfrm>
            <a:off x="1689100" y="3642320"/>
            <a:ext cx="719785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4850430" name="Text 23"/>
          <p:cNvSpPr/>
          <p:nvPr/>
        </p:nvSpPr>
        <p:spPr bwMode="auto">
          <a:xfrm>
            <a:off x="2487319" y="3648670"/>
            <a:ext cx="17000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   −232 ns</a:t>
            </a:r>
            <a:endParaRPr lang="en-US" sz="1300"/>
          </a:p>
        </p:txBody>
      </p:sp>
      <p:sp>
        <p:nvSpPr>
          <p:cNvPr id="311158080" name="Text 24"/>
          <p:cNvSpPr/>
          <p:nvPr/>
        </p:nvSpPr>
        <p:spPr bwMode="auto">
          <a:xfrm>
            <a:off x="736600" y="40284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599369607" name="Shape 25"/>
          <p:cNvSpPr/>
          <p:nvPr/>
        </p:nvSpPr>
        <p:spPr bwMode="auto">
          <a:xfrm>
            <a:off x="1689100" y="3921720"/>
            <a:ext cx="307340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6970025" name="Text 26"/>
          <p:cNvSpPr/>
          <p:nvPr/>
        </p:nvSpPr>
        <p:spPr bwMode="auto">
          <a:xfrm>
            <a:off x="4838700" y="3928070"/>
            <a:ext cx="939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529 ns</a:t>
            </a:r>
            <a:endParaRPr lang="en-US" sz="1300"/>
          </a:p>
        </p:txBody>
      </p:sp>
      <p:sp>
        <p:nvSpPr>
          <p:cNvPr id="1286915460" name="Shape 27"/>
          <p:cNvSpPr/>
          <p:nvPr/>
        </p:nvSpPr>
        <p:spPr bwMode="auto">
          <a:xfrm>
            <a:off x="1689100" y="4163020"/>
            <a:ext cx="1696720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03374" name="Text 28"/>
          <p:cNvSpPr/>
          <p:nvPr/>
        </p:nvSpPr>
        <p:spPr bwMode="auto">
          <a:xfrm>
            <a:off x="3464254" y="41693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292 ns</a:t>
            </a:r>
            <a:endParaRPr lang="en-US" sz="1300"/>
          </a:p>
        </p:txBody>
      </p:sp>
      <p:sp>
        <p:nvSpPr>
          <p:cNvPr id="327375694" name="Text 29"/>
          <p:cNvSpPr/>
          <p:nvPr/>
        </p:nvSpPr>
        <p:spPr bwMode="auto">
          <a:xfrm>
            <a:off x="4204918" y="41693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−237 ns</a:t>
            </a:r>
            <a:endParaRPr lang="en-US" sz="1300"/>
          </a:p>
        </p:txBody>
      </p:sp>
      <p:sp>
        <p:nvSpPr>
          <p:cNvPr id="1955929787" name="Text 30"/>
          <p:cNvSpPr/>
          <p:nvPr/>
        </p:nvSpPr>
        <p:spPr bwMode="auto">
          <a:xfrm>
            <a:off x="736600" y="454911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552882207" name="Shape 31"/>
          <p:cNvSpPr/>
          <p:nvPr/>
        </p:nvSpPr>
        <p:spPr bwMode="auto">
          <a:xfrm>
            <a:off x="1689100" y="4442420"/>
            <a:ext cx="3867150" cy="203200"/>
          </a:xfrm>
          <a:prstGeom prst="roundRect">
            <a:avLst>
              <a:gd name="adj" fmla="val 1875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3156934" name="Text 32"/>
          <p:cNvSpPr/>
          <p:nvPr/>
        </p:nvSpPr>
        <p:spPr bwMode="auto">
          <a:xfrm>
            <a:off x="5632450" y="444877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666 ns</a:t>
            </a:r>
            <a:endParaRPr lang="en-US" sz="1300"/>
          </a:p>
        </p:txBody>
      </p:sp>
      <p:sp>
        <p:nvSpPr>
          <p:cNvPr id="1214684123" name="Shape 33"/>
          <p:cNvSpPr/>
          <p:nvPr/>
        </p:nvSpPr>
        <p:spPr bwMode="auto">
          <a:xfrm>
            <a:off x="1689100" y="4683720"/>
            <a:ext cx="2504738" cy="203200"/>
          </a:xfrm>
          <a:prstGeom prst="roundRect">
            <a:avLst>
              <a:gd name="adj" fmla="val 18750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0826382" name="Text 34"/>
          <p:cNvSpPr/>
          <p:nvPr/>
        </p:nvSpPr>
        <p:spPr bwMode="auto">
          <a:xfrm>
            <a:off x="4272272" y="4690070"/>
            <a:ext cx="685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432 ns</a:t>
            </a:r>
            <a:endParaRPr lang="en-US" sz="1300"/>
          </a:p>
        </p:txBody>
      </p:sp>
      <p:sp>
        <p:nvSpPr>
          <p:cNvPr id="1564814363" name="Text 35"/>
          <p:cNvSpPr/>
          <p:nvPr/>
        </p:nvSpPr>
        <p:spPr bwMode="auto">
          <a:xfrm>
            <a:off x="5012936" y="4690070"/>
            <a:ext cx="1193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−234 ns</a:t>
            </a:r>
            <a:endParaRPr lang="en-US" sz="1300"/>
          </a:p>
        </p:txBody>
      </p:sp>
      <p:sp>
        <p:nvSpPr>
          <p:cNvPr id="320966211" name="Shape 36"/>
          <p:cNvSpPr/>
          <p:nvPr/>
        </p:nvSpPr>
        <p:spPr bwMode="auto">
          <a:xfrm>
            <a:off x="7264400" y="1562100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3815715" name="Shape 37"/>
          <p:cNvSpPr/>
          <p:nvPr/>
        </p:nvSpPr>
        <p:spPr bwMode="auto">
          <a:xfrm>
            <a:off x="7264400" y="1562100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6191563" name="Text 38"/>
          <p:cNvSpPr/>
          <p:nvPr/>
        </p:nvSpPr>
        <p:spPr bwMode="auto">
          <a:xfrm>
            <a:off x="7442200" y="175259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Con pktgen si citano tutte e cinque</a:t>
            </a:r>
            <a:endParaRPr lang="en-US" sz="1400"/>
          </a:p>
        </p:txBody>
      </p:sp>
      <p:sp>
        <p:nvSpPr>
          <p:cNvPr id="1413696015" name="Text 39"/>
          <p:cNvSpPr/>
          <p:nvPr/>
        </p:nvSpPr>
        <p:spPr bwMode="auto">
          <a:xfrm>
            <a:off x="7442200" y="2039609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sopra la baseline: +38, +53, +226 e +364 ns per P1, P1.5, P2 e P3.</a:t>
            </a:r>
            <a:endParaRPr lang="en-US" sz="1300"/>
          </a:p>
        </p:txBody>
      </p:sp>
      <p:sp>
        <p:nvSpPr>
          <p:cNvPr id="33363353" name="Shape 40"/>
          <p:cNvSpPr/>
          <p:nvPr/>
        </p:nvSpPr>
        <p:spPr bwMode="auto">
          <a:xfrm>
            <a:off x="7264400" y="2750809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019319" name="Shape 41"/>
          <p:cNvSpPr/>
          <p:nvPr/>
        </p:nvSpPr>
        <p:spPr bwMode="auto">
          <a:xfrm>
            <a:off x="7264400" y="2750809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4735577" name="Text 42"/>
          <p:cNvSpPr/>
          <p:nvPr/>
        </p:nvSpPr>
        <p:spPr bwMode="auto">
          <a:xfrm>
            <a:off x="7442200" y="2941309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Con xdp_gen si citano P1, P1.5, P2 e P3</a:t>
            </a:r>
            <a:endParaRPr lang="en-US" sz="1400"/>
          </a:p>
        </p:txBody>
      </p:sp>
      <p:sp>
        <p:nvSpPr>
          <p:cNvPr id="1037587850" name="Text 43"/>
          <p:cNvSpPr/>
          <p:nvPr/>
        </p:nvSpPr>
        <p:spPr bwMode="auto">
          <a:xfrm>
            <a:off x="7442200" y="3228318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117, 124, 292 e 432 ns di CPU, un thread per coda. Baseline ≈ 65 ns: indicativa.</a:t>
            </a:r>
            <a:endParaRPr lang="en-US" sz="1300"/>
          </a:p>
        </p:txBody>
      </p:sp>
      <p:sp>
        <p:nvSpPr>
          <p:cNvPr id="1058785538" name="Shape 44"/>
          <p:cNvSpPr/>
          <p:nvPr/>
        </p:nvSpPr>
        <p:spPr bwMode="auto">
          <a:xfrm>
            <a:off x="7264400" y="3939518"/>
            <a:ext cx="4381500" cy="1099807"/>
          </a:xfrm>
          <a:prstGeom prst="roundRect">
            <a:avLst>
              <a:gd name="adj" fmla="val 1154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531357" name="Shape 45"/>
          <p:cNvSpPr/>
          <p:nvPr/>
        </p:nvSpPr>
        <p:spPr bwMode="auto">
          <a:xfrm>
            <a:off x="7264400" y="3939518"/>
            <a:ext cx="4381500" cy="88900"/>
          </a:xfrm>
          <a:custGeom>
            <a:avLst/>
            <a:gdLst/>
            <a:ahLst/>
            <a:cxnLst/>
            <a:rect l="l" t="t" r="r" b="b"/>
            <a:pathLst>
              <a:path w="43815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2545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9062466" name="Text 46"/>
          <p:cNvSpPr/>
          <p:nvPr/>
        </p:nvSpPr>
        <p:spPr bwMode="auto">
          <a:xfrm>
            <a:off x="7442200" y="4130018"/>
            <a:ext cx="414667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Da dove vengono i ~230 ns</a:t>
            </a:r>
            <a:endParaRPr lang="en-US" sz="1400"/>
          </a:p>
        </p:txBody>
      </p:sp>
      <p:sp>
        <p:nvSpPr>
          <p:cNvPr id="1739680763" name="Text 47"/>
          <p:cNvSpPr/>
          <p:nvPr/>
        </p:nvSpPr>
        <p:spPr bwMode="auto">
          <a:xfrm>
            <a:off x="7442200" y="4417020"/>
            <a:ext cx="414667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Dalla copia della skb e dal percorso dello stack: il costo del generatore, pagato sul core del nodo.</a:t>
            </a:r>
            <a:endParaRPr lang="en-US" sz="1300"/>
          </a:p>
        </p:txBody>
      </p:sp>
      <p:sp>
        <p:nvSpPr>
          <p:cNvPr id="1701427139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8521586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8972013" name="Text 50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44412690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 due generatori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confrontano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fra loro: ognuno confronta le pipeline al suo interno. La differenza è il costo del percorso skb.</a:t>
            </a:r>
            <a:endParaRPr lang="en-US" sz="1500"/>
          </a:p>
        </p:txBody>
      </p:sp>
      <p:sp>
        <p:nvSpPr>
          <p:cNvPr id="47309394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28/9, xdp_gen 1/10 (tempo di CPU) · P1: 340 − 117 = 223 · P1.5: 356 − 124 = 232 · P2: 529 − 292 = 237 · P3: 666 − 432 = 234 ns</a:t>
            </a:r>
            <a:endParaRPr lang="en-US" sz="1200"/>
          </a:p>
        </p:txBody>
      </p:sp>
      <p:sp>
        <p:nvSpPr>
          <p:cNvPr id="1874844399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 o 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fino a +5 ns: dentro il rumore.</a:t>
            </a:r>
            <a:endParaRPr lang="en-US" sz="1300"/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. Ogni pipeline segue la diagonale e poi si ferma alla propria capacità: baseline 3,3, P1 2,9, P1.5 2,8, P2 1,9, P3 1,5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14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45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876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07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843937933" name="Text 9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210189422" name="Text 15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521617939" name="Text 16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3797300" y="217170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356753853" name="Text 19"/>
          <p:cNvSpPr/>
          <p:nvPr/>
        </p:nvSpPr>
        <p:spPr bwMode="auto">
          <a:xfrm>
            <a:off x="4927600" y="16383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1,68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3,34</a:t>
            </a:r>
            <a:endParaRPr lang="en-US" sz="1400"/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2,94</a:t>
            </a:r>
            <a:endParaRPr lang="en-US" sz="1400"/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1,20</a:t>
            </a:r>
            <a:endParaRPr lang="en-US" sz="1400"/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1,44</a:t>
            </a:r>
            <a:endParaRPr lang="en-US" sz="1400"/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2,84</a:t>
            </a:r>
            <a:endParaRPr lang="en-US" sz="1400"/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0,72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0,96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1,89</a:t>
            </a:r>
            <a:endParaRPr lang="en-US" sz="1400"/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</a:t>
            </a:r>
            <a:r>
              <a:rPr lang="it-IT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96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1,50</a:t>
            </a:r>
            <a:endParaRPr lang="en-US" sz="1400"/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Sono gradini della scala (~0,24 Gbit/s), non soglie esatte. A 64 byte, 1 Gbit/s ≈ 1,95 milioni di pacchetti al secondo.</a:t>
            </a:r>
            <a:endParaRPr lang="en-US" sz="1200"/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3,3 · 2,9 · 2,8 · 1,9 · 1,5 milioni di pacchetti al secondo, la stessa cifra del test di saturazione.</a:t>
            </a:r>
            <a:endParaRPr lang="en-US" sz="1500"/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 valori di traffico, 5 giri ciascuno, 64 byte, 390 finestre · DUT a 3 494 MHz, nessun throttling</a:t>
            </a:r>
            <a:endParaRPr lang="en-US" sz="1200"/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ipeline P2: pacchetti inviati, ricevuti da XDP e inoltrati al secondo contro traffico inviato. Gli inviati continuano a salire, ricevuti e inoltrati si fermano insieme a 1,9 milioni al second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408114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58326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5888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60478813" name="Text 9"/>
          <p:cNvSpPr/>
          <p:nvPr/>
        </p:nvSpPr>
        <p:spPr bwMode="auto">
          <a:xfrm>
            <a:off x="495300" y="209101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920411992" name="Text 10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812259568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379763847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2946400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225800" y="2768600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610100" y="34417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1,9 milioni al secondo.</a:t>
            </a:r>
            <a:endParaRPr lang="en-US" sz="1300"/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0,02%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inviati.</a:t>
            </a:r>
            <a:endParaRPr lang="en-US" sz="1500"/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in percentuale dei pacchetti inviati contro traffico inviato, per pipeline. Le curve salgono dopo il ginocchio di ogni pipeline fino al 43, 50, 51, 68 e 74 per cento; dopo il programma la perdita resta sotto lo 0,02 per cent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222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610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399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38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1776787693" name="Text 14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248882710" name="Text 15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4939665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0,02%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 circa 3 Gbit/s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700"/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43%</a:t>
            </a:r>
            <a:endParaRPr lang="en-US" sz="1700"/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700"/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0,02%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tutte e cinque le pipeline, a ogni traffico</a:t>
            </a:r>
            <a:endParaRPr lang="en-US" sz="1200"/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a circa 3 Gbit/s si inviano 5,8 M pacchetti/s (5,7 per rxonly)</a:t>
            </a:r>
            <a:endParaRPr lang="en-US" sz="1200"/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Oltre la sola ricezione,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circa 3 Gbit/s anche il solo contatore (rxonly) perde il 21%: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pavimento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487040070" name="Shape 14"/>
          <p:cNvSpPr/>
          <p:nvPr/>
        </p:nvSpPr>
        <p:spPr bwMode="auto">
          <a:xfrm>
            <a:off x="2070100" y="2910818"/>
            <a:ext cx="1308100" cy="279400"/>
          </a:xfrm>
          <a:prstGeom prst="roundRect">
            <a:avLst>
              <a:gd name="adj" fmla="val 13636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21%</a:t>
            </a:r>
            <a:endParaRPr lang="en-US" sz="1500"/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324263238" name="Shape 20"/>
          <p:cNvSpPr/>
          <p:nvPr/>
        </p:nvSpPr>
        <p:spPr bwMode="auto">
          <a:xfrm>
            <a:off x="2070100" y="3304517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485778" name="Shape 21"/>
          <p:cNvSpPr/>
          <p:nvPr/>
        </p:nvSpPr>
        <p:spPr bwMode="auto">
          <a:xfrm>
            <a:off x="3378200" y="3304517"/>
            <a:ext cx="1454150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44%</a:t>
            </a:r>
            <a:endParaRPr lang="en-US" sz="1500"/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+23 punti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844331427" name="Shape 27"/>
          <p:cNvSpPr/>
          <p:nvPr/>
        </p:nvSpPr>
        <p:spPr bwMode="auto">
          <a:xfrm>
            <a:off x="2070100" y="36982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582581" name="Shape 28"/>
          <p:cNvSpPr/>
          <p:nvPr/>
        </p:nvSpPr>
        <p:spPr bwMode="auto">
          <a:xfrm>
            <a:off x="3378200" y="3698218"/>
            <a:ext cx="1879600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50%</a:t>
            </a:r>
            <a:endParaRPr lang="en-US" sz="1500"/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+30 punti</a:t>
            </a:r>
            <a:endParaRPr lang="en-US" sz="1400"/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22749472" name="Shape 34"/>
          <p:cNvSpPr/>
          <p:nvPr/>
        </p:nvSpPr>
        <p:spPr bwMode="auto">
          <a:xfrm>
            <a:off x="2070100" y="40919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3973487" name="Shape 35"/>
          <p:cNvSpPr/>
          <p:nvPr/>
        </p:nvSpPr>
        <p:spPr bwMode="auto">
          <a:xfrm>
            <a:off x="3378200" y="4091918"/>
            <a:ext cx="1949450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51%</a:t>
            </a:r>
            <a:endParaRPr lang="en-US" sz="1500"/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+31 punti</a:t>
            </a:r>
            <a:endParaRPr lang="en-US" sz="1400"/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731994679" name="Shape 41"/>
          <p:cNvSpPr/>
          <p:nvPr/>
        </p:nvSpPr>
        <p:spPr bwMode="auto">
          <a:xfrm>
            <a:off x="2070100" y="44856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2387014" name="Shape 42"/>
          <p:cNvSpPr/>
          <p:nvPr/>
        </p:nvSpPr>
        <p:spPr bwMode="auto">
          <a:xfrm>
            <a:off x="3378200" y="4485618"/>
            <a:ext cx="2997200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68%</a:t>
            </a:r>
            <a:endParaRPr lang="en-US" sz="1500"/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+47 punti</a:t>
            </a:r>
            <a:endParaRPr lang="en-US" sz="1400"/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03224959" name="Shape 48"/>
          <p:cNvSpPr/>
          <p:nvPr/>
        </p:nvSpPr>
        <p:spPr bwMode="auto">
          <a:xfrm>
            <a:off x="2070100" y="4879318"/>
            <a:ext cx="1308100" cy="279400"/>
          </a:xfrm>
          <a:custGeom>
            <a:avLst/>
            <a:gdLst/>
            <a:ahLst/>
            <a:cxnLst/>
            <a:rect l="l" t="t" r="r" b="b"/>
            <a:pathLst>
              <a:path w="1308100" h="279400" fill="norm" stroke="1" extrusionOk="0">
                <a:moveTo>
                  <a:pt x="38100" y="0"/>
                </a:moveTo>
                <a:lnTo>
                  <a:pt x="1308100" y="0"/>
                </a:lnTo>
                <a:lnTo>
                  <a:pt x="1308100" y="279400"/>
                </a:lnTo>
                <a:lnTo>
                  <a:pt x="38100" y="279400"/>
                </a:lnTo>
                <a:arcTo wR="38100" hR="38100" stAng="5400000" swAng="5400000"/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8087848" name="Shape 49"/>
          <p:cNvSpPr/>
          <p:nvPr/>
        </p:nvSpPr>
        <p:spPr bwMode="auto">
          <a:xfrm>
            <a:off x="3378200" y="4879318"/>
            <a:ext cx="3403600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74%</a:t>
            </a:r>
            <a:endParaRPr lang="en-US" sz="1500"/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+54 punti</a:t>
            </a:r>
            <a:endParaRPr lang="en-US" sz="1400"/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0,02%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in più cresce con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costo del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Fino a 2,4 Gbit/s la sola ricezione non perde, e dopo il programma non si perde niente.</a:t>
            </a:r>
            <a:endParaRPr lang="en-US" sz="1500"/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della scala: 5,8 M pacchetti/s (5,7 per rxonly) · punti = differenza fra le due percentuali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21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in microsecondi contro traffico inviato. Resta di pochi microsecondi finché il nodo regge, poi salta a 85, 95, 99, 154 e 186 microsecondi per baseline, P1, P1.5, P2 e P3 dove comincia la perdita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7835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90016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3221968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2543175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1088346365" name="Text 10"/>
          <p:cNvSpPr/>
          <p:nvPr/>
        </p:nvSpPr>
        <p:spPr bwMode="auto">
          <a:xfrm>
            <a:off x="495300" y="1864990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7271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0,5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267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1,0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3632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1,5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4584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2,0</a:t>
            </a:r>
            <a:endParaRPr lang="en-US" sz="1200"/>
          </a:p>
        </p:txBody>
      </p:sp>
      <p:sp>
        <p:nvSpPr>
          <p:cNvPr id="763330554" name="Text 16"/>
          <p:cNvSpPr/>
          <p:nvPr/>
        </p:nvSpPr>
        <p:spPr bwMode="auto">
          <a:xfrm>
            <a:off x="55372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2,5</a:t>
            </a:r>
            <a:endParaRPr lang="en-US" sz="1200"/>
          </a:p>
        </p:txBody>
      </p:sp>
      <p:sp>
        <p:nvSpPr>
          <p:cNvPr id="952407366" name="Text 17"/>
          <p:cNvSpPr/>
          <p:nvPr/>
        </p:nvSpPr>
        <p:spPr bwMode="auto">
          <a:xfrm>
            <a:off x="6489700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3,0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77 µs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84 µs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87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95 µs</a:t>
            </a:r>
            <a:endParaRPr lang="en-US" sz="1400"/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90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99 µs</a:t>
            </a:r>
            <a:endParaRPr lang="en-US" sz="1400"/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135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154 µs</a:t>
            </a:r>
            <a:endParaRPr lang="en-US" sz="1400"/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171 µs</a:t>
            </a:r>
            <a:endParaRPr lang="en-US" sz="1400"/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186 µs</a:t>
            </a:r>
            <a:endParaRPr lang="en-US" sz="1400"/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(circa il 10%) è il percorso fino al nodo successivo.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del generatore all'arrivo al nodo successivo · mediana (p50) oltre la saturazione · capacità come nella slide 18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22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8164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84921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PIÙ CORE</a:t>
            </a:r>
            <a:endParaRPr lang="en-US" sz="1200"/>
          </a:p>
        </p:txBody>
      </p:sp>
      <p:sp>
        <p:nvSpPr>
          <p:cNvPr id="1711403555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due core la capacità raddoppia</a:t>
            </a:r>
            <a:endParaRPr lang="en-US" sz="3000"/>
          </a:p>
        </p:txBody>
      </p:sp>
      <p:sp>
        <p:nvSpPr>
          <p:cNvPr id="1043704243" name="Shape 3"/>
          <p:cNvSpPr/>
          <p:nvPr/>
        </p:nvSpPr>
        <p:spPr bwMode="auto">
          <a:xfrm>
            <a:off x="546100" y="1562100"/>
            <a:ext cx="6604000" cy="3685448"/>
          </a:xfrm>
          <a:prstGeom prst="roundRect">
            <a:avLst>
              <a:gd name="adj" fmla="val 344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8105103" name="Text 4"/>
          <p:cNvSpPr/>
          <p:nvPr/>
        </p:nvSpPr>
        <p:spPr bwMode="auto">
          <a:xfrm>
            <a:off x="736600" y="1689100"/>
            <a:ext cx="64096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Capacità massima, in milioni di pacchetti al secondo</a:t>
            </a:r>
            <a:endParaRPr lang="en-US" sz="1500"/>
          </a:p>
        </p:txBody>
      </p:sp>
      <p:sp>
        <p:nvSpPr>
          <p:cNvPr id="2095606728" name="Shape 5"/>
          <p:cNvSpPr/>
          <p:nvPr/>
        </p:nvSpPr>
        <p:spPr bwMode="auto">
          <a:xfrm>
            <a:off x="736600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4538789" name="Text 6"/>
          <p:cNvSpPr/>
          <p:nvPr/>
        </p:nvSpPr>
        <p:spPr bwMode="auto">
          <a:xfrm>
            <a:off x="952500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 core</a:t>
            </a:r>
            <a:endParaRPr lang="en-US" sz="1200"/>
          </a:p>
        </p:txBody>
      </p:sp>
      <p:sp>
        <p:nvSpPr>
          <p:cNvPr id="1718168399" name="Shape 7"/>
          <p:cNvSpPr/>
          <p:nvPr/>
        </p:nvSpPr>
        <p:spPr bwMode="auto">
          <a:xfrm>
            <a:off x="1512491" y="2037034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614145" name="Text 8"/>
          <p:cNvSpPr/>
          <p:nvPr/>
        </p:nvSpPr>
        <p:spPr bwMode="auto">
          <a:xfrm>
            <a:off x="1728391" y="2006600"/>
            <a:ext cx="4329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</a:t>
            </a:r>
            <a:endParaRPr lang="en-US" sz="1200"/>
          </a:p>
        </p:txBody>
      </p:sp>
      <p:sp>
        <p:nvSpPr>
          <p:cNvPr id="415667266" name="Text 9"/>
          <p:cNvSpPr/>
          <p:nvPr/>
        </p:nvSpPr>
        <p:spPr bwMode="auto">
          <a:xfrm>
            <a:off x="797917" y="334076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4,69</a:t>
            </a:r>
            <a:endParaRPr lang="en-US" sz="1200"/>
          </a:p>
        </p:txBody>
      </p:sp>
      <p:sp>
        <p:nvSpPr>
          <p:cNvPr id="901914092" name="Shape 10"/>
          <p:cNvSpPr/>
          <p:nvPr/>
        </p:nvSpPr>
        <p:spPr bwMode="auto">
          <a:xfrm>
            <a:off x="736600" y="3555651"/>
            <a:ext cx="393700" cy="1002633"/>
          </a:xfrm>
          <a:custGeom>
            <a:avLst/>
            <a:gdLst/>
            <a:ahLst/>
            <a:cxnLst/>
            <a:rect l="l" t="t" r="r" b="b"/>
            <a:pathLst>
              <a:path w="393700" h="12827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282700"/>
                </a:lnTo>
                <a:lnTo>
                  <a:pt x="0" y="1282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4731870" name="Text 11"/>
          <p:cNvSpPr/>
          <p:nvPr/>
        </p:nvSpPr>
        <p:spPr bwMode="auto">
          <a:xfrm>
            <a:off x="1234347" y="2357374"/>
            <a:ext cx="3125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2"/>
              </a:lnSpc>
              <a:buNone/>
              <a:defRPr/>
            </a:pPr>
            <a:r>
              <a:rPr lang="en-US" sz="115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9,29</a:t>
            </a:r>
            <a:endParaRPr lang="en-US" sz="1150"/>
          </a:p>
        </p:txBody>
      </p:sp>
      <p:sp>
        <p:nvSpPr>
          <p:cNvPr id="1377636485" name="Shape 12"/>
          <p:cNvSpPr/>
          <p:nvPr/>
        </p:nvSpPr>
        <p:spPr bwMode="auto">
          <a:xfrm>
            <a:off x="1168400" y="2572258"/>
            <a:ext cx="393700" cy="1986026"/>
          </a:xfrm>
          <a:custGeom>
            <a:avLst/>
            <a:gdLst/>
            <a:ahLst/>
            <a:cxnLst/>
            <a:rect l="l" t="t" r="r" b="b"/>
            <a:pathLst>
              <a:path w="393700" h="20828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2082800"/>
                </a:lnTo>
                <a:lnTo>
                  <a:pt x="0" y="20828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91274424" name="Text 13"/>
          <p:cNvSpPr/>
          <p:nvPr/>
        </p:nvSpPr>
        <p:spPr bwMode="auto">
          <a:xfrm>
            <a:off x="1877417" y="361440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3,41</a:t>
            </a:r>
            <a:endParaRPr lang="en-US" sz="1200"/>
          </a:p>
        </p:txBody>
      </p:sp>
      <p:sp>
        <p:nvSpPr>
          <p:cNvPr id="407892574" name="Shape 14"/>
          <p:cNvSpPr/>
          <p:nvPr/>
        </p:nvSpPr>
        <p:spPr bwMode="auto">
          <a:xfrm>
            <a:off x="1816100" y="3829291"/>
            <a:ext cx="393700" cy="728993"/>
          </a:xfrm>
          <a:custGeom>
            <a:avLst/>
            <a:gdLst/>
            <a:ahLst/>
            <a:cxnLst/>
            <a:rect l="l" t="t" r="r" b="b"/>
            <a:pathLst>
              <a:path w="393700" h="946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946150"/>
                </a:lnTo>
                <a:lnTo>
                  <a:pt x="0" y="946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387933" name="Text 15"/>
          <p:cNvSpPr/>
          <p:nvPr/>
        </p:nvSpPr>
        <p:spPr bwMode="auto">
          <a:xfrm>
            <a:off x="2309216" y="2906792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6,72</a:t>
            </a:r>
            <a:endParaRPr lang="en-US" sz="1200"/>
          </a:p>
        </p:txBody>
      </p:sp>
      <p:sp>
        <p:nvSpPr>
          <p:cNvPr id="137988166" name="Shape 16"/>
          <p:cNvSpPr/>
          <p:nvPr/>
        </p:nvSpPr>
        <p:spPr bwMode="auto">
          <a:xfrm>
            <a:off x="2247900" y="3121676"/>
            <a:ext cx="393700" cy="1436608"/>
          </a:xfrm>
          <a:custGeom>
            <a:avLst/>
            <a:gdLst/>
            <a:ahLst/>
            <a:cxnLst/>
            <a:rect l="l" t="t" r="r" b="b"/>
            <a:pathLst>
              <a:path w="393700" h="180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803400"/>
                </a:lnTo>
                <a:lnTo>
                  <a:pt x="0" y="180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3664956" name="Text 17"/>
          <p:cNvSpPr/>
          <p:nvPr/>
        </p:nvSpPr>
        <p:spPr bwMode="auto">
          <a:xfrm>
            <a:off x="2956917" y="370205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3,00</a:t>
            </a:r>
            <a:endParaRPr lang="en-US" sz="1200"/>
          </a:p>
        </p:txBody>
      </p:sp>
      <p:sp>
        <p:nvSpPr>
          <p:cNvPr id="230131818" name="Shape 18"/>
          <p:cNvSpPr/>
          <p:nvPr/>
        </p:nvSpPr>
        <p:spPr bwMode="auto">
          <a:xfrm>
            <a:off x="2895600" y="3916941"/>
            <a:ext cx="393700" cy="641343"/>
          </a:xfrm>
          <a:custGeom>
            <a:avLst/>
            <a:gdLst/>
            <a:ahLst/>
            <a:cxnLst/>
            <a:rect l="l" t="t" r="r" b="b"/>
            <a:pathLst>
              <a:path w="393700" h="838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38200"/>
                </a:lnTo>
                <a:lnTo>
                  <a:pt x="0" y="838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194564" name="Text 19"/>
          <p:cNvSpPr/>
          <p:nvPr/>
        </p:nvSpPr>
        <p:spPr bwMode="auto">
          <a:xfrm>
            <a:off x="3388717" y="3069265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5,96</a:t>
            </a:r>
            <a:endParaRPr lang="en-US" sz="1200"/>
          </a:p>
        </p:txBody>
      </p:sp>
      <p:sp>
        <p:nvSpPr>
          <p:cNvPr id="599234063" name="Shape 20"/>
          <p:cNvSpPr/>
          <p:nvPr/>
        </p:nvSpPr>
        <p:spPr bwMode="auto">
          <a:xfrm>
            <a:off x="3327400" y="3284149"/>
            <a:ext cx="393700" cy="1274135"/>
          </a:xfrm>
          <a:custGeom>
            <a:avLst/>
            <a:gdLst/>
            <a:ahLst/>
            <a:cxnLst/>
            <a:rect l="l" t="t" r="r" b="b"/>
            <a:pathLst>
              <a:path w="393700" h="16002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600200"/>
                </a:lnTo>
                <a:lnTo>
                  <a:pt x="0" y="16002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86603428" name="Text 21"/>
          <p:cNvSpPr/>
          <p:nvPr/>
        </p:nvSpPr>
        <p:spPr bwMode="auto">
          <a:xfrm>
            <a:off x="4036417" y="3731987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2,86</a:t>
            </a:r>
            <a:endParaRPr lang="en-US" sz="1200"/>
          </a:p>
        </p:txBody>
      </p:sp>
      <p:sp>
        <p:nvSpPr>
          <p:cNvPr id="1616931431" name="Shape 22"/>
          <p:cNvSpPr/>
          <p:nvPr/>
        </p:nvSpPr>
        <p:spPr bwMode="auto">
          <a:xfrm>
            <a:off x="3975100" y="3946871"/>
            <a:ext cx="393700" cy="611413"/>
          </a:xfrm>
          <a:custGeom>
            <a:avLst/>
            <a:gdLst/>
            <a:ahLst/>
            <a:cxnLst/>
            <a:rect l="l" t="t" r="r" b="b"/>
            <a:pathLst>
              <a:path w="393700" h="8001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00100"/>
                </a:lnTo>
                <a:lnTo>
                  <a:pt x="0" y="800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6519633" name="Text 23"/>
          <p:cNvSpPr/>
          <p:nvPr/>
        </p:nvSpPr>
        <p:spPr bwMode="auto">
          <a:xfrm>
            <a:off x="4468217" y="314622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5,60</a:t>
            </a:r>
            <a:endParaRPr lang="en-US" sz="1200"/>
          </a:p>
        </p:txBody>
      </p:sp>
      <p:sp>
        <p:nvSpPr>
          <p:cNvPr id="365430228" name="Shape 24"/>
          <p:cNvSpPr/>
          <p:nvPr/>
        </p:nvSpPr>
        <p:spPr bwMode="auto">
          <a:xfrm>
            <a:off x="4406900" y="3361110"/>
            <a:ext cx="393700" cy="1197174"/>
          </a:xfrm>
          <a:custGeom>
            <a:avLst/>
            <a:gdLst/>
            <a:ahLst/>
            <a:cxnLst/>
            <a:rect l="l" t="t" r="r" b="b"/>
            <a:pathLst>
              <a:path w="393700" h="1549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549400"/>
                </a:lnTo>
                <a:lnTo>
                  <a:pt x="0" y="1549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9246280" name="Text 25"/>
          <p:cNvSpPr/>
          <p:nvPr/>
        </p:nvSpPr>
        <p:spPr bwMode="auto">
          <a:xfrm>
            <a:off x="5115917" y="393721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1,90</a:t>
            </a:r>
            <a:endParaRPr lang="en-US" sz="1200"/>
          </a:p>
        </p:txBody>
      </p:sp>
      <p:sp>
        <p:nvSpPr>
          <p:cNvPr id="58128927" name="Shape 26"/>
          <p:cNvSpPr/>
          <p:nvPr/>
        </p:nvSpPr>
        <p:spPr bwMode="auto">
          <a:xfrm>
            <a:off x="5054600" y="4152100"/>
            <a:ext cx="393700" cy="406184"/>
          </a:xfrm>
          <a:custGeom>
            <a:avLst/>
            <a:gdLst/>
            <a:ahLst/>
            <a:cxnLst/>
            <a:rect l="l" t="t" r="r" b="b"/>
            <a:pathLst>
              <a:path w="393700" h="53340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533400"/>
                </a:lnTo>
                <a:lnTo>
                  <a:pt x="0" y="533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7912359" name="Text 27"/>
          <p:cNvSpPr/>
          <p:nvPr/>
        </p:nvSpPr>
        <p:spPr bwMode="auto">
          <a:xfrm>
            <a:off x="5547717" y="355668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3,68</a:t>
            </a:r>
            <a:endParaRPr lang="en-US" sz="1200"/>
          </a:p>
        </p:txBody>
      </p:sp>
      <p:sp>
        <p:nvSpPr>
          <p:cNvPr id="1352668887" name="Shape 28"/>
          <p:cNvSpPr/>
          <p:nvPr/>
        </p:nvSpPr>
        <p:spPr bwMode="auto">
          <a:xfrm>
            <a:off x="5486400" y="3771570"/>
            <a:ext cx="393700" cy="786714"/>
          </a:xfrm>
          <a:custGeom>
            <a:avLst/>
            <a:gdLst/>
            <a:ahLst/>
            <a:cxnLst/>
            <a:rect l="l" t="t" r="r" b="b"/>
            <a:pathLst>
              <a:path w="393700" h="10350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1035050"/>
                </a:lnTo>
                <a:lnTo>
                  <a:pt x="0" y="1035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6585382" name="Text 29"/>
          <p:cNvSpPr/>
          <p:nvPr/>
        </p:nvSpPr>
        <p:spPr bwMode="auto">
          <a:xfrm>
            <a:off x="6195417" y="4031280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1,46</a:t>
            </a:r>
            <a:endParaRPr lang="en-US" sz="1200"/>
          </a:p>
        </p:txBody>
      </p:sp>
      <p:sp>
        <p:nvSpPr>
          <p:cNvPr id="1964494824" name="Shape 30"/>
          <p:cNvSpPr/>
          <p:nvPr/>
        </p:nvSpPr>
        <p:spPr bwMode="auto">
          <a:xfrm>
            <a:off x="6134100" y="4246164"/>
            <a:ext cx="393700" cy="312120"/>
          </a:xfrm>
          <a:custGeom>
            <a:avLst/>
            <a:gdLst/>
            <a:ahLst/>
            <a:cxnLst/>
            <a:rect l="l" t="t" r="r" b="b"/>
            <a:pathLst>
              <a:path w="393700" h="4127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412750"/>
                </a:lnTo>
                <a:lnTo>
                  <a:pt x="0" y="41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965970" name="Text 31"/>
          <p:cNvSpPr/>
          <p:nvPr/>
        </p:nvSpPr>
        <p:spPr bwMode="auto">
          <a:xfrm>
            <a:off x="6627217" y="3742676"/>
            <a:ext cx="3218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2,81</a:t>
            </a:r>
            <a:endParaRPr lang="en-US" sz="1200"/>
          </a:p>
        </p:txBody>
      </p:sp>
      <p:sp>
        <p:nvSpPr>
          <p:cNvPr id="1142726232" name="Shape 32"/>
          <p:cNvSpPr/>
          <p:nvPr/>
        </p:nvSpPr>
        <p:spPr bwMode="auto">
          <a:xfrm>
            <a:off x="6565900" y="3957560"/>
            <a:ext cx="393700" cy="600724"/>
          </a:xfrm>
          <a:custGeom>
            <a:avLst/>
            <a:gdLst/>
            <a:ahLst/>
            <a:cxnLst/>
            <a:rect l="l" t="t" r="r" b="b"/>
            <a:pathLst>
              <a:path w="393700" h="819150" fill="norm" stroke="1" extrusionOk="0">
                <a:moveTo>
                  <a:pt x="38100" y="0"/>
                </a:moveTo>
                <a:lnTo>
                  <a:pt x="355600" y="0"/>
                </a:lnTo>
                <a:arcTo wR="38100" hR="38100" stAng="16200000" swAng="5400000"/>
                <a:lnTo>
                  <a:pt x="393700" y="819150"/>
                </a:lnTo>
                <a:lnTo>
                  <a:pt x="0" y="819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1405239" name="Text 33"/>
          <p:cNvSpPr/>
          <p:nvPr/>
        </p:nvSpPr>
        <p:spPr bwMode="auto">
          <a:xfrm>
            <a:off x="711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300"/>
          </a:p>
        </p:txBody>
      </p:sp>
      <p:sp>
        <p:nvSpPr>
          <p:cNvPr id="2007593634" name="Text 34"/>
          <p:cNvSpPr/>
          <p:nvPr/>
        </p:nvSpPr>
        <p:spPr bwMode="auto">
          <a:xfrm>
            <a:off x="1790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03927937" name="Text 35"/>
          <p:cNvSpPr/>
          <p:nvPr/>
        </p:nvSpPr>
        <p:spPr bwMode="auto">
          <a:xfrm>
            <a:off x="2870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208906032" name="Text 36"/>
          <p:cNvSpPr/>
          <p:nvPr/>
        </p:nvSpPr>
        <p:spPr bwMode="auto">
          <a:xfrm>
            <a:off x="3949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289323912" name="Text 37"/>
          <p:cNvSpPr/>
          <p:nvPr/>
        </p:nvSpPr>
        <p:spPr bwMode="auto">
          <a:xfrm>
            <a:off x="50292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2063210769" name="Text 38"/>
          <p:cNvSpPr/>
          <p:nvPr/>
        </p:nvSpPr>
        <p:spPr bwMode="auto">
          <a:xfrm>
            <a:off x="6108700" y="4607520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425659928" name="Text 39"/>
          <p:cNvSpPr/>
          <p:nvPr/>
        </p:nvSpPr>
        <p:spPr bwMode="auto">
          <a:xfrm>
            <a:off x="711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×1,98</a:t>
            </a:r>
            <a:endParaRPr lang="en-US" sz="1300"/>
          </a:p>
        </p:txBody>
      </p:sp>
      <p:sp>
        <p:nvSpPr>
          <p:cNvPr id="1578479370" name="Text 40"/>
          <p:cNvSpPr/>
          <p:nvPr/>
        </p:nvSpPr>
        <p:spPr bwMode="auto">
          <a:xfrm>
            <a:off x="1790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×1,97</a:t>
            </a:r>
            <a:endParaRPr lang="en-US" sz="1300"/>
          </a:p>
        </p:txBody>
      </p:sp>
      <p:sp>
        <p:nvSpPr>
          <p:cNvPr id="424571824" name="Text 41"/>
          <p:cNvSpPr/>
          <p:nvPr/>
        </p:nvSpPr>
        <p:spPr bwMode="auto">
          <a:xfrm>
            <a:off x="2870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×1,99</a:t>
            </a:r>
            <a:endParaRPr lang="en-US" sz="1300"/>
          </a:p>
        </p:txBody>
      </p:sp>
      <p:sp>
        <p:nvSpPr>
          <p:cNvPr id="2094139418" name="Text 42"/>
          <p:cNvSpPr/>
          <p:nvPr/>
        </p:nvSpPr>
        <p:spPr bwMode="auto">
          <a:xfrm>
            <a:off x="3949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×1,96</a:t>
            </a:r>
            <a:endParaRPr lang="en-US" sz="1300"/>
          </a:p>
        </p:txBody>
      </p:sp>
      <p:sp>
        <p:nvSpPr>
          <p:cNvPr id="1943956499" name="Text 43"/>
          <p:cNvSpPr/>
          <p:nvPr/>
        </p:nvSpPr>
        <p:spPr bwMode="auto">
          <a:xfrm>
            <a:off x="50292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×1,94</a:t>
            </a:r>
            <a:endParaRPr lang="en-US" sz="1300"/>
          </a:p>
        </p:txBody>
      </p:sp>
      <p:sp>
        <p:nvSpPr>
          <p:cNvPr id="1649110871" name="Text 44"/>
          <p:cNvSpPr/>
          <p:nvPr/>
        </p:nvSpPr>
        <p:spPr bwMode="auto">
          <a:xfrm>
            <a:off x="6108700" y="4889438"/>
            <a:ext cx="8762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×1,93</a:t>
            </a:r>
            <a:endParaRPr lang="en-US" sz="1300"/>
          </a:p>
        </p:txBody>
      </p:sp>
      <p:sp>
        <p:nvSpPr>
          <p:cNvPr id="193457000" name="Shape 45"/>
          <p:cNvSpPr/>
          <p:nvPr/>
        </p:nvSpPr>
        <p:spPr bwMode="auto">
          <a:xfrm>
            <a:off x="7327900" y="1562100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0651161" name="Shape 46"/>
          <p:cNvSpPr/>
          <p:nvPr/>
        </p:nvSpPr>
        <p:spPr bwMode="auto">
          <a:xfrm>
            <a:off x="7327900" y="1562100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4953802" name="Text 47"/>
          <p:cNvSpPr/>
          <p:nvPr/>
        </p:nvSpPr>
        <p:spPr bwMode="auto">
          <a:xfrm>
            <a:off x="7505700" y="1752599"/>
            <a:ext cx="4081272" cy="252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19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contatore per ogni core</a:t>
            </a:r>
            <a:endParaRPr lang="en-US" sz="1300"/>
          </a:p>
        </p:txBody>
      </p:sp>
      <p:sp>
        <p:nvSpPr>
          <p:cNvPr id="1992608866" name="Text 48"/>
          <p:cNvSpPr/>
          <p:nvPr/>
        </p:nvSpPr>
        <p:spPr bwMode="auto">
          <a:xfrm>
            <a:off x="7505700" y="2030214"/>
            <a:ext cx="4081272" cy="612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37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statistiche sono per-core: ogni core incrementa la sua copia, senza istruzioni atomiche e senza contendersi una riga di cache. Chi legge somma.</a:t>
            </a:r>
            <a:endParaRPr lang="en-US" sz="1200"/>
          </a:p>
        </p:txBody>
      </p:sp>
      <p:sp>
        <p:nvSpPr>
          <p:cNvPr id="788594221" name="Shape 49"/>
          <p:cNvSpPr/>
          <p:nvPr/>
        </p:nvSpPr>
        <p:spPr bwMode="auto">
          <a:xfrm>
            <a:off x="7327900" y="2820194"/>
            <a:ext cx="4318000" cy="1169260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498004" name="Shape 50"/>
          <p:cNvSpPr/>
          <p:nvPr/>
        </p:nvSpPr>
        <p:spPr bwMode="auto">
          <a:xfrm>
            <a:off x="7327900" y="2820194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389091" name="Text 51"/>
          <p:cNvSpPr/>
          <p:nvPr/>
        </p:nvSpPr>
        <p:spPr bwMode="auto">
          <a:xfrm>
            <a:off x="7505700" y="3010694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Quattro thread, due per coda</a:t>
            </a:r>
            <a:endParaRPr lang="en-US" sz="1400"/>
          </a:p>
        </p:txBody>
      </p:sp>
      <p:sp>
        <p:nvSpPr>
          <p:cNvPr id="19081431" name="Text 52"/>
          <p:cNvSpPr/>
          <p:nvPr/>
        </p:nvSpPr>
        <p:spPr bwMode="auto">
          <a:xfrm>
            <a:off x="7505700" y="3310409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tre thread una coda ne aveva uno solo (~2,8 M/s): rxonly non saturava (×1,61).</a:t>
            </a:r>
            <a:endParaRPr lang="en-US" sz="1300"/>
          </a:p>
        </p:txBody>
      </p:sp>
      <p:sp>
        <p:nvSpPr>
          <p:cNvPr id="1038679593" name="Shape 53"/>
          <p:cNvSpPr/>
          <p:nvPr/>
        </p:nvSpPr>
        <p:spPr bwMode="auto">
          <a:xfrm>
            <a:off x="7327900" y="4078362"/>
            <a:ext cx="4318000" cy="1169194"/>
          </a:xfrm>
          <a:prstGeom prst="roundRect">
            <a:avLst>
              <a:gd name="adj" fmla="val 1086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5887292" name="Shape 54"/>
          <p:cNvSpPr/>
          <p:nvPr/>
        </p:nvSpPr>
        <p:spPr bwMode="auto">
          <a:xfrm>
            <a:off x="7327900" y="4078362"/>
            <a:ext cx="4318000" cy="88900"/>
          </a:xfrm>
          <a:custGeom>
            <a:avLst/>
            <a:gdLst/>
            <a:ahLst/>
            <a:cxnLst/>
            <a:rect l="l" t="t" r="r" b="b"/>
            <a:pathLst>
              <a:path w="431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19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564641" name="Text 55"/>
          <p:cNvSpPr/>
          <p:nvPr/>
        </p:nvSpPr>
        <p:spPr bwMode="auto">
          <a:xfrm>
            <a:off x="7505700" y="4268862"/>
            <a:ext cx="408127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Una coda e un core, per scelta</a:t>
            </a:r>
            <a:endParaRPr lang="en-US" sz="1400"/>
          </a:p>
        </p:txBody>
      </p:sp>
      <p:sp>
        <p:nvSpPr>
          <p:cNvPr id="1665259967" name="Text 56"/>
          <p:cNvSpPr/>
          <p:nvPr/>
        </p:nvSpPr>
        <p:spPr bwMode="auto">
          <a:xfrm>
            <a:off x="7505700" y="4568565"/>
            <a:ext cx="408127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banco misura il costo per core. Una scheda vera distribuisce i pacchetti su più code e più core (RSS).</a:t>
            </a:r>
            <a:endParaRPr lang="en-US" sz="1300"/>
          </a:p>
        </p:txBody>
      </p:sp>
      <p:sp>
        <p:nvSpPr>
          <p:cNvPr id="1596740389" name="Shape 5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74036812" name="Shape 5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5932966" name="Text 59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2855187" name="Text 6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per pacchetto resta quello di un core: un nodo con N code regge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circa N volte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la capacità misurata su un core, con pktgen e con xdp_gen (slide 14).</a:t>
            </a:r>
            <a:endParaRPr lang="en-US" sz="1500"/>
          </a:p>
        </p:txBody>
      </p:sp>
      <p:sp>
        <p:nvSpPr>
          <p:cNvPr id="1094380034" name="Text 6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pktgen, 3 thread su 1 core, 4 (2 per coda) su 2 · una coda d'uscita per core · 64 byte, 3 giri, 1 ottobre</a:t>
            </a:r>
            <a:endParaRPr lang="en-US" sz="1200"/>
          </a:p>
        </p:txBody>
      </p:sp>
      <p:sp>
        <p:nvSpPr>
          <p:cNvPr id="433619081" name="Text 6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23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dual boot rende le misure ripetibili</a:t>
            </a:r>
            <a:endParaRPr lang="en-US" sz="1900"/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La variazione del costo scende da 15–160% a 0,3–0,6%. Il core del nodo non dorme, non cambia frequenza e nessuno lo interrompe.</a:t>
            </a:r>
            <a:endParaRPr lang="en-US" sz="1450"/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Due generatori, due usi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pktgen confronta tutte le pipeline, da 3,31 a 1,50 M/s. xdp_gen, un thread per coda, misura P1–P3 senza la copia: 117–432 ns.</a:t>
            </a:r>
            <a:endParaRPr lang="en-US" sz="1450"/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salta di un ordine di grandezza e la perdita è tutta all'ingresso: il collo di bottiglia è il programma, e due core reggono il doppio.</a:t>
            </a:r>
            <a:endParaRPr lang="en-US" sz="1450"/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settembre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25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