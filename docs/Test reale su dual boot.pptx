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notesSlides/notesSlide23.xml" ContentType="application/vnd.openxmlformats-officedocument.presentationml.notes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74" d="100"/>
          <a:sy n="74" d="100"/>
        </p:scale>
        <p:origin x="352" y="56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 /><Relationship Id="rId30" Type="http://schemas.openxmlformats.org/officeDocument/2006/relationships/tableStyles" Target="tableStyles.xml" /><Relationship Id="rId3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4264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81612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10529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59222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82598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10532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8082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363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352014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290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57183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94106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04172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43222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8137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5635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7598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9720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999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3866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788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22272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3434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01418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06696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35246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76563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6516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60816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73793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6872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16086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6366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01244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49438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18831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60493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94157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4237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56918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05892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19697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017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97873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8360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43592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88133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34997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2129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66056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388860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33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2220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45701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27164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91973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067395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96042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89046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5282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6923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8435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064980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2960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34498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9763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0297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17164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0017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40525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97861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7582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F3A5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854695" name="Shape 0"/>
          <p:cNvSpPr/>
          <p:nvPr/>
        </p:nvSpPr>
        <p:spPr bwMode="auto">
          <a:xfrm>
            <a:off x="0" y="0"/>
            <a:ext cx="317500" cy="6858000"/>
          </a:xfrm>
          <a:prstGeom prst="rect">
            <a:avLst/>
          </a:prstGeom>
          <a:solidFill>
            <a:srgbClr val="E07A2D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448343889" name="Text 1"/>
          <p:cNvSpPr/>
          <p:nvPr/>
        </p:nvSpPr>
        <p:spPr bwMode="auto">
          <a:xfrm>
            <a:off x="914400" y="1079500"/>
            <a:ext cx="1046480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  <a:defRPr/>
            </a:pPr>
            <a:r>
              <a:rPr lang="en-US" sz="1600" b="1" spc="100">
                <a:solidFill>
                  <a:srgbClr val="F2B134"/>
                </a:solidFill>
                <a:latin typeface="Carlito"/>
                <a:ea typeface="Carlito"/>
                <a:cs typeface="Carlito"/>
              </a:rPr>
              <a:t>TESI · EBPF / XDP</a:t>
            </a:r>
            <a:endParaRPr lang="en-US" sz="1600"/>
          </a:p>
        </p:txBody>
      </p:sp>
      <p:sp>
        <p:nvSpPr>
          <p:cNvPr id="1929620387" name="Text 2"/>
          <p:cNvSpPr/>
          <p:nvPr/>
        </p:nvSpPr>
        <p:spPr bwMode="auto">
          <a:xfrm>
            <a:off x="914400" y="1587500"/>
            <a:ext cx="10726420" cy="13689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90"/>
              </a:lnSpc>
              <a:buNone/>
              <a:defRPr/>
            </a:pPr>
            <a:r>
              <a:rPr lang="en-US" sz="46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Il test reale su dual boot</a:t>
            </a:r>
            <a:endParaRPr lang="en-US" sz="4600"/>
          </a:p>
          <a:p>
            <a:pPr marL="0" indent="0" algn="l">
              <a:lnSpc>
                <a:spcPts val="5290"/>
              </a:lnSpc>
              <a:buNone/>
              <a:defRPr/>
            </a:pPr>
            <a:r>
              <a:rPr lang="en-US" sz="46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e la domanda sul bit rate</a:t>
            </a:r>
            <a:endParaRPr lang="en-US" sz="4600"/>
          </a:p>
        </p:txBody>
      </p:sp>
      <p:sp>
        <p:nvSpPr>
          <p:cNvPr id="175244843" name="Text 3"/>
          <p:cNvSpPr/>
          <p:nvPr/>
        </p:nvSpPr>
        <p:spPr bwMode="auto">
          <a:xfrm>
            <a:off x="914400" y="3429000"/>
            <a:ext cx="981075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2000">
                <a:solidFill>
                  <a:srgbClr val="D6DEE9"/>
                </a:solidFill>
                <a:latin typeface="Carlito"/>
                <a:ea typeface="Carlito"/>
                <a:cs typeface="Carlito"/>
              </a:rPr>
              <a:t>Come si misura quanti pacchetti regge un nodo, con quali generatori di traffico, e che cosa succede quando il traffico offerto cresce.</a:t>
            </a:r>
            <a:endParaRPr lang="en-US" sz="2000"/>
          </a:p>
        </p:txBody>
      </p:sp>
      <p:sp>
        <p:nvSpPr>
          <p:cNvPr id="758403659" name="Shape 4"/>
          <p:cNvSpPr/>
          <p:nvPr/>
        </p:nvSpPr>
        <p:spPr bwMode="auto">
          <a:xfrm>
            <a:off x="914400" y="4889500"/>
            <a:ext cx="2012949" cy="44450"/>
          </a:xfrm>
          <a:prstGeom prst="rect">
            <a:avLst/>
          </a:prstGeom>
          <a:solidFill>
            <a:srgbClr val="F2B134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75634089" name="Text 5"/>
          <p:cNvSpPr/>
          <p:nvPr/>
        </p:nvSpPr>
        <p:spPr bwMode="auto">
          <a:xfrm>
            <a:off x="914400" y="5118100"/>
            <a:ext cx="7848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Ettore Cantile</a:t>
            </a:r>
            <a:endParaRPr lang="en-US" sz="2000"/>
          </a:p>
        </p:txBody>
      </p:sp>
      <p:sp>
        <p:nvSpPr>
          <p:cNvPr id="512399186" name="Text 6"/>
          <p:cNvSpPr/>
          <p:nvPr/>
        </p:nvSpPr>
        <p:spPr bwMode="auto">
          <a:xfrm>
            <a:off x="914400" y="5473700"/>
            <a:ext cx="7848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settembre 2026</a:t>
            </a:r>
            <a:endParaRPr lang="en-US" sz="15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778117" name="Shape 0"/>
          <p:cNvSpPr/>
          <p:nvPr/>
        </p:nvSpPr>
        <p:spPr bwMode="auto">
          <a:xfrm>
            <a:off x="0" y="0"/>
            <a:ext cx="12192000" cy="107949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479575235" name="Text 1"/>
          <p:cNvSpPr/>
          <p:nvPr/>
        </p:nvSpPr>
        <p:spPr bwMode="auto">
          <a:xfrm>
            <a:off x="546100" y="330200"/>
            <a:ext cx="114327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LA DOMANDA DEL RELATORE</a:t>
            </a:r>
            <a:endParaRPr lang="en-US" sz="1200"/>
          </a:p>
        </p:txBody>
      </p:sp>
      <p:sp>
        <p:nvSpPr>
          <p:cNvPr id="244348176" name="Text 2"/>
          <p:cNvSpPr/>
          <p:nvPr/>
        </p:nvSpPr>
        <p:spPr bwMode="auto">
          <a:xfrm>
            <a:off x="546100" y="584200"/>
            <a:ext cx="1143279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30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Quando il traffico cresce, dove si perde?</a:t>
            </a:r>
            <a:endParaRPr lang="en-US" sz="3000"/>
          </a:p>
        </p:txBody>
      </p:sp>
      <p:sp>
        <p:nvSpPr>
          <p:cNvPr id="1064731516" name="Shape 3"/>
          <p:cNvSpPr/>
          <p:nvPr/>
        </p:nvSpPr>
        <p:spPr bwMode="auto">
          <a:xfrm>
            <a:off x="546100" y="1562100"/>
            <a:ext cx="2470150" cy="1622954"/>
          </a:xfrm>
          <a:prstGeom prst="roundRect">
            <a:avLst>
              <a:gd name="adj" fmla="val 7825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447032689" name="Shape 4"/>
          <p:cNvSpPr/>
          <p:nvPr/>
        </p:nvSpPr>
        <p:spPr bwMode="auto">
          <a:xfrm>
            <a:off x="698500" y="1714500"/>
            <a:ext cx="431799" cy="431799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22869494" name="Text 5"/>
          <p:cNvSpPr/>
          <p:nvPr/>
        </p:nvSpPr>
        <p:spPr bwMode="auto">
          <a:xfrm>
            <a:off x="859631" y="1779257"/>
            <a:ext cx="160271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1</a:t>
            </a:r>
            <a:endParaRPr lang="en-US" sz="1700"/>
          </a:p>
        </p:txBody>
      </p:sp>
      <p:sp>
        <p:nvSpPr>
          <p:cNvPr id="1288116488" name="Text 6"/>
          <p:cNvSpPr/>
          <p:nvPr/>
        </p:nvSpPr>
        <p:spPr bwMode="auto">
          <a:xfrm>
            <a:off x="698500" y="2209800"/>
            <a:ext cx="2230311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  <a:defRPr/>
            </a:pPr>
            <a:r>
              <a:rPr lang="en-US" sz="16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Il traffico cresce</a:t>
            </a:r>
            <a:endParaRPr lang="en-US" sz="1600"/>
          </a:p>
        </p:txBody>
      </p:sp>
      <p:sp>
        <p:nvSpPr>
          <p:cNvPr id="403045074" name="Text 7"/>
          <p:cNvSpPr/>
          <p:nvPr/>
        </p:nvSpPr>
        <p:spPr bwMode="auto">
          <a:xfrm>
            <a:off x="698500" y="2557728"/>
            <a:ext cx="2230311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Il generatore spedisce sempre più pacchetti al secondo.</a:t>
            </a:r>
            <a:endParaRPr lang="en-US" sz="1400"/>
          </a:p>
        </p:txBody>
      </p:sp>
      <p:pic>
        <p:nvPicPr>
          <p:cNvPr id="1078143993" name="Image 0" descr="arrow-right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092450" y="2284678"/>
            <a:ext cx="254000" cy="177800"/>
          </a:xfrm>
          <a:prstGeom prst="rect">
            <a:avLst/>
          </a:prstGeom>
        </p:spPr>
      </p:pic>
      <p:sp>
        <p:nvSpPr>
          <p:cNvPr id="643995646" name="Shape 8"/>
          <p:cNvSpPr/>
          <p:nvPr/>
        </p:nvSpPr>
        <p:spPr bwMode="auto">
          <a:xfrm>
            <a:off x="3422650" y="1562100"/>
            <a:ext cx="2470150" cy="1622954"/>
          </a:xfrm>
          <a:prstGeom prst="roundRect">
            <a:avLst>
              <a:gd name="adj" fmla="val 7825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403664423" name="Shape 9"/>
          <p:cNvSpPr/>
          <p:nvPr/>
        </p:nvSpPr>
        <p:spPr bwMode="auto">
          <a:xfrm>
            <a:off x="3575050" y="1714500"/>
            <a:ext cx="431799" cy="431799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596069498" name="Text 10"/>
          <p:cNvSpPr/>
          <p:nvPr/>
        </p:nvSpPr>
        <p:spPr bwMode="auto">
          <a:xfrm>
            <a:off x="3736181" y="1779257"/>
            <a:ext cx="160271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2</a:t>
            </a:r>
            <a:endParaRPr lang="en-US" sz="1700"/>
          </a:p>
        </p:txBody>
      </p:sp>
      <p:sp>
        <p:nvSpPr>
          <p:cNvPr id="1622139802" name="Text 11"/>
          <p:cNvSpPr/>
          <p:nvPr/>
        </p:nvSpPr>
        <p:spPr bwMode="auto">
          <a:xfrm>
            <a:off x="3575050" y="2209800"/>
            <a:ext cx="2230311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  <a:defRPr/>
            </a:pPr>
            <a:r>
              <a:rPr lang="en-US" sz="16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La coda si riempie</a:t>
            </a:r>
            <a:endParaRPr lang="en-US" sz="1600"/>
          </a:p>
        </p:txBody>
      </p:sp>
      <p:sp>
        <p:nvSpPr>
          <p:cNvPr id="279675310" name="Text 12"/>
          <p:cNvSpPr/>
          <p:nvPr/>
        </p:nvSpPr>
        <p:spPr bwMode="auto">
          <a:xfrm>
            <a:off x="3575050" y="2557728"/>
            <a:ext cx="2230311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Davanti al nodo c'è una coda da 256 posti.</a:t>
            </a:r>
            <a:endParaRPr lang="en-US" sz="1400"/>
          </a:p>
        </p:txBody>
      </p:sp>
      <p:pic>
        <p:nvPicPr>
          <p:cNvPr id="279575702" name="Image 1" descr="arrow-right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969000" y="2284678"/>
            <a:ext cx="254000" cy="177800"/>
          </a:xfrm>
          <a:prstGeom prst="rect">
            <a:avLst/>
          </a:prstGeom>
        </p:spPr>
      </p:pic>
      <p:sp>
        <p:nvSpPr>
          <p:cNvPr id="1526394088" name="Shape 13"/>
          <p:cNvSpPr/>
          <p:nvPr/>
        </p:nvSpPr>
        <p:spPr bwMode="auto">
          <a:xfrm>
            <a:off x="6299200" y="1562100"/>
            <a:ext cx="2470150" cy="1622954"/>
          </a:xfrm>
          <a:prstGeom prst="roundRect">
            <a:avLst>
              <a:gd name="adj" fmla="val 7825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938120273" name="Shape 14"/>
          <p:cNvSpPr/>
          <p:nvPr/>
        </p:nvSpPr>
        <p:spPr bwMode="auto">
          <a:xfrm>
            <a:off x="6451600" y="1714500"/>
            <a:ext cx="431799" cy="431799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27608097" name="Text 15"/>
          <p:cNvSpPr/>
          <p:nvPr/>
        </p:nvSpPr>
        <p:spPr bwMode="auto">
          <a:xfrm>
            <a:off x="6612731" y="1779257"/>
            <a:ext cx="160271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3</a:t>
            </a:r>
            <a:endParaRPr lang="en-US" sz="1700"/>
          </a:p>
        </p:txBody>
      </p:sp>
      <p:sp>
        <p:nvSpPr>
          <p:cNvPr id="1072881443" name="Text 16"/>
          <p:cNvSpPr/>
          <p:nvPr/>
        </p:nvSpPr>
        <p:spPr bwMode="auto">
          <a:xfrm>
            <a:off x="6451600" y="2209800"/>
            <a:ext cx="2230311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  <a:defRPr/>
            </a:pPr>
            <a:r>
              <a:rPr lang="en-US" sz="16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Il ritardo cresce</a:t>
            </a:r>
            <a:endParaRPr lang="en-US" sz="1600"/>
          </a:p>
        </p:txBody>
      </p:sp>
      <p:sp>
        <p:nvSpPr>
          <p:cNvPr id="853502057" name="Text 17"/>
          <p:cNvSpPr/>
          <p:nvPr/>
        </p:nvSpPr>
        <p:spPr bwMode="auto">
          <a:xfrm>
            <a:off x="6451600" y="2557728"/>
            <a:ext cx="2230311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Ogni pacchetto aspetta di più prima di essere elaborato.</a:t>
            </a:r>
            <a:endParaRPr lang="en-US" sz="1400"/>
          </a:p>
        </p:txBody>
      </p:sp>
      <p:pic>
        <p:nvPicPr>
          <p:cNvPr id="1164944349" name="Image 2" descr="arrow-right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845550" y="2284678"/>
            <a:ext cx="254000" cy="177800"/>
          </a:xfrm>
          <a:prstGeom prst="rect">
            <a:avLst/>
          </a:prstGeom>
        </p:spPr>
      </p:pic>
      <p:sp>
        <p:nvSpPr>
          <p:cNvPr id="693503564" name="Shape 18"/>
          <p:cNvSpPr/>
          <p:nvPr/>
        </p:nvSpPr>
        <p:spPr bwMode="auto">
          <a:xfrm>
            <a:off x="9175750" y="1562100"/>
            <a:ext cx="2470150" cy="1622954"/>
          </a:xfrm>
          <a:prstGeom prst="roundRect">
            <a:avLst>
              <a:gd name="adj" fmla="val 7825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34144812" name="Shape 19"/>
          <p:cNvSpPr/>
          <p:nvPr/>
        </p:nvSpPr>
        <p:spPr bwMode="auto">
          <a:xfrm>
            <a:off x="9328150" y="1714500"/>
            <a:ext cx="431799" cy="431799"/>
          </a:xfrm>
          <a:prstGeom prst="roundRect">
            <a:avLst>
              <a:gd name="adj" fmla="val 50000"/>
            </a:avLst>
          </a:prstGeom>
          <a:solidFill>
            <a:srgbClr val="E07A2D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145018423" name="Text 20"/>
          <p:cNvSpPr/>
          <p:nvPr/>
        </p:nvSpPr>
        <p:spPr bwMode="auto">
          <a:xfrm>
            <a:off x="9489281" y="1779257"/>
            <a:ext cx="160271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4</a:t>
            </a:r>
            <a:endParaRPr lang="en-US" sz="1700"/>
          </a:p>
        </p:txBody>
      </p:sp>
      <p:sp>
        <p:nvSpPr>
          <p:cNvPr id="1413094422" name="Text 21"/>
          <p:cNvSpPr/>
          <p:nvPr/>
        </p:nvSpPr>
        <p:spPr bwMode="auto">
          <a:xfrm>
            <a:off x="9328150" y="2209800"/>
            <a:ext cx="2230311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  <a:defRPr/>
            </a:pPr>
            <a:r>
              <a:rPr lang="en-US" sz="16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Si perde</a:t>
            </a:r>
            <a:endParaRPr lang="en-US" sz="1600"/>
          </a:p>
        </p:txBody>
      </p:sp>
      <p:sp>
        <p:nvSpPr>
          <p:cNvPr id="1022831212" name="Text 22"/>
          <p:cNvSpPr/>
          <p:nvPr/>
        </p:nvSpPr>
        <p:spPr bwMode="auto">
          <a:xfrm>
            <a:off x="9328150" y="2557728"/>
            <a:ext cx="2230311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La coda è piena: chi arriva viene respinto.</a:t>
            </a:r>
            <a:endParaRPr lang="en-US" sz="1400"/>
          </a:p>
        </p:txBody>
      </p:sp>
      <p:sp>
        <p:nvSpPr>
          <p:cNvPr id="1279257858" name="Text 23"/>
          <p:cNvSpPr/>
          <p:nvPr/>
        </p:nvSpPr>
        <p:spPr bwMode="auto">
          <a:xfrm>
            <a:off x="546100" y="3512807"/>
            <a:ext cx="11432794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  <a:defRPr/>
            </a:pPr>
            <a:r>
              <a:rPr lang="en-US" sz="16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Dove si perde dice qual è il </a:t>
            </a:r>
            <a:r>
              <a:rPr lang="en-US" sz="16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collo di bottiglia</a:t>
            </a:r>
            <a:r>
              <a:rPr lang="en-US" sz="16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.</a:t>
            </a:r>
            <a:endParaRPr lang="en-US" sz="1600"/>
          </a:p>
        </p:txBody>
      </p:sp>
      <p:sp>
        <p:nvSpPr>
          <p:cNvPr id="1264895518" name="Shape 24"/>
          <p:cNvSpPr/>
          <p:nvPr/>
        </p:nvSpPr>
        <p:spPr bwMode="auto">
          <a:xfrm>
            <a:off x="546100" y="4104614"/>
            <a:ext cx="5461000" cy="1234414"/>
          </a:xfrm>
          <a:prstGeom prst="roundRect">
            <a:avLst>
              <a:gd name="adj" fmla="val 10288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632031265" name="Shape 25"/>
          <p:cNvSpPr/>
          <p:nvPr/>
        </p:nvSpPr>
        <p:spPr bwMode="auto">
          <a:xfrm>
            <a:off x="546100" y="4104614"/>
            <a:ext cx="5461000" cy="88900"/>
          </a:xfrm>
          <a:custGeom>
            <a:avLst/>
            <a:gdLst/>
            <a:ahLst/>
            <a:cxnLst/>
            <a:rect l="l" t="t" r="r" b="b"/>
            <a:pathLst>
              <a:path w="5461000" h="88900" fill="norm" stroke="1" extrusionOk="0">
                <a:moveTo>
                  <a:pt x="5850" y="88900"/>
                </a:moveTo>
                <a:arcTo wR="127000" hR="127000" stAng="11847456" swAng="4352544"/>
                <a:lnTo>
                  <a:pt x="5334000" y="0"/>
                </a:lnTo>
                <a:arcTo wR="127000" hR="127000" stAng="16200000" swAng="4352544"/>
                <a:close/>
              </a:path>
            </a:pathLst>
          </a:custGeom>
          <a:solidFill>
            <a:srgbClr val="E07A2D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901391884" name="Text 26"/>
          <p:cNvSpPr/>
          <p:nvPr/>
        </p:nvSpPr>
        <p:spPr bwMode="auto">
          <a:xfrm>
            <a:off x="749300" y="4320514"/>
            <a:ext cx="5206238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  <a:defRPr/>
            </a:pPr>
            <a:r>
              <a:rPr lang="en-US" sz="1800" b="1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Si perde prima del programma</a:t>
            </a:r>
            <a:endParaRPr lang="en-US" sz="1800"/>
          </a:p>
        </p:txBody>
      </p:sp>
      <p:sp>
        <p:nvSpPr>
          <p:cNvPr id="137078595" name="Text 27"/>
          <p:cNvSpPr/>
          <p:nvPr/>
        </p:nvSpPr>
        <p:spPr bwMode="auto">
          <a:xfrm>
            <a:off x="749300" y="4691327"/>
            <a:ext cx="5206238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  <a:defRPr/>
            </a:pP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Il pacchetto non è mai entrato: il collo di bottiglia è </a:t>
            </a: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il programma</a:t>
            </a: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.</a:t>
            </a:r>
            <a:endParaRPr lang="en-US" sz="1500"/>
          </a:p>
        </p:txBody>
      </p:sp>
      <p:sp>
        <p:nvSpPr>
          <p:cNvPr id="789127518" name="Shape 28"/>
          <p:cNvSpPr/>
          <p:nvPr/>
        </p:nvSpPr>
        <p:spPr bwMode="auto">
          <a:xfrm>
            <a:off x="6184900" y="4104614"/>
            <a:ext cx="5461000" cy="1234414"/>
          </a:xfrm>
          <a:prstGeom prst="roundRect">
            <a:avLst>
              <a:gd name="adj" fmla="val 10288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146217693" name="Shape 29"/>
          <p:cNvSpPr/>
          <p:nvPr/>
        </p:nvSpPr>
        <p:spPr bwMode="auto">
          <a:xfrm>
            <a:off x="6184900" y="4104614"/>
            <a:ext cx="5461000" cy="88900"/>
          </a:xfrm>
          <a:custGeom>
            <a:avLst/>
            <a:gdLst/>
            <a:ahLst/>
            <a:cxnLst/>
            <a:rect l="l" t="t" r="r" b="b"/>
            <a:pathLst>
              <a:path w="5461000" h="88900" fill="norm" stroke="1" extrusionOk="0">
                <a:moveTo>
                  <a:pt x="5850" y="88900"/>
                </a:moveTo>
                <a:arcTo wR="127000" hR="127000" stAng="11847456" swAng="4352544"/>
                <a:lnTo>
                  <a:pt x="5334000" y="0"/>
                </a:lnTo>
                <a:arcTo wR="127000" hR="127000" stAng="16200000" swAng="4352544"/>
                <a:close/>
              </a:path>
            </a:pathLst>
          </a:custGeom>
          <a:solidFill>
            <a:srgbClr val="2E9C6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811289201" name="Text 30"/>
          <p:cNvSpPr/>
          <p:nvPr/>
        </p:nvSpPr>
        <p:spPr bwMode="auto">
          <a:xfrm>
            <a:off x="6388100" y="4320514"/>
            <a:ext cx="5206238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  <a:defRPr/>
            </a:pPr>
            <a:r>
              <a:rPr lang="en-US" sz="1800" b="1">
                <a:solidFill>
                  <a:srgbClr val="2E9C6E"/>
                </a:solidFill>
                <a:latin typeface="Carlito"/>
                <a:ea typeface="Carlito"/>
                <a:cs typeface="Carlito"/>
              </a:rPr>
              <a:t>Si perde dopo il programma</a:t>
            </a:r>
            <a:endParaRPr lang="en-US" sz="1800"/>
          </a:p>
        </p:txBody>
      </p:sp>
      <p:sp>
        <p:nvSpPr>
          <p:cNvPr id="877762918" name="Text 31"/>
          <p:cNvSpPr/>
          <p:nvPr/>
        </p:nvSpPr>
        <p:spPr bwMode="auto">
          <a:xfrm>
            <a:off x="6388100" y="4691327"/>
            <a:ext cx="5206238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  <a:defRPr/>
            </a:pP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Il programma lo ha elaborato, ma non è arrivato: il collo di bottiglia è </a:t>
            </a: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la trasmissione</a:t>
            </a: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.</a:t>
            </a:r>
            <a:endParaRPr lang="en-US" sz="1500"/>
          </a:p>
        </p:txBody>
      </p:sp>
      <p:sp>
        <p:nvSpPr>
          <p:cNvPr id="1043735423" name="Shape 32"/>
          <p:cNvSpPr/>
          <p:nvPr/>
        </p:nvSpPr>
        <p:spPr bwMode="auto">
          <a:xfrm>
            <a:off x="546100" y="5666780"/>
            <a:ext cx="11099800" cy="594320"/>
          </a:xfrm>
          <a:prstGeom prst="roundRect">
            <a:avLst>
              <a:gd name="adj" fmla="val 21369"/>
            </a:avLst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997561397" name="Text 33"/>
          <p:cNvSpPr/>
          <p:nvPr/>
        </p:nvSpPr>
        <p:spPr bwMode="auto">
          <a:xfrm>
            <a:off x="800100" y="5831880"/>
            <a:ext cx="6942128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  <a:defRPr/>
            </a:pPr>
            <a:r>
              <a:rPr lang="en-US" sz="1600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Per rispondere si contano i pacchetti che il programma </a:t>
            </a:r>
            <a:r>
              <a:rPr lang="en-US" sz="16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riceve</a:t>
            </a:r>
            <a:r>
              <a:rPr lang="en-US" sz="1600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 e quelli che </a:t>
            </a:r>
            <a:r>
              <a:rPr lang="en-US" sz="16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rilancia</a:t>
            </a:r>
            <a:r>
              <a:rPr lang="en-US" sz="1600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.</a:t>
            </a:r>
            <a:endParaRPr lang="en-US" sz="1600"/>
          </a:p>
        </p:txBody>
      </p:sp>
      <p:sp>
        <p:nvSpPr>
          <p:cNvPr id="1656114147" name="Text 34"/>
          <p:cNvSpPr/>
          <p:nvPr/>
        </p:nvSpPr>
        <p:spPr bwMode="auto">
          <a:xfrm>
            <a:off x="546100" y="6426200"/>
            <a:ext cx="10072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i="1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La risposta arriva nella parte 5; le parti 1–4 spiegano come si misura</a:t>
            </a:r>
            <a:endParaRPr lang="en-US" sz="1200"/>
          </a:p>
        </p:txBody>
      </p:sp>
      <p:sp>
        <p:nvSpPr>
          <p:cNvPr id="2096900650" name="Text 35"/>
          <p:cNvSpPr/>
          <p:nvPr/>
        </p:nvSpPr>
        <p:spPr bwMode="auto">
          <a:xfrm>
            <a:off x="10960099" y="642620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2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022294" name="Shape 0"/>
          <p:cNvSpPr/>
          <p:nvPr/>
        </p:nvSpPr>
        <p:spPr bwMode="auto">
          <a:xfrm>
            <a:off x="0" y="0"/>
            <a:ext cx="12192000" cy="107949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95250510" name="Text 1"/>
          <p:cNvSpPr/>
          <p:nvPr/>
        </p:nvSpPr>
        <p:spPr bwMode="auto">
          <a:xfrm>
            <a:off x="546100" y="330200"/>
            <a:ext cx="114327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COME È FATTA LA PRESENTAZIONE</a:t>
            </a:r>
            <a:endParaRPr lang="en-US" sz="1200"/>
          </a:p>
        </p:txBody>
      </p:sp>
      <p:sp>
        <p:nvSpPr>
          <p:cNvPr id="725757267" name="Text 2"/>
          <p:cNvSpPr/>
          <p:nvPr/>
        </p:nvSpPr>
        <p:spPr bwMode="auto">
          <a:xfrm>
            <a:off x="546100" y="584200"/>
            <a:ext cx="1143279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30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Cinque parti, dal banco alla risposta</a:t>
            </a:r>
            <a:endParaRPr lang="en-US" sz="3000"/>
          </a:p>
        </p:txBody>
      </p:sp>
      <p:sp>
        <p:nvSpPr>
          <p:cNvPr id="1735670217" name="Text 3"/>
          <p:cNvSpPr/>
          <p:nvPr/>
        </p:nvSpPr>
        <p:spPr bwMode="auto">
          <a:xfrm>
            <a:off x="546100" y="1562100"/>
            <a:ext cx="11432794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  <a:defRPr/>
            </a:pPr>
            <a:r>
              <a:rPr lang="en-US" sz="16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Ogni parte risponde a una domanda: le prime quattro preparano la risposta alla quinta.</a:t>
            </a:r>
            <a:endParaRPr lang="en-US" sz="1600"/>
          </a:p>
        </p:txBody>
      </p:sp>
      <p:sp>
        <p:nvSpPr>
          <p:cNvPr id="1413608399" name="Shape 4"/>
          <p:cNvSpPr/>
          <p:nvPr/>
        </p:nvSpPr>
        <p:spPr bwMode="auto">
          <a:xfrm>
            <a:off x="546100" y="1978620"/>
            <a:ext cx="2118320" cy="3355380"/>
          </a:xfrm>
          <a:prstGeom prst="roundRect">
            <a:avLst>
              <a:gd name="adj" fmla="val 5995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78846510" name="Text 5"/>
          <p:cNvSpPr/>
          <p:nvPr/>
        </p:nvSpPr>
        <p:spPr bwMode="auto">
          <a:xfrm>
            <a:off x="711200" y="2131020"/>
            <a:ext cx="1841764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  <a:defRPr/>
            </a:pPr>
            <a:r>
              <a:rPr lang="en-US" sz="44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1</a:t>
            </a:r>
            <a:endParaRPr lang="en-US" sz="4400"/>
          </a:p>
        </p:txBody>
      </p:sp>
      <p:sp>
        <p:nvSpPr>
          <p:cNvPr id="269500829" name="Text 6"/>
          <p:cNvSpPr/>
          <p:nvPr/>
        </p:nvSpPr>
        <p:spPr bwMode="auto">
          <a:xfrm>
            <a:off x="711200" y="2740620"/>
            <a:ext cx="1841764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  <a:defRPr/>
            </a:pPr>
            <a:r>
              <a:rPr lang="en-US" sz="17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Il banco</a:t>
            </a:r>
            <a:endParaRPr lang="en-US" sz="1700"/>
          </a:p>
        </p:txBody>
      </p:sp>
      <p:sp>
        <p:nvSpPr>
          <p:cNvPr id="1314031076" name="Text 7"/>
          <p:cNvSpPr/>
          <p:nvPr/>
        </p:nvSpPr>
        <p:spPr bwMode="auto">
          <a:xfrm>
            <a:off x="711200" y="3093641"/>
            <a:ext cx="1841764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Che cosa si misura, con quali programmi e come.</a:t>
            </a:r>
            <a:endParaRPr lang="en-US" sz="1400"/>
          </a:p>
        </p:txBody>
      </p:sp>
      <p:sp>
        <p:nvSpPr>
          <p:cNvPr id="1954458159" name="Shape 8"/>
          <p:cNvSpPr/>
          <p:nvPr/>
        </p:nvSpPr>
        <p:spPr bwMode="auto">
          <a:xfrm>
            <a:off x="720724" y="4543425"/>
            <a:ext cx="1769070" cy="615950"/>
          </a:xfrm>
          <a:prstGeom prst="roundRect">
            <a:avLst>
              <a:gd name="adj" fmla="val 14948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096156104" name="Text 9"/>
          <p:cNvSpPr/>
          <p:nvPr/>
        </p:nvSpPr>
        <p:spPr bwMode="auto">
          <a:xfrm>
            <a:off x="842433" y="4748213"/>
            <a:ext cx="1491258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  <a:defRPr/>
            </a:pPr>
            <a:r>
              <a:rPr lang="en-US" sz="1300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Che cosa </a:t>
            </a:r>
            <a:r>
              <a:rPr lang="en-US" sz="13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misuriamo</a:t>
            </a:r>
            <a:r>
              <a:rPr lang="en-US" sz="1300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?</a:t>
            </a:r>
            <a:endParaRPr lang="en-US" sz="1300"/>
          </a:p>
        </p:txBody>
      </p:sp>
      <p:sp>
        <p:nvSpPr>
          <p:cNvPr id="269382682" name="Shape 10"/>
          <p:cNvSpPr/>
          <p:nvPr/>
        </p:nvSpPr>
        <p:spPr bwMode="auto">
          <a:xfrm>
            <a:off x="2791420" y="1978620"/>
            <a:ext cx="2118387" cy="3355380"/>
          </a:xfrm>
          <a:prstGeom prst="roundRect">
            <a:avLst>
              <a:gd name="adj" fmla="val 5995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828865567" name="Text 11"/>
          <p:cNvSpPr/>
          <p:nvPr/>
        </p:nvSpPr>
        <p:spPr bwMode="auto">
          <a:xfrm>
            <a:off x="2956520" y="2131020"/>
            <a:ext cx="184183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  <a:defRPr/>
            </a:pPr>
            <a:r>
              <a:rPr lang="en-US" sz="44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2</a:t>
            </a:r>
            <a:endParaRPr lang="en-US" sz="4400"/>
          </a:p>
        </p:txBody>
      </p:sp>
      <p:sp>
        <p:nvSpPr>
          <p:cNvPr id="708049761" name="Text 12"/>
          <p:cNvSpPr/>
          <p:nvPr/>
        </p:nvSpPr>
        <p:spPr bwMode="auto">
          <a:xfrm>
            <a:off x="2956520" y="2740620"/>
            <a:ext cx="184183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  <a:defRPr/>
            </a:pPr>
            <a:r>
              <a:rPr lang="en-US" sz="17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La macchina</a:t>
            </a:r>
            <a:endParaRPr lang="en-US" sz="1700"/>
          </a:p>
        </p:txBody>
      </p:sp>
      <p:sp>
        <p:nvSpPr>
          <p:cNvPr id="666393152" name="Text 13"/>
          <p:cNvSpPr/>
          <p:nvPr/>
        </p:nvSpPr>
        <p:spPr bwMode="auto">
          <a:xfrm>
            <a:off x="2956520" y="3093641"/>
            <a:ext cx="1841832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Dalla macchina virtuale al dual boot.</a:t>
            </a:r>
            <a:endParaRPr lang="en-US" sz="1400"/>
          </a:p>
        </p:txBody>
      </p:sp>
      <p:sp>
        <p:nvSpPr>
          <p:cNvPr id="1281328027" name="Shape 14"/>
          <p:cNvSpPr/>
          <p:nvPr/>
        </p:nvSpPr>
        <p:spPr bwMode="auto">
          <a:xfrm>
            <a:off x="2966045" y="4543425"/>
            <a:ext cx="1769137" cy="615950"/>
          </a:xfrm>
          <a:prstGeom prst="roundRect">
            <a:avLst>
              <a:gd name="adj" fmla="val 14948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050702703" name="Text 15"/>
          <p:cNvSpPr/>
          <p:nvPr/>
        </p:nvSpPr>
        <p:spPr bwMode="auto">
          <a:xfrm>
            <a:off x="3087754" y="4645025"/>
            <a:ext cx="1576520" cy="438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  <a:defRPr/>
            </a:pPr>
            <a:r>
              <a:rPr lang="en-US" sz="1300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Perché fidarsi dei </a:t>
            </a:r>
            <a:r>
              <a:rPr lang="en-US" sz="13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numeri</a:t>
            </a:r>
            <a:r>
              <a:rPr lang="en-US" sz="1300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?</a:t>
            </a:r>
            <a:endParaRPr lang="en-US" sz="1300"/>
          </a:p>
        </p:txBody>
      </p:sp>
      <p:sp>
        <p:nvSpPr>
          <p:cNvPr id="599468114" name="Shape 16"/>
          <p:cNvSpPr/>
          <p:nvPr/>
        </p:nvSpPr>
        <p:spPr bwMode="auto">
          <a:xfrm>
            <a:off x="5036807" y="1978620"/>
            <a:ext cx="2118320" cy="3355380"/>
          </a:xfrm>
          <a:prstGeom prst="roundRect">
            <a:avLst>
              <a:gd name="adj" fmla="val 5995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747210863" name="Text 17"/>
          <p:cNvSpPr/>
          <p:nvPr/>
        </p:nvSpPr>
        <p:spPr bwMode="auto">
          <a:xfrm>
            <a:off x="5201907" y="2131020"/>
            <a:ext cx="1841764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  <a:defRPr/>
            </a:pPr>
            <a:r>
              <a:rPr lang="en-US" sz="44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3</a:t>
            </a:r>
            <a:endParaRPr lang="en-US" sz="4400"/>
          </a:p>
        </p:txBody>
      </p:sp>
      <p:sp>
        <p:nvSpPr>
          <p:cNvPr id="2018731478" name="Text 18"/>
          <p:cNvSpPr/>
          <p:nvPr/>
        </p:nvSpPr>
        <p:spPr bwMode="auto">
          <a:xfrm>
            <a:off x="5201907" y="2740620"/>
            <a:ext cx="1841764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  <a:defRPr/>
            </a:pPr>
            <a:r>
              <a:rPr lang="en-US" sz="17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I generatori</a:t>
            </a:r>
            <a:endParaRPr lang="en-US" sz="1700"/>
          </a:p>
        </p:txBody>
      </p:sp>
      <p:sp>
        <p:nvSpPr>
          <p:cNvPr id="1143910684" name="Text 19"/>
          <p:cNvSpPr/>
          <p:nvPr/>
        </p:nvSpPr>
        <p:spPr bwMode="auto">
          <a:xfrm>
            <a:off x="5201907" y="3093641"/>
            <a:ext cx="1841764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pktgen e xdp_gen: due modi di produrre traffico.</a:t>
            </a:r>
            <a:endParaRPr lang="en-US" sz="1400"/>
          </a:p>
        </p:txBody>
      </p:sp>
      <p:sp>
        <p:nvSpPr>
          <p:cNvPr id="1583488916" name="Shape 20"/>
          <p:cNvSpPr/>
          <p:nvPr/>
        </p:nvSpPr>
        <p:spPr bwMode="auto">
          <a:xfrm>
            <a:off x="5211432" y="4543425"/>
            <a:ext cx="1769070" cy="615950"/>
          </a:xfrm>
          <a:prstGeom prst="roundRect">
            <a:avLst>
              <a:gd name="adj" fmla="val 14948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667995820" name="Text 21"/>
          <p:cNvSpPr/>
          <p:nvPr/>
        </p:nvSpPr>
        <p:spPr bwMode="auto">
          <a:xfrm>
            <a:off x="5333140" y="4645025"/>
            <a:ext cx="1576454" cy="438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  <a:defRPr/>
            </a:pPr>
            <a:r>
              <a:rPr lang="en-US" sz="1300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Con che </a:t>
            </a:r>
            <a:r>
              <a:rPr lang="en-US" sz="13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traffico</a:t>
            </a:r>
            <a:r>
              <a:rPr lang="en-US" sz="1300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 si misura?</a:t>
            </a:r>
            <a:endParaRPr lang="en-US" sz="1300"/>
          </a:p>
        </p:txBody>
      </p:sp>
      <p:sp>
        <p:nvSpPr>
          <p:cNvPr id="1847828594" name="Shape 22"/>
          <p:cNvSpPr/>
          <p:nvPr/>
        </p:nvSpPr>
        <p:spPr bwMode="auto">
          <a:xfrm>
            <a:off x="7282128" y="1978620"/>
            <a:ext cx="2118387" cy="3355380"/>
          </a:xfrm>
          <a:prstGeom prst="roundRect">
            <a:avLst>
              <a:gd name="adj" fmla="val 5995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13106278" name="Text 23"/>
          <p:cNvSpPr/>
          <p:nvPr/>
        </p:nvSpPr>
        <p:spPr bwMode="auto">
          <a:xfrm>
            <a:off x="7447227" y="2131020"/>
            <a:ext cx="184183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  <a:defRPr/>
            </a:pPr>
            <a:r>
              <a:rPr lang="en-US" sz="44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4</a:t>
            </a:r>
            <a:endParaRPr lang="en-US" sz="4400"/>
          </a:p>
        </p:txBody>
      </p:sp>
      <p:sp>
        <p:nvSpPr>
          <p:cNvPr id="748896676" name="Text 24"/>
          <p:cNvSpPr/>
          <p:nvPr/>
        </p:nvSpPr>
        <p:spPr bwMode="auto">
          <a:xfrm>
            <a:off x="7447227" y="2740620"/>
            <a:ext cx="184183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  <a:defRPr/>
            </a:pPr>
            <a:r>
              <a:rPr lang="en-US" sz="17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I risultati</a:t>
            </a:r>
            <a:endParaRPr lang="en-US" sz="1700"/>
          </a:p>
        </p:txBody>
      </p:sp>
      <p:sp>
        <p:nvSpPr>
          <p:cNvPr id="211167969" name="Text 25"/>
          <p:cNvSpPr/>
          <p:nvPr/>
        </p:nvSpPr>
        <p:spPr bwMode="auto">
          <a:xfrm>
            <a:off x="7447227" y="3093641"/>
            <a:ext cx="1841832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Quanto regge il nodo, con l'uno e con l'altro.</a:t>
            </a:r>
            <a:endParaRPr lang="en-US" sz="1400"/>
          </a:p>
        </p:txBody>
      </p:sp>
      <p:sp>
        <p:nvSpPr>
          <p:cNvPr id="1962788930" name="Shape 26"/>
          <p:cNvSpPr/>
          <p:nvPr/>
        </p:nvSpPr>
        <p:spPr bwMode="auto">
          <a:xfrm>
            <a:off x="7456753" y="4543425"/>
            <a:ext cx="1769137" cy="615950"/>
          </a:xfrm>
          <a:prstGeom prst="roundRect">
            <a:avLst>
              <a:gd name="adj" fmla="val 14948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95376053" name="Text 27"/>
          <p:cNvSpPr/>
          <p:nvPr/>
        </p:nvSpPr>
        <p:spPr bwMode="auto">
          <a:xfrm>
            <a:off x="7578461" y="4645025"/>
            <a:ext cx="1576520" cy="438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  <a:defRPr/>
            </a:pPr>
            <a:r>
              <a:rPr lang="en-US" sz="1300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Quanti </a:t>
            </a:r>
            <a:r>
              <a:rPr lang="en-US" sz="13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pacchetti</a:t>
            </a:r>
            <a:r>
              <a:rPr lang="en-US" sz="1300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 al secondo?</a:t>
            </a:r>
            <a:endParaRPr lang="en-US" sz="1300"/>
          </a:p>
        </p:txBody>
      </p:sp>
      <p:sp>
        <p:nvSpPr>
          <p:cNvPr id="516297805" name="Shape 28"/>
          <p:cNvSpPr/>
          <p:nvPr/>
        </p:nvSpPr>
        <p:spPr bwMode="auto">
          <a:xfrm>
            <a:off x="9527514" y="1978620"/>
            <a:ext cx="2118387" cy="3355380"/>
          </a:xfrm>
          <a:prstGeom prst="roundRect">
            <a:avLst>
              <a:gd name="adj" fmla="val 5995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91913171" name="Text 29"/>
          <p:cNvSpPr/>
          <p:nvPr/>
        </p:nvSpPr>
        <p:spPr bwMode="auto">
          <a:xfrm>
            <a:off x="9692614" y="2131020"/>
            <a:ext cx="184183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  <a:defRPr/>
            </a:pPr>
            <a:r>
              <a:rPr lang="en-US" sz="4400" b="1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5</a:t>
            </a:r>
            <a:endParaRPr lang="en-US" sz="4400"/>
          </a:p>
        </p:txBody>
      </p:sp>
      <p:sp>
        <p:nvSpPr>
          <p:cNvPr id="931238491" name="Text 30"/>
          <p:cNvSpPr/>
          <p:nvPr/>
        </p:nvSpPr>
        <p:spPr bwMode="auto">
          <a:xfrm>
            <a:off x="9692614" y="2740620"/>
            <a:ext cx="184183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  <a:defRPr/>
            </a:pPr>
            <a:r>
              <a:rPr lang="en-US" sz="17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La domanda</a:t>
            </a:r>
            <a:endParaRPr lang="en-US" sz="1700"/>
          </a:p>
        </p:txBody>
      </p:sp>
      <p:sp>
        <p:nvSpPr>
          <p:cNvPr id="1489375659" name="Text 31"/>
          <p:cNvSpPr/>
          <p:nvPr/>
        </p:nvSpPr>
        <p:spPr bwMode="auto">
          <a:xfrm>
            <a:off x="9692614" y="3093641"/>
            <a:ext cx="1841832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Che cosa succede quando il traffico cresce.</a:t>
            </a:r>
            <a:endParaRPr lang="en-US" sz="1400"/>
          </a:p>
        </p:txBody>
      </p:sp>
      <p:sp>
        <p:nvSpPr>
          <p:cNvPr id="928909722" name="Shape 32"/>
          <p:cNvSpPr/>
          <p:nvPr/>
        </p:nvSpPr>
        <p:spPr bwMode="auto">
          <a:xfrm>
            <a:off x="9702139" y="4543425"/>
            <a:ext cx="1769137" cy="615950"/>
          </a:xfrm>
          <a:prstGeom prst="roundRect">
            <a:avLst>
              <a:gd name="adj" fmla="val 14948"/>
            </a:avLst>
          </a:prstGeom>
          <a:solidFill>
            <a:srgbClr val="FFFFFF"/>
          </a:solidFill>
          <a:ln w="19050">
            <a:solidFill>
              <a:srgbClr val="E07A2D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74626819" name="Text 33"/>
          <p:cNvSpPr/>
          <p:nvPr/>
        </p:nvSpPr>
        <p:spPr bwMode="auto">
          <a:xfrm>
            <a:off x="9823847" y="4748213"/>
            <a:ext cx="1049602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  <a:defRPr/>
            </a:pPr>
            <a:r>
              <a:rPr lang="en-US" sz="1300" b="1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Dove</a:t>
            </a:r>
            <a:r>
              <a:rPr lang="en-US" sz="1300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 si perde?</a:t>
            </a:r>
            <a:endParaRPr lang="en-US" sz="1300"/>
          </a:p>
        </p:txBody>
      </p:sp>
      <p:sp>
        <p:nvSpPr>
          <p:cNvPr id="454797470" name="Shape 34"/>
          <p:cNvSpPr/>
          <p:nvPr/>
        </p:nvSpPr>
        <p:spPr bwMode="auto">
          <a:xfrm>
            <a:off x="546100" y="5486400"/>
            <a:ext cx="11099800" cy="774700"/>
          </a:xfrm>
          <a:prstGeom prst="roundRect">
            <a:avLst>
              <a:gd name="adj" fmla="val 13115"/>
            </a:avLst>
          </a:prstGeom>
          <a:solidFill>
            <a:srgbClr val="FFF4D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103527219" name="Shape 35"/>
          <p:cNvSpPr/>
          <p:nvPr/>
        </p:nvSpPr>
        <p:spPr bwMode="auto">
          <a:xfrm>
            <a:off x="546100" y="5486400"/>
            <a:ext cx="82550" cy="774700"/>
          </a:xfrm>
          <a:custGeom>
            <a:avLst/>
            <a:gdLst/>
            <a:ahLst/>
            <a:cxnLst/>
            <a:rect l="l" t="t" r="r" b="b"/>
            <a:pathLst>
              <a:path w="82550" h="774700" fill="norm" stroke="1" extrusionOk="0">
                <a:moveTo>
                  <a:pt x="0" y="101600"/>
                </a:moveTo>
                <a:arcTo wR="101600" hR="101600" stAng="10800000" swAng="4751585"/>
                <a:lnTo>
                  <a:pt x="82550" y="772898"/>
                </a:lnTo>
                <a:arcTo wR="101600" hR="101600" stAng="6048415" swAng="4751585"/>
                <a:close/>
              </a:path>
            </a:pathLst>
          </a:custGeom>
          <a:solidFill>
            <a:srgbClr val="F2B134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770232371" name="Text 36"/>
          <p:cNvSpPr/>
          <p:nvPr/>
        </p:nvSpPr>
        <p:spPr bwMode="auto">
          <a:xfrm>
            <a:off x="819150" y="5767057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B57A00"/>
                </a:solidFill>
                <a:latin typeface="Carlito"/>
                <a:ea typeface="Carlito"/>
                <a:cs typeface="Carlito"/>
              </a:rPr>
              <a:t>IN BREVE</a:t>
            </a:r>
            <a:endParaRPr lang="en-US" sz="1200"/>
          </a:p>
        </p:txBody>
      </p:sp>
      <p:sp>
        <p:nvSpPr>
          <p:cNvPr id="240257583" name="Text 37"/>
          <p:cNvSpPr/>
          <p:nvPr/>
        </p:nvSpPr>
        <p:spPr bwMode="auto">
          <a:xfrm>
            <a:off x="1949450" y="5626100"/>
            <a:ext cx="975188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  <a:defRPr/>
            </a:pP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La risposta, in anticipo: si perde </a:t>
            </a: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prima</a:t>
            </a: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 del programma, quindi il collo di bottiglia è </a:t>
            </a: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il programma</a:t>
            </a: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. E le misure ora si ripetono.</a:t>
            </a:r>
            <a:endParaRPr lang="en-US" sz="1500"/>
          </a:p>
        </p:txBody>
      </p:sp>
      <p:sp>
        <p:nvSpPr>
          <p:cNvPr id="1888702531" name="Text 38"/>
          <p:cNvSpPr/>
          <p:nvPr/>
        </p:nvSpPr>
        <p:spPr bwMode="auto">
          <a:xfrm>
            <a:off x="546100" y="6426200"/>
            <a:ext cx="10072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i="1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Le parti 2–5 raccontano ciò che è cambiato dal test in macchina virtuale</a:t>
            </a:r>
            <a:endParaRPr lang="en-US" sz="1200"/>
          </a:p>
        </p:txBody>
      </p:sp>
      <p:sp>
        <p:nvSpPr>
          <p:cNvPr id="1368976705" name="Text 39"/>
          <p:cNvSpPr/>
          <p:nvPr/>
        </p:nvSpPr>
        <p:spPr bwMode="auto">
          <a:xfrm>
            <a:off x="10960099" y="642620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3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7775681" name="Shape 0"/>
          <p:cNvSpPr/>
          <p:nvPr/>
        </p:nvSpPr>
        <p:spPr bwMode="auto">
          <a:xfrm>
            <a:off x="0" y="0"/>
            <a:ext cx="12192000" cy="107949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013687752" name="Text 1"/>
          <p:cNvSpPr/>
          <p:nvPr/>
        </p:nvSpPr>
        <p:spPr bwMode="auto">
          <a:xfrm>
            <a:off x="546100" y="330200"/>
            <a:ext cx="114327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1 · IL BANCO · I PROGRAMMI</a:t>
            </a:r>
            <a:endParaRPr lang="en-US" sz="1200"/>
          </a:p>
        </p:txBody>
      </p:sp>
      <p:sp>
        <p:nvSpPr>
          <p:cNvPr id="44163990" name="Text 2"/>
          <p:cNvSpPr/>
          <p:nvPr/>
        </p:nvSpPr>
        <p:spPr bwMode="auto">
          <a:xfrm>
            <a:off x="546100" y="584200"/>
            <a:ext cx="1143279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30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Sei programmi, che cambiano per una cosa sola</a:t>
            </a:r>
            <a:endParaRPr lang="en-US" sz="3000"/>
          </a:p>
        </p:txBody>
      </p:sp>
      <p:sp>
        <p:nvSpPr>
          <p:cNvPr id="708535377" name="Text 3"/>
          <p:cNvSpPr/>
          <p:nvPr/>
        </p:nvSpPr>
        <p:spPr bwMode="auto">
          <a:xfrm>
            <a:off x="546100" y="1562100"/>
            <a:ext cx="11432794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  <a:defRPr/>
            </a:pPr>
            <a:r>
              <a:rPr lang="en-US" sz="16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Calcolano la stessa rete e prendono la stessa decisione. Cambia quanto sanno già </a:t>
            </a:r>
            <a:r>
              <a:rPr lang="en-US" sz="16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quando vengono compilati</a:t>
            </a:r>
            <a:r>
              <a:rPr lang="en-US" sz="16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.</a:t>
            </a:r>
            <a:endParaRPr lang="en-US" sz="1600"/>
          </a:p>
        </p:txBody>
      </p:sp>
      <p:sp>
        <p:nvSpPr>
          <p:cNvPr id="1710765556" name="Shape 4"/>
          <p:cNvSpPr/>
          <p:nvPr/>
        </p:nvSpPr>
        <p:spPr bwMode="auto">
          <a:xfrm>
            <a:off x="546100" y="2123613"/>
            <a:ext cx="3598333" cy="1414661"/>
          </a:xfrm>
          <a:prstGeom prst="roundRect">
            <a:avLst>
              <a:gd name="adj" fmla="val 8977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886677312" name="Shape 5"/>
          <p:cNvSpPr/>
          <p:nvPr/>
        </p:nvSpPr>
        <p:spPr bwMode="auto">
          <a:xfrm>
            <a:off x="711200" y="2331839"/>
            <a:ext cx="190500" cy="190500"/>
          </a:xfrm>
          <a:prstGeom prst="roundRect">
            <a:avLst>
              <a:gd name="adj" fmla="val 26667"/>
            </a:avLst>
          </a:prstGeom>
          <a:solidFill>
            <a:srgbClr val="6B7C93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7819498" name="Text 6"/>
          <p:cNvSpPr/>
          <p:nvPr/>
        </p:nvSpPr>
        <p:spPr bwMode="auto">
          <a:xfrm>
            <a:off x="990600" y="2276013"/>
            <a:ext cx="60900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  <a:defRPr/>
            </a:pPr>
            <a:r>
              <a:rPr lang="en-US" sz="17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rxonly</a:t>
            </a:r>
            <a:endParaRPr lang="en-US" sz="1700"/>
          </a:p>
        </p:txBody>
      </p:sp>
      <p:sp>
        <p:nvSpPr>
          <p:cNvPr id="1551493660" name="Text 7"/>
          <p:cNvSpPr/>
          <p:nvPr/>
        </p:nvSpPr>
        <p:spPr bwMode="auto">
          <a:xfrm>
            <a:off x="711200" y="2629033"/>
            <a:ext cx="3366177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solo ricezione</a:t>
            </a:r>
            <a:endParaRPr lang="en-US" sz="1300"/>
          </a:p>
        </p:txBody>
      </p:sp>
      <p:sp>
        <p:nvSpPr>
          <p:cNvPr id="166064766" name="Text 8"/>
          <p:cNvSpPr/>
          <p:nvPr/>
        </p:nvSpPr>
        <p:spPr bwMode="auto">
          <a:xfrm>
            <a:off x="711200" y="2910946"/>
            <a:ext cx="3366177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Prende il pacchetto e lo butta. È il pavimento: sotto non si scende.</a:t>
            </a:r>
            <a:endParaRPr lang="en-US" sz="1400"/>
          </a:p>
        </p:txBody>
      </p:sp>
      <p:sp>
        <p:nvSpPr>
          <p:cNvPr id="1529447162" name="Shape 9"/>
          <p:cNvSpPr/>
          <p:nvPr/>
        </p:nvSpPr>
        <p:spPr bwMode="auto">
          <a:xfrm>
            <a:off x="4296833" y="2123613"/>
            <a:ext cx="3598333" cy="1414661"/>
          </a:xfrm>
          <a:prstGeom prst="roundRect">
            <a:avLst>
              <a:gd name="adj" fmla="val 8977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08188820" name="Shape 10"/>
          <p:cNvSpPr/>
          <p:nvPr/>
        </p:nvSpPr>
        <p:spPr bwMode="auto">
          <a:xfrm>
            <a:off x="4461933" y="2331839"/>
            <a:ext cx="190500" cy="190500"/>
          </a:xfrm>
          <a:prstGeom prst="roundRect">
            <a:avLst>
              <a:gd name="adj" fmla="val 26667"/>
            </a:avLst>
          </a:prstGeom>
          <a:solidFill>
            <a:srgbClr val="8794A6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971184220" name="Text 11"/>
          <p:cNvSpPr/>
          <p:nvPr/>
        </p:nvSpPr>
        <p:spPr bwMode="auto">
          <a:xfrm>
            <a:off x="4741333" y="2276013"/>
            <a:ext cx="798711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  <a:defRPr/>
            </a:pPr>
            <a:r>
              <a:rPr lang="en-US" sz="17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baseline</a:t>
            </a:r>
            <a:endParaRPr lang="en-US" sz="1700"/>
          </a:p>
        </p:txBody>
      </p:sp>
      <p:sp>
        <p:nvSpPr>
          <p:cNvPr id="864461147" name="Text 12"/>
          <p:cNvSpPr/>
          <p:nvPr/>
        </p:nvSpPr>
        <p:spPr bwMode="auto">
          <a:xfrm>
            <a:off x="4461933" y="2629033"/>
            <a:ext cx="3366177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nessuna rete</a:t>
            </a:r>
            <a:endParaRPr lang="en-US" sz="1300"/>
          </a:p>
        </p:txBody>
      </p:sp>
      <p:sp>
        <p:nvSpPr>
          <p:cNvPr id="1162945605" name="Text 13"/>
          <p:cNvSpPr/>
          <p:nvPr/>
        </p:nvSpPr>
        <p:spPr bwMode="auto">
          <a:xfrm>
            <a:off x="4461933" y="2910946"/>
            <a:ext cx="3366177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Legge l'intestazione, decrementa il TTL e inoltra su una classe fissa.</a:t>
            </a:r>
            <a:endParaRPr lang="en-US" sz="1400"/>
          </a:p>
        </p:txBody>
      </p:sp>
      <p:sp>
        <p:nvSpPr>
          <p:cNvPr id="1738687286" name="Shape 14"/>
          <p:cNvSpPr/>
          <p:nvPr/>
        </p:nvSpPr>
        <p:spPr bwMode="auto">
          <a:xfrm>
            <a:off x="8047567" y="2123613"/>
            <a:ext cx="3598333" cy="1414661"/>
          </a:xfrm>
          <a:prstGeom prst="roundRect">
            <a:avLst>
              <a:gd name="adj" fmla="val 8977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73971024" name="Shape 15"/>
          <p:cNvSpPr/>
          <p:nvPr/>
        </p:nvSpPr>
        <p:spPr bwMode="auto">
          <a:xfrm>
            <a:off x="8212667" y="2331839"/>
            <a:ext cx="190500" cy="190500"/>
          </a:xfrm>
          <a:prstGeom prst="roundRect">
            <a:avLst>
              <a:gd name="adj" fmla="val 26667"/>
            </a:avLst>
          </a:prstGeom>
          <a:solidFill>
            <a:srgbClr val="C8551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08952294" name="Text 16"/>
          <p:cNvSpPr/>
          <p:nvPr/>
        </p:nvSpPr>
        <p:spPr bwMode="auto">
          <a:xfrm>
            <a:off x="8492067" y="2276013"/>
            <a:ext cx="907058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  <a:defRPr/>
            </a:pPr>
            <a:r>
              <a:rPr lang="en-US" sz="17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P1 statica</a:t>
            </a:r>
            <a:endParaRPr lang="en-US" sz="1700"/>
          </a:p>
        </p:txBody>
      </p:sp>
      <p:sp>
        <p:nvSpPr>
          <p:cNvPr id="286196842" name="Text 17"/>
          <p:cNvSpPr/>
          <p:nvPr/>
        </p:nvSpPr>
        <p:spPr bwMode="auto">
          <a:xfrm>
            <a:off x="8212667" y="2629033"/>
            <a:ext cx="3366177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tutto compilato</a:t>
            </a:r>
            <a:endParaRPr lang="en-US" sz="1300"/>
          </a:p>
        </p:txBody>
      </p:sp>
      <p:sp>
        <p:nvSpPr>
          <p:cNvPr id="420194813" name="Text 18"/>
          <p:cNvSpPr/>
          <p:nvPr/>
        </p:nvSpPr>
        <p:spPr bwMode="auto">
          <a:xfrm>
            <a:off x="8212667" y="2910946"/>
            <a:ext cx="3366177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Pesi e indice del nodo sono scritti nel programma: un binario per nodo.</a:t>
            </a:r>
            <a:endParaRPr lang="en-US" sz="1400"/>
          </a:p>
        </p:txBody>
      </p:sp>
      <p:sp>
        <p:nvSpPr>
          <p:cNvPr id="1419395517" name="Shape 19"/>
          <p:cNvSpPr/>
          <p:nvPr/>
        </p:nvSpPr>
        <p:spPr bwMode="auto">
          <a:xfrm>
            <a:off x="546100" y="3690674"/>
            <a:ext cx="3598333" cy="1414661"/>
          </a:xfrm>
          <a:prstGeom prst="roundRect">
            <a:avLst>
              <a:gd name="adj" fmla="val 8977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96714951" name="Shape 20"/>
          <p:cNvSpPr/>
          <p:nvPr/>
        </p:nvSpPr>
        <p:spPr bwMode="auto">
          <a:xfrm>
            <a:off x="711200" y="3898900"/>
            <a:ext cx="190500" cy="190500"/>
          </a:xfrm>
          <a:prstGeom prst="roundRect">
            <a:avLst>
              <a:gd name="adj" fmla="val 26667"/>
            </a:avLst>
          </a:prstGeom>
          <a:solidFill>
            <a:srgbClr val="F09A3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67238902" name="Text 21"/>
          <p:cNvSpPr/>
          <p:nvPr/>
        </p:nvSpPr>
        <p:spPr bwMode="auto">
          <a:xfrm>
            <a:off x="990600" y="3843074"/>
            <a:ext cx="144925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  <a:defRPr/>
            </a:pPr>
            <a:r>
              <a:rPr lang="en-US" sz="17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P1.5 hardcoded</a:t>
            </a:r>
            <a:endParaRPr lang="en-US" sz="1700"/>
          </a:p>
        </p:txBody>
      </p:sp>
      <p:sp>
        <p:nvSpPr>
          <p:cNvPr id="1120200835" name="Text 22"/>
          <p:cNvSpPr/>
          <p:nvPr/>
        </p:nvSpPr>
        <p:spPr bwMode="auto">
          <a:xfrm>
            <a:off x="711200" y="4196094"/>
            <a:ext cx="3366177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pesi compilati</a:t>
            </a:r>
            <a:endParaRPr lang="en-US" sz="1300"/>
          </a:p>
        </p:txBody>
      </p:sp>
      <p:sp>
        <p:nvSpPr>
          <p:cNvPr id="1904094855" name="Text 23"/>
          <p:cNvSpPr/>
          <p:nvPr/>
        </p:nvSpPr>
        <p:spPr bwMode="auto">
          <a:xfrm>
            <a:off x="711200" y="4478007"/>
            <a:ext cx="3366177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Pesi nel programma, nodo letto a runtime: un binario per modello.</a:t>
            </a:r>
            <a:endParaRPr lang="en-US" sz="1400"/>
          </a:p>
        </p:txBody>
      </p:sp>
      <p:sp>
        <p:nvSpPr>
          <p:cNvPr id="429254552" name="Shape 24"/>
          <p:cNvSpPr/>
          <p:nvPr/>
        </p:nvSpPr>
        <p:spPr bwMode="auto">
          <a:xfrm>
            <a:off x="4296833" y="3690674"/>
            <a:ext cx="3598333" cy="1414661"/>
          </a:xfrm>
          <a:prstGeom prst="roundRect">
            <a:avLst>
              <a:gd name="adj" fmla="val 8977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616710365" name="Shape 25"/>
          <p:cNvSpPr/>
          <p:nvPr/>
        </p:nvSpPr>
        <p:spPr bwMode="auto">
          <a:xfrm>
            <a:off x="4461933" y="3898900"/>
            <a:ext cx="190500" cy="190500"/>
          </a:xfrm>
          <a:prstGeom prst="roundRect">
            <a:avLst>
              <a:gd name="adj" fmla="val 26667"/>
            </a:avLst>
          </a:prstGeom>
          <a:solidFill>
            <a:srgbClr val="2E9C8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603619252" name="Text 26"/>
          <p:cNvSpPr/>
          <p:nvPr/>
        </p:nvSpPr>
        <p:spPr bwMode="auto">
          <a:xfrm>
            <a:off x="4741333" y="3843074"/>
            <a:ext cx="1134864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  <a:defRPr/>
            </a:pPr>
            <a:r>
              <a:rPr lang="en-US" sz="17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P2 template</a:t>
            </a:r>
            <a:endParaRPr lang="en-US" sz="1700"/>
          </a:p>
        </p:txBody>
      </p:sp>
      <p:sp>
        <p:nvSpPr>
          <p:cNvPr id="1067653268" name="Text 27"/>
          <p:cNvSpPr/>
          <p:nvPr/>
        </p:nvSpPr>
        <p:spPr bwMode="auto">
          <a:xfrm>
            <a:off x="4461933" y="4196094"/>
            <a:ext cx="3366177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forma da tabella</a:t>
            </a:r>
            <a:endParaRPr lang="en-US" sz="1300"/>
          </a:p>
        </p:txBody>
      </p:sp>
      <p:sp>
        <p:nvSpPr>
          <p:cNvPr id="1414903235" name="Text 28"/>
          <p:cNvSpPr/>
          <p:nvPr/>
        </p:nvSpPr>
        <p:spPr bwMode="auto">
          <a:xfrm>
            <a:off x="4461933" y="4478007"/>
            <a:ext cx="3366177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La forma si legge da tabella: solo i soffitti sono compilati.</a:t>
            </a:r>
            <a:endParaRPr lang="en-US" sz="1400"/>
          </a:p>
        </p:txBody>
      </p:sp>
      <p:sp>
        <p:nvSpPr>
          <p:cNvPr id="1955683381" name="Shape 29"/>
          <p:cNvSpPr/>
          <p:nvPr/>
        </p:nvSpPr>
        <p:spPr bwMode="auto">
          <a:xfrm>
            <a:off x="8047567" y="3690674"/>
            <a:ext cx="3598333" cy="1414661"/>
          </a:xfrm>
          <a:prstGeom prst="roundRect">
            <a:avLst>
              <a:gd name="adj" fmla="val 8977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639175650" name="Shape 30"/>
          <p:cNvSpPr/>
          <p:nvPr/>
        </p:nvSpPr>
        <p:spPr bwMode="auto">
          <a:xfrm>
            <a:off x="8212667" y="3898900"/>
            <a:ext cx="190500" cy="190500"/>
          </a:xfrm>
          <a:prstGeom prst="roundRect">
            <a:avLst>
              <a:gd name="adj" fmla="val 26667"/>
            </a:avLst>
          </a:prstGeom>
          <a:solidFill>
            <a:srgbClr val="1F5F8B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103123995" name="Text 31"/>
          <p:cNvSpPr/>
          <p:nvPr/>
        </p:nvSpPr>
        <p:spPr bwMode="auto">
          <a:xfrm>
            <a:off x="8492067" y="3843074"/>
            <a:ext cx="1083733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  <a:defRPr/>
            </a:pPr>
            <a:r>
              <a:rPr lang="en-US" sz="17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P3 modular</a:t>
            </a:r>
            <a:endParaRPr lang="en-US" sz="1700"/>
          </a:p>
        </p:txBody>
      </p:sp>
      <p:sp>
        <p:nvSpPr>
          <p:cNvPr id="441600" name="Text 32"/>
          <p:cNvSpPr/>
          <p:nvPr/>
        </p:nvSpPr>
        <p:spPr bwMode="auto">
          <a:xfrm>
            <a:off x="8212667" y="4196094"/>
            <a:ext cx="3366177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anche la profondità</a:t>
            </a:r>
            <a:endParaRPr lang="en-US" sz="1300"/>
          </a:p>
        </p:txBody>
      </p:sp>
      <p:sp>
        <p:nvSpPr>
          <p:cNvPr id="290015319" name="Text 33"/>
          <p:cNvSpPr/>
          <p:nvPr/>
        </p:nvSpPr>
        <p:spPr bwMode="auto">
          <a:xfrm>
            <a:off x="8212667" y="4478007"/>
            <a:ext cx="3366177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Anche il numero di strati si legge da tabella: un programma per tutto.</a:t>
            </a:r>
            <a:endParaRPr lang="en-US" sz="1400"/>
          </a:p>
        </p:txBody>
      </p:sp>
      <p:sp>
        <p:nvSpPr>
          <p:cNvPr id="1983914555" name="Shape 34"/>
          <p:cNvSpPr/>
          <p:nvPr/>
        </p:nvSpPr>
        <p:spPr bwMode="auto">
          <a:xfrm>
            <a:off x="546100" y="5402659"/>
            <a:ext cx="11099800" cy="858441"/>
          </a:xfrm>
          <a:prstGeom prst="roundRect">
            <a:avLst>
              <a:gd name="adj" fmla="val 14794"/>
            </a:avLst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89284685" name="Text 35"/>
          <p:cNvSpPr/>
          <p:nvPr/>
        </p:nvSpPr>
        <p:spPr bwMode="auto">
          <a:xfrm>
            <a:off x="800100" y="5567759"/>
            <a:ext cx="10909554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  <a:defRPr/>
            </a:pPr>
            <a:r>
              <a:rPr lang="en-US" sz="1600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Più informazioni si spostano dalla compilazione all'esecuzione, più il programma è </a:t>
            </a:r>
            <a:r>
              <a:rPr lang="en-US" sz="16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riutilizzabile</a:t>
            </a:r>
            <a:r>
              <a:rPr lang="en-US" sz="1600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, e più cresce il </a:t>
            </a:r>
            <a:r>
              <a:rPr lang="en-US" sz="16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costo per pacchetto</a:t>
            </a:r>
            <a:r>
              <a:rPr lang="en-US" sz="1600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.</a:t>
            </a:r>
            <a:endParaRPr lang="en-US" sz="1600"/>
          </a:p>
        </p:txBody>
      </p:sp>
      <p:sp>
        <p:nvSpPr>
          <p:cNvPr id="1646726678" name="Text 36"/>
          <p:cNvSpPr/>
          <p:nvPr/>
        </p:nvSpPr>
        <p:spPr bwMode="auto">
          <a:xfrm>
            <a:off x="546100" y="6426200"/>
            <a:ext cx="10072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i="1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Cinque pipeline più rxonly, che misura la sola ricezione · i colori dei quadratini tornano in tutti i grafici</a:t>
            </a:r>
            <a:endParaRPr lang="en-US" sz="1200"/>
          </a:p>
        </p:txBody>
      </p:sp>
      <p:sp>
        <p:nvSpPr>
          <p:cNvPr id="1635323633" name="Text 37"/>
          <p:cNvSpPr/>
          <p:nvPr/>
        </p:nvSpPr>
        <p:spPr bwMode="auto">
          <a:xfrm>
            <a:off x="10960099" y="642620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4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7286976" name="Shape 0"/>
          <p:cNvSpPr/>
          <p:nvPr/>
        </p:nvSpPr>
        <p:spPr bwMode="auto">
          <a:xfrm>
            <a:off x="0" y="0"/>
            <a:ext cx="12192000" cy="107949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84564928" name="Text 1"/>
          <p:cNvSpPr/>
          <p:nvPr/>
        </p:nvSpPr>
        <p:spPr bwMode="auto">
          <a:xfrm>
            <a:off x="546100" y="330200"/>
            <a:ext cx="114327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1 · IL BANCO · COME SI MISURA</a:t>
            </a:r>
            <a:endParaRPr lang="en-US" sz="1200"/>
          </a:p>
        </p:txBody>
      </p:sp>
      <p:sp>
        <p:nvSpPr>
          <p:cNvPr id="584682552" name="Text 2"/>
          <p:cNvSpPr/>
          <p:nvPr/>
        </p:nvSpPr>
        <p:spPr bwMode="auto">
          <a:xfrm>
            <a:off x="546100" y="584200"/>
            <a:ext cx="1143279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30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Il banco misura quanti pacchetti regge il nodo</a:t>
            </a:r>
            <a:endParaRPr lang="en-US" sz="3000"/>
          </a:p>
        </p:txBody>
      </p:sp>
      <p:sp>
        <p:nvSpPr>
          <p:cNvPr id="1875761483" name="Shape 3"/>
          <p:cNvSpPr/>
          <p:nvPr/>
        </p:nvSpPr>
        <p:spPr bwMode="auto">
          <a:xfrm>
            <a:off x="546100" y="1562100"/>
            <a:ext cx="1915980" cy="1035050"/>
          </a:xfrm>
          <a:prstGeom prst="roundRect">
            <a:avLst>
              <a:gd name="adj" fmla="val 12270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4878113" name="Text 4"/>
          <p:cNvSpPr/>
          <p:nvPr/>
        </p:nvSpPr>
        <p:spPr bwMode="auto">
          <a:xfrm>
            <a:off x="1029031" y="1701800"/>
            <a:ext cx="95011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Generatore</a:t>
            </a:r>
            <a:endParaRPr lang="en-US" sz="1500"/>
          </a:p>
        </p:txBody>
      </p:sp>
      <p:sp>
        <p:nvSpPr>
          <p:cNvPr id="1589431674" name="Text 5"/>
          <p:cNvSpPr/>
          <p:nvPr/>
        </p:nvSpPr>
        <p:spPr bwMode="auto">
          <a:xfrm>
            <a:off x="971815" y="2006600"/>
            <a:ext cx="1064551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25"/>
              </a:lnSpc>
              <a:buNone/>
              <a:defRPr/>
            </a:pPr>
            <a:r>
              <a:rPr lang="en-US" sz="13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crea i pacchetti</a:t>
            </a:r>
            <a:endParaRPr lang="en-US" sz="1300"/>
          </a:p>
        </p:txBody>
      </p:sp>
      <p:sp>
        <p:nvSpPr>
          <p:cNvPr id="2028666697" name="Text 6"/>
          <p:cNvSpPr/>
          <p:nvPr/>
        </p:nvSpPr>
        <p:spPr bwMode="auto">
          <a:xfrm>
            <a:off x="1035381" y="2251075"/>
            <a:ext cx="937419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25"/>
              </a:lnSpc>
              <a:buNone/>
              <a:defRPr/>
            </a:pPr>
            <a:r>
              <a:rPr lang="en-US" sz="13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CPU 10, 1 e 3</a:t>
            </a:r>
            <a:endParaRPr lang="en-US" sz="1300"/>
          </a:p>
        </p:txBody>
      </p:sp>
      <p:pic>
        <p:nvPicPr>
          <p:cNvPr id="1721495703" name="Image 0" descr="arrow-right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525580" y="1990725"/>
            <a:ext cx="254000" cy="177800"/>
          </a:xfrm>
          <a:prstGeom prst="rect">
            <a:avLst/>
          </a:prstGeom>
        </p:spPr>
      </p:pic>
      <p:sp>
        <p:nvSpPr>
          <p:cNvPr id="49030332" name="Shape 7"/>
          <p:cNvSpPr/>
          <p:nvPr/>
        </p:nvSpPr>
        <p:spPr bwMode="auto">
          <a:xfrm>
            <a:off x="2843080" y="1562100"/>
            <a:ext cx="1916046" cy="1035050"/>
          </a:xfrm>
          <a:prstGeom prst="roundRect">
            <a:avLst>
              <a:gd name="adj" fmla="val 12270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656877994" name="Text 8"/>
          <p:cNvSpPr/>
          <p:nvPr/>
        </p:nvSpPr>
        <p:spPr bwMode="auto">
          <a:xfrm>
            <a:off x="3575910" y="1701800"/>
            <a:ext cx="45032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Coda</a:t>
            </a:r>
            <a:endParaRPr lang="en-US" sz="1500"/>
          </a:p>
        </p:txBody>
      </p:sp>
      <p:sp>
        <p:nvSpPr>
          <p:cNvPr id="1238593075" name="Text 9"/>
          <p:cNvSpPr/>
          <p:nvPr/>
        </p:nvSpPr>
        <p:spPr bwMode="auto">
          <a:xfrm>
            <a:off x="2971800" y="2006600"/>
            <a:ext cx="1658541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25"/>
              </a:lnSpc>
              <a:buNone/>
              <a:defRPr/>
            </a:pPr>
            <a:r>
              <a:rPr lang="en-US" sz="13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256 posti (cavo virtuale)</a:t>
            </a:r>
            <a:endParaRPr lang="en-US" sz="1300"/>
          </a:p>
        </p:txBody>
      </p:sp>
      <p:sp>
        <p:nvSpPr>
          <p:cNvPr id="1042295117" name="Text 10"/>
          <p:cNvSpPr/>
          <p:nvPr/>
        </p:nvSpPr>
        <p:spPr bwMode="auto">
          <a:xfrm>
            <a:off x="3157934" y="2251075"/>
            <a:ext cx="1286272" cy="215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200" b="1">
                <a:solidFill>
                  <a:srgbClr val="C0443C"/>
                </a:solidFill>
                <a:latin typeface="Carlito"/>
                <a:ea typeface="Carlito"/>
                <a:cs typeface="Carlito"/>
              </a:rPr>
              <a:t>se è piena: respinto</a:t>
            </a:r>
            <a:endParaRPr lang="en-US" sz="1200"/>
          </a:p>
        </p:txBody>
      </p:sp>
      <p:pic>
        <p:nvPicPr>
          <p:cNvPr id="572393279" name="Image 1" descr="arrow-right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822627" y="1990725"/>
            <a:ext cx="254000" cy="177800"/>
          </a:xfrm>
          <a:prstGeom prst="rect">
            <a:avLst/>
          </a:prstGeom>
        </p:spPr>
      </p:pic>
      <p:sp>
        <p:nvSpPr>
          <p:cNvPr id="2135167334" name="Shape 11"/>
          <p:cNvSpPr/>
          <p:nvPr/>
        </p:nvSpPr>
        <p:spPr bwMode="auto">
          <a:xfrm>
            <a:off x="5149652" y="1571625"/>
            <a:ext cx="1892697" cy="1016000"/>
          </a:xfrm>
          <a:prstGeom prst="roundRect">
            <a:avLst>
              <a:gd name="adj" fmla="val 11562"/>
            </a:avLst>
          </a:prstGeom>
          <a:solidFill>
            <a:srgbClr val="FDEBDB"/>
          </a:solidFill>
          <a:ln w="19050">
            <a:solidFill>
              <a:srgbClr val="E07A2D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145711851" name="Text 12"/>
          <p:cNvSpPr/>
          <p:nvPr/>
        </p:nvSpPr>
        <p:spPr bwMode="auto">
          <a:xfrm>
            <a:off x="5818981" y="1699685"/>
            <a:ext cx="55403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NODO</a:t>
            </a:r>
            <a:endParaRPr lang="en-US" sz="1500"/>
          </a:p>
        </p:txBody>
      </p:sp>
      <p:sp>
        <p:nvSpPr>
          <p:cNvPr id="1352226705" name="Text 13"/>
          <p:cNvSpPr/>
          <p:nvPr/>
        </p:nvSpPr>
        <p:spPr bwMode="auto">
          <a:xfrm>
            <a:off x="5488384" y="2004485"/>
            <a:ext cx="1215165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25"/>
              </a:lnSpc>
              <a:buNone/>
              <a:defRPr/>
            </a:pPr>
            <a:r>
              <a:rPr lang="en-US" sz="13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la pipeline in XDP</a:t>
            </a:r>
            <a:endParaRPr lang="en-US" sz="1300"/>
          </a:p>
        </p:txBody>
      </p:sp>
      <p:sp>
        <p:nvSpPr>
          <p:cNvPr id="637788621" name="Text 14"/>
          <p:cNvSpPr/>
          <p:nvPr/>
        </p:nvSpPr>
        <p:spPr bwMode="auto">
          <a:xfrm>
            <a:off x="5870443" y="2248960"/>
            <a:ext cx="451115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25"/>
              </a:lnSpc>
              <a:buNone/>
              <a:defRPr/>
            </a:pPr>
            <a:r>
              <a:rPr lang="en-US" sz="13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CPU 6</a:t>
            </a:r>
            <a:endParaRPr lang="en-US" sz="1300"/>
          </a:p>
        </p:txBody>
      </p:sp>
      <p:pic>
        <p:nvPicPr>
          <p:cNvPr id="1484706763" name="Image 2" descr="arrow-right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115373" y="1990725"/>
            <a:ext cx="254000" cy="177800"/>
          </a:xfrm>
          <a:prstGeom prst="rect">
            <a:avLst/>
          </a:prstGeom>
        </p:spPr>
      </p:pic>
      <p:sp>
        <p:nvSpPr>
          <p:cNvPr id="1786583356" name="Shape 15"/>
          <p:cNvSpPr/>
          <p:nvPr/>
        </p:nvSpPr>
        <p:spPr bwMode="auto">
          <a:xfrm>
            <a:off x="7432873" y="1562100"/>
            <a:ext cx="1916046" cy="1035050"/>
          </a:xfrm>
          <a:prstGeom prst="roundRect">
            <a:avLst>
              <a:gd name="adj" fmla="val 12270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648242358" name="Text 16"/>
          <p:cNvSpPr/>
          <p:nvPr/>
        </p:nvSpPr>
        <p:spPr bwMode="auto">
          <a:xfrm>
            <a:off x="7839340" y="1701800"/>
            <a:ext cx="11030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Coda d'uscita</a:t>
            </a:r>
            <a:endParaRPr lang="en-US" sz="1500"/>
          </a:p>
        </p:txBody>
      </p:sp>
      <p:sp>
        <p:nvSpPr>
          <p:cNvPr id="1682931023" name="Text 17"/>
          <p:cNvSpPr/>
          <p:nvPr/>
        </p:nvSpPr>
        <p:spPr bwMode="auto">
          <a:xfrm>
            <a:off x="7566951" y="2006600"/>
            <a:ext cx="1647891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25"/>
              </a:lnSpc>
              <a:buNone/>
              <a:defRPr/>
            </a:pPr>
            <a:r>
              <a:rPr lang="en-US" sz="13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verso il nodo successivo</a:t>
            </a:r>
            <a:endParaRPr lang="en-US" sz="1300"/>
          </a:p>
        </p:txBody>
      </p:sp>
      <p:pic>
        <p:nvPicPr>
          <p:cNvPr id="53291411" name="Image 3" descr="arrow-right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412420" y="1990725"/>
            <a:ext cx="254000" cy="177800"/>
          </a:xfrm>
          <a:prstGeom prst="rect">
            <a:avLst/>
          </a:prstGeom>
        </p:spPr>
      </p:pic>
      <p:sp>
        <p:nvSpPr>
          <p:cNvPr id="816556281" name="Shape 18"/>
          <p:cNvSpPr/>
          <p:nvPr/>
        </p:nvSpPr>
        <p:spPr bwMode="auto">
          <a:xfrm>
            <a:off x="9729920" y="1562100"/>
            <a:ext cx="1915980" cy="1035050"/>
          </a:xfrm>
          <a:prstGeom prst="roundRect">
            <a:avLst>
              <a:gd name="adj" fmla="val 12270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154488910" name="Text 19"/>
          <p:cNvSpPr/>
          <p:nvPr/>
        </p:nvSpPr>
        <p:spPr bwMode="auto">
          <a:xfrm>
            <a:off x="10013090" y="1701800"/>
            <a:ext cx="134957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Nodo successivo</a:t>
            </a:r>
            <a:endParaRPr lang="en-US" sz="1500"/>
          </a:p>
        </p:txBody>
      </p:sp>
      <p:sp>
        <p:nvSpPr>
          <p:cNvPr id="446053604" name="Text 20"/>
          <p:cNvSpPr/>
          <p:nvPr/>
        </p:nvSpPr>
        <p:spPr bwMode="auto">
          <a:xfrm>
            <a:off x="10196513" y="2006600"/>
            <a:ext cx="982729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25"/>
              </a:lnSpc>
              <a:buNone/>
              <a:defRPr/>
            </a:pPr>
            <a:r>
              <a:rPr lang="en-US" sz="13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conta e scarta</a:t>
            </a:r>
            <a:endParaRPr lang="en-US" sz="1300"/>
          </a:p>
        </p:txBody>
      </p:sp>
      <p:sp>
        <p:nvSpPr>
          <p:cNvPr id="446900287" name="Text 21"/>
          <p:cNvSpPr/>
          <p:nvPr/>
        </p:nvSpPr>
        <p:spPr bwMode="auto">
          <a:xfrm>
            <a:off x="10462353" y="2251075"/>
            <a:ext cx="451115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25"/>
              </a:lnSpc>
              <a:buNone/>
              <a:defRPr/>
            </a:pPr>
            <a:r>
              <a:rPr lang="en-US" sz="13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CPU 8</a:t>
            </a:r>
            <a:endParaRPr lang="en-US" sz="1300"/>
          </a:p>
        </p:txBody>
      </p:sp>
      <p:sp>
        <p:nvSpPr>
          <p:cNvPr id="932063453" name="Shape 22"/>
          <p:cNvSpPr/>
          <p:nvPr/>
        </p:nvSpPr>
        <p:spPr bwMode="auto">
          <a:xfrm>
            <a:off x="546100" y="3442363"/>
            <a:ext cx="3598333" cy="1198827"/>
          </a:xfrm>
          <a:prstGeom prst="roundRect">
            <a:avLst>
              <a:gd name="adj" fmla="val 10594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012068562" name="Shape 23"/>
          <p:cNvSpPr/>
          <p:nvPr/>
        </p:nvSpPr>
        <p:spPr bwMode="auto">
          <a:xfrm>
            <a:off x="698500" y="3582064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E07A2D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119662269" name="Text 24"/>
          <p:cNvSpPr/>
          <p:nvPr/>
        </p:nvSpPr>
        <p:spPr bwMode="auto">
          <a:xfrm>
            <a:off x="831189" y="3635375"/>
            <a:ext cx="14095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1</a:t>
            </a:r>
            <a:endParaRPr lang="en-US" sz="1400"/>
          </a:p>
        </p:txBody>
      </p:sp>
      <p:sp>
        <p:nvSpPr>
          <p:cNvPr id="1684564021" name="Text 25"/>
          <p:cNvSpPr/>
          <p:nvPr/>
        </p:nvSpPr>
        <p:spPr bwMode="auto">
          <a:xfrm>
            <a:off x="1143000" y="3617649"/>
            <a:ext cx="1669389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  <a:defRPr/>
            </a:pPr>
            <a:r>
              <a:rPr lang="en-US" sz="16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Coda sempre piena</a:t>
            </a:r>
            <a:endParaRPr lang="en-US" sz="1600"/>
          </a:p>
        </p:txBody>
      </p:sp>
      <p:sp>
        <p:nvSpPr>
          <p:cNvPr id="1291886892" name="Text 26"/>
          <p:cNvSpPr/>
          <p:nvPr/>
        </p:nvSpPr>
        <p:spPr bwMode="auto">
          <a:xfrm>
            <a:off x="698500" y="4013863"/>
            <a:ext cx="3392339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Il generatore offre </a:t>
            </a: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più pacchetti</a:t>
            </a: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 di quanti il nodo riesca a elaborare.</a:t>
            </a:r>
            <a:endParaRPr lang="en-US" sz="1400"/>
          </a:p>
        </p:txBody>
      </p:sp>
      <p:sp>
        <p:nvSpPr>
          <p:cNvPr id="22355976" name="Shape 27"/>
          <p:cNvSpPr/>
          <p:nvPr/>
        </p:nvSpPr>
        <p:spPr bwMode="auto">
          <a:xfrm>
            <a:off x="4296833" y="3442363"/>
            <a:ext cx="3598333" cy="1198827"/>
          </a:xfrm>
          <a:prstGeom prst="roundRect">
            <a:avLst>
              <a:gd name="adj" fmla="val 10594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6843559" name="Shape 28"/>
          <p:cNvSpPr/>
          <p:nvPr/>
        </p:nvSpPr>
        <p:spPr bwMode="auto">
          <a:xfrm>
            <a:off x="4449233" y="3582064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E07A2D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55808770" name="Text 29"/>
          <p:cNvSpPr/>
          <p:nvPr/>
        </p:nvSpPr>
        <p:spPr bwMode="auto">
          <a:xfrm>
            <a:off x="4581922" y="3635375"/>
            <a:ext cx="14095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2</a:t>
            </a:r>
            <a:endParaRPr lang="en-US" sz="1400"/>
          </a:p>
        </p:txBody>
      </p:sp>
      <p:sp>
        <p:nvSpPr>
          <p:cNvPr id="1577148377" name="Text 30"/>
          <p:cNvSpPr/>
          <p:nvPr/>
        </p:nvSpPr>
        <p:spPr bwMode="auto">
          <a:xfrm>
            <a:off x="4893733" y="3617649"/>
            <a:ext cx="2015428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  <a:defRPr/>
            </a:pPr>
            <a:r>
              <a:rPr lang="en-US" sz="16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Nodo sempre occupato</a:t>
            </a:r>
            <a:endParaRPr lang="en-US" sz="1600"/>
          </a:p>
        </p:txBody>
      </p:sp>
      <p:sp>
        <p:nvSpPr>
          <p:cNvPr id="127092116" name="Text 31"/>
          <p:cNvSpPr/>
          <p:nvPr/>
        </p:nvSpPr>
        <p:spPr bwMode="auto">
          <a:xfrm>
            <a:off x="4449233" y="4013863"/>
            <a:ext cx="3392339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Il suo core non resta mai senza lavoro: il ritmo a cui elabora è la sua </a:t>
            </a: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capacità</a:t>
            </a: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.</a:t>
            </a:r>
            <a:endParaRPr lang="en-US" sz="1400"/>
          </a:p>
        </p:txBody>
      </p:sp>
      <p:sp>
        <p:nvSpPr>
          <p:cNvPr id="1274866179" name="Shape 32"/>
          <p:cNvSpPr/>
          <p:nvPr/>
        </p:nvSpPr>
        <p:spPr bwMode="auto">
          <a:xfrm>
            <a:off x="8047567" y="3442363"/>
            <a:ext cx="3598333" cy="1198827"/>
          </a:xfrm>
          <a:prstGeom prst="roundRect">
            <a:avLst>
              <a:gd name="adj" fmla="val 10594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946971699" name="Shape 33"/>
          <p:cNvSpPr/>
          <p:nvPr/>
        </p:nvSpPr>
        <p:spPr bwMode="auto">
          <a:xfrm>
            <a:off x="8199967" y="3582064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E07A2D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979970751" name="Text 34"/>
          <p:cNvSpPr/>
          <p:nvPr/>
        </p:nvSpPr>
        <p:spPr bwMode="auto">
          <a:xfrm>
            <a:off x="8332656" y="3635375"/>
            <a:ext cx="14095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3</a:t>
            </a:r>
            <a:endParaRPr lang="en-US" sz="1400"/>
          </a:p>
        </p:txBody>
      </p:sp>
      <p:sp>
        <p:nvSpPr>
          <p:cNvPr id="720767067" name="Text 35"/>
          <p:cNvSpPr/>
          <p:nvPr/>
        </p:nvSpPr>
        <p:spPr bwMode="auto">
          <a:xfrm>
            <a:off x="8644467" y="3617649"/>
            <a:ext cx="1696575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  <a:defRPr/>
            </a:pPr>
            <a:r>
              <a:rPr lang="en-US" sz="16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Costo = 1 / capacità</a:t>
            </a:r>
            <a:endParaRPr lang="en-US" sz="1600"/>
          </a:p>
        </p:txBody>
      </p:sp>
      <p:sp>
        <p:nvSpPr>
          <p:cNvPr id="403748906" name="Text 36"/>
          <p:cNvSpPr/>
          <p:nvPr/>
        </p:nvSpPr>
        <p:spPr bwMode="auto">
          <a:xfrm>
            <a:off x="8199967" y="4013863"/>
            <a:ext cx="3392339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Se elabora 5 milioni di pacchetti al secondo, spende </a:t>
            </a: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200 ns</a:t>
            </a: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 per ciascuno.</a:t>
            </a:r>
            <a:endParaRPr lang="en-US" sz="1400"/>
          </a:p>
        </p:txBody>
      </p:sp>
      <p:sp>
        <p:nvSpPr>
          <p:cNvPr id="1395151945" name="Shape 37"/>
          <p:cNvSpPr/>
          <p:nvPr/>
        </p:nvSpPr>
        <p:spPr bwMode="auto">
          <a:xfrm>
            <a:off x="546100" y="5486400"/>
            <a:ext cx="11099800" cy="774700"/>
          </a:xfrm>
          <a:prstGeom prst="roundRect">
            <a:avLst>
              <a:gd name="adj" fmla="val 13115"/>
            </a:avLst>
          </a:prstGeom>
          <a:solidFill>
            <a:srgbClr val="FFF4D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46498549" name="Shape 38"/>
          <p:cNvSpPr/>
          <p:nvPr/>
        </p:nvSpPr>
        <p:spPr bwMode="auto">
          <a:xfrm>
            <a:off x="546100" y="5486400"/>
            <a:ext cx="82550" cy="774700"/>
          </a:xfrm>
          <a:custGeom>
            <a:avLst/>
            <a:gdLst/>
            <a:ahLst/>
            <a:cxnLst/>
            <a:rect l="l" t="t" r="r" b="b"/>
            <a:pathLst>
              <a:path w="82550" h="774700" fill="norm" stroke="1" extrusionOk="0">
                <a:moveTo>
                  <a:pt x="0" y="101600"/>
                </a:moveTo>
                <a:arcTo wR="101600" hR="101600" stAng="10800000" swAng="4751585"/>
                <a:lnTo>
                  <a:pt x="82550" y="772898"/>
                </a:lnTo>
                <a:arcTo wR="101600" hR="101600" stAng="6048415" swAng="4751585"/>
                <a:close/>
              </a:path>
            </a:pathLst>
          </a:custGeom>
          <a:solidFill>
            <a:srgbClr val="F2B134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394656355" name="Text 39"/>
          <p:cNvSpPr/>
          <p:nvPr/>
        </p:nvSpPr>
        <p:spPr bwMode="auto">
          <a:xfrm>
            <a:off x="819150" y="5767058"/>
            <a:ext cx="8762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B57A00"/>
                </a:solidFill>
                <a:latin typeface="Carlito"/>
                <a:ea typeface="Carlito"/>
                <a:cs typeface="Carlito"/>
              </a:rPr>
              <a:t>QUINDI</a:t>
            </a:r>
            <a:endParaRPr lang="en-US" sz="1200"/>
          </a:p>
        </p:txBody>
      </p:sp>
      <p:sp>
        <p:nvSpPr>
          <p:cNvPr id="1982625433" name="Text 40"/>
          <p:cNvSpPr/>
          <p:nvPr/>
        </p:nvSpPr>
        <p:spPr bwMode="auto">
          <a:xfrm>
            <a:off x="1822450" y="5626100"/>
            <a:ext cx="988269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  <a:defRPr/>
            </a:pP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Si misurano 300 ms a regime: costo per pacchetto = tempo ÷ pacchetti elaborati. Il generatore sta su altri core, quindi </a:t>
            </a: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non entra nella misura</a:t>
            </a: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.</a:t>
            </a:r>
            <a:endParaRPr lang="en-US" sz="1500"/>
          </a:p>
        </p:txBody>
      </p:sp>
      <p:sp>
        <p:nvSpPr>
          <p:cNvPr id="2036136352" name="Text 41"/>
          <p:cNvSpPr/>
          <p:nvPr/>
        </p:nvSpPr>
        <p:spPr bwMode="auto">
          <a:xfrm>
            <a:off x="546100" y="6426200"/>
            <a:ext cx="10072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i="1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Un solo portatile: generatore, nodo e nodo successivo ciascuno sul proprio core fisico</a:t>
            </a:r>
            <a:endParaRPr lang="en-US" sz="1200"/>
          </a:p>
        </p:txBody>
      </p:sp>
      <p:sp>
        <p:nvSpPr>
          <p:cNvPr id="709961720" name="Text 42"/>
          <p:cNvSpPr/>
          <p:nvPr/>
        </p:nvSpPr>
        <p:spPr bwMode="auto">
          <a:xfrm>
            <a:off x="10960099" y="642620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5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58564" name="Shape 0"/>
          <p:cNvSpPr/>
          <p:nvPr/>
        </p:nvSpPr>
        <p:spPr bwMode="auto">
          <a:xfrm>
            <a:off x="0" y="0"/>
            <a:ext cx="12192000" cy="107949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512371565" name="Text 1"/>
          <p:cNvSpPr/>
          <p:nvPr/>
        </p:nvSpPr>
        <p:spPr bwMode="auto">
          <a:xfrm>
            <a:off x="546100" y="330200"/>
            <a:ext cx="114327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2 · MACCHINA VIRTUALE E DUAL BOOT · IL PROBLEMA</a:t>
            </a:r>
            <a:endParaRPr lang="en-US" sz="1200"/>
          </a:p>
        </p:txBody>
      </p:sp>
      <p:sp>
        <p:nvSpPr>
          <p:cNvPr id="1457606499" name="Text 2"/>
          <p:cNvSpPr/>
          <p:nvPr/>
        </p:nvSpPr>
        <p:spPr bwMode="auto">
          <a:xfrm>
            <a:off x="546100" y="584200"/>
            <a:ext cx="1143279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30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Nella macchina virtuale il nodo ogni tanto si fermava</a:t>
            </a:r>
            <a:endParaRPr lang="en-US" sz="3000"/>
          </a:p>
        </p:txBody>
      </p:sp>
      <p:sp>
        <p:nvSpPr>
          <p:cNvPr id="1428434123" name="Shape 3"/>
          <p:cNvSpPr/>
          <p:nvPr/>
        </p:nvSpPr>
        <p:spPr bwMode="auto">
          <a:xfrm>
            <a:off x="546100" y="1562100"/>
            <a:ext cx="6096000" cy="3144441"/>
          </a:xfrm>
          <a:prstGeom prst="roundRect">
            <a:avLst>
              <a:gd name="adj" fmla="val 4039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02937571" name="Text 4"/>
          <p:cNvSpPr/>
          <p:nvPr/>
        </p:nvSpPr>
        <p:spPr bwMode="auto">
          <a:xfrm>
            <a:off x="749300" y="1739900"/>
            <a:ext cx="5860288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  <a:defRPr/>
            </a:pPr>
            <a:r>
              <a:rPr lang="en-US" sz="16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Quanto può stare fermo il nodo</a:t>
            </a:r>
            <a:endParaRPr lang="en-US" sz="1600"/>
          </a:p>
        </p:txBody>
      </p:sp>
      <p:sp>
        <p:nvSpPr>
          <p:cNvPr id="693519202" name="Text 5"/>
          <p:cNvSpPr/>
          <p:nvPr/>
        </p:nvSpPr>
        <p:spPr bwMode="auto">
          <a:xfrm>
            <a:off x="749300" y="2075129"/>
            <a:ext cx="586028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prima che la coda da 256 posti trabocchi</a:t>
            </a:r>
            <a:endParaRPr lang="en-US" sz="1300"/>
          </a:p>
        </p:txBody>
      </p:sp>
      <p:sp>
        <p:nvSpPr>
          <p:cNvPr id="1209171073" name="Text 6"/>
          <p:cNvSpPr/>
          <p:nvPr/>
        </p:nvSpPr>
        <p:spPr bwMode="auto">
          <a:xfrm>
            <a:off x="3695700" y="2357041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la coda trabocca</a:t>
            </a:r>
            <a:endParaRPr lang="en-US" sz="1200"/>
          </a:p>
        </p:txBody>
      </p:sp>
      <p:sp>
        <p:nvSpPr>
          <p:cNvPr id="2037239734" name="Shape 7"/>
          <p:cNvSpPr/>
          <p:nvPr/>
        </p:nvSpPr>
        <p:spPr bwMode="auto">
          <a:xfrm>
            <a:off x="4492625" y="2598341"/>
            <a:ext cx="0" cy="1917700"/>
          </a:xfrm>
          <a:prstGeom prst="line">
            <a:avLst/>
          </a:prstGeom>
          <a:noFill/>
          <a:ln w="19050">
            <a:solidFill>
              <a:srgbClr val="222B36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120557593" name="Text 8"/>
          <p:cNvSpPr/>
          <p:nvPr/>
        </p:nvSpPr>
        <p:spPr bwMode="auto">
          <a:xfrm>
            <a:off x="749300" y="2661841"/>
            <a:ext cx="2223770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Riempire la coda (1,5 M pacchetti/s)</a:t>
            </a:r>
            <a:endParaRPr lang="en-US" sz="1400"/>
          </a:p>
        </p:txBody>
      </p:sp>
      <p:sp>
        <p:nvSpPr>
          <p:cNvPr id="1608978969" name="Shape 9"/>
          <p:cNvSpPr/>
          <p:nvPr/>
        </p:nvSpPr>
        <p:spPr bwMode="auto">
          <a:xfrm>
            <a:off x="3035300" y="2687241"/>
            <a:ext cx="1447800" cy="355600"/>
          </a:xfrm>
          <a:prstGeom prst="roundRect">
            <a:avLst>
              <a:gd name="adj" fmla="val 14286"/>
            </a:avLst>
          </a:prstGeom>
          <a:solidFill>
            <a:srgbClr val="2E9C6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631592410" name="Text 10"/>
          <p:cNvSpPr/>
          <p:nvPr/>
        </p:nvSpPr>
        <p:spPr bwMode="auto">
          <a:xfrm>
            <a:off x="4559300" y="2744391"/>
            <a:ext cx="1320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2E9C6E"/>
                </a:solidFill>
                <a:latin typeface="Carlito"/>
                <a:ea typeface="Carlito"/>
                <a:cs typeface="Carlito"/>
              </a:rPr>
              <a:t>170 µs</a:t>
            </a:r>
            <a:endParaRPr lang="en-US" sz="1500"/>
          </a:p>
        </p:txBody>
      </p:sp>
      <p:sp>
        <p:nvSpPr>
          <p:cNvPr id="426057821" name="Text 11"/>
          <p:cNvSpPr/>
          <p:nvPr/>
        </p:nvSpPr>
        <p:spPr bwMode="auto">
          <a:xfrm>
            <a:off x="749300" y="3296841"/>
            <a:ext cx="2223770" cy="229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Risveglio da sonno profondo</a:t>
            </a:r>
            <a:endParaRPr lang="en-US" sz="1400"/>
          </a:p>
        </p:txBody>
      </p:sp>
      <p:sp>
        <p:nvSpPr>
          <p:cNvPr id="1930497055" name="Shape 12"/>
          <p:cNvSpPr/>
          <p:nvPr/>
        </p:nvSpPr>
        <p:spPr bwMode="auto">
          <a:xfrm>
            <a:off x="3035300" y="3322241"/>
            <a:ext cx="2635250" cy="355600"/>
          </a:xfrm>
          <a:prstGeom prst="roundRect">
            <a:avLst>
              <a:gd name="adj" fmla="val 14286"/>
            </a:avLst>
          </a:prstGeom>
          <a:solidFill>
            <a:srgbClr val="E07A2D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187442151" name="Text 13"/>
          <p:cNvSpPr/>
          <p:nvPr/>
        </p:nvSpPr>
        <p:spPr bwMode="auto">
          <a:xfrm>
            <a:off x="5746750" y="3379391"/>
            <a:ext cx="7429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310 µs</a:t>
            </a:r>
            <a:endParaRPr lang="en-US" sz="1500"/>
          </a:p>
        </p:txBody>
      </p:sp>
      <p:sp>
        <p:nvSpPr>
          <p:cNvPr id="727893488" name="Text 14"/>
          <p:cNvSpPr/>
          <p:nvPr/>
        </p:nvSpPr>
        <p:spPr bwMode="auto">
          <a:xfrm>
            <a:off x="749300" y="3931841"/>
            <a:ext cx="2223770" cy="229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Pausa di un core virtuale</a:t>
            </a:r>
            <a:endParaRPr lang="en-US" sz="1400"/>
          </a:p>
        </p:txBody>
      </p:sp>
      <p:sp>
        <p:nvSpPr>
          <p:cNvPr id="549519943" name="Shape 15"/>
          <p:cNvSpPr/>
          <p:nvPr/>
        </p:nvSpPr>
        <p:spPr bwMode="auto">
          <a:xfrm>
            <a:off x="3035300" y="3957241"/>
            <a:ext cx="3403600" cy="355600"/>
          </a:xfrm>
          <a:prstGeom prst="roundRect">
            <a:avLst>
              <a:gd name="adj" fmla="val 14286"/>
            </a:avLst>
          </a:prstGeom>
          <a:gradFill>
            <a:gsLst>
              <a:gs pos="78000">
                <a:srgbClr val="C0443C"/>
              </a:gs>
              <a:gs pos="100000">
                <a:srgbClr val="C0443C">
                  <a:alpha val="15000"/>
                </a:srgbClr>
              </a:gs>
            </a:gsLst>
            <a:lin ang="0" scaled="0"/>
          </a:gra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12465730" name="Text 16"/>
          <p:cNvSpPr/>
          <p:nvPr/>
        </p:nvSpPr>
        <p:spPr bwMode="auto">
          <a:xfrm>
            <a:off x="3136900" y="4014391"/>
            <a:ext cx="313944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alcuni millisecondi</a:t>
            </a:r>
            <a:endParaRPr lang="en-US" sz="1400"/>
          </a:p>
        </p:txBody>
      </p:sp>
      <p:sp>
        <p:nvSpPr>
          <p:cNvPr id="585402186" name="Text 17"/>
          <p:cNvSpPr/>
          <p:nvPr/>
        </p:nvSpPr>
        <p:spPr bwMode="auto">
          <a:xfrm>
            <a:off x="6819900" y="1562100"/>
            <a:ext cx="497078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  <a:defRPr/>
            </a:pPr>
            <a:r>
              <a:rPr lang="en-US" sz="16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Due strade, entrambe cattive</a:t>
            </a:r>
            <a:endParaRPr lang="en-US" sz="1600"/>
          </a:p>
        </p:txBody>
      </p:sp>
      <p:sp>
        <p:nvSpPr>
          <p:cNvPr id="183134241" name="Shape 18"/>
          <p:cNvSpPr/>
          <p:nvPr/>
        </p:nvSpPr>
        <p:spPr bwMode="auto">
          <a:xfrm>
            <a:off x="6819900" y="1935429"/>
            <a:ext cx="4826000" cy="1341107"/>
          </a:xfrm>
          <a:prstGeom prst="roundRect">
            <a:avLst>
              <a:gd name="adj" fmla="val 9470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565903533" name="Shape 19"/>
          <p:cNvSpPr/>
          <p:nvPr/>
        </p:nvSpPr>
        <p:spPr bwMode="auto">
          <a:xfrm>
            <a:off x="6819900" y="1935429"/>
            <a:ext cx="4826000" cy="88900"/>
          </a:xfrm>
          <a:custGeom>
            <a:avLst/>
            <a:gdLst/>
            <a:ahLst/>
            <a:cxnLst/>
            <a:rect l="l" t="t" r="r" b="b"/>
            <a:pathLst>
              <a:path w="4826000" h="88900" fill="norm" stroke="1" extrusionOk="0">
                <a:moveTo>
                  <a:pt x="5850" y="88900"/>
                </a:moveTo>
                <a:arcTo wR="127000" hR="127000" stAng="11847456" swAng="4352544"/>
                <a:lnTo>
                  <a:pt x="4699000" y="0"/>
                </a:lnTo>
                <a:arcTo wR="127000" hR="127000" stAng="16200000" swAng="4352544"/>
                <a:close/>
              </a:path>
            </a:pathLst>
          </a:custGeom>
          <a:solidFill>
            <a:srgbClr val="C0443C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452539619" name="Text 20"/>
          <p:cNvSpPr/>
          <p:nvPr/>
        </p:nvSpPr>
        <p:spPr bwMode="auto">
          <a:xfrm>
            <a:off x="6997700" y="2151329"/>
            <a:ext cx="460451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  <a:defRPr/>
            </a:pPr>
            <a:r>
              <a:rPr lang="en-US" sz="1600" b="1">
                <a:solidFill>
                  <a:srgbClr val="C0443C"/>
                </a:solidFill>
                <a:latin typeface="Carlito"/>
                <a:ea typeface="Carlito"/>
                <a:cs typeface="Carlito"/>
              </a:rPr>
              <a:t>Generatore e nodo su core separati</a:t>
            </a:r>
            <a:endParaRPr lang="en-US" sz="1600"/>
          </a:p>
        </p:txBody>
      </p:sp>
      <p:sp>
        <p:nvSpPr>
          <p:cNvPr id="723117973" name="Text 21"/>
          <p:cNvSpPr/>
          <p:nvPr/>
        </p:nvSpPr>
        <p:spPr bwMode="auto">
          <a:xfrm>
            <a:off x="6997700" y="2486555"/>
            <a:ext cx="4604512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Il nodo perdeva </a:t>
            </a: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fra l'8 e il 70%</a:t>
            </a: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 dei pacchetti a qualunque ritmo, anche lentissimo.</a:t>
            </a:r>
            <a:endParaRPr lang="en-US" sz="1400"/>
          </a:p>
        </p:txBody>
      </p:sp>
      <p:sp>
        <p:nvSpPr>
          <p:cNvPr id="1394114680" name="Shape 22"/>
          <p:cNvSpPr/>
          <p:nvPr/>
        </p:nvSpPr>
        <p:spPr bwMode="auto">
          <a:xfrm>
            <a:off x="6819900" y="3365435"/>
            <a:ext cx="4826000" cy="1341107"/>
          </a:xfrm>
          <a:prstGeom prst="roundRect">
            <a:avLst>
              <a:gd name="adj" fmla="val 9470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761100629" name="Shape 23"/>
          <p:cNvSpPr/>
          <p:nvPr/>
        </p:nvSpPr>
        <p:spPr bwMode="auto">
          <a:xfrm>
            <a:off x="6819900" y="3365435"/>
            <a:ext cx="4826000" cy="88900"/>
          </a:xfrm>
          <a:custGeom>
            <a:avLst/>
            <a:gdLst/>
            <a:ahLst/>
            <a:cxnLst/>
            <a:rect l="l" t="t" r="r" b="b"/>
            <a:pathLst>
              <a:path w="4826000" h="88900" fill="norm" stroke="1" extrusionOk="0">
                <a:moveTo>
                  <a:pt x="5850" y="88900"/>
                </a:moveTo>
                <a:arcTo wR="127000" hR="127000" stAng="11847456" swAng="4352544"/>
                <a:lnTo>
                  <a:pt x="4699000" y="0"/>
                </a:lnTo>
                <a:arcTo wR="127000" hR="127000" stAng="16200000" swAng="4352544"/>
                <a:close/>
              </a:path>
            </a:pathLst>
          </a:custGeom>
          <a:solidFill>
            <a:srgbClr val="C0443C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862846349" name="Text 24"/>
          <p:cNvSpPr/>
          <p:nvPr/>
        </p:nvSpPr>
        <p:spPr bwMode="auto">
          <a:xfrm>
            <a:off x="6997700" y="3581334"/>
            <a:ext cx="460451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  <a:defRPr/>
            </a:pPr>
            <a:r>
              <a:rPr lang="en-US" sz="1600" b="1">
                <a:solidFill>
                  <a:srgbClr val="C0443C"/>
                </a:solidFill>
                <a:latin typeface="Carlito"/>
                <a:ea typeface="Carlito"/>
                <a:cs typeface="Carlito"/>
              </a:rPr>
              <a:t>Generatore e nodo sullo stesso core</a:t>
            </a:r>
            <a:endParaRPr lang="en-US" sz="1600"/>
          </a:p>
        </p:txBody>
      </p:sp>
      <p:sp>
        <p:nvSpPr>
          <p:cNvPr id="51812062" name="Text 25"/>
          <p:cNvSpPr/>
          <p:nvPr/>
        </p:nvSpPr>
        <p:spPr bwMode="auto">
          <a:xfrm>
            <a:off x="6997700" y="3916561"/>
            <a:ext cx="4604512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Non si perdeva niente, ma il core faceva il lavoro di tutti e due: il collo di bottiglia era sempre </a:t>
            </a: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il generatore</a:t>
            </a: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.</a:t>
            </a:r>
            <a:endParaRPr lang="en-US" sz="1400"/>
          </a:p>
        </p:txBody>
      </p:sp>
      <p:sp>
        <p:nvSpPr>
          <p:cNvPr id="1060580951" name="Shape 26"/>
          <p:cNvSpPr/>
          <p:nvPr/>
        </p:nvSpPr>
        <p:spPr bwMode="auto">
          <a:xfrm>
            <a:off x="546100" y="5486400"/>
            <a:ext cx="11099800" cy="774700"/>
          </a:xfrm>
          <a:prstGeom prst="roundRect">
            <a:avLst>
              <a:gd name="adj" fmla="val 13115"/>
            </a:avLst>
          </a:prstGeom>
          <a:solidFill>
            <a:srgbClr val="FFF4D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40520419" name="Shape 27"/>
          <p:cNvSpPr/>
          <p:nvPr/>
        </p:nvSpPr>
        <p:spPr bwMode="auto">
          <a:xfrm>
            <a:off x="546100" y="5486400"/>
            <a:ext cx="82550" cy="774700"/>
          </a:xfrm>
          <a:custGeom>
            <a:avLst/>
            <a:gdLst/>
            <a:ahLst/>
            <a:cxnLst/>
            <a:rect l="l" t="t" r="r" b="b"/>
            <a:pathLst>
              <a:path w="82550" h="774700" fill="norm" stroke="1" extrusionOk="0">
                <a:moveTo>
                  <a:pt x="0" y="101600"/>
                </a:moveTo>
                <a:arcTo wR="101600" hR="101600" stAng="10800000" swAng="4751585"/>
                <a:lnTo>
                  <a:pt x="82550" y="772898"/>
                </a:lnTo>
                <a:arcTo wR="101600" hR="101600" stAng="6048415" swAng="4751585"/>
                <a:close/>
              </a:path>
            </a:pathLst>
          </a:custGeom>
          <a:solidFill>
            <a:srgbClr val="F2B134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490792528" name="Text 28"/>
          <p:cNvSpPr/>
          <p:nvPr/>
        </p:nvSpPr>
        <p:spPr bwMode="auto">
          <a:xfrm>
            <a:off x="819150" y="5767058"/>
            <a:ext cx="8762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B57A00"/>
                </a:solidFill>
                <a:latin typeface="Carlito"/>
                <a:ea typeface="Carlito"/>
                <a:cs typeface="Carlito"/>
              </a:rPr>
              <a:t>QUINDI</a:t>
            </a:r>
            <a:endParaRPr lang="en-US" sz="1200"/>
          </a:p>
        </p:txBody>
      </p:sp>
      <p:sp>
        <p:nvSpPr>
          <p:cNvPr id="587291219" name="Text 29"/>
          <p:cNvSpPr/>
          <p:nvPr/>
        </p:nvSpPr>
        <p:spPr bwMode="auto">
          <a:xfrm>
            <a:off x="1822450" y="5626100"/>
            <a:ext cx="988269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  <a:defRPr/>
            </a:pP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La perdita misurava </a:t>
            </a: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le assenze del core</a:t>
            </a: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, non il programma: dentro la macchina virtuale un core può fermarsi per millisecondi, e non si vede né si può impedire.</a:t>
            </a:r>
            <a:endParaRPr lang="en-US" sz="1500"/>
          </a:p>
        </p:txBody>
      </p:sp>
      <p:sp>
        <p:nvSpPr>
          <p:cNvPr id="1919576730" name="Text 30"/>
          <p:cNvSpPr/>
          <p:nvPr/>
        </p:nvSpPr>
        <p:spPr bwMode="auto">
          <a:xfrm>
            <a:off x="10960099" y="642620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6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930082" name="Shape 0"/>
          <p:cNvSpPr/>
          <p:nvPr/>
        </p:nvSpPr>
        <p:spPr bwMode="auto">
          <a:xfrm>
            <a:off x="0" y="0"/>
            <a:ext cx="12192000" cy="107949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765910947" name="Text 1"/>
          <p:cNvSpPr/>
          <p:nvPr/>
        </p:nvSpPr>
        <p:spPr bwMode="auto">
          <a:xfrm>
            <a:off x="546100" y="330200"/>
            <a:ext cx="114327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2 · MACCHINA VIRTUALE E DUAL BOOT · LA SOLUZIONE</a:t>
            </a:r>
            <a:endParaRPr lang="en-US" sz="1200"/>
          </a:p>
        </p:txBody>
      </p:sp>
      <p:sp>
        <p:nvSpPr>
          <p:cNvPr id="1328918946" name="Text 2"/>
          <p:cNvSpPr/>
          <p:nvPr/>
        </p:nvSpPr>
        <p:spPr bwMode="auto">
          <a:xfrm>
            <a:off x="546100" y="584200"/>
            <a:ext cx="1143279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30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Sul dual boot ogni core ha un ruolo fisso</a:t>
            </a:r>
            <a:endParaRPr lang="en-US" sz="3000"/>
          </a:p>
        </p:txBody>
      </p:sp>
      <p:sp>
        <p:nvSpPr>
          <p:cNvPr id="1004643786" name="Shape 3"/>
          <p:cNvSpPr/>
          <p:nvPr/>
        </p:nvSpPr>
        <p:spPr bwMode="auto">
          <a:xfrm>
            <a:off x="546100" y="1562100"/>
            <a:ext cx="5842000" cy="3151717"/>
          </a:xfrm>
          <a:prstGeom prst="roundRect">
            <a:avLst>
              <a:gd name="adj" fmla="val 4030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48470487" name="Text 4"/>
          <p:cNvSpPr/>
          <p:nvPr/>
        </p:nvSpPr>
        <p:spPr bwMode="auto">
          <a:xfrm>
            <a:off x="749300" y="1739900"/>
            <a:ext cx="5598668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  <a:defRPr/>
            </a:pPr>
            <a:r>
              <a:rPr lang="en-US" sz="16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La macchina: un processore ibrido</a:t>
            </a:r>
            <a:endParaRPr lang="en-US" sz="1600"/>
          </a:p>
        </p:txBody>
      </p:sp>
      <p:sp>
        <p:nvSpPr>
          <p:cNvPr id="1517137629" name="Text 5"/>
          <p:cNvSpPr/>
          <p:nvPr/>
        </p:nvSpPr>
        <p:spPr bwMode="auto">
          <a:xfrm>
            <a:off x="749300" y="2087829"/>
            <a:ext cx="559866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Intel Core Ultra 7 155H, 22 CPU: ognuna ha il suo ruolo</a:t>
            </a:r>
            <a:endParaRPr lang="en-US" sz="1300"/>
          </a:p>
        </p:txBody>
      </p:sp>
      <p:sp>
        <p:nvSpPr>
          <p:cNvPr id="1735062347" name="Shape 6"/>
          <p:cNvSpPr/>
          <p:nvPr/>
        </p:nvSpPr>
        <p:spPr bwMode="auto">
          <a:xfrm>
            <a:off x="749300" y="2445941"/>
            <a:ext cx="863599" cy="406400"/>
          </a:xfrm>
          <a:prstGeom prst="roundRect">
            <a:avLst>
              <a:gd name="adj" fmla="val 15625"/>
            </a:avLst>
          </a:prstGeom>
          <a:solidFill>
            <a:srgbClr val="D5DBE3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96183307" name="Text 7"/>
          <p:cNvSpPr/>
          <p:nvPr/>
        </p:nvSpPr>
        <p:spPr bwMode="auto">
          <a:xfrm>
            <a:off x="1135989" y="2524655"/>
            <a:ext cx="14095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0</a:t>
            </a:r>
            <a:endParaRPr lang="en-US" sz="1400"/>
          </a:p>
        </p:txBody>
      </p:sp>
      <p:sp>
        <p:nvSpPr>
          <p:cNvPr id="696961395" name="Shape 8"/>
          <p:cNvSpPr/>
          <p:nvPr/>
        </p:nvSpPr>
        <p:spPr bwMode="auto">
          <a:xfrm>
            <a:off x="749300" y="2890441"/>
            <a:ext cx="863599" cy="406400"/>
          </a:xfrm>
          <a:prstGeom prst="roundRect">
            <a:avLst>
              <a:gd name="adj" fmla="val 15625"/>
            </a:avLst>
          </a:prstGeom>
          <a:solidFill>
            <a:srgbClr val="D5DBE3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424129880" name="Text 9"/>
          <p:cNvSpPr/>
          <p:nvPr/>
        </p:nvSpPr>
        <p:spPr bwMode="auto">
          <a:xfrm>
            <a:off x="1135989" y="2969155"/>
            <a:ext cx="14095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5</a:t>
            </a:r>
            <a:endParaRPr lang="en-US" sz="1400"/>
          </a:p>
        </p:txBody>
      </p:sp>
      <p:sp>
        <p:nvSpPr>
          <p:cNvPr id="1757651601" name="Text 10"/>
          <p:cNvSpPr/>
          <p:nvPr/>
        </p:nvSpPr>
        <p:spPr bwMode="auto">
          <a:xfrm>
            <a:off x="723900" y="3334941"/>
            <a:ext cx="914400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40"/>
              </a:lnSpc>
              <a:buNone/>
              <a:defRPr/>
            </a:pPr>
            <a:r>
              <a:rPr lang="en-US" sz="1200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sistema</a:t>
            </a:r>
            <a:endParaRPr lang="en-US" sz="1200"/>
          </a:p>
        </p:txBody>
      </p:sp>
      <p:sp>
        <p:nvSpPr>
          <p:cNvPr id="130271912" name="Shape 11"/>
          <p:cNvSpPr/>
          <p:nvPr/>
        </p:nvSpPr>
        <p:spPr bwMode="auto">
          <a:xfrm>
            <a:off x="1663700" y="2445941"/>
            <a:ext cx="863599" cy="406400"/>
          </a:xfrm>
          <a:prstGeom prst="roundRect">
            <a:avLst>
              <a:gd name="adj" fmla="val 15625"/>
            </a:avLst>
          </a:prstGeom>
          <a:solidFill>
            <a:srgbClr val="E07A2D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878420526" name="Text 12"/>
          <p:cNvSpPr/>
          <p:nvPr/>
        </p:nvSpPr>
        <p:spPr bwMode="auto">
          <a:xfrm>
            <a:off x="2050389" y="2524655"/>
            <a:ext cx="14095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1</a:t>
            </a:r>
            <a:endParaRPr lang="en-US" sz="1400"/>
          </a:p>
        </p:txBody>
      </p:sp>
      <p:sp>
        <p:nvSpPr>
          <p:cNvPr id="405531575" name="Shape 13"/>
          <p:cNvSpPr/>
          <p:nvPr/>
        </p:nvSpPr>
        <p:spPr bwMode="auto">
          <a:xfrm>
            <a:off x="1670050" y="2896791"/>
            <a:ext cx="850900" cy="393700"/>
          </a:xfrm>
          <a:prstGeom prst="roundRect">
            <a:avLst>
              <a:gd name="adj" fmla="val 14516"/>
            </a:avLst>
          </a:prstGeom>
          <a:noFill/>
          <a:ln w="12700">
            <a:solidFill>
              <a:srgbClr val="B8C2CF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094072020" name="Text 14"/>
          <p:cNvSpPr/>
          <p:nvPr/>
        </p:nvSpPr>
        <p:spPr bwMode="auto">
          <a:xfrm>
            <a:off x="2056871" y="2986949"/>
            <a:ext cx="1280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2</a:t>
            </a:r>
            <a:endParaRPr lang="en-US" sz="1200"/>
          </a:p>
        </p:txBody>
      </p:sp>
      <p:sp>
        <p:nvSpPr>
          <p:cNvPr id="1630004265" name="Text 15"/>
          <p:cNvSpPr/>
          <p:nvPr/>
        </p:nvSpPr>
        <p:spPr bwMode="auto">
          <a:xfrm>
            <a:off x="1638300" y="3334941"/>
            <a:ext cx="914400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40"/>
              </a:lnSpc>
              <a:buNone/>
              <a:defRPr/>
            </a:pPr>
            <a:r>
              <a:rPr lang="en-US" sz="1200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generatore</a:t>
            </a:r>
            <a:endParaRPr lang="en-US" sz="1200"/>
          </a:p>
        </p:txBody>
      </p:sp>
      <p:sp>
        <p:nvSpPr>
          <p:cNvPr id="1667799749" name="Shape 16"/>
          <p:cNvSpPr/>
          <p:nvPr/>
        </p:nvSpPr>
        <p:spPr bwMode="auto">
          <a:xfrm>
            <a:off x="2578100" y="2445941"/>
            <a:ext cx="863599" cy="406400"/>
          </a:xfrm>
          <a:prstGeom prst="roundRect">
            <a:avLst>
              <a:gd name="adj" fmla="val 15625"/>
            </a:avLst>
          </a:prstGeom>
          <a:solidFill>
            <a:srgbClr val="E07A2D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67450695" name="Text 17"/>
          <p:cNvSpPr/>
          <p:nvPr/>
        </p:nvSpPr>
        <p:spPr bwMode="auto">
          <a:xfrm>
            <a:off x="2964789" y="2524655"/>
            <a:ext cx="14095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3</a:t>
            </a:r>
            <a:endParaRPr lang="en-US" sz="1400"/>
          </a:p>
        </p:txBody>
      </p:sp>
      <p:sp>
        <p:nvSpPr>
          <p:cNvPr id="694195541" name="Shape 18"/>
          <p:cNvSpPr/>
          <p:nvPr/>
        </p:nvSpPr>
        <p:spPr bwMode="auto">
          <a:xfrm>
            <a:off x="2584450" y="2896791"/>
            <a:ext cx="850900" cy="393700"/>
          </a:xfrm>
          <a:prstGeom prst="roundRect">
            <a:avLst>
              <a:gd name="adj" fmla="val 14516"/>
            </a:avLst>
          </a:prstGeom>
          <a:noFill/>
          <a:ln w="12700">
            <a:solidFill>
              <a:srgbClr val="B8C2CF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36258960" name="Text 19"/>
          <p:cNvSpPr/>
          <p:nvPr/>
        </p:nvSpPr>
        <p:spPr bwMode="auto">
          <a:xfrm>
            <a:off x="2971271" y="2986949"/>
            <a:ext cx="1280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4</a:t>
            </a:r>
            <a:endParaRPr lang="en-US" sz="1200"/>
          </a:p>
        </p:txBody>
      </p:sp>
      <p:sp>
        <p:nvSpPr>
          <p:cNvPr id="244306158" name="Text 20"/>
          <p:cNvSpPr/>
          <p:nvPr/>
        </p:nvSpPr>
        <p:spPr bwMode="auto">
          <a:xfrm>
            <a:off x="2552700" y="3334941"/>
            <a:ext cx="914400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40"/>
              </a:lnSpc>
              <a:buNone/>
              <a:defRPr/>
            </a:pPr>
            <a:r>
              <a:rPr lang="en-US" sz="1200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generatore</a:t>
            </a:r>
            <a:endParaRPr lang="en-US" sz="1200"/>
          </a:p>
        </p:txBody>
      </p:sp>
      <p:sp>
        <p:nvSpPr>
          <p:cNvPr id="2131593269" name="Shape 21"/>
          <p:cNvSpPr/>
          <p:nvPr/>
        </p:nvSpPr>
        <p:spPr bwMode="auto">
          <a:xfrm>
            <a:off x="3492500" y="2445941"/>
            <a:ext cx="863599" cy="406400"/>
          </a:xfrm>
          <a:prstGeom prst="roundRect">
            <a:avLst>
              <a:gd name="adj" fmla="val 15625"/>
            </a:avLst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385023210" name="Text 22"/>
          <p:cNvSpPr/>
          <p:nvPr/>
        </p:nvSpPr>
        <p:spPr bwMode="auto">
          <a:xfrm>
            <a:off x="3879189" y="2524655"/>
            <a:ext cx="14095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6</a:t>
            </a:r>
            <a:endParaRPr lang="en-US" sz="1400"/>
          </a:p>
        </p:txBody>
      </p:sp>
      <p:sp>
        <p:nvSpPr>
          <p:cNvPr id="7460411" name="Shape 23"/>
          <p:cNvSpPr/>
          <p:nvPr/>
        </p:nvSpPr>
        <p:spPr bwMode="auto">
          <a:xfrm>
            <a:off x="3498850" y="2896791"/>
            <a:ext cx="850900" cy="393700"/>
          </a:xfrm>
          <a:prstGeom prst="roundRect">
            <a:avLst>
              <a:gd name="adj" fmla="val 14516"/>
            </a:avLst>
          </a:prstGeom>
          <a:noFill/>
          <a:ln w="12700">
            <a:solidFill>
              <a:srgbClr val="B8C2CF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398310824" name="Text 24"/>
          <p:cNvSpPr/>
          <p:nvPr/>
        </p:nvSpPr>
        <p:spPr bwMode="auto">
          <a:xfrm>
            <a:off x="3885671" y="2986949"/>
            <a:ext cx="1280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7</a:t>
            </a:r>
            <a:endParaRPr lang="en-US" sz="1200"/>
          </a:p>
        </p:txBody>
      </p:sp>
      <p:sp>
        <p:nvSpPr>
          <p:cNvPr id="1997930544" name="Text 25"/>
          <p:cNvSpPr/>
          <p:nvPr/>
        </p:nvSpPr>
        <p:spPr bwMode="auto">
          <a:xfrm>
            <a:off x="3467100" y="3334941"/>
            <a:ext cx="914400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40"/>
              </a:lnSpc>
              <a:buNone/>
              <a:defRPr/>
            </a:pPr>
            <a:r>
              <a:rPr lang="en-US" sz="12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NODO</a:t>
            </a:r>
            <a:endParaRPr lang="en-US" sz="1200"/>
          </a:p>
        </p:txBody>
      </p:sp>
      <p:sp>
        <p:nvSpPr>
          <p:cNvPr id="1882495708" name="Shape 26"/>
          <p:cNvSpPr/>
          <p:nvPr/>
        </p:nvSpPr>
        <p:spPr bwMode="auto">
          <a:xfrm>
            <a:off x="4406900" y="2445941"/>
            <a:ext cx="863599" cy="406400"/>
          </a:xfrm>
          <a:prstGeom prst="roundRect">
            <a:avLst>
              <a:gd name="adj" fmla="val 15625"/>
            </a:avLst>
          </a:prstGeom>
          <a:solidFill>
            <a:srgbClr val="6B7C93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29959537" name="Text 27"/>
          <p:cNvSpPr/>
          <p:nvPr/>
        </p:nvSpPr>
        <p:spPr bwMode="auto">
          <a:xfrm>
            <a:off x="4793589" y="2524655"/>
            <a:ext cx="14095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8</a:t>
            </a:r>
            <a:endParaRPr lang="en-US" sz="1400"/>
          </a:p>
        </p:txBody>
      </p:sp>
      <p:sp>
        <p:nvSpPr>
          <p:cNvPr id="1063052890" name="Shape 28"/>
          <p:cNvSpPr/>
          <p:nvPr/>
        </p:nvSpPr>
        <p:spPr bwMode="auto">
          <a:xfrm>
            <a:off x="4413250" y="2896791"/>
            <a:ext cx="850900" cy="393700"/>
          </a:xfrm>
          <a:prstGeom prst="roundRect">
            <a:avLst>
              <a:gd name="adj" fmla="val 14516"/>
            </a:avLst>
          </a:prstGeom>
          <a:noFill/>
          <a:ln w="12700">
            <a:solidFill>
              <a:srgbClr val="B8C2CF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668771934" name="Text 29"/>
          <p:cNvSpPr/>
          <p:nvPr/>
        </p:nvSpPr>
        <p:spPr bwMode="auto">
          <a:xfrm>
            <a:off x="4800071" y="2986949"/>
            <a:ext cx="1280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9</a:t>
            </a:r>
            <a:endParaRPr lang="en-US" sz="1200"/>
          </a:p>
        </p:txBody>
      </p:sp>
      <p:sp>
        <p:nvSpPr>
          <p:cNvPr id="957317869" name="Text 30"/>
          <p:cNvSpPr/>
          <p:nvPr/>
        </p:nvSpPr>
        <p:spPr bwMode="auto">
          <a:xfrm>
            <a:off x="4381500" y="3334941"/>
            <a:ext cx="914400" cy="391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40"/>
              </a:lnSpc>
              <a:buNone/>
              <a:defRPr/>
            </a:pPr>
            <a:r>
              <a:rPr lang="en-US" sz="1200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nodo successivo</a:t>
            </a:r>
            <a:endParaRPr lang="en-US" sz="1200"/>
          </a:p>
        </p:txBody>
      </p:sp>
      <p:sp>
        <p:nvSpPr>
          <p:cNvPr id="1716953207" name="Shape 31"/>
          <p:cNvSpPr/>
          <p:nvPr/>
        </p:nvSpPr>
        <p:spPr bwMode="auto">
          <a:xfrm>
            <a:off x="5321300" y="2445941"/>
            <a:ext cx="863599" cy="406400"/>
          </a:xfrm>
          <a:prstGeom prst="roundRect">
            <a:avLst>
              <a:gd name="adj" fmla="val 15625"/>
            </a:avLst>
          </a:prstGeom>
          <a:solidFill>
            <a:srgbClr val="E07A2D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936827515" name="Text 32"/>
          <p:cNvSpPr/>
          <p:nvPr/>
        </p:nvSpPr>
        <p:spPr bwMode="auto">
          <a:xfrm>
            <a:off x="5662943" y="2524655"/>
            <a:ext cx="23104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10</a:t>
            </a:r>
            <a:endParaRPr lang="en-US" sz="1400"/>
          </a:p>
        </p:txBody>
      </p:sp>
      <p:sp>
        <p:nvSpPr>
          <p:cNvPr id="824182101" name="Shape 33"/>
          <p:cNvSpPr/>
          <p:nvPr/>
        </p:nvSpPr>
        <p:spPr bwMode="auto">
          <a:xfrm>
            <a:off x="5327650" y="2896791"/>
            <a:ext cx="850900" cy="393700"/>
          </a:xfrm>
          <a:prstGeom prst="roundRect">
            <a:avLst>
              <a:gd name="adj" fmla="val 14516"/>
            </a:avLst>
          </a:prstGeom>
          <a:noFill/>
          <a:ln w="12700">
            <a:solidFill>
              <a:srgbClr val="B8C2CF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104848907" name="Text 34"/>
          <p:cNvSpPr/>
          <p:nvPr/>
        </p:nvSpPr>
        <p:spPr bwMode="auto">
          <a:xfrm>
            <a:off x="5675842" y="2986949"/>
            <a:ext cx="2053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11</a:t>
            </a:r>
            <a:endParaRPr lang="en-US" sz="1200"/>
          </a:p>
        </p:txBody>
      </p:sp>
      <p:sp>
        <p:nvSpPr>
          <p:cNvPr id="1667861662" name="Text 35"/>
          <p:cNvSpPr/>
          <p:nvPr/>
        </p:nvSpPr>
        <p:spPr bwMode="auto">
          <a:xfrm>
            <a:off x="5295899" y="3334941"/>
            <a:ext cx="914400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40"/>
              </a:lnSpc>
              <a:buNone/>
              <a:defRPr/>
            </a:pPr>
            <a:r>
              <a:rPr lang="en-US" sz="1200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generatore</a:t>
            </a:r>
            <a:endParaRPr lang="en-US" sz="1200"/>
          </a:p>
        </p:txBody>
      </p:sp>
      <p:sp>
        <p:nvSpPr>
          <p:cNvPr id="809506196" name="Shape 36"/>
          <p:cNvSpPr/>
          <p:nvPr/>
        </p:nvSpPr>
        <p:spPr bwMode="auto">
          <a:xfrm>
            <a:off x="749300" y="3766741"/>
            <a:ext cx="5435600" cy="355600"/>
          </a:xfrm>
          <a:prstGeom prst="roundRect">
            <a:avLst>
              <a:gd name="adj" fmla="val 17857"/>
            </a:avLst>
          </a:prstGeom>
          <a:solidFill>
            <a:srgbClr val="E4E8E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430853033" name="Text 37"/>
          <p:cNvSpPr/>
          <p:nvPr/>
        </p:nvSpPr>
        <p:spPr bwMode="auto">
          <a:xfrm>
            <a:off x="2223360" y="3837849"/>
            <a:ext cx="256210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E-core 12–19 e LP E-core 20–21: sistema</a:t>
            </a:r>
            <a:endParaRPr lang="en-US" sz="1200"/>
          </a:p>
        </p:txBody>
      </p:sp>
      <p:sp>
        <p:nvSpPr>
          <p:cNvPr id="1935843366" name="Text 38"/>
          <p:cNvSpPr/>
          <p:nvPr/>
        </p:nvSpPr>
        <p:spPr bwMode="auto">
          <a:xfrm>
            <a:off x="749300" y="4185841"/>
            <a:ext cx="55986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In tratteggio: il thread gemello di ogni core, lasciato a riposo.</a:t>
            </a:r>
            <a:endParaRPr lang="en-US" sz="1200"/>
          </a:p>
        </p:txBody>
      </p:sp>
      <p:sp>
        <p:nvSpPr>
          <p:cNvPr id="591224627" name="Shape 39"/>
          <p:cNvSpPr/>
          <p:nvPr/>
        </p:nvSpPr>
        <p:spPr bwMode="auto">
          <a:xfrm>
            <a:off x="6565900" y="15621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105946678" name="Text 40"/>
          <p:cNvSpPr/>
          <p:nvPr/>
        </p:nvSpPr>
        <p:spPr bwMode="auto">
          <a:xfrm>
            <a:off x="6676430" y="1598944"/>
            <a:ext cx="134541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1</a:t>
            </a:r>
            <a:endParaRPr lang="en-US" sz="1300"/>
          </a:p>
        </p:txBody>
      </p:sp>
      <p:sp>
        <p:nvSpPr>
          <p:cNvPr id="2075745009" name="Text 41"/>
          <p:cNvSpPr/>
          <p:nvPr/>
        </p:nvSpPr>
        <p:spPr bwMode="auto">
          <a:xfrm>
            <a:off x="6985000" y="1562100"/>
            <a:ext cx="480072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Frequenza fissa e misurata</a:t>
            </a:r>
            <a:endParaRPr lang="en-US" sz="1500"/>
          </a:p>
        </p:txBody>
      </p:sp>
      <p:sp>
        <p:nvSpPr>
          <p:cNvPr id="1690642339" name="Text 42"/>
          <p:cNvSpPr/>
          <p:nvPr/>
        </p:nvSpPr>
        <p:spPr bwMode="auto">
          <a:xfrm>
            <a:off x="6985000" y="1854200"/>
            <a:ext cx="4800727" cy="45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  <a:defRPr/>
            </a:pPr>
            <a:r>
              <a:rPr lang="en-US" sz="13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3,5 GHz richiesti, 3 494 MHz misurati dai contatori del processore durante ogni misura.</a:t>
            </a:r>
            <a:endParaRPr lang="en-US" sz="1300"/>
          </a:p>
        </p:txBody>
      </p:sp>
      <p:sp>
        <p:nvSpPr>
          <p:cNvPr id="2035035443" name="Shape 43"/>
          <p:cNvSpPr/>
          <p:nvPr/>
        </p:nvSpPr>
        <p:spPr bwMode="auto">
          <a:xfrm>
            <a:off x="6565900" y="237225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796149070" name="Text 44"/>
          <p:cNvSpPr/>
          <p:nvPr/>
        </p:nvSpPr>
        <p:spPr bwMode="auto">
          <a:xfrm>
            <a:off x="6676430" y="2409099"/>
            <a:ext cx="134541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2</a:t>
            </a:r>
            <a:endParaRPr lang="en-US" sz="1300"/>
          </a:p>
        </p:txBody>
      </p:sp>
      <p:sp>
        <p:nvSpPr>
          <p:cNvPr id="31533274" name="Text 45"/>
          <p:cNvSpPr/>
          <p:nvPr/>
        </p:nvSpPr>
        <p:spPr bwMode="auto">
          <a:xfrm>
            <a:off x="6985000" y="2372255"/>
            <a:ext cx="480072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Niente sonno profondo</a:t>
            </a:r>
            <a:endParaRPr lang="en-US" sz="1500"/>
          </a:p>
        </p:txBody>
      </p:sp>
      <p:sp>
        <p:nvSpPr>
          <p:cNvPr id="581001926" name="Text 46"/>
          <p:cNvSpPr/>
          <p:nvPr/>
        </p:nvSpPr>
        <p:spPr bwMode="auto">
          <a:xfrm>
            <a:off x="6985000" y="2664355"/>
            <a:ext cx="4800727" cy="45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  <a:defRPr/>
            </a:pPr>
            <a:r>
              <a:rPr lang="en-US" sz="13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Un core che dorme impiega 310 µs a svegliarsi, più dei 170 µs che la coda concede.</a:t>
            </a:r>
            <a:endParaRPr lang="en-US" sz="1300"/>
          </a:p>
        </p:txBody>
      </p:sp>
      <p:sp>
        <p:nvSpPr>
          <p:cNvPr id="1169629068" name="Shape 47"/>
          <p:cNvSpPr/>
          <p:nvPr/>
        </p:nvSpPr>
        <p:spPr bwMode="auto">
          <a:xfrm>
            <a:off x="6565900" y="318241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087318761" name="Text 48"/>
          <p:cNvSpPr/>
          <p:nvPr/>
        </p:nvSpPr>
        <p:spPr bwMode="auto">
          <a:xfrm>
            <a:off x="6676430" y="3219252"/>
            <a:ext cx="134541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3</a:t>
            </a:r>
            <a:endParaRPr lang="en-US" sz="1300"/>
          </a:p>
        </p:txBody>
      </p:sp>
      <p:sp>
        <p:nvSpPr>
          <p:cNvPr id="1301618743" name="Text 49"/>
          <p:cNvSpPr/>
          <p:nvPr/>
        </p:nvSpPr>
        <p:spPr bwMode="auto">
          <a:xfrm>
            <a:off x="6985000" y="3182410"/>
            <a:ext cx="480072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Il resto del sistema altrove</a:t>
            </a:r>
            <a:endParaRPr lang="en-US" sz="1500"/>
          </a:p>
        </p:txBody>
      </p:sp>
      <p:sp>
        <p:nvSpPr>
          <p:cNvPr id="1617509775" name="Text 50"/>
          <p:cNvSpPr/>
          <p:nvPr/>
        </p:nvSpPr>
        <p:spPr bwMode="auto">
          <a:xfrm>
            <a:off x="6985000" y="3474510"/>
            <a:ext cx="4800727" cy="45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  <a:defRPr/>
            </a:pPr>
            <a:r>
              <a:rPr lang="en-US" sz="13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Desktop, servizi, interruzioni e thread del kernel stanno sulle altre CPU.</a:t>
            </a:r>
            <a:endParaRPr lang="en-US" sz="1300"/>
          </a:p>
        </p:txBody>
      </p:sp>
      <p:sp>
        <p:nvSpPr>
          <p:cNvPr id="2108056701" name="Shape 51"/>
          <p:cNvSpPr/>
          <p:nvPr/>
        </p:nvSpPr>
        <p:spPr bwMode="auto">
          <a:xfrm>
            <a:off x="6565900" y="3992563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69879022" name="Text 52"/>
          <p:cNvSpPr/>
          <p:nvPr/>
        </p:nvSpPr>
        <p:spPr bwMode="auto">
          <a:xfrm>
            <a:off x="6676430" y="4029407"/>
            <a:ext cx="134541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4</a:t>
            </a:r>
            <a:endParaRPr lang="en-US" sz="1300"/>
          </a:p>
        </p:txBody>
      </p:sp>
      <p:sp>
        <p:nvSpPr>
          <p:cNvPr id="517801180" name="Text 53"/>
          <p:cNvSpPr/>
          <p:nvPr/>
        </p:nvSpPr>
        <p:spPr bwMode="auto">
          <a:xfrm>
            <a:off x="6985000" y="3992563"/>
            <a:ext cx="480072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Un monitor sempre acceso</a:t>
            </a:r>
            <a:endParaRPr lang="en-US" sz="1500"/>
          </a:p>
        </p:txBody>
      </p:sp>
      <p:sp>
        <p:nvSpPr>
          <p:cNvPr id="315556873" name="Text 54"/>
          <p:cNvSpPr/>
          <p:nvPr/>
        </p:nvSpPr>
        <p:spPr bwMode="auto">
          <a:xfrm>
            <a:off x="6985000" y="4284663"/>
            <a:ext cx="4800727" cy="45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  <a:defRPr/>
            </a:pPr>
            <a:r>
              <a:rPr lang="en-US" sz="13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Temperatura, throttling e frequenza vera: una finestra fuori condizione si conta, non si scarta.</a:t>
            </a:r>
            <a:endParaRPr lang="en-US" sz="1300"/>
          </a:p>
        </p:txBody>
      </p:sp>
      <p:sp>
        <p:nvSpPr>
          <p:cNvPr id="545695317" name="Shape 55"/>
          <p:cNvSpPr/>
          <p:nvPr/>
        </p:nvSpPr>
        <p:spPr bwMode="auto">
          <a:xfrm>
            <a:off x="546100" y="5734050"/>
            <a:ext cx="11099800" cy="527050"/>
          </a:xfrm>
          <a:prstGeom prst="roundRect">
            <a:avLst>
              <a:gd name="adj" fmla="val 19277"/>
            </a:avLst>
          </a:prstGeom>
          <a:solidFill>
            <a:srgbClr val="FFF4D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953007901" name="Shape 56"/>
          <p:cNvSpPr/>
          <p:nvPr/>
        </p:nvSpPr>
        <p:spPr bwMode="auto">
          <a:xfrm>
            <a:off x="546100" y="5734050"/>
            <a:ext cx="82550" cy="527050"/>
          </a:xfrm>
          <a:custGeom>
            <a:avLst/>
            <a:gdLst/>
            <a:ahLst/>
            <a:cxnLst/>
            <a:rect l="l" t="t" r="r" b="b"/>
            <a:pathLst>
              <a:path w="82550" h="527050" fill="norm" stroke="1" extrusionOk="0">
                <a:moveTo>
                  <a:pt x="0" y="101600"/>
                </a:moveTo>
                <a:arcTo wR="101600" hR="101600" stAng="10800000" swAng="4751585"/>
                <a:lnTo>
                  <a:pt x="82550" y="525248"/>
                </a:lnTo>
                <a:arcTo wR="101600" hR="101600" stAng="6048415" swAng="4751585"/>
                <a:close/>
              </a:path>
            </a:pathLst>
          </a:custGeom>
          <a:solidFill>
            <a:srgbClr val="F2B134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12241529" name="Text 57"/>
          <p:cNvSpPr/>
          <p:nvPr/>
        </p:nvSpPr>
        <p:spPr bwMode="auto">
          <a:xfrm>
            <a:off x="819150" y="5890884"/>
            <a:ext cx="8762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B57A00"/>
                </a:solidFill>
                <a:latin typeface="Carlito"/>
                <a:ea typeface="Carlito"/>
                <a:cs typeface="Carlito"/>
              </a:rPr>
              <a:t>QUINDI</a:t>
            </a:r>
            <a:endParaRPr lang="en-US" sz="1200"/>
          </a:p>
        </p:txBody>
      </p:sp>
      <p:sp>
        <p:nvSpPr>
          <p:cNvPr id="318542729" name="Text 58"/>
          <p:cNvSpPr/>
          <p:nvPr/>
        </p:nvSpPr>
        <p:spPr bwMode="auto">
          <a:xfrm>
            <a:off x="1822450" y="5873750"/>
            <a:ext cx="988269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  <a:defRPr/>
            </a:pP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Il core del nodo </a:t>
            </a: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non dorme, non cambia frequenza e nessuno lo interrompe</a:t>
            </a: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: si misura il programma, non la macchina.</a:t>
            </a:r>
            <a:endParaRPr lang="en-US" sz="1500"/>
          </a:p>
        </p:txBody>
      </p:sp>
      <p:sp>
        <p:nvSpPr>
          <p:cNvPr id="465296751" name="Text 60"/>
          <p:cNvSpPr/>
          <p:nvPr/>
        </p:nvSpPr>
        <p:spPr bwMode="auto">
          <a:xfrm>
            <a:off x="10960099" y="642620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7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367219" name="Shape 0"/>
          <p:cNvSpPr/>
          <p:nvPr/>
        </p:nvSpPr>
        <p:spPr bwMode="auto">
          <a:xfrm>
            <a:off x="0" y="0"/>
            <a:ext cx="12192000" cy="107949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37603092" name="Text 1"/>
          <p:cNvSpPr/>
          <p:nvPr/>
        </p:nvSpPr>
        <p:spPr bwMode="auto">
          <a:xfrm>
            <a:off x="546100" y="330200"/>
            <a:ext cx="114327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2 · MACCHINA VIRTUALE E DUAL BOOT · PRIMA E DOPO</a:t>
            </a:r>
            <a:endParaRPr lang="en-US" sz="1200"/>
          </a:p>
        </p:txBody>
      </p:sp>
      <p:sp>
        <p:nvSpPr>
          <p:cNvPr id="889747992" name="Text 2"/>
          <p:cNvSpPr/>
          <p:nvPr/>
        </p:nvSpPr>
        <p:spPr bwMode="auto">
          <a:xfrm>
            <a:off x="546100" y="584200"/>
            <a:ext cx="1143279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30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Con il dual boot le misure si ripetono</a:t>
            </a:r>
            <a:endParaRPr lang="en-US" sz="3000"/>
          </a:p>
        </p:txBody>
      </p:sp>
      <p:sp>
        <p:nvSpPr>
          <p:cNvPr id="1709741813" name="Shape 3"/>
          <p:cNvSpPr/>
          <p:nvPr/>
        </p:nvSpPr>
        <p:spPr bwMode="auto">
          <a:xfrm>
            <a:off x="546100" y="1562100"/>
            <a:ext cx="2355850" cy="292100"/>
          </a:xfrm>
          <a:prstGeom prst="roundRect">
            <a:avLst>
              <a:gd name="adj" fmla="val 26087"/>
            </a:avLst>
          </a:prstGeom>
          <a:solidFill>
            <a:srgbClr val="6B7C93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3846286" name="Text 4"/>
          <p:cNvSpPr/>
          <p:nvPr/>
        </p:nvSpPr>
        <p:spPr bwMode="auto">
          <a:xfrm>
            <a:off x="1109530" y="1592594"/>
            <a:ext cx="127972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Macchina virtuale</a:t>
            </a:r>
            <a:endParaRPr lang="en-US" sz="1300"/>
          </a:p>
        </p:txBody>
      </p:sp>
      <p:sp>
        <p:nvSpPr>
          <p:cNvPr id="669109554" name="Shape 5"/>
          <p:cNvSpPr/>
          <p:nvPr/>
        </p:nvSpPr>
        <p:spPr bwMode="auto">
          <a:xfrm>
            <a:off x="2940050" y="1562100"/>
            <a:ext cx="2355850" cy="292100"/>
          </a:xfrm>
          <a:prstGeom prst="roundRect">
            <a:avLst>
              <a:gd name="adj" fmla="val 26087"/>
            </a:avLst>
          </a:prstGeom>
          <a:solidFill>
            <a:srgbClr val="2E9C6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16071177" name="Text 6"/>
          <p:cNvSpPr/>
          <p:nvPr/>
        </p:nvSpPr>
        <p:spPr bwMode="auto">
          <a:xfrm>
            <a:off x="3780234" y="1592594"/>
            <a:ext cx="726215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Dual boot</a:t>
            </a:r>
            <a:endParaRPr lang="en-US" sz="1300"/>
          </a:p>
        </p:txBody>
      </p:sp>
      <p:graphicFrame>
        <p:nvGraphicFramePr>
          <p:cNvPr id="577513570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558800" y="1943100"/>
          <a:ext cx="6400800" cy="179652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631576"/>
                <a:gridCol w="1192306"/>
                <a:gridCol w="1192306"/>
                <a:gridCol w="1192306"/>
                <a:gridCol w="1192306"/>
              </a:tblGrid>
              <a:tr h="359304">
                <a:tc>
                  <a:txBody>
                    <a:bodyPr/>
                    <a:p>
                      <a:pPr marL="0" indent="0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</a:rPr>
                        <a:t>Pipeline</a:t>
                      </a:r>
                      <a:endParaRPr lang="en-US" sz="13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57785" marR="57785" marT="57785" marB="57785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1D324E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1D324E"/>
                      </a:solidFill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</a:rPr>
                        <a:t>costo</a:t>
                      </a:r>
                      <a:endParaRPr lang="en-US" sz="13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57785" marR="57785" marT="57785" marB="57785">
                    <a:lnL w="12700" algn="ctr">
                      <a:solidFill>
                        <a:srgbClr val="1D324E"/>
                      </a:solidFill>
                    </a:lnL>
                    <a:lnR w="12700" algn="ctr">
                      <a:solidFill>
                        <a:srgbClr val="1D324E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1D324E"/>
                      </a:solidFill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</a:rPr>
                        <a:t>variazione</a:t>
                      </a:r>
                      <a:endParaRPr lang="en-US" sz="13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57785" marR="57785" marT="57785" marB="57785">
                    <a:lnL w="12700" algn="ctr">
                      <a:solidFill>
                        <a:srgbClr val="1D324E"/>
                      </a:solidFill>
                    </a:lnL>
                    <a:lnR w="12700" algn="ctr">
                      <a:solidFill>
                        <a:srgbClr val="1D324E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1D324E"/>
                      </a:solidFill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</a:rPr>
                        <a:t>costo</a:t>
                      </a:r>
                      <a:endParaRPr lang="en-US" sz="13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57785" marR="57785" marT="57785" marB="57785">
                    <a:lnL w="12700" algn="ctr">
                      <a:solidFill>
                        <a:srgbClr val="1D324E"/>
                      </a:solidFill>
                    </a:lnL>
                    <a:lnR w="12700" algn="ctr">
                      <a:solidFill>
                        <a:srgbClr val="1D324E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1D324E"/>
                      </a:solidFill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</a:rPr>
                        <a:t>variazione</a:t>
                      </a:r>
                      <a:endParaRPr lang="en-US" sz="13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57785" marR="57785" marT="57785" marB="57785">
                    <a:lnL w="12700" algn="ctr">
                      <a:solidFill>
                        <a:srgbClr val="1D324E"/>
                      </a:solidFill>
                    </a:lnL>
                    <a:lnR w="12700" algn="ctr">
                      <a:solidFill>
                        <a:srgbClr val="1D324E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1D324E"/>
                      </a:solidFill>
                    </a:lnB>
                    <a:solidFill>
                      <a:srgbClr val="1F3A5F"/>
                    </a:solidFill>
                  </a:tcPr>
                </a:tc>
              </a:tr>
              <a:tr h="359304">
                <a:tc>
                  <a:txBody>
                    <a:bodyPr/>
                    <a:p>
                      <a:pPr marL="0" indent="0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222B36"/>
                          </a:solidFill>
                          <a:latin typeface="Carlito"/>
                          <a:ea typeface="Carlito"/>
                          <a:cs typeface="Carlito"/>
                        </a:rPr>
                        <a:t>P1 statica</a:t>
                      </a:r>
                      <a:endParaRPr lang="en-US" sz="13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57785" marR="57785" marT="57785" marB="57785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1D324E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222B36"/>
                          </a:solidFill>
                          <a:latin typeface="Carlito"/>
                          <a:ea typeface="Carlito"/>
                          <a:cs typeface="Carlito"/>
                        </a:rPr>
                        <a:t>~82 ns</a:t>
                      </a:r>
                      <a:endParaRPr lang="en-US" sz="13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57785" marR="57785" marT="57785" marB="57785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1D324E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C0443C"/>
                          </a:solidFill>
                          <a:latin typeface="Carlito"/>
                          <a:ea typeface="Carlito"/>
                          <a:cs typeface="Carlito"/>
                        </a:rPr>
                        <a:t>160%</a:t>
                      </a:r>
                      <a:endParaRPr lang="en-US" sz="13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57785" marR="57785" marT="57785" marB="57785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1D324E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222B36"/>
                          </a:solidFill>
                          <a:latin typeface="Carlito"/>
                          <a:ea typeface="Carlito"/>
                          <a:cs typeface="Carlito"/>
                        </a:rPr>
                        <a:t>38 ns</a:t>
                      </a:r>
                      <a:endParaRPr lang="en-US" sz="13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57785" marR="57785" marT="57785" marB="57785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1D324E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2E9C6E"/>
                          </a:solidFill>
                          <a:latin typeface="Carlito"/>
                          <a:ea typeface="Carlito"/>
                          <a:cs typeface="Carlito"/>
                        </a:rPr>
                        <a:t>0,5%</a:t>
                      </a:r>
                      <a:endParaRPr lang="en-US" sz="13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57785" marR="57785" marT="57785" marB="57785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1D324E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9304">
                <a:tc>
                  <a:txBody>
                    <a:bodyPr/>
                    <a:p>
                      <a:pPr marL="0" indent="0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222B36"/>
                          </a:solidFill>
                          <a:latin typeface="Carlito"/>
                          <a:ea typeface="Carlito"/>
                          <a:cs typeface="Carlito"/>
                        </a:rPr>
                        <a:t>P1.5</a:t>
                      </a:r>
                      <a:endParaRPr lang="en-US" sz="13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57785" marR="57785" marT="57785" marB="57785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2C4C6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2C4C6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222B36"/>
                          </a:solidFill>
                          <a:latin typeface="Carlito"/>
                          <a:ea typeface="Carlito"/>
                          <a:cs typeface="Carlito"/>
                        </a:rPr>
                        <a:t>~116 ns</a:t>
                      </a:r>
                      <a:endParaRPr lang="en-US" sz="13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57785" marR="57785" marT="57785" marB="57785">
                    <a:lnL w="12700" algn="ctr">
                      <a:solidFill>
                        <a:srgbClr val="C2C4C6"/>
                      </a:solidFill>
                    </a:lnL>
                    <a:lnR w="12700" algn="ctr">
                      <a:solidFill>
                        <a:srgbClr val="C2C4C6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2C4C6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C0443C"/>
                          </a:solidFill>
                          <a:latin typeface="Carlito"/>
                          <a:ea typeface="Carlito"/>
                          <a:cs typeface="Carlito"/>
                        </a:rPr>
                        <a:t>104%</a:t>
                      </a:r>
                      <a:endParaRPr lang="en-US" sz="13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57785" marR="57785" marT="57785" marB="57785">
                    <a:lnL w="12700" algn="ctr">
                      <a:solidFill>
                        <a:srgbClr val="C2C4C6"/>
                      </a:solidFill>
                    </a:lnL>
                    <a:lnR w="12700" algn="ctr">
                      <a:solidFill>
                        <a:srgbClr val="C2C4C6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2C4C6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222B36"/>
                          </a:solidFill>
                          <a:latin typeface="Carlito"/>
                          <a:ea typeface="Carlito"/>
                          <a:cs typeface="Carlito"/>
                        </a:rPr>
                        <a:t>53 ns</a:t>
                      </a:r>
                      <a:endParaRPr lang="en-US" sz="13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57785" marR="57785" marT="57785" marB="57785">
                    <a:lnL w="12700" algn="ctr">
                      <a:solidFill>
                        <a:srgbClr val="C2C4C6"/>
                      </a:solidFill>
                    </a:lnL>
                    <a:lnR w="12700" algn="ctr">
                      <a:solidFill>
                        <a:srgbClr val="C2C4C6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2C4C6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2E9C6E"/>
                          </a:solidFill>
                          <a:latin typeface="Carlito"/>
                          <a:ea typeface="Carlito"/>
                          <a:cs typeface="Carlito"/>
                        </a:rPr>
                        <a:t>0,6%</a:t>
                      </a:r>
                      <a:endParaRPr lang="en-US" sz="13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57785" marR="57785" marT="57785" marB="57785">
                    <a:lnL w="12700" algn="ctr">
                      <a:solidFill>
                        <a:srgbClr val="C2C4C6"/>
                      </a:solidFill>
                    </a:lnL>
                    <a:lnR w="12700" algn="ctr">
                      <a:solidFill>
                        <a:srgbClr val="C2C4C6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2C4C6"/>
                      </a:solidFill>
                    </a:lnB>
                    <a:solidFill>
                      <a:srgbClr val="F3F5F8"/>
                    </a:solidFill>
                  </a:tcPr>
                </a:tc>
              </a:tr>
              <a:tr h="359304">
                <a:tc>
                  <a:txBody>
                    <a:bodyPr/>
                    <a:p>
                      <a:pPr marL="0" indent="0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222B36"/>
                          </a:solidFill>
                          <a:latin typeface="Carlito"/>
                          <a:ea typeface="Carlito"/>
                          <a:cs typeface="Carlito"/>
                        </a:rPr>
                        <a:t>P2</a:t>
                      </a:r>
                      <a:endParaRPr lang="en-US" sz="13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57785" marR="57785" marT="57785" marB="57785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2C4C6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222B36"/>
                          </a:solidFill>
                          <a:latin typeface="Carlito"/>
                          <a:ea typeface="Carlito"/>
                          <a:cs typeface="Carlito"/>
                        </a:rPr>
                        <a:t>~430 ns</a:t>
                      </a:r>
                      <a:endParaRPr lang="en-US" sz="13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57785" marR="57785" marT="57785" marB="57785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2C4C6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C0443C"/>
                          </a:solidFill>
                          <a:latin typeface="Carlito"/>
                          <a:ea typeface="Carlito"/>
                          <a:cs typeface="Carlito"/>
                        </a:rPr>
                        <a:t>19%</a:t>
                      </a:r>
                      <a:endParaRPr lang="en-US" sz="13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57785" marR="57785" marT="57785" marB="57785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2C4C6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222B36"/>
                          </a:solidFill>
                          <a:latin typeface="Carlito"/>
                          <a:ea typeface="Carlito"/>
                          <a:cs typeface="Carlito"/>
                        </a:rPr>
                        <a:t>226 ns</a:t>
                      </a:r>
                      <a:endParaRPr lang="en-US" sz="13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57785" marR="57785" marT="57785" marB="57785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2C4C6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2E9C6E"/>
                          </a:solidFill>
                          <a:latin typeface="Carlito"/>
                          <a:ea typeface="Carlito"/>
                          <a:cs typeface="Carlito"/>
                        </a:rPr>
                        <a:t>0,5%</a:t>
                      </a:r>
                      <a:endParaRPr lang="en-US" sz="13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57785" marR="57785" marT="57785" marB="57785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2C4C6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9304">
                <a:tc>
                  <a:txBody>
                    <a:bodyPr/>
                    <a:p>
                      <a:pPr marL="0" indent="0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222B36"/>
                          </a:solidFill>
                          <a:latin typeface="Carlito"/>
                          <a:ea typeface="Carlito"/>
                          <a:cs typeface="Carlito"/>
                        </a:rPr>
                        <a:t>P3</a:t>
                      </a:r>
                      <a:endParaRPr lang="en-US" sz="13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57785" marR="57785" marT="57785" marB="57785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2C4C6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2C4C6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222B36"/>
                          </a:solidFill>
                          <a:latin typeface="Carlito"/>
                          <a:ea typeface="Carlito"/>
                          <a:cs typeface="Carlito"/>
                        </a:rPr>
                        <a:t>~670 ns</a:t>
                      </a:r>
                      <a:endParaRPr lang="en-US" sz="13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57785" marR="57785" marT="57785" marB="57785">
                    <a:lnL w="12700" algn="ctr">
                      <a:solidFill>
                        <a:srgbClr val="C2C4C6"/>
                      </a:solidFill>
                    </a:lnL>
                    <a:lnR w="12700" algn="ctr">
                      <a:solidFill>
                        <a:srgbClr val="C2C4C6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2C4C6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C0443C"/>
                          </a:solidFill>
                          <a:latin typeface="Carlito"/>
                          <a:ea typeface="Carlito"/>
                          <a:cs typeface="Carlito"/>
                        </a:rPr>
                        <a:t>15%</a:t>
                      </a:r>
                      <a:endParaRPr lang="en-US" sz="13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57785" marR="57785" marT="57785" marB="57785">
                    <a:lnL w="12700" algn="ctr">
                      <a:solidFill>
                        <a:srgbClr val="C2C4C6"/>
                      </a:solidFill>
                    </a:lnL>
                    <a:lnR w="12700" algn="ctr">
                      <a:solidFill>
                        <a:srgbClr val="C2C4C6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2C4C6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222B36"/>
                          </a:solidFill>
                          <a:latin typeface="Carlito"/>
                          <a:ea typeface="Carlito"/>
                          <a:cs typeface="Carlito"/>
                        </a:rPr>
                        <a:t>364 ns</a:t>
                      </a:r>
                      <a:endParaRPr lang="en-US" sz="13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57785" marR="57785" marT="57785" marB="57785">
                    <a:lnL w="12700" algn="ctr">
                      <a:solidFill>
                        <a:srgbClr val="C2C4C6"/>
                      </a:solidFill>
                    </a:lnL>
                    <a:lnR w="12700" algn="ctr">
                      <a:solidFill>
                        <a:srgbClr val="C2C4C6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2C4C6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lnSpc>
                          <a:spcPts val="182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2E9C6E"/>
                          </a:solidFill>
                          <a:latin typeface="Carlito"/>
                          <a:ea typeface="Carlito"/>
                          <a:cs typeface="Carlito"/>
                        </a:rPr>
                        <a:t>0,3%</a:t>
                      </a:r>
                      <a:endParaRPr lang="en-US" sz="13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57785" marR="57785" marT="57785" marB="57785">
                    <a:lnL w="12700" algn="ctr">
                      <a:solidFill>
                        <a:srgbClr val="C2C4C6"/>
                      </a:solidFill>
                    </a:lnL>
                    <a:lnR w="12700" algn="ctr">
                      <a:solidFill>
                        <a:srgbClr val="C2C4C6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2C4C6"/>
                      </a:solidFill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412499594" name="Text 7"/>
          <p:cNvSpPr/>
          <p:nvPr/>
        </p:nvSpPr>
        <p:spPr bwMode="auto">
          <a:xfrm>
            <a:off x="546100" y="3815822"/>
            <a:ext cx="6605905" cy="421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Costo sopra la baseline, per pacchetto. Le cifre assolute non si confrontano (frequenza e metodo erano diversi): si confronta la variazione.</a:t>
            </a:r>
            <a:endParaRPr lang="en-US" sz="1200"/>
          </a:p>
        </p:txBody>
      </p:sp>
      <p:sp>
        <p:nvSpPr>
          <p:cNvPr id="912041783" name="Shape 8"/>
          <p:cNvSpPr/>
          <p:nvPr/>
        </p:nvSpPr>
        <p:spPr bwMode="auto">
          <a:xfrm>
            <a:off x="7137400" y="1562100"/>
            <a:ext cx="4508500" cy="918104"/>
          </a:xfrm>
          <a:prstGeom prst="roundRect">
            <a:avLst>
              <a:gd name="adj" fmla="val 13833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687348926" name="Text 9"/>
          <p:cNvSpPr/>
          <p:nvPr/>
        </p:nvSpPr>
        <p:spPr bwMode="auto">
          <a:xfrm>
            <a:off x="7315200" y="1701800"/>
            <a:ext cx="4277487" cy="39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  <a:defRPr/>
            </a:pPr>
            <a:r>
              <a:rPr lang="en-US" sz="2800" b="1">
                <a:solidFill>
                  <a:srgbClr val="C0443C"/>
                </a:solidFill>
                <a:latin typeface="Carlito"/>
                <a:ea typeface="Carlito"/>
                <a:cs typeface="Carlito"/>
              </a:rPr>
              <a:t>160%</a:t>
            </a:r>
            <a:r>
              <a:rPr lang="en-US" sz="28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 → </a:t>
            </a:r>
            <a:r>
              <a:rPr lang="en-US" sz="2800" b="1">
                <a:solidFill>
                  <a:srgbClr val="2E9C6E"/>
                </a:solidFill>
                <a:latin typeface="Carlito"/>
                <a:ea typeface="Carlito"/>
                <a:cs typeface="Carlito"/>
              </a:rPr>
              <a:t>0,5%</a:t>
            </a:r>
            <a:endParaRPr lang="en-US" sz="2800"/>
          </a:p>
        </p:txBody>
      </p:sp>
      <p:sp>
        <p:nvSpPr>
          <p:cNvPr id="1012064834" name="Text 10"/>
          <p:cNvSpPr/>
          <p:nvPr/>
        </p:nvSpPr>
        <p:spPr bwMode="auto">
          <a:xfrm>
            <a:off x="7315200" y="2113229"/>
            <a:ext cx="4277487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  <a:defRPr/>
            </a:pPr>
            <a:r>
              <a:rPr lang="en-US" sz="13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variazione del costo di P1 fra le esecuzioni</a:t>
            </a:r>
            <a:endParaRPr lang="en-US" sz="1300"/>
          </a:p>
        </p:txBody>
      </p:sp>
      <p:sp>
        <p:nvSpPr>
          <p:cNvPr id="2031283049" name="Shape 11"/>
          <p:cNvSpPr/>
          <p:nvPr/>
        </p:nvSpPr>
        <p:spPr bwMode="auto">
          <a:xfrm>
            <a:off x="7137400" y="2569105"/>
            <a:ext cx="4508500" cy="918104"/>
          </a:xfrm>
          <a:prstGeom prst="roundRect">
            <a:avLst>
              <a:gd name="adj" fmla="val 13833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639434226" name="Text 12"/>
          <p:cNvSpPr/>
          <p:nvPr/>
        </p:nvSpPr>
        <p:spPr bwMode="auto">
          <a:xfrm>
            <a:off x="7315200" y="2708805"/>
            <a:ext cx="4277487" cy="39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  <a:defRPr/>
            </a:pPr>
            <a:r>
              <a:rPr lang="en-US" sz="2800" b="1">
                <a:solidFill>
                  <a:srgbClr val="C0443C"/>
                </a:solidFill>
                <a:latin typeface="Carlito"/>
                <a:ea typeface="Carlito"/>
                <a:cs typeface="Carlito"/>
              </a:rPr>
              <a:t>1–2%</a:t>
            </a:r>
            <a:r>
              <a:rPr lang="en-US" sz="28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 → </a:t>
            </a:r>
            <a:r>
              <a:rPr lang="en-US" sz="2800" b="1">
                <a:solidFill>
                  <a:srgbClr val="2E9C6E"/>
                </a:solidFill>
                <a:latin typeface="Carlito"/>
                <a:ea typeface="Carlito"/>
                <a:cs typeface="Carlito"/>
              </a:rPr>
              <a:t>0</a:t>
            </a:r>
            <a:endParaRPr lang="en-US" sz="2800"/>
          </a:p>
        </p:txBody>
      </p:sp>
      <p:sp>
        <p:nvSpPr>
          <p:cNvPr id="23424263" name="Text 13"/>
          <p:cNvSpPr/>
          <p:nvPr/>
        </p:nvSpPr>
        <p:spPr bwMode="auto">
          <a:xfrm>
            <a:off x="7315200" y="3120231"/>
            <a:ext cx="4277487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  <a:defRPr/>
            </a:pPr>
            <a:r>
              <a:rPr lang="en-US" sz="13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pacchetti respinti sotto capacità, anche per il solo contatore</a:t>
            </a:r>
            <a:endParaRPr lang="en-US" sz="1300"/>
          </a:p>
        </p:txBody>
      </p:sp>
      <p:sp>
        <p:nvSpPr>
          <p:cNvPr id="205062432" name="Shape 14"/>
          <p:cNvSpPr/>
          <p:nvPr/>
        </p:nvSpPr>
        <p:spPr bwMode="auto">
          <a:xfrm>
            <a:off x="7137400" y="3576110"/>
            <a:ext cx="4508500" cy="1132681"/>
          </a:xfrm>
          <a:prstGeom prst="roundRect">
            <a:avLst>
              <a:gd name="adj" fmla="val 11212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766514591" name="Text 15"/>
          <p:cNvSpPr/>
          <p:nvPr/>
        </p:nvSpPr>
        <p:spPr bwMode="auto">
          <a:xfrm>
            <a:off x="7315200" y="3715810"/>
            <a:ext cx="4277487" cy="39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  <a:defRPr/>
            </a:pPr>
            <a:r>
              <a:rPr lang="en-US" sz="2800" b="1">
                <a:solidFill>
                  <a:srgbClr val="C0443C"/>
                </a:solidFill>
                <a:latin typeface="Carlito"/>
                <a:ea typeface="Carlito"/>
                <a:cs typeface="Carlito"/>
              </a:rPr>
              <a:t>58% · 0,2% · 7,7%</a:t>
            </a:r>
            <a:endParaRPr lang="en-US" sz="2800"/>
          </a:p>
        </p:txBody>
      </p:sp>
      <p:sp>
        <p:nvSpPr>
          <p:cNvPr id="940656906" name="Text 16"/>
          <p:cNvSpPr/>
          <p:nvPr/>
        </p:nvSpPr>
        <p:spPr bwMode="auto">
          <a:xfrm>
            <a:off x="7315200" y="4127240"/>
            <a:ext cx="4277487" cy="45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  <a:defRPr/>
            </a:pPr>
            <a:r>
              <a:rPr lang="en-US" sz="13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perdita dello stesso punto in tre giri (macchina virtuale). Sul dual boot: entro lo 0,4–2%</a:t>
            </a:r>
            <a:endParaRPr lang="en-US" sz="1300"/>
          </a:p>
        </p:txBody>
      </p:sp>
      <p:sp>
        <p:nvSpPr>
          <p:cNvPr id="1678636330" name="Shape 17"/>
          <p:cNvSpPr/>
          <p:nvPr/>
        </p:nvSpPr>
        <p:spPr bwMode="auto">
          <a:xfrm>
            <a:off x="546100" y="5486400"/>
            <a:ext cx="11099800" cy="774700"/>
          </a:xfrm>
          <a:prstGeom prst="roundRect">
            <a:avLst>
              <a:gd name="adj" fmla="val 13115"/>
            </a:avLst>
          </a:prstGeom>
          <a:solidFill>
            <a:srgbClr val="FFF4D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013783479" name="Shape 18"/>
          <p:cNvSpPr/>
          <p:nvPr/>
        </p:nvSpPr>
        <p:spPr bwMode="auto">
          <a:xfrm>
            <a:off x="546100" y="5486400"/>
            <a:ext cx="82550" cy="774700"/>
          </a:xfrm>
          <a:custGeom>
            <a:avLst/>
            <a:gdLst/>
            <a:ahLst/>
            <a:cxnLst/>
            <a:rect l="l" t="t" r="r" b="b"/>
            <a:pathLst>
              <a:path w="82550" h="774700" fill="norm" stroke="1" extrusionOk="0">
                <a:moveTo>
                  <a:pt x="0" y="101600"/>
                </a:moveTo>
                <a:arcTo wR="101600" hR="101600" stAng="10800000" swAng="4751585"/>
                <a:lnTo>
                  <a:pt x="82550" y="772898"/>
                </a:lnTo>
                <a:arcTo wR="101600" hR="101600" stAng="6048415" swAng="4751585"/>
                <a:close/>
              </a:path>
            </a:pathLst>
          </a:custGeom>
          <a:solidFill>
            <a:srgbClr val="F2B134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54740786" name="Text 19"/>
          <p:cNvSpPr/>
          <p:nvPr/>
        </p:nvSpPr>
        <p:spPr bwMode="auto">
          <a:xfrm>
            <a:off x="819150" y="5767058"/>
            <a:ext cx="8762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B57A00"/>
                </a:solidFill>
                <a:latin typeface="Carlito"/>
                <a:ea typeface="Carlito"/>
                <a:cs typeface="Carlito"/>
              </a:rPr>
              <a:t>QUINDI</a:t>
            </a:r>
            <a:endParaRPr lang="en-US" sz="1200"/>
          </a:p>
        </p:txBody>
      </p:sp>
      <p:sp>
        <p:nvSpPr>
          <p:cNvPr id="1186830746" name="Text 20"/>
          <p:cNvSpPr/>
          <p:nvPr/>
        </p:nvSpPr>
        <p:spPr bwMode="auto">
          <a:xfrm>
            <a:off x="1822450" y="5626100"/>
            <a:ext cx="988269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  <a:defRPr/>
            </a:pP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Il guadagno vero non è la velocità, è la </a:t>
            </a: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ripetibilità</a:t>
            </a: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: differenze che prima sparivano nel rumore, come P1 contro P1.5 o scartare contro inoltrare, ora si misurano.</a:t>
            </a:r>
            <a:endParaRPr lang="en-US" sz="1500"/>
          </a:p>
        </p:txBody>
      </p:sp>
      <p:sp>
        <p:nvSpPr>
          <p:cNvPr id="293805069" name="Text 21"/>
          <p:cNvSpPr/>
          <p:nvPr/>
        </p:nvSpPr>
        <p:spPr bwMode="auto">
          <a:xfrm>
            <a:off x="546100" y="6426200"/>
            <a:ext cx="10072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i="1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Macchina virtuale: 18 settembre, 512 byte · dual boot: 28 settembre, core separati, 64 byte · variazione fra le esecuzioni</a:t>
            </a:r>
            <a:endParaRPr lang="en-US" sz="1200"/>
          </a:p>
        </p:txBody>
      </p:sp>
      <p:sp>
        <p:nvSpPr>
          <p:cNvPr id="596416759" name="Text 22"/>
          <p:cNvSpPr/>
          <p:nvPr/>
        </p:nvSpPr>
        <p:spPr bwMode="auto">
          <a:xfrm>
            <a:off x="10960099" y="642620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8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7187793" name="Shape 0"/>
          <p:cNvSpPr/>
          <p:nvPr/>
        </p:nvSpPr>
        <p:spPr bwMode="auto">
          <a:xfrm>
            <a:off x="0" y="0"/>
            <a:ext cx="12192000" cy="107949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819697440" name="Text 1"/>
          <p:cNvSpPr/>
          <p:nvPr/>
        </p:nvSpPr>
        <p:spPr bwMode="auto">
          <a:xfrm>
            <a:off x="546100" y="330200"/>
            <a:ext cx="114327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3 · I DUE GENERATORI DI TRAFFICO · PKTGEN</a:t>
            </a:r>
            <a:endParaRPr lang="en-US" sz="1200"/>
          </a:p>
        </p:txBody>
      </p:sp>
      <p:sp>
        <p:nvSpPr>
          <p:cNvPr id="154350214" name="Text 2"/>
          <p:cNvSpPr/>
          <p:nvPr/>
        </p:nvSpPr>
        <p:spPr bwMode="auto">
          <a:xfrm>
            <a:off x="546100" y="584200"/>
            <a:ext cx="1143279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30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pktgen produce i pacchetti come li produce Linux</a:t>
            </a:r>
            <a:endParaRPr lang="en-US" sz="3000"/>
          </a:p>
        </p:txBody>
      </p:sp>
      <p:sp>
        <p:nvSpPr>
          <p:cNvPr id="11790583" name="Shape 3"/>
          <p:cNvSpPr/>
          <p:nvPr/>
        </p:nvSpPr>
        <p:spPr bwMode="auto">
          <a:xfrm>
            <a:off x="546100" y="1562100"/>
            <a:ext cx="3429000" cy="1932848"/>
          </a:xfrm>
          <a:prstGeom prst="roundRect">
            <a:avLst>
              <a:gd name="adj" fmla="val 6571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407610651" name="Shape 4"/>
          <p:cNvSpPr/>
          <p:nvPr/>
        </p:nvSpPr>
        <p:spPr bwMode="auto">
          <a:xfrm>
            <a:off x="723900" y="17145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740721742" name="Text 5"/>
          <p:cNvSpPr/>
          <p:nvPr/>
        </p:nvSpPr>
        <p:spPr bwMode="auto">
          <a:xfrm>
            <a:off x="856589" y="1767818"/>
            <a:ext cx="14095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1</a:t>
            </a:r>
            <a:endParaRPr lang="en-US" sz="1400"/>
          </a:p>
        </p:txBody>
      </p:sp>
      <p:sp>
        <p:nvSpPr>
          <p:cNvPr id="150775647" name="Text 6"/>
          <p:cNvSpPr/>
          <p:nvPr/>
        </p:nvSpPr>
        <p:spPr bwMode="auto">
          <a:xfrm>
            <a:off x="1168400" y="1750089"/>
            <a:ext cx="1565605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  <a:defRPr/>
            </a:pPr>
            <a:r>
              <a:rPr lang="en-US" sz="16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pktgen crea la skb</a:t>
            </a:r>
            <a:endParaRPr lang="en-US" sz="1600"/>
          </a:p>
        </p:txBody>
      </p:sp>
      <p:sp>
        <p:nvSpPr>
          <p:cNvPr id="408732314" name="Shape 7"/>
          <p:cNvSpPr/>
          <p:nvPr/>
        </p:nvSpPr>
        <p:spPr bwMode="auto">
          <a:xfrm>
            <a:off x="723900" y="2146300"/>
            <a:ext cx="406400" cy="355600"/>
          </a:xfrm>
          <a:custGeom>
            <a:avLst/>
            <a:gdLst/>
            <a:ahLst/>
            <a:cxnLst/>
            <a:rect l="l" t="t" r="r" b="b"/>
            <a:pathLst>
              <a:path w="406400" h="355600" fill="norm" stroke="1" extrusionOk="0">
                <a:moveTo>
                  <a:pt x="50800" y="0"/>
                </a:moveTo>
                <a:lnTo>
                  <a:pt x="406400" y="0"/>
                </a:lnTo>
                <a:lnTo>
                  <a:pt x="406400" y="355600"/>
                </a:lnTo>
                <a:lnTo>
                  <a:pt x="50800" y="3556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E07A2D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19719683" name="Text 8"/>
          <p:cNvSpPr/>
          <p:nvPr/>
        </p:nvSpPr>
        <p:spPr bwMode="auto">
          <a:xfrm>
            <a:off x="789914" y="2217409"/>
            <a:ext cx="3251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64 B</a:t>
            </a:r>
            <a:endParaRPr lang="en-US" sz="1200"/>
          </a:p>
        </p:txBody>
      </p:sp>
      <p:sp>
        <p:nvSpPr>
          <p:cNvPr id="1781734756" name="Shape 9"/>
          <p:cNvSpPr/>
          <p:nvPr/>
        </p:nvSpPr>
        <p:spPr bwMode="auto">
          <a:xfrm>
            <a:off x="1130300" y="2146300"/>
            <a:ext cx="1270000" cy="355600"/>
          </a:xfrm>
          <a:custGeom>
            <a:avLst/>
            <a:gdLst/>
            <a:ahLst/>
            <a:cxnLst/>
            <a:rect l="l" t="t" r="r" b="b"/>
            <a:pathLst>
              <a:path w="1270000" h="355600" fill="norm" stroke="1" extrusionOk="0">
                <a:moveTo>
                  <a:pt x="0" y="0"/>
                </a:moveTo>
                <a:lnTo>
                  <a:pt x="1219200" y="0"/>
                </a:lnTo>
                <a:arcTo wR="50800" hR="50800" stAng="16200000" swAng="5400000"/>
                <a:lnTo>
                  <a:pt x="1270000" y="304800"/>
                </a:lnTo>
                <a:arcTo wR="50800" hR="50800" stAng="0" swAng="5400000"/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111933043" name="Text 10"/>
          <p:cNvSpPr/>
          <p:nvPr/>
        </p:nvSpPr>
        <p:spPr bwMode="auto">
          <a:xfrm>
            <a:off x="1458979" y="2217409"/>
            <a:ext cx="6633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pacchetto</a:t>
            </a:r>
            <a:endParaRPr lang="en-US" sz="1200"/>
          </a:p>
        </p:txBody>
      </p:sp>
      <p:sp>
        <p:nvSpPr>
          <p:cNvPr id="1985916691" name="Text 11"/>
          <p:cNvSpPr/>
          <p:nvPr/>
        </p:nvSpPr>
        <p:spPr bwMode="auto">
          <a:xfrm>
            <a:off x="723900" y="2578100"/>
            <a:ext cx="31656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64 byte liberi davanti ai dati</a:t>
            </a:r>
            <a:endParaRPr lang="en-US" sz="1200"/>
          </a:p>
        </p:txBody>
      </p:sp>
      <p:sp>
        <p:nvSpPr>
          <p:cNvPr id="477950799" name="Text 12"/>
          <p:cNvSpPr/>
          <p:nvPr/>
        </p:nvSpPr>
        <p:spPr bwMode="auto">
          <a:xfrm>
            <a:off x="723900" y="2867620"/>
            <a:ext cx="3165602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La </a:t>
            </a: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skb</a:t>
            </a: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 è la struttura con cui Linux descrive un pacchetto.</a:t>
            </a:r>
            <a:endParaRPr lang="en-US" sz="1400"/>
          </a:p>
        </p:txBody>
      </p:sp>
      <p:pic>
        <p:nvPicPr>
          <p:cNvPr id="1913766995" name="Image 0" descr="arrow-right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051300" y="2439591"/>
            <a:ext cx="254000" cy="177800"/>
          </a:xfrm>
          <a:prstGeom prst="rect">
            <a:avLst/>
          </a:prstGeom>
        </p:spPr>
      </p:pic>
      <p:sp>
        <p:nvSpPr>
          <p:cNvPr id="1252417289" name="Shape 13"/>
          <p:cNvSpPr/>
          <p:nvPr/>
        </p:nvSpPr>
        <p:spPr bwMode="auto">
          <a:xfrm>
            <a:off x="4381500" y="1562100"/>
            <a:ext cx="3429000" cy="1932848"/>
          </a:xfrm>
          <a:prstGeom prst="roundRect">
            <a:avLst>
              <a:gd name="adj" fmla="val 6571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679466632" name="Shape 14"/>
          <p:cNvSpPr/>
          <p:nvPr/>
        </p:nvSpPr>
        <p:spPr bwMode="auto">
          <a:xfrm>
            <a:off x="4559300" y="17145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8924432" name="Text 15"/>
          <p:cNvSpPr/>
          <p:nvPr/>
        </p:nvSpPr>
        <p:spPr bwMode="auto">
          <a:xfrm>
            <a:off x="4691989" y="1767818"/>
            <a:ext cx="14095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2</a:t>
            </a:r>
            <a:endParaRPr lang="en-US" sz="1400"/>
          </a:p>
        </p:txBody>
      </p:sp>
      <p:sp>
        <p:nvSpPr>
          <p:cNvPr id="409501141" name="Text 16"/>
          <p:cNvSpPr/>
          <p:nvPr/>
        </p:nvSpPr>
        <p:spPr bwMode="auto">
          <a:xfrm>
            <a:off x="5003800" y="1750089"/>
            <a:ext cx="1983407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  <a:defRPr/>
            </a:pPr>
            <a:r>
              <a:rPr lang="en-US" sz="16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Il cavo virtuale la copia</a:t>
            </a:r>
            <a:endParaRPr lang="en-US" sz="1600"/>
          </a:p>
        </p:txBody>
      </p:sp>
      <p:sp>
        <p:nvSpPr>
          <p:cNvPr id="1306516448" name="Shape 17"/>
          <p:cNvSpPr/>
          <p:nvPr/>
        </p:nvSpPr>
        <p:spPr bwMode="auto">
          <a:xfrm>
            <a:off x="4559300" y="2146300"/>
            <a:ext cx="1625600" cy="355600"/>
          </a:xfrm>
          <a:custGeom>
            <a:avLst/>
            <a:gdLst/>
            <a:ahLst/>
            <a:cxnLst/>
            <a:rect l="l" t="t" r="r" b="b"/>
            <a:pathLst>
              <a:path w="1625600" h="355600" fill="norm" stroke="1" extrusionOk="0">
                <a:moveTo>
                  <a:pt x="50800" y="0"/>
                </a:moveTo>
                <a:lnTo>
                  <a:pt x="1625600" y="0"/>
                </a:lnTo>
                <a:lnTo>
                  <a:pt x="1625600" y="355600"/>
                </a:lnTo>
                <a:lnTo>
                  <a:pt x="50800" y="3556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2E9C6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92977721" name="Text 18"/>
          <p:cNvSpPr/>
          <p:nvPr/>
        </p:nvSpPr>
        <p:spPr bwMode="auto">
          <a:xfrm>
            <a:off x="5196284" y="2217409"/>
            <a:ext cx="4024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256 B</a:t>
            </a:r>
            <a:endParaRPr lang="en-US" sz="1200"/>
          </a:p>
        </p:txBody>
      </p:sp>
      <p:sp>
        <p:nvSpPr>
          <p:cNvPr id="1342221976" name="Shape 19"/>
          <p:cNvSpPr/>
          <p:nvPr/>
        </p:nvSpPr>
        <p:spPr bwMode="auto">
          <a:xfrm>
            <a:off x="6184900" y="2146300"/>
            <a:ext cx="1270000" cy="355600"/>
          </a:xfrm>
          <a:custGeom>
            <a:avLst/>
            <a:gdLst/>
            <a:ahLst/>
            <a:cxnLst/>
            <a:rect l="l" t="t" r="r" b="b"/>
            <a:pathLst>
              <a:path w="1270000" h="355600" fill="norm" stroke="1" extrusionOk="0">
                <a:moveTo>
                  <a:pt x="0" y="0"/>
                </a:moveTo>
                <a:lnTo>
                  <a:pt x="1219200" y="0"/>
                </a:lnTo>
                <a:arcTo wR="50800" hR="50800" stAng="16200000" swAng="5400000"/>
                <a:lnTo>
                  <a:pt x="1270000" y="304800"/>
                </a:lnTo>
                <a:arcTo wR="50800" hR="50800" stAng="0" swAng="5400000"/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865825445" name="Text 20"/>
          <p:cNvSpPr/>
          <p:nvPr/>
        </p:nvSpPr>
        <p:spPr bwMode="auto">
          <a:xfrm>
            <a:off x="6513579" y="2217409"/>
            <a:ext cx="6633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pacchetto</a:t>
            </a:r>
            <a:endParaRPr lang="en-US" sz="1200"/>
          </a:p>
        </p:txBody>
      </p:sp>
      <p:sp>
        <p:nvSpPr>
          <p:cNvPr id="1588738729" name="Text 21"/>
          <p:cNvSpPr/>
          <p:nvPr/>
        </p:nvSpPr>
        <p:spPr bwMode="auto">
          <a:xfrm>
            <a:off x="4559300" y="2578100"/>
            <a:ext cx="31656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XDP vuole 256 byte liberi davanti</a:t>
            </a:r>
            <a:endParaRPr lang="en-US" sz="1200"/>
          </a:p>
        </p:txBody>
      </p:sp>
      <p:sp>
        <p:nvSpPr>
          <p:cNvPr id="859665174" name="Text 22"/>
          <p:cNvSpPr/>
          <p:nvPr/>
        </p:nvSpPr>
        <p:spPr bwMode="auto">
          <a:xfrm>
            <a:off x="4559300" y="2867620"/>
            <a:ext cx="3165602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Ogni pacchetto viene </a:t>
            </a: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copiato</a:t>
            </a: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 in una pagina nuova prima di arrivare al nodo.</a:t>
            </a:r>
            <a:endParaRPr lang="en-US" sz="1400"/>
          </a:p>
        </p:txBody>
      </p:sp>
      <p:pic>
        <p:nvPicPr>
          <p:cNvPr id="1730170132" name="Image 1" descr="arrow-right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886700" y="2439591"/>
            <a:ext cx="254000" cy="177800"/>
          </a:xfrm>
          <a:prstGeom prst="rect">
            <a:avLst/>
          </a:prstGeom>
        </p:spPr>
      </p:pic>
      <p:sp>
        <p:nvSpPr>
          <p:cNvPr id="1128232433" name="Shape 23"/>
          <p:cNvSpPr/>
          <p:nvPr/>
        </p:nvSpPr>
        <p:spPr bwMode="auto">
          <a:xfrm>
            <a:off x="8216900" y="1562100"/>
            <a:ext cx="3429000" cy="1932848"/>
          </a:xfrm>
          <a:prstGeom prst="roundRect">
            <a:avLst>
              <a:gd name="adj" fmla="val 6571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452979516" name="Shape 24"/>
          <p:cNvSpPr/>
          <p:nvPr/>
        </p:nvSpPr>
        <p:spPr bwMode="auto">
          <a:xfrm>
            <a:off x="8394700" y="17145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E07A2D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05044354" name="Text 25"/>
          <p:cNvSpPr/>
          <p:nvPr/>
        </p:nvSpPr>
        <p:spPr bwMode="auto">
          <a:xfrm>
            <a:off x="8527389" y="1767818"/>
            <a:ext cx="14095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3</a:t>
            </a:r>
            <a:endParaRPr lang="en-US" sz="1400"/>
          </a:p>
        </p:txBody>
      </p:sp>
      <p:sp>
        <p:nvSpPr>
          <p:cNvPr id="809816113" name="Text 26"/>
          <p:cNvSpPr/>
          <p:nvPr/>
        </p:nvSpPr>
        <p:spPr bwMode="auto">
          <a:xfrm>
            <a:off x="8839200" y="1750089"/>
            <a:ext cx="1527307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  <a:defRPr/>
            </a:pPr>
            <a:r>
              <a:rPr lang="en-US" sz="16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Il nodo lo elabora</a:t>
            </a:r>
            <a:endParaRPr lang="en-US" sz="1600"/>
          </a:p>
        </p:txBody>
      </p:sp>
      <p:sp>
        <p:nvSpPr>
          <p:cNvPr id="1310137450" name="Shape 27"/>
          <p:cNvSpPr/>
          <p:nvPr/>
        </p:nvSpPr>
        <p:spPr bwMode="auto">
          <a:xfrm>
            <a:off x="8404225" y="2155825"/>
            <a:ext cx="3054350" cy="336550"/>
          </a:xfrm>
          <a:prstGeom prst="roundRect">
            <a:avLst>
              <a:gd name="adj" fmla="val 19811"/>
            </a:avLst>
          </a:prstGeom>
          <a:solidFill>
            <a:srgbClr val="FDEBDB"/>
          </a:solidFill>
          <a:ln w="19050">
            <a:solidFill>
              <a:srgbClr val="E07A2D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990522241" name="Text 28"/>
          <p:cNvSpPr/>
          <p:nvPr/>
        </p:nvSpPr>
        <p:spPr bwMode="auto">
          <a:xfrm>
            <a:off x="9451843" y="2208547"/>
            <a:ext cx="100984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NODO · CPU 6</a:t>
            </a:r>
            <a:endParaRPr lang="en-US" sz="1300"/>
          </a:p>
        </p:txBody>
      </p:sp>
      <p:sp>
        <p:nvSpPr>
          <p:cNvPr id="1984572334" name="Text 29"/>
          <p:cNvSpPr/>
          <p:nvPr/>
        </p:nvSpPr>
        <p:spPr bwMode="auto">
          <a:xfrm>
            <a:off x="8394700" y="2578100"/>
            <a:ext cx="31656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il core del nodo paga la copia</a:t>
            </a:r>
            <a:endParaRPr lang="en-US" sz="1200"/>
          </a:p>
        </p:txBody>
      </p:sp>
      <p:sp>
        <p:nvSpPr>
          <p:cNvPr id="1561571217" name="Text 30"/>
          <p:cNvSpPr/>
          <p:nvPr/>
        </p:nvSpPr>
        <p:spPr bwMode="auto">
          <a:xfrm>
            <a:off x="8394700" y="2867620"/>
            <a:ext cx="3165602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La copia si paga </a:t>
            </a: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sul core del nodo</a:t>
            </a: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, prima ancora che il programma parta.</a:t>
            </a:r>
            <a:endParaRPr lang="en-US" sz="1400"/>
          </a:p>
        </p:txBody>
      </p:sp>
      <p:sp>
        <p:nvSpPr>
          <p:cNvPr id="1340971783" name="Shape 31"/>
          <p:cNvSpPr/>
          <p:nvPr/>
        </p:nvSpPr>
        <p:spPr bwMode="auto">
          <a:xfrm>
            <a:off x="546100" y="4119896"/>
            <a:ext cx="5473700" cy="741627"/>
          </a:xfrm>
          <a:prstGeom prst="roundRect">
            <a:avLst>
              <a:gd name="adj" fmla="val 17125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586095720" name="Text 32"/>
          <p:cNvSpPr/>
          <p:nvPr/>
        </p:nvSpPr>
        <p:spPr bwMode="auto">
          <a:xfrm>
            <a:off x="723900" y="4262109"/>
            <a:ext cx="222377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  <a:defRPr/>
            </a:pPr>
            <a:r>
              <a:rPr lang="en-US" sz="36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≈ 5,7 M/s</a:t>
            </a:r>
            <a:endParaRPr lang="en-US" sz="3600"/>
          </a:p>
        </p:txBody>
      </p:sp>
      <p:sp>
        <p:nvSpPr>
          <p:cNvPr id="1186471348" name="Text 33"/>
          <p:cNvSpPr/>
          <p:nvPr/>
        </p:nvSpPr>
        <p:spPr bwMode="auto">
          <a:xfrm>
            <a:off x="3035300" y="4259597"/>
            <a:ext cx="2890901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pacchetti al secondo offerti da tre thread su tre core</a:t>
            </a:r>
            <a:endParaRPr lang="en-US" sz="1400"/>
          </a:p>
        </p:txBody>
      </p:sp>
      <p:sp>
        <p:nvSpPr>
          <p:cNvPr id="986110613" name="Shape 34"/>
          <p:cNvSpPr/>
          <p:nvPr/>
        </p:nvSpPr>
        <p:spPr bwMode="auto">
          <a:xfrm>
            <a:off x="6172200" y="4119896"/>
            <a:ext cx="5473700" cy="741627"/>
          </a:xfrm>
          <a:prstGeom prst="roundRect">
            <a:avLst>
              <a:gd name="adj" fmla="val 17125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735577445" name="Text 35"/>
          <p:cNvSpPr/>
          <p:nvPr/>
        </p:nvSpPr>
        <p:spPr bwMode="auto">
          <a:xfrm>
            <a:off x="6350000" y="4262109"/>
            <a:ext cx="222377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  <a:defRPr/>
            </a:pPr>
            <a:r>
              <a:rPr lang="en-US" sz="36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≈ 4,6 M/s</a:t>
            </a:r>
            <a:endParaRPr lang="en-US" sz="3600"/>
          </a:p>
        </p:txBody>
      </p:sp>
      <p:sp>
        <p:nvSpPr>
          <p:cNvPr id="1580790289" name="Text 36"/>
          <p:cNvSpPr/>
          <p:nvPr/>
        </p:nvSpPr>
        <p:spPr bwMode="auto">
          <a:xfrm>
            <a:off x="8661400" y="4259597"/>
            <a:ext cx="2890901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quanti ne accetta la coda del nodo: lo misura rxonly</a:t>
            </a:r>
            <a:endParaRPr lang="en-US" sz="1400"/>
          </a:p>
        </p:txBody>
      </p:sp>
      <p:sp>
        <p:nvSpPr>
          <p:cNvPr id="2058322482" name="Shape 37"/>
          <p:cNvSpPr/>
          <p:nvPr/>
        </p:nvSpPr>
        <p:spPr bwMode="auto">
          <a:xfrm>
            <a:off x="546100" y="5486400"/>
            <a:ext cx="11099800" cy="774700"/>
          </a:xfrm>
          <a:prstGeom prst="roundRect">
            <a:avLst>
              <a:gd name="adj" fmla="val 13115"/>
            </a:avLst>
          </a:prstGeom>
          <a:solidFill>
            <a:srgbClr val="FFF4D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119939003" name="Shape 38"/>
          <p:cNvSpPr/>
          <p:nvPr/>
        </p:nvSpPr>
        <p:spPr bwMode="auto">
          <a:xfrm>
            <a:off x="546100" y="5486400"/>
            <a:ext cx="82550" cy="774700"/>
          </a:xfrm>
          <a:custGeom>
            <a:avLst/>
            <a:gdLst/>
            <a:ahLst/>
            <a:cxnLst/>
            <a:rect l="l" t="t" r="r" b="b"/>
            <a:pathLst>
              <a:path w="82550" h="774700" fill="norm" stroke="1" extrusionOk="0">
                <a:moveTo>
                  <a:pt x="0" y="101600"/>
                </a:moveTo>
                <a:arcTo wR="101600" hR="101600" stAng="10800000" swAng="4751585"/>
                <a:lnTo>
                  <a:pt x="82550" y="772898"/>
                </a:lnTo>
                <a:arcTo wR="101600" hR="101600" stAng="6048415" swAng="4751585"/>
                <a:close/>
              </a:path>
            </a:pathLst>
          </a:custGeom>
          <a:solidFill>
            <a:srgbClr val="F2B134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603918535" name="Text 39"/>
          <p:cNvSpPr/>
          <p:nvPr/>
        </p:nvSpPr>
        <p:spPr bwMode="auto">
          <a:xfrm>
            <a:off x="819150" y="5767058"/>
            <a:ext cx="8762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B57A00"/>
                </a:solidFill>
                <a:latin typeface="Carlito"/>
                <a:ea typeface="Carlito"/>
                <a:cs typeface="Carlito"/>
              </a:rPr>
              <a:t>QUINDI</a:t>
            </a:r>
            <a:endParaRPr lang="en-US" sz="1200"/>
          </a:p>
        </p:txBody>
      </p:sp>
      <p:sp>
        <p:nvSpPr>
          <p:cNvPr id="450797188" name="Text 40"/>
          <p:cNvSpPr/>
          <p:nvPr/>
        </p:nvSpPr>
        <p:spPr bwMode="auto">
          <a:xfrm>
            <a:off x="1822450" y="5626100"/>
            <a:ext cx="988269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  <a:defRPr/>
            </a:pP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La copia è una proprietà del kernel, </a:t>
            </a: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non della macchina virtuale</a:t>
            </a: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: il dual boot non la toglie. Su una scheda di rete con XDP nativo non esisterebbe.</a:t>
            </a:r>
            <a:endParaRPr lang="en-US" sz="1500"/>
          </a:p>
        </p:txBody>
      </p:sp>
      <p:sp>
        <p:nvSpPr>
          <p:cNvPr id="1422534430" name="Text 41"/>
          <p:cNvSpPr/>
          <p:nvPr/>
        </p:nvSpPr>
        <p:spPr bwMode="auto">
          <a:xfrm>
            <a:off x="546100" y="6426200"/>
            <a:ext cx="10072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i="1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La baseline costa 302 ns per pacchetto con pktgen · M/s = milioni di pacchetti al secondo</a:t>
            </a:r>
            <a:endParaRPr lang="en-US" sz="1200"/>
          </a:p>
        </p:txBody>
      </p:sp>
      <p:sp>
        <p:nvSpPr>
          <p:cNvPr id="1916103620" name="Text 42"/>
          <p:cNvSpPr/>
          <p:nvPr/>
        </p:nvSpPr>
        <p:spPr bwMode="auto">
          <a:xfrm>
            <a:off x="10960099" y="642620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9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3615265" name="Shape 0"/>
          <p:cNvSpPr/>
          <p:nvPr/>
        </p:nvSpPr>
        <p:spPr bwMode="auto">
          <a:xfrm>
            <a:off x="0" y="0"/>
            <a:ext cx="12192000" cy="107949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366029865" name="Text 1"/>
          <p:cNvSpPr/>
          <p:nvPr/>
        </p:nvSpPr>
        <p:spPr bwMode="auto">
          <a:xfrm>
            <a:off x="546100" y="330200"/>
            <a:ext cx="114327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3 · I DUE GENERATORI DI TRAFFICO · XDP_GEN</a:t>
            </a:r>
            <a:endParaRPr lang="en-US" sz="1200"/>
          </a:p>
        </p:txBody>
      </p:sp>
      <p:sp>
        <p:nvSpPr>
          <p:cNvPr id="1117737650" name="Text 2"/>
          <p:cNvSpPr/>
          <p:nvPr/>
        </p:nvSpPr>
        <p:spPr bwMode="auto">
          <a:xfrm>
            <a:off x="546100" y="584200"/>
            <a:ext cx="1143279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30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xdp_gen consegna pacchetti già nel formato di XDP</a:t>
            </a:r>
            <a:endParaRPr lang="en-US" sz="3000"/>
          </a:p>
        </p:txBody>
      </p:sp>
      <p:sp>
        <p:nvSpPr>
          <p:cNvPr id="2060501885" name="Shape 3"/>
          <p:cNvSpPr/>
          <p:nvPr/>
        </p:nvSpPr>
        <p:spPr bwMode="auto">
          <a:xfrm>
            <a:off x="546100" y="1562100"/>
            <a:ext cx="3429000" cy="2009048"/>
          </a:xfrm>
          <a:prstGeom prst="roundRect">
            <a:avLst>
              <a:gd name="adj" fmla="val 6321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659162961" name="Shape 4"/>
          <p:cNvSpPr/>
          <p:nvPr/>
        </p:nvSpPr>
        <p:spPr bwMode="auto">
          <a:xfrm>
            <a:off x="723900" y="17145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01312236" name="Text 5"/>
          <p:cNvSpPr/>
          <p:nvPr/>
        </p:nvSpPr>
        <p:spPr bwMode="auto">
          <a:xfrm>
            <a:off x="856589" y="1767818"/>
            <a:ext cx="14095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1</a:t>
            </a:r>
            <a:endParaRPr lang="en-US" sz="1400"/>
          </a:p>
        </p:txBody>
      </p:sp>
      <p:sp>
        <p:nvSpPr>
          <p:cNvPr id="1009118715" name="Text 6"/>
          <p:cNvSpPr/>
          <p:nvPr/>
        </p:nvSpPr>
        <p:spPr bwMode="auto">
          <a:xfrm>
            <a:off x="1168400" y="1750089"/>
            <a:ext cx="186377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  <a:defRPr/>
            </a:pPr>
            <a:r>
              <a:rPr lang="en-US" sz="16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xdp_gen crea il frame</a:t>
            </a:r>
            <a:endParaRPr lang="en-US" sz="1600"/>
          </a:p>
        </p:txBody>
      </p:sp>
      <p:sp>
        <p:nvSpPr>
          <p:cNvPr id="1455199403" name="Shape 7"/>
          <p:cNvSpPr/>
          <p:nvPr/>
        </p:nvSpPr>
        <p:spPr bwMode="auto">
          <a:xfrm>
            <a:off x="723900" y="2146300"/>
            <a:ext cx="1625600" cy="355600"/>
          </a:xfrm>
          <a:custGeom>
            <a:avLst/>
            <a:gdLst/>
            <a:ahLst/>
            <a:cxnLst/>
            <a:rect l="l" t="t" r="r" b="b"/>
            <a:pathLst>
              <a:path w="1625600" h="355600" fill="norm" stroke="1" extrusionOk="0">
                <a:moveTo>
                  <a:pt x="50800" y="0"/>
                </a:moveTo>
                <a:lnTo>
                  <a:pt x="1625600" y="0"/>
                </a:lnTo>
                <a:lnTo>
                  <a:pt x="1625600" y="355600"/>
                </a:lnTo>
                <a:lnTo>
                  <a:pt x="50800" y="3556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2E9C6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32695411" name="Text 8"/>
          <p:cNvSpPr/>
          <p:nvPr/>
        </p:nvSpPr>
        <p:spPr bwMode="auto">
          <a:xfrm>
            <a:off x="1360883" y="2217409"/>
            <a:ext cx="4024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256 B</a:t>
            </a:r>
            <a:endParaRPr lang="en-US" sz="1200"/>
          </a:p>
        </p:txBody>
      </p:sp>
      <p:sp>
        <p:nvSpPr>
          <p:cNvPr id="265969" name="Shape 9"/>
          <p:cNvSpPr/>
          <p:nvPr/>
        </p:nvSpPr>
        <p:spPr bwMode="auto">
          <a:xfrm>
            <a:off x="2349500" y="2146300"/>
            <a:ext cx="1270000" cy="355600"/>
          </a:xfrm>
          <a:custGeom>
            <a:avLst/>
            <a:gdLst/>
            <a:ahLst/>
            <a:cxnLst/>
            <a:rect l="l" t="t" r="r" b="b"/>
            <a:pathLst>
              <a:path w="1270000" h="355600" fill="norm" stroke="1" extrusionOk="0">
                <a:moveTo>
                  <a:pt x="0" y="0"/>
                </a:moveTo>
                <a:lnTo>
                  <a:pt x="1219200" y="0"/>
                </a:lnTo>
                <a:arcTo wR="50800" hR="50800" stAng="16200000" swAng="5400000"/>
                <a:lnTo>
                  <a:pt x="1270000" y="304800"/>
                </a:lnTo>
                <a:arcTo wR="50800" hR="50800" stAng="0" swAng="5400000"/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62739379" name="Text 10"/>
          <p:cNvSpPr/>
          <p:nvPr/>
        </p:nvSpPr>
        <p:spPr bwMode="auto">
          <a:xfrm>
            <a:off x="2678179" y="2217409"/>
            <a:ext cx="6633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pacchetto</a:t>
            </a:r>
            <a:endParaRPr lang="en-US" sz="1200"/>
          </a:p>
        </p:txBody>
      </p:sp>
      <p:sp>
        <p:nvSpPr>
          <p:cNvPr id="822319174" name="Shape 11"/>
          <p:cNvSpPr/>
          <p:nvPr/>
        </p:nvSpPr>
        <p:spPr bwMode="auto">
          <a:xfrm>
            <a:off x="723900" y="2578100"/>
            <a:ext cx="1732293" cy="289520"/>
          </a:xfrm>
          <a:prstGeom prst="roundRect">
            <a:avLst>
              <a:gd name="adj" fmla="val 21933"/>
            </a:avLst>
          </a:prstGeom>
          <a:solidFill>
            <a:srgbClr val="1E2733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786817484" name="Text 12"/>
          <p:cNvSpPr/>
          <p:nvPr/>
        </p:nvSpPr>
        <p:spPr bwMode="auto">
          <a:xfrm>
            <a:off x="812800" y="2616200"/>
            <a:ext cx="16052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E8ECF1"/>
                </a:solidFill>
                <a:latin typeface="JetBrains Mono"/>
                <a:ea typeface="JetBrains Mono"/>
                <a:cs typeface="JetBrains Mono"/>
              </a:rPr>
              <a:t>BPF_PROG_TEST_RUN</a:t>
            </a:r>
            <a:endParaRPr lang="en-US" sz="1200"/>
          </a:p>
        </p:txBody>
      </p:sp>
      <p:sp>
        <p:nvSpPr>
          <p:cNvPr id="1445438294" name="Text 13"/>
          <p:cNvSpPr/>
          <p:nvPr/>
        </p:nvSpPr>
        <p:spPr bwMode="auto">
          <a:xfrm>
            <a:off x="2532393" y="2616200"/>
            <a:ext cx="72509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live frames</a:t>
            </a:r>
            <a:endParaRPr lang="en-US" sz="1200"/>
          </a:p>
        </p:txBody>
      </p:sp>
      <p:sp>
        <p:nvSpPr>
          <p:cNvPr id="712569637" name="Text 14"/>
          <p:cNvSpPr/>
          <p:nvPr/>
        </p:nvSpPr>
        <p:spPr bwMode="auto">
          <a:xfrm>
            <a:off x="723900" y="2943820"/>
            <a:ext cx="3165602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Un frame grezzo, già con 256 byte liberi: </a:t>
            </a: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niente skb</a:t>
            </a: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.</a:t>
            </a:r>
            <a:endParaRPr lang="en-US" sz="1400"/>
          </a:p>
        </p:txBody>
      </p:sp>
      <p:pic>
        <p:nvPicPr>
          <p:cNvPr id="957839717" name="Image 0" descr="arrow-right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051300" y="2477691"/>
            <a:ext cx="254000" cy="177800"/>
          </a:xfrm>
          <a:prstGeom prst="rect">
            <a:avLst/>
          </a:prstGeom>
        </p:spPr>
      </p:pic>
      <p:sp>
        <p:nvSpPr>
          <p:cNvPr id="1296383969" name="Shape 15"/>
          <p:cNvSpPr/>
          <p:nvPr/>
        </p:nvSpPr>
        <p:spPr bwMode="auto">
          <a:xfrm>
            <a:off x="4381500" y="1562100"/>
            <a:ext cx="3429000" cy="2009048"/>
          </a:xfrm>
          <a:prstGeom prst="roundRect">
            <a:avLst>
              <a:gd name="adj" fmla="val 6321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810443295" name="Shape 16"/>
          <p:cNvSpPr/>
          <p:nvPr/>
        </p:nvSpPr>
        <p:spPr bwMode="auto">
          <a:xfrm>
            <a:off x="4559300" y="17145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925218749" name="Text 17"/>
          <p:cNvSpPr/>
          <p:nvPr/>
        </p:nvSpPr>
        <p:spPr bwMode="auto">
          <a:xfrm>
            <a:off x="4691989" y="1767818"/>
            <a:ext cx="14095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2</a:t>
            </a:r>
            <a:endParaRPr lang="en-US" sz="1400"/>
          </a:p>
        </p:txBody>
      </p:sp>
      <p:sp>
        <p:nvSpPr>
          <p:cNvPr id="1455884360" name="Text 18"/>
          <p:cNvSpPr/>
          <p:nvPr/>
        </p:nvSpPr>
        <p:spPr bwMode="auto">
          <a:xfrm>
            <a:off x="5003800" y="1750089"/>
            <a:ext cx="201243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  <a:defRPr/>
            </a:pPr>
            <a:r>
              <a:rPr lang="en-US" sz="16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Il cavo virtuale lo passa</a:t>
            </a:r>
            <a:endParaRPr lang="en-US" sz="1600"/>
          </a:p>
        </p:txBody>
      </p:sp>
      <p:sp>
        <p:nvSpPr>
          <p:cNvPr id="38509721" name="Shape 19"/>
          <p:cNvSpPr/>
          <p:nvPr/>
        </p:nvSpPr>
        <p:spPr bwMode="auto">
          <a:xfrm>
            <a:off x="4559300" y="2146300"/>
            <a:ext cx="1625600" cy="355600"/>
          </a:xfrm>
          <a:custGeom>
            <a:avLst/>
            <a:gdLst/>
            <a:ahLst/>
            <a:cxnLst/>
            <a:rect l="l" t="t" r="r" b="b"/>
            <a:pathLst>
              <a:path w="1625600" h="355600" fill="norm" stroke="1" extrusionOk="0">
                <a:moveTo>
                  <a:pt x="50800" y="0"/>
                </a:moveTo>
                <a:lnTo>
                  <a:pt x="1625600" y="0"/>
                </a:lnTo>
                <a:lnTo>
                  <a:pt x="1625600" y="355600"/>
                </a:lnTo>
                <a:lnTo>
                  <a:pt x="50800" y="3556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2E9C6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414274757" name="Text 20"/>
          <p:cNvSpPr/>
          <p:nvPr/>
        </p:nvSpPr>
        <p:spPr bwMode="auto">
          <a:xfrm>
            <a:off x="5196284" y="2217409"/>
            <a:ext cx="4024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256 B</a:t>
            </a:r>
            <a:endParaRPr lang="en-US" sz="1200"/>
          </a:p>
        </p:txBody>
      </p:sp>
      <p:sp>
        <p:nvSpPr>
          <p:cNvPr id="691664466" name="Shape 21"/>
          <p:cNvSpPr/>
          <p:nvPr/>
        </p:nvSpPr>
        <p:spPr bwMode="auto">
          <a:xfrm>
            <a:off x="6184900" y="2146300"/>
            <a:ext cx="1270000" cy="355600"/>
          </a:xfrm>
          <a:custGeom>
            <a:avLst/>
            <a:gdLst/>
            <a:ahLst/>
            <a:cxnLst/>
            <a:rect l="l" t="t" r="r" b="b"/>
            <a:pathLst>
              <a:path w="1270000" h="355600" fill="norm" stroke="1" extrusionOk="0">
                <a:moveTo>
                  <a:pt x="0" y="0"/>
                </a:moveTo>
                <a:lnTo>
                  <a:pt x="1219200" y="0"/>
                </a:lnTo>
                <a:arcTo wR="50800" hR="50800" stAng="16200000" swAng="5400000"/>
                <a:lnTo>
                  <a:pt x="1270000" y="304800"/>
                </a:lnTo>
                <a:arcTo wR="50800" hR="50800" stAng="0" swAng="5400000"/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135724347" name="Text 22"/>
          <p:cNvSpPr/>
          <p:nvPr/>
        </p:nvSpPr>
        <p:spPr bwMode="auto">
          <a:xfrm>
            <a:off x="6513579" y="2217409"/>
            <a:ext cx="6633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pacchetto</a:t>
            </a:r>
            <a:endParaRPr lang="en-US" sz="1200"/>
          </a:p>
        </p:txBody>
      </p:sp>
      <p:sp>
        <p:nvSpPr>
          <p:cNvPr id="1163504650" name="Text 23"/>
          <p:cNvSpPr/>
          <p:nvPr/>
        </p:nvSpPr>
        <p:spPr bwMode="auto">
          <a:xfrm>
            <a:off x="4559300" y="2578100"/>
            <a:ext cx="31656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il frame non cambia</a:t>
            </a:r>
            <a:endParaRPr lang="en-US" sz="1200"/>
          </a:p>
        </p:txBody>
      </p:sp>
      <p:sp>
        <p:nvSpPr>
          <p:cNvPr id="1228238246" name="Text 24"/>
          <p:cNvSpPr/>
          <p:nvPr/>
        </p:nvSpPr>
        <p:spPr bwMode="auto">
          <a:xfrm>
            <a:off x="4559300" y="2867620"/>
            <a:ext cx="3165602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Nessuna copia</a:t>
            </a: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: il frame arriva al nodo com'è.</a:t>
            </a:r>
            <a:endParaRPr lang="en-US" sz="1400"/>
          </a:p>
        </p:txBody>
      </p:sp>
      <p:pic>
        <p:nvPicPr>
          <p:cNvPr id="235906512" name="Image 1" descr="arrow-right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886700" y="2477691"/>
            <a:ext cx="254000" cy="177800"/>
          </a:xfrm>
          <a:prstGeom prst="rect">
            <a:avLst/>
          </a:prstGeom>
        </p:spPr>
      </p:pic>
      <p:sp>
        <p:nvSpPr>
          <p:cNvPr id="947860522" name="Shape 25"/>
          <p:cNvSpPr/>
          <p:nvPr/>
        </p:nvSpPr>
        <p:spPr bwMode="auto">
          <a:xfrm>
            <a:off x="8216900" y="1562100"/>
            <a:ext cx="3429000" cy="2009048"/>
          </a:xfrm>
          <a:prstGeom prst="roundRect">
            <a:avLst>
              <a:gd name="adj" fmla="val 6321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916746541" name="Shape 26"/>
          <p:cNvSpPr/>
          <p:nvPr/>
        </p:nvSpPr>
        <p:spPr bwMode="auto">
          <a:xfrm>
            <a:off x="8394700" y="17145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E07A2D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563861884" name="Text 27"/>
          <p:cNvSpPr/>
          <p:nvPr/>
        </p:nvSpPr>
        <p:spPr bwMode="auto">
          <a:xfrm>
            <a:off x="8527389" y="1767818"/>
            <a:ext cx="14095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3</a:t>
            </a:r>
            <a:endParaRPr lang="en-US" sz="1400"/>
          </a:p>
        </p:txBody>
      </p:sp>
      <p:sp>
        <p:nvSpPr>
          <p:cNvPr id="788901066" name="Text 28"/>
          <p:cNvSpPr/>
          <p:nvPr/>
        </p:nvSpPr>
        <p:spPr bwMode="auto">
          <a:xfrm>
            <a:off x="8839200" y="1750089"/>
            <a:ext cx="1527307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  <a:defRPr/>
            </a:pPr>
            <a:r>
              <a:rPr lang="en-US" sz="16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Il nodo lo elabora</a:t>
            </a:r>
            <a:endParaRPr lang="en-US" sz="1600"/>
          </a:p>
        </p:txBody>
      </p:sp>
      <p:sp>
        <p:nvSpPr>
          <p:cNvPr id="1469038266" name="Shape 29"/>
          <p:cNvSpPr/>
          <p:nvPr/>
        </p:nvSpPr>
        <p:spPr bwMode="auto">
          <a:xfrm>
            <a:off x="8404225" y="2155825"/>
            <a:ext cx="3054350" cy="336550"/>
          </a:xfrm>
          <a:prstGeom prst="roundRect">
            <a:avLst>
              <a:gd name="adj" fmla="val 19811"/>
            </a:avLst>
          </a:prstGeom>
          <a:solidFill>
            <a:srgbClr val="FDEBDB"/>
          </a:solidFill>
          <a:ln w="19050">
            <a:solidFill>
              <a:srgbClr val="E07A2D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057398044" name="Text 30"/>
          <p:cNvSpPr/>
          <p:nvPr/>
        </p:nvSpPr>
        <p:spPr bwMode="auto">
          <a:xfrm>
            <a:off x="9451843" y="2208547"/>
            <a:ext cx="100984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NODO · CPU 6</a:t>
            </a:r>
            <a:endParaRPr lang="en-US" sz="1300"/>
          </a:p>
        </p:txBody>
      </p:sp>
      <p:sp>
        <p:nvSpPr>
          <p:cNvPr id="1040673037" name="Text 31"/>
          <p:cNvSpPr/>
          <p:nvPr/>
        </p:nvSpPr>
        <p:spPr bwMode="auto">
          <a:xfrm>
            <a:off x="8394700" y="2578100"/>
            <a:ext cx="31656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senza il costo del generatore</a:t>
            </a:r>
            <a:endParaRPr lang="en-US" sz="1200"/>
          </a:p>
        </p:txBody>
      </p:sp>
      <p:sp>
        <p:nvSpPr>
          <p:cNvPr id="699686560" name="Text 32"/>
          <p:cNvSpPr/>
          <p:nvPr/>
        </p:nvSpPr>
        <p:spPr bwMode="auto">
          <a:xfrm>
            <a:off x="8394700" y="2867620"/>
            <a:ext cx="3165602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Come da una scheda di rete con </a:t>
            </a: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XDP nativo</a:t>
            </a: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.</a:t>
            </a:r>
            <a:endParaRPr lang="en-US" sz="1400"/>
          </a:p>
        </p:txBody>
      </p:sp>
      <p:sp>
        <p:nvSpPr>
          <p:cNvPr id="1376690012" name="Shape 33"/>
          <p:cNvSpPr/>
          <p:nvPr/>
        </p:nvSpPr>
        <p:spPr bwMode="auto">
          <a:xfrm>
            <a:off x="546100" y="4157997"/>
            <a:ext cx="5473700" cy="741627"/>
          </a:xfrm>
          <a:prstGeom prst="roundRect">
            <a:avLst>
              <a:gd name="adj" fmla="val 17125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57118770" name="Text 34"/>
          <p:cNvSpPr/>
          <p:nvPr/>
        </p:nvSpPr>
        <p:spPr bwMode="auto">
          <a:xfrm>
            <a:off x="723900" y="4300209"/>
            <a:ext cx="222377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  <a:defRPr/>
            </a:pPr>
            <a:r>
              <a:rPr lang="en-US" sz="36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12–15</a:t>
            </a:r>
            <a:endParaRPr lang="en-US" sz="3600"/>
          </a:p>
        </p:txBody>
      </p:sp>
      <p:sp>
        <p:nvSpPr>
          <p:cNvPr id="953161277" name="Text 35"/>
          <p:cNvSpPr/>
          <p:nvPr/>
        </p:nvSpPr>
        <p:spPr bwMode="auto">
          <a:xfrm>
            <a:off x="3035300" y="4297697"/>
            <a:ext cx="2890901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milioni di pacchetti al secondo offerti da un solo thread</a:t>
            </a:r>
            <a:endParaRPr lang="en-US" sz="1400"/>
          </a:p>
        </p:txBody>
      </p:sp>
      <p:sp>
        <p:nvSpPr>
          <p:cNvPr id="1880720026" name="Shape 36"/>
          <p:cNvSpPr/>
          <p:nvPr/>
        </p:nvSpPr>
        <p:spPr bwMode="auto">
          <a:xfrm>
            <a:off x="6172200" y="4157997"/>
            <a:ext cx="5473700" cy="741627"/>
          </a:xfrm>
          <a:prstGeom prst="roundRect">
            <a:avLst>
              <a:gd name="adj" fmla="val 17125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404498679" name="Text 37"/>
          <p:cNvSpPr/>
          <p:nvPr/>
        </p:nvSpPr>
        <p:spPr bwMode="auto">
          <a:xfrm>
            <a:off x="6350000" y="4300209"/>
            <a:ext cx="222377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  <a:defRPr/>
            </a:pPr>
            <a:r>
              <a:rPr lang="en-US" sz="36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293 ns</a:t>
            </a:r>
            <a:endParaRPr lang="en-US" sz="3600"/>
          </a:p>
        </p:txBody>
      </p:sp>
      <p:sp>
        <p:nvSpPr>
          <p:cNvPr id="1657468180" name="Text 38"/>
          <p:cNvSpPr/>
          <p:nvPr/>
        </p:nvSpPr>
        <p:spPr bwMode="auto">
          <a:xfrm>
            <a:off x="8661400" y="4297697"/>
            <a:ext cx="2890901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P2 con xdp_gen, contro 529 ns con pktgen</a:t>
            </a:r>
            <a:endParaRPr lang="en-US" sz="1400"/>
          </a:p>
        </p:txBody>
      </p:sp>
      <p:sp>
        <p:nvSpPr>
          <p:cNvPr id="688378167" name="Shape 39"/>
          <p:cNvSpPr/>
          <p:nvPr/>
        </p:nvSpPr>
        <p:spPr bwMode="auto">
          <a:xfrm>
            <a:off x="546100" y="5486400"/>
            <a:ext cx="11099800" cy="774700"/>
          </a:xfrm>
          <a:prstGeom prst="roundRect">
            <a:avLst>
              <a:gd name="adj" fmla="val 13115"/>
            </a:avLst>
          </a:prstGeom>
          <a:solidFill>
            <a:srgbClr val="FFF4D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362604949" name="Shape 40"/>
          <p:cNvSpPr/>
          <p:nvPr/>
        </p:nvSpPr>
        <p:spPr bwMode="auto">
          <a:xfrm>
            <a:off x="546100" y="5486400"/>
            <a:ext cx="82550" cy="774700"/>
          </a:xfrm>
          <a:custGeom>
            <a:avLst/>
            <a:gdLst/>
            <a:ahLst/>
            <a:cxnLst/>
            <a:rect l="l" t="t" r="r" b="b"/>
            <a:pathLst>
              <a:path w="82550" h="774700" fill="norm" stroke="1" extrusionOk="0">
                <a:moveTo>
                  <a:pt x="0" y="101600"/>
                </a:moveTo>
                <a:arcTo wR="101600" hR="101600" stAng="10800000" swAng="4751585"/>
                <a:lnTo>
                  <a:pt x="82550" y="772898"/>
                </a:lnTo>
                <a:arcTo wR="101600" hR="101600" stAng="6048415" swAng="4751585"/>
                <a:close/>
              </a:path>
            </a:pathLst>
          </a:custGeom>
          <a:solidFill>
            <a:srgbClr val="F2B134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073670232" name="Text 41"/>
          <p:cNvSpPr/>
          <p:nvPr/>
        </p:nvSpPr>
        <p:spPr bwMode="auto">
          <a:xfrm>
            <a:off x="819150" y="5767058"/>
            <a:ext cx="8762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B57A00"/>
                </a:solidFill>
                <a:latin typeface="Carlito"/>
                <a:ea typeface="Carlito"/>
                <a:cs typeface="Carlito"/>
              </a:rPr>
              <a:t>QUINDI</a:t>
            </a:r>
            <a:endParaRPr lang="en-US" sz="1200"/>
          </a:p>
        </p:txBody>
      </p:sp>
      <p:sp>
        <p:nvSpPr>
          <p:cNvPr id="406496708" name="Text 42"/>
          <p:cNvSpPr/>
          <p:nvPr/>
        </p:nvSpPr>
        <p:spPr bwMode="auto">
          <a:xfrm>
            <a:off x="1822450" y="5626100"/>
            <a:ext cx="988269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  <a:defRPr/>
            </a:pP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Il costo del generatore non passa più dal nodo. Si usa </a:t>
            </a: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un thread per coda</a:t>
            </a: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: più thread nella stessa coda si intralciano e rallentano anche il nodo (slide 13).</a:t>
            </a:r>
            <a:endParaRPr lang="en-US" sz="1500"/>
          </a:p>
        </p:txBody>
      </p:sp>
      <p:sp>
        <p:nvSpPr>
          <p:cNvPr id="1544636020" name="Text 43"/>
          <p:cNvSpPr/>
          <p:nvPr/>
        </p:nvSpPr>
        <p:spPr bwMode="auto">
          <a:xfrm>
            <a:off x="546100" y="6426200"/>
            <a:ext cx="10072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i="1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Frame grezzi creati con BPF_PROG_TEST_RUN in modalità live frames · script ipa/test/xdp_gen.py</a:t>
            </a:r>
            <a:endParaRPr lang="en-US" sz="1200"/>
          </a:p>
        </p:txBody>
      </p:sp>
      <p:sp>
        <p:nvSpPr>
          <p:cNvPr id="1639922481" name="Text 44"/>
          <p:cNvSpPr/>
          <p:nvPr/>
        </p:nvSpPr>
        <p:spPr bwMode="auto">
          <a:xfrm>
            <a:off x="10960099" y="642620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10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692161" name="Shape 0"/>
          <p:cNvSpPr/>
          <p:nvPr/>
        </p:nvSpPr>
        <p:spPr bwMode="auto">
          <a:xfrm>
            <a:off x="0" y="0"/>
            <a:ext cx="12192000" cy="107949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729767654" name="Text 1"/>
          <p:cNvSpPr/>
          <p:nvPr/>
        </p:nvSpPr>
        <p:spPr bwMode="auto">
          <a:xfrm>
            <a:off x="546100" y="330200"/>
            <a:ext cx="114327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3 · I DUE GENERATORI DI TRAFFICO · A CONFRONTO</a:t>
            </a:r>
            <a:endParaRPr lang="en-US" sz="1200"/>
          </a:p>
        </p:txBody>
      </p:sp>
      <p:sp>
        <p:nvSpPr>
          <p:cNvPr id="78506107" name="Text 2"/>
          <p:cNvSpPr/>
          <p:nvPr/>
        </p:nvSpPr>
        <p:spPr bwMode="auto">
          <a:xfrm>
            <a:off x="546100" y="584200"/>
            <a:ext cx="1143279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30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Due generatori, per due scopi diversi</a:t>
            </a:r>
            <a:endParaRPr lang="en-US" sz="3000"/>
          </a:p>
        </p:txBody>
      </p:sp>
      <p:sp>
        <p:nvSpPr>
          <p:cNvPr id="28145589" name="Text 3"/>
          <p:cNvSpPr/>
          <p:nvPr/>
        </p:nvSpPr>
        <p:spPr bwMode="auto">
          <a:xfrm>
            <a:off x="546100" y="1562100"/>
            <a:ext cx="11432794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  <a:defRPr/>
            </a:pPr>
            <a:r>
              <a:rPr lang="en-US" sz="16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Stesso nodo, stessi programmi: cambia solo </a:t>
            </a:r>
            <a:r>
              <a:rPr lang="en-US" sz="16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come arriva il pacchetto</a:t>
            </a:r>
            <a:r>
              <a:rPr lang="en-US" sz="16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.</a:t>
            </a:r>
            <a:endParaRPr lang="en-US" sz="1600"/>
          </a:p>
        </p:txBody>
      </p:sp>
      <p:graphicFrame>
        <p:nvGraphicFramePr>
          <p:cNvPr id="429695555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558800" y="2628640"/>
          <a:ext cx="11087100" cy="2315766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439161"/>
                <a:gridCol w="4323969"/>
                <a:gridCol w="4323969"/>
              </a:tblGrid>
              <a:tr h="385961"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</a:rPr>
                        <a:t>Confronto</a:t>
                      </a:r>
                      <a:endParaRPr lang="en-US" sz="14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62230" marR="62230" marT="62230" marB="62230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1D324E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1D324E"/>
                      </a:solidFill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</a:rPr>
                        <a:t>pktgen</a:t>
                      </a:r>
                      <a:endParaRPr lang="en-US" sz="14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62230" marR="62230" marT="62230" marB="62230">
                    <a:lnL w="12700" algn="ctr">
                      <a:solidFill>
                        <a:srgbClr val="1D324E"/>
                      </a:solidFill>
                    </a:lnL>
                    <a:lnR w="12700" algn="ctr">
                      <a:solidFill>
                        <a:srgbClr val="1D324E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1D324E"/>
                      </a:solidFill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</a:rPr>
                        <a:t>xdp_gen</a:t>
                      </a:r>
                      <a:endParaRPr lang="en-US" sz="14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62230" marR="62230" marT="62230" marB="62230">
                    <a:lnL w="12700" algn="ctr">
                      <a:solidFill>
                        <a:srgbClr val="1D324E"/>
                      </a:solidFill>
                    </a:lnL>
                    <a:lnR w="12700" algn="ctr">
                      <a:solidFill>
                        <a:srgbClr val="1D324E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1D324E"/>
                      </a:solidFill>
                    </a:lnB>
                    <a:solidFill>
                      <a:srgbClr val="1F3A5F"/>
                    </a:solidFill>
                  </a:tcPr>
                </a:tc>
              </a:tr>
              <a:tr h="385961"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222B36"/>
                          </a:solidFill>
                          <a:latin typeface="Carlito"/>
                          <a:ea typeface="Carlito"/>
                          <a:cs typeface="Carlito"/>
                        </a:rPr>
                        <a:t>Come crea il pacchetto</a:t>
                      </a:r>
                      <a:endParaRPr lang="en-US" sz="14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62230" marR="62230" marT="62230" marB="62230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1D324E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222B36"/>
                          </a:solidFill>
                          <a:latin typeface="Carlito"/>
                          <a:ea typeface="Carlito"/>
                          <a:cs typeface="Carlito"/>
                        </a:rPr>
                        <a:t>una skb, come lo stack di Linux</a:t>
                      </a:r>
                      <a:endParaRPr lang="en-US" sz="14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62230" marR="62230" marT="62230" marB="62230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1D324E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222B36"/>
                          </a:solidFill>
                          <a:latin typeface="Carlito"/>
                          <a:ea typeface="Carlito"/>
                          <a:cs typeface="Carlito"/>
                        </a:rPr>
                        <a:t>un frame grezzo, già nel formato di XDP</a:t>
                      </a:r>
                      <a:endParaRPr lang="en-US" sz="14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62230" marR="62230" marT="62230" marB="62230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1D324E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5961"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222B36"/>
                          </a:solidFill>
                          <a:latin typeface="Carlito"/>
                          <a:ea typeface="Carlito"/>
                          <a:cs typeface="Carlito"/>
                        </a:rPr>
                        <a:t>Copia prima del nodo</a:t>
                      </a:r>
                      <a:endParaRPr lang="en-US" sz="14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62230" marR="62230" marT="62230" marB="62230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2C4C6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2C4C6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222B36"/>
                          </a:solidFill>
                          <a:latin typeface="Carlito"/>
                          <a:ea typeface="Carlito"/>
                          <a:cs typeface="Carlito"/>
                        </a:rPr>
                        <a:t>sì, a ogni pacchetto</a:t>
                      </a:r>
                      <a:endParaRPr lang="en-US" sz="14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62230" marR="62230" marT="62230" marB="62230">
                    <a:lnL w="12700" algn="ctr">
                      <a:solidFill>
                        <a:srgbClr val="C2C4C6"/>
                      </a:solidFill>
                    </a:lnL>
                    <a:lnR w="12700" algn="ctr">
                      <a:solidFill>
                        <a:srgbClr val="C2C4C6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2C4C6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222B36"/>
                          </a:solidFill>
                          <a:latin typeface="Carlito"/>
                          <a:ea typeface="Carlito"/>
                          <a:cs typeface="Carlito"/>
                        </a:rPr>
                        <a:t>no</a:t>
                      </a:r>
                      <a:endParaRPr lang="en-US" sz="14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62230" marR="62230" marT="62230" marB="62230">
                    <a:lnL w="12700" algn="ctr">
                      <a:solidFill>
                        <a:srgbClr val="C2C4C6"/>
                      </a:solidFill>
                    </a:lnL>
                    <a:lnR w="12700" algn="ctr">
                      <a:solidFill>
                        <a:srgbClr val="C2C4C6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2C4C6"/>
                      </a:solidFill>
                    </a:lnB>
                    <a:solidFill>
                      <a:srgbClr val="F3F5F8"/>
                    </a:solidFill>
                  </a:tcPr>
                </a:tc>
              </a:tr>
              <a:tr h="385961"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222B36"/>
                          </a:solidFill>
                          <a:latin typeface="Carlito"/>
                          <a:ea typeface="Carlito"/>
                          <a:cs typeface="Carlito"/>
                        </a:rPr>
                        <a:t>Pacchetti offerti</a:t>
                      </a:r>
                      <a:endParaRPr lang="en-US" sz="14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62230" marR="62230" marT="62230" marB="62230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2C4C6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222B36"/>
                          </a:solidFill>
                          <a:latin typeface="Carlito"/>
                          <a:ea typeface="Carlito"/>
                          <a:cs typeface="Carlito"/>
                        </a:rPr>
                        <a:t>≈ 5,7 M/s (il nodo ne accetta ≈ 4,6)</a:t>
                      </a:r>
                      <a:endParaRPr lang="en-US" sz="14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62230" marR="62230" marT="62230" marB="62230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2C4C6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222B36"/>
                          </a:solidFill>
                          <a:latin typeface="Carlito"/>
                          <a:ea typeface="Carlito"/>
                          <a:cs typeface="Carlito"/>
                        </a:rPr>
                        <a:t>≈ 12–15 M/s (un thread)</a:t>
                      </a:r>
                      <a:endParaRPr lang="en-US" sz="14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62230" marR="62230" marT="62230" marB="62230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2C4C6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5961"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222B36"/>
                          </a:solidFill>
                          <a:latin typeface="Carlito"/>
                          <a:ea typeface="Carlito"/>
                          <a:cs typeface="Carlito"/>
                        </a:rPr>
                        <a:t>Chi arriva al tetto</a:t>
                      </a:r>
                      <a:endParaRPr lang="en-US" sz="14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62230" marR="62230" marT="62230" marB="62230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2C4C6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2C4C6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222B36"/>
                          </a:solidFill>
                          <a:latin typeface="Carlito"/>
                          <a:ea typeface="Carlito"/>
                          <a:cs typeface="Carlito"/>
                        </a:rPr>
                        <a:t>nessuna pipeline: tutte e cinque saturano sotto</a:t>
                      </a:r>
                      <a:endParaRPr lang="en-US" sz="14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62230" marR="62230" marT="62230" marB="62230">
                    <a:lnL w="12700" algn="ctr">
                      <a:solidFill>
                        <a:srgbClr val="C2C4C6"/>
                      </a:solidFill>
                    </a:lnL>
                    <a:lnR w="12700" algn="ctr">
                      <a:solidFill>
                        <a:srgbClr val="C2C4C6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2C4C6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222B36"/>
                          </a:solidFill>
                          <a:latin typeface="Carlito"/>
                          <a:ea typeface="Carlito"/>
                          <a:cs typeface="Carlito"/>
                        </a:rPr>
                        <a:t>baseline e rxonly; P1, P1.5, P2 e P3 saturano</a:t>
                      </a:r>
                      <a:endParaRPr lang="en-US" sz="14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62230" marR="62230" marT="62230" marB="62230">
                    <a:lnL w="12700" algn="ctr">
                      <a:solidFill>
                        <a:srgbClr val="C2C4C6"/>
                      </a:solidFill>
                    </a:lnL>
                    <a:lnR w="12700" algn="ctr">
                      <a:solidFill>
                        <a:srgbClr val="C2C4C6"/>
                      </a:solidFill>
                    </a:lnR>
                    <a:lnT w="12700" algn="ctr">
                      <a:solidFill>
                        <a:srgbClr val="CBCBCB"/>
                      </a:solidFill>
                    </a:lnT>
                    <a:lnB w="12700" algn="ctr">
                      <a:solidFill>
                        <a:srgbClr val="C2C4C6"/>
                      </a:solidFill>
                    </a:lnB>
                    <a:solidFill>
                      <a:srgbClr val="F3F5F8"/>
                    </a:solidFill>
                  </a:tcPr>
                </a:tc>
              </a:tr>
              <a:tr h="385961"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222B36"/>
                          </a:solidFill>
                          <a:latin typeface="Carlito"/>
                          <a:ea typeface="Carlito"/>
                          <a:cs typeface="Carlito"/>
                        </a:rPr>
                        <a:t>Serve per</a:t>
                      </a:r>
                      <a:endParaRPr lang="en-US" sz="14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62230" marR="62230" marT="62230" marB="62230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2C4C6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222B36"/>
                          </a:solidFill>
                          <a:latin typeface="Carlito"/>
                          <a:ea typeface="Carlito"/>
                          <a:cs typeface="Carlito"/>
                        </a:rPr>
                        <a:t>confrontare tutte le pipeline fra loro</a:t>
                      </a:r>
                      <a:endParaRPr lang="en-US" sz="14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62230" marR="62230" marT="62230" marB="62230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2C4C6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960"/>
                        </a:lnSpc>
                        <a:buNone/>
                        <a:defRPr/>
                      </a:pPr>
                      <a:r>
                        <a:rPr lang="en-US" sz="1400">
                          <a:solidFill>
                            <a:srgbClr val="222B36"/>
                          </a:solidFill>
                          <a:latin typeface="Carlito"/>
                          <a:ea typeface="Carlito"/>
                          <a:cs typeface="Carlito"/>
                        </a:rPr>
                        <a:t>misurare il costo di P1–P3 senza la copia</a:t>
                      </a:r>
                      <a:endParaRPr lang="en-US" sz="1400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62230" marR="62230" marT="62230" marB="62230">
                    <a:lnL w="12700" algn="ctr">
                      <a:solidFill>
                        <a:srgbClr val="CBCBCB"/>
                      </a:solidFill>
                    </a:lnL>
                    <a:lnR w="12700" algn="ctr">
                      <a:solidFill>
                        <a:srgbClr val="CBCBCB"/>
                      </a:solidFill>
                    </a:lnR>
                    <a:lnT w="12700" algn="ctr">
                      <a:solidFill>
                        <a:srgbClr val="C2C4C6"/>
                      </a:solidFill>
                    </a:lnT>
                    <a:lnB w="12700" algn="ctr">
                      <a:solidFill>
                        <a:srgbClr val="CBCBC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967962" name="Shape 4"/>
          <p:cNvSpPr/>
          <p:nvPr/>
        </p:nvSpPr>
        <p:spPr bwMode="auto">
          <a:xfrm>
            <a:off x="546100" y="5734050"/>
            <a:ext cx="11099800" cy="527050"/>
          </a:xfrm>
          <a:prstGeom prst="roundRect">
            <a:avLst>
              <a:gd name="adj" fmla="val 19277"/>
            </a:avLst>
          </a:prstGeom>
          <a:solidFill>
            <a:srgbClr val="FFF4D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995986332" name="Shape 5"/>
          <p:cNvSpPr/>
          <p:nvPr/>
        </p:nvSpPr>
        <p:spPr bwMode="auto">
          <a:xfrm>
            <a:off x="546100" y="5734050"/>
            <a:ext cx="82550" cy="527050"/>
          </a:xfrm>
          <a:custGeom>
            <a:avLst/>
            <a:gdLst/>
            <a:ahLst/>
            <a:cxnLst/>
            <a:rect l="l" t="t" r="r" b="b"/>
            <a:pathLst>
              <a:path w="82550" h="527050" fill="norm" stroke="1" extrusionOk="0">
                <a:moveTo>
                  <a:pt x="0" y="101600"/>
                </a:moveTo>
                <a:arcTo wR="101600" hR="101600" stAng="10800000" swAng="4751585"/>
                <a:lnTo>
                  <a:pt x="82550" y="525248"/>
                </a:lnTo>
                <a:arcTo wR="101600" hR="101600" stAng="6048415" swAng="4751585"/>
                <a:close/>
              </a:path>
            </a:pathLst>
          </a:custGeom>
          <a:solidFill>
            <a:srgbClr val="F2B134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631466169" name="Text 6"/>
          <p:cNvSpPr/>
          <p:nvPr/>
        </p:nvSpPr>
        <p:spPr bwMode="auto">
          <a:xfrm>
            <a:off x="819150" y="5890884"/>
            <a:ext cx="8762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B57A00"/>
                </a:solidFill>
                <a:latin typeface="Carlito"/>
                <a:ea typeface="Carlito"/>
                <a:cs typeface="Carlito"/>
              </a:rPr>
              <a:t>QUINDI</a:t>
            </a:r>
            <a:endParaRPr lang="en-US" sz="1200"/>
          </a:p>
        </p:txBody>
      </p:sp>
      <p:sp>
        <p:nvSpPr>
          <p:cNvPr id="577693695" name="Text 7"/>
          <p:cNvSpPr/>
          <p:nvPr/>
        </p:nvSpPr>
        <p:spPr bwMode="auto">
          <a:xfrm>
            <a:off x="1822450" y="5873750"/>
            <a:ext cx="988269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  <a:defRPr/>
            </a:pP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Si usano </a:t>
            </a: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insieme</a:t>
            </a: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: ognuno confronta le pipeline al suo interno, e le cifre dei due generatori non si mescolano.</a:t>
            </a:r>
            <a:endParaRPr lang="en-US" sz="1500"/>
          </a:p>
        </p:txBody>
      </p:sp>
      <p:sp>
        <p:nvSpPr>
          <p:cNvPr id="1815941717" name="Text 8"/>
          <p:cNvSpPr/>
          <p:nvPr/>
        </p:nvSpPr>
        <p:spPr bwMode="auto">
          <a:xfrm>
            <a:off x="546100" y="6426200"/>
            <a:ext cx="10072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i="1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Il tetto di pktgen è il tetto di ricezione del nodo (rxonly, 4,6 M/s) · M/s = milioni di pacchetti al secondo</a:t>
            </a:r>
            <a:endParaRPr lang="en-US" sz="1200"/>
          </a:p>
        </p:txBody>
      </p:sp>
      <p:sp>
        <p:nvSpPr>
          <p:cNvPr id="878478925" name="Text 9"/>
          <p:cNvSpPr/>
          <p:nvPr/>
        </p:nvSpPr>
        <p:spPr bwMode="auto">
          <a:xfrm>
            <a:off x="10960099" y="642620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11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4083399" name="Shape 0"/>
          <p:cNvSpPr/>
          <p:nvPr/>
        </p:nvSpPr>
        <p:spPr bwMode="auto">
          <a:xfrm>
            <a:off x="0" y="0"/>
            <a:ext cx="12192000" cy="107949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49797831" name="Text 1"/>
          <p:cNvSpPr/>
          <p:nvPr/>
        </p:nvSpPr>
        <p:spPr bwMode="auto">
          <a:xfrm>
            <a:off x="546100" y="330200"/>
            <a:ext cx="114327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4 · I RISULTATI SUL DUAL BOOT · PKTGEN</a:t>
            </a:r>
            <a:endParaRPr lang="en-US" sz="1200"/>
          </a:p>
        </p:txBody>
      </p:sp>
      <p:sp>
        <p:nvSpPr>
          <p:cNvPr id="536327148" name="Text 2"/>
          <p:cNvSpPr/>
          <p:nvPr/>
        </p:nvSpPr>
        <p:spPr bwMode="auto">
          <a:xfrm>
            <a:off x="546100" y="584200"/>
            <a:ext cx="1143279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30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Con pktgen tutte le pipeline saturano e si ordinano</a:t>
            </a:r>
            <a:endParaRPr lang="en-US" sz="3000"/>
          </a:p>
        </p:txBody>
      </p:sp>
      <p:sp>
        <p:nvSpPr>
          <p:cNvPr id="893306286" name="Text 3"/>
          <p:cNvSpPr/>
          <p:nvPr/>
        </p:nvSpPr>
        <p:spPr bwMode="auto">
          <a:xfrm>
            <a:off x="546100" y="6426200"/>
            <a:ext cx="10072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i="1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3 giri × 3 ripetizioni, 64 byte, 28 settembre · variazione fra i giri 0,2–0,9% · DUT a 3 494 MHz, nessun throttling</a:t>
            </a:r>
            <a:endParaRPr lang="en-US" sz="1200"/>
          </a:p>
        </p:txBody>
      </p:sp>
      <p:sp>
        <p:nvSpPr>
          <p:cNvPr id="1910261858" name="Text 4"/>
          <p:cNvSpPr/>
          <p:nvPr/>
        </p:nvSpPr>
        <p:spPr bwMode="auto">
          <a:xfrm>
            <a:off x="10960099" y="642620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12</a:t>
            </a:r>
            <a:endParaRPr lang="en-US" sz="1200"/>
          </a:p>
        </p:txBody>
      </p:sp>
      <p:sp>
        <p:nvSpPr>
          <p:cNvPr id="861404636" name="Text 5"/>
          <p:cNvSpPr/>
          <p:nvPr/>
        </p:nvSpPr>
        <p:spPr bwMode="auto">
          <a:xfrm>
            <a:off x="2599816" y="1653579"/>
            <a:ext cx="36626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milioni di pacchetti al secondo</a:t>
            </a:r>
            <a:endParaRPr lang="en-US" sz="1200"/>
          </a:p>
        </p:txBody>
      </p:sp>
      <p:sp>
        <p:nvSpPr>
          <p:cNvPr id="1109358125" name="Text 6"/>
          <p:cNvSpPr/>
          <p:nvPr/>
        </p:nvSpPr>
        <p:spPr bwMode="auto">
          <a:xfrm>
            <a:off x="6262497" y="1653579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ns/pacchetto</a:t>
            </a:r>
            <a:endParaRPr lang="en-US" sz="1200"/>
          </a:p>
        </p:txBody>
      </p:sp>
      <p:sp>
        <p:nvSpPr>
          <p:cNvPr id="2072870536" name="Text 7"/>
          <p:cNvSpPr/>
          <p:nvPr/>
        </p:nvSpPr>
        <p:spPr bwMode="auto">
          <a:xfrm flipH="0" flipV="0">
            <a:off x="7551152" y="1650999"/>
            <a:ext cx="952499" cy="238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sopra baseline</a:t>
            </a:r>
            <a:endParaRPr lang="en-US" sz="1200"/>
          </a:p>
        </p:txBody>
      </p:sp>
      <p:sp>
        <p:nvSpPr>
          <p:cNvPr id="445628566" name="Shape 8"/>
          <p:cNvSpPr/>
          <p:nvPr/>
        </p:nvSpPr>
        <p:spPr bwMode="auto">
          <a:xfrm>
            <a:off x="546100" y="2038288"/>
            <a:ext cx="165100" cy="165100"/>
          </a:xfrm>
          <a:prstGeom prst="roundRect">
            <a:avLst>
              <a:gd name="adj" fmla="val 26923"/>
            </a:avLst>
          </a:prstGeom>
          <a:solidFill>
            <a:srgbClr val="6B7C93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192535326" name="Text 9"/>
          <p:cNvSpPr/>
          <p:nvPr/>
        </p:nvSpPr>
        <p:spPr bwMode="auto">
          <a:xfrm>
            <a:off x="787400" y="1996418"/>
            <a:ext cx="510514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rxonly</a:t>
            </a:r>
            <a:endParaRPr lang="en-US" sz="1400"/>
          </a:p>
        </p:txBody>
      </p:sp>
      <p:sp>
        <p:nvSpPr>
          <p:cNvPr id="610077576" name="Shape 10"/>
          <p:cNvSpPr/>
          <p:nvPr/>
        </p:nvSpPr>
        <p:spPr bwMode="auto">
          <a:xfrm>
            <a:off x="2514600" y="1917700"/>
            <a:ext cx="3073400" cy="279400"/>
          </a:xfrm>
          <a:prstGeom prst="roundRect">
            <a:avLst>
              <a:gd name="adj" fmla="val 13636"/>
            </a:avLst>
          </a:prstGeom>
          <a:solidFill>
            <a:srgbClr val="6B7C93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98618175" name="Text 11"/>
          <p:cNvSpPr/>
          <p:nvPr/>
        </p:nvSpPr>
        <p:spPr bwMode="auto">
          <a:xfrm>
            <a:off x="5664200" y="1936750"/>
            <a:ext cx="457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4,61</a:t>
            </a:r>
            <a:endParaRPr lang="en-US" sz="1500"/>
          </a:p>
        </p:txBody>
      </p:sp>
      <p:sp>
        <p:nvSpPr>
          <p:cNvPr id="1413649438" name="Text 12"/>
          <p:cNvSpPr/>
          <p:nvPr/>
        </p:nvSpPr>
        <p:spPr bwMode="auto">
          <a:xfrm>
            <a:off x="6146800" y="1996418"/>
            <a:ext cx="10033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217 ns</a:t>
            </a:r>
            <a:endParaRPr lang="en-US" sz="1400"/>
          </a:p>
        </p:txBody>
      </p:sp>
      <p:sp>
        <p:nvSpPr>
          <p:cNvPr id="90523107" name="Text 13"/>
          <p:cNvSpPr/>
          <p:nvPr/>
        </p:nvSpPr>
        <p:spPr bwMode="auto">
          <a:xfrm>
            <a:off x="7226300" y="1996418"/>
            <a:ext cx="1193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—</a:t>
            </a:r>
            <a:endParaRPr lang="en-US" sz="1400"/>
          </a:p>
        </p:txBody>
      </p:sp>
      <p:sp>
        <p:nvSpPr>
          <p:cNvPr id="1112953265" name="Shape 14"/>
          <p:cNvSpPr/>
          <p:nvPr/>
        </p:nvSpPr>
        <p:spPr bwMode="auto">
          <a:xfrm>
            <a:off x="546100" y="2495488"/>
            <a:ext cx="165100" cy="165100"/>
          </a:xfrm>
          <a:prstGeom prst="roundRect">
            <a:avLst>
              <a:gd name="adj" fmla="val 26923"/>
            </a:avLst>
          </a:prstGeom>
          <a:solidFill>
            <a:srgbClr val="8794A6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723666099" name="Text 15"/>
          <p:cNvSpPr/>
          <p:nvPr/>
        </p:nvSpPr>
        <p:spPr bwMode="auto">
          <a:xfrm>
            <a:off x="787400" y="2453618"/>
            <a:ext cx="666683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baseline</a:t>
            </a:r>
            <a:endParaRPr lang="en-US" sz="1400"/>
          </a:p>
        </p:txBody>
      </p:sp>
      <p:sp>
        <p:nvSpPr>
          <p:cNvPr id="1560298444" name="Shape 16"/>
          <p:cNvSpPr/>
          <p:nvPr/>
        </p:nvSpPr>
        <p:spPr bwMode="auto">
          <a:xfrm>
            <a:off x="2514600" y="2374900"/>
            <a:ext cx="2209800" cy="279400"/>
          </a:xfrm>
          <a:prstGeom prst="roundRect">
            <a:avLst>
              <a:gd name="adj" fmla="val 13636"/>
            </a:avLst>
          </a:prstGeom>
          <a:solidFill>
            <a:srgbClr val="8794A6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72694460" name="Text 17"/>
          <p:cNvSpPr/>
          <p:nvPr/>
        </p:nvSpPr>
        <p:spPr bwMode="auto">
          <a:xfrm>
            <a:off x="4800600" y="2393950"/>
            <a:ext cx="457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3,31</a:t>
            </a:r>
            <a:endParaRPr lang="en-US" sz="1500"/>
          </a:p>
        </p:txBody>
      </p:sp>
      <p:sp>
        <p:nvSpPr>
          <p:cNvPr id="960834326" name="Text 18"/>
          <p:cNvSpPr/>
          <p:nvPr/>
        </p:nvSpPr>
        <p:spPr bwMode="auto">
          <a:xfrm>
            <a:off x="6146800" y="2453618"/>
            <a:ext cx="10033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302 ns</a:t>
            </a:r>
            <a:endParaRPr lang="en-US" sz="1400"/>
          </a:p>
        </p:txBody>
      </p:sp>
      <p:sp>
        <p:nvSpPr>
          <p:cNvPr id="1798542865" name="Text 19"/>
          <p:cNvSpPr/>
          <p:nvPr/>
        </p:nvSpPr>
        <p:spPr bwMode="auto">
          <a:xfrm>
            <a:off x="7226300" y="2453618"/>
            <a:ext cx="1193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—</a:t>
            </a:r>
            <a:endParaRPr lang="en-US" sz="1400"/>
          </a:p>
        </p:txBody>
      </p:sp>
      <p:sp>
        <p:nvSpPr>
          <p:cNvPr id="1304371161" name="Shape 20"/>
          <p:cNvSpPr/>
          <p:nvPr/>
        </p:nvSpPr>
        <p:spPr bwMode="auto">
          <a:xfrm>
            <a:off x="546100" y="2952688"/>
            <a:ext cx="165100" cy="165100"/>
          </a:xfrm>
          <a:prstGeom prst="roundRect">
            <a:avLst>
              <a:gd name="adj" fmla="val 26923"/>
            </a:avLst>
          </a:prstGeom>
          <a:solidFill>
            <a:srgbClr val="C8551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05013140" name="Text 21"/>
          <p:cNvSpPr/>
          <p:nvPr/>
        </p:nvSpPr>
        <p:spPr bwMode="auto">
          <a:xfrm>
            <a:off x="787400" y="2910818"/>
            <a:ext cx="755981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P1 statica</a:t>
            </a:r>
            <a:endParaRPr lang="en-US" sz="1400"/>
          </a:p>
        </p:txBody>
      </p:sp>
      <p:sp>
        <p:nvSpPr>
          <p:cNvPr id="1482702441" name="Shape 22"/>
          <p:cNvSpPr/>
          <p:nvPr/>
        </p:nvSpPr>
        <p:spPr bwMode="auto">
          <a:xfrm>
            <a:off x="2514600" y="2832100"/>
            <a:ext cx="1962150" cy="279400"/>
          </a:xfrm>
          <a:prstGeom prst="roundRect">
            <a:avLst>
              <a:gd name="adj" fmla="val 13636"/>
            </a:avLst>
          </a:prstGeom>
          <a:solidFill>
            <a:srgbClr val="C8551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000272069" name="Text 23"/>
          <p:cNvSpPr/>
          <p:nvPr/>
        </p:nvSpPr>
        <p:spPr bwMode="auto">
          <a:xfrm>
            <a:off x="4552950" y="2851150"/>
            <a:ext cx="457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2,94</a:t>
            </a:r>
            <a:endParaRPr lang="en-US" sz="1500"/>
          </a:p>
        </p:txBody>
      </p:sp>
      <p:sp>
        <p:nvSpPr>
          <p:cNvPr id="1020742350" name="Text 24"/>
          <p:cNvSpPr/>
          <p:nvPr/>
        </p:nvSpPr>
        <p:spPr bwMode="auto">
          <a:xfrm>
            <a:off x="6146800" y="2910818"/>
            <a:ext cx="10033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340 ns</a:t>
            </a:r>
            <a:endParaRPr lang="en-US" sz="1400"/>
          </a:p>
        </p:txBody>
      </p:sp>
      <p:sp>
        <p:nvSpPr>
          <p:cNvPr id="817162400" name="Text 25"/>
          <p:cNvSpPr/>
          <p:nvPr/>
        </p:nvSpPr>
        <p:spPr bwMode="auto">
          <a:xfrm>
            <a:off x="7226300" y="2910818"/>
            <a:ext cx="1193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+38 ns</a:t>
            </a:r>
            <a:endParaRPr lang="en-US" sz="1400"/>
          </a:p>
        </p:txBody>
      </p:sp>
      <p:sp>
        <p:nvSpPr>
          <p:cNvPr id="758748805" name="Shape 26"/>
          <p:cNvSpPr/>
          <p:nvPr/>
        </p:nvSpPr>
        <p:spPr bwMode="auto">
          <a:xfrm>
            <a:off x="546100" y="3409887"/>
            <a:ext cx="165100" cy="165100"/>
          </a:xfrm>
          <a:prstGeom prst="roundRect">
            <a:avLst>
              <a:gd name="adj" fmla="val 26923"/>
            </a:avLst>
          </a:prstGeom>
          <a:solidFill>
            <a:srgbClr val="F09A3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888970033" name="Text 27"/>
          <p:cNvSpPr/>
          <p:nvPr/>
        </p:nvSpPr>
        <p:spPr bwMode="auto">
          <a:xfrm>
            <a:off x="787400" y="3368018"/>
            <a:ext cx="120246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P1.5 hardcoded</a:t>
            </a:r>
            <a:endParaRPr lang="en-US" sz="1400"/>
          </a:p>
        </p:txBody>
      </p:sp>
      <p:sp>
        <p:nvSpPr>
          <p:cNvPr id="2071565254" name="Shape 28"/>
          <p:cNvSpPr/>
          <p:nvPr/>
        </p:nvSpPr>
        <p:spPr bwMode="auto">
          <a:xfrm>
            <a:off x="2514600" y="3289300"/>
            <a:ext cx="1873250" cy="279400"/>
          </a:xfrm>
          <a:prstGeom prst="roundRect">
            <a:avLst>
              <a:gd name="adj" fmla="val 13636"/>
            </a:avLst>
          </a:prstGeom>
          <a:solidFill>
            <a:srgbClr val="F09A3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390906181" name="Text 29"/>
          <p:cNvSpPr/>
          <p:nvPr/>
        </p:nvSpPr>
        <p:spPr bwMode="auto">
          <a:xfrm>
            <a:off x="4464050" y="3308350"/>
            <a:ext cx="457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2,81</a:t>
            </a:r>
            <a:endParaRPr lang="en-US" sz="1500"/>
          </a:p>
        </p:txBody>
      </p:sp>
      <p:sp>
        <p:nvSpPr>
          <p:cNvPr id="494621169" name="Text 30"/>
          <p:cNvSpPr/>
          <p:nvPr/>
        </p:nvSpPr>
        <p:spPr bwMode="auto">
          <a:xfrm>
            <a:off x="6146800" y="3368018"/>
            <a:ext cx="10033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356 ns</a:t>
            </a:r>
            <a:endParaRPr lang="en-US" sz="1400"/>
          </a:p>
        </p:txBody>
      </p:sp>
      <p:sp>
        <p:nvSpPr>
          <p:cNvPr id="1176981325" name="Text 31"/>
          <p:cNvSpPr/>
          <p:nvPr/>
        </p:nvSpPr>
        <p:spPr bwMode="auto">
          <a:xfrm>
            <a:off x="7226300" y="3368018"/>
            <a:ext cx="1193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+53 ns</a:t>
            </a:r>
            <a:endParaRPr lang="en-US" sz="1400"/>
          </a:p>
        </p:txBody>
      </p:sp>
      <p:sp>
        <p:nvSpPr>
          <p:cNvPr id="411254010" name="Shape 32"/>
          <p:cNvSpPr/>
          <p:nvPr/>
        </p:nvSpPr>
        <p:spPr bwMode="auto">
          <a:xfrm>
            <a:off x="546100" y="3867088"/>
            <a:ext cx="165100" cy="165100"/>
          </a:xfrm>
          <a:prstGeom prst="roundRect">
            <a:avLst>
              <a:gd name="adj" fmla="val 26923"/>
            </a:avLst>
          </a:prstGeom>
          <a:solidFill>
            <a:srgbClr val="2E9C8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426256395" name="Text 33"/>
          <p:cNvSpPr/>
          <p:nvPr/>
        </p:nvSpPr>
        <p:spPr bwMode="auto">
          <a:xfrm>
            <a:off x="787400" y="3825218"/>
            <a:ext cx="94356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P2 template</a:t>
            </a:r>
            <a:endParaRPr lang="en-US" sz="1400"/>
          </a:p>
        </p:txBody>
      </p:sp>
      <p:sp>
        <p:nvSpPr>
          <p:cNvPr id="868211761" name="Shape 34"/>
          <p:cNvSpPr/>
          <p:nvPr/>
        </p:nvSpPr>
        <p:spPr bwMode="auto">
          <a:xfrm>
            <a:off x="2514600" y="3746500"/>
            <a:ext cx="1257300" cy="279400"/>
          </a:xfrm>
          <a:prstGeom prst="roundRect">
            <a:avLst>
              <a:gd name="adj" fmla="val 13636"/>
            </a:avLst>
          </a:prstGeom>
          <a:solidFill>
            <a:srgbClr val="2E9C8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706941863" name="Text 35"/>
          <p:cNvSpPr/>
          <p:nvPr/>
        </p:nvSpPr>
        <p:spPr bwMode="auto">
          <a:xfrm>
            <a:off x="3848100" y="3765550"/>
            <a:ext cx="457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1,89</a:t>
            </a:r>
            <a:endParaRPr lang="en-US" sz="1500"/>
          </a:p>
        </p:txBody>
      </p:sp>
      <p:sp>
        <p:nvSpPr>
          <p:cNvPr id="1001429822" name="Text 36"/>
          <p:cNvSpPr/>
          <p:nvPr/>
        </p:nvSpPr>
        <p:spPr bwMode="auto">
          <a:xfrm>
            <a:off x="6146800" y="3825218"/>
            <a:ext cx="10033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529 ns</a:t>
            </a:r>
            <a:endParaRPr lang="en-US" sz="1400"/>
          </a:p>
        </p:txBody>
      </p:sp>
      <p:sp>
        <p:nvSpPr>
          <p:cNvPr id="520676296" name="Text 37"/>
          <p:cNvSpPr/>
          <p:nvPr/>
        </p:nvSpPr>
        <p:spPr bwMode="auto">
          <a:xfrm>
            <a:off x="7226300" y="3825218"/>
            <a:ext cx="1193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+226 ns</a:t>
            </a:r>
            <a:endParaRPr lang="en-US" sz="1400"/>
          </a:p>
        </p:txBody>
      </p:sp>
      <p:sp>
        <p:nvSpPr>
          <p:cNvPr id="909484785" name="Shape 38"/>
          <p:cNvSpPr/>
          <p:nvPr/>
        </p:nvSpPr>
        <p:spPr bwMode="auto">
          <a:xfrm>
            <a:off x="546100" y="4324288"/>
            <a:ext cx="165100" cy="165100"/>
          </a:xfrm>
          <a:prstGeom prst="roundRect">
            <a:avLst>
              <a:gd name="adj" fmla="val 26923"/>
            </a:avLst>
          </a:prstGeom>
          <a:solidFill>
            <a:srgbClr val="1F5F8B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841509049" name="Text 39"/>
          <p:cNvSpPr/>
          <p:nvPr/>
        </p:nvSpPr>
        <p:spPr bwMode="auto">
          <a:xfrm>
            <a:off x="787400" y="4282418"/>
            <a:ext cx="90143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P3 modular</a:t>
            </a:r>
            <a:endParaRPr lang="en-US" sz="1400"/>
          </a:p>
        </p:txBody>
      </p:sp>
      <p:sp>
        <p:nvSpPr>
          <p:cNvPr id="2142854648" name="Shape 40"/>
          <p:cNvSpPr/>
          <p:nvPr/>
        </p:nvSpPr>
        <p:spPr bwMode="auto">
          <a:xfrm>
            <a:off x="2514600" y="4203700"/>
            <a:ext cx="1003300" cy="279400"/>
          </a:xfrm>
          <a:prstGeom prst="roundRect">
            <a:avLst>
              <a:gd name="adj" fmla="val 13636"/>
            </a:avLst>
          </a:prstGeom>
          <a:solidFill>
            <a:srgbClr val="1F5F8B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770568141" name="Text 41"/>
          <p:cNvSpPr/>
          <p:nvPr/>
        </p:nvSpPr>
        <p:spPr bwMode="auto">
          <a:xfrm>
            <a:off x="3594100" y="4222750"/>
            <a:ext cx="457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1,50</a:t>
            </a:r>
            <a:endParaRPr lang="en-US" sz="1500"/>
          </a:p>
        </p:txBody>
      </p:sp>
      <p:sp>
        <p:nvSpPr>
          <p:cNvPr id="1067422778" name="Text 42"/>
          <p:cNvSpPr/>
          <p:nvPr/>
        </p:nvSpPr>
        <p:spPr bwMode="auto">
          <a:xfrm>
            <a:off x="6146800" y="4282418"/>
            <a:ext cx="10033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666 ns</a:t>
            </a:r>
            <a:endParaRPr lang="en-US" sz="1400"/>
          </a:p>
        </p:txBody>
      </p:sp>
      <p:sp>
        <p:nvSpPr>
          <p:cNvPr id="523887834" name="Text 43"/>
          <p:cNvSpPr/>
          <p:nvPr/>
        </p:nvSpPr>
        <p:spPr bwMode="auto">
          <a:xfrm>
            <a:off x="7226300" y="4282418"/>
            <a:ext cx="1193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+364 ns</a:t>
            </a:r>
            <a:endParaRPr lang="en-US" sz="1400"/>
          </a:p>
        </p:txBody>
      </p:sp>
      <p:sp>
        <p:nvSpPr>
          <p:cNvPr id="774944657" name="Shape 44"/>
          <p:cNvSpPr/>
          <p:nvPr/>
        </p:nvSpPr>
        <p:spPr bwMode="auto">
          <a:xfrm>
            <a:off x="8597900" y="1562100"/>
            <a:ext cx="3048000" cy="1479550"/>
          </a:xfrm>
          <a:prstGeom prst="roundRect">
            <a:avLst>
              <a:gd name="adj" fmla="val 8584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044408267" name="Shape 45"/>
          <p:cNvSpPr/>
          <p:nvPr/>
        </p:nvSpPr>
        <p:spPr bwMode="auto">
          <a:xfrm>
            <a:off x="8597900" y="1562100"/>
            <a:ext cx="3048000" cy="88900"/>
          </a:xfrm>
          <a:custGeom>
            <a:avLst/>
            <a:gdLst/>
            <a:ahLst/>
            <a:cxnLst/>
            <a:rect l="l" t="t" r="r" b="b"/>
            <a:pathLst>
              <a:path w="3048000" h="88900" fill="norm" stroke="1" extrusionOk="0">
                <a:moveTo>
                  <a:pt x="5850" y="88900"/>
                </a:moveTo>
                <a:arcTo wR="127000" hR="127000" stAng="11847456" swAng="4352544"/>
                <a:lnTo>
                  <a:pt x="2921000" y="0"/>
                </a:lnTo>
                <a:arcTo wR="127000" hR="127000" stAng="16200000" swAng="4352544"/>
                <a:close/>
              </a:path>
            </a:pathLst>
          </a:custGeom>
          <a:solidFill>
            <a:srgbClr val="2E9C6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45921690" name="Text 46"/>
          <p:cNvSpPr/>
          <p:nvPr/>
        </p:nvSpPr>
        <p:spPr bwMode="auto">
          <a:xfrm>
            <a:off x="8775700" y="1765300"/>
            <a:ext cx="2773172" cy="282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4"/>
              </a:lnSpc>
              <a:buNone/>
              <a:defRPr/>
            </a:pPr>
            <a:r>
              <a:rPr lang="en-US" sz="1500" b="1">
                <a:solidFill>
                  <a:srgbClr val="2E9C6E"/>
                </a:solidFill>
                <a:latin typeface="Carlito"/>
                <a:ea typeface="Carlito"/>
                <a:cs typeface="Carlito"/>
              </a:rPr>
              <a:t>Sotto capacità, zero perdite</a:t>
            </a:r>
            <a:endParaRPr lang="en-US" sz="1500"/>
          </a:p>
        </p:txBody>
      </p:sp>
      <p:sp>
        <p:nvSpPr>
          <p:cNvPr id="1990490635" name="Text 47"/>
          <p:cNvSpPr/>
          <p:nvPr/>
        </p:nvSpPr>
        <p:spPr bwMode="auto">
          <a:xfrm>
            <a:off x="8775700" y="2073542"/>
            <a:ext cx="2773172" cy="853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7"/>
              </a:lnSpc>
              <a:buNone/>
              <a:defRPr/>
            </a:pPr>
            <a:r>
              <a:rPr lang="en-US" sz="125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Con 1,37 M/s offerti (il 91% di quanto regge la più lenta) nessuna pipeline respinge un pacchetto: perdita totale ≤ 0,02%.</a:t>
            </a:r>
            <a:endParaRPr lang="en-US" sz="1250"/>
          </a:p>
        </p:txBody>
      </p:sp>
      <p:sp>
        <p:nvSpPr>
          <p:cNvPr id="748434634" name="Shape 48"/>
          <p:cNvSpPr/>
          <p:nvPr/>
        </p:nvSpPr>
        <p:spPr bwMode="auto">
          <a:xfrm>
            <a:off x="8597900" y="3130550"/>
            <a:ext cx="3048000" cy="1479550"/>
          </a:xfrm>
          <a:prstGeom prst="roundRect">
            <a:avLst>
              <a:gd name="adj" fmla="val 8584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426727113" name="Shape 49"/>
          <p:cNvSpPr/>
          <p:nvPr/>
        </p:nvSpPr>
        <p:spPr bwMode="auto">
          <a:xfrm>
            <a:off x="8597900" y="3130550"/>
            <a:ext cx="3048000" cy="88900"/>
          </a:xfrm>
          <a:custGeom>
            <a:avLst/>
            <a:gdLst/>
            <a:ahLst/>
            <a:cxnLst/>
            <a:rect l="l" t="t" r="r" b="b"/>
            <a:pathLst>
              <a:path w="3048000" h="88900" fill="norm" stroke="1" extrusionOk="0">
                <a:moveTo>
                  <a:pt x="5850" y="88900"/>
                </a:moveTo>
                <a:arcTo wR="127000" hR="127000" stAng="11847456" swAng="4352544"/>
                <a:lnTo>
                  <a:pt x="2921000" y="0"/>
                </a:lnTo>
                <a:arcTo wR="127000" hR="127000" stAng="16200000" swAng="4352544"/>
                <a:close/>
              </a:path>
            </a:pathLst>
          </a:custGeom>
          <a:solidFill>
            <a:srgbClr val="E07A2D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801311119" name="Text 50"/>
          <p:cNvSpPr/>
          <p:nvPr/>
        </p:nvSpPr>
        <p:spPr bwMode="auto">
          <a:xfrm>
            <a:off x="8775700" y="3333750"/>
            <a:ext cx="277317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P1 e P1.5 si separano</a:t>
            </a:r>
            <a:endParaRPr lang="en-US" sz="1500"/>
          </a:p>
        </p:txBody>
      </p:sp>
      <p:sp>
        <p:nvSpPr>
          <p:cNvPr id="967400100" name="Text 51"/>
          <p:cNvSpPr/>
          <p:nvPr/>
        </p:nvSpPr>
        <p:spPr bwMode="auto">
          <a:xfrm>
            <a:off x="8775700" y="3651250"/>
            <a:ext cx="2773172" cy="669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  <a:defRPr/>
            </a:pPr>
            <a:r>
              <a:rPr lang="en-US" sz="13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2,94 contro 2,81 M/s, con variazioni dello 0,5 e 0,6%: congelare il nodo vale circa 15 ns per pacchetto.</a:t>
            </a:r>
            <a:endParaRPr lang="en-US" sz="1300"/>
          </a:p>
        </p:txBody>
      </p:sp>
      <p:sp>
        <p:nvSpPr>
          <p:cNvPr id="1123068523" name="Shape 52"/>
          <p:cNvSpPr/>
          <p:nvPr/>
        </p:nvSpPr>
        <p:spPr bwMode="auto">
          <a:xfrm>
            <a:off x="546100" y="5486400"/>
            <a:ext cx="11099800" cy="774700"/>
          </a:xfrm>
          <a:prstGeom prst="roundRect">
            <a:avLst>
              <a:gd name="adj" fmla="val 13115"/>
            </a:avLst>
          </a:prstGeom>
          <a:solidFill>
            <a:srgbClr val="FFF4D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411332435" name="Shape 53"/>
          <p:cNvSpPr/>
          <p:nvPr/>
        </p:nvSpPr>
        <p:spPr bwMode="auto">
          <a:xfrm>
            <a:off x="546100" y="5486400"/>
            <a:ext cx="82550" cy="774700"/>
          </a:xfrm>
          <a:custGeom>
            <a:avLst/>
            <a:gdLst/>
            <a:ahLst/>
            <a:cxnLst/>
            <a:rect l="l" t="t" r="r" b="b"/>
            <a:pathLst>
              <a:path w="82550" h="774700" fill="norm" stroke="1" extrusionOk="0">
                <a:moveTo>
                  <a:pt x="0" y="101600"/>
                </a:moveTo>
                <a:arcTo wR="101600" hR="101600" stAng="10800000" swAng="4751585"/>
                <a:lnTo>
                  <a:pt x="82550" y="772898"/>
                </a:lnTo>
                <a:arcTo wR="101600" hR="101600" stAng="6048415" swAng="4751585"/>
                <a:close/>
              </a:path>
            </a:pathLst>
          </a:custGeom>
          <a:solidFill>
            <a:srgbClr val="F2B134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327862420" name="Text 54"/>
          <p:cNvSpPr/>
          <p:nvPr/>
        </p:nvSpPr>
        <p:spPr bwMode="auto">
          <a:xfrm>
            <a:off x="819150" y="5767058"/>
            <a:ext cx="8762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B57A00"/>
                </a:solidFill>
                <a:latin typeface="Carlito"/>
                <a:ea typeface="Carlito"/>
                <a:cs typeface="Carlito"/>
              </a:rPr>
              <a:t>QUINDI</a:t>
            </a:r>
            <a:endParaRPr lang="en-US" sz="1200"/>
          </a:p>
        </p:txBody>
      </p:sp>
      <p:sp>
        <p:nvSpPr>
          <p:cNvPr id="1695097562" name="Text 55"/>
          <p:cNvSpPr/>
          <p:nvPr/>
        </p:nvSpPr>
        <p:spPr bwMode="auto">
          <a:xfrm>
            <a:off x="1822450" y="5626100"/>
            <a:ext cx="988269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  <a:defRPr/>
            </a:pP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Sopra la baseline, la rete neurale costa </a:t>
            </a: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~40–50 ns</a:t>
            </a: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 con i pesi compilati (P1, P1.5), </a:t>
            </a: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~220 ns</a:t>
            </a: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 con la forma letta da tabella (P2), </a:t>
            </a: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~370 ns</a:t>
            </a: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 con anche la profondità (P3).</a:t>
            </a:r>
            <a:endParaRPr lang="en-US" sz="15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2169897" name="Shape 0"/>
          <p:cNvSpPr/>
          <p:nvPr/>
        </p:nvSpPr>
        <p:spPr bwMode="auto">
          <a:xfrm>
            <a:off x="0" y="0"/>
            <a:ext cx="12192000" cy="107949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639121327" name="Text 1"/>
          <p:cNvSpPr/>
          <p:nvPr/>
        </p:nvSpPr>
        <p:spPr bwMode="auto">
          <a:xfrm>
            <a:off x="546100" y="330200"/>
            <a:ext cx="114327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4 · I RISULTATI SUL DUAL BOOT · XDP_GEN</a:t>
            </a:r>
            <a:endParaRPr lang="en-US" sz="1200"/>
          </a:p>
        </p:txBody>
      </p:sp>
      <p:sp>
        <p:nvSpPr>
          <p:cNvPr id="1849384549" name="Text 2"/>
          <p:cNvSpPr/>
          <p:nvPr/>
        </p:nvSpPr>
        <p:spPr bwMode="auto">
          <a:xfrm>
            <a:off x="546100" y="584200"/>
            <a:ext cx="1143279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30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Con xdp_gen, un thread per coda: il costo del nodo</a:t>
            </a:r>
            <a:endParaRPr lang="en-US" sz="3000"/>
          </a:p>
        </p:txBody>
      </p:sp>
      <p:sp>
        <p:nvSpPr>
          <p:cNvPr id="1825182562" name="Text 3"/>
          <p:cNvSpPr/>
          <p:nvPr/>
        </p:nvSpPr>
        <p:spPr bwMode="auto">
          <a:xfrm>
            <a:off x="546100" y="6426200"/>
            <a:ext cx="10072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i="1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1 thread, 1 core, uscita separata · 3 giri, 64 byte · costo = tempo di CPU del nodo per pacchetto · a 512 e 1 514 byte P2 e P3 restano entro il 3%</a:t>
            </a:r>
            <a:endParaRPr lang="en-US" sz="1200"/>
          </a:p>
        </p:txBody>
      </p:sp>
      <p:sp>
        <p:nvSpPr>
          <p:cNvPr id="237250594" name="Text 4"/>
          <p:cNvSpPr/>
          <p:nvPr/>
        </p:nvSpPr>
        <p:spPr bwMode="auto">
          <a:xfrm>
            <a:off x="10960099" y="642620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13</a:t>
            </a:r>
            <a:endParaRPr lang="en-US" sz="1200"/>
          </a:p>
        </p:txBody>
      </p:sp>
      <p:sp>
        <p:nvSpPr>
          <p:cNvPr id="434538022" name="Text 5"/>
          <p:cNvSpPr/>
          <p:nvPr/>
        </p:nvSpPr>
        <p:spPr bwMode="auto">
          <a:xfrm>
            <a:off x="546100" y="1742480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milioni di pacchetti/s elaborati</a:t>
            </a:r>
            <a:endParaRPr lang="en-US" sz="1200"/>
          </a:p>
        </p:txBody>
      </p:sp>
      <p:sp>
        <p:nvSpPr>
          <p:cNvPr id="1870652887" name="Shape 6"/>
          <p:cNvSpPr/>
          <p:nvPr/>
        </p:nvSpPr>
        <p:spPr bwMode="auto">
          <a:xfrm>
            <a:off x="546100" y="2127188"/>
            <a:ext cx="165100" cy="165100"/>
          </a:xfrm>
          <a:prstGeom prst="roundRect">
            <a:avLst>
              <a:gd name="adj" fmla="val 26923"/>
            </a:avLst>
          </a:prstGeom>
          <a:solidFill>
            <a:srgbClr val="6B7C93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48453186" name="Text 7"/>
          <p:cNvSpPr/>
          <p:nvPr/>
        </p:nvSpPr>
        <p:spPr bwMode="auto">
          <a:xfrm>
            <a:off x="787400" y="2085318"/>
            <a:ext cx="510514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rxonly</a:t>
            </a:r>
            <a:endParaRPr lang="en-US" sz="1400"/>
          </a:p>
        </p:txBody>
      </p:sp>
      <p:sp>
        <p:nvSpPr>
          <p:cNvPr id="683660798" name="Shape 8"/>
          <p:cNvSpPr/>
          <p:nvPr/>
        </p:nvSpPr>
        <p:spPr bwMode="auto">
          <a:xfrm>
            <a:off x="1943100" y="2006600"/>
            <a:ext cx="3300000" cy="279400"/>
          </a:xfrm>
          <a:prstGeom prst="roundRect">
            <a:avLst>
              <a:gd name="adj" fmla="val 13636"/>
            </a:avLst>
          </a:prstGeom>
          <a:solidFill>
            <a:srgbClr val="6B7C93">
              <a:alpha val="50000"/>
            </a:srgbClr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148320308" name="Text 9"/>
          <p:cNvSpPr/>
          <p:nvPr/>
        </p:nvSpPr>
        <p:spPr bwMode="auto">
          <a:xfrm>
            <a:off x="5319300" y="2025650"/>
            <a:ext cx="640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15,03</a:t>
            </a:r>
            <a:endParaRPr lang="en-US" sz="1500"/>
          </a:p>
        </p:txBody>
      </p:sp>
      <p:sp>
        <p:nvSpPr>
          <p:cNvPr id="1384641601" name="Text 10"/>
          <p:cNvSpPr/>
          <p:nvPr/>
        </p:nvSpPr>
        <p:spPr bwMode="auto">
          <a:xfrm>
            <a:off x="6083300" y="2085318"/>
            <a:ext cx="10033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≈ 40 ns</a:t>
            </a:r>
            <a:endParaRPr lang="en-US" sz="1400"/>
          </a:p>
        </p:txBody>
      </p:sp>
      <p:sp>
        <p:nvSpPr>
          <p:cNvPr id="163845684" name="Text 11"/>
          <p:cNvSpPr/>
          <p:nvPr/>
        </p:nvSpPr>
        <p:spPr bwMode="auto">
          <a:xfrm>
            <a:off x="7213600" y="2094247"/>
            <a:ext cx="16383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i="1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non satura</a:t>
            </a:r>
            <a:endParaRPr lang="en-US" sz="1300"/>
          </a:p>
        </p:txBody>
      </p:sp>
      <p:sp>
        <p:nvSpPr>
          <p:cNvPr id="2123053824" name="Shape 12"/>
          <p:cNvSpPr/>
          <p:nvPr/>
        </p:nvSpPr>
        <p:spPr bwMode="auto">
          <a:xfrm>
            <a:off x="546100" y="2584388"/>
            <a:ext cx="165100" cy="165100"/>
          </a:xfrm>
          <a:prstGeom prst="roundRect">
            <a:avLst>
              <a:gd name="adj" fmla="val 26923"/>
            </a:avLst>
          </a:prstGeom>
          <a:solidFill>
            <a:srgbClr val="8794A6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907747571" name="Text 13"/>
          <p:cNvSpPr/>
          <p:nvPr/>
        </p:nvSpPr>
        <p:spPr bwMode="auto">
          <a:xfrm>
            <a:off x="787400" y="2542518"/>
            <a:ext cx="666683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baseline</a:t>
            </a:r>
            <a:endParaRPr lang="en-US" sz="1400"/>
          </a:p>
        </p:txBody>
      </p:sp>
      <p:sp>
        <p:nvSpPr>
          <p:cNvPr id="251355615" name="Shape 14"/>
          <p:cNvSpPr/>
          <p:nvPr/>
        </p:nvSpPr>
        <p:spPr bwMode="auto">
          <a:xfrm>
            <a:off x="1943100" y="2463800"/>
            <a:ext cx="2665469" cy="279400"/>
          </a:xfrm>
          <a:prstGeom prst="roundRect">
            <a:avLst>
              <a:gd name="adj" fmla="val 13636"/>
            </a:avLst>
          </a:prstGeom>
          <a:solidFill>
            <a:srgbClr val="8794A6">
              <a:alpha val="50000"/>
            </a:srgbClr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27712767" name="Text 15"/>
          <p:cNvSpPr/>
          <p:nvPr/>
        </p:nvSpPr>
        <p:spPr bwMode="auto">
          <a:xfrm>
            <a:off x="4684769" y="2482850"/>
            <a:ext cx="640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12,14</a:t>
            </a:r>
            <a:endParaRPr lang="en-US" sz="1500"/>
          </a:p>
        </p:txBody>
      </p:sp>
      <p:sp>
        <p:nvSpPr>
          <p:cNvPr id="1753744008" name="Text 16"/>
          <p:cNvSpPr/>
          <p:nvPr/>
        </p:nvSpPr>
        <p:spPr bwMode="auto">
          <a:xfrm>
            <a:off x="6083300" y="2542518"/>
            <a:ext cx="10033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≈ 67 ns</a:t>
            </a:r>
            <a:endParaRPr lang="en-US" sz="1400"/>
          </a:p>
        </p:txBody>
      </p:sp>
      <p:sp>
        <p:nvSpPr>
          <p:cNvPr id="1365550929" name="Text 17"/>
          <p:cNvSpPr/>
          <p:nvPr/>
        </p:nvSpPr>
        <p:spPr bwMode="auto">
          <a:xfrm>
            <a:off x="7213600" y="2551447"/>
            <a:ext cx="16383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i="1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non satura</a:t>
            </a:r>
            <a:endParaRPr lang="en-US" sz="1300"/>
          </a:p>
        </p:txBody>
      </p:sp>
      <p:sp>
        <p:nvSpPr>
          <p:cNvPr id="1441226028" name="Shape 18"/>
          <p:cNvSpPr/>
          <p:nvPr/>
        </p:nvSpPr>
        <p:spPr bwMode="auto">
          <a:xfrm>
            <a:off x="546100" y="3041588"/>
            <a:ext cx="165100" cy="165100"/>
          </a:xfrm>
          <a:prstGeom prst="roundRect">
            <a:avLst>
              <a:gd name="adj" fmla="val 26923"/>
            </a:avLst>
          </a:prstGeom>
          <a:solidFill>
            <a:srgbClr val="C8551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74999952" name="Text 19"/>
          <p:cNvSpPr/>
          <p:nvPr/>
        </p:nvSpPr>
        <p:spPr bwMode="auto">
          <a:xfrm>
            <a:off x="787400" y="2999718"/>
            <a:ext cx="23554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P1</a:t>
            </a:r>
            <a:endParaRPr lang="en-US" sz="1400"/>
          </a:p>
        </p:txBody>
      </p:sp>
      <p:sp>
        <p:nvSpPr>
          <p:cNvPr id="52909557" name="Shape 20"/>
          <p:cNvSpPr/>
          <p:nvPr/>
        </p:nvSpPr>
        <p:spPr bwMode="auto">
          <a:xfrm>
            <a:off x="1943100" y="2921000"/>
            <a:ext cx="1664271" cy="279400"/>
          </a:xfrm>
          <a:prstGeom prst="roundRect">
            <a:avLst>
              <a:gd name="adj" fmla="val 13636"/>
            </a:avLst>
          </a:prstGeom>
          <a:solidFill>
            <a:srgbClr val="C8551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712138541" name="Text 21"/>
          <p:cNvSpPr/>
          <p:nvPr/>
        </p:nvSpPr>
        <p:spPr bwMode="auto">
          <a:xfrm>
            <a:off x="3683571" y="2940050"/>
            <a:ext cx="640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7,58</a:t>
            </a:r>
            <a:endParaRPr lang="en-US" sz="1500"/>
          </a:p>
        </p:txBody>
      </p:sp>
      <p:sp>
        <p:nvSpPr>
          <p:cNvPr id="1681999173" name="Text 22"/>
          <p:cNvSpPr/>
          <p:nvPr/>
        </p:nvSpPr>
        <p:spPr bwMode="auto">
          <a:xfrm>
            <a:off x="6083300" y="2999718"/>
            <a:ext cx="10033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116 ns</a:t>
            </a:r>
            <a:endParaRPr lang="en-US" sz="1400"/>
          </a:p>
        </p:txBody>
      </p:sp>
      <p:sp>
        <p:nvSpPr>
          <p:cNvPr id="2039033020" name="Text 23"/>
          <p:cNvSpPr/>
          <p:nvPr/>
        </p:nvSpPr>
        <p:spPr bwMode="auto">
          <a:xfrm>
            <a:off x="7213600" y="3008647"/>
            <a:ext cx="16383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i="1">
                <a:solidFill>
                  <a:srgbClr val="2E9C6E"/>
                </a:solidFill>
                <a:latin typeface="Carlito"/>
                <a:ea typeface="Carlito"/>
                <a:cs typeface="Carlito"/>
              </a:rPr>
              <a:t>costo del nodo</a:t>
            </a:r>
            <a:endParaRPr lang="en-US" sz="1300"/>
          </a:p>
        </p:txBody>
      </p:sp>
      <p:sp>
        <p:nvSpPr>
          <p:cNvPr id="138194688" name="Shape 24"/>
          <p:cNvSpPr/>
          <p:nvPr/>
        </p:nvSpPr>
        <p:spPr bwMode="auto">
          <a:xfrm>
            <a:off x="546100" y="3498788"/>
            <a:ext cx="165100" cy="165100"/>
          </a:xfrm>
          <a:prstGeom prst="roundRect">
            <a:avLst>
              <a:gd name="adj" fmla="val 26923"/>
            </a:avLst>
          </a:prstGeom>
          <a:solidFill>
            <a:srgbClr val="F09A3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33038951" name="Text 25"/>
          <p:cNvSpPr/>
          <p:nvPr/>
        </p:nvSpPr>
        <p:spPr bwMode="auto">
          <a:xfrm>
            <a:off x="787400" y="3456918"/>
            <a:ext cx="37319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P1.5</a:t>
            </a:r>
            <a:endParaRPr lang="en-US" sz="1400"/>
          </a:p>
        </p:txBody>
      </p:sp>
      <p:sp>
        <p:nvSpPr>
          <p:cNvPr id="1186288367" name="Shape 26"/>
          <p:cNvSpPr/>
          <p:nvPr/>
        </p:nvSpPr>
        <p:spPr bwMode="auto">
          <a:xfrm>
            <a:off x="1943100" y="3378200"/>
            <a:ext cx="1486427" cy="279400"/>
          </a:xfrm>
          <a:prstGeom prst="roundRect">
            <a:avLst>
              <a:gd name="adj" fmla="val 13636"/>
            </a:avLst>
          </a:prstGeom>
          <a:solidFill>
            <a:srgbClr val="F09A3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042400810" name="Text 27"/>
          <p:cNvSpPr/>
          <p:nvPr/>
        </p:nvSpPr>
        <p:spPr bwMode="auto">
          <a:xfrm>
            <a:off x="3505727" y="3397250"/>
            <a:ext cx="640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6,77</a:t>
            </a:r>
            <a:endParaRPr lang="en-US" sz="1500"/>
          </a:p>
        </p:txBody>
      </p:sp>
      <p:sp>
        <p:nvSpPr>
          <p:cNvPr id="2031653900" name="Text 28"/>
          <p:cNvSpPr/>
          <p:nvPr/>
        </p:nvSpPr>
        <p:spPr bwMode="auto">
          <a:xfrm>
            <a:off x="6083300" y="3456918"/>
            <a:ext cx="10033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125 ns</a:t>
            </a:r>
            <a:endParaRPr lang="en-US" sz="1400"/>
          </a:p>
        </p:txBody>
      </p:sp>
      <p:sp>
        <p:nvSpPr>
          <p:cNvPr id="1047577687" name="Text 29"/>
          <p:cNvSpPr/>
          <p:nvPr/>
        </p:nvSpPr>
        <p:spPr bwMode="auto">
          <a:xfrm>
            <a:off x="7213600" y="3465847"/>
            <a:ext cx="16383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i="1">
                <a:solidFill>
                  <a:srgbClr val="2E9C6E"/>
                </a:solidFill>
                <a:latin typeface="Carlito"/>
                <a:ea typeface="Carlito"/>
                <a:cs typeface="Carlito"/>
              </a:rPr>
              <a:t>costo del nodo</a:t>
            </a:r>
            <a:endParaRPr lang="en-US" sz="1300"/>
          </a:p>
        </p:txBody>
      </p:sp>
      <p:sp>
        <p:nvSpPr>
          <p:cNvPr id="424049343" name="Shape 30"/>
          <p:cNvSpPr/>
          <p:nvPr/>
        </p:nvSpPr>
        <p:spPr bwMode="auto">
          <a:xfrm>
            <a:off x="546100" y="3955988"/>
            <a:ext cx="165100" cy="165100"/>
          </a:xfrm>
          <a:prstGeom prst="roundRect">
            <a:avLst>
              <a:gd name="adj" fmla="val 26923"/>
            </a:avLst>
          </a:prstGeom>
          <a:solidFill>
            <a:srgbClr val="2E9C8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733193574" name="Text 31"/>
          <p:cNvSpPr/>
          <p:nvPr/>
        </p:nvSpPr>
        <p:spPr bwMode="auto">
          <a:xfrm>
            <a:off x="787400" y="3914118"/>
            <a:ext cx="23554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P2</a:t>
            </a:r>
            <a:endParaRPr lang="en-US" sz="1400"/>
          </a:p>
        </p:txBody>
      </p:sp>
      <p:sp>
        <p:nvSpPr>
          <p:cNvPr id="875243096" name="Shape 32"/>
          <p:cNvSpPr/>
          <p:nvPr/>
        </p:nvSpPr>
        <p:spPr bwMode="auto">
          <a:xfrm>
            <a:off x="1943100" y="3835400"/>
            <a:ext cx="658682" cy="279400"/>
          </a:xfrm>
          <a:prstGeom prst="roundRect">
            <a:avLst>
              <a:gd name="adj" fmla="val 13636"/>
            </a:avLst>
          </a:prstGeom>
          <a:solidFill>
            <a:srgbClr val="2E9C8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795745612" name="Text 33"/>
          <p:cNvSpPr/>
          <p:nvPr/>
        </p:nvSpPr>
        <p:spPr bwMode="auto">
          <a:xfrm>
            <a:off x="2677982" y="3854450"/>
            <a:ext cx="640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3,00</a:t>
            </a:r>
            <a:endParaRPr lang="en-US" sz="1500"/>
          </a:p>
        </p:txBody>
      </p:sp>
      <p:sp>
        <p:nvSpPr>
          <p:cNvPr id="380081980" name="Text 34"/>
          <p:cNvSpPr/>
          <p:nvPr/>
        </p:nvSpPr>
        <p:spPr bwMode="auto">
          <a:xfrm>
            <a:off x="6083300" y="3914118"/>
            <a:ext cx="10033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293 ns</a:t>
            </a:r>
            <a:endParaRPr lang="en-US" sz="1400"/>
          </a:p>
        </p:txBody>
      </p:sp>
      <p:sp>
        <p:nvSpPr>
          <p:cNvPr id="917303359" name="Text 35"/>
          <p:cNvSpPr/>
          <p:nvPr/>
        </p:nvSpPr>
        <p:spPr bwMode="auto">
          <a:xfrm>
            <a:off x="7213600" y="3923047"/>
            <a:ext cx="16383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2E9C6E"/>
                </a:solidFill>
                <a:latin typeface="Carlito"/>
                <a:ea typeface="Carlito"/>
                <a:cs typeface="Carlito"/>
              </a:rPr>
              <a:t>costo del nodo</a:t>
            </a:r>
            <a:endParaRPr lang="en-US" sz="1300"/>
          </a:p>
        </p:txBody>
      </p:sp>
      <p:sp>
        <p:nvSpPr>
          <p:cNvPr id="713967221" name="Shape 36"/>
          <p:cNvSpPr/>
          <p:nvPr/>
        </p:nvSpPr>
        <p:spPr bwMode="auto">
          <a:xfrm>
            <a:off x="546100" y="4413188"/>
            <a:ext cx="165100" cy="165100"/>
          </a:xfrm>
          <a:prstGeom prst="roundRect">
            <a:avLst>
              <a:gd name="adj" fmla="val 26923"/>
            </a:avLst>
          </a:prstGeom>
          <a:solidFill>
            <a:srgbClr val="1F5F8B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160584901" name="Text 37"/>
          <p:cNvSpPr/>
          <p:nvPr/>
        </p:nvSpPr>
        <p:spPr bwMode="auto">
          <a:xfrm>
            <a:off x="787400" y="4371318"/>
            <a:ext cx="23554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P3</a:t>
            </a:r>
            <a:endParaRPr lang="en-US" sz="1400"/>
          </a:p>
        </p:txBody>
      </p:sp>
      <p:sp>
        <p:nvSpPr>
          <p:cNvPr id="1160406558" name="Shape 38"/>
          <p:cNvSpPr/>
          <p:nvPr/>
        </p:nvSpPr>
        <p:spPr bwMode="auto">
          <a:xfrm>
            <a:off x="1943100" y="4292600"/>
            <a:ext cx="432534" cy="279400"/>
          </a:xfrm>
          <a:prstGeom prst="roundRect">
            <a:avLst>
              <a:gd name="adj" fmla="val 13636"/>
            </a:avLst>
          </a:prstGeom>
          <a:solidFill>
            <a:srgbClr val="1F5F8B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676993320" name="Text 39"/>
          <p:cNvSpPr/>
          <p:nvPr/>
        </p:nvSpPr>
        <p:spPr bwMode="auto">
          <a:xfrm>
            <a:off x="2451834" y="4311650"/>
            <a:ext cx="640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1,97</a:t>
            </a:r>
            <a:endParaRPr lang="en-US" sz="1500"/>
          </a:p>
        </p:txBody>
      </p:sp>
      <p:sp>
        <p:nvSpPr>
          <p:cNvPr id="843863443" name="Text 40"/>
          <p:cNvSpPr/>
          <p:nvPr/>
        </p:nvSpPr>
        <p:spPr bwMode="auto">
          <a:xfrm>
            <a:off x="6083300" y="4371318"/>
            <a:ext cx="10033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428 ns</a:t>
            </a:r>
            <a:endParaRPr lang="en-US" sz="1400"/>
          </a:p>
        </p:txBody>
      </p:sp>
      <p:sp>
        <p:nvSpPr>
          <p:cNvPr id="1586038403" name="Text 41"/>
          <p:cNvSpPr/>
          <p:nvPr/>
        </p:nvSpPr>
        <p:spPr bwMode="auto">
          <a:xfrm>
            <a:off x="7213600" y="4380247"/>
            <a:ext cx="16383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2E9C6E"/>
                </a:solidFill>
                <a:latin typeface="Carlito"/>
                <a:ea typeface="Carlito"/>
                <a:cs typeface="Carlito"/>
              </a:rPr>
              <a:t>costo del nodo</a:t>
            </a:r>
            <a:endParaRPr lang="en-US" sz="1300"/>
          </a:p>
        </p:txBody>
      </p:sp>
      <p:sp>
        <p:nvSpPr>
          <p:cNvPr id="1584697841" name="Shape 43"/>
          <p:cNvSpPr/>
          <p:nvPr/>
        </p:nvSpPr>
        <p:spPr bwMode="auto">
          <a:xfrm>
            <a:off x="8978900" y="1562100"/>
            <a:ext cx="2667000" cy="3136900"/>
          </a:xfrm>
          <a:prstGeom prst="roundRect">
            <a:avLst>
              <a:gd name="adj" fmla="val 4762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5715410" name="Shape 44"/>
          <p:cNvSpPr/>
          <p:nvPr/>
        </p:nvSpPr>
        <p:spPr bwMode="auto">
          <a:xfrm>
            <a:off x="8978900" y="1562100"/>
            <a:ext cx="2667000" cy="88900"/>
          </a:xfrm>
          <a:custGeom>
            <a:avLst/>
            <a:gdLst/>
            <a:ahLst/>
            <a:cxnLst/>
            <a:rect l="l" t="t" r="r" b="b"/>
            <a:pathLst>
              <a:path w="2667000" h="88900" fill="norm" stroke="1" extrusionOk="0">
                <a:moveTo>
                  <a:pt x="5850" y="88900"/>
                </a:moveTo>
                <a:arcTo wR="127000" hR="127000" stAng="11847456" swAng="4352544"/>
                <a:lnTo>
                  <a:pt x="2540000" y="0"/>
                </a:lnTo>
                <a:arcTo wR="127000" hR="127000" stAng="16200000" swAng="4352544"/>
                <a:close/>
              </a:path>
            </a:pathLst>
          </a:custGeom>
          <a:solidFill>
            <a:srgbClr val="2E9C6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854351" name="Text 45"/>
          <p:cNvSpPr/>
          <p:nvPr/>
        </p:nvSpPr>
        <p:spPr bwMode="auto">
          <a:xfrm>
            <a:off x="9156700" y="1778000"/>
            <a:ext cx="238074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2E9C6E"/>
                </a:solidFill>
                <a:latin typeface="Carlito"/>
                <a:ea typeface="Carlito"/>
                <a:cs typeface="Carlito"/>
              </a:rPr>
              <a:t>Il tetto era la coda</a:t>
            </a:r>
            <a:endParaRPr lang="en-US" sz="1500"/>
          </a:p>
        </p:txBody>
      </p:sp>
      <p:sp>
        <p:nvSpPr>
          <p:cNvPr id="1914920541" name="Text 46"/>
          <p:cNvSpPr/>
          <p:nvPr/>
        </p:nvSpPr>
        <p:spPr bwMode="auto">
          <a:xfrm>
            <a:off x="9156700" y="2108200"/>
            <a:ext cx="2380742" cy="109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  <a:defRPr/>
            </a:pPr>
            <a:r>
              <a:rPr lang="en-US" sz="13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Con tre thread nella stessa coda il nodo si fermava a ~7 M/s. Con un thread per coda la baseline elabora 12 M/s.</a:t>
            </a:r>
            <a:endParaRPr lang="en-US" sz="1300"/>
          </a:p>
        </p:txBody>
      </p:sp>
      <p:sp>
        <p:nvSpPr>
          <p:cNvPr id="1018342996" name="Shape 47"/>
          <p:cNvSpPr/>
          <p:nvPr/>
        </p:nvSpPr>
        <p:spPr bwMode="auto">
          <a:xfrm>
            <a:off x="546100" y="5486400"/>
            <a:ext cx="11099800" cy="774700"/>
          </a:xfrm>
          <a:prstGeom prst="roundRect">
            <a:avLst>
              <a:gd name="adj" fmla="val 13115"/>
            </a:avLst>
          </a:prstGeom>
          <a:solidFill>
            <a:srgbClr val="FFF4D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80997271" name="Shape 48"/>
          <p:cNvSpPr/>
          <p:nvPr/>
        </p:nvSpPr>
        <p:spPr bwMode="auto">
          <a:xfrm>
            <a:off x="546100" y="5486400"/>
            <a:ext cx="82550" cy="774700"/>
          </a:xfrm>
          <a:custGeom>
            <a:avLst/>
            <a:gdLst/>
            <a:ahLst/>
            <a:cxnLst/>
            <a:rect l="l" t="t" r="r" b="b"/>
            <a:pathLst>
              <a:path w="82550" h="774700" fill="norm" stroke="1" extrusionOk="0">
                <a:moveTo>
                  <a:pt x="0" y="101600"/>
                </a:moveTo>
                <a:arcTo wR="101600" hR="101600" stAng="10800000" swAng="4751585"/>
                <a:lnTo>
                  <a:pt x="82550" y="772898"/>
                </a:lnTo>
                <a:arcTo wR="101600" hR="101600" stAng="6048415" swAng="4751585"/>
                <a:close/>
              </a:path>
            </a:pathLst>
          </a:custGeom>
          <a:solidFill>
            <a:srgbClr val="F2B134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565224850" name="Text 49"/>
          <p:cNvSpPr/>
          <p:nvPr/>
        </p:nvSpPr>
        <p:spPr bwMode="auto">
          <a:xfrm>
            <a:off x="819150" y="5767058"/>
            <a:ext cx="8762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B57A00"/>
                </a:solidFill>
                <a:latin typeface="Carlito"/>
                <a:ea typeface="Carlito"/>
                <a:cs typeface="Carlito"/>
              </a:rPr>
              <a:t>QUINDI</a:t>
            </a:r>
            <a:endParaRPr lang="en-US" sz="1200"/>
          </a:p>
        </p:txBody>
      </p:sp>
      <p:sp>
        <p:nvSpPr>
          <p:cNvPr id="140556221" name="Text 50"/>
          <p:cNvSpPr/>
          <p:nvPr/>
        </p:nvSpPr>
        <p:spPr bwMode="auto">
          <a:xfrm>
            <a:off x="1822450" y="5626100"/>
            <a:ext cx="988269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  <a:defRPr/>
            </a:pP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P1, P1.5, P2 e P3 sono </a:t>
            </a: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costi del nodo</a:t>
            </a: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: 116, 125, 293 e 428 ns di CPU. Baseline e rxonly, con un thread, non saturano: i loro valori sono indicativi.</a:t>
            </a:r>
            <a:endParaRPr lang="en-US" sz="1500"/>
          </a:p>
        </p:txBody>
      </p:sp>
      <p:sp>
        <p:nvSpPr>
          <p:cNvPr id="1242584780" name="Text 52"/>
          <p:cNvSpPr/>
          <p:nvPr/>
        </p:nvSpPr>
        <p:spPr bwMode="auto">
          <a:xfrm>
            <a:off x="6250000" y="1793615"/>
            <a:ext cx="1900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ns di CPU/pacchetto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07050" name="Shape 0"/>
          <p:cNvSpPr/>
          <p:nvPr/>
        </p:nvSpPr>
        <p:spPr bwMode="auto">
          <a:xfrm>
            <a:off x="0" y="0"/>
            <a:ext cx="12192000" cy="107949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906333966" name="Text 1"/>
          <p:cNvSpPr/>
          <p:nvPr/>
        </p:nvSpPr>
        <p:spPr bwMode="auto">
          <a:xfrm>
            <a:off x="546100" y="330200"/>
            <a:ext cx="114327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4 · I RISULTATI SUL DUAL BOOT · XDP_GEN</a:t>
            </a:r>
            <a:endParaRPr lang="en-US" sz="1200"/>
          </a:p>
        </p:txBody>
      </p:sp>
      <p:sp>
        <p:nvSpPr>
          <p:cNvPr id="91748612" name="Text 2"/>
          <p:cNvSpPr/>
          <p:nvPr/>
        </p:nvSpPr>
        <p:spPr bwMode="auto">
          <a:xfrm>
            <a:off x="546100" y="584200"/>
            <a:ext cx="1143279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30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Con xdp_gen si contano i pacchetti elaborati</a:t>
            </a:r>
            <a:endParaRPr lang="en-US" sz="3000"/>
          </a:p>
        </p:txBody>
      </p:sp>
      <p:sp>
        <p:nvSpPr>
          <p:cNvPr id="464131968" name="Shape 3"/>
          <p:cNvSpPr/>
          <p:nvPr/>
        </p:nvSpPr>
        <p:spPr bwMode="auto">
          <a:xfrm>
            <a:off x="546100" y="1562100"/>
            <a:ext cx="6477000" cy="3350220"/>
          </a:xfrm>
          <a:prstGeom prst="roundRect">
            <a:avLst>
              <a:gd name="adj" fmla="val 3791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683396140" name="Text 4"/>
          <p:cNvSpPr/>
          <p:nvPr/>
        </p:nvSpPr>
        <p:spPr bwMode="auto">
          <a:xfrm>
            <a:off x="736600" y="1714500"/>
            <a:ext cx="62788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Milioni di pacchetti al secondo, con xdp_gen</a:t>
            </a:r>
            <a:endParaRPr lang="en-US" sz="1500"/>
          </a:p>
        </p:txBody>
      </p:sp>
      <p:sp>
        <p:nvSpPr>
          <p:cNvPr id="1170117660" name="Shape 5"/>
          <p:cNvSpPr/>
          <p:nvPr/>
        </p:nvSpPr>
        <p:spPr bwMode="auto">
          <a:xfrm>
            <a:off x="736600" y="2075129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630626657" name="Text 6"/>
          <p:cNvSpPr/>
          <p:nvPr/>
        </p:nvSpPr>
        <p:spPr bwMode="auto">
          <a:xfrm>
            <a:off x="952500" y="2044700"/>
            <a:ext cx="11793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elaborati dal nodo</a:t>
            </a:r>
            <a:endParaRPr lang="en-US" sz="1200"/>
          </a:p>
        </p:txBody>
      </p:sp>
      <p:sp>
        <p:nvSpPr>
          <p:cNvPr id="636982891" name="Shape 7"/>
          <p:cNvSpPr/>
          <p:nvPr/>
        </p:nvSpPr>
        <p:spPr bwMode="auto">
          <a:xfrm>
            <a:off x="2258880" y="2075129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B8C2C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66026758" name="Text 8"/>
          <p:cNvSpPr/>
          <p:nvPr/>
        </p:nvSpPr>
        <p:spPr bwMode="auto">
          <a:xfrm>
            <a:off x="2474780" y="2044700"/>
            <a:ext cx="1060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arrivati all'uscita</a:t>
            </a:r>
            <a:endParaRPr lang="en-US" sz="1200"/>
          </a:p>
        </p:txBody>
      </p:sp>
      <p:sp>
        <p:nvSpPr>
          <p:cNvPr id="521121237" name="Text 9"/>
          <p:cNvSpPr/>
          <p:nvPr/>
        </p:nvSpPr>
        <p:spPr bwMode="auto">
          <a:xfrm>
            <a:off x="836016" y="2317200"/>
            <a:ext cx="420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13,05</a:t>
            </a:r>
            <a:endParaRPr lang="en-US" sz="1200"/>
          </a:p>
        </p:txBody>
      </p:sp>
      <p:sp>
        <p:nvSpPr>
          <p:cNvPr id="630462220" name="Shape 10"/>
          <p:cNvSpPr/>
          <p:nvPr/>
        </p:nvSpPr>
        <p:spPr bwMode="auto">
          <a:xfrm>
            <a:off x="736600" y="2530520"/>
            <a:ext cx="469900" cy="1950000"/>
          </a:xfrm>
          <a:custGeom>
            <a:avLst/>
            <a:gdLst/>
            <a:ahLst/>
            <a:cxnLst/>
            <a:rect l="l" t="t" r="r" b="b"/>
            <a:pathLst>
              <a:path w="469900" h="1917700" fill="norm" stroke="1" extrusionOk="0">
                <a:moveTo>
                  <a:pt x="38100" y="0"/>
                </a:moveTo>
                <a:lnTo>
                  <a:pt x="431800" y="0"/>
                </a:lnTo>
                <a:arcTo wR="38100" hR="38100" stAng="16200000" swAng="5400000"/>
                <a:lnTo>
                  <a:pt x="469900" y="1917700"/>
                </a:lnTo>
                <a:lnTo>
                  <a:pt x="0" y="1917700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8794A6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61504903" name="Text 11"/>
          <p:cNvSpPr/>
          <p:nvPr/>
        </p:nvSpPr>
        <p:spPr bwMode="auto">
          <a:xfrm>
            <a:off x="1356717" y="3630648"/>
            <a:ext cx="420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4,26</a:t>
            </a:r>
            <a:endParaRPr lang="en-US" sz="1200"/>
          </a:p>
        </p:txBody>
      </p:sp>
      <p:sp>
        <p:nvSpPr>
          <p:cNvPr id="137455863" name="Shape 12"/>
          <p:cNvSpPr/>
          <p:nvPr/>
        </p:nvSpPr>
        <p:spPr bwMode="auto">
          <a:xfrm>
            <a:off x="1257300" y="3843968"/>
            <a:ext cx="469900" cy="636551"/>
          </a:xfrm>
          <a:custGeom>
            <a:avLst/>
            <a:gdLst/>
            <a:ahLst/>
            <a:cxnLst/>
            <a:rect l="l" t="t" r="r" b="b"/>
            <a:pathLst>
              <a:path w="469900" h="1181100" fill="norm" stroke="1" extrusionOk="0">
                <a:moveTo>
                  <a:pt x="38100" y="0"/>
                </a:moveTo>
                <a:lnTo>
                  <a:pt x="431800" y="0"/>
                </a:lnTo>
                <a:arcTo wR="38100" hR="38100" stAng="16200000" swAng="5400000"/>
                <a:lnTo>
                  <a:pt x="469900" y="1181100"/>
                </a:lnTo>
                <a:lnTo>
                  <a:pt x="0" y="1181100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B8C2C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82999033" name="Text 13"/>
          <p:cNvSpPr/>
          <p:nvPr/>
        </p:nvSpPr>
        <p:spPr bwMode="auto">
          <a:xfrm>
            <a:off x="2112367" y="2717659"/>
            <a:ext cx="420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10,37</a:t>
            </a:r>
            <a:endParaRPr lang="en-US" sz="1200"/>
          </a:p>
        </p:txBody>
      </p:sp>
      <p:sp>
        <p:nvSpPr>
          <p:cNvPr id="591046988" name="Shape 14"/>
          <p:cNvSpPr/>
          <p:nvPr/>
        </p:nvSpPr>
        <p:spPr bwMode="auto">
          <a:xfrm>
            <a:off x="2012949" y="2930979"/>
            <a:ext cx="469900" cy="1549540"/>
          </a:xfrm>
          <a:custGeom>
            <a:avLst/>
            <a:gdLst/>
            <a:ahLst/>
            <a:cxnLst/>
            <a:rect l="l" t="t" r="r" b="b"/>
            <a:pathLst>
              <a:path w="469900" h="1708150" fill="norm" stroke="1" extrusionOk="0">
                <a:moveTo>
                  <a:pt x="38100" y="0"/>
                </a:moveTo>
                <a:lnTo>
                  <a:pt x="431800" y="0"/>
                </a:lnTo>
                <a:arcTo wR="38100" hR="38100" stAng="16200000" swAng="5400000"/>
                <a:lnTo>
                  <a:pt x="469900" y="1708150"/>
                </a:lnTo>
                <a:lnTo>
                  <a:pt x="0" y="1708150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C8551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10566992" name="Text 15"/>
          <p:cNvSpPr/>
          <p:nvPr/>
        </p:nvSpPr>
        <p:spPr bwMode="auto">
          <a:xfrm>
            <a:off x="2633067" y="3693406"/>
            <a:ext cx="420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3,84</a:t>
            </a:r>
            <a:endParaRPr lang="en-US" sz="1200"/>
          </a:p>
        </p:txBody>
      </p:sp>
      <p:sp>
        <p:nvSpPr>
          <p:cNvPr id="208194458" name="Shape 16"/>
          <p:cNvSpPr/>
          <p:nvPr/>
        </p:nvSpPr>
        <p:spPr bwMode="auto">
          <a:xfrm>
            <a:off x="2533650" y="3906726"/>
            <a:ext cx="469900" cy="573793"/>
          </a:xfrm>
          <a:custGeom>
            <a:avLst/>
            <a:gdLst/>
            <a:ahLst/>
            <a:cxnLst/>
            <a:rect l="l" t="t" r="r" b="b"/>
            <a:pathLst>
              <a:path w="469900" h="1289050" fill="norm" stroke="1" extrusionOk="0">
                <a:moveTo>
                  <a:pt x="38100" y="0"/>
                </a:moveTo>
                <a:lnTo>
                  <a:pt x="431800" y="0"/>
                </a:lnTo>
                <a:arcTo wR="38100" hR="38100" stAng="16200000" swAng="5400000"/>
                <a:lnTo>
                  <a:pt x="469900" y="1289050"/>
                </a:lnTo>
                <a:lnTo>
                  <a:pt x="0" y="1289050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B8C2C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87127817" name="Text 17"/>
          <p:cNvSpPr/>
          <p:nvPr/>
        </p:nvSpPr>
        <p:spPr bwMode="auto">
          <a:xfrm>
            <a:off x="3388717" y="2749039"/>
            <a:ext cx="420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10,16</a:t>
            </a:r>
            <a:endParaRPr lang="en-US" sz="1200"/>
          </a:p>
        </p:txBody>
      </p:sp>
      <p:sp>
        <p:nvSpPr>
          <p:cNvPr id="329804581" name="Shape 18"/>
          <p:cNvSpPr/>
          <p:nvPr/>
        </p:nvSpPr>
        <p:spPr bwMode="auto">
          <a:xfrm>
            <a:off x="3289300" y="2962359"/>
            <a:ext cx="469900" cy="1518160"/>
          </a:xfrm>
          <a:custGeom>
            <a:avLst/>
            <a:gdLst/>
            <a:ahLst/>
            <a:cxnLst/>
            <a:rect l="l" t="t" r="r" b="b"/>
            <a:pathLst>
              <a:path w="469900" h="1682750" fill="norm" stroke="1" extrusionOk="0">
                <a:moveTo>
                  <a:pt x="38100" y="0"/>
                </a:moveTo>
                <a:lnTo>
                  <a:pt x="431800" y="0"/>
                </a:lnTo>
                <a:arcTo wR="38100" hR="38100" stAng="16200000" swAng="5400000"/>
                <a:lnTo>
                  <a:pt x="469900" y="1682750"/>
                </a:lnTo>
                <a:lnTo>
                  <a:pt x="0" y="1682750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F09A3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976210340" name="Text 19"/>
          <p:cNvSpPr/>
          <p:nvPr/>
        </p:nvSpPr>
        <p:spPr bwMode="auto">
          <a:xfrm>
            <a:off x="3909417" y="3681452"/>
            <a:ext cx="420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3,92</a:t>
            </a:r>
            <a:endParaRPr lang="en-US" sz="1200"/>
          </a:p>
        </p:txBody>
      </p:sp>
      <p:sp>
        <p:nvSpPr>
          <p:cNvPr id="1992133746" name="Shape 20"/>
          <p:cNvSpPr/>
          <p:nvPr/>
        </p:nvSpPr>
        <p:spPr bwMode="auto">
          <a:xfrm>
            <a:off x="3810000" y="3894772"/>
            <a:ext cx="469900" cy="585747"/>
          </a:xfrm>
          <a:custGeom>
            <a:avLst/>
            <a:gdLst/>
            <a:ahLst/>
            <a:cxnLst/>
            <a:rect l="l" t="t" r="r" b="b"/>
            <a:pathLst>
              <a:path w="469900" h="1314450" fill="norm" stroke="1" extrusionOk="0">
                <a:moveTo>
                  <a:pt x="38100" y="0"/>
                </a:moveTo>
                <a:lnTo>
                  <a:pt x="431800" y="0"/>
                </a:lnTo>
                <a:arcTo wR="38100" hR="38100" stAng="16200000" swAng="5400000"/>
                <a:lnTo>
                  <a:pt x="469900" y="1314450"/>
                </a:lnTo>
                <a:lnTo>
                  <a:pt x="0" y="1314450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B8C2C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931899441" name="Text 21"/>
          <p:cNvSpPr/>
          <p:nvPr/>
        </p:nvSpPr>
        <p:spPr bwMode="auto">
          <a:xfrm>
            <a:off x="4665067" y="3289958"/>
            <a:ext cx="420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6,54</a:t>
            </a:r>
            <a:endParaRPr lang="en-US" sz="1200"/>
          </a:p>
        </p:txBody>
      </p:sp>
      <p:sp>
        <p:nvSpPr>
          <p:cNvPr id="1598288918" name="Shape 22"/>
          <p:cNvSpPr/>
          <p:nvPr/>
        </p:nvSpPr>
        <p:spPr bwMode="auto">
          <a:xfrm>
            <a:off x="4565650" y="3503278"/>
            <a:ext cx="469900" cy="977241"/>
          </a:xfrm>
          <a:custGeom>
            <a:avLst/>
            <a:gdLst/>
            <a:ahLst/>
            <a:cxnLst/>
            <a:rect l="l" t="t" r="r" b="b"/>
            <a:pathLst>
              <a:path w="469900" h="914400" fill="norm" stroke="1" extrusionOk="0">
                <a:moveTo>
                  <a:pt x="38100" y="0"/>
                </a:moveTo>
                <a:lnTo>
                  <a:pt x="431800" y="0"/>
                </a:lnTo>
                <a:arcTo wR="38100" hR="38100" stAng="16200000" swAng="5400000"/>
                <a:lnTo>
                  <a:pt x="469900" y="914400"/>
                </a:lnTo>
                <a:lnTo>
                  <a:pt x="0" y="914400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2E9C8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019153219" name="Text 23"/>
          <p:cNvSpPr/>
          <p:nvPr/>
        </p:nvSpPr>
        <p:spPr bwMode="auto">
          <a:xfrm>
            <a:off x="5185767" y="3373636"/>
            <a:ext cx="420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5,98</a:t>
            </a:r>
            <a:endParaRPr lang="en-US" sz="1200"/>
          </a:p>
        </p:txBody>
      </p:sp>
      <p:sp>
        <p:nvSpPr>
          <p:cNvPr id="1176724652" name="Shape 24"/>
          <p:cNvSpPr/>
          <p:nvPr/>
        </p:nvSpPr>
        <p:spPr bwMode="auto">
          <a:xfrm>
            <a:off x="5086350" y="3586956"/>
            <a:ext cx="469900" cy="893563"/>
          </a:xfrm>
          <a:custGeom>
            <a:avLst/>
            <a:gdLst/>
            <a:ahLst/>
            <a:cxnLst/>
            <a:rect l="l" t="t" r="r" b="b"/>
            <a:pathLst>
              <a:path w="469900" h="914400" fill="norm" stroke="1" extrusionOk="0">
                <a:moveTo>
                  <a:pt x="38100" y="0"/>
                </a:moveTo>
                <a:lnTo>
                  <a:pt x="431800" y="0"/>
                </a:lnTo>
                <a:arcTo wR="38100" hR="38100" stAng="16200000" swAng="5400000"/>
                <a:lnTo>
                  <a:pt x="469900" y="914400"/>
                </a:lnTo>
                <a:lnTo>
                  <a:pt x="0" y="914400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B8C2C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989404908" name="Text 25"/>
          <p:cNvSpPr/>
          <p:nvPr/>
        </p:nvSpPr>
        <p:spPr bwMode="auto">
          <a:xfrm>
            <a:off x="5941417" y="3569383"/>
            <a:ext cx="420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4,67</a:t>
            </a:r>
            <a:endParaRPr lang="en-US" sz="1200"/>
          </a:p>
        </p:txBody>
      </p:sp>
      <p:sp>
        <p:nvSpPr>
          <p:cNvPr id="872509772" name="Shape 26"/>
          <p:cNvSpPr/>
          <p:nvPr/>
        </p:nvSpPr>
        <p:spPr bwMode="auto">
          <a:xfrm>
            <a:off x="5842000" y="3782703"/>
            <a:ext cx="469900" cy="697816"/>
          </a:xfrm>
          <a:custGeom>
            <a:avLst/>
            <a:gdLst/>
            <a:ahLst/>
            <a:cxnLst/>
            <a:rect l="l" t="t" r="r" b="b"/>
            <a:pathLst>
              <a:path w="469900" h="622300" fill="norm" stroke="1" extrusionOk="0">
                <a:moveTo>
                  <a:pt x="38100" y="0"/>
                </a:moveTo>
                <a:lnTo>
                  <a:pt x="431800" y="0"/>
                </a:lnTo>
                <a:arcTo wR="38100" hR="38100" stAng="16200000" swAng="5400000"/>
                <a:lnTo>
                  <a:pt x="469900" y="622300"/>
                </a:lnTo>
                <a:lnTo>
                  <a:pt x="0" y="622300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1F5F8B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359851264" name="Text 27"/>
          <p:cNvSpPr/>
          <p:nvPr/>
        </p:nvSpPr>
        <p:spPr bwMode="auto">
          <a:xfrm>
            <a:off x="6462117" y="3569383"/>
            <a:ext cx="420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4,67</a:t>
            </a:r>
            <a:endParaRPr lang="en-US" sz="1200"/>
          </a:p>
        </p:txBody>
      </p:sp>
      <p:sp>
        <p:nvSpPr>
          <p:cNvPr id="632825712" name="Shape 28"/>
          <p:cNvSpPr/>
          <p:nvPr/>
        </p:nvSpPr>
        <p:spPr bwMode="auto">
          <a:xfrm>
            <a:off x="6362700" y="3782703"/>
            <a:ext cx="469900" cy="697816"/>
          </a:xfrm>
          <a:custGeom>
            <a:avLst/>
            <a:gdLst/>
            <a:ahLst/>
            <a:cxnLst/>
            <a:rect l="l" t="t" r="r" b="b"/>
            <a:pathLst>
              <a:path w="469900" h="622300" fill="norm" stroke="1" extrusionOk="0">
                <a:moveTo>
                  <a:pt x="38100" y="0"/>
                </a:moveTo>
                <a:lnTo>
                  <a:pt x="431800" y="0"/>
                </a:lnTo>
                <a:arcTo wR="38100" hR="38100" stAng="16200000" swAng="5400000"/>
                <a:lnTo>
                  <a:pt x="469900" y="622300"/>
                </a:lnTo>
                <a:lnTo>
                  <a:pt x="0" y="622300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B8C2C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74056157" name="Text 29"/>
          <p:cNvSpPr/>
          <p:nvPr/>
        </p:nvSpPr>
        <p:spPr bwMode="auto">
          <a:xfrm>
            <a:off x="711200" y="453132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baseline</a:t>
            </a:r>
            <a:endParaRPr lang="en-US" sz="1300"/>
          </a:p>
        </p:txBody>
      </p:sp>
      <p:sp>
        <p:nvSpPr>
          <p:cNvPr id="1781221583" name="Text 30"/>
          <p:cNvSpPr/>
          <p:nvPr/>
        </p:nvSpPr>
        <p:spPr bwMode="auto">
          <a:xfrm>
            <a:off x="1987550" y="453132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P1</a:t>
            </a:r>
            <a:endParaRPr lang="en-US" sz="1300"/>
          </a:p>
        </p:txBody>
      </p:sp>
      <p:sp>
        <p:nvSpPr>
          <p:cNvPr id="780245428" name="Text 31"/>
          <p:cNvSpPr/>
          <p:nvPr/>
        </p:nvSpPr>
        <p:spPr bwMode="auto">
          <a:xfrm>
            <a:off x="3263900" y="453132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P1.5</a:t>
            </a:r>
            <a:endParaRPr lang="en-US" sz="1300"/>
          </a:p>
        </p:txBody>
      </p:sp>
      <p:sp>
        <p:nvSpPr>
          <p:cNvPr id="1270807852" name="Text 32"/>
          <p:cNvSpPr/>
          <p:nvPr/>
        </p:nvSpPr>
        <p:spPr bwMode="auto">
          <a:xfrm>
            <a:off x="4540250" y="453132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P2</a:t>
            </a:r>
            <a:endParaRPr lang="en-US" sz="1300"/>
          </a:p>
        </p:txBody>
      </p:sp>
      <p:sp>
        <p:nvSpPr>
          <p:cNvPr id="303957450" name="Text 33"/>
          <p:cNvSpPr/>
          <p:nvPr/>
        </p:nvSpPr>
        <p:spPr bwMode="auto">
          <a:xfrm>
            <a:off x="5816600" y="453132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P3</a:t>
            </a:r>
            <a:endParaRPr lang="en-US" sz="1300"/>
          </a:p>
        </p:txBody>
      </p:sp>
      <p:sp>
        <p:nvSpPr>
          <p:cNvPr id="1936906822" name="Shape 36"/>
          <p:cNvSpPr/>
          <p:nvPr/>
        </p:nvSpPr>
        <p:spPr bwMode="auto">
          <a:xfrm>
            <a:off x="7200900" y="1562100"/>
            <a:ext cx="4445000" cy="1630627"/>
          </a:xfrm>
          <a:prstGeom prst="roundRect">
            <a:avLst>
              <a:gd name="adj" fmla="val 7788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666190844" name="Shape 37"/>
          <p:cNvSpPr/>
          <p:nvPr/>
        </p:nvSpPr>
        <p:spPr bwMode="auto">
          <a:xfrm>
            <a:off x="7200900" y="1562100"/>
            <a:ext cx="4445000" cy="88900"/>
          </a:xfrm>
          <a:custGeom>
            <a:avLst/>
            <a:gdLst/>
            <a:ahLst/>
            <a:cxnLst/>
            <a:rect l="l" t="t" r="r" b="b"/>
            <a:pathLst>
              <a:path w="4445000" h="88900" fill="norm" stroke="1" extrusionOk="0">
                <a:moveTo>
                  <a:pt x="5850" y="88900"/>
                </a:moveTo>
                <a:arcTo wR="127000" hR="127000" stAng="11847456" swAng="4352544"/>
                <a:lnTo>
                  <a:pt x="4318000" y="0"/>
                </a:lnTo>
                <a:arcTo wR="127000" hR="127000" stAng="16200000" swAng="4352544"/>
                <a:close/>
              </a:path>
            </a:pathLst>
          </a:cu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728928411" name="Text 38"/>
          <p:cNvSpPr/>
          <p:nvPr/>
        </p:nvSpPr>
        <p:spPr bwMode="auto">
          <a:xfrm>
            <a:off x="7378700" y="1765300"/>
            <a:ext cx="421208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Due core, le stesse code d'uscita</a:t>
            </a:r>
            <a:endParaRPr lang="en-US" sz="1500"/>
          </a:p>
        </p:txBody>
      </p:sp>
      <p:sp>
        <p:nvSpPr>
          <p:cNvPr id="280366088" name="Text 39"/>
          <p:cNvSpPr/>
          <p:nvPr/>
        </p:nvSpPr>
        <p:spPr bwMode="auto">
          <a:xfrm>
            <a:off x="7378700" y="2082800"/>
            <a:ext cx="4212082" cy="883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  <a:defRPr/>
            </a:pPr>
            <a:r>
              <a:rPr lang="en-US" sz="13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Con due core sul nodo, tutti e due inoltrano nelle stesse code verso il nodo successivo: due scrittori per coda. Le code si intasano e metà dei pacchetti della baseline si perde dopo il nodo, con il core d'uscita occupato solo al 77%.</a:t>
            </a:r>
            <a:endParaRPr lang="en-US" sz="1300"/>
          </a:p>
        </p:txBody>
      </p:sp>
      <p:sp>
        <p:nvSpPr>
          <p:cNvPr id="244920080" name="Shape 40"/>
          <p:cNvSpPr/>
          <p:nvPr/>
        </p:nvSpPr>
        <p:spPr bwMode="auto">
          <a:xfrm>
            <a:off x="7200900" y="3281629"/>
            <a:ext cx="4445000" cy="1630693"/>
          </a:xfrm>
          <a:prstGeom prst="roundRect">
            <a:avLst>
              <a:gd name="adj" fmla="val 7788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36335300" name="Shape 41"/>
          <p:cNvSpPr/>
          <p:nvPr/>
        </p:nvSpPr>
        <p:spPr bwMode="auto">
          <a:xfrm>
            <a:off x="7200900" y="3281629"/>
            <a:ext cx="4445000" cy="88900"/>
          </a:xfrm>
          <a:custGeom>
            <a:avLst/>
            <a:gdLst/>
            <a:ahLst/>
            <a:cxnLst/>
            <a:rect l="l" t="t" r="r" b="b"/>
            <a:pathLst>
              <a:path w="4445000" h="88900" fill="norm" stroke="1" extrusionOk="0">
                <a:moveTo>
                  <a:pt x="5850" y="88900"/>
                </a:moveTo>
                <a:arcTo wR="127000" hR="127000" stAng="11847456" swAng="4352544"/>
                <a:lnTo>
                  <a:pt x="4318000" y="0"/>
                </a:lnTo>
                <a:arcTo wR="127000" hR="127000" stAng="16200000" swAng="4352544"/>
                <a:close/>
              </a:path>
            </a:pathLst>
          </a:custGeom>
          <a:solidFill>
            <a:srgbClr val="E07A2D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452434944" name="Text 42"/>
          <p:cNvSpPr/>
          <p:nvPr/>
        </p:nvSpPr>
        <p:spPr bwMode="auto">
          <a:xfrm>
            <a:off x="7378700" y="3484829"/>
            <a:ext cx="421208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Un esempio: baseline e P2</a:t>
            </a:r>
            <a:endParaRPr lang="en-US" sz="1500"/>
          </a:p>
        </p:txBody>
      </p:sp>
      <p:sp>
        <p:nvSpPr>
          <p:cNvPr id="1539934491" name="Text 43"/>
          <p:cNvSpPr/>
          <p:nvPr/>
        </p:nvSpPr>
        <p:spPr bwMode="auto">
          <a:xfrm>
            <a:off x="7378700" y="3802329"/>
            <a:ext cx="4212082" cy="669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  <a:defRPr/>
            </a:pPr>
            <a:r>
              <a:rPr lang="en-US" sz="13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La baseline elabora 13,1 M/s ma ne arrivano 4,3; P2 ne elabora 6,5 e ne arrivano 6,0. Contando gli arrivi la baseline sembrerebbe più lenta di P2, che fa molto più lavoro.</a:t>
            </a:r>
            <a:endParaRPr lang="en-US" sz="1300"/>
          </a:p>
        </p:txBody>
      </p:sp>
      <p:sp>
        <p:nvSpPr>
          <p:cNvPr id="985847929" name="Shape 44"/>
          <p:cNvSpPr/>
          <p:nvPr/>
        </p:nvSpPr>
        <p:spPr bwMode="auto">
          <a:xfrm>
            <a:off x="546100" y="5486400"/>
            <a:ext cx="11099800" cy="774700"/>
          </a:xfrm>
          <a:prstGeom prst="roundRect">
            <a:avLst>
              <a:gd name="adj" fmla="val 13115"/>
            </a:avLst>
          </a:prstGeom>
          <a:solidFill>
            <a:srgbClr val="FFF4D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717457357" name="Shape 45"/>
          <p:cNvSpPr/>
          <p:nvPr/>
        </p:nvSpPr>
        <p:spPr bwMode="auto">
          <a:xfrm>
            <a:off x="546100" y="5486400"/>
            <a:ext cx="82550" cy="774700"/>
          </a:xfrm>
          <a:custGeom>
            <a:avLst/>
            <a:gdLst/>
            <a:ahLst/>
            <a:cxnLst/>
            <a:rect l="l" t="t" r="r" b="b"/>
            <a:pathLst>
              <a:path w="82550" h="774700" fill="norm" stroke="1" extrusionOk="0">
                <a:moveTo>
                  <a:pt x="0" y="101600"/>
                </a:moveTo>
                <a:arcTo wR="101600" hR="101600" stAng="10800000" swAng="4751585"/>
                <a:lnTo>
                  <a:pt x="82550" y="772898"/>
                </a:lnTo>
                <a:arcTo wR="101600" hR="101600" stAng="6048415" swAng="4751585"/>
                <a:close/>
              </a:path>
            </a:pathLst>
          </a:custGeom>
          <a:solidFill>
            <a:srgbClr val="F2B134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79745142" name="Text 46"/>
          <p:cNvSpPr/>
          <p:nvPr/>
        </p:nvSpPr>
        <p:spPr bwMode="auto">
          <a:xfrm>
            <a:off x="819150" y="5767058"/>
            <a:ext cx="8762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B57A00"/>
                </a:solidFill>
                <a:latin typeface="Carlito"/>
                <a:ea typeface="Carlito"/>
                <a:cs typeface="Carlito"/>
              </a:rPr>
              <a:t>QUINDI</a:t>
            </a:r>
            <a:endParaRPr lang="en-US" sz="1200"/>
          </a:p>
        </p:txBody>
      </p:sp>
      <p:sp>
        <p:nvSpPr>
          <p:cNvPr id="1375110392" name="Text 47"/>
          <p:cNvSpPr/>
          <p:nvPr/>
        </p:nvSpPr>
        <p:spPr bwMode="auto">
          <a:xfrm>
            <a:off x="1822450" y="5626100"/>
            <a:ext cx="988269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  <a:defRPr/>
            </a:pP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Il controllo di validità (la baseline deve essere la più veloce) conta i pacchetti </a:t>
            </a: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elaborati</a:t>
            </a: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: la stessa grandezza con cui si calcola il costo.</a:t>
            </a:r>
            <a:endParaRPr lang="en-US" sz="1500"/>
          </a:p>
        </p:txBody>
      </p:sp>
      <p:sp>
        <p:nvSpPr>
          <p:cNvPr id="1948934027" name="Text 48"/>
          <p:cNvSpPr/>
          <p:nvPr/>
        </p:nvSpPr>
        <p:spPr bwMode="auto">
          <a:xfrm>
            <a:off x="546100" y="6426200"/>
            <a:ext cx="10072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i="1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xdp_gen, 2 core sul nodo, un thread per coda, uscita separata · 64 byte, 30 settembre · arrivati = nodo successivo</a:t>
            </a:r>
            <a:endParaRPr lang="en-US" sz="1200"/>
          </a:p>
        </p:txBody>
      </p:sp>
      <p:sp>
        <p:nvSpPr>
          <p:cNvPr id="1551553591" name="Text 49"/>
          <p:cNvSpPr/>
          <p:nvPr/>
        </p:nvSpPr>
        <p:spPr bwMode="auto">
          <a:xfrm>
            <a:off x="10960099" y="642620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14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0262287" name="Shape 0"/>
          <p:cNvSpPr/>
          <p:nvPr/>
        </p:nvSpPr>
        <p:spPr bwMode="auto">
          <a:xfrm>
            <a:off x="0" y="0"/>
            <a:ext cx="12192000" cy="107949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072346178" name="Text 1"/>
          <p:cNvSpPr/>
          <p:nvPr/>
        </p:nvSpPr>
        <p:spPr bwMode="auto">
          <a:xfrm>
            <a:off x="546100" y="330200"/>
            <a:ext cx="114327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4 · I RISULTATI SUL DUAL BOOT · LE DIFFERENZE</a:t>
            </a:r>
            <a:endParaRPr lang="en-US" sz="1200"/>
          </a:p>
        </p:txBody>
      </p:sp>
      <p:sp>
        <p:nvSpPr>
          <p:cNvPr id="1018439312" name="Text 2"/>
          <p:cNvSpPr/>
          <p:nvPr/>
        </p:nvSpPr>
        <p:spPr bwMode="auto">
          <a:xfrm>
            <a:off x="546100" y="584200"/>
            <a:ext cx="1143279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30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Con xdp_gen lo stesso programma costa ~230 ns in meno</a:t>
            </a:r>
            <a:endParaRPr lang="en-US" sz="3000"/>
          </a:p>
        </p:txBody>
      </p:sp>
      <p:sp>
        <p:nvSpPr>
          <p:cNvPr id="1550892152" name="Shape 3"/>
          <p:cNvSpPr/>
          <p:nvPr/>
        </p:nvSpPr>
        <p:spPr bwMode="auto">
          <a:xfrm>
            <a:off x="546100" y="1562100"/>
            <a:ext cx="6540500" cy="3477220"/>
          </a:xfrm>
          <a:prstGeom prst="roundRect">
            <a:avLst>
              <a:gd name="adj" fmla="val 3652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012120802" name="Text 4"/>
          <p:cNvSpPr/>
          <p:nvPr/>
        </p:nvSpPr>
        <p:spPr bwMode="auto">
          <a:xfrm>
            <a:off x="736600" y="1714500"/>
            <a:ext cx="634428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Nanosecondi per pacchetto, stesso programma</a:t>
            </a:r>
            <a:endParaRPr lang="en-US" sz="1500"/>
          </a:p>
        </p:txBody>
      </p:sp>
      <p:sp>
        <p:nvSpPr>
          <p:cNvPr id="1869677495" name="Shape 5"/>
          <p:cNvSpPr/>
          <p:nvPr/>
        </p:nvSpPr>
        <p:spPr bwMode="auto">
          <a:xfrm>
            <a:off x="736600" y="2075129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E07A2D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993226184" name="Text 6"/>
          <p:cNvSpPr/>
          <p:nvPr/>
        </p:nvSpPr>
        <p:spPr bwMode="auto">
          <a:xfrm>
            <a:off x="952500" y="2044700"/>
            <a:ext cx="11934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pktgen (con copia)</a:t>
            </a:r>
            <a:endParaRPr lang="en-US" sz="1200"/>
          </a:p>
        </p:txBody>
      </p:sp>
      <p:sp>
        <p:nvSpPr>
          <p:cNvPr id="2037176914" name="Shape 7"/>
          <p:cNvSpPr/>
          <p:nvPr/>
        </p:nvSpPr>
        <p:spPr bwMode="auto">
          <a:xfrm>
            <a:off x="2272903" y="2075129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2E9C6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17724669" name="Text 8"/>
          <p:cNvSpPr/>
          <p:nvPr/>
        </p:nvSpPr>
        <p:spPr bwMode="auto">
          <a:xfrm>
            <a:off x="2488803" y="2044700"/>
            <a:ext cx="14150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xdp_gen (senza copia)</a:t>
            </a:r>
            <a:endParaRPr lang="en-US" sz="1200"/>
          </a:p>
        </p:txBody>
      </p:sp>
      <p:sp>
        <p:nvSpPr>
          <p:cNvPr id="1274116744" name="Text 9"/>
          <p:cNvSpPr/>
          <p:nvPr/>
        </p:nvSpPr>
        <p:spPr bwMode="auto">
          <a:xfrm>
            <a:off x="736600" y="2466318"/>
            <a:ext cx="87629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baseline</a:t>
            </a:r>
            <a:endParaRPr lang="en-US" sz="1300"/>
          </a:p>
        </p:txBody>
      </p:sp>
      <p:sp>
        <p:nvSpPr>
          <p:cNvPr id="1359008047" name="Shape 10"/>
          <p:cNvSpPr/>
          <p:nvPr/>
        </p:nvSpPr>
        <p:spPr bwMode="auto">
          <a:xfrm>
            <a:off x="1689100" y="2359620"/>
            <a:ext cx="1752599" cy="203200"/>
          </a:xfrm>
          <a:prstGeom prst="roundRect">
            <a:avLst>
              <a:gd name="adj" fmla="val 18750"/>
            </a:avLst>
          </a:prstGeom>
          <a:solidFill>
            <a:srgbClr val="E07A2D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977606422" name="Text 11"/>
          <p:cNvSpPr/>
          <p:nvPr/>
        </p:nvSpPr>
        <p:spPr bwMode="auto">
          <a:xfrm>
            <a:off x="3517900" y="2365970"/>
            <a:ext cx="9398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302 ns</a:t>
            </a:r>
            <a:endParaRPr lang="en-US" sz="1300"/>
          </a:p>
        </p:txBody>
      </p:sp>
      <p:sp>
        <p:nvSpPr>
          <p:cNvPr id="874054731" name="Shape 12"/>
          <p:cNvSpPr/>
          <p:nvPr/>
        </p:nvSpPr>
        <p:spPr bwMode="auto">
          <a:xfrm>
            <a:off x="1689100" y="2600920"/>
            <a:ext cx="388821" cy="203200"/>
          </a:xfrm>
          <a:prstGeom prst="roundRect">
            <a:avLst>
              <a:gd name="adj" fmla="val 18750"/>
            </a:avLst>
          </a:prstGeom>
          <a:solidFill>
            <a:srgbClr val="2E9C6E">
              <a:alpha val="50000"/>
            </a:srgbClr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034871553" name="Text 13"/>
          <p:cNvSpPr/>
          <p:nvPr/>
        </p:nvSpPr>
        <p:spPr bwMode="auto">
          <a:xfrm>
            <a:off x="2154121" y="2607270"/>
            <a:ext cx="10668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≈ 67 ns</a:t>
            </a:r>
            <a:endParaRPr lang="en-US" sz="1300"/>
          </a:p>
        </p:txBody>
      </p:sp>
      <p:sp>
        <p:nvSpPr>
          <p:cNvPr id="854225757" name="Text 14"/>
          <p:cNvSpPr/>
          <p:nvPr/>
        </p:nvSpPr>
        <p:spPr bwMode="auto">
          <a:xfrm>
            <a:off x="736600" y="2987018"/>
            <a:ext cx="87629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P1</a:t>
            </a:r>
            <a:endParaRPr lang="en-US" sz="1300"/>
          </a:p>
        </p:txBody>
      </p:sp>
      <p:sp>
        <p:nvSpPr>
          <p:cNvPr id="106711211" name="Shape 15"/>
          <p:cNvSpPr/>
          <p:nvPr/>
        </p:nvSpPr>
        <p:spPr bwMode="auto">
          <a:xfrm>
            <a:off x="1689100" y="2880320"/>
            <a:ext cx="1974850" cy="203200"/>
          </a:xfrm>
          <a:prstGeom prst="roundRect">
            <a:avLst>
              <a:gd name="adj" fmla="val 18750"/>
            </a:avLst>
          </a:prstGeom>
          <a:solidFill>
            <a:srgbClr val="E07A2D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680770838" name="Text 16"/>
          <p:cNvSpPr/>
          <p:nvPr/>
        </p:nvSpPr>
        <p:spPr bwMode="auto">
          <a:xfrm>
            <a:off x="3740149" y="2886670"/>
            <a:ext cx="9398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340 ns</a:t>
            </a:r>
            <a:endParaRPr lang="en-US" sz="1300"/>
          </a:p>
        </p:txBody>
      </p:sp>
      <p:sp>
        <p:nvSpPr>
          <p:cNvPr id="482346709" name="Shape 17"/>
          <p:cNvSpPr/>
          <p:nvPr/>
        </p:nvSpPr>
        <p:spPr bwMode="auto">
          <a:xfrm>
            <a:off x="1689100" y="3121620"/>
            <a:ext cx="673183" cy="203200"/>
          </a:xfrm>
          <a:prstGeom prst="roundRect">
            <a:avLst>
              <a:gd name="adj" fmla="val 18750"/>
            </a:avLst>
          </a:prstGeom>
          <a:solidFill>
            <a:srgbClr val="2E9C6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646932008" name="Text 18"/>
          <p:cNvSpPr/>
          <p:nvPr/>
        </p:nvSpPr>
        <p:spPr bwMode="auto">
          <a:xfrm>
            <a:off x="2438483" y="3127970"/>
            <a:ext cx="17000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116 ns   −224 ns</a:t>
            </a:r>
            <a:endParaRPr lang="en-US" sz="1300"/>
          </a:p>
        </p:txBody>
      </p:sp>
      <p:sp>
        <p:nvSpPr>
          <p:cNvPr id="1558560373" name="Text 19"/>
          <p:cNvSpPr/>
          <p:nvPr/>
        </p:nvSpPr>
        <p:spPr bwMode="auto">
          <a:xfrm>
            <a:off x="736600" y="3507718"/>
            <a:ext cx="87629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P1.5</a:t>
            </a:r>
            <a:endParaRPr lang="en-US" sz="1300"/>
          </a:p>
        </p:txBody>
      </p:sp>
      <p:sp>
        <p:nvSpPr>
          <p:cNvPr id="686066982" name="Shape 20"/>
          <p:cNvSpPr/>
          <p:nvPr/>
        </p:nvSpPr>
        <p:spPr bwMode="auto">
          <a:xfrm>
            <a:off x="1689100" y="3401020"/>
            <a:ext cx="2063750" cy="203200"/>
          </a:xfrm>
          <a:prstGeom prst="roundRect">
            <a:avLst>
              <a:gd name="adj" fmla="val 18750"/>
            </a:avLst>
          </a:prstGeom>
          <a:solidFill>
            <a:srgbClr val="E07A2D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733058696" name="Text 21"/>
          <p:cNvSpPr/>
          <p:nvPr/>
        </p:nvSpPr>
        <p:spPr bwMode="auto">
          <a:xfrm>
            <a:off x="3829050" y="3407370"/>
            <a:ext cx="9398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356 ns</a:t>
            </a:r>
            <a:endParaRPr lang="en-US" sz="1300"/>
          </a:p>
        </p:txBody>
      </p:sp>
      <p:sp>
        <p:nvSpPr>
          <p:cNvPr id="1561069790" name="Shape 22"/>
          <p:cNvSpPr/>
          <p:nvPr/>
        </p:nvSpPr>
        <p:spPr bwMode="auto">
          <a:xfrm>
            <a:off x="1689100" y="3642320"/>
            <a:ext cx="725413" cy="203200"/>
          </a:xfrm>
          <a:prstGeom prst="roundRect">
            <a:avLst>
              <a:gd name="adj" fmla="val 18750"/>
            </a:avLst>
          </a:prstGeom>
          <a:solidFill>
            <a:srgbClr val="2E9C6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844850430" name="Text 23"/>
          <p:cNvSpPr/>
          <p:nvPr/>
        </p:nvSpPr>
        <p:spPr bwMode="auto">
          <a:xfrm>
            <a:off x="2490713" y="3648670"/>
            <a:ext cx="17000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125 ns   −231 ns</a:t>
            </a:r>
            <a:endParaRPr lang="en-US" sz="1300"/>
          </a:p>
        </p:txBody>
      </p:sp>
      <p:sp>
        <p:nvSpPr>
          <p:cNvPr id="311158080" name="Text 24"/>
          <p:cNvSpPr/>
          <p:nvPr/>
        </p:nvSpPr>
        <p:spPr bwMode="auto">
          <a:xfrm>
            <a:off x="736600" y="4028418"/>
            <a:ext cx="87629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P2</a:t>
            </a:r>
            <a:endParaRPr lang="en-US" sz="1300"/>
          </a:p>
        </p:txBody>
      </p:sp>
      <p:sp>
        <p:nvSpPr>
          <p:cNvPr id="599369607" name="Shape 25"/>
          <p:cNvSpPr/>
          <p:nvPr/>
        </p:nvSpPr>
        <p:spPr bwMode="auto">
          <a:xfrm>
            <a:off x="1689100" y="3921720"/>
            <a:ext cx="3073400" cy="203200"/>
          </a:xfrm>
          <a:prstGeom prst="roundRect">
            <a:avLst>
              <a:gd name="adj" fmla="val 18750"/>
            </a:avLst>
          </a:prstGeom>
          <a:solidFill>
            <a:srgbClr val="E07A2D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26970025" name="Text 26"/>
          <p:cNvSpPr/>
          <p:nvPr/>
        </p:nvSpPr>
        <p:spPr bwMode="auto">
          <a:xfrm>
            <a:off x="4838700" y="3928070"/>
            <a:ext cx="9398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529 ns</a:t>
            </a:r>
            <a:endParaRPr lang="en-US" sz="1300"/>
          </a:p>
        </p:txBody>
      </p:sp>
      <p:sp>
        <p:nvSpPr>
          <p:cNvPr id="1286915460" name="Shape 27"/>
          <p:cNvSpPr/>
          <p:nvPr/>
        </p:nvSpPr>
        <p:spPr bwMode="auto">
          <a:xfrm>
            <a:off x="1689100" y="4163020"/>
            <a:ext cx="1700369" cy="203200"/>
          </a:xfrm>
          <a:prstGeom prst="roundRect">
            <a:avLst>
              <a:gd name="adj" fmla="val 18750"/>
            </a:avLst>
          </a:prstGeom>
          <a:solidFill>
            <a:srgbClr val="2E9C6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717403374" name="Text 28"/>
          <p:cNvSpPr/>
          <p:nvPr/>
        </p:nvSpPr>
        <p:spPr bwMode="auto">
          <a:xfrm>
            <a:off x="3465669" y="4169370"/>
            <a:ext cx="6858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293 ns</a:t>
            </a:r>
            <a:endParaRPr lang="en-US" sz="1300"/>
          </a:p>
        </p:txBody>
      </p:sp>
      <p:sp>
        <p:nvSpPr>
          <p:cNvPr id="327375694" name="Text 29"/>
          <p:cNvSpPr/>
          <p:nvPr/>
        </p:nvSpPr>
        <p:spPr bwMode="auto">
          <a:xfrm>
            <a:off x="4208619" y="4169370"/>
            <a:ext cx="11938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−236 ns</a:t>
            </a:r>
            <a:endParaRPr lang="en-US" sz="1300"/>
          </a:p>
        </p:txBody>
      </p:sp>
      <p:sp>
        <p:nvSpPr>
          <p:cNvPr id="1955929787" name="Text 30"/>
          <p:cNvSpPr/>
          <p:nvPr/>
        </p:nvSpPr>
        <p:spPr bwMode="auto">
          <a:xfrm>
            <a:off x="736600" y="4549118"/>
            <a:ext cx="87629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P3</a:t>
            </a:r>
            <a:endParaRPr lang="en-US" sz="1300"/>
          </a:p>
        </p:txBody>
      </p:sp>
      <p:sp>
        <p:nvSpPr>
          <p:cNvPr id="552882207" name="Shape 31"/>
          <p:cNvSpPr/>
          <p:nvPr/>
        </p:nvSpPr>
        <p:spPr bwMode="auto">
          <a:xfrm>
            <a:off x="1689100" y="4442420"/>
            <a:ext cx="3867150" cy="203200"/>
          </a:xfrm>
          <a:prstGeom prst="roundRect">
            <a:avLst>
              <a:gd name="adj" fmla="val 18750"/>
            </a:avLst>
          </a:prstGeom>
          <a:solidFill>
            <a:srgbClr val="E07A2D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123156934" name="Text 32"/>
          <p:cNvSpPr/>
          <p:nvPr/>
        </p:nvSpPr>
        <p:spPr bwMode="auto">
          <a:xfrm>
            <a:off x="5632450" y="4448770"/>
            <a:ext cx="87629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666 ns</a:t>
            </a:r>
            <a:endParaRPr lang="en-US" sz="1300"/>
          </a:p>
        </p:txBody>
      </p:sp>
      <p:sp>
        <p:nvSpPr>
          <p:cNvPr id="1214684123" name="Shape 33"/>
          <p:cNvSpPr/>
          <p:nvPr/>
        </p:nvSpPr>
        <p:spPr bwMode="auto">
          <a:xfrm>
            <a:off x="1689100" y="4683720"/>
            <a:ext cx="2483815" cy="203200"/>
          </a:xfrm>
          <a:prstGeom prst="roundRect">
            <a:avLst>
              <a:gd name="adj" fmla="val 18750"/>
            </a:avLst>
          </a:prstGeom>
          <a:solidFill>
            <a:srgbClr val="2E9C6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830826382" name="Text 34"/>
          <p:cNvSpPr/>
          <p:nvPr/>
        </p:nvSpPr>
        <p:spPr bwMode="auto">
          <a:xfrm>
            <a:off x="4249115" y="4690070"/>
            <a:ext cx="6858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428 ns</a:t>
            </a:r>
            <a:endParaRPr lang="en-US" sz="1300"/>
          </a:p>
        </p:txBody>
      </p:sp>
      <p:sp>
        <p:nvSpPr>
          <p:cNvPr id="1564814363" name="Text 35"/>
          <p:cNvSpPr/>
          <p:nvPr/>
        </p:nvSpPr>
        <p:spPr bwMode="auto">
          <a:xfrm>
            <a:off x="4992065" y="4690070"/>
            <a:ext cx="11938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−238 ns</a:t>
            </a:r>
            <a:endParaRPr lang="en-US" sz="1300"/>
          </a:p>
        </p:txBody>
      </p:sp>
      <p:sp>
        <p:nvSpPr>
          <p:cNvPr id="320966211" name="Shape 36"/>
          <p:cNvSpPr/>
          <p:nvPr/>
        </p:nvSpPr>
        <p:spPr bwMode="auto">
          <a:xfrm>
            <a:off x="7264400" y="1562100"/>
            <a:ext cx="4381500" cy="1099807"/>
          </a:xfrm>
          <a:prstGeom prst="roundRect">
            <a:avLst>
              <a:gd name="adj" fmla="val 11547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143815715" name="Shape 37"/>
          <p:cNvSpPr/>
          <p:nvPr/>
        </p:nvSpPr>
        <p:spPr bwMode="auto">
          <a:xfrm>
            <a:off x="7264400" y="1562100"/>
            <a:ext cx="4381500" cy="88900"/>
          </a:xfrm>
          <a:custGeom>
            <a:avLst/>
            <a:gdLst/>
            <a:ahLst/>
            <a:cxnLst/>
            <a:rect l="l" t="t" r="r" b="b"/>
            <a:pathLst>
              <a:path w="4381500" h="88900" fill="norm" stroke="1" extrusionOk="0">
                <a:moveTo>
                  <a:pt x="5850" y="88900"/>
                </a:moveTo>
                <a:arcTo wR="127000" hR="127000" stAng="11847456" swAng="4352544"/>
                <a:lnTo>
                  <a:pt x="4254500" y="0"/>
                </a:lnTo>
                <a:arcTo wR="127000" hR="127000" stAng="16200000" swAng="4352544"/>
                <a:close/>
              </a:path>
            </a:pathLst>
          </a:custGeom>
          <a:solidFill>
            <a:srgbClr val="E07A2D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76191563" name="Text 38"/>
          <p:cNvSpPr/>
          <p:nvPr/>
        </p:nvSpPr>
        <p:spPr bwMode="auto">
          <a:xfrm>
            <a:off x="7442200" y="1752599"/>
            <a:ext cx="414667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Con pktgen si citano tutte e cinque</a:t>
            </a:r>
            <a:endParaRPr lang="en-US" sz="1400"/>
          </a:p>
        </p:txBody>
      </p:sp>
      <p:sp>
        <p:nvSpPr>
          <p:cNvPr id="1413696015" name="Text 39"/>
          <p:cNvSpPr/>
          <p:nvPr/>
        </p:nvSpPr>
        <p:spPr bwMode="auto">
          <a:xfrm>
            <a:off x="7442200" y="2039609"/>
            <a:ext cx="4146677" cy="45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  <a:defRPr/>
            </a:pPr>
            <a:r>
              <a:rPr lang="en-US" sz="13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Costo sopra la baseline: +38, +53, +226 e +364 ns per P1, P1.5, P2 e P3.</a:t>
            </a:r>
            <a:endParaRPr lang="en-US" sz="1300"/>
          </a:p>
        </p:txBody>
      </p:sp>
      <p:sp>
        <p:nvSpPr>
          <p:cNvPr id="33363353" name="Shape 40"/>
          <p:cNvSpPr/>
          <p:nvPr/>
        </p:nvSpPr>
        <p:spPr bwMode="auto">
          <a:xfrm>
            <a:off x="7264400" y="2750809"/>
            <a:ext cx="4381500" cy="1099807"/>
          </a:xfrm>
          <a:prstGeom prst="roundRect">
            <a:avLst>
              <a:gd name="adj" fmla="val 11547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187019319" name="Shape 41"/>
          <p:cNvSpPr/>
          <p:nvPr/>
        </p:nvSpPr>
        <p:spPr bwMode="auto">
          <a:xfrm>
            <a:off x="7264400" y="2750809"/>
            <a:ext cx="4381500" cy="88900"/>
          </a:xfrm>
          <a:custGeom>
            <a:avLst/>
            <a:gdLst/>
            <a:ahLst/>
            <a:cxnLst/>
            <a:rect l="l" t="t" r="r" b="b"/>
            <a:pathLst>
              <a:path w="4381500" h="88900" fill="norm" stroke="1" extrusionOk="0">
                <a:moveTo>
                  <a:pt x="5850" y="88900"/>
                </a:moveTo>
                <a:arcTo wR="127000" hR="127000" stAng="11847456" swAng="4352544"/>
                <a:lnTo>
                  <a:pt x="4254500" y="0"/>
                </a:lnTo>
                <a:arcTo wR="127000" hR="127000" stAng="16200000" swAng="4352544"/>
                <a:close/>
              </a:path>
            </a:pathLst>
          </a:custGeom>
          <a:solidFill>
            <a:srgbClr val="2E9C6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794735577" name="Text 42"/>
          <p:cNvSpPr/>
          <p:nvPr/>
        </p:nvSpPr>
        <p:spPr bwMode="auto">
          <a:xfrm>
            <a:off x="7442200" y="2941309"/>
            <a:ext cx="414667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E9C6E"/>
                </a:solidFill>
                <a:latin typeface="Carlito"/>
                <a:ea typeface="Carlito"/>
                <a:cs typeface="Carlito"/>
              </a:rPr>
              <a:t>Con xdp_gen si citano P1, P1.5, P2 e P3</a:t>
            </a:r>
            <a:endParaRPr lang="en-US" sz="1400"/>
          </a:p>
        </p:txBody>
      </p:sp>
      <p:sp>
        <p:nvSpPr>
          <p:cNvPr id="1037587850" name="Text 43"/>
          <p:cNvSpPr/>
          <p:nvPr/>
        </p:nvSpPr>
        <p:spPr bwMode="auto">
          <a:xfrm>
            <a:off x="7442200" y="3228318"/>
            <a:ext cx="4146677" cy="45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  <a:defRPr/>
            </a:pPr>
            <a:r>
              <a:rPr lang="en-US" sz="13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116, 125, 293 e 428 ns di CPU, un thread per coda. Baseline ≈ 67 ns: indicativa.</a:t>
            </a:r>
            <a:endParaRPr lang="en-US" sz="1300"/>
          </a:p>
        </p:txBody>
      </p:sp>
      <p:sp>
        <p:nvSpPr>
          <p:cNvPr id="1058785538" name="Shape 44"/>
          <p:cNvSpPr/>
          <p:nvPr/>
        </p:nvSpPr>
        <p:spPr bwMode="auto">
          <a:xfrm>
            <a:off x="7264400" y="3939518"/>
            <a:ext cx="4381500" cy="1099807"/>
          </a:xfrm>
          <a:prstGeom prst="roundRect">
            <a:avLst>
              <a:gd name="adj" fmla="val 11547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20531357" name="Shape 45"/>
          <p:cNvSpPr/>
          <p:nvPr/>
        </p:nvSpPr>
        <p:spPr bwMode="auto">
          <a:xfrm>
            <a:off x="7264400" y="3939518"/>
            <a:ext cx="4381500" cy="88900"/>
          </a:xfrm>
          <a:custGeom>
            <a:avLst/>
            <a:gdLst/>
            <a:ahLst/>
            <a:cxnLst/>
            <a:rect l="l" t="t" r="r" b="b"/>
            <a:pathLst>
              <a:path w="4381500" h="88900" fill="norm" stroke="1" extrusionOk="0">
                <a:moveTo>
                  <a:pt x="5850" y="88900"/>
                </a:moveTo>
                <a:arcTo wR="127000" hR="127000" stAng="11847456" swAng="4352544"/>
                <a:lnTo>
                  <a:pt x="4254500" y="0"/>
                </a:lnTo>
                <a:arcTo wR="127000" hR="127000" stAng="16200000" swAng="4352544"/>
                <a:close/>
              </a:path>
            </a:pathLst>
          </a:cu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049062466" name="Text 46"/>
          <p:cNvSpPr/>
          <p:nvPr/>
        </p:nvSpPr>
        <p:spPr bwMode="auto">
          <a:xfrm>
            <a:off x="7442200" y="4130018"/>
            <a:ext cx="414667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Da dove vengono i ~230 ns</a:t>
            </a:r>
            <a:endParaRPr lang="en-US" sz="1400"/>
          </a:p>
        </p:txBody>
      </p:sp>
      <p:sp>
        <p:nvSpPr>
          <p:cNvPr id="1739680763" name="Text 47"/>
          <p:cNvSpPr/>
          <p:nvPr/>
        </p:nvSpPr>
        <p:spPr bwMode="auto">
          <a:xfrm>
            <a:off x="7442200" y="4417020"/>
            <a:ext cx="4146677" cy="45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  <a:defRPr/>
            </a:pPr>
            <a:r>
              <a:rPr lang="en-US" sz="13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Dalla copia della skb e dal percorso dello stack: il costo del generatore, pagato sul core del nodo.</a:t>
            </a:r>
            <a:endParaRPr lang="en-US" sz="1300"/>
          </a:p>
        </p:txBody>
      </p:sp>
      <p:sp>
        <p:nvSpPr>
          <p:cNvPr id="1701427139" name="Shape 48"/>
          <p:cNvSpPr/>
          <p:nvPr/>
        </p:nvSpPr>
        <p:spPr bwMode="auto">
          <a:xfrm>
            <a:off x="546100" y="5486400"/>
            <a:ext cx="11099800" cy="774700"/>
          </a:xfrm>
          <a:prstGeom prst="roundRect">
            <a:avLst>
              <a:gd name="adj" fmla="val 13115"/>
            </a:avLst>
          </a:prstGeom>
          <a:solidFill>
            <a:srgbClr val="FFF4D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808521586" name="Shape 49"/>
          <p:cNvSpPr/>
          <p:nvPr/>
        </p:nvSpPr>
        <p:spPr bwMode="auto">
          <a:xfrm>
            <a:off x="546100" y="5486400"/>
            <a:ext cx="82550" cy="774700"/>
          </a:xfrm>
          <a:custGeom>
            <a:avLst/>
            <a:gdLst/>
            <a:ahLst/>
            <a:cxnLst/>
            <a:rect l="l" t="t" r="r" b="b"/>
            <a:pathLst>
              <a:path w="82550" h="774700" fill="norm" stroke="1" extrusionOk="0">
                <a:moveTo>
                  <a:pt x="0" y="101600"/>
                </a:moveTo>
                <a:arcTo wR="101600" hR="101600" stAng="10800000" swAng="4751585"/>
                <a:lnTo>
                  <a:pt x="82550" y="772898"/>
                </a:lnTo>
                <a:arcTo wR="101600" hR="101600" stAng="6048415" swAng="4751585"/>
                <a:close/>
              </a:path>
            </a:pathLst>
          </a:custGeom>
          <a:solidFill>
            <a:srgbClr val="F2B134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488972013" name="Text 50"/>
          <p:cNvSpPr/>
          <p:nvPr/>
        </p:nvSpPr>
        <p:spPr bwMode="auto">
          <a:xfrm>
            <a:off x="819150" y="5767058"/>
            <a:ext cx="8762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B57A00"/>
                </a:solidFill>
                <a:latin typeface="Carlito"/>
                <a:ea typeface="Carlito"/>
                <a:cs typeface="Carlito"/>
              </a:rPr>
              <a:t>QUINDI</a:t>
            </a:r>
            <a:endParaRPr lang="en-US" sz="1200"/>
          </a:p>
        </p:txBody>
      </p:sp>
      <p:sp>
        <p:nvSpPr>
          <p:cNvPr id="1844412690" name="Text 51"/>
          <p:cNvSpPr/>
          <p:nvPr/>
        </p:nvSpPr>
        <p:spPr bwMode="auto">
          <a:xfrm>
            <a:off x="1822450" y="5626100"/>
            <a:ext cx="988269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  <a:defRPr/>
            </a:pP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I due generatori </a:t>
            </a: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non si confrontano</a:t>
            </a: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 fra loro: ognuno confronta le pipeline al suo interno. La differenza è il costo del percorso skb.</a:t>
            </a:r>
            <a:endParaRPr lang="en-US" sz="1500"/>
          </a:p>
        </p:txBody>
      </p:sp>
      <p:sp>
        <p:nvSpPr>
          <p:cNvPr id="47309394" name="Text 52"/>
          <p:cNvSpPr/>
          <p:nvPr/>
        </p:nvSpPr>
        <p:spPr bwMode="auto">
          <a:xfrm>
            <a:off x="546100" y="6426200"/>
            <a:ext cx="10072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i="1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pktgen del 28 settembre, xdp_gen del 30 (tempo di CPU) · P1: 340 − 116 = 224 · P1.5: 356 − 125 = 231 · P2: 529 − 293 = 236 · P3: 666 − 428 = 238 ns</a:t>
            </a:r>
            <a:endParaRPr lang="en-US" sz="1200"/>
          </a:p>
        </p:txBody>
      </p:sp>
      <p:sp>
        <p:nvSpPr>
          <p:cNvPr id="1874844399" name="Text 53"/>
          <p:cNvSpPr/>
          <p:nvPr/>
        </p:nvSpPr>
        <p:spPr bwMode="auto">
          <a:xfrm>
            <a:off x="10960099" y="642620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15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676494" name="Shape 0"/>
          <p:cNvSpPr/>
          <p:nvPr/>
        </p:nvSpPr>
        <p:spPr bwMode="auto">
          <a:xfrm>
            <a:off x="0" y="0"/>
            <a:ext cx="12192000" cy="107949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27954917" name="Text 1"/>
          <p:cNvSpPr/>
          <p:nvPr/>
        </p:nvSpPr>
        <p:spPr bwMode="auto">
          <a:xfrm>
            <a:off x="546100" y="330200"/>
            <a:ext cx="114327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5 · LA DOMANDA DEL RELATORE · COME SI MISURA</a:t>
            </a:r>
            <a:endParaRPr lang="en-US" sz="1200"/>
          </a:p>
        </p:txBody>
      </p:sp>
      <p:sp>
        <p:nvSpPr>
          <p:cNvPr id="1831484691" name="Text 2"/>
          <p:cNvSpPr/>
          <p:nvPr/>
        </p:nvSpPr>
        <p:spPr bwMode="auto">
          <a:xfrm>
            <a:off x="546100" y="584200"/>
            <a:ext cx="1143279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30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Due programmi sullo stesso aggancio, tre conteggi</a:t>
            </a:r>
            <a:endParaRPr lang="en-US" sz="3000"/>
          </a:p>
        </p:txBody>
      </p:sp>
      <p:sp>
        <p:nvSpPr>
          <p:cNvPr id="1502651254" name="Text 3"/>
          <p:cNvSpPr/>
          <p:nvPr/>
        </p:nvSpPr>
        <p:spPr bwMode="auto">
          <a:xfrm>
            <a:off x="546100" y="1562100"/>
            <a:ext cx="11432794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  <a:defRPr/>
            </a:pPr>
            <a:r>
              <a:rPr lang="en-US" sz="16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Un'interfaccia porta un solo programma XDP: i due si mettono </a:t>
            </a:r>
            <a:r>
              <a:rPr lang="en-US" sz="16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in catena</a:t>
            </a:r>
            <a:r>
              <a:rPr lang="en-US" sz="16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, con un salto.</a:t>
            </a:r>
            <a:endParaRPr lang="en-US" sz="1600"/>
          </a:p>
        </p:txBody>
      </p:sp>
      <p:sp>
        <p:nvSpPr>
          <p:cNvPr id="501249711" name="Shape 4"/>
          <p:cNvSpPr/>
          <p:nvPr/>
        </p:nvSpPr>
        <p:spPr bwMode="auto">
          <a:xfrm>
            <a:off x="546100" y="2427821"/>
            <a:ext cx="1841500" cy="1940256"/>
          </a:xfrm>
          <a:prstGeom prst="roundRect">
            <a:avLst>
              <a:gd name="adj" fmla="val 6897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196661482" name="Text 5"/>
          <p:cNvSpPr/>
          <p:nvPr/>
        </p:nvSpPr>
        <p:spPr bwMode="auto">
          <a:xfrm>
            <a:off x="660400" y="2554821"/>
            <a:ext cx="16637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Generatore</a:t>
            </a:r>
            <a:endParaRPr lang="en-US" sz="1400"/>
          </a:p>
        </p:txBody>
      </p:sp>
      <p:sp>
        <p:nvSpPr>
          <p:cNvPr id="800237013" name="Text 6"/>
          <p:cNvSpPr/>
          <p:nvPr/>
        </p:nvSpPr>
        <p:spPr bwMode="auto">
          <a:xfrm>
            <a:off x="660400" y="2841823"/>
            <a:ext cx="1663700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  <a:defRPr/>
            </a:pPr>
            <a:r>
              <a:rPr lang="en-US" sz="13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pktgen o xdp_gen</a:t>
            </a:r>
            <a:endParaRPr lang="en-US" sz="1300"/>
          </a:p>
        </p:txBody>
      </p:sp>
      <p:sp>
        <p:nvSpPr>
          <p:cNvPr id="402805141" name="Shape 7"/>
          <p:cNvSpPr/>
          <p:nvPr/>
        </p:nvSpPr>
        <p:spPr bwMode="auto">
          <a:xfrm>
            <a:off x="660400" y="396168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E07A2D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437352815" name="Text 8"/>
          <p:cNvSpPr/>
          <p:nvPr/>
        </p:nvSpPr>
        <p:spPr bwMode="auto">
          <a:xfrm>
            <a:off x="761471" y="3994682"/>
            <a:ext cx="1280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1</a:t>
            </a:r>
            <a:endParaRPr lang="en-US" sz="1200"/>
          </a:p>
        </p:txBody>
      </p:sp>
      <p:sp>
        <p:nvSpPr>
          <p:cNvPr id="673783404" name="Text 9"/>
          <p:cNvSpPr/>
          <p:nvPr/>
        </p:nvSpPr>
        <p:spPr bwMode="auto">
          <a:xfrm>
            <a:off x="1003300" y="3976886"/>
            <a:ext cx="50542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inviati</a:t>
            </a:r>
            <a:endParaRPr lang="en-US" sz="1400"/>
          </a:p>
        </p:txBody>
      </p:sp>
      <p:sp>
        <p:nvSpPr>
          <p:cNvPr id="1389056267" name="Text 10"/>
          <p:cNvSpPr/>
          <p:nvPr/>
        </p:nvSpPr>
        <p:spPr bwMode="auto">
          <a:xfrm>
            <a:off x="2563085" y="3183334"/>
            <a:ext cx="3474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coda</a:t>
            </a:r>
            <a:endParaRPr lang="en-US" sz="1200"/>
          </a:p>
        </p:txBody>
      </p:sp>
      <p:pic>
        <p:nvPicPr>
          <p:cNvPr id="1729172445" name="Image 0" descr="arrow-right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609850" y="3434755"/>
            <a:ext cx="254000" cy="177800"/>
          </a:xfrm>
          <a:prstGeom prst="rect">
            <a:avLst/>
          </a:prstGeom>
        </p:spPr>
      </p:pic>
      <p:sp>
        <p:nvSpPr>
          <p:cNvPr id="1757472348" name="Shape 11"/>
          <p:cNvSpPr/>
          <p:nvPr/>
        </p:nvSpPr>
        <p:spPr bwMode="auto">
          <a:xfrm>
            <a:off x="3095625" y="2437346"/>
            <a:ext cx="5513917" cy="1921206"/>
          </a:xfrm>
          <a:prstGeom prst="roundRect">
            <a:avLst>
              <a:gd name="adj" fmla="val 7437"/>
            </a:avLst>
          </a:prstGeom>
          <a:noFill/>
          <a:ln w="19050">
            <a:solidFill>
              <a:srgbClr val="6B7C93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063425224" name="Text 12"/>
          <p:cNvSpPr/>
          <p:nvPr/>
        </p:nvSpPr>
        <p:spPr bwMode="auto">
          <a:xfrm>
            <a:off x="3138276" y="2533650"/>
            <a:ext cx="54286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un solo aggancio XDP</a:t>
            </a:r>
            <a:endParaRPr lang="en-US" sz="1200"/>
          </a:p>
        </p:txBody>
      </p:sp>
      <p:sp>
        <p:nvSpPr>
          <p:cNvPr id="2140098721" name="Shape 13"/>
          <p:cNvSpPr/>
          <p:nvPr/>
        </p:nvSpPr>
        <p:spPr bwMode="auto">
          <a:xfrm>
            <a:off x="3226858" y="2819995"/>
            <a:ext cx="2139950" cy="1407319"/>
          </a:xfrm>
          <a:prstGeom prst="roundRect">
            <a:avLst>
              <a:gd name="adj" fmla="val 8347"/>
            </a:avLst>
          </a:prstGeom>
          <a:solidFill>
            <a:srgbClr val="FDEBDB"/>
          </a:solidFill>
          <a:ln w="19050">
            <a:solidFill>
              <a:srgbClr val="E07A2D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931931800" name="Text 14"/>
          <p:cNvSpPr/>
          <p:nvPr/>
        </p:nvSpPr>
        <p:spPr bwMode="auto">
          <a:xfrm>
            <a:off x="3329517" y="2935362"/>
            <a:ext cx="1992671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Programma 1</a:t>
            </a:r>
            <a:endParaRPr lang="en-US" sz="1400"/>
          </a:p>
        </p:txBody>
      </p:sp>
      <p:sp>
        <p:nvSpPr>
          <p:cNvPr id="91826709" name="Text 15"/>
          <p:cNvSpPr/>
          <p:nvPr/>
        </p:nvSpPr>
        <p:spPr bwMode="auto">
          <a:xfrm>
            <a:off x="3329517" y="3222365"/>
            <a:ext cx="1992671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  <a:defRPr/>
            </a:pPr>
            <a:r>
              <a:rPr lang="en-US" sz="13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conta e basta</a:t>
            </a:r>
            <a:endParaRPr lang="en-US" sz="1300"/>
          </a:p>
        </p:txBody>
      </p:sp>
      <p:sp>
        <p:nvSpPr>
          <p:cNvPr id="1191179001" name="Shape 16"/>
          <p:cNvSpPr/>
          <p:nvPr/>
        </p:nvSpPr>
        <p:spPr bwMode="auto">
          <a:xfrm>
            <a:off x="3329517" y="3466840"/>
            <a:ext cx="1457985" cy="289520"/>
          </a:xfrm>
          <a:prstGeom prst="roundRect">
            <a:avLst>
              <a:gd name="adj" fmla="val 21933"/>
            </a:avLst>
          </a:prstGeom>
          <a:solidFill>
            <a:srgbClr val="1E2733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467512178" name="Text 17"/>
          <p:cNvSpPr/>
          <p:nvPr/>
        </p:nvSpPr>
        <p:spPr bwMode="auto">
          <a:xfrm>
            <a:off x="3418417" y="3504940"/>
            <a:ext cx="13309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E8ECF1"/>
                </a:solidFill>
                <a:latin typeface="JetBrains Mono"/>
                <a:ea typeface="JetBrains Mono"/>
                <a:cs typeface="JetBrains Mono"/>
              </a:rPr>
              <a:t>ing_count += 1</a:t>
            </a:r>
            <a:endParaRPr lang="en-US" sz="1200"/>
          </a:p>
        </p:txBody>
      </p:sp>
      <p:sp>
        <p:nvSpPr>
          <p:cNvPr id="1191820074" name="Shape 18"/>
          <p:cNvSpPr/>
          <p:nvPr/>
        </p:nvSpPr>
        <p:spPr bwMode="auto">
          <a:xfrm>
            <a:off x="3329517" y="3832560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E07A2D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74362551" name="Text 19"/>
          <p:cNvSpPr/>
          <p:nvPr/>
        </p:nvSpPr>
        <p:spPr bwMode="auto">
          <a:xfrm>
            <a:off x="3430588" y="3865563"/>
            <a:ext cx="1280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2</a:t>
            </a:r>
            <a:endParaRPr lang="en-US" sz="1200"/>
          </a:p>
        </p:txBody>
      </p:sp>
      <p:sp>
        <p:nvSpPr>
          <p:cNvPr id="1670381494" name="Text 20"/>
          <p:cNvSpPr/>
          <p:nvPr/>
        </p:nvSpPr>
        <p:spPr bwMode="auto">
          <a:xfrm>
            <a:off x="3672417" y="3847778"/>
            <a:ext cx="604374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ricevuti</a:t>
            </a:r>
            <a:endParaRPr lang="en-US" sz="1400"/>
          </a:p>
        </p:txBody>
      </p:sp>
      <p:sp>
        <p:nvSpPr>
          <p:cNvPr id="1084961673" name="Text 21"/>
          <p:cNvSpPr/>
          <p:nvPr/>
        </p:nvSpPr>
        <p:spPr bwMode="auto">
          <a:xfrm>
            <a:off x="5551422" y="3309020"/>
            <a:ext cx="3483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salto</a:t>
            </a:r>
            <a:endParaRPr lang="en-US" sz="1200"/>
          </a:p>
        </p:txBody>
      </p:sp>
      <p:pic>
        <p:nvPicPr>
          <p:cNvPr id="461268320" name="Image 1" descr="arrow-right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598583" y="3560440"/>
            <a:ext cx="254000" cy="177800"/>
          </a:xfrm>
          <a:prstGeom prst="rect">
            <a:avLst/>
          </a:prstGeom>
        </p:spPr>
      </p:pic>
      <p:sp>
        <p:nvSpPr>
          <p:cNvPr id="80165458" name="Shape 22"/>
          <p:cNvSpPr/>
          <p:nvPr/>
        </p:nvSpPr>
        <p:spPr bwMode="auto">
          <a:xfrm>
            <a:off x="6074833" y="2810470"/>
            <a:ext cx="2413000" cy="1426369"/>
          </a:xfrm>
          <a:prstGeom prst="roundRect">
            <a:avLst>
              <a:gd name="adj" fmla="val 8904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42019473" name="Text 23"/>
          <p:cNvSpPr/>
          <p:nvPr/>
        </p:nvSpPr>
        <p:spPr bwMode="auto">
          <a:xfrm>
            <a:off x="6189133" y="2937470"/>
            <a:ext cx="224993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Programma 2</a:t>
            </a:r>
            <a:endParaRPr lang="en-US" sz="1400"/>
          </a:p>
        </p:txBody>
      </p:sp>
      <p:sp>
        <p:nvSpPr>
          <p:cNvPr id="670639941" name="Text 24"/>
          <p:cNvSpPr/>
          <p:nvPr/>
        </p:nvSpPr>
        <p:spPr bwMode="auto">
          <a:xfrm>
            <a:off x="6189133" y="3224485"/>
            <a:ext cx="2249932" cy="438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  <a:defRPr/>
            </a:pPr>
            <a:r>
              <a:rPr lang="en-US" sz="13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la pipeline: baseline, P1, P1.5, P2 o P3</a:t>
            </a:r>
            <a:endParaRPr lang="en-US" sz="1300"/>
          </a:p>
        </p:txBody>
      </p:sp>
      <p:sp>
        <p:nvSpPr>
          <p:cNvPr id="1931531702" name="Text 25"/>
          <p:cNvSpPr/>
          <p:nvPr/>
        </p:nvSpPr>
        <p:spPr bwMode="auto">
          <a:xfrm>
            <a:off x="8700691" y="3183334"/>
            <a:ext cx="5352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redirect</a:t>
            </a:r>
            <a:endParaRPr lang="en-US" sz="1200"/>
          </a:p>
        </p:txBody>
      </p:sp>
      <p:pic>
        <p:nvPicPr>
          <p:cNvPr id="1508502833" name="Image 2" descr="arrow-right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841317" y="3434755"/>
            <a:ext cx="254000" cy="177800"/>
          </a:xfrm>
          <a:prstGeom prst="rect">
            <a:avLst/>
          </a:prstGeom>
        </p:spPr>
      </p:pic>
      <p:sp>
        <p:nvSpPr>
          <p:cNvPr id="752483824" name="Shape 26"/>
          <p:cNvSpPr/>
          <p:nvPr/>
        </p:nvSpPr>
        <p:spPr bwMode="auto">
          <a:xfrm>
            <a:off x="9317567" y="2427821"/>
            <a:ext cx="1841500" cy="1940256"/>
          </a:xfrm>
          <a:prstGeom prst="roundRect">
            <a:avLst>
              <a:gd name="adj" fmla="val 6897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83320654" name="Text 27"/>
          <p:cNvSpPr/>
          <p:nvPr/>
        </p:nvSpPr>
        <p:spPr bwMode="auto">
          <a:xfrm>
            <a:off x="9431867" y="2554821"/>
            <a:ext cx="16637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Nodo successivo</a:t>
            </a:r>
            <a:endParaRPr lang="en-US" sz="1400"/>
          </a:p>
        </p:txBody>
      </p:sp>
      <p:sp>
        <p:nvSpPr>
          <p:cNvPr id="585442274" name="Text 28"/>
          <p:cNvSpPr/>
          <p:nvPr/>
        </p:nvSpPr>
        <p:spPr bwMode="auto">
          <a:xfrm>
            <a:off x="9431867" y="2841823"/>
            <a:ext cx="1663700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  <a:defRPr/>
            </a:pPr>
            <a:r>
              <a:rPr lang="en-US" sz="13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conta gli arrivi</a:t>
            </a:r>
            <a:endParaRPr lang="en-US" sz="1300"/>
          </a:p>
        </p:txBody>
      </p:sp>
      <p:sp>
        <p:nvSpPr>
          <p:cNvPr id="1255154879" name="Shape 29"/>
          <p:cNvSpPr/>
          <p:nvPr/>
        </p:nvSpPr>
        <p:spPr bwMode="auto">
          <a:xfrm>
            <a:off x="9431867" y="396168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E07A2D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462855382" name="Text 30"/>
          <p:cNvSpPr/>
          <p:nvPr/>
        </p:nvSpPr>
        <p:spPr bwMode="auto">
          <a:xfrm>
            <a:off x="9532938" y="3994682"/>
            <a:ext cx="1280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3</a:t>
            </a:r>
            <a:endParaRPr lang="en-US" sz="1200"/>
          </a:p>
        </p:txBody>
      </p:sp>
      <p:sp>
        <p:nvSpPr>
          <p:cNvPr id="1876427376" name="Text 31"/>
          <p:cNvSpPr/>
          <p:nvPr/>
        </p:nvSpPr>
        <p:spPr bwMode="auto">
          <a:xfrm>
            <a:off x="9774767" y="3976886"/>
            <a:ext cx="6402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inoltrati</a:t>
            </a:r>
            <a:endParaRPr lang="en-US" sz="1400"/>
          </a:p>
        </p:txBody>
      </p:sp>
      <p:sp>
        <p:nvSpPr>
          <p:cNvPr id="735021578" name="Shape 32"/>
          <p:cNvSpPr/>
          <p:nvPr/>
        </p:nvSpPr>
        <p:spPr bwMode="auto">
          <a:xfrm>
            <a:off x="546100" y="4969669"/>
            <a:ext cx="3598333" cy="1291431"/>
          </a:xfrm>
          <a:prstGeom prst="roundRect">
            <a:avLst>
              <a:gd name="adj" fmla="val 9834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36901996" name="Shape 33"/>
          <p:cNvSpPr/>
          <p:nvPr/>
        </p:nvSpPr>
        <p:spPr bwMode="auto">
          <a:xfrm>
            <a:off x="546100" y="4969669"/>
            <a:ext cx="3598333" cy="88900"/>
          </a:xfrm>
          <a:custGeom>
            <a:avLst/>
            <a:gdLst/>
            <a:ahLst/>
            <a:cxnLst/>
            <a:rect l="l" t="t" r="r" b="b"/>
            <a:pathLst>
              <a:path w="3598333" h="88900" fill="norm" stroke="1" extrusionOk="0">
                <a:moveTo>
                  <a:pt x="5850" y="88900"/>
                </a:moveTo>
                <a:arcTo wR="127000" hR="127000" stAng="11847456" swAng="4352544"/>
                <a:lnTo>
                  <a:pt x="3471333" y="0"/>
                </a:lnTo>
                <a:arcTo wR="127000" hR="127000" stAng="16200000" swAng="4352544"/>
                <a:close/>
              </a:path>
            </a:pathLst>
          </a:custGeom>
          <a:solidFill>
            <a:srgbClr val="E07A2D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63378961" name="Text 34"/>
          <p:cNvSpPr/>
          <p:nvPr/>
        </p:nvSpPr>
        <p:spPr bwMode="auto">
          <a:xfrm>
            <a:off x="723900" y="5172869"/>
            <a:ext cx="334001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0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inviati − ricevuti</a:t>
            </a:r>
            <a:endParaRPr lang="en-US" sz="2000"/>
          </a:p>
        </p:txBody>
      </p:sp>
      <p:sp>
        <p:nvSpPr>
          <p:cNvPr id="996557132" name="Text 35"/>
          <p:cNvSpPr/>
          <p:nvPr/>
        </p:nvSpPr>
        <p:spPr bwMode="auto">
          <a:xfrm>
            <a:off x="723900" y="5566569"/>
            <a:ext cx="334001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= persi </a:t>
            </a: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prima</a:t>
            </a: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 del programma</a:t>
            </a:r>
            <a:endParaRPr lang="en-US" sz="1500"/>
          </a:p>
        </p:txBody>
      </p:sp>
      <p:sp>
        <p:nvSpPr>
          <p:cNvPr id="802310770" name="Text 36"/>
          <p:cNvSpPr/>
          <p:nvPr/>
        </p:nvSpPr>
        <p:spPr bwMode="auto">
          <a:xfrm>
            <a:off x="723900" y="5871369"/>
            <a:ext cx="3340014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respinti dalla coda d'ingresso</a:t>
            </a:r>
            <a:endParaRPr lang="en-US" sz="1300"/>
          </a:p>
        </p:txBody>
      </p:sp>
      <p:sp>
        <p:nvSpPr>
          <p:cNvPr id="1539620471" name="Shape 37"/>
          <p:cNvSpPr/>
          <p:nvPr/>
        </p:nvSpPr>
        <p:spPr bwMode="auto">
          <a:xfrm>
            <a:off x="4296833" y="4969669"/>
            <a:ext cx="3598333" cy="1291431"/>
          </a:xfrm>
          <a:prstGeom prst="roundRect">
            <a:avLst>
              <a:gd name="adj" fmla="val 9834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760899558" name="Shape 38"/>
          <p:cNvSpPr/>
          <p:nvPr/>
        </p:nvSpPr>
        <p:spPr bwMode="auto">
          <a:xfrm>
            <a:off x="4296833" y="4969669"/>
            <a:ext cx="3598333" cy="88900"/>
          </a:xfrm>
          <a:custGeom>
            <a:avLst/>
            <a:gdLst/>
            <a:ahLst/>
            <a:cxnLst/>
            <a:rect l="l" t="t" r="r" b="b"/>
            <a:pathLst>
              <a:path w="3598333" h="88900" fill="norm" stroke="1" extrusionOk="0">
                <a:moveTo>
                  <a:pt x="5850" y="88900"/>
                </a:moveTo>
                <a:arcTo wR="127000" hR="127000" stAng="11847456" swAng="4352544"/>
                <a:lnTo>
                  <a:pt x="3471333" y="0"/>
                </a:lnTo>
                <a:arcTo wR="127000" hR="127000" stAng="16200000" swAng="4352544"/>
                <a:close/>
              </a:path>
            </a:pathLst>
          </a:custGeom>
          <a:solidFill>
            <a:srgbClr val="2E9C6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23942103" name="Text 39"/>
          <p:cNvSpPr/>
          <p:nvPr/>
        </p:nvSpPr>
        <p:spPr bwMode="auto">
          <a:xfrm>
            <a:off x="4474633" y="5172869"/>
            <a:ext cx="334001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0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ricevuti − inoltrati</a:t>
            </a:r>
            <a:endParaRPr lang="en-US" sz="2000"/>
          </a:p>
        </p:txBody>
      </p:sp>
      <p:sp>
        <p:nvSpPr>
          <p:cNvPr id="336036575" name="Text 40"/>
          <p:cNvSpPr/>
          <p:nvPr/>
        </p:nvSpPr>
        <p:spPr bwMode="auto">
          <a:xfrm>
            <a:off x="4474633" y="5566569"/>
            <a:ext cx="334001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= persi </a:t>
            </a: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dopo</a:t>
            </a: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 il programma</a:t>
            </a:r>
            <a:endParaRPr lang="en-US" sz="1500"/>
          </a:p>
        </p:txBody>
      </p:sp>
      <p:sp>
        <p:nvSpPr>
          <p:cNvPr id="173621689" name="Text 41"/>
          <p:cNvSpPr/>
          <p:nvPr/>
        </p:nvSpPr>
        <p:spPr bwMode="auto">
          <a:xfrm>
            <a:off x="4474633" y="5871369"/>
            <a:ext cx="3340014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o decisioni del modello (scarta)</a:t>
            </a:r>
            <a:endParaRPr lang="en-US" sz="1300"/>
          </a:p>
        </p:txBody>
      </p:sp>
      <p:sp>
        <p:nvSpPr>
          <p:cNvPr id="590517771" name="Shape 42"/>
          <p:cNvSpPr/>
          <p:nvPr/>
        </p:nvSpPr>
        <p:spPr bwMode="auto">
          <a:xfrm>
            <a:off x="8047567" y="4969669"/>
            <a:ext cx="3598333" cy="1291431"/>
          </a:xfrm>
          <a:prstGeom prst="roundRect">
            <a:avLst>
              <a:gd name="adj" fmla="val 9834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473241189" name="Shape 43"/>
          <p:cNvSpPr/>
          <p:nvPr/>
        </p:nvSpPr>
        <p:spPr bwMode="auto">
          <a:xfrm>
            <a:off x="8047567" y="4969669"/>
            <a:ext cx="3598333" cy="88900"/>
          </a:xfrm>
          <a:custGeom>
            <a:avLst/>
            <a:gdLst/>
            <a:ahLst/>
            <a:cxnLst/>
            <a:rect l="l" t="t" r="r" b="b"/>
            <a:pathLst>
              <a:path w="3598333" h="88900" fill="norm" stroke="1" extrusionOk="0">
                <a:moveTo>
                  <a:pt x="5850" y="88900"/>
                </a:moveTo>
                <a:arcTo wR="127000" hR="127000" stAng="11847456" swAng="4352544"/>
                <a:lnTo>
                  <a:pt x="3471333" y="0"/>
                </a:lnTo>
                <a:arcTo wR="127000" hR="127000" stAng="16200000" swAng="4352544"/>
                <a:close/>
              </a:path>
            </a:pathLst>
          </a:cu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29668951" name="Text 44"/>
          <p:cNvSpPr/>
          <p:nvPr/>
        </p:nvSpPr>
        <p:spPr bwMode="auto">
          <a:xfrm>
            <a:off x="8225367" y="5172869"/>
            <a:ext cx="334001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rxonly = il solo programma 1</a:t>
            </a:r>
            <a:endParaRPr lang="en-US" sz="1500"/>
          </a:p>
        </p:txBody>
      </p:sp>
      <p:sp>
        <p:nvSpPr>
          <p:cNvPr id="1929743973" name="Text 45"/>
          <p:cNvSpPr/>
          <p:nvPr/>
        </p:nvSpPr>
        <p:spPr bwMode="auto">
          <a:xfrm>
            <a:off x="8225367" y="5477669"/>
            <a:ext cx="3340014" cy="669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  <a:defRPr/>
            </a:pPr>
            <a:r>
              <a:rPr lang="en-US" sz="13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Dice quanto regge la sola ricezione allo stesso ritmo. Il programma 1 costa fino a +5 ns: dentro il rumore.</a:t>
            </a:r>
            <a:endParaRPr lang="en-US" sz="1300"/>
          </a:p>
        </p:txBody>
      </p:sp>
      <p:sp>
        <p:nvSpPr>
          <p:cNvPr id="1942178308" name="Text 46"/>
          <p:cNvSpPr/>
          <p:nvPr/>
        </p:nvSpPr>
        <p:spPr bwMode="auto">
          <a:xfrm>
            <a:off x="546100" y="6426200"/>
            <a:ext cx="10072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i="1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Il salto è la tail call che le pipeline già usano · costo del programma 1 misurato con le statistiche del kernel</a:t>
            </a:r>
            <a:endParaRPr lang="en-US" sz="1200"/>
          </a:p>
        </p:txBody>
      </p:sp>
      <p:sp>
        <p:nvSpPr>
          <p:cNvPr id="308181973" name="Text 47"/>
          <p:cNvSpPr/>
          <p:nvPr/>
        </p:nvSpPr>
        <p:spPr bwMode="auto">
          <a:xfrm>
            <a:off x="10960099" y="642620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16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278033" name="Shape 0"/>
          <p:cNvSpPr/>
          <p:nvPr/>
        </p:nvSpPr>
        <p:spPr bwMode="auto">
          <a:xfrm>
            <a:off x="0" y="0"/>
            <a:ext cx="12192000" cy="107949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07587942" name="Text 1"/>
          <p:cNvSpPr/>
          <p:nvPr/>
        </p:nvSpPr>
        <p:spPr bwMode="auto">
          <a:xfrm>
            <a:off x="546100" y="330200"/>
            <a:ext cx="114327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5 · LA DOMANDA DEL RELATORE · COME SI LEGGE</a:t>
            </a:r>
            <a:endParaRPr lang="en-US" sz="1200"/>
          </a:p>
        </p:txBody>
      </p:sp>
      <p:sp>
        <p:nvSpPr>
          <p:cNvPr id="1546599962" name="Text 2"/>
          <p:cNvSpPr/>
          <p:nvPr/>
        </p:nvSpPr>
        <p:spPr bwMode="auto">
          <a:xfrm>
            <a:off x="546100" y="584200"/>
            <a:ext cx="1143279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30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Dove mancano i pacchetti indica il collo di bottiglia</a:t>
            </a:r>
            <a:endParaRPr lang="en-US" sz="3000"/>
          </a:p>
        </p:txBody>
      </p:sp>
      <p:sp>
        <p:nvSpPr>
          <p:cNvPr id="1701456581" name="Text 3"/>
          <p:cNvSpPr/>
          <p:nvPr/>
        </p:nvSpPr>
        <p:spPr bwMode="auto">
          <a:xfrm>
            <a:off x="546100" y="1562100"/>
            <a:ext cx="11432794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  <a:defRPr/>
            </a:pPr>
            <a:r>
              <a:rPr lang="en-US" sz="16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Un programma XDP non ha una coda sua: se è lento, si riempie la coda che sta </a:t>
            </a:r>
            <a:r>
              <a:rPr lang="en-US" sz="16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davanti</a:t>
            </a:r>
            <a:r>
              <a:rPr lang="en-US" sz="16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 a lui.</a:t>
            </a:r>
            <a:endParaRPr lang="en-US" sz="1600"/>
          </a:p>
        </p:txBody>
      </p:sp>
      <p:sp>
        <p:nvSpPr>
          <p:cNvPr id="524893936" name="Shape 4"/>
          <p:cNvSpPr/>
          <p:nvPr/>
        </p:nvSpPr>
        <p:spPr bwMode="auto">
          <a:xfrm>
            <a:off x="546100" y="2270658"/>
            <a:ext cx="4883348" cy="1038754"/>
          </a:xfrm>
          <a:prstGeom prst="roundRect">
            <a:avLst>
              <a:gd name="adj" fmla="val 12226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93685201" name="Text 5"/>
          <p:cNvSpPr/>
          <p:nvPr/>
        </p:nvSpPr>
        <p:spPr bwMode="auto">
          <a:xfrm>
            <a:off x="723900" y="2384958"/>
            <a:ext cx="466358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SI OSSERVA</a:t>
            </a:r>
            <a:endParaRPr lang="en-US" sz="1200"/>
          </a:p>
        </p:txBody>
      </p:sp>
      <p:sp>
        <p:nvSpPr>
          <p:cNvPr id="734267060" name="Text 6"/>
          <p:cNvSpPr/>
          <p:nvPr/>
        </p:nvSpPr>
        <p:spPr bwMode="auto">
          <a:xfrm>
            <a:off x="723900" y="2623679"/>
            <a:ext cx="4663581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  <a:defRPr/>
            </a:pPr>
            <a:r>
              <a:rPr lang="en-US" sz="17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inviati &gt; ricevuti</a:t>
            </a:r>
            <a:endParaRPr lang="en-US" sz="1700"/>
          </a:p>
        </p:txBody>
      </p:sp>
      <p:sp>
        <p:nvSpPr>
          <p:cNvPr id="319559885" name="Text 7"/>
          <p:cNvSpPr/>
          <p:nvPr/>
        </p:nvSpPr>
        <p:spPr bwMode="auto">
          <a:xfrm>
            <a:off x="723900" y="2951299"/>
            <a:ext cx="4663581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mancano pacchetti prima di XDP</a:t>
            </a:r>
            <a:endParaRPr lang="en-US" sz="1300"/>
          </a:p>
        </p:txBody>
      </p:sp>
      <p:pic>
        <p:nvPicPr>
          <p:cNvPr id="1104291401" name="Image 0" descr="arrow-right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518348" y="2701131"/>
            <a:ext cx="254000" cy="177800"/>
          </a:xfrm>
          <a:prstGeom prst="rect">
            <a:avLst/>
          </a:prstGeom>
        </p:spPr>
      </p:pic>
      <p:sp>
        <p:nvSpPr>
          <p:cNvPr id="1333745996" name="Shape 8"/>
          <p:cNvSpPr/>
          <p:nvPr/>
        </p:nvSpPr>
        <p:spPr bwMode="auto">
          <a:xfrm>
            <a:off x="5870773" y="2280183"/>
            <a:ext cx="5765602" cy="1019703"/>
          </a:xfrm>
          <a:prstGeom prst="roundRect">
            <a:avLst>
              <a:gd name="adj" fmla="val 11521"/>
            </a:avLst>
          </a:prstGeom>
          <a:solidFill>
            <a:srgbClr val="FFFFFF"/>
          </a:solidFill>
          <a:ln w="19050">
            <a:solidFill>
              <a:srgbClr val="E07A2D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90623587" name="Text 9"/>
          <p:cNvSpPr/>
          <p:nvPr/>
        </p:nvSpPr>
        <p:spPr bwMode="auto">
          <a:xfrm>
            <a:off x="6036932" y="2382838"/>
            <a:ext cx="55962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VUOL DIRE</a:t>
            </a:r>
            <a:endParaRPr lang="en-US" sz="1200"/>
          </a:p>
        </p:txBody>
      </p:sp>
      <p:sp>
        <p:nvSpPr>
          <p:cNvPr id="1748506692" name="Text 10"/>
          <p:cNvSpPr/>
          <p:nvPr/>
        </p:nvSpPr>
        <p:spPr bwMode="auto">
          <a:xfrm>
            <a:off x="6036932" y="2621558"/>
            <a:ext cx="5596284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  <a:defRPr/>
            </a:pP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La coda d'ingresso è piena: il collo di bottiglia è </a:t>
            </a: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il programma</a:t>
            </a: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 (o la sola ricezione: lo separa rxonly).</a:t>
            </a:r>
            <a:endParaRPr lang="en-US" sz="1500"/>
          </a:p>
        </p:txBody>
      </p:sp>
      <p:sp>
        <p:nvSpPr>
          <p:cNvPr id="1407940152" name="Shape 11"/>
          <p:cNvSpPr/>
          <p:nvPr/>
        </p:nvSpPr>
        <p:spPr bwMode="auto">
          <a:xfrm>
            <a:off x="546100" y="3753842"/>
            <a:ext cx="5043025" cy="1535774"/>
          </a:xfrm>
          <a:prstGeom prst="roundRect">
            <a:avLst>
              <a:gd name="adj" fmla="val 8269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36195779" name="Text 12"/>
          <p:cNvSpPr/>
          <p:nvPr/>
        </p:nvSpPr>
        <p:spPr bwMode="auto">
          <a:xfrm>
            <a:off x="723900" y="4017640"/>
            <a:ext cx="482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SI OSSERVA</a:t>
            </a:r>
            <a:endParaRPr lang="en-US" sz="1200"/>
          </a:p>
        </p:txBody>
      </p:sp>
      <p:sp>
        <p:nvSpPr>
          <p:cNvPr id="509483718" name="Text 13"/>
          <p:cNvSpPr/>
          <p:nvPr/>
        </p:nvSpPr>
        <p:spPr bwMode="auto">
          <a:xfrm>
            <a:off x="723900" y="4256360"/>
            <a:ext cx="4828047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  <a:defRPr/>
            </a:pPr>
            <a:r>
              <a:rPr lang="en-US" sz="17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ricevuti &gt; inoltrati</a:t>
            </a:r>
            <a:endParaRPr lang="en-US" sz="1700"/>
          </a:p>
        </p:txBody>
      </p:sp>
      <p:sp>
        <p:nvSpPr>
          <p:cNvPr id="1212135264" name="Text 14"/>
          <p:cNvSpPr/>
          <p:nvPr/>
        </p:nvSpPr>
        <p:spPr bwMode="auto">
          <a:xfrm>
            <a:off x="723900" y="4583981"/>
            <a:ext cx="4828047" cy="45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  <a:defRPr/>
            </a:pPr>
            <a:r>
              <a:rPr lang="en-US" sz="13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al nodo successivo ne arrivano meno: si guarda che cosa aveva deciso il programma</a:t>
            </a:r>
            <a:endParaRPr lang="en-US" sz="1300"/>
          </a:p>
        </p:txBody>
      </p:sp>
      <p:pic>
        <p:nvPicPr>
          <p:cNvPr id="788636605" name="Image 1" descr="arrow-right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678025" y="4432833"/>
            <a:ext cx="254000" cy="177800"/>
          </a:xfrm>
          <a:prstGeom prst="rect">
            <a:avLst/>
          </a:prstGeom>
        </p:spPr>
      </p:pic>
      <p:sp>
        <p:nvSpPr>
          <p:cNvPr id="668576566" name="Shape 15"/>
          <p:cNvSpPr/>
          <p:nvPr/>
        </p:nvSpPr>
        <p:spPr bwMode="auto">
          <a:xfrm>
            <a:off x="6030450" y="3763367"/>
            <a:ext cx="5605926" cy="704387"/>
          </a:xfrm>
          <a:prstGeom prst="roundRect">
            <a:avLst>
              <a:gd name="adj" fmla="val 16678"/>
            </a:avLst>
          </a:prstGeom>
          <a:solidFill>
            <a:srgbClr val="FFFFFF"/>
          </a:solidFill>
          <a:ln w="19050">
            <a:solidFill>
              <a:srgbClr val="2E9C6E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825190217" name="Text 16"/>
          <p:cNvSpPr/>
          <p:nvPr/>
        </p:nvSpPr>
        <p:spPr bwMode="auto">
          <a:xfrm>
            <a:off x="6196607" y="3866034"/>
            <a:ext cx="54318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2E9C6E"/>
                </a:solidFill>
                <a:latin typeface="Carlito"/>
                <a:ea typeface="Carlito"/>
                <a:cs typeface="Carlito"/>
              </a:rPr>
              <a:t>SE AVEVA DECISO DI INOLTRARE</a:t>
            </a:r>
            <a:endParaRPr lang="en-US" sz="1200"/>
          </a:p>
        </p:txBody>
      </p:sp>
      <p:sp>
        <p:nvSpPr>
          <p:cNvPr id="1130598826" name="Text 17"/>
          <p:cNvSpPr/>
          <p:nvPr/>
        </p:nvSpPr>
        <p:spPr bwMode="auto">
          <a:xfrm>
            <a:off x="6196607" y="4104754"/>
            <a:ext cx="543181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  <a:defRPr/>
            </a:pP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Il pacchetto non è arrivato: il collo di bottiglia è </a:t>
            </a: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la trasmissione</a:t>
            </a: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.</a:t>
            </a:r>
            <a:endParaRPr lang="en-US" sz="1500"/>
          </a:p>
        </p:txBody>
      </p:sp>
      <p:sp>
        <p:nvSpPr>
          <p:cNvPr id="1976015038" name="Shape 18"/>
          <p:cNvSpPr/>
          <p:nvPr/>
        </p:nvSpPr>
        <p:spPr bwMode="auto">
          <a:xfrm>
            <a:off x="6030450" y="4575708"/>
            <a:ext cx="5605926" cy="704387"/>
          </a:xfrm>
          <a:prstGeom prst="roundRect">
            <a:avLst>
              <a:gd name="adj" fmla="val 16678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714328207" name="Text 19"/>
          <p:cNvSpPr/>
          <p:nvPr/>
        </p:nvSpPr>
        <p:spPr bwMode="auto">
          <a:xfrm>
            <a:off x="6196607" y="4678363"/>
            <a:ext cx="54318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SE AVEVA DECISO DI SCARTARE (O NON USATA)</a:t>
            </a:r>
            <a:endParaRPr lang="en-US" sz="1200"/>
          </a:p>
        </p:txBody>
      </p:sp>
      <p:sp>
        <p:nvSpPr>
          <p:cNvPr id="283104236" name="Text 20"/>
          <p:cNvSpPr/>
          <p:nvPr/>
        </p:nvSpPr>
        <p:spPr bwMode="auto">
          <a:xfrm>
            <a:off x="6196607" y="4917083"/>
            <a:ext cx="543181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  <a:defRPr/>
            </a:pP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Non è una perdita: è </a:t>
            </a: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una decisione</a:t>
            </a: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 della rete neurale.</a:t>
            </a:r>
            <a:endParaRPr lang="en-US" sz="1500"/>
          </a:p>
        </p:txBody>
      </p:sp>
      <p:sp>
        <p:nvSpPr>
          <p:cNvPr id="1717949444" name="Shape 21"/>
          <p:cNvSpPr/>
          <p:nvPr/>
        </p:nvSpPr>
        <p:spPr bwMode="auto">
          <a:xfrm>
            <a:off x="546100" y="5734050"/>
            <a:ext cx="11099800" cy="527050"/>
          </a:xfrm>
          <a:prstGeom prst="roundRect">
            <a:avLst>
              <a:gd name="adj" fmla="val 19277"/>
            </a:avLst>
          </a:prstGeom>
          <a:solidFill>
            <a:srgbClr val="FFF4D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790517019" name="Shape 22"/>
          <p:cNvSpPr/>
          <p:nvPr/>
        </p:nvSpPr>
        <p:spPr bwMode="auto">
          <a:xfrm>
            <a:off x="546100" y="5734050"/>
            <a:ext cx="82550" cy="527050"/>
          </a:xfrm>
          <a:custGeom>
            <a:avLst/>
            <a:gdLst/>
            <a:ahLst/>
            <a:cxnLst/>
            <a:rect l="l" t="t" r="r" b="b"/>
            <a:pathLst>
              <a:path w="82550" h="527050" fill="norm" stroke="1" extrusionOk="0">
                <a:moveTo>
                  <a:pt x="0" y="101600"/>
                </a:moveTo>
                <a:arcTo wR="101600" hR="101600" stAng="10800000" swAng="4751585"/>
                <a:lnTo>
                  <a:pt x="82550" y="525248"/>
                </a:lnTo>
                <a:arcTo wR="101600" hR="101600" stAng="6048415" swAng="4751585"/>
                <a:close/>
              </a:path>
            </a:pathLst>
          </a:custGeom>
          <a:solidFill>
            <a:srgbClr val="F2B134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961444520" name="Text 23"/>
          <p:cNvSpPr/>
          <p:nvPr/>
        </p:nvSpPr>
        <p:spPr bwMode="auto">
          <a:xfrm>
            <a:off x="819150" y="5890890"/>
            <a:ext cx="8762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B57A00"/>
                </a:solidFill>
                <a:latin typeface="Carlito"/>
                <a:ea typeface="Carlito"/>
                <a:cs typeface="Carlito"/>
              </a:rPr>
              <a:t>QUINDI</a:t>
            </a:r>
            <a:endParaRPr lang="en-US" sz="1200"/>
          </a:p>
        </p:txBody>
      </p:sp>
      <p:sp>
        <p:nvSpPr>
          <p:cNvPr id="676002854" name="Text 24"/>
          <p:cNvSpPr/>
          <p:nvPr/>
        </p:nvSpPr>
        <p:spPr bwMode="auto">
          <a:xfrm>
            <a:off x="1822450" y="5873750"/>
            <a:ext cx="988269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  <a:defRPr/>
            </a:pP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Tre conteggi più le decisioni del programma separano </a:t>
            </a: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tre casi</a:t>
            </a: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 che altrimenti sembrerebbero uguali.</a:t>
            </a:r>
            <a:endParaRPr lang="en-US" sz="1500"/>
          </a:p>
        </p:txBody>
      </p:sp>
      <p:sp>
        <p:nvSpPr>
          <p:cNvPr id="1796943261" name="Text 25"/>
          <p:cNvSpPr/>
          <p:nvPr/>
        </p:nvSpPr>
        <p:spPr bwMode="auto">
          <a:xfrm>
            <a:off x="546100" y="6426200"/>
            <a:ext cx="10072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i="1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Inviati: generatore · ricevuti: programma 1 · inoltrati: nodo successivo · decisioni: contatori della pipeline (HIT, MISS, DROP)</a:t>
            </a:r>
            <a:endParaRPr lang="en-US" sz="1200"/>
          </a:p>
        </p:txBody>
      </p:sp>
      <p:sp>
        <p:nvSpPr>
          <p:cNvPr id="816164744" name="Text 26"/>
          <p:cNvSpPr/>
          <p:nvPr/>
        </p:nvSpPr>
        <p:spPr bwMode="auto">
          <a:xfrm>
            <a:off x="10960099" y="642620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17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205395" name="Shape 0"/>
          <p:cNvSpPr/>
          <p:nvPr/>
        </p:nvSpPr>
        <p:spPr bwMode="auto">
          <a:xfrm>
            <a:off x="0" y="0"/>
            <a:ext cx="12192000" cy="107949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048542884" name="Text 1"/>
          <p:cNvSpPr/>
          <p:nvPr/>
        </p:nvSpPr>
        <p:spPr bwMode="auto">
          <a:xfrm>
            <a:off x="546100" y="330200"/>
            <a:ext cx="114327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5 · LA DOMANDA DEL RELATORE · PACCHETTI INOLTRATI</a:t>
            </a:r>
            <a:endParaRPr lang="en-US" sz="1200"/>
          </a:p>
        </p:txBody>
      </p:sp>
      <p:sp>
        <p:nvSpPr>
          <p:cNvPr id="1065761639" name="Text 2"/>
          <p:cNvSpPr/>
          <p:nvPr/>
        </p:nvSpPr>
        <p:spPr bwMode="auto">
          <a:xfrm>
            <a:off x="546100" y="584200"/>
            <a:ext cx="1143279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30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Ogni curva sale con il traffico e poi si ferma</a:t>
            </a:r>
            <a:endParaRPr lang="en-US" sz="3000"/>
          </a:p>
        </p:txBody>
      </p:sp>
      <p:pic>
        <p:nvPicPr>
          <p:cNvPr id="1516013105" name="Image 0" descr="Pacchetti inoltrati al secondo contro traffico inviato. Ogni pipeline segue la diagonale e poi si ferma alla propria capacità: baseline 3,3, P1 2,9, P1.5 2,8, P2 1,9, P3 1,5 milioni al secondo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6100" y="1562100"/>
            <a:ext cx="6350000" cy="3594100"/>
          </a:xfrm>
          <a:prstGeom prst="rect">
            <a:avLst/>
          </a:prstGeom>
        </p:spPr>
      </p:pic>
      <p:sp>
        <p:nvSpPr>
          <p:cNvPr id="501503217" name="Text 3"/>
          <p:cNvSpPr/>
          <p:nvPr/>
        </p:nvSpPr>
        <p:spPr bwMode="auto">
          <a:xfrm>
            <a:off x="1130300" y="1727199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milioni di pacchetti/s inoltrati</a:t>
            </a:r>
            <a:endParaRPr lang="en-US" sz="1200"/>
          </a:p>
        </p:txBody>
      </p:sp>
      <p:sp>
        <p:nvSpPr>
          <p:cNvPr id="432164483" name="Text 4"/>
          <p:cNvSpPr/>
          <p:nvPr/>
        </p:nvSpPr>
        <p:spPr bwMode="auto">
          <a:xfrm>
            <a:off x="495300" y="4578350"/>
            <a:ext cx="482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0</a:t>
            </a:r>
            <a:endParaRPr lang="en-US" sz="1200"/>
          </a:p>
        </p:txBody>
      </p:sp>
      <p:sp>
        <p:nvSpPr>
          <p:cNvPr id="608310193" name="Text 5"/>
          <p:cNvSpPr/>
          <p:nvPr/>
        </p:nvSpPr>
        <p:spPr bwMode="auto">
          <a:xfrm>
            <a:off x="495300" y="3981450"/>
            <a:ext cx="482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1</a:t>
            </a:r>
            <a:endParaRPr lang="en-US" sz="1200"/>
          </a:p>
        </p:txBody>
      </p:sp>
      <p:sp>
        <p:nvSpPr>
          <p:cNvPr id="1197476078" name="Text 6"/>
          <p:cNvSpPr/>
          <p:nvPr/>
        </p:nvSpPr>
        <p:spPr bwMode="auto">
          <a:xfrm>
            <a:off x="495300" y="3384550"/>
            <a:ext cx="482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2</a:t>
            </a:r>
            <a:endParaRPr lang="en-US" sz="1200"/>
          </a:p>
        </p:txBody>
      </p:sp>
      <p:sp>
        <p:nvSpPr>
          <p:cNvPr id="202781063" name="Text 7"/>
          <p:cNvSpPr/>
          <p:nvPr/>
        </p:nvSpPr>
        <p:spPr bwMode="auto">
          <a:xfrm>
            <a:off x="495300" y="2787650"/>
            <a:ext cx="482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3</a:t>
            </a:r>
            <a:endParaRPr lang="en-US" sz="1200"/>
          </a:p>
        </p:txBody>
      </p:sp>
      <p:sp>
        <p:nvSpPr>
          <p:cNvPr id="1844517580" name="Text 8"/>
          <p:cNvSpPr/>
          <p:nvPr/>
        </p:nvSpPr>
        <p:spPr bwMode="auto">
          <a:xfrm>
            <a:off x="495300" y="2190750"/>
            <a:ext cx="482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4</a:t>
            </a:r>
            <a:endParaRPr lang="en-US" sz="1200"/>
          </a:p>
        </p:txBody>
      </p:sp>
      <p:sp>
        <p:nvSpPr>
          <p:cNvPr id="1843937933" name="Text 9"/>
          <p:cNvSpPr/>
          <p:nvPr/>
        </p:nvSpPr>
        <p:spPr bwMode="auto">
          <a:xfrm>
            <a:off x="495300" y="1593850"/>
            <a:ext cx="482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5</a:t>
            </a:r>
            <a:endParaRPr lang="en-US" sz="1200"/>
          </a:p>
        </p:txBody>
      </p:sp>
      <p:sp>
        <p:nvSpPr>
          <p:cNvPr id="1320873304" name="Text 10"/>
          <p:cNvSpPr/>
          <p:nvPr/>
        </p:nvSpPr>
        <p:spPr bwMode="auto">
          <a:xfrm>
            <a:off x="774700" y="47371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0</a:t>
            </a:r>
            <a:endParaRPr lang="en-US" sz="1200"/>
          </a:p>
        </p:txBody>
      </p:sp>
      <p:sp>
        <p:nvSpPr>
          <p:cNvPr id="393229814" name="Text 11"/>
          <p:cNvSpPr/>
          <p:nvPr/>
        </p:nvSpPr>
        <p:spPr bwMode="auto">
          <a:xfrm>
            <a:off x="1727199" y="47371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0,5</a:t>
            </a:r>
            <a:endParaRPr lang="en-US" sz="1200"/>
          </a:p>
        </p:txBody>
      </p:sp>
      <p:sp>
        <p:nvSpPr>
          <p:cNvPr id="1417996682" name="Text 12"/>
          <p:cNvSpPr/>
          <p:nvPr/>
        </p:nvSpPr>
        <p:spPr bwMode="auto">
          <a:xfrm>
            <a:off x="2679700" y="47371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1,0</a:t>
            </a:r>
            <a:endParaRPr lang="en-US" sz="1200"/>
          </a:p>
        </p:txBody>
      </p:sp>
      <p:sp>
        <p:nvSpPr>
          <p:cNvPr id="2086912781" name="Text 13"/>
          <p:cNvSpPr/>
          <p:nvPr/>
        </p:nvSpPr>
        <p:spPr bwMode="auto">
          <a:xfrm>
            <a:off x="3632200" y="47371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1,5</a:t>
            </a:r>
            <a:endParaRPr lang="en-US" sz="1200"/>
          </a:p>
        </p:txBody>
      </p:sp>
      <p:sp>
        <p:nvSpPr>
          <p:cNvPr id="807668496" name="Text 14"/>
          <p:cNvSpPr/>
          <p:nvPr/>
        </p:nvSpPr>
        <p:spPr bwMode="auto">
          <a:xfrm>
            <a:off x="4584700" y="47371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2,0</a:t>
            </a:r>
            <a:endParaRPr lang="en-US" sz="1200"/>
          </a:p>
        </p:txBody>
      </p:sp>
      <p:sp>
        <p:nvSpPr>
          <p:cNvPr id="210189422" name="Text 15"/>
          <p:cNvSpPr/>
          <p:nvPr/>
        </p:nvSpPr>
        <p:spPr bwMode="auto">
          <a:xfrm>
            <a:off x="5537200" y="47371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2,5</a:t>
            </a:r>
            <a:endParaRPr lang="en-US" sz="1200"/>
          </a:p>
        </p:txBody>
      </p:sp>
      <p:sp>
        <p:nvSpPr>
          <p:cNvPr id="521617939" name="Text 16"/>
          <p:cNvSpPr/>
          <p:nvPr/>
        </p:nvSpPr>
        <p:spPr bwMode="auto">
          <a:xfrm>
            <a:off x="6489700" y="47371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3,0</a:t>
            </a:r>
            <a:endParaRPr lang="en-US" sz="1200"/>
          </a:p>
        </p:txBody>
      </p:sp>
      <p:sp>
        <p:nvSpPr>
          <p:cNvPr id="514848756" name="Text 17"/>
          <p:cNvSpPr/>
          <p:nvPr/>
        </p:nvSpPr>
        <p:spPr bwMode="auto">
          <a:xfrm>
            <a:off x="968375" y="495300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traffico inviato (Gbit/s, pacchetti da 64 byte)</a:t>
            </a:r>
            <a:endParaRPr lang="en-US" sz="1200"/>
          </a:p>
        </p:txBody>
      </p:sp>
      <p:sp>
        <p:nvSpPr>
          <p:cNvPr id="1274350883" name="Text 18"/>
          <p:cNvSpPr/>
          <p:nvPr/>
        </p:nvSpPr>
        <p:spPr bwMode="auto">
          <a:xfrm>
            <a:off x="3797300" y="2171700"/>
            <a:ext cx="8762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inviati</a:t>
            </a:r>
            <a:endParaRPr lang="en-US" sz="1200"/>
          </a:p>
        </p:txBody>
      </p:sp>
      <p:sp>
        <p:nvSpPr>
          <p:cNvPr id="1356753853" name="Text 19"/>
          <p:cNvSpPr/>
          <p:nvPr/>
        </p:nvSpPr>
        <p:spPr bwMode="auto">
          <a:xfrm>
            <a:off x="4927600" y="163830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solo ricezione</a:t>
            </a:r>
            <a:endParaRPr lang="en-US" sz="1200"/>
          </a:p>
        </p:txBody>
      </p:sp>
      <p:sp>
        <p:nvSpPr>
          <p:cNvPr id="971787188" name="Text 20"/>
          <p:cNvSpPr/>
          <p:nvPr/>
        </p:nvSpPr>
        <p:spPr bwMode="auto">
          <a:xfrm>
            <a:off x="7073900" y="1562100"/>
            <a:ext cx="470916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Dove si ferma ogni pipeline</a:t>
            </a:r>
            <a:endParaRPr lang="en-US" sz="1500"/>
          </a:p>
        </p:txBody>
      </p:sp>
      <p:sp>
        <p:nvSpPr>
          <p:cNvPr id="1856316116" name="Text 21"/>
          <p:cNvSpPr/>
          <p:nvPr/>
        </p:nvSpPr>
        <p:spPr bwMode="auto">
          <a:xfrm>
            <a:off x="7162800" y="2139429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pipeline</a:t>
            </a:r>
            <a:endParaRPr lang="en-US" sz="1200"/>
          </a:p>
        </p:txBody>
      </p:sp>
      <p:sp>
        <p:nvSpPr>
          <p:cNvPr id="1278333431" name="Text 22"/>
          <p:cNvSpPr/>
          <p:nvPr/>
        </p:nvSpPr>
        <p:spPr bwMode="auto">
          <a:xfrm>
            <a:off x="8128000" y="1987091"/>
            <a:ext cx="1130300" cy="391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44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pulita fino a</a:t>
            </a:r>
            <a:endParaRPr lang="en-US" sz="1200"/>
          </a:p>
          <a:p>
            <a:pPr marL="0" indent="0" algn="r">
              <a:lnSpc>
                <a:spcPts val="144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(Gbit/s)</a:t>
            </a:r>
            <a:endParaRPr lang="en-US" sz="1200"/>
          </a:p>
        </p:txBody>
      </p:sp>
      <p:sp>
        <p:nvSpPr>
          <p:cNvPr id="998988649" name="Text 23"/>
          <p:cNvSpPr/>
          <p:nvPr/>
        </p:nvSpPr>
        <p:spPr bwMode="auto">
          <a:xfrm>
            <a:off x="9207500" y="1987091"/>
            <a:ext cx="939800" cy="391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44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perde da</a:t>
            </a:r>
            <a:endParaRPr lang="en-US" sz="1200"/>
          </a:p>
          <a:p>
            <a:pPr marL="0" indent="0" algn="r">
              <a:lnSpc>
                <a:spcPts val="144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(Gbit/s)</a:t>
            </a:r>
            <a:endParaRPr lang="en-US" sz="1200"/>
          </a:p>
        </p:txBody>
      </p:sp>
      <p:sp>
        <p:nvSpPr>
          <p:cNvPr id="320730489" name="Text 24"/>
          <p:cNvSpPr/>
          <p:nvPr/>
        </p:nvSpPr>
        <p:spPr bwMode="auto">
          <a:xfrm>
            <a:off x="10096500" y="1987091"/>
            <a:ext cx="1320800" cy="391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44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inoltro max</a:t>
            </a:r>
            <a:endParaRPr lang="en-US" sz="1200"/>
          </a:p>
          <a:p>
            <a:pPr marL="0" indent="0" algn="r">
              <a:lnSpc>
                <a:spcPts val="144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(M pacchetti/s)</a:t>
            </a:r>
            <a:endParaRPr lang="en-US" sz="1200"/>
          </a:p>
        </p:txBody>
      </p:sp>
      <p:sp>
        <p:nvSpPr>
          <p:cNvPr id="1150075413" name="Shape 25"/>
          <p:cNvSpPr/>
          <p:nvPr/>
        </p:nvSpPr>
        <p:spPr bwMode="auto">
          <a:xfrm>
            <a:off x="7073900" y="2457648"/>
            <a:ext cx="4572000" cy="355600"/>
          </a:xfrm>
          <a:prstGeom prst="roundRect">
            <a:avLst>
              <a:gd name="adj" fmla="val 21429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412902227" name="Shape 26"/>
          <p:cNvSpPr/>
          <p:nvPr/>
        </p:nvSpPr>
        <p:spPr bwMode="auto">
          <a:xfrm>
            <a:off x="7162800" y="2559186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8794A6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983601735" name="Text 27"/>
          <p:cNvSpPr/>
          <p:nvPr/>
        </p:nvSpPr>
        <p:spPr bwMode="auto">
          <a:xfrm>
            <a:off x="7378700" y="2510966"/>
            <a:ext cx="666683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baseline</a:t>
            </a:r>
            <a:endParaRPr lang="en-US" sz="1400"/>
          </a:p>
        </p:txBody>
      </p:sp>
      <p:sp>
        <p:nvSpPr>
          <p:cNvPr id="1237564669" name="Text 28"/>
          <p:cNvSpPr/>
          <p:nvPr/>
        </p:nvSpPr>
        <p:spPr bwMode="auto">
          <a:xfrm>
            <a:off x="8128000" y="2510966"/>
            <a:ext cx="11303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1,44</a:t>
            </a:r>
            <a:endParaRPr lang="en-US" sz="1400"/>
          </a:p>
        </p:txBody>
      </p:sp>
      <p:sp>
        <p:nvSpPr>
          <p:cNvPr id="1086593318" name="Text 29"/>
          <p:cNvSpPr/>
          <p:nvPr/>
        </p:nvSpPr>
        <p:spPr bwMode="auto">
          <a:xfrm>
            <a:off x="9207500" y="2510966"/>
            <a:ext cx="939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1,68</a:t>
            </a:r>
            <a:endParaRPr lang="en-US" sz="1400"/>
          </a:p>
        </p:txBody>
      </p:sp>
      <p:sp>
        <p:nvSpPr>
          <p:cNvPr id="379252684" name="Text 30"/>
          <p:cNvSpPr/>
          <p:nvPr/>
        </p:nvSpPr>
        <p:spPr bwMode="auto">
          <a:xfrm>
            <a:off x="10096500" y="2510966"/>
            <a:ext cx="1320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3,34</a:t>
            </a:r>
            <a:endParaRPr lang="en-US" sz="1400"/>
          </a:p>
        </p:txBody>
      </p:sp>
      <p:sp>
        <p:nvSpPr>
          <p:cNvPr id="1292659127" name="Shape 31"/>
          <p:cNvSpPr/>
          <p:nvPr/>
        </p:nvSpPr>
        <p:spPr bwMode="auto">
          <a:xfrm>
            <a:off x="7073900" y="2918098"/>
            <a:ext cx="4572000" cy="355600"/>
          </a:xfrm>
          <a:prstGeom prst="roundRect">
            <a:avLst>
              <a:gd name="adj" fmla="val 21429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92326486" name="Shape 32"/>
          <p:cNvSpPr/>
          <p:nvPr/>
        </p:nvSpPr>
        <p:spPr bwMode="auto">
          <a:xfrm>
            <a:off x="7162800" y="3019623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C8551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805668774" name="Text 33"/>
          <p:cNvSpPr/>
          <p:nvPr/>
        </p:nvSpPr>
        <p:spPr bwMode="auto">
          <a:xfrm>
            <a:off x="7378700" y="2971403"/>
            <a:ext cx="23554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P1</a:t>
            </a:r>
            <a:endParaRPr lang="en-US" sz="1400"/>
          </a:p>
        </p:txBody>
      </p:sp>
      <p:sp>
        <p:nvSpPr>
          <p:cNvPr id="155331024" name="Text 34"/>
          <p:cNvSpPr/>
          <p:nvPr/>
        </p:nvSpPr>
        <p:spPr bwMode="auto">
          <a:xfrm>
            <a:off x="8128000" y="2971403"/>
            <a:ext cx="11303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1,20</a:t>
            </a:r>
            <a:endParaRPr lang="en-US" sz="1400"/>
          </a:p>
        </p:txBody>
      </p:sp>
      <p:sp>
        <p:nvSpPr>
          <p:cNvPr id="642692999" name="Text 35"/>
          <p:cNvSpPr/>
          <p:nvPr/>
        </p:nvSpPr>
        <p:spPr bwMode="auto">
          <a:xfrm>
            <a:off x="9207500" y="2971403"/>
            <a:ext cx="939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1,44</a:t>
            </a:r>
            <a:endParaRPr lang="en-US" sz="1400"/>
          </a:p>
        </p:txBody>
      </p:sp>
      <p:sp>
        <p:nvSpPr>
          <p:cNvPr id="218981886" name="Text 36"/>
          <p:cNvSpPr/>
          <p:nvPr/>
        </p:nvSpPr>
        <p:spPr bwMode="auto">
          <a:xfrm>
            <a:off x="10096500" y="2971403"/>
            <a:ext cx="1320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2,94</a:t>
            </a:r>
            <a:endParaRPr lang="en-US" sz="1400"/>
          </a:p>
        </p:txBody>
      </p:sp>
      <p:sp>
        <p:nvSpPr>
          <p:cNvPr id="172165083" name="Shape 37"/>
          <p:cNvSpPr/>
          <p:nvPr/>
        </p:nvSpPr>
        <p:spPr bwMode="auto">
          <a:xfrm>
            <a:off x="7073900" y="3378597"/>
            <a:ext cx="4572000" cy="355600"/>
          </a:xfrm>
          <a:prstGeom prst="roundRect">
            <a:avLst>
              <a:gd name="adj" fmla="val 21429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90842438" name="Shape 38"/>
          <p:cNvSpPr/>
          <p:nvPr/>
        </p:nvSpPr>
        <p:spPr bwMode="auto">
          <a:xfrm>
            <a:off x="7162800" y="3480135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F09A3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85195158" name="Text 39"/>
          <p:cNvSpPr/>
          <p:nvPr/>
        </p:nvSpPr>
        <p:spPr bwMode="auto">
          <a:xfrm>
            <a:off x="7378700" y="3431915"/>
            <a:ext cx="37319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P1.5</a:t>
            </a:r>
            <a:endParaRPr lang="en-US" sz="1400"/>
          </a:p>
        </p:txBody>
      </p:sp>
      <p:sp>
        <p:nvSpPr>
          <p:cNvPr id="563266348" name="Text 40"/>
          <p:cNvSpPr/>
          <p:nvPr/>
        </p:nvSpPr>
        <p:spPr bwMode="auto">
          <a:xfrm>
            <a:off x="8128000" y="3431915"/>
            <a:ext cx="11303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1,20</a:t>
            </a:r>
            <a:endParaRPr lang="en-US" sz="1400"/>
          </a:p>
        </p:txBody>
      </p:sp>
      <p:sp>
        <p:nvSpPr>
          <p:cNvPr id="1508428133" name="Text 41"/>
          <p:cNvSpPr/>
          <p:nvPr/>
        </p:nvSpPr>
        <p:spPr bwMode="auto">
          <a:xfrm>
            <a:off x="9207500" y="3431915"/>
            <a:ext cx="939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1,44</a:t>
            </a:r>
            <a:endParaRPr lang="en-US" sz="1400"/>
          </a:p>
        </p:txBody>
      </p:sp>
      <p:sp>
        <p:nvSpPr>
          <p:cNvPr id="1277103624" name="Text 42"/>
          <p:cNvSpPr/>
          <p:nvPr/>
        </p:nvSpPr>
        <p:spPr bwMode="auto">
          <a:xfrm>
            <a:off x="10096500" y="3431915"/>
            <a:ext cx="1320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2,84</a:t>
            </a:r>
            <a:endParaRPr lang="en-US" sz="1400"/>
          </a:p>
        </p:txBody>
      </p:sp>
      <p:sp>
        <p:nvSpPr>
          <p:cNvPr id="260382075" name="Shape 43"/>
          <p:cNvSpPr/>
          <p:nvPr/>
        </p:nvSpPr>
        <p:spPr bwMode="auto">
          <a:xfrm>
            <a:off x="7073900" y="3839046"/>
            <a:ext cx="4572000" cy="355600"/>
          </a:xfrm>
          <a:prstGeom prst="roundRect">
            <a:avLst>
              <a:gd name="adj" fmla="val 21429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928752026" name="Shape 44"/>
          <p:cNvSpPr/>
          <p:nvPr/>
        </p:nvSpPr>
        <p:spPr bwMode="auto">
          <a:xfrm>
            <a:off x="7162800" y="3940572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2E9C8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736318165" name="Text 45"/>
          <p:cNvSpPr/>
          <p:nvPr/>
        </p:nvSpPr>
        <p:spPr bwMode="auto">
          <a:xfrm>
            <a:off x="7378700" y="3892352"/>
            <a:ext cx="23554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P2</a:t>
            </a:r>
            <a:endParaRPr lang="en-US" sz="1400"/>
          </a:p>
        </p:txBody>
      </p:sp>
      <p:sp>
        <p:nvSpPr>
          <p:cNvPr id="1397400571" name="Text 46"/>
          <p:cNvSpPr/>
          <p:nvPr/>
        </p:nvSpPr>
        <p:spPr bwMode="auto">
          <a:xfrm>
            <a:off x="8128000" y="3892352"/>
            <a:ext cx="11303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0,72</a:t>
            </a:r>
            <a:endParaRPr lang="en-US" sz="1400"/>
          </a:p>
        </p:txBody>
      </p:sp>
      <p:sp>
        <p:nvSpPr>
          <p:cNvPr id="688041895" name="Text 47"/>
          <p:cNvSpPr/>
          <p:nvPr/>
        </p:nvSpPr>
        <p:spPr bwMode="auto">
          <a:xfrm>
            <a:off x="9207500" y="3892352"/>
            <a:ext cx="939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0,96</a:t>
            </a:r>
            <a:endParaRPr lang="en-US" sz="1400"/>
          </a:p>
        </p:txBody>
      </p:sp>
      <p:sp>
        <p:nvSpPr>
          <p:cNvPr id="1822472197" name="Text 48"/>
          <p:cNvSpPr/>
          <p:nvPr/>
        </p:nvSpPr>
        <p:spPr bwMode="auto">
          <a:xfrm>
            <a:off x="10096500" y="3892352"/>
            <a:ext cx="1320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1,89</a:t>
            </a:r>
            <a:endParaRPr lang="en-US" sz="1400"/>
          </a:p>
        </p:txBody>
      </p:sp>
      <p:sp>
        <p:nvSpPr>
          <p:cNvPr id="278094196" name="Shape 49"/>
          <p:cNvSpPr/>
          <p:nvPr/>
        </p:nvSpPr>
        <p:spPr bwMode="auto">
          <a:xfrm>
            <a:off x="7073900" y="4299545"/>
            <a:ext cx="4572000" cy="355600"/>
          </a:xfrm>
          <a:prstGeom prst="roundRect">
            <a:avLst>
              <a:gd name="adj" fmla="val 21429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427421109" name="Shape 50"/>
          <p:cNvSpPr/>
          <p:nvPr/>
        </p:nvSpPr>
        <p:spPr bwMode="auto">
          <a:xfrm>
            <a:off x="7162800" y="4401083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1F5F8B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32338426" name="Text 51"/>
          <p:cNvSpPr/>
          <p:nvPr/>
        </p:nvSpPr>
        <p:spPr bwMode="auto">
          <a:xfrm>
            <a:off x="7378700" y="4352863"/>
            <a:ext cx="23554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P3</a:t>
            </a:r>
            <a:endParaRPr lang="en-US" sz="1400"/>
          </a:p>
        </p:txBody>
      </p:sp>
      <p:sp>
        <p:nvSpPr>
          <p:cNvPr id="1264335640" name="Text 52"/>
          <p:cNvSpPr/>
          <p:nvPr/>
        </p:nvSpPr>
        <p:spPr bwMode="auto">
          <a:xfrm>
            <a:off x="8128000" y="4352863"/>
            <a:ext cx="11303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0,</a:t>
            </a:r>
            <a:r>
              <a:rPr lang="it-IT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7</a:t>
            </a: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2</a:t>
            </a:r>
            <a:endParaRPr lang="en-US" sz="1400"/>
          </a:p>
        </p:txBody>
      </p:sp>
      <p:sp>
        <p:nvSpPr>
          <p:cNvPr id="726002821" name="Text 53"/>
          <p:cNvSpPr/>
          <p:nvPr/>
        </p:nvSpPr>
        <p:spPr bwMode="auto">
          <a:xfrm>
            <a:off x="9207500" y="4352863"/>
            <a:ext cx="939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0,</a:t>
            </a:r>
            <a:r>
              <a:rPr lang="it-IT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96</a:t>
            </a:r>
            <a:endParaRPr lang="en-US" sz="1400"/>
          </a:p>
        </p:txBody>
      </p:sp>
      <p:sp>
        <p:nvSpPr>
          <p:cNvPr id="1502563335" name="Text 54"/>
          <p:cNvSpPr/>
          <p:nvPr/>
        </p:nvSpPr>
        <p:spPr bwMode="auto">
          <a:xfrm>
            <a:off x="10096500" y="4352863"/>
            <a:ext cx="1320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1,50</a:t>
            </a:r>
            <a:endParaRPr lang="en-US" sz="1400"/>
          </a:p>
        </p:txBody>
      </p:sp>
      <p:sp>
        <p:nvSpPr>
          <p:cNvPr id="940055482" name="Text 55"/>
          <p:cNvSpPr/>
          <p:nvPr/>
        </p:nvSpPr>
        <p:spPr bwMode="auto">
          <a:xfrm>
            <a:off x="7073900" y="4759995"/>
            <a:ext cx="4709160" cy="421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Sono gradini della scala (~0,24 Gbit/s), non soglie esatte. A 64 byte, 1 Gbit/s ≈ 1,95 milioni di pacchetti al secondo.</a:t>
            </a:r>
            <a:endParaRPr lang="en-US" sz="1200"/>
          </a:p>
        </p:txBody>
      </p:sp>
      <p:sp>
        <p:nvSpPr>
          <p:cNvPr id="1336295453" name="Shape 56"/>
          <p:cNvSpPr/>
          <p:nvPr/>
        </p:nvSpPr>
        <p:spPr bwMode="auto">
          <a:xfrm>
            <a:off x="546100" y="5486400"/>
            <a:ext cx="11099800" cy="774700"/>
          </a:xfrm>
          <a:prstGeom prst="roundRect">
            <a:avLst>
              <a:gd name="adj" fmla="val 13115"/>
            </a:avLst>
          </a:prstGeom>
          <a:solidFill>
            <a:srgbClr val="FFF4D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474098306" name="Shape 57"/>
          <p:cNvSpPr/>
          <p:nvPr/>
        </p:nvSpPr>
        <p:spPr bwMode="auto">
          <a:xfrm>
            <a:off x="546100" y="5486400"/>
            <a:ext cx="82550" cy="774700"/>
          </a:xfrm>
          <a:custGeom>
            <a:avLst/>
            <a:gdLst/>
            <a:ahLst/>
            <a:cxnLst/>
            <a:rect l="l" t="t" r="r" b="b"/>
            <a:pathLst>
              <a:path w="82550" h="774700" fill="norm" stroke="1" extrusionOk="0">
                <a:moveTo>
                  <a:pt x="0" y="101600"/>
                </a:moveTo>
                <a:arcTo wR="101600" hR="101600" stAng="10800000" swAng="4751585"/>
                <a:lnTo>
                  <a:pt x="82550" y="772898"/>
                </a:lnTo>
                <a:arcTo wR="101600" hR="101600" stAng="6048415" swAng="4751585"/>
                <a:close/>
              </a:path>
            </a:pathLst>
          </a:custGeom>
          <a:solidFill>
            <a:srgbClr val="F2B134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844064995" name="Text 58"/>
          <p:cNvSpPr/>
          <p:nvPr/>
        </p:nvSpPr>
        <p:spPr bwMode="auto">
          <a:xfrm>
            <a:off x="819150" y="5767065"/>
            <a:ext cx="8762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B57A00"/>
                </a:solidFill>
                <a:latin typeface="Carlito"/>
                <a:ea typeface="Carlito"/>
                <a:cs typeface="Carlito"/>
              </a:rPr>
              <a:t>QUINDI</a:t>
            </a:r>
            <a:endParaRPr lang="en-US" sz="1200"/>
          </a:p>
        </p:txBody>
      </p:sp>
      <p:sp>
        <p:nvSpPr>
          <p:cNvPr id="426815261" name="Text 59"/>
          <p:cNvSpPr/>
          <p:nvPr/>
        </p:nvSpPr>
        <p:spPr bwMode="auto">
          <a:xfrm>
            <a:off x="1822450" y="5626100"/>
            <a:ext cx="988269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  <a:defRPr/>
            </a:pP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Ogni curva si ferma alla </a:t>
            </a: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capacità della sua pipeline</a:t>
            </a: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: 3,3 · 2,9 · 2,8 · 1,9 · 1,5 milioni di pacchetti al secondo, la stessa cifra del test di saturazione.</a:t>
            </a:r>
            <a:endParaRPr lang="en-US" sz="1500"/>
          </a:p>
        </p:txBody>
      </p:sp>
      <p:sp>
        <p:nvSpPr>
          <p:cNvPr id="623512826" name="Text 60"/>
          <p:cNvSpPr/>
          <p:nvPr/>
        </p:nvSpPr>
        <p:spPr bwMode="auto">
          <a:xfrm>
            <a:off x="546100" y="6426200"/>
            <a:ext cx="10072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i="1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13 valori di traffico, 5 giri ciascuno, 64 byte, 390 finestre · DUT a 3 494 MHz, nessun throttling</a:t>
            </a:r>
            <a:endParaRPr lang="en-US" sz="1200"/>
          </a:p>
        </p:txBody>
      </p:sp>
      <p:sp>
        <p:nvSpPr>
          <p:cNvPr id="417555541" name="Text 61"/>
          <p:cNvSpPr/>
          <p:nvPr/>
        </p:nvSpPr>
        <p:spPr bwMode="auto">
          <a:xfrm>
            <a:off x="10960099" y="642620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18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2202998" name="Shape 0"/>
          <p:cNvSpPr/>
          <p:nvPr/>
        </p:nvSpPr>
        <p:spPr bwMode="auto">
          <a:xfrm>
            <a:off x="0" y="0"/>
            <a:ext cx="12192000" cy="107949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27036469" name="Text 1"/>
          <p:cNvSpPr/>
          <p:nvPr/>
        </p:nvSpPr>
        <p:spPr bwMode="auto">
          <a:xfrm>
            <a:off x="546100" y="330200"/>
            <a:ext cx="114327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5 · LA DOMANDA DEL RELATORE · RICEVUTI E INOLTRATI</a:t>
            </a:r>
            <a:endParaRPr lang="en-US" sz="1200"/>
          </a:p>
        </p:txBody>
      </p:sp>
      <p:sp>
        <p:nvSpPr>
          <p:cNvPr id="100479658" name="Text 2"/>
          <p:cNvSpPr/>
          <p:nvPr/>
        </p:nvSpPr>
        <p:spPr bwMode="auto">
          <a:xfrm>
            <a:off x="546100" y="584200"/>
            <a:ext cx="1143279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30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Il programma rilancia tutto ciò che riceve</a:t>
            </a:r>
            <a:endParaRPr lang="en-US" sz="3000"/>
          </a:p>
        </p:txBody>
      </p:sp>
      <p:pic>
        <p:nvPicPr>
          <p:cNvPr id="505416" name="Image 0" descr="Pipeline P2: pacchetti inviati, ricevuti da XDP e inoltrati al secondo contro traffico inviato. Gli inviati continuano a salire, ricevuti e inoltrati si fermano insieme a 1,9 milioni al secondo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6100" y="1562100"/>
            <a:ext cx="6350000" cy="3594100"/>
          </a:xfrm>
          <a:prstGeom prst="rect">
            <a:avLst/>
          </a:prstGeom>
        </p:spPr>
      </p:pic>
      <p:sp>
        <p:nvSpPr>
          <p:cNvPr id="1590546161" name="Text 3"/>
          <p:cNvSpPr/>
          <p:nvPr/>
        </p:nvSpPr>
        <p:spPr bwMode="auto">
          <a:xfrm>
            <a:off x="1130300" y="1727199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milioni di pacchetti/s (pipeline P2)</a:t>
            </a:r>
            <a:endParaRPr lang="en-US" sz="1200"/>
          </a:p>
        </p:txBody>
      </p:sp>
      <p:sp>
        <p:nvSpPr>
          <p:cNvPr id="91008670" name="Text 4"/>
          <p:cNvSpPr/>
          <p:nvPr/>
        </p:nvSpPr>
        <p:spPr bwMode="auto">
          <a:xfrm>
            <a:off x="495300" y="4578350"/>
            <a:ext cx="482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0</a:t>
            </a:r>
            <a:endParaRPr lang="en-US" sz="1200"/>
          </a:p>
        </p:txBody>
      </p:sp>
      <p:sp>
        <p:nvSpPr>
          <p:cNvPr id="325859467" name="Text 5"/>
          <p:cNvSpPr/>
          <p:nvPr/>
        </p:nvSpPr>
        <p:spPr bwMode="auto">
          <a:xfrm>
            <a:off x="495300" y="4081140"/>
            <a:ext cx="482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1</a:t>
            </a:r>
            <a:endParaRPr lang="en-US" sz="1200"/>
          </a:p>
        </p:txBody>
      </p:sp>
      <p:sp>
        <p:nvSpPr>
          <p:cNvPr id="405509497" name="Text 6"/>
          <p:cNvSpPr/>
          <p:nvPr/>
        </p:nvSpPr>
        <p:spPr bwMode="auto">
          <a:xfrm>
            <a:off x="495300" y="3583260"/>
            <a:ext cx="482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2</a:t>
            </a:r>
            <a:endParaRPr lang="en-US" sz="1200"/>
          </a:p>
        </p:txBody>
      </p:sp>
      <p:sp>
        <p:nvSpPr>
          <p:cNvPr id="1418828811" name="Text 7"/>
          <p:cNvSpPr/>
          <p:nvPr/>
        </p:nvSpPr>
        <p:spPr bwMode="auto">
          <a:xfrm>
            <a:off x="495300" y="3086100"/>
            <a:ext cx="482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3</a:t>
            </a:r>
            <a:endParaRPr lang="en-US" sz="1200"/>
          </a:p>
        </p:txBody>
      </p:sp>
      <p:sp>
        <p:nvSpPr>
          <p:cNvPr id="139057289" name="Text 8"/>
          <p:cNvSpPr/>
          <p:nvPr/>
        </p:nvSpPr>
        <p:spPr bwMode="auto">
          <a:xfrm>
            <a:off x="495300" y="2588890"/>
            <a:ext cx="482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4</a:t>
            </a:r>
            <a:endParaRPr lang="en-US" sz="1200"/>
          </a:p>
        </p:txBody>
      </p:sp>
      <p:sp>
        <p:nvSpPr>
          <p:cNvPr id="160478813" name="Text 9"/>
          <p:cNvSpPr/>
          <p:nvPr/>
        </p:nvSpPr>
        <p:spPr bwMode="auto">
          <a:xfrm>
            <a:off x="495300" y="2091010"/>
            <a:ext cx="482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5</a:t>
            </a:r>
            <a:endParaRPr lang="en-US" sz="1200"/>
          </a:p>
        </p:txBody>
      </p:sp>
      <p:sp>
        <p:nvSpPr>
          <p:cNvPr id="920411992" name="Text 10"/>
          <p:cNvSpPr/>
          <p:nvPr/>
        </p:nvSpPr>
        <p:spPr bwMode="auto">
          <a:xfrm>
            <a:off x="495300" y="1593850"/>
            <a:ext cx="482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6</a:t>
            </a:r>
            <a:endParaRPr lang="en-US" sz="1200"/>
          </a:p>
        </p:txBody>
      </p:sp>
      <p:sp>
        <p:nvSpPr>
          <p:cNvPr id="2093196938" name="Text 11"/>
          <p:cNvSpPr/>
          <p:nvPr/>
        </p:nvSpPr>
        <p:spPr bwMode="auto">
          <a:xfrm>
            <a:off x="774700" y="47371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0</a:t>
            </a:r>
            <a:endParaRPr lang="en-US" sz="1200"/>
          </a:p>
        </p:txBody>
      </p:sp>
      <p:sp>
        <p:nvSpPr>
          <p:cNvPr id="87827372" name="Text 12"/>
          <p:cNvSpPr/>
          <p:nvPr/>
        </p:nvSpPr>
        <p:spPr bwMode="auto">
          <a:xfrm>
            <a:off x="1727199" y="47371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0,5</a:t>
            </a:r>
            <a:endParaRPr lang="en-US" sz="1200"/>
          </a:p>
        </p:txBody>
      </p:sp>
      <p:sp>
        <p:nvSpPr>
          <p:cNvPr id="709986950" name="Text 13"/>
          <p:cNvSpPr/>
          <p:nvPr/>
        </p:nvSpPr>
        <p:spPr bwMode="auto">
          <a:xfrm>
            <a:off x="2679700" y="47371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1,0</a:t>
            </a:r>
            <a:endParaRPr lang="en-US" sz="1200"/>
          </a:p>
        </p:txBody>
      </p:sp>
      <p:sp>
        <p:nvSpPr>
          <p:cNvPr id="62909204" name="Text 14"/>
          <p:cNvSpPr/>
          <p:nvPr/>
        </p:nvSpPr>
        <p:spPr bwMode="auto">
          <a:xfrm>
            <a:off x="3632200" y="47371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1,5</a:t>
            </a:r>
            <a:endParaRPr lang="en-US" sz="1200"/>
          </a:p>
        </p:txBody>
      </p:sp>
      <p:sp>
        <p:nvSpPr>
          <p:cNvPr id="116052092" name="Text 15"/>
          <p:cNvSpPr/>
          <p:nvPr/>
        </p:nvSpPr>
        <p:spPr bwMode="auto">
          <a:xfrm>
            <a:off x="4584700" y="47371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2,0</a:t>
            </a:r>
            <a:endParaRPr lang="en-US" sz="1200"/>
          </a:p>
        </p:txBody>
      </p:sp>
      <p:sp>
        <p:nvSpPr>
          <p:cNvPr id="812259568" name="Text 16"/>
          <p:cNvSpPr/>
          <p:nvPr/>
        </p:nvSpPr>
        <p:spPr bwMode="auto">
          <a:xfrm>
            <a:off x="5537200" y="47371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2,5</a:t>
            </a:r>
            <a:endParaRPr lang="en-US" sz="1200"/>
          </a:p>
        </p:txBody>
      </p:sp>
      <p:sp>
        <p:nvSpPr>
          <p:cNvPr id="379763847" name="Text 17"/>
          <p:cNvSpPr/>
          <p:nvPr/>
        </p:nvSpPr>
        <p:spPr bwMode="auto">
          <a:xfrm>
            <a:off x="6489700" y="47371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3,0</a:t>
            </a:r>
            <a:endParaRPr lang="en-US" sz="1200"/>
          </a:p>
        </p:txBody>
      </p:sp>
      <p:sp>
        <p:nvSpPr>
          <p:cNvPr id="1325430124" name="Text 18"/>
          <p:cNvSpPr/>
          <p:nvPr/>
        </p:nvSpPr>
        <p:spPr bwMode="auto">
          <a:xfrm>
            <a:off x="968375" y="495300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traffico inviato (Gbit/s, pacchetti da 64 byte)</a:t>
            </a:r>
            <a:endParaRPr lang="en-US" sz="1200"/>
          </a:p>
        </p:txBody>
      </p:sp>
      <p:sp>
        <p:nvSpPr>
          <p:cNvPr id="1562964909" name="Text 19"/>
          <p:cNvSpPr/>
          <p:nvPr/>
        </p:nvSpPr>
        <p:spPr bwMode="auto">
          <a:xfrm>
            <a:off x="2946400" y="195580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C0443C"/>
                </a:solidFill>
                <a:latin typeface="Carlito"/>
                <a:ea typeface="Carlito"/>
                <a:cs typeface="Carlito"/>
              </a:rPr>
              <a:t>da qui la coda è piena</a:t>
            </a:r>
            <a:endParaRPr lang="en-US" sz="1200"/>
          </a:p>
        </p:txBody>
      </p:sp>
      <p:sp>
        <p:nvSpPr>
          <p:cNvPr id="1461732952" name="Text 20"/>
          <p:cNvSpPr/>
          <p:nvPr/>
        </p:nvSpPr>
        <p:spPr bwMode="auto">
          <a:xfrm>
            <a:off x="3225800" y="2768600"/>
            <a:ext cx="939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inviati</a:t>
            </a:r>
            <a:endParaRPr lang="en-US" sz="1200"/>
          </a:p>
        </p:txBody>
      </p:sp>
      <p:sp>
        <p:nvSpPr>
          <p:cNvPr id="120502757" name="Text 21"/>
          <p:cNvSpPr/>
          <p:nvPr/>
        </p:nvSpPr>
        <p:spPr bwMode="auto">
          <a:xfrm>
            <a:off x="4610100" y="344170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ricevuti = inoltrati</a:t>
            </a:r>
            <a:endParaRPr lang="en-US" sz="1200"/>
          </a:p>
        </p:txBody>
      </p:sp>
      <p:sp>
        <p:nvSpPr>
          <p:cNvPr id="1053609570" name="Shape 22"/>
          <p:cNvSpPr/>
          <p:nvPr/>
        </p:nvSpPr>
        <p:spPr bwMode="auto">
          <a:xfrm>
            <a:off x="7073900" y="1562100"/>
            <a:ext cx="4572000" cy="1138767"/>
          </a:xfrm>
          <a:prstGeom prst="roundRect">
            <a:avLst>
              <a:gd name="adj" fmla="val 11152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194996076" name="Shape 23"/>
          <p:cNvSpPr/>
          <p:nvPr/>
        </p:nvSpPr>
        <p:spPr bwMode="auto">
          <a:xfrm>
            <a:off x="7251700" y="16891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07A2D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04122110" name="Text 24"/>
          <p:cNvSpPr/>
          <p:nvPr/>
        </p:nvSpPr>
        <p:spPr bwMode="auto">
          <a:xfrm>
            <a:off x="7362230" y="1725947"/>
            <a:ext cx="134541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1</a:t>
            </a:r>
            <a:endParaRPr lang="en-US" sz="1300"/>
          </a:p>
        </p:txBody>
      </p:sp>
      <p:sp>
        <p:nvSpPr>
          <p:cNvPr id="797762814" name="Text 25"/>
          <p:cNvSpPr/>
          <p:nvPr/>
        </p:nvSpPr>
        <p:spPr bwMode="auto">
          <a:xfrm>
            <a:off x="7645400" y="1708150"/>
            <a:ext cx="2755594" cy="292100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95000" lnSpcReduction="1000"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So</a:t>
            </a:r>
            <a:r>
              <a:rPr lang="en-US" sz="15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tto il limite, le curve coincidono</a:t>
            </a:r>
            <a:endParaRPr lang="en-US" sz="1500"/>
          </a:p>
        </p:txBody>
      </p:sp>
      <p:sp>
        <p:nvSpPr>
          <p:cNvPr id="538401678" name="Text 26"/>
          <p:cNvSpPr/>
          <p:nvPr/>
        </p:nvSpPr>
        <p:spPr bwMode="auto">
          <a:xfrm>
            <a:off x="7251700" y="2032000"/>
            <a:ext cx="4342892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  <a:defRPr/>
            </a:pPr>
            <a:r>
              <a:rPr lang="en-US" sz="13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Tutto ciò che si invia viene ricevuto e inoltrato.</a:t>
            </a:r>
            <a:endParaRPr lang="en-US" sz="1300"/>
          </a:p>
        </p:txBody>
      </p:sp>
      <p:sp>
        <p:nvSpPr>
          <p:cNvPr id="2038918631" name="Shape 27"/>
          <p:cNvSpPr/>
          <p:nvPr/>
        </p:nvSpPr>
        <p:spPr bwMode="auto">
          <a:xfrm>
            <a:off x="7073900" y="2789771"/>
            <a:ext cx="4572000" cy="1138767"/>
          </a:xfrm>
          <a:prstGeom prst="roundRect">
            <a:avLst>
              <a:gd name="adj" fmla="val 11152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949377882" name="Shape 28"/>
          <p:cNvSpPr/>
          <p:nvPr/>
        </p:nvSpPr>
        <p:spPr bwMode="auto">
          <a:xfrm>
            <a:off x="7251700" y="291677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07A2D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410518033" name="Text 29"/>
          <p:cNvSpPr/>
          <p:nvPr/>
        </p:nvSpPr>
        <p:spPr bwMode="auto">
          <a:xfrm>
            <a:off x="7362230" y="2953618"/>
            <a:ext cx="134541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2</a:t>
            </a:r>
            <a:endParaRPr lang="en-US" sz="1300"/>
          </a:p>
        </p:txBody>
      </p:sp>
      <p:sp>
        <p:nvSpPr>
          <p:cNvPr id="1308399480" name="Text 30"/>
          <p:cNvSpPr/>
          <p:nvPr/>
        </p:nvSpPr>
        <p:spPr bwMode="auto">
          <a:xfrm>
            <a:off x="7645400" y="2935821"/>
            <a:ext cx="300679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Sopra il limite, salgono solo gli inviati</a:t>
            </a:r>
            <a:endParaRPr lang="en-US" sz="1500"/>
          </a:p>
        </p:txBody>
      </p:sp>
      <p:sp>
        <p:nvSpPr>
          <p:cNvPr id="1220391394" name="Text 31"/>
          <p:cNvSpPr/>
          <p:nvPr/>
        </p:nvSpPr>
        <p:spPr bwMode="auto">
          <a:xfrm>
            <a:off x="7251700" y="3259671"/>
            <a:ext cx="4342892" cy="45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  <a:defRPr/>
            </a:pPr>
            <a:r>
              <a:rPr lang="en-US" sz="13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Ricevuti e inoltrati si fermano insieme, a 1,9 milioni al secondo.</a:t>
            </a:r>
            <a:endParaRPr lang="en-US" sz="1300"/>
          </a:p>
        </p:txBody>
      </p:sp>
      <p:sp>
        <p:nvSpPr>
          <p:cNvPr id="1552000361" name="Shape 32"/>
          <p:cNvSpPr/>
          <p:nvPr/>
        </p:nvSpPr>
        <p:spPr bwMode="auto">
          <a:xfrm>
            <a:off x="7073900" y="4017442"/>
            <a:ext cx="4572000" cy="1138767"/>
          </a:xfrm>
          <a:prstGeom prst="roundRect">
            <a:avLst>
              <a:gd name="adj" fmla="val 11152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798146029" name="Shape 33"/>
          <p:cNvSpPr/>
          <p:nvPr/>
        </p:nvSpPr>
        <p:spPr bwMode="auto">
          <a:xfrm>
            <a:off x="7251700" y="414444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07A2D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667847657" name="Text 34"/>
          <p:cNvSpPr/>
          <p:nvPr/>
        </p:nvSpPr>
        <p:spPr bwMode="auto">
          <a:xfrm>
            <a:off x="7362230" y="4181277"/>
            <a:ext cx="134541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3</a:t>
            </a:r>
            <a:endParaRPr lang="en-US" sz="1300"/>
          </a:p>
        </p:txBody>
      </p:sp>
      <p:sp>
        <p:nvSpPr>
          <p:cNvPr id="238516387" name="Text 35"/>
          <p:cNvSpPr/>
          <p:nvPr/>
        </p:nvSpPr>
        <p:spPr bwMode="auto">
          <a:xfrm>
            <a:off x="7645400" y="4163492"/>
            <a:ext cx="267138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Ciò che manca non è mai entrato</a:t>
            </a:r>
            <a:endParaRPr lang="en-US" sz="1500"/>
          </a:p>
        </p:txBody>
      </p:sp>
      <p:sp>
        <p:nvSpPr>
          <p:cNvPr id="782415224" name="Text 36"/>
          <p:cNvSpPr/>
          <p:nvPr/>
        </p:nvSpPr>
        <p:spPr bwMode="auto">
          <a:xfrm>
            <a:off x="7251700" y="4487342"/>
            <a:ext cx="4342892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  <a:defRPr/>
            </a:pPr>
            <a:r>
              <a:rPr lang="en-US" sz="13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Il programma non perde niente di quello che prende.</a:t>
            </a:r>
            <a:endParaRPr lang="en-US" sz="1300"/>
          </a:p>
        </p:txBody>
      </p:sp>
      <p:sp>
        <p:nvSpPr>
          <p:cNvPr id="1178229569" name="Shape 37"/>
          <p:cNvSpPr/>
          <p:nvPr/>
        </p:nvSpPr>
        <p:spPr bwMode="auto">
          <a:xfrm>
            <a:off x="546100" y="5734050"/>
            <a:ext cx="11099800" cy="527050"/>
          </a:xfrm>
          <a:prstGeom prst="roundRect">
            <a:avLst>
              <a:gd name="adj" fmla="val 19277"/>
            </a:avLst>
          </a:prstGeom>
          <a:solidFill>
            <a:srgbClr val="FFF4D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902330877" name="Shape 38"/>
          <p:cNvSpPr/>
          <p:nvPr/>
        </p:nvSpPr>
        <p:spPr bwMode="auto">
          <a:xfrm>
            <a:off x="546100" y="5734050"/>
            <a:ext cx="82550" cy="527050"/>
          </a:xfrm>
          <a:custGeom>
            <a:avLst/>
            <a:gdLst/>
            <a:ahLst/>
            <a:cxnLst/>
            <a:rect l="l" t="t" r="r" b="b"/>
            <a:pathLst>
              <a:path w="82550" h="527050" fill="norm" stroke="1" extrusionOk="0">
                <a:moveTo>
                  <a:pt x="0" y="101600"/>
                </a:moveTo>
                <a:arcTo wR="101600" hR="101600" stAng="10800000" swAng="4751585"/>
                <a:lnTo>
                  <a:pt x="82550" y="525248"/>
                </a:lnTo>
                <a:arcTo wR="101600" hR="101600" stAng="6048415" swAng="4751585"/>
                <a:close/>
              </a:path>
            </a:pathLst>
          </a:custGeom>
          <a:solidFill>
            <a:srgbClr val="F2B134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97077033" name="Text 39"/>
          <p:cNvSpPr/>
          <p:nvPr/>
        </p:nvSpPr>
        <p:spPr bwMode="auto">
          <a:xfrm>
            <a:off x="819150" y="5890890"/>
            <a:ext cx="8762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B57A00"/>
                </a:solidFill>
                <a:latin typeface="Carlito"/>
                <a:ea typeface="Carlito"/>
                <a:cs typeface="Carlito"/>
              </a:rPr>
              <a:t>QUINDI</a:t>
            </a:r>
            <a:endParaRPr lang="en-US" sz="1200"/>
          </a:p>
        </p:txBody>
      </p:sp>
      <p:sp>
        <p:nvSpPr>
          <p:cNvPr id="1867611939" name="Text 40"/>
          <p:cNvSpPr/>
          <p:nvPr/>
        </p:nvSpPr>
        <p:spPr bwMode="auto">
          <a:xfrm>
            <a:off x="1822450" y="5873750"/>
            <a:ext cx="988269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  <a:defRPr/>
            </a:pP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Ricevuti e inoltrati restano sovrapposti in tutte e cinque le pipeline: </a:t>
            </a: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dopo XDP si perde al massimo lo 0,02%</a:t>
            </a: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 degli inviati.</a:t>
            </a:r>
            <a:endParaRPr lang="en-US" sz="1500"/>
          </a:p>
        </p:txBody>
      </p:sp>
      <p:sp>
        <p:nvSpPr>
          <p:cNvPr id="1270720501" name="Text 41"/>
          <p:cNvSpPr/>
          <p:nvPr/>
        </p:nvSpPr>
        <p:spPr bwMode="auto">
          <a:xfrm>
            <a:off x="546100" y="6426200"/>
            <a:ext cx="10072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i="1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Esempio: P2, mediana di 5 giri · linea scura = ricevuti da XDP, arancione = inoltrati: coincidono</a:t>
            </a:r>
            <a:endParaRPr lang="en-US" sz="1200"/>
          </a:p>
        </p:txBody>
      </p:sp>
      <p:sp>
        <p:nvSpPr>
          <p:cNvPr id="1895212810" name="Text 42"/>
          <p:cNvSpPr/>
          <p:nvPr/>
        </p:nvSpPr>
        <p:spPr bwMode="auto">
          <a:xfrm>
            <a:off x="10960099" y="642620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19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0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981945" name="Shape 0"/>
          <p:cNvSpPr/>
          <p:nvPr/>
        </p:nvSpPr>
        <p:spPr bwMode="auto">
          <a:xfrm>
            <a:off x="0" y="0"/>
            <a:ext cx="12192000" cy="107949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872597728" name="Text 1"/>
          <p:cNvSpPr/>
          <p:nvPr/>
        </p:nvSpPr>
        <p:spPr bwMode="auto">
          <a:xfrm>
            <a:off x="546100" y="330200"/>
            <a:ext cx="114327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5 · LA DOMANDA DEL RELATORE · LA PERDITA</a:t>
            </a:r>
            <a:endParaRPr lang="en-US" sz="1200"/>
          </a:p>
        </p:txBody>
      </p:sp>
      <p:sp>
        <p:nvSpPr>
          <p:cNvPr id="300519361" name="Text 2"/>
          <p:cNvSpPr/>
          <p:nvPr/>
        </p:nvSpPr>
        <p:spPr bwMode="auto">
          <a:xfrm>
            <a:off x="546100" y="584200"/>
            <a:ext cx="1143279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30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La perdita è tutta prima del programma</a:t>
            </a:r>
            <a:endParaRPr lang="en-US" sz="3000"/>
          </a:p>
        </p:txBody>
      </p:sp>
      <p:pic>
        <p:nvPicPr>
          <p:cNvPr id="1819112788" name="Image 0" descr="Perdita in percentuale dei pacchetti inviati contro traffico inviato, per pipeline. Le curve salgono dopo il ginocchio di ogni pipeline fino al 43, 50, 51, 68 e 74 per cento; dopo il programma la perdita resta sotto lo 0,02 per cento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6100" y="1562100"/>
            <a:ext cx="6350000" cy="3594100"/>
          </a:xfrm>
          <a:prstGeom prst="rect">
            <a:avLst/>
          </a:prstGeom>
        </p:spPr>
      </p:pic>
      <p:sp>
        <p:nvSpPr>
          <p:cNvPr id="1350184843" name="Text 3"/>
          <p:cNvSpPr/>
          <p:nvPr/>
        </p:nvSpPr>
        <p:spPr bwMode="auto">
          <a:xfrm>
            <a:off x="1130300" y="1727199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% dei pacchetti inviati che si perde</a:t>
            </a:r>
            <a:endParaRPr lang="en-US" sz="1200"/>
          </a:p>
        </p:txBody>
      </p:sp>
      <p:sp>
        <p:nvSpPr>
          <p:cNvPr id="2036028975" name="Text 4"/>
          <p:cNvSpPr/>
          <p:nvPr/>
        </p:nvSpPr>
        <p:spPr bwMode="auto">
          <a:xfrm>
            <a:off x="495300" y="4578350"/>
            <a:ext cx="482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0</a:t>
            </a:r>
            <a:endParaRPr lang="en-US" sz="1200"/>
          </a:p>
        </p:txBody>
      </p:sp>
      <p:sp>
        <p:nvSpPr>
          <p:cNvPr id="1249203114" name="Text 5"/>
          <p:cNvSpPr/>
          <p:nvPr/>
        </p:nvSpPr>
        <p:spPr bwMode="auto">
          <a:xfrm>
            <a:off x="495300" y="3832225"/>
            <a:ext cx="482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20</a:t>
            </a:r>
            <a:endParaRPr lang="en-US" sz="1200"/>
          </a:p>
        </p:txBody>
      </p:sp>
      <p:sp>
        <p:nvSpPr>
          <p:cNvPr id="322057412" name="Text 6"/>
          <p:cNvSpPr/>
          <p:nvPr/>
        </p:nvSpPr>
        <p:spPr bwMode="auto">
          <a:xfrm>
            <a:off x="495300" y="3086100"/>
            <a:ext cx="482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40</a:t>
            </a:r>
            <a:endParaRPr lang="en-US" sz="1200"/>
          </a:p>
        </p:txBody>
      </p:sp>
      <p:sp>
        <p:nvSpPr>
          <p:cNvPr id="1650279091" name="Text 7"/>
          <p:cNvSpPr/>
          <p:nvPr/>
        </p:nvSpPr>
        <p:spPr bwMode="auto">
          <a:xfrm>
            <a:off x="495300" y="2339975"/>
            <a:ext cx="482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60</a:t>
            </a:r>
            <a:endParaRPr lang="en-US" sz="1200"/>
          </a:p>
        </p:txBody>
      </p:sp>
      <p:sp>
        <p:nvSpPr>
          <p:cNvPr id="551496937" name="Text 8"/>
          <p:cNvSpPr/>
          <p:nvPr/>
        </p:nvSpPr>
        <p:spPr bwMode="auto">
          <a:xfrm>
            <a:off x="495300" y="1593850"/>
            <a:ext cx="482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80</a:t>
            </a:r>
            <a:endParaRPr lang="en-US" sz="1200"/>
          </a:p>
        </p:txBody>
      </p:sp>
      <p:sp>
        <p:nvSpPr>
          <p:cNvPr id="1964803276" name="Text 9"/>
          <p:cNvSpPr/>
          <p:nvPr/>
        </p:nvSpPr>
        <p:spPr bwMode="auto">
          <a:xfrm>
            <a:off x="774700" y="47371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0</a:t>
            </a:r>
            <a:endParaRPr lang="en-US" sz="1200"/>
          </a:p>
        </p:txBody>
      </p:sp>
      <p:sp>
        <p:nvSpPr>
          <p:cNvPr id="921241186" name="Text 10"/>
          <p:cNvSpPr/>
          <p:nvPr/>
        </p:nvSpPr>
        <p:spPr bwMode="auto">
          <a:xfrm>
            <a:off x="1727199" y="47371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0,5</a:t>
            </a:r>
            <a:endParaRPr lang="en-US" sz="1200"/>
          </a:p>
        </p:txBody>
      </p:sp>
      <p:sp>
        <p:nvSpPr>
          <p:cNvPr id="1645994134" name="Text 11"/>
          <p:cNvSpPr/>
          <p:nvPr/>
        </p:nvSpPr>
        <p:spPr bwMode="auto">
          <a:xfrm>
            <a:off x="2679700" y="47371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1,0</a:t>
            </a:r>
            <a:endParaRPr lang="en-US" sz="1200"/>
          </a:p>
        </p:txBody>
      </p:sp>
      <p:sp>
        <p:nvSpPr>
          <p:cNvPr id="444151063" name="Text 12"/>
          <p:cNvSpPr/>
          <p:nvPr/>
        </p:nvSpPr>
        <p:spPr bwMode="auto">
          <a:xfrm>
            <a:off x="3632200" y="47371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1,5</a:t>
            </a:r>
            <a:endParaRPr lang="en-US" sz="1200"/>
          </a:p>
        </p:txBody>
      </p:sp>
      <p:sp>
        <p:nvSpPr>
          <p:cNvPr id="234002464" name="Text 13"/>
          <p:cNvSpPr/>
          <p:nvPr/>
        </p:nvSpPr>
        <p:spPr bwMode="auto">
          <a:xfrm>
            <a:off x="4584700" y="47371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2,0</a:t>
            </a:r>
            <a:endParaRPr lang="en-US" sz="1200"/>
          </a:p>
        </p:txBody>
      </p:sp>
      <p:sp>
        <p:nvSpPr>
          <p:cNvPr id="1776787693" name="Text 14"/>
          <p:cNvSpPr/>
          <p:nvPr/>
        </p:nvSpPr>
        <p:spPr bwMode="auto">
          <a:xfrm>
            <a:off x="5537200" y="47371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2,5</a:t>
            </a:r>
            <a:endParaRPr lang="en-US" sz="1200"/>
          </a:p>
        </p:txBody>
      </p:sp>
      <p:sp>
        <p:nvSpPr>
          <p:cNvPr id="248882710" name="Text 15"/>
          <p:cNvSpPr/>
          <p:nvPr/>
        </p:nvSpPr>
        <p:spPr bwMode="auto">
          <a:xfrm>
            <a:off x="6489700" y="47371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3,0</a:t>
            </a:r>
            <a:endParaRPr lang="en-US" sz="1200"/>
          </a:p>
        </p:txBody>
      </p:sp>
      <p:sp>
        <p:nvSpPr>
          <p:cNvPr id="697998378" name="Text 16"/>
          <p:cNvSpPr/>
          <p:nvPr/>
        </p:nvSpPr>
        <p:spPr bwMode="auto">
          <a:xfrm>
            <a:off x="968375" y="495300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traffico inviato (Gbit/s, pacchetti da 64 byte)</a:t>
            </a:r>
            <a:endParaRPr lang="en-US" sz="1200"/>
          </a:p>
        </p:txBody>
      </p:sp>
      <p:sp>
        <p:nvSpPr>
          <p:cNvPr id="706055998" name="Text 17"/>
          <p:cNvSpPr/>
          <p:nvPr/>
        </p:nvSpPr>
        <p:spPr bwMode="auto">
          <a:xfrm>
            <a:off x="4939665" y="4381500"/>
            <a:ext cx="17659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C0443C"/>
                </a:solidFill>
                <a:latin typeface="Carlito"/>
                <a:ea typeface="Carlito"/>
                <a:cs typeface="Carlito"/>
              </a:rPr>
              <a:t>dopo XDP: ≤ 0,02%</a:t>
            </a:r>
            <a:endParaRPr lang="en-US" sz="1200"/>
          </a:p>
        </p:txBody>
      </p:sp>
      <p:sp>
        <p:nvSpPr>
          <p:cNvPr id="112649686" name="Text 18"/>
          <p:cNvSpPr/>
          <p:nvPr/>
        </p:nvSpPr>
        <p:spPr bwMode="auto">
          <a:xfrm>
            <a:off x="7073900" y="1562100"/>
            <a:ext cx="470916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Perdita a circa 3 Gbit/s</a:t>
            </a:r>
            <a:endParaRPr lang="en-US" sz="1500"/>
          </a:p>
        </p:txBody>
      </p:sp>
      <p:sp>
        <p:nvSpPr>
          <p:cNvPr id="1126774871" name="Text 19"/>
          <p:cNvSpPr/>
          <p:nvPr/>
        </p:nvSpPr>
        <p:spPr bwMode="auto">
          <a:xfrm>
            <a:off x="7073900" y="184150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prima del programma, % degli inviati</a:t>
            </a:r>
            <a:endParaRPr lang="en-US" sz="1200"/>
          </a:p>
        </p:txBody>
      </p:sp>
      <p:sp>
        <p:nvSpPr>
          <p:cNvPr id="1083932606" name="Shape 20"/>
          <p:cNvSpPr/>
          <p:nvPr/>
        </p:nvSpPr>
        <p:spPr bwMode="auto">
          <a:xfrm>
            <a:off x="7073900" y="2131020"/>
            <a:ext cx="4572000" cy="317500"/>
          </a:xfrm>
          <a:prstGeom prst="roundRect">
            <a:avLst>
              <a:gd name="adj" fmla="val 24000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891205073" name="Shape 21"/>
          <p:cNvSpPr/>
          <p:nvPr/>
        </p:nvSpPr>
        <p:spPr bwMode="auto">
          <a:xfrm>
            <a:off x="7188200" y="2213570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1F5F8B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393271220" name="Text 22"/>
          <p:cNvSpPr/>
          <p:nvPr/>
        </p:nvSpPr>
        <p:spPr bwMode="auto">
          <a:xfrm>
            <a:off x="7416800" y="2165288"/>
            <a:ext cx="337489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P3</a:t>
            </a:r>
            <a:endParaRPr lang="en-US" sz="1400"/>
          </a:p>
        </p:txBody>
      </p:sp>
      <p:sp>
        <p:nvSpPr>
          <p:cNvPr id="497914668" name="Text 23"/>
          <p:cNvSpPr/>
          <p:nvPr/>
        </p:nvSpPr>
        <p:spPr bwMode="auto">
          <a:xfrm>
            <a:off x="10718800" y="2138635"/>
            <a:ext cx="81280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380"/>
              </a:lnSpc>
              <a:buNone/>
              <a:defRPr/>
            </a:pPr>
            <a:r>
              <a:rPr lang="en-US" sz="17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74%</a:t>
            </a:r>
            <a:endParaRPr lang="en-US" sz="1700"/>
          </a:p>
        </p:txBody>
      </p:sp>
      <p:sp>
        <p:nvSpPr>
          <p:cNvPr id="913096462" name="Shape 24"/>
          <p:cNvSpPr/>
          <p:nvPr/>
        </p:nvSpPr>
        <p:spPr bwMode="auto">
          <a:xfrm>
            <a:off x="7073900" y="2524720"/>
            <a:ext cx="4572000" cy="317500"/>
          </a:xfrm>
          <a:prstGeom prst="roundRect">
            <a:avLst>
              <a:gd name="adj" fmla="val 24000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20942187" name="Shape 25"/>
          <p:cNvSpPr/>
          <p:nvPr/>
        </p:nvSpPr>
        <p:spPr bwMode="auto">
          <a:xfrm>
            <a:off x="7188200" y="2607270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2E9C8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960228955" name="Text 26"/>
          <p:cNvSpPr/>
          <p:nvPr/>
        </p:nvSpPr>
        <p:spPr bwMode="auto">
          <a:xfrm>
            <a:off x="7416800" y="2558988"/>
            <a:ext cx="337489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P2</a:t>
            </a:r>
            <a:endParaRPr lang="en-US" sz="1400"/>
          </a:p>
        </p:txBody>
      </p:sp>
      <p:sp>
        <p:nvSpPr>
          <p:cNvPr id="2010186790" name="Text 27"/>
          <p:cNvSpPr/>
          <p:nvPr/>
        </p:nvSpPr>
        <p:spPr bwMode="auto">
          <a:xfrm>
            <a:off x="10718800" y="2532335"/>
            <a:ext cx="81280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380"/>
              </a:lnSpc>
              <a:buNone/>
              <a:defRPr/>
            </a:pPr>
            <a:r>
              <a:rPr lang="en-US" sz="17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68%</a:t>
            </a:r>
            <a:endParaRPr lang="en-US" sz="1700"/>
          </a:p>
        </p:txBody>
      </p:sp>
      <p:sp>
        <p:nvSpPr>
          <p:cNvPr id="374400949" name="Shape 28"/>
          <p:cNvSpPr/>
          <p:nvPr/>
        </p:nvSpPr>
        <p:spPr bwMode="auto">
          <a:xfrm>
            <a:off x="7073900" y="2918420"/>
            <a:ext cx="4572000" cy="317500"/>
          </a:xfrm>
          <a:prstGeom prst="roundRect">
            <a:avLst>
              <a:gd name="adj" fmla="val 24000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55867019" name="Shape 29"/>
          <p:cNvSpPr/>
          <p:nvPr/>
        </p:nvSpPr>
        <p:spPr bwMode="auto">
          <a:xfrm>
            <a:off x="7188200" y="3000970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F09A3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702654887" name="Text 30"/>
          <p:cNvSpPr/>
          <p:nvPr/>
        </p:nvSpPr>
        <p:spPr bwMode="auto">
          <a:xfrm>
            <a:off x="7416800" y="2952688"/>
            <a:ext cx="337489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P1.5</a:t>
            </a:r>
            <a:endParaRPr lang="en-US" sz="1400"/>
          </a:p>
        </p:txBody>
      </p:sp>
      <p:sp>
        <p:nvSpPr>
          <p:cNvPr id="1247205245" name="Text 31"/>
          <p:cNvSpPr/>
          <p:nvPr/>
        </p:nvSpPr>
        <p:spPr bwMode="auto">
          <a:xfrm>
            <a:off x="10718800" y="2926035"/>
            <a:ext cx="81280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380"/>
              </a:lnSpc>
              <a:buNone/>
              <a:defRPr/>
            </a:pPr>
            <a:r>
              <a:rPr lang="en-US" sz="17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51%</a:t>
            </a:r>
            <a:endParaRPr lang="en-US" sz="1700"/>
          </a:p>
        </p:txBody>
      </p:sp>
      <p:sp>
        <p:nvSpPr>
          <p:cNvPr id="366863888" name="Shape 32"/>
          <p:cNvSpPr/>
          <p:nvPr/>
        </p:nvSpPr>
        <p:spPr bwMode="auto">
          <a:xfrm>
            <a:off x="7073900" y="3312120"/>
            <a:ext cx="4572000" cy="317500"/>
          </a:xfrm>
          <a:prstGeom prst="roundRect">
            <a:avLst>
              <a:gd name="adj" fmla="val 24000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05050507" name="Shape 33"/>
          <p:cNvSpPr/>
          <p:nvPr/>
        </p:nvSpPr>
        <p:spPr bwMode="auto">
          <a:xfrm>
            <a:off x="7188200" y="3394670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C8551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331807493" name="Text 34"/>
          <p:cNvSpPr/>
          <p:nvPr/>
        </p:nvSpPr>
        <p:spPr bwMode="auto">
          <a:xfrm>
            <a:off x="7416800" y="3346388"/>
            <a:ext cx="337489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P1</a:t>
            </a:r>
            <a:endParaRPr lang="en-US" sz="1400"/>
          </a:p>
        </p:txBody>
      </p:sp>
      <p:sp>
        <p:nvSpPr>
          <p:cNvPr id="969953443" name="Text 35"/>
          <p:cNvSpPr/>
          <p:nvPr/>
        </p:nvSpPr>
        <p:spPr bwMode="auto">
          <a:xfrm>
            <a:off x="10718800" y="3319735"/>
            <a:ext cx="81280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380"/>
              </a:lnSpc>
              <a:buNone/>
              <a:defRPr/>
            </a:pPr>
            <a:r>
              <a:rPr lang="en-US" sz="17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50%</a:t>
            </a:r>
            <a:endParaRPr lang="en-US" sz="1700"/>
          </a:p>
        </p:txBody>
      </p:sp>
      <p:sp>
        <p:nvSpPr>
          <p:cNvPr id="1681157903" name="Shape 36"/>
          <p:cNvSpPr/>
          <p:nvPr/>
        </p:nvSpPr>
        <p:spPr bwMode="auto">
          <a:xfrm>
            <a:off x="7073900" y="3705820"/>
            <a:ext cx="4572000" cy="317500"/>
          </a:xfrm>
          <a:prstGeom prst="roundRect">
            <a:avLst>
              <a:gd name="adj" fmla="val 24000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959747775" name="Shape 37"/>
          <p:cNvSpPr/>
          <p:nvPr/>
        </p:nvSpPr>
        <p:spPr bwMode="auto">
          <a:xfrm>
            <a:off x="7188200" y="3788370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8794A6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729506332" name="Text 38"/>
          <p:cNvSpPr/>
          <p:nvPr/>
        </p:nvSpPr>
        <p:spPr bwMode="auto">
          <a:xfrm>
            <a:off x="7416800" y="3740088"/>
            <a:ext cx="337489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baseline</a:t>
            </a:r>
            <a:endParaRPr lang="en-US" sz="1400"/>
          </a:p>
        </p:txBody>
      </p:sp>
      <p:sp>
        <p:nvSpPr>
          <p:cNvPr id="1701958759" name="Text 39"/>
          <p:cNvSpPr/>
          <p:nvPr/>
        </p:nvSpPr>
        <p:spPr bwMode="auto">
          <a:xfrm>
            <a:off x="10718800" y="3713435"/>
            <a:ext cx="81280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380"/>
              </a:lnSpc>
              <a:buNone/>
              <a:defRPr/>
            </a:pPr>
            <a:r>
              <a:rPr lang="en-US" sz="17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43%</a:t>
            </a:r>
            <a:endParaRPr lang="en-US" sz="1700"/>
          </a:p>
        </p:txBody>
      </p:sp>
      <p:sp>
        <p:nvSpPr>
          <p:cNvPr id="818091034" name="Shape 40"/>
          <p:cNvSpPr/>
          <p:nvPr/>
        </p:nvSpPr>
        <p:spPr bwMode="auto">
          <a:xfrm>
            <a:off x="7073900" y="4099520"/>
            <a:ext cx="4572000" cy="317500"/>
          </a:xfrm>
          <a:prstGeom prst="roundRect">
            <a:avLst>
              <a:gd name="adj" fmla="val 24000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467080235" name="Shape 41"/>
          <p:cNvSpPr/>
          <p:nvPr/>
        </p:nvSpPr>
        <p:spPr bwMode="auto">
          <a:xfrm>
            <a:off x="7188200" y="4182069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6B7C93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96040803" name="Text 42"/>
          <p:cNvSpPr/>
          <p:nvPr/>
        </p:nvSpPr>
        <p:spPr bwMode="auto">
          <a:xfrm>
            <a:off x="7416800" y="4133788"/>
            <a:ext cx="337489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rxonly (solo ricezione)</a:t>
            </a:r>
            <a:endParaRPr lang="en-US" sz="1400"/>
          </a:p>
        </p:txBody>
      </p:sp>
      <p:sp>
        <p:nvSpPr>
          <p:cNvPr id="1399327055" name="Text 43"/>
          <p:cNvSpPr/>
          <p:nvPr/>
        </p:nvSpPr>
        <p:spPr bwMode="auto">
          <a:xfrm>
            <a:off x="10718800" y="4107135"/>
            <a:ext cx="81280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380"/>
              </a:lnSpc>
              <a:buNone/>
              <a:defRPr/>
            </a:pPr>
            <a:r>
              <a:rPr lang="en-US" sz="17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21%</a:t>
            </a:r>
            <a:endParaRPr lang="en-US" sz="1700"/>
          </a:p>
        </p:txBody>
      </p:sp>
      <p:sp>
        <p:nvSpPr>
          <p:cNvPr id="783115801" name="Shape 44"/>
          <p:cNvSpPr/>
          <p:nvPr/>
        </p:nvSpPr>
        <p:spPr bwMode="auto">
          <a:xfrm>
            <a:off x="7073900" y="4493220"/>
            <a:ext cx="4572000" cy="718807"/>
          </a:xfrm>
          <a:prstGeom prst="roundRect">
            <a:avLst>
              <a:gd name="adj" fmla="val 17668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5394865" name="Shape 45"/>
          <p:cNvSpPr/>
          <p:nvPr/>
        </p:nvSpPr>
        <p:spPr bwMode="auto">
          <a:xfrm>
            <a:off x="7073900" y="4493220"/>
            <a:ext cx="4572000" cy="88900"/>
          </a:xfrm>
          <a:custGeom>
            <a:avLst/>
            <a:gdLst/>
            <a:ahLst/>
            <a:cxnLst/>
            <a:rect l="l" t="t" r="r" b="b"/>
            <a:pathLst>
              <a:path w="4572000" h="88900" fill="norm" stroke="1" extrusionOk="0">
                <a:moveTo>
                  <a:pt x="5850" y="88900"/>
                </a:moveTo>
                <a:arcTo wR="127000" hR="127000" stAng="11847456" swAng="4352544"/>
                <a:lnTo>
                  <a:pt x="4445000" y="0"/>
                </a:lnTo>
                <a:arcTo wR="127000" hR="127000" stAng="16200000" swAng="4352544"/>
                <a:close/>
              </a:path>
            </a:pathLst>
          </a:custGeom>
          <a:solidFill>
            <a:srgbClr val="C0443C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628092544" name="Text 46"/>
          <p:cNvSpPr/>
          <p:nvPr/>
        </p:nvSpPr>
        <p:spPr bwMode="auto">
          <a:xfrm>
            <a:off x="7226300" y="4658320"/>
            <a:ext cx="4395216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C0443C"/>
                </a:solidFill>
                <a:latin typeface="Carlito"/>
                <a:ea typeface="Carlito"/>
                <a:cs typeface="Carlito"/>
              </a:rPr>
              <a:t>Dopo il programma: ≤ 0,02%</a:t>
            </a:r>
            <a:endParaRPr lang="en-US" sz="1400"/>
          </a:p>
        </p:txBody>
      </p:sp>
      <p:sp>
        <p:nvSpPr>
          <p:cNvPr id="1073373321" name="Text 47"/>
          <p:cNvSpPr/>
          <p:nvPr/>
        </p:nvSpPr>
        <p:spPr bwMode="auto">
          <a:xfrm>
            <a:off x="7226300" y="4932635"/>
            <a:ext cx="4395216" cy="215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  <a:defRPr/>
            </a:pPr>
            <a:r>
              <a:rPr lang="en-US" sz="12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in tutte e cinque le pipeline, a ogni traffico</a:t>
            </a:r>
            <a:endParaRPr lang="en-US" sz="1200"/>
          </a:p>
        </p:txBody>
      </p:sp>
      <p:sp>
        <p:nvSpPr>
          <p:cNvPr id="761347182" name="Shape 48"/>
          <p:cNvSpPr/>
          <p:nvPr/>
        </p:nvSpPr>
        <p:spPr bwMode="auto">
          <a:xfrm>
            <a:off x="546100" y="5486400"/>
            <a:ext cx="11099800" cy="774700"/>
          </a:xfrm>
          <a:prstGeom prst="roundRect">
            <a:avLst>
              <a:gd name="adj" fmla="val 13115"/>
            </a:avLst>
          </a:prstGeom>
          <a:solidFill>
            <a:srgbClr val="FFF4D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06250230" name="Shape 49"/>
          <p:cNvSpPr/>
          <p:nvPr/>
        </p:nvSpPr>
        <p:spPr bwMode="auto">
          <a:xfrm>
            <a:off x="546100" y="5486400"/>
            <a:ext cx="82550" cy="774700"/>
          </a:xfrm>
          <a:custGeom>
            <a:avLst/>
            <a:gdLst/>
            <a:ahLst/>
            <a:cxnLst/>
            <a:rect l="l" t="t" r="r" b="b"/>
            <a:pathLst>
              <a:path w="82550" h="774700" fill="norm" stroke="1" extrusionOk="0">
                <a:moveTo>
                  <a:pt x="0" y="101600"/>
                </a:moveTo>
                <a:arcTo wR="101600" hR="101600" stAng="10800000" swAng="4751585"/>
                <a:lnTo>
                  <a:pt x="82550" y="772898"/>
                </a:lnTo>
                <a:arcTo wR="101600" hR="101600" stAng="6048415" swAng="4751585"/>
                <a:close/>
              </a:path>
            </a:pathLst>
          </a:custGeom>
          <a:solidFill>
            <a:srgbClr val="F2B134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117567346" name="Text 50"/>
          <p:cNvSpPr/>
          <p:nvPr/>
        </p:nvSpPr>
        <p:spPr bwMode="auto">
          <a:xfrm>
            <a:off x="819150" y="5767065"/>
            <a:ext cx="8762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B57A00"/>
                </a:solidFill>
                <a:latin typeface="Carlito"/>
                <a:ea typeface="Carlito"/>
                <a:cs typeface="Carlito"/>
              </a:rPr>
              <a:t>QUINDI</a:t>
            </a:r>
            <a:endParaRPr lang="en-US" sz="1200"/>
          </a:p>
        </p:txBody>
      </p:sp>
      <p:sp>
        <p:nvSpPr>
          <p:cNvPr id="1039198027" name="Text 51"/>
          <p:cNvSpPr/>
          <p:nvPr/>
        </p:nvSpPr>
        <p:spPr bwMode="auto">
          <a:xfrm>
            <a:off x="1822450" y="5626100"/>
            <a:ext cx="988269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  <a:defRPr/>
            </a:pP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Se si perde all'ingresso il collo di bottiglia è il programma: qui la perdita è </a:t>
            </a: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tutta all'ingresso</a:t>
            </a: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, quindi il collo di bottiglia non è la trasmissione.</a:t>
            </a:r>
            <a:endParaRPr lang="en-US" sz="1500"/>
          </a:p>
        </p:txBody>
      </p:sp>
      <p:sp>
        <p:nvSpPr>
          <p:cNvPr id="192449605" name="Text 52"/>
          <p:cNvSpPr/>
          <p:nvPr/>
        </p:nvSpPr>
        <p:spPr bwMode="auto">
          <a:xfrm>
            <a:off x="546100" y="6426200"/>
            <a:ext cx="10072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i="1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Perdita = (inviati − inoltrati) / inviati · mediana di 5 giri · a circa 3 Gbit/s si inviano 5,8 M pacchetti/s (5,7 per rxonly)</a:t>
            </a:r>
            <a:endParaRPr lang="en-US" sz="1200"/>
          </a:p>
        </p:txBody>
      </p:sp>
      <p:sp>
        <p:nvSpPr>
          <p:cNvPr id="86038796" name="Text 53"/>
          <p:cNvSpPr/>
          <p:nvPr/>
        </p:nvSpPr>
        <p:spPr bwMode="auto">
          <a:xfrm>
            <a:off x="10960099" y="642620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20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2381838" name="Shape 0"/>
          <p:cNvSpPr/>
          <p:nvPr/>
        </p:nvSpPr>
        <p:spPr bwMode="auto">
          <a:xfrm>
            <a:off x="0" y="0"/>
            <a:ext cx="12192000" cy="107949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997908374" name="Text 1"/>
          <p:cNvSpPr/>
          <p:nvPr/>
        </p:nvSpPr>
        <p:spPr bwMode="auto">
          <a:xfrm>
            <a:off x="546100" y="330200"/>
            <a:ext cx="114327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5 · LA DOMANDA DEL RELATORE · IL PROGRAMMA O LA RICEZIONE?</a:t>
            </a:r>
            <a:endParaRPr lang="en-US" sz="1200"/>
          </a:p>
        </p:txBody>
      </p:sp>
      <p:sp>
        <p:nvSpPr>
          <p:cNvPr id="1465708447" name="Text 2"/>
          <p:cNvSpPr/>
          <p:nvPr/>
        </p:nvSpPr>
        <p:spPr bwMode="auto">
          <a:xfrm>
            <a:off x="546100" y="584200"/>
            <a:ext cx="1143279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30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Oltre la sola ricezione, la perdita è del programma</a:t>
            </a:r>
            <a:endParaRPr lang="en-US" sz="3000"/>
          </a:p>
        </p:txBody>
      </p:sp>
      <p:sp>
        <p:nvSpPr>
          <p:cNvPr id="415683769" name="Text 3"/>
          <p:cNvSpPr/>
          <p:nvPr/>
        </p:nvSpPr>
        <p:spPr bwMode="auto">
          <a:xfrm>
            <a:off x="546100" y="1562100"/>
            <a:ext cx="11432794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  <a:defRPr/>
            </a:pPr>
            <a:r>
              <a:rPr lang="en-US" sz="16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A circa 3 Gbit/s anche il solo contatore (rxonly) perde il 21%: è il </a:t>
            </a:r>
            <a:r>
              <a:rPr lang="en-US" sz="16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pavimento</a:t>
            </a:r>
            <a:r>
              <a:rPr lang="en-US" sz="16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.</a:t>
            </a:r>
            <a:endParaRPr lang="en-US" sz="1600"/>
          </a:p>
        </p:txBody>
      </p:sp>
      <p:sp>
        <p:nvSpPr>
          <p:cNvPr id="581397948" name="Shape 4"/>
          <p:cNvSpPr/>
          <p:nvPr/>
        </p:nvSpPr>
        <p:spPr bwMode="auto">
          <a:xfrm>
            <a:off x="546100" y="2146238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CBD2DB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063802359" name="Text 5"/>
          <p:cNvSpPr/>
          <p:nvPr/>
        </p:nvSpPr>
        <p:spPr bwMode="auto">
          <a:xfrm>
            <a:off x="762000" y="2115815"/>
            <a:ext cx="21329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quanto perde già la sola ricezione</a:t>
            </a:r>
            <a:endParaRPr lang="en-US" sz="1200"/>
          </a:p>
        </p:txBody>
      </p:sp>
      <p:sp>
        <p:nvSpPr>
          <p:cNvPr id="997605000" name="Shape 6"/>
          <p:cNvSpPr/>
          <p:nvPr/>
        </p:nvSpPr>
        <p:spPr bwMode="auto">
          <a:xfrm>
            <a:off x="3010628" y="2146238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2E9C8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644613797" name="Text 7"/>
          <p:cNvSpPr/>
          <p:nvPr/>
        </p:nvSpPr>
        <p:spPr bwMode="auto">
          <a:xfrm>
            <a:off x="3226528" y="2115815"/>
            <a:ext cx="34668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in più: la perdita del programma (colore della pipeline)</a:t>
            </a:r>
            <a:endParaRPr lang="en-US" sz="1200"/>
          </a:p>
        </p:txBody>
      </p:sp>
      <p:sp>
        <p:nvSpPr>
          <p:cNvPr id="1366971700" name="Text 8"/>
          <p:cNvSpPr/>
          <p:nvPr/>
        </p:nvSpPr>
        <p:spPr bwMode="auto">
          <a:xfrm>
            <a:off x="546100" y="2621297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% dei pacchetti inviati che si perde prima del programma</a:t>
            </a:r>
            <a:endParaRPr lang="en-US" sz="1200"/>
          </a:p>
        </p:txBody>
      </p:sp>
      <p:sp>
        <p:nvSpPr>
          <p:cNvPr id="120604668" name="Text 9"/>
          <p:cNvSpPr/>
          <p:nvPr/>
        </p:nvSpPr>
        <p:spPr bwMode="auto">
          <a:xfrm>
            <a:off x="6337299" y="2621297"/>
            <a:ext cx="749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totale</a:t>
            </a:r>
            <a:endParaRPr lang="en-US" sz="1200"/>
          </a:p>
        </p:txBody>
      </p:sp>
      <p:sp>
        <p:nvSpPr>
          <p:cNvPr id="1953176325" name="Text 10"/>
          <p:cNvSpPr/>
          <p:nvPr/>
        </p:nvSpPr>
        <p:spPr bwMode="auto">
          <a:xfrm>
            <a:off x="7162800" y="2621297"/>
            <a:ext cx="1257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in più</a:t>
            </a:r>
            <a:endParaRPr lang="en-US" sz="1200"/>
          </a:p>
        </p:txBody>
      </p:sp>
      <p:sp>
        <p:nvSpPr>
          <p:cNvPr id="736057303" name="Text 11"/>
          <p:cNvSpPr/>
          <p:nvPr/>
        </p:nvSpPr>
        <p:spPr bwMode="auto">
          <a:xfrm>
            <a:off x="8496300" y="2621297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dopo il programma</a:t>
            </a:r>
            <a:endParaRPr lang="en-US" sz="1200"/>
          </a:p>
        </p:txBody>
      </p:sp>
      <p:sp>
        <p:nvSpPr>
          <p:cNvPr id="353697287" name="Shape 12"/>
          <p:cNvSpPr/>
          <p:nvPr/>
        </p:nvSpPr>
        <p:spPr bwMode="auto">
          <a:xfrm>
            <a:off x="546100" y="2967906"/>
            <a:ext cx="165100" cy="165100"/>
          </a:xfrm>
          <a:prstGeom prst="roundRect">
            <a:avLst>
              <a:gd name="adj" fmla="val 26923"/>
            </a:avLst>
          </a:prstGeom>
          <a:solidFill>
            <a:srgbClr val="6B7C93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071006667" name="Text 13"/>
          <p:cNvSpPr/>
          <p:nvPr/>
        </p:nvSpPr>
        <p:spPr bwMode="auto">
          <a:xfrm>
            <a:off x="787400" y="2926035"/>
            <a:ext cx="510514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rxonly</a:t>
            </a:r>
            <a:endParaRPr lang="en-US" sz="1400"/>
          </a:p>
        </p:txBody>
      </p:sp>
      <p:sp>
        <p:nvSpPr>
          <p:cNvPr id="1487040070" name="Shape 14"/>
          <p:cNvSpPr/>
          <p:nvPr/>
        </p:nvSpPr>
        <p:spPr bwMode="auto">
          <a:xfrm>
            <a:off x="2070100" y="2910818"/>
            <a:ext cx="1308100" cy="279400"/>
          </a:xfrm>
          <a:prstGeom prst="roundRect">
            <a:avLst>
              <a:gd name="adj" fmla="val 13636"/>
            </a:avLst>
          </a:prstGeom>
          <a:solidFill>
            <a:srgbClr val="CBD2DB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364638063" name="Text 15"/>
          <p:cNvSpPr/>
          <p:nvPr/>
        </p:nvSpPr>
        <p:spPr bwMode="auto">
          <a:xfrm>
            <a:off x="7861300" y="2917168"/>
            <a:ext cx="749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21%</a:t>
            </a:r>
            <a:endParaRPr lang="en-US" sz="1500"/>
          </a:p>
        </p:txBody>
      </p:sp>
      <p:sp>
        <p:nvSpPr>
          <p:cNvPr id="1146616982" name="Text 16"/>
          <p:cNvSpPr/>
          <p:nvPr/>
        </p:nvSpPr>
        <p:spPr bwMode="auto">
          <a:xfrm>
            <a:off x="8686800" y="2934965"/>
            <a:ext cx="12573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  <a:defRPr/>
            </a:pPr>
            <a:r>
              <a:rPr lang="en-US" sz="13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pavimento</a:t>
            </a:r>
            <a:endParaRPr lang="en-US" sz="1300"/>
          </a:p>
        </p:txBody>
      </p:sp>
      <p:sp>
        <p:nvSpPr>
          <p:cNvPr id="565744934" name="Text 17"/>
          <p:cNvSpPr/>
          <p:nvPr/>
        </p:nvSpPr>
        <p:spPr bwMode="auto">
          <a:xfrm>
            <a:off x="10020299" y="2934965"/>
            <a:ext cx="13208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  <a:defRPr/>
            </a:pPr>
            <a:r>
              <a:rPr lang="en-US" sz="13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—</a:t>
            </a:r>
            <a:endParaRPr lang="en-US" sz="1300"/>
          </a:p>
        </p:txBody>
      </p:sp>
      <p:sp>
        <p:nvSpPr>
          <p:cNvPr id="1577784615" name="Shape 18"/>
          <p:cNvSpPr/>
          <p:nvPr/>
        </p:nvSpPr>
        <p:spPr bwMode="auto">
          <a:xfrm>
            <a:off x="546100" y="3361606"/>
            <a:ext cx="165100" cy="165100"/>
          </a:xfrm>
          <a:prstGeom prst="roundRect">
            <a:avLst>
              <a:gd name="adj" fmla="val 26923"/>
            </a:avLst>
          </a:prstGeom>
          <a:solidFill>
            <a:srgbClr val="8794A6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106665039" name="Text 19"/>
          <p:cNvSpPr/>
          <p:nvPr/>
        </p:nvSpPr>
        <p:spPr bwMode="auto">
          <a:xfrm>
            <a:off x="787400" y="3319735"/>
            <a:ext cx="666683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baseline</a:t>
            </a:r>
            <a:endParaRPr lang="en-US" sz="1400"/>
          </a:p>
        </p:txBody>
      </p:sp>
      <p:sp>
        <p:nvSpPr>
          <p:cNvPr id="324263238" name="Shape 20"/>
          <p:cNvSpPr/>
          <p:nvPr/>
        </p:nvSpPr>
        <p:spPr bwMode="auto">
          <a:xfrm>
            <a:off x="2070100" y="3304517"/>
            <a:ext cx="1308100" cy="279400"/>
          </a:xfrm>
          <a:custGeom>
            <a:avLst/>
            <a:gdLst/>
            <a:ahLst/>
            <a:cxnLst/>
            <a:rect l="l" t="t" r="r" b="b"/>
            <a:pathLst>
              <a:path w="1308100" h="279400" fill="norm" stroke="1" extrusionOk="0">
                <a:moveTo>
                  <a:pt x="38100" y="0"/>
                </a:moveTo>
                <a:lnTo>
                  <a:pt x="1308100" y="0"/>
                </a:lnTo>
                <a:lnTo>
                  <a:pt x="1308100" y="279400"/>
                </a:lnTo>
                <a:lnTo>
                  <a:pt x="38100" y="27940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CBD2DB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95485778" name="Shape 21"/>
          <p:cNvSpPr/>
          <p:nvPr/>
        </p:nvSpPr>
        <p:spPr bwMode="auto">
          <a:xfrm>
            <a:off x="3378200" y="3304517"/>
            <a:ext cx="1454150" cy="279400"/>
          </a:xfrm>
          <a:custGeom>
            <a:avLst/>
            <a:gdLst/>
            <a:ahLst/>
            <a:cxnLst/>
            <a:rect l="l" t="t" r="r" b="b"/>
            <a:pathLst>
              <a:path w="1454150" h="279400" fill="norm" stroke="1" extrusionOk="0">
                <a:moveTo>
                  <a:pt x="0" y="0"/>
                </a:moveTo>
                <a:lnTo>
                  <a:pt x="1416050" y="0"/>
                </a:lnTo>
                <a:arcTo wR="38100" hR="38100" stAng="16200000" swAng="5400000"/>
                <a:lnTo>
                  <a:pt x="1454150" y="241300"/>
                </a:lnTo>
                <a:arcTo wR="38100" hR="38100" stAng="0" swAng="5400000"/>
                <a:lnTo>
                  <a:pt x="0" y="279400"/>
                </a:lnTo>
                <a:lnTo>
                  <a:pt x="0" y="0"/>
                </a:lnTo>
                <a:close/>
              </a:path>
            </a:pathLst>
          </a:custGeom>
          <a:solidFill>
            <a:srgbClr val="8794A6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817480062" name="Text 22"/>
          <p:cNvSpPr/>
          <p:nvPr/>
        </p:nvSpPr>
        <p:spPr bwMode="auto">
          <a:xfrm>
            <a:off x="7861300" y="3310868"/>
            <a:ext cx="749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44%</a:t>
            </a:r>
            <a:endParaRPr lang="en-US" sz="1500"/>
          </a:p>
        </p:txBody>
      </p:sp>
      <p:sp>
        <p:nvSpPr>
          <p:cNvPr id="1820584905" name="Text 23"/>
          <p:cNvSpPr/>
          <p:nvPr/>
        </p:nvSpPr>
        <p:spPr bwMode="auto">
          <a:xfrm>
            <a:off x="8686800" y="3319735"/>
            <a:ext cx="12573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+23 punti</a:t>
            </a:r>
            <a:endParaRPr lang="en-US" sz="1400"/>
          </a:p>
        </p:txBody>
      </p:sp>
      <p:sp>
        <p:nvSpPr>
          <p:cNvPr id="339120980" name="Text 24"/>
          <p:cNvSpPr/>
          <p:nvPr/>
        </p:nvSpPr>
        <p:spPr bwMode="auto">
          <a:xfrm>
            <a:off x="10020299" y="3319735"/>
            <a:ext cx="1320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≤ 0,02%</a:t>
            </a:r>
            <a:endParaRPr lang="en-US" sz="1400"/>
          </a:p>
        </p:txBody>
      </p:sp>
      <p:sp>
        <p:nvSpPr>
          <p:cNvPr id="1911913696" name="Shape 25"/>
          <p:cNvSpPr/>
          <p:nvPr/>
        </p:nvSpPr>
        <p:spPr bwMode="auto">
          <a:xfrm>
            <a:off x="546100" y="3755306"/>
            <a:ext cx="165100" cy="165100"/>
          </a:xfrm>
          <a:prstGeom prst="roundRect">
            <a:avLst>
              <a:gd name="adj" fmla="val 26923"/>
            </a:avLst>
          </a:prstGeom>
          <a:solidFill>
            <a:srgbClr val="C8551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857307856" name="Text 26"/>
          <p:cNvSpPr/>
          <p:nvPr/>
        </p:nvSpPr>
        <p:spPr bwMode="auto">
          <a:xfrm>
            <a:off x="787400" y="3713435"/>
            <a:ext cx="23554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P1</a:t>
            </a:r>
            <a:endParaRPr lang="en-US" sz="1400"/>
          </a:p>
        </p:txBody>
      </p:sp>
      <p:sp>
        <p:nvSpPr>
          <p:cNvPr id="1844331427" name="Shape 27"/>
          <p:cNvSpPr/>
          <p:nvPr/>
        </p:nvSpPr>
        <p:spPr bwMode="auto">
          <a:xfrm>
            <a:off x="2070100" y="3698218"/>
            <a:ext cx="1308100" cy="279400"/>
          </a:xfrm>
          <a:custGeom>
            <a:avLst/>
            <a:gdLst/>
            <a:ahLst/>
            <a:cxnLst/>
            <a:rect l="l" t="t" r="r" b="b"/>
            <a:pathLst>
              <a:path w="1308100" h="279400" fill="norm" stroke="1" extrusionOk="0">
                <a:moveTo>
                  <a:pt x="38100" y="0"/>
                </a:moveTo>
                <a:lnTo>
                  <a:pt x="1308100" y="0"/>
                </a:lnTo>
                <a:lnTo>
                  <a:pt x="1308100" y="279400"/>
                </a:lnTo>
                <a:lnTo>
                  <a:pt x="38100" y="27940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CBD2DB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12582581" name="Shape 28"/>
          <p:cNvSpPr/>
          <p:nvPr/>
        </p:nvSpPr>
        <p:spPr bwMode="auto">
          <a:xfrm>
            <a:off x="3378200" y="3698218"/>
            <a:ext cx="1879600" cy="279400"/>
          </a:xfrm>
          <a:custGeom>
            <a:avLst/>
            <a:gdLst/>
            <a:ahLst/>
            <a:cxnLst/>
            <a:rect l="l" t="t" r="r" b="b"/>
            <a:pathLst>
              <a:path w="1879600" h="279400" fill="norm" stroke="1" extrusionOk="0">
                <a:moveTo>
                  <a:pt x="0" y="0"/>
                </a:moveTo>
                <a:lnTo>
                  <a:pt x="1841500" y="0"/>
                </a:lnTo>
                <a:arcTo wR="38100" hR="38100" stAng="16200000" swAng="5400000"/>
                <a:lnTo>
                  <a:pt x="1879600" y="241300"/>
                </a:lnTo>
                <a:arcTo wR="38100" hR="38100" stAng="0" swAng="5400000"/>
                <a:lnTo>
                  <a:pt x="0" y="279400"/>
                </a:lnTo>
                <a:lnTo>
                  <a:pt x="0" y="0"/>
                </a:lnTo>
                <a:close/>
              </a:path>
            </a:pathLst>
          </a:custGeom>
          <a:solidFill>
            <a:srgbClr val="C8551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457615494" name="Text 29"/>
          <p:cNvSpPr/>
          <p:nvPr/>
        </p:nvSpPr>
        <p:spPr bwMode="auto">
          <a:xfrm>
            <a:off x="7861300" y="3704568"/>
            <a:ext cx="749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50%</a:t>
            </a:r>
            <a:endParaRPr lang="en-US" sz="1500"/>
          </a:p>
        </p:txBody>
      </p:sp>
      <p:sp>
        <p:nvSpPr>
          <p:cNvPr id="1485762197" name="Text 30"/>
          <p:cNvSpPr/>
          <p:nvPr/>
        </p:nvSpPr>
        <p:spPr bwMode="auto">
          <a:xfrm>
            <a:off x="8686800" y="3713435"/>
            <a:ext cx="12573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+30 punti</a:t>
            </a:r>
            <a:endParaRPr lang="en-US" sz="1400"/>
          </a:p>
        </p:txBody>
      </p:sp>
      <p:sp>
        <p:nvSpPr>
          <p:cNvPr id="437419427" name="Text 31"/>
          <p:cNvSpPr/>
          <p:nvPr/>
        </p:nvSpPr>
        <p:spPr bwMode="auto">
          <a:xfrm>
            <a:off x="10020299" y="3713435"/>
            <a:ext cx="1320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≤ 0,02%</a:t>
            </a:r>
            <a:endParaRPr lang="en-US" sz="1400"/>
          </a:p>
        </p:txBody>
      </p:sp>
      <p:sp>
        <p:nvSpPr>
          <p:cNvPr id="1472827554" name="Shape 32"/>
          <p:cNvSpPr/>
          <p:nvPr/>
        </p:nvSpPr>
        <p:spPr bwMode="auto">
          <a:xfrm>
            <a:off x="546100" y="4149006"/>
            <a:ext cx="165100" cy="165100"/>
          </a:xfrm>
          <a:prstGeom prst="roundRect">
            <a:avLst>
              <a:gd name="adj" fmla="val 26923"/>
            </a:avLst>
          </a:prstGeom>
          <a:solidFill>
            <a:srgbClr val="F09A3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47887506" name="Text 33"/>
          <p:cNvSpPr/>
          <p:nvPr/>
        </p:nvSpPr>
        <p:spPr bwMode="auto">
          <a:xfrm>
            <a:off x="787400" y="4107135"/>
            <a:ext cx="37319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P1.5</a:t>
            </a:r>
            <a:endParaRPr lang="en-US" sz="1400"/>
          </a:p>
        </p:txBody>
      </p:sp>
      <p:sp>
        <p:nvSpPr>
          <p:cNvPr id="222749472" name="Shape 34"/>
          <p:cNvSpPr/>
          <p:nvPr/>
        </p:nvSpPr>
        <p:spPr bwMode="auto">
          <a:xfrm>
            <a:off x="2070100" y="4091918"/>
            <a:ext cx="1308100" cy="279400"/>
          </a:xfrm>
          <a:custGeom>
            <a:avLst/>
            <a:gdLst/>
            <a:ahLst/>
            <a:cxnLst/>
            <a:rect l="l" t="t" r="r" b="b"/>
            <a:pathLst>
              <a:path w="1308100" h="279400" fill="norm" stroke="1" extrusionOk="0">
                <a:moveTo>
                  <a:pt x="38100" y="0"/>
                </a:moveTo>
                <a:lnTo>
                  <a:pt x="1308100" y="0"/>
                </a:lnTo>
                <a:lnTo>
                  <a:pt x="1308100" y="279400"/>
                </a:lnTo>
                <a:lnTo>
                  <a:pt x="38100" y="27940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CBD2DB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043973487" name="Shape 35"/>
          <p:cNvSpPr/>
          <p:nvPr/>
        </p:nvSpPr>
        <p:spPr bwMode="auto">
          <a:xfrm>
            <a:off x="3378200" y="4091918"/>
            <a:ext cx="1949450" cy="279400"/>
          </a:xfrm>
          <a:custGeom>
            <a:avLst/>
            <a:gdLst/>
            <a:ahLst/>
            <a:cxnLst/>
            <a:rect l="l" t="t" r="r" b="b"/>
            <a:pathLst>
              <a:path w="1949450" h="279400" fill="norm" stroke="1" extrusionOk="0">
                <a:moveTo>
                  <a:pt x="0" y="0"/>
                </a:moveTo>
                <a:lnTo>
                  <a:pt x="1911350" y="0"/>
                </a:lnTo>
                <a:arcTo wR="38100" hR="38100" stAng="16200000" swAng="5400000"/>
                <a:lnTo>
                  <a:pt x="1949450" y="241300"/>
                </a:lnTo>
                <a:arcTo wR="38100" hR="38100" stAng="0" swAng="5400000"/>
                <a:lnTo>
                  <a:pt x="0" y="279400"/>
                </a:lnTo>
                <a:lnTo>
                  <a:pt x="0" y="0"/>
                </a:lnTo>
                <a:close/>
              </a:path>
            </a:pathLst>
          </a:custGeom>
          <a:solidFill>
            <a:srgbClr val="F09A3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705274653" name="Text 36"/>
          <p:cNvSpPr/>
          <p:nvPr/>
        </p:nvSpPr>
        <p:spPr bwMode="auto">
          <a:xfrm>
            <a:off x="7861300" y="4098268"/>
            <a:ext cx="749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51%</a:t>
            </a:r>
            <a:endParaRPr lang="en-US" sz="1500"/>
          </a:p>
        </p:txBody>
      </p:sp>
      <p:sp>
        <p:nvSpPr>
          <p:cNvPr id="1028761823" name="Text 37"/>
          <p:cNvSpPr/>
          <p:nvPr/>
        </p:nvSpPr>
        <p:spPr bwMode="auto">
          <a:xfrm>
            <a:off x="8686800" y="4107135"/>
            <a:ext cx="12573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+31 punti</a:t>
            </a:r>
            <a:endParaRPr lang="en-US" sz="1400"/>
          </a:p>
        </p:txBody>
      </p:sp>
      <p:sp>
        <p:nvSpPr>
          <p:cNvPr id="773249687" name="Text 38"/>
          <p:cNvSpPr/>
          <p:nvPr/>
        </p:nvSpPr>
        <p:spPr bwMode="auto">
          <a:xfrm>
            <a:off x="10020299" y="4107135"/>
            <a:ext cx="1320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≤ 0,02%</a:t>
            </a:r>
            <a:endParaRPr lang="en-US" sz="1400"/>
          </a:p>
        </p:txBody>
      </p:sp>
      <p:sp>
        <p:nvSpPr>
          <p:cNvPr id="1760716052" name="Shape 39"/>
          <p:cNvSpPr/>
          <p:nvPr/>
        </p:nvSpPr>
        <p:spPr bwMode="auto">
          <a:xfrm>
            <a:off x="546100" y="4542706"/>
            <a:ext cx="165100" cy="165100"/>
          </a:xfrm>
          <a:prstGeom prst="roundRect">
            <a:avLst>
              <a:gd name="adj" fmla="val 26923"/>
            </a:avLst>
          </a:prstGeom>
          <a:solidFill>
            <a:srgbClr val="2E9C8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78779852" name="Text 40"/>
          <p:cNvSpPr/>
          <p:nvPr/>
        </p:nvSpPr>
        <p:spPr bwMode="auto">
          <a:xfrm>
            <a:off x="787400" y="4500835"/>
            <a:ext cx="23554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P2</a:t>
            </a:r>
            <a:endParaRPr lang="en-US" sz="1400"/>
          </a:p>
        </p:txBody>
      </p:sp>
      <p:sp>
        <p:nvSpPr>
          <p:cNvPr id="1731994679" name="Shape 41"/>
          <p:cNvSpPr/>
          <p:nvPr/>
        </p:nvSpPr>
        <p:spPr bwMode="auto">
          <a:xfrm>
            <a:off x="2070100" y="4485618"/>
            <a:ext cx="1308100" cy="279400"/>
          </a:xfrm>
          <a:custGeom>
            <a:avLst/>
            <a:gdLst/>
            <a:ahLst/>
            <a:cxnLst/>
            <a:rect l="l" t="t" r="r" b="b"/>
            <a:pathLst>
              <a:path w="1308100" h="279400" fill="norm" stroke="1" extrusionOk="0">
                <a:moveTo>
                  <a:pt x="38100" y="0"/>
                </a:moveTo>
                <a:lnTo>
                  <a:pt x="1308100" y="0"/>
                </a:lnTo>
                <a:lnTo>
                  <a:pt x="1308100" y="279400"/>
                </a:lnTo>
                <a:lnTo>
                  <a:pt x="38100" y="27940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CBD2DB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852387014" name="Shape 42"/>
          <p:cNvSpPr/>
          <p:nvPr/>
        </p:nvSpPr>
        <p:spPr bwMode="auto">
          <a:xfrm>
            <a:off x="3378200" y="4485618"/>
            <a:ext cx="2997200" cy="279400"/>
          </a:xfrm>
          <a:custGeom>
            <a:avLst/>
            <a:gdLst/>
            <a:ahLst/>
            <a:cxnLst/>
            <a:rect l="l" t="t" r="r" b="b"/>
            <a:pathLst>
              <a:path w="2997200" h="279400" fill="norm" stroke="1" extrusionOk="0">
                <a:moveTo>
                  <a:pt x="0" y="0"/>
                </a:moveTo>
                <a:lnTo>
                  <a:pt x="2959100" y="0"/>
                </a:lnTo>
                <a:arcTo wR="38100" hR="38100" stAng="16200000" swAng="5400000"/>
                <a:lnTo>
                  <a:pt x="2997200" y="241300"/>
                </a:lnTo>
                <a:arcTo wR="38100" hR="38100" stAng="0" swAng="5400000"/>
                <a:lnTo>
                  <a:pt x="0" y="279400"/>
                </a:lnTo>
                <a:lnTo>
                  <a:pt x="0" y="0"/>
                </a:lnTo>
                <a:close/>
              </a:path>
            </a:pathLst>
          </a:custGeom>
          <a:solidFill>
            <a:srgbClr val="2E9C8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49215772" name="Text 43"/>
          <p:cNvSpPr/>
          <p:nvPr/>
        </p:nvSpPr>
        <p:spPr bwMode="auto">
          <a:xfrm>
            <a:off x="7861300" y="4491968"/>
            <a:ext cx="749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68%</a:t>
            </a:r>
            <a:endParaRPr lang="en-US" sz="1500"/>
          </a:p>
        </p:txBody>
      </p:sp>
      <p:sp>
        <p:nvSpPr>
          <p:cNvPr id="1046904969" name="Text 44"/>
          <p:cNvSpPr/>
          <p:nvPr/>
        </p:nvSpPr>
        <p:spPr bwMode="auto">
          <a:xfrm>
            <a:off x="8686800" y="4500835"/>
            <a:ext cx="12573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+47 punti</a:t>
            </a:r>
            <a:endParaRPr lang="en-US" sz="1400"/>
          </a:p>
        </p:txBody>
      </p:sp>
      <p:sp>
        <p:nvSpPr>
          <p:cNvPr id="1334287549" name="Text 45"/>
          <p:cNvSpPr/>
          <p:nvPr/>
        </p:nvSpPr>
        <p:spPr bwMode="auto">
          <a:xfrm>
            <a:off x="10020299" y="4500835"/>
            <a:ext cx="1320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≤ 0,02%</a:t>
            </a:r>
            <a:endParaRPr lang="en-US" sz="1400"/>
          </a:p>
        </p:txBody>
      </p:sp>
      <p:sp>
        <p:nvSpPr>
          <p:cNvPr id="1646252156" name="Shape 46"/>
          <p:cNvSpPr/>
          <p:nvPr/>
        </p:nvSpPr>
        <p:spPr bwMode="auto">
          <a:xfrm>
            <a:off x="546100" y="4936406"/>
            <a:ext cx="165100" cy="165100"/>
          </a:xfrm>
          <a:prstGeom prst="roundRect">
            <a:avLst>
              <a:gd name="adj" fmla="val 26923"/>
            </a:avLst>
          </a:prstGeom>
          <a:solidFill>
            <a:srgbClr val="1F5F8B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76697438" name="Text 47"/>
          <p:cNvSpPr/>
          <p:nvPr/>
        </p:nvSpPr>
        <p:spPr bwMode="auto">
          <a:xfrm>
            <a:off x="787400" y="4894535"/>
            <a:ext cx="23554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P3</a:t>
            </a:r>
            <a:endParaRPr lang="en-US" sz="1400"/>
          </a:p>
        </p:txBody>
      </p:sp>
      <p:sp>
        <p:nvSpPr>
          <p:cNvPr id="1203224959" name="Shape 48"/>
          <p:cNvSpPr/>
          <p:nvPr/>
        </p:nvSpPr>
        <p:spPr bwMode="auto">
          <a:xfrm>
            <a:off x="2070100" y="4879318"/>
            <a:ext cx="1308100" cy="279400"/>
          </a:xfrm>
          <a:custGeom>
            <a:avLst/>
            <a:gdLst/>
            <a:ahLst/>
            <a:cxnLst/>
            <a:rect l="l" t="t" r="r" b="b"/>
            <a:pathLst>
              <a:path w="1308100" h="279400" fill="norm" stroke="1" extrusionOk="0">
                <a:moveTo>
                  <a:pt x="38100" y="0"/>
                </a:moveTo>
                <a:lnTo>
                  <a:pt x="1308100" y="0"/>
                </a:lnTo>
                <a:lnTo>
                  <a:pt x="1308100" y="279400"/>
                </a:lnTo>
                <a:lnTo>
                  <a:pt x="38100" y="27940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CBD2DB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58087848" name="Shape 49"/>
          <p:cNvSpPr/>
          <p:nvPr/>
        </p:nvSpPr>
        <p:spPr bwMode="auto">
          <a:xfrm>
            <a:off x="3378200" y="4879318"/>
            <a:ext cx="3403600" cy="279400"/>
          </a:xfrm>
          <a:custGeom>
            <a:avLst/>
            <a:gdLst/>
            <a:ahLst/>
            <a:cxnLst/>
            <a:rect l="l" t="t" r="r" b="b"/>
            <a:pathLst>
              <a:path w="3403600" h="279400" fill="norm" stroke="1" extrusionOk="0">
                <a:moveTo>
                  <a:pt x="0" y="0"/>
                </a:moveTo>
                <a:lnTo>
                  <a:pt x="3365500" y="0"/>
                </a:lnTo>
                <a:arcTo wR="38100" hR="38100" stAng="16200000" swAng="5400000"/>
                <a:lnTo>
                  <a:pt x="3403600" y="241300"/>
                </a:lnTo>
                <a:arcTo wR="38100" hR="38100" stAng="0" swAng="5400000"/>
                <a:lnTo>
                  <a:pt x="0" y="279400"/>
                </a:lnTo>
                <a:lnTo>
                  <a:pt x="0" y="0"/>
                </a:lnTo>
                <a:close/>
              </a:path>
            </a:pathLst>
          </a:custGeom>
          <a:solidFill>
            <a:srgbClr val="1F5F8B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717602634" name="Text 50"/>
          <p:cNvSpPr/>
          <p:nvPr/>
        </p:nvSpPr>
        <p:spPr bwMode="auto">
          <a:xfrm>
            <a:off x="7861300" y="4885668"/>
            <a:ext cx="749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74%</a:t>
            </a:r>
            <a:endParaRPr lang="en-US" sz="1500"/>
          </a:p>
        </p:txBody>
      </p:sp>
      <p:sp>
        <p:nvSpPr>
          <p:cNvPr id="1747410109" name="Text 51"/>
          <p:cNvSpPr/>
          <p:nvPr/>
        </p:nvSpPr>
        <p:spPr bwMode="auto">
          <a:xfrm>
            <a:off x="8686800" y="4894535"/>
            <a:ext cx="12573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+54 punti</a:t>
            </a:r>
            <a:endParaRPr lang="en-US" sz="1400"/>
          </a:p>
        </p:txBody>
      </p:sp>
      <p:sp>
        <p:nvSpPr>
          <p:cNvPr id="1903987821" name="Text 52"/>
          <p:cNvSpPr/>
          <p:nvPr/>
        </p:nvSpPr>
        <p:spPr bwMode="auto">
          <a:xfrm>
            <a:off x="10020299" y="4894535"/>
            <a:ext cx="1320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≤ 0,02%</a:t>
            </a:r>
            <a:endParaRPr lang="en-US" sz="1400"/>
          </a:p>
        </p:txBody>
      </p:sp>
      <p:sp>
        <p:nvSpPr>
          <p:cNvPr id="1527680013" name="Shape 53"/>
          <p:cNvSpPr/>
          <p:nvPr/>
        </p:nvSpPr>
        <p:spPr bwMode="auto">
          <a:xfrm>
            <a:off x="546100" y="5486400"/>
            <a:ext cx="11099800" cy="774700"/>
          </a:xfrm>
          <a:prstGeom prst="roundRect">
            <a:avLst>
              <a:gd name="adj" fmla="val 13115"/>
            </a:avLst>
          </a:prstGeom>
          <a:solidFill>
            <a:srgbClr val="FFF4D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30674709" name="Shape 54"/>
          <p:cNvSpPr/>
          <p:nvPr/>
        </p:nvSpPr>
        <p:spPr bwMode="auto">
          <a:xfrm>
            <a:off x="546100" y="5486400"/>
            <a:ext cx="82550" cy="774700"/>
          </a:xfrm>
          <a:custGeom>
            <a:avLst/>
            <a:gdLst/>
            <a:ahLst/>
            <a:cxnLst/>
            <a:rect l="l" t="t" r="r" b="b"/>
            <a:pathLst>
              <a:path w="82550" h="774700" fill="norm" stroke="1" extrusionOk="0">
                <a:moveTo>
                  <a:pt x="0" y="101600"/>
                </a:moveTo>
                <a:arcTo wR="101600" hR="101600" stAng="10800000" swAng="4751585"/>
                <a:lnTo>
                  <a:pt x="82550" y="772898"/>
                </a:lnTo>
                <a:arcTo wR="101600" hR="101600" stAng="6048415" swAng="4751585"/>
                <a:close/>
              </a:path>
            </a:pathLst>
          </a:custGeom>
          <a:solidFill>
            <a:srgbClr val="F2B134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807082372" name="Text 55"/>
          <p:cNvSpPr/>
          <p:nvPr/>
        </p:nvSpPr>
        <p:spPr bwMode="auto">
          <a:xfrm>
            <a:off x="819150" y="5767065"/>
            <a:ext cx="8762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B57A00"/>
                </a:solidFill>
                <a:latin typeface="Carlito"/>
                <a:ea typeface="Carlito"/>
                <a:cs typeface="Carlito"/>
              </a:rPr>
              <a:t>QUINDI</a:t>
            </a:r>
            <a:endParaRPr lang="en-US" sz="1200"/>
          </a:p>
        </p:txBody>
      </p:sp>
      <p:sp>
        <p:nvSpPr>
          <p:cNvPr id="912216479" name="Text 56"/>
          <p:cNvSpPr/>
          <p:nvPr/>
        </p:nvSpPr>
        <p:spPr bwMode="auto">
          <a:xfrm>
            <a:off x="1822450" y="5626100"/>
            <a:ext cx="988269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  <a:defRPr/>
            </a:pP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La perdita in più cresce con il </a:t>
            </a: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costo del programma</a:t>
            </a: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. Fino a 2,4 Gbit/s la sola ricezione non perde, e dopo il programma non si perde niente.</a:t>
            </a:r>
            <a:endParaRPr lang="en-US" sz="1500"/>
          </a:p>
        </p:txBody>
      </p:sp>
      <p:sp>
        <p:nvSpPr>
          <p:cNvPr id="2068154323" name="Text 57"/>
          <p:cNvSpPr/>
          <p:nvPr/>
        </p:nvSpPr>
        <p:spPr bwMode="auto">
          <a:xfrm>
            <a:off x="546100" y="6426200"/>
            <a:ext cx="10072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i="1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Traffico più alto della scala: 5,8 M pacchetti/s (5,7 per rxonly) · punti = differenza fra le due percentuali</a:t>
            </a:r>
            <a:endParaRPr lang="en-US" sz="1200"/>
          </a:p>
        </p:txBody>
      </p:sp>
      <p:sp>
        <p:nvSpPr>
          <p:cNvPr id="1410208826" name="Text 58"/>
          <p:cNvSpPr/>
          <p:nvPr/>
        </p:nvSpPr>
        <p:spPr bwMode="auto">
          <a:xfrm>
            <a:off x="10960099" y="642620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21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9052956" name="Shape 0"/>
          <p:cNvSpPr/>
          <p:nvPr/>
        </p:nvSpPr>
        <p:spPr bwMode="auto">
          <a:xfrm>
            <a:off x="0" y="0"/>
            <a:ext cx="12192000" cy="107949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996999131" name="Text 1"/>
          <p:cNvSpPr/>
          <p:nvPr/>
        </p:nvSpPr>
        <p:spPr bwMode="auto">
          <a:xfrm>
            <a:off x="546100" y="330200"/>
            <a:ext cx="114327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5 · LA DOMANDA DEL RELATORE · IL RITARDO</a:t>
            </a:r>
            <a:endParaRPr lang="en-US" sz="1200"/>
          </a:p>
        </p:txBody>
      </p:sp>
      <p:sp>
        <p:nvSpPr>
          <p:cNvPr id="847990038" name="Text 2"/>
          <p:cNvSpPr/>
          <p:nvPr/>
        </p:nvSpPr>
        <p:spPr bwMode="auto">
          <a:xfrm>
            <a:off x="546100" y="584200"/>
            <a:ext cx="1143279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30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Il ritardo salta dove comincia la perdita</a:t>
            </a:r>
            <a:endParaRPr lang="en-US" sz="3000"/>
          </a:p>
        </p:txBody>
      </p:sp>
      <p:pic>
        <p:nvPicPr>
          <p:cNvPr id="1585532326" name="Image 0" descr="Ritardo mediano in microsecondi contro traffico inviato. Resta di pochi microsecondi finché il nodo regge, poi salta a 85, 95, 99, 154 e 186 microsecondi per baseline, P1, P1.5, P2 e P3 dove comincia la perdita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6100" y="1562100"/>
            <a:ext cx="6350000" cy="3594100"/>
          </a:xfrm>
          <a:prstGeom prst="rect">
            <a:avLst/>
          </a:prstGeom>
        </p:spPr>
      </p:pic>
      <p:sp>
        <p:nvSpPr>
          <p:cNvPr id="1231863700" name="Text 3"/>
          <p:cNvSpPr/>
          <p:nvPr/>
        </p:nvSpPr>
        <p:spPr bwMode="auto">
          <a:xfrm>
            <a:off x="1130300" y="1727199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ritardo mediano, in µs</a:t>
            </a:r>
            <a:endParaRPr lang="en-US" sz="1200"/>
          </a:p>
        </p:txBody>
      </p:sp>
      <p:sp>
        <p:nvSpPr>
          <p:cNvPr id="1538481002" name="Text 4"/>
          <p:cNvSpPr/>
          <p:nvPr/>
        </p:nvSpPr>
        <p:spPr bwMode="auto">
          <a:xfrm>
            <a:off x="1308100" y="198120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pulita</a:t>
            </a:r>
            <a:endParaRPr lang="en-US" sz="1200"/>
          </a:p>
        </p:txBody>
      </p:sp>
      <p:sp>
        <p:nvSpPr>
          <p:cNvPr id="160847849" name="Text 5"/>
          <p:cNvSpPr/>
          <p:nvPr/>
        </p:nvSpPr>
        <p:spPr bwMode="auto">
          <a:xfrm>
            <a:off x="2146300" y="198120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in perdita</a:t>
            </a:r>
            <a:endParaRPr lang="en-US" sz="1200"/>
          </a:p>
        </p:txBody>
      </p:sp>
      <p:sp>
        <p:nvSpPr>
          <p:cNvPr id="849849906" name="Text 6"/>
          <p:cNvSpPr/>
          <p:nvPr/>
        </p:nvSpPr>
        <p:spPr bwMode="auto">
          <a:xfrm>
            <a:off x="495300" y="4578350"/>
            <a:ext cx="482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0</a:t>
            </a:r>
            <a:endParaRPr lang="en-US" sz="1200"/>
          </a:p>
        </p:txBody>
      </p:sp>
      <p:sp>
        <p:nvSpPr>
          <p:cNvPr id="1570675742" name="Text 7"/>
          <p:cNvSpPr/>
          <p:nvPr/>
        </p:nvSpPr>
        <p:spPr bwMode="auto">
          <a:xfrm>
            <a:off x="495300" y="3900165"/>
            <a:ext cx="482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50</a:t>
            </a:r>
            <a:endParaRPr lang="en-US" sz="1200"/>
          </a:p>
        </p:txBody>
      </p:sp>
      <p:sp>
        <p:nvSpPr>
          <p:cNvPr id="1752162078" name="Text 8"/>
          <p:cNvSpPr/>
          <p:nvPr/>
        </p:nvSpPr>
        <p:spPr bwMode="auto">
          <a:xfrm>
            <a:off x="495300" y="3221968"/>
            <a:ext cx="482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100</a:t>
            </a:r>
            <a:endParaRPr lang="en-US" sz="1200"/>
          </a:p>
        </p:txBody>
      </p:sp>
      <p:sp>
        <p:nvSpPr>
          <p:cNvPr id="590839205" name="Text 9"/>
          <p:cNvSpPr/>
          <p:nvPr/>
        </p:nvSpPr>
        <p:spPr bwMode="auto">
          <a:xfrm>
            <a:off x="495300" y="2543175"/>
            <a:ext cx="482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150</a:t>
            </a:r>
            <a:endParaRPr lang="en-US" sz="1200"/>
          </a:p>
        </p:txBody>
      </p:sp>
      <p:sp>
        <p:nvSpPr>
          <p:cNvPr id="1088346365" name="Text 10"/>
          <p:cNvSpPr/>
          <p:nvPr/>
        </p:nvSpPr>
        <p:spPr bwMode="auto">
          <a:xfrm>
            <a:off x="495300" y="1864990"/>
            <a:ext cx="482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200</a:t>
            </a:r>
            <a:endParaRPr lang="en-US" sz="1200"/>
          </a:p>
        </p:txBody>
      </p:sp>
      <p:sp>
        <p:nvSpPr>
          <p:cNvPr id="225425045" name="Text 11"/>
          <p:cNvSpPr/>
          <p:nvPr/>
        </p:nvSpPr>
        <p:spPr bwMode="auto">
          <a:xfrm>
            <a:off x="774700" y="47371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0</a:t>
            </a:r>
            <a:endParaRPr lang="en-US" sz="1200"/>
          </a:p>
        </p:txBody>
      </p:sp>
      <p:sp>
        <p:nvSpPr>
          <p:cNvPr id="1922660306" name="Text 12"/>
          <p:cNvSpPr/>
          <p:nvPr/>
        </p:nvSpPr>
        <p:spPr bwMode="auto">
          <a:xfrm>
            <a:off x="1727199" y="47371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0,5</a:t>
            </a:r>
            <a:endParaRPr lang="en-US" sz="1200"/>
          </a:p>
        </p:txBody>
      </p:sp>
      <p:sp>
        <p:nvSpPr>
          <p:cNvPr id="570375041" name="Text 13"/>
          <p:cNvSpPr/>
          <p:nvPr/>
        </p:nvSpPr>
        <p:spPr bwMode="auto">
          <a:xfrm>
            <a:off x="2679700" y="47371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1,0</a:t>
            </a:r>
            <a:endParaRPr lang="en-US" sz="1200"/>
          </a:p>
        </p:txBody>
      </p:sp>
      <p:sp>
        <p:nvSpPr>
          <p:cNvPr id="1491128679" name="Text 14"/>
          <p:cNvSpPr/>
          <p:nvPr/>
        </p:nvSpPr>
        <p:spPr bwMode="auto">
          <a:xfrm>
            <a:off x="3632200" y="47371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1,5</a:t>
            </a:r>
            <a:endParaRPr lang="en-US" sz="1200"/>
          </a:p>
        </p:txBody>
      </p:sp>
      <p:sp>
        <p:nvSpPr>
          <p:cNvPr id="753965364" name="Text 15"/>
          <p:cNvSpPr/>
          <p:nvPr/>
        </p:nvSpPr>
        <p:spPr bwMode="auto">
          <a:xfrm>
            <a:off x="4584700" y="47371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2,0</a:t>
            </a:r>
            <a:endParaRPr lang="en-US" sz="1200"/>
          </a:p>
        </p:txBody>
      </p:sp>
      <p:sp>
        <p:nvSpPr>
          <p:cNvPr id="763330554" name="Text 16"/>
          <p:cNvSpPr/>
          <p:nvPr/>
        </p:nvSpPr>
        <p:spPr bwMode="auto">
          <a:xfrm>
            <a:off x="5537200" y="47371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2,5</a:t>
            </a:r>
            <a:endParaRPr lang="en-US" sz="1200"/>
          </a:p>
        </p:txBody>
      </p:sp>
      <p:sp>
        <p:nvSpPr>
          <p:cNvPr id="952407366" name="Text 17"/>
          <p:cNvSpPr/>
          <p:nvPr/>
        </p:nvSpPr>
        <p:spPr bwMode="auto">
          <a:xfrm>
            <a:off x="6489700" y="47371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3,0</a:t>
            </a:r>
            <a:endParaRPr lang="en-US" sz="1200"/>
          </a:p>
        </p:txBody>
      </p:sp>
      <p:sp>
        <p:nvSpPr>
          <p:cNvPr id="1500197874" name="Text 18"/>
          <p:cNvSpPr/>
          <p:nvPr/>
        </p:nvSpPr>
        <p:spPr bwMode="auto">
          <a:xfrm>
            <a:off x="968375" y="495300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traffico inviato (Gbit/s, pacchetti da 64 byte)</a:t>
            </a:r>
            <a:endParaRPr lang="en-US" sz="1200"/>
          </a:p>
        </p:txBody>
      </p:sp>
      <p:sp>
        <p:nvSpPr>
          <p:cNvPr id="840371550" name="Text 19"/>
          <p:cNvSpPr/>
          <p:nvPr/>
        </p:nvSpPr>
        <p:spPr bwMode="auto">
          <a:xfrm>
            <a:off x="7073900" y="1562100"/>
            <a:ext cx="470916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La coda piena spiega il ritardo</a:t>
            </a:r>
            <a:endParaRPr lang="en-US" sz="1500"/>
          </a:p>
        </p:txBody>
      </p:sp>
      <p:sp>
        <p:nvSpPr>
          <p:cNvPr id="2122700187" name="Text 20"/>
          <p:cNvSpPr/>
          <p:nvPr/>
        </p:nvSpPr>
        <p:spPr bwMode="auto">
          <a:xfrm>
            <a:off x="7073900" y="1854200"/>
            <a:ext cx="4709160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  <a:defRPr/>
            </a:pPr>
            <a:r>
              <a:rPr lang="en-US" sz="13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attesa prevista = 256 posti ÷ capacità della pipeline</a:t>
            </a:r>
            <a:endParaRPr lang="en-US" sz="1300"/>
          </a:p>
        </p:txBody>
      </p:sp>
      <p:sp>
        <p:nvSpPr>
          <p:cNvPr id="1354707861" name="Text 21"/>
          <p:cNvSpPr/>
          <p:nvPr/>
        </p:nvSpPr>
        <p:spPr bwMode="auto">
          <a:xfrm>
            <a:off x="7175500" y="2241029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pipeline</a:t>
            </a:r>
            <a:endParaRPr lang="en-US" sz="1200"/>
          </a:p>
        </p:txBody>
      </p:sp>
      <p:sp>
        <p:nvSpPr>
          <p:cNvPr id="301966077" name="Text 22"/>
          <p:cNvSpPr/>
          <p:nvPr/>
        </p:nvSpPr>
        <p:spPr bwMode="auto">
          <a:xfrm>
            <a:off x="8394700" y="2241029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prevista</a:t>
            </a:r>
            <a:endParaRPr lang="en-US" sz="1200"/>
          </a:p>
        </p:txBody>
      </p:sp>
      <p:sp>
        <p:nvSpPr>
          <p:cNvPr id="2014645229" name="Text 23"/>
          <p:cNvSpPr/>
          <p:nvPr/>
        </p:nvSpPr>
        <p:spPr bwMode="auto">
          <a:xfrm>
            <a:off x="9918700" y="2241029"/>
            <a:ext cx="138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misurata (p50)</a:t>
            </a:r>
            <a:endParaRPr lang="en-US" sz="1200"/>
          </a:p>
        </p:txBody>
      </p:sp>
      <p:sp>
        <p:nvSpPr>
          <p:cNvPr id="2124876929" name="Shape 24"/>
          <p:cNvSpPr/>
          <p:nvPr/>
        </p:nvSpPr>
        <p:spPr bwMode="auto">
          <a:xfrm>
            <a:off x="7073900" y="2585839"/>
            <a:ext cx="4572000" cy="342900"/>
          </a:xfrm>
          <a:prstGeom prst="roundRect">
            <a:avLst>
              <a:gd name="adj" fmla="val 22222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622932718" name="Shape 25"/>
          <p:cNvSpPr/>
          <p:nvPr/>
        </p:nvSpPr>
        <p:spPr bwMode="auto">
          <a:xfrm>
            <a:off x="7175500" y="2681027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8794A6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004701643" name="Text 26"/>
          <p:cNvSpPr/>
          <p:nvPr/>
        </p:nvSpPr>
        <p:spPr bwMode="auto">
          <a:xfrm>
            <a:off x="7391400" y="2632807"/>
            <a:ext cx="666683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baseline</a:t>
            </a:r>
            <a:endParaRPr lang="en-US" sz="1400"/>
          </a:p>
        </p:txBody>
      </p:sp>
      <p:sp>
        <p:nvSpPr>
          <p:cNvPr id="1697684380" name="Text 27"/>
          <p:cNvSpPr/>
          <p:nvPr/>
        </p:nvSpPr>
        <p:spPr bwMode="auto">
          <a:xfrm>
            <a:off x="8394700" y="2632807"/>
            <a:ext cx="1574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77 µs</a:t>
            </a:r>
            <a:endParaRPr lang="en-US" sz="1400"/>
          </a:p>
        </p:txBody>
      </p:sp>
      <p:sp>
        <p:nvSpPr>
          <p:cNvPr id="1926103116" name="Text 28"/>
          <p:cNvSpPr/>
          <p:nvPr/>
        </p:nvSpPr>
        <p:spPr bwMode="auto">
          <a:xfrm>
            <a:off x="9918700" y="2632807"/>
            <a:ext cx="13843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84 µs</a:t>
            </a:r>
            <a:endParaRPr lang="en-US" sz="1400"/>
          </a:p>
        </p:txBody>
      </p:sp>
      <p:sp>
        <p:nvSpPr>
          <p:cNvPr id="373273043" name="Shape 29"/>
          <p:cNvSpPr/>
          <p:nvPr/>
        </p:nvSpPr>
        <p:spPr bwMode="auto">
          <a:xfrm>
            <a:off x="7073900" y="3060303"/>
            <a:ext cx="4572000" cy="342900"/>
          </a:xfrm>
          <a:prstGeom prst="roundRect">
            <a:avLst>
              <a:gd name="adj" fmla="val 22222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776571649" name="Shape 30"/>
          <p:cNvSpPr/>
          <p:nvPr/>
        </p:nvSpPr>
        <p:spPr bwMode="auto">
          <a:xfrm>
            <a:off x="7175500" y="3155491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C8551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667985432" name="Text 31"/>
          <p:cNvSpPr/>
          <p:nvPr/>
        </p:nvSpPr>
        <p:spPr bwMode="auto">
          <a:xfrm>
            <a:off x="7391400" y="3107271"/>
            <a:ext cx="23554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P1</a:t>
            </a:r>
            <a:endParaRPr lang="en-US" sz="1400"/>
          </a:p>
        </p:txBody>
      </p:sp>
      <p:sp>
        <p:nvSpPr>
          <p:cNvPr id="823391305" name="Text 32"/>
          <p:cNvSpPr/>
          <p:nvPr/>
        </p:nvSpPr>
        <p:spPr bwMode="auto">
          <a:xfrm>
            <a:off x="8394700" y="3107271"/>
            <a:ext cx="1574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87 µs</a:t>
            </a:r>
            <a:endParaRPr lang="en-US" sz="1400"/>
          </a:p>
        </p:txBody>
      </p:sp>
      <p:sp>
        <p:nvSpPr>
          <p:cNvPr id="291426118" name="Text 33"/>
          <p:cNvSpPr/>
          <p:nvPr/>
        </p:nvSpPr>
        <p:spPr bwMode="auto">
          <a:xfrm>
            <a:off x="9918700" y="3107271"/>
            <a:ext cx="13843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95 µs</a:t>
            </a:r>
            <a:endParaRPr lang="en-US" sz="1400"/>
          </a:p>
        </p:txBody>
      </p:sp>
      <p:sp>
        <p:nvSpPr>
          <p:cNvPr id="263023725" name="Shape 34"/>
          <p:cNvSpPr/>
          <p:nvPr/>
        </p:nvSpPr>
        <p:spPr bwMode="auto">
          <a:xfrm>
            <a:off x="7073900" y="3534767"/>
            <a:ext cx="4572000" cy="342900"/>
          </a:xfrm>
          <a:prstGeom prst="roundRect">
            <a:avLst>
              <a:gd name="adj" fmla="val 22222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691956746" name="Shape 35"/>
          <p:cNvSpPr/>
          <p:nvPr/>
        </p:nvSpPr>
        <p:spPr bwMode="auto">
          <a:xfrm>
            <a:off x="7175500" y="3629955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F09A3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43775612" name="Text 36"/>
          <p:cNvSpPr/>
          <p:nvPr/>
        </p:nvSpPr>
        <p:spPr bwMode="auto">
          <a:xfrm>
            <a:off x="7391400" y="3581735"/>
            <a:ext cx="37319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P1.5</a:t>
            </a:r>
            <a:endParaRPr lang="en-US" sz="1400"/>
          </a:p>
        </p:txBody>
      </p:sp>
      <p:sp>
        <p:nvSpPr>
          <p:cNvPr id="118837679" name="Text 37"/>
          <p:cNvSpPr/>
          <p:nvPr/>
        </p:nvSpPr>
        <p:spPr bwMode="auto">
          <a:xfrm>
            <a:off x="8394700" y="3581735"/>
            <a:ext cx="1574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90 µs</a:t>
            </a:r>
            <a:endParaRPr lang="en-US" sz="1400"/>
          </a:p>
        </p:txBody>
      </p:sp>
      <p:sp>
        <p:nvSpPr>
          <p:cNvPr id="1538432312" name="Text 38"/>
          <p:cNvSpPr/>
          <p:nvPr/>
        </p:nvSpPr>
        <p:spPr bwMode="auto">
          <a:xfrm>
            <a:off x="9918700" y="3581735"/>
            <a:ext cx="13843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99 µs</a:t>
            </a:r>
            <a:endParaRPr lang="en-US" sz="1400"/>
          </a:p>
        </p:txBody>
      </p:sp>
      <p:sp>
        <p:nvSpPr>
          <p:cNvPr id="377915570" name="Shape 39"/>
          <p:cNvSpPr/>
          <p:nvPr/>
        </p:nvSpPr>
        <p:spPr bwMode="auto">
          <a:xfrm>
            <a:off x="7073900" y="4009231"/>
            <a:ext cx="4572000" cy="342900"/>
          </a:xfrm>
          <a:prstGeom prst="roundRect">
            <a:avLst>
              <a:gd name="adj" fmla="val 22222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71556474" name="Shape 40"/>
          <p:cNvSpPr/>
          <p:nvPr/>
        </p:nvSpPr>
        <p:spPr bwMode="auto">
          <a:xfrm>
            <a:off x="7175500" y="4104418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2E9C8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065664395" name="Text 41"/>
          <p:cNvSpPr/>
          <p:nvPr/>
        </p:nvSpPr>
        <p:spPr bwMode="auto">
          <a:xfrm>
            <a:off x="7391400" y="4056199"/>
            <a:ext cx="23554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P2</a:t>
            </a:r>
            <a:endParaRPr lang="en-US" sz="1400"/>
          </a:p>
        </p:txBody>
      </p:sp>
      <p:sp>
        <p:nvSpPr>
          <p:cNvPr id="1592436618" name="Text 42"/>
          <p:cNvSpPr/>
          <p:nvPr/>
        </p:nvSpPr>
        <p:spPr bwMode="auto">
          <a:xfrm>
            <a:off x="8394700" y="4056199"/>
            <a:ext cx="1574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135 µs</a:t>
            </a:r>
            <a:endParaRPr lang="en-US" sz="1400"/>
          </a:p>
        </p:txBody>
      </p:sp>
      <p:sp>
        <p:nvSpPr>
          <p:cNvPr id="510040582" name="Text 43"/>
          <p:cNvSpPr/>
          <p:nvPr/>
        </p:nvSpPr>
        <p:spPr bwMode="auto">
          <a:xfrm>
            <a:off x="9918700" y="4056199"/>
            <a:ext cx="13843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154 µs</a:t>
            </a:r>
            <a:endParaRPr lang="en-US" sz="1400"/>
          </a:p>
        </p:txBody>
      </p:sp>
      <p:sp>
        <p:nvSpPr>
          <p:cNvPr id="2094004657" name="Shape 44"/>
          <p:cNvSpPr/>
          <p:nvPr/>
        </p:nvSpPr>
        <p:spPr bwMode="auto">
          <a:xfrm>
            <a:off x="7073900" y="4483633"/>
            <a:ext cx="4572000" cy="342900"/>
          </a:xfrm>
          <a:prstGeom prst="roundRect">
            <a:avLst>
              <a:gd name="adj" fmla="val 22222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934622360" name="Shape 45"/>
          <p:cNvSpPr/>
          <p:nvPr/>
        </p:nvSpPr>
        <p:spPr bwMode="auto">
          <a:xfrm>
            <a:off x="7175500" y="4578821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1F5F8B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52868581" name="Text 46"/>
          <p:cNvSpPr/>
          <p:nvPr/>
        </p:nvSpPr>
        <p:spPr bwMode="auto">
          <a:xfrm>
            <a:off x="7391400" y="4530601"/>
            <a:ext cx="23554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P3</a:t>
            </a:r>
            <a:endParaRPr lang="en-US" sz="1400"/>
          </a:p>
        </p:txBody>
      </p:sp>
      <p:sp>
        <p:nvSpPr>
          <p:cNvPr id="1255375501" name="Text 47"/>
          <p:cNvSpPr/>
          <p:nvPr/>
        </p:nvSpPr>
        <p:spPr bwMode="auto">
          <a:xfrm>
            <a:off x="8394700" y="4530601"/>
            <a:ext cx="1574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171 µs</a:t>
            </a:r>
            <a:endParaRPr lang="en-US" sz="1400"/>
          </a:p>
        </p:txBody>
      </p:sp>
      <p:sp>
        <p:nvSpPr>
          <p:cNvPr id="779229104" name="Text 48"/>
          <p:cNvSpPr/>
          <p:nvPr/>
        </p:nvSpPr>
        <p:spPr bwMode="auto">
          <a:xfrm>
            <a:off x="9918700" y="4530601"/>
            <a:ext cx="13843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186 µs</a:t>
            </a:r>
            <a:endParaRPr lang="en-US" sz="1400"/>
          </a:p>
        </p:txBody>
      </p:sp>
      <p:sp>
        <p:nvSpPr>
          <p:cNvPr id="1516578980" name="Text 49"/>
          <p:cNvSpPr/>
          <p:nvPr/>
        </p:nvSpPr>
        <p:spPr bwMode="auto">
          <a:xfrm>
            <a:off x="7073900" y="4958097"/>
            <a:ext cx="4709160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Il resto (circa il 10%) è il percorso fino al nodo successivo.</a:t>
            </a:r>
            <a:endParaRPr lang="en-US" sz="1200"/>
          </a:p>
        </p:txBody>
      </p:sp>
      <p:sp>
        <p:nvSpPr>
          <p:cNvPr id="1969432019" name="Shape 50"/>
          <p:cNvSpPr/>
          <p:nvPr/>
        </p:nvSpPr>
        <p:spPr bwMode="auto">
          <a:xfrm>
            <a:off x="546100" y="5734050"/>
            <a:ext cx="11099800" cy="527050"/>
          </a:xfrm>
          <a:prstGeom prst="roundRect">
            <a:avLst>
              <a:gd name="adj" fmla="val 19277"/>
            </a:avLst>
          </a:prstGeom>
          <a:solidFill>
            <a:srgbClr val="FFF4D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392044801" name="Shape 51"/>
          <p:cNvSpPr/>
          <p:nvPr/>
        </p:nvSpPr>
        <p:spPr bwMode="auto">
          <a:xfrm>
            <a:off x="546100" y="5734050"/>
            <a:ext cx="82550" cy="527050"/>
          </a:xfrm>
          <a:custGeom>
            <a:avLst/>
            <a:gdLst/>
            <a:ahLst/>
            <a:cxnLst/>
            <a:rect l="l" t="t" r="r" b="b"/>
            <a:pathLst>
              <a:path w="82550" h="527050" fill="norm" stroke="1" extrusionOk="0">
                <a:moveTo>
                  <a:pt x="0" y="101600"/>
                </a:moveTo>
                <a:arcTo wR="101600" hR="101600" stAng="10800000" swAng="4751585"/>
                <a:lnTo>
                  <a:pt x="82550" y="525248"/>
                </a:lnTo>
                <a:arcTo wR="101600" hR="101600" stAng="6048415" swAng="4751585"/>
                <a:close/>
              </a:path>
            </a:pathLst>
          </a:custGeom>
          <a:solidFill>
            <a:srgbClr val="F2B134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635357696" name="Text 52"/>
          <p:cNvSpPr/>
          <p:nvPr/>
        </p:nvSpPr>
        <p:spPr bwMode="auto">
          <a:xfrm>
            <a:off x="819150" y="5890890"/>
            <a:ext cx="8762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B57A00"/>
                </a:solidFill>
                <a:latin typeface="Carlito"/>
                <a:ea typeface="Carlito"/>
                <a:cs typeface="Carlito"/>
              </a:rPr>
              <a:t>QUINDI</a:t>
            </a:r>
            <a:endParaRPr lang="en-US" sz="1200"/>
          </a:p>
        </p:txBody>
      </p:sp>
      <p:sp>
        <p:nvSpPr>
          <p:cNvPr id="238880386" name="Text 53"/>
          <p:cNvSpPr/>
          <p:nvPr/>
        </p:nvSpPr>
        <p:spPr bwMode="auto">
          <a:xfrm>
            <a:off x="1822450" y="5873750"/>
            <a:ext cx="988269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  <a:defRPr/>
            </a:pP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Oltre la sua capacità il nodo non riesce a svuotare la coda, che resta </a:t>
            </a: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piena</a:t>
            </a: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: il ritardo si ferma e cresce la perdita.</a:t>
            </a:r>
            <a:endParaRPr lang="en-US" sz="1500"/>
          </a:p>
        </p:txBody>
      </p:sp>
      <p:sp>
        <p:nvSpPr>
          <p:cNvPr id="1052403528" name="Text 54"/>
          <p:cNvSpPr/>
          <p:nvPr/>
        </p:nvSpPr>
        <p:spPr bwMode="auto">
          <a:xfrm>
            <a:off x="546100" y="6426200"/>
            <a:ext cx="10072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i="1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Ritardo dal timbro del generatore all'arrivo al nodo successivo · mediana (p50) oltre la saturazione · capacità come nella slide 18</a:t>
            </a:r>
            <a:endParaRPr lang="en-US" sz="1200"/>
          </a:p>
        </p:txBody>
      </p:sp>
      <p:sp>
        <p:nvSpPr>
          <p:cNvPr id="1990810389" name="Text 55"/>
          <p:cNvSpPr/>
          <p:nvPr/>
        </p:nvSpPr>
        <p:spPr bwMode="auto">
          <a:xfrm>
            <a:off x="10960099" y="642620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22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816499" name="Shape 0"/>
          <p:cNvSpPr/>
          <p:nvPr/>
        </p:nvSpPr>
        <p:spPr bwMode="auto">
          <a:xfrm>
            <a:off x="0" y="0"/>
            <a:ext cx="12192000" cy="107949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098492128" name="Text 1"/>
          <p:cNvSpPr/>
          <p:nvPr/>
        </p:nvSpPr>
        <p:spPr bwMode="auto">
          <a:xfrm>
            <a:off x="546100" y="330200"/>
            <a:ext cx="114327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5 · LA DOMANDA DEL RELATORE · PIÙ CORE</a:t>
            </a:r>
            <a:endParaRPr lang="en-US" sz="1200"/>
          </a:p>
        </p:txBody>
      </p:sp>
      <p:sp>
        <p:nvSpPr>
          <p:cNvPr id="1711403555" name="Text 2"/>
          <p:cNvSpPr/>
          <p:nvPr/>
        </p:nvSpPr>
        <p:spPr bwMode="auto">
          <a:xfrm>
            <a:off x="546100" y="584200"/>
            <a:ext cx="1143279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30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Con due core la capacità raddoppia</a:t>
            </a:r>
            <a:endParaRPr lang="en-US" sz="3000"/>
          </a:p>
        </p:txBody>
      </p:sp>
      <p:sp>
        <p:nvSpPr>
          <p:cNvPr id="1043704243" name="Shape 3"/>
          <p:cNvSpPr/>
          <p:nvPr/>
        </p:nvSpPr>
        <p:spPr bwMode="auto">
          <a:xfrm>
            <a:off x="546100" y="1562100"/>
            <a:ext cx="6604000" cy="3685448"/>
          </a:xfrm>
          <a:prstGeom prst="roundRect">
            <a:avLst>
              <a:gd name="adj" fmla="val 3446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58105103" name="Text 4"/>
          <p:cNvSpPr/>
          <p:nvPr/>
        </p:nvSpPr>
        <p:spPr bwMode="auto">
          <a:xfrm>
            <a:off x="736600" y="1689100"/>
            <a:ext cx="640969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Capacità massima, in milioni di pacchetti al secondo</a:t>
            </a:r>
            <a:endParaRPr lang="en-US" sz="1500"/>
          </a:p>
        </p:txBody>
      </p:sp>
      <p:sp>
        <p:nvSpPr>
          <p:cNvPr id="2095606728" name="Shape 5"/>
          <p:cNvSpPr/>
          <p:nvPr/>
        </p:nvSpPr>
        <p:spPr bwMode="auto">
          <a:xfrm>
            <a:off x="736600" y="2037034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B8C2C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024538789" name="Text 6"/>
          <p:cNvSpPr/>
          <p:nvPr/>
        </p:nvSpPr>
        <p:spPr bwMode="auto">
          <a:xfrm>
            <a:off x="952500" y="2006600"/>
            <a:ext cx="43299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1 core</a:t>
            </a:r>
            <a:endParaRPr lang="en-US" sz="1200"/>
          </a:p>
        </p:txBody>
      </p:sp>
      <p:sp>
        <p:nvSpPr>
          <p:cNvPr id="1718168399" name="Shape 7"/>
          <p:cNvSpPr/>
          <p:nvPr/>
        </p:nvSpPr>
        <p:spPr bwMode="auto">
          <a:xfrm>
            <a:off x="1512491" y="2037034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776614145" name="Text 8"/>
          <p:cNvSpPr/>
          <p:nvPr/>
        </p:nvSpPr>
        <p:spPr bwMode="auto">
          <a:xfrm>
            <a:off x="1728391" y="2006600"/>
            <a:ext cx="43299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2 core</a:t>
            </a:r>
            <a:endParaRPr lang="en-US" sz="1200"/>
          </a:p>
        </p:txBody>
      </p:sp>
      <p:sp>
        <p:nvSpPr>
          <p:cNvPr id="415667266" name="Text 9"/>
          <p:cNvSpPr/>
          <p:nvPr/>
        </p:nvSpPr>
        <p:spPr bwMode="auto">
          <a:xfrm>
            <a:off x="797917" y="3060700"/>
            <a:ext cx="3218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4,62</a:t>
            </a:r>
            <a:endParaRPr lang="en-US" sz="1200"/>
          </a:p>
        </p:txBody>
      </p:sp>
      <p:sp>
        <p:nvSpPr>
          <p:cNvPr id="901914092" name="Shape 10"/>
          <p:cNvSpPr/>
          <p:nvPr/>
        </p:nvSpPr>
        <p:spPr bwMode="auto">
          <a:xfrm>
            <a:off x="736600" y="3274019"/>
            <a:ext cx="393700" cy="1282700"/>
          </a:xfrm>
          <a:custGeom>
            <a:avLst/>
            <a:gdLst/>
            <a:ahLst/>
            <a:cxnLst/>
            <a:rect l="l" t="t" r="r" b="b"/>
            <a:pathLst>
              <a:path w="393700" h="1282700" fill="norm" stroke="1" extrusionOk="0">
                <a:moveTo>
                  <a:pt x="38100" y="0"/>
                </a:moveTo>
                <a:lnTo>
                  <a:pt x="355600" y="0"/>
                </a:lnTo>
                <a:arcTo wR="38100" hR="38100" stAng="16200000" swAng="5400000"/>
                <a:lnTo>
                  <a:pt x="393700" y="1282700"/>
                </a:lnTo>
                <a:lnTo>
                  <a:pt x="0" y="1282700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B8C2C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484731870" name="Text 11"/>
          <p:cNvSpPr/>
          <p:nvPr/>
        </p:nvSpPr>
        <p:spPr bwMode="auto">
          <a:xfrm>
            <a:off x="1234347" y="2270720"/>
            <a:ext cx="3125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2"/>
              </a:lnSpc>
              <a:buNone/>
              <a:defRPr/>
            </a:pPr>
            <a:r>
              <a:rPr lang="en-US" sz="115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7,50</a:t>
            </a:r>
            <a:endParaRPr lang="en-US" sz="1150"/>
          </a:p>
        </p:txBody>
      </p:sp>
      <p:sp>
        <p:nvSpPr>
          <p:cNvPr id="1377636485" name="Shape 12"/>
          <p:cNvSpPr/>
          <p:nvPr/>
        </p:nvSpPr>
        <p:spPr bwMode="auto">
          <a:xfrm>
            <a:off x="1168400" y="2473920"/>
            <a:ext cx="393700" cy="2082800"/>
          </a:xfrm>
          <a:custGeom>
            <a:avLst/>
            <a:gdLst/>
            <a:ahLst/>
            <a:cxnLst/>
            <a:rect l="l" t="t" r="r" b="b"/>
            <a:pathLst>
              <a:path w="393700" h="2082800" fill="norm" stroke="1" extrusionOk="0">
                <a:moveTo>
                  <a:pt x="38100" y="0"/>
                </a:moveTo>
                <a:lnTo>
                  <a:pt x="355600" y="0"/>
                </a:lnTo>
                <a:arcTo wR="38100" hR="38100" stAng="16200000" swAng="5400000"/>
                <a:lnTo>
                  <a:pt x="393700" y="2082800"/>
                </a:lnTo>
                <a:lnTo>
                  <a:pt x="0" y="2082800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891274424" name="Text 13"/>
          <p:cNvSpPr/>
          <p:nvPr/>
        </p:nvSpPr>
        <p:spPr bwMode="auto">
          <a:xfrm>
            <a:off x="1877417" y="3397250"/>
            <a:ext cx="3218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3,40</a:t>
            </a:r>
            <a:endParaRPr lang="en-US" sz="1200"/>
          </a:p>
        </p:txBody>
      </p:sp>
      <p:sp>
        <p:nvSpPr>
          <p:cNvPr id="407892574" name="Shape 14"/>
          <p:cNvSpPr/>
          <p:nvPr/>
        </p:nvSpPr>
        <p:spPr bwMode="auto">
          <a:xfrm>
            <a:off x="1816100" y="3610569"/>
            <a:ext cx="393700" cy="946150"/>
          </a:xfrm>
          <a:custGeom>
            <a:avLst/>
            <a:gdLst/>
            <a:ahLst/>
            <a:cxnLst/>
            <a:rect l="l" t="t" r="r" b="b"/>
            <a:pathLst>
              <a:path w="393700" h="946150" fill="norm" stroke="1" extrusionOk="0">
                <a:moveTo>
                  <a:pt x="38100" y="0"/>
                </a:moveTo>
                <a:lnTo>
                  <a:pt x="355600" y="0"/>
                </a:lnTo>
                <a:arcTo wR="38100" hR="38100" stAng="16200000" swAng="5400000"/>
                <a:lnTo>
                  <a:pt x="393700" y="946150"/>
                </a:lnTo>
                <a:lnTo>
                  <a:pt x="0" y="946150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B8C2C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106387933" name="Text 15"/>
          <p:cNvSpPr/>
          <p:nvPr/>
        </p:nvSpPr>
        <p:spPr bwMode="auto">
          <a:xfrm>
            <a:off x="2309216" y="2540000"/>
            <a:ext cx="3218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6,50</a:t>
            </a:r>
            <a:endParaRPr lang="en-US" sz="1200"/>
          </a:p>
        </p:txBody>
      </p:sp>
      <p:sp>
        <p:nvSpPr>
          <p:cNvPr id="137988166" name="Shape 16"/>
          <p:cNvSpPr/>
          <p:nvPr/>
        </p:nvSpPr>
        <p:spPr bwMode="auto">
          <a:xfrm>
            <a:off x="2247900" y="2753319"/>
            <a:ext cx="393700" cy="1803400"/>
          </a:xfrm>
          <a:custGeom>
            <a:avLst/>
            <a:gdLst/>
            <a:ahLst/>
            <a:cxnLst/>
            <a:rect l="l" t="t" r="r" b="b"/>
            <a:pathLst>
              <a:path w="393700" h="1803400" fill="norm" stroke="1" extrusionOk="0">
                <a:moveTo>
                  <a:pt x="38100" y="0"/>
                </a:moveTo>
                <a:lnTo>
                  <a:pt x="355600" y="0"/>
                </a:lnTo>
                <a:arcTo wR="38100" hR="38100" stAng="16200000" swAng="5400000"/>
                <a:lnTo>
                  <a:pt x="393700" y="1803400"/>
                </a:lnTo>
                <a:lnTo>
                  <a:pt x="0" y="1803400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023664956" name="Text 17"/>
          <p:cNvSpPr/>
          <p:nvPr/>
        </p:nvSpPr>
        <p:spPr bwMode="auto">
          <a:xfrm>
            <a:off x="2956917" y="3505199"/>
            <a:ext cx="3218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3,01</a:t>
            </a:r>
            <a:endParaRPr lang="en-US" sz="1200"/>
          </a:p>
        </p:txBody>
      </p:sp>
      <p:sp>
        <p:nvSpPr>
          <p:cNvPr id="230131818" name="Shape 18"/>
          <p:cNvSpPr/>
          <p:nvPr/>
        </p:nvSpPr>
        <p:spPr bwMode="auto">
          <a:xfrm>
            <a:off x="2895600" y="3718520"/>
            <a:ext cx="393700" cy="838200"/>
          </a:xfrm>
          <a:custGeom>
            <a:avLst/>
            <a:gdLst/>
            <a:ahLst/>
            <a:cxnLst/>
            <a:rect l="l" t="t" r="r" b="b"/>
            <a:pathLst>
              <a:path w="393700" h="838200" fill="norm" stroke="1" extrusionOk="0">
                <a:moveTo>
                  <a:pt x="38100" y="0"/>
                </a:moveTo>
                <a:lnTo>
                  <a:pt x="355600" y="0"/>
                </a:lnTo>
                <a:arcTo wR="38100" hR="38100" stAng="16200000" swAng="5400000"/>
                <a:lnTo>
                  <a:pt x="393700" y="838200"/>
                </a:lnTo>
                <a:lnTo>
                  <a:pt x="0" y="838200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B8C2C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829194564" name="Text 19"/>
          <p:cNvSpPr/>
          <p:nvPr/>
        </p:nvSpPr>
        <p:spPr bwMode="auto">
          <a:xfrm>
            <a:off x="3388717" y="2743200"/>
            <a:ext cx="3218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5,76</a:t>
            </a:r>
            <a:endParaRPr lang="en-US" sz="1200"/>
          </a:p>
        </p:txBody>
      </p:sp>
      <p:sp>
        <p:nvSpPr>
          <p:cNvPr id="599234063" name="Shape 20"/>
          <p:cNvSpPr/>
          <p:nvPr/>
        </p:nvSpPr>
        <p:spPr bwMode="auto">
          <a:xfrm>
            <a:off x="3327400" y="2956520"/>
            <a:ext cx="393700" cy="1600200"/>
          </a:xfrm>
          <a:custGeom>
            <a:avLst/>
            <a:gdLst/>
            <a:ahLst/>
            <a:cxnLst/>
            <a:rect l="l" t="t" r="r" b="b"/>
            <a:pathLst>
              <a:path w="393700" h="1600200" fill="norm" stroke="1" extrusionOk="0">
                <a:moveTo>
                  <a:pt x="38100" y="0"/>
                </a:moveTo>
                <a:lnTo>
                  <a:pt x="355600" y="0"/>
                </a:lnTo>
                <a:arcTo wR="38100" hR="38100" stAng="16200000" swAng="5400000"/>
                <a:lnTo>
                  <a:pt x="393700" y="1600200"/>
                </a:lnTo>
                <a:lnTo>
                  <a:pt x="0" y="1600200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586603428" name="Text 21"/>
          <p:cNvSpPr/>
          <p:nvPr/>
        </p:nvSpPr>
        <p:spPr bwMode="auto">
          <a:xfrm>
            <a:off x="4036417" y="3543300"/>
            <a:ext cx="3218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2,87</a:t>
            </a:r>
            <a:endParaRPr lang="en-US" sz="1200"/>
          </a:p>
        </p:txBody>
      </p:sp>
      <p:sp>
        <p:nvSpPr>
          <p:cNvPr id="1616931431" name="Shape 22"/>
          <p:cNvSpPr/>
          <p:nvPr/>
        </p:nvSpPr>
        <p:spPr bwMode="auto">
          <a:xfrm>
            <a:off x="3975100" y="3756620"/>
            <a:ext cx="393700" cy="800100"/>
          </a:xfrm>
          <a:custGeom>
            <a:avLst/>
            <a:gdLst/>
            <a:ahLst/>
            <a:cxnLst/>
            <a:rect l="l" t="t" r="r" b="b"/>
            <a:pathLst>
              <a:path w="393700" h="800100" fill="norm" stroke="1" extrusionOk="0">
                <a:moveTo>
                  <a:pt x="38100" y="0"/>
                </a:moveTo>
                <a:lnTo>
                  <a:pt x="355600" y="0"/>
                </a:lnTo>
                <a:arcTo wR="38100" hR="38100" stAng="16200000" swAng="5400000"/>
                <a:lnTo>
                  <a:pt x="393700" y="800100"/>
                </a:lnTo>
                <a:lnTo>
                  <a:pt x="0" y="800100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B8C2C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46519633" name="Text 23"/>
          <p:cNvSpPr/>
          <p:nvPr/>
        </p:nvSpPr>
        <p:spPr bwMode="auto">
          <a:xfrm>
            <a:off x="4468217" y="2794000"/>
            <a:ext cx="3218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5,58</a:t>
            </a:r>
            <a:endParaRPr lang="en-US" sz="1200"/>
          </a:p>
        </p:txBody>
      </p:sp>
      <p:sp>
        <p:nvSpPr>
          <p:cNvPr id="365430228" name="Shape 24"/>
          <p:cNvSpPr/>
          <p:nvPr/>
        </p:nvSpPr>
        <p:spPr bwMode="auto">
          <a:xfrm>
            <a:off x="4406900" y="3007320"/>
            <a:ext cx="393700" cy="1549400"/>
          </a:xfrm>
          <a:custGeom>
            <a:avLst/>
            <a:gdLst/>
            <a:ahLst/>
            <a:cxnLst/>
            <a:rect l="l" t="t" r="r" b="b"/>
            <a:pathLst>
              <a:path w="393700" h="1549400" fill="norm" stroke="1" extrusionOk="0">
                <a:moveTo>
                  <a:pt x="38100" y="0"/>
                </a:moveTo>
                <a:lnTo>
                  <a:pt x="355600" y="0"/>
                </a:lnTo>
                <a:arcTo wR="38100" hR="38100" stAng="16200000" swAng="5400000"/>
                <a:lnTo>
                  <a:pt x="393700" y="1549400"/>
                </a:lnTo>
                <a:lnTo>
                  <a:pt x="0" y="1549400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89246280" name="Text 25"/>
          <p:cNvSpPr/>
          <p:nvPr/>
        </p:nvSpPr>
        <p:spPr bwMode="auto">
          <a:xfrm>
            <a:off x="5115917" y="3810000"/>
            <a:ext cx="3218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1,91</a:t>
            </a:r>
            <a:endParaRPr lang="en-US" sz="1200"/>
          </a:p>
        </p:txBody>
      </p:sp>
      <p:sp>
        <p:nvSpPr>
          <p:cNvPr id="58128927" name="Shape 26"/>
          <p:cNvSpPr/>
          <p:nvPr/>
        </p:nvSpPr>
        <p:spPr bwMode="auto">
          <a:xfrm>
            <a:off x="5054600" y="4023320"/>
            <a:ext cx="393700" cy="533400"/>
          </a:xfrm>
          <a:custGeom>
            <a:avLst/>
            <a:gdLst/>
            <a:ahLst/>
            <a:cxnLst/>
            <a:rect l="l" t="t" r="r" b="b"/>
            <a:pathLst>
              <a:path w="393700" h="533400" fill="norm" stroke="1" extrusionOk="0">
                <a:moveTo>
                  <a:pt x="38100" y="0"/>
                </a:moveTo>
                <a:lnTo>
                  <a:pt x="355600" y="0"/>
                </a:lnTo>
                <a:arcTo wR="38100" hR="38100" stAng="16200000" swAng="5400000"/>
                <a:lnTo>
                  <a:pt x="393700" y="533400"/>
                </a:lnTo>
                <a:lnTo>
                  <a:pt x="0" y="533400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B8C2C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637912359" name="Text 27"/>
          <p:cNvSpPr/>
          <p:nvPr/>
        </p:nvSpPr>
        <p:spPr bwMode="auto">
          <a:xfrm>
            <a:off x="5547717" y="3308350"/>
            <a:ext cx="3218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3,72</a:t>
            </a:r>
            <a:endParaRPr lang="en-US" sz="1200"/>
          </a:p>
        </p:txBody>
      </p:sp>
      <p:sp>
        <p:nvSpPr>
          <p:cNvPr id="1352668887" name="Shape 28"/>
          <p:cNvSpPr/>
          <p:nvPr/>
        </p:nvSpPr>
        <p:spPr bwMode="auto">
          <a:xfrm>
            <a:off x="5486400" y="3521670"/>
            <a:ext cx="393700" cy="1035050"/>
          </a:xfrm>
          <a:custGeom>
            <a:avLst/>
            <a:gdLst/>
            <a:ahLst/>
            <a:cxnLst/>
            <a:rect l="l" t="t" r="r" b="b"/>
            <a:pathLst>
              <a:path w="393700" h="1035050" fill="norm" stroke="1" extrusionOk="0">
                <a:moveTo>
                  <a:pt x="38100" y="0"/>
                </a:moveTo>
                <a:lnTo>
                  <a:pt x="355600" y="0"/>
                </a:lnTo>
                <a:arcTo wR="38100" hR="38100" stAng="16200000" swAng="5400000"/>
                <a:lnTo>
                  <a:pt x="393700" y="1035050"/>
                </a:lnTo>
                <a:lnTo>
                  <a:pt x="0" y="1035050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316585382" name="Text 29"/>
          <p:cNvSpPr/>
          <p:nvPr/>
        </p:nvSpPr>
        <p:spPr bwMode="auto">
          <a:xfrm>
            <a:off x="6195417" y="3930650"/>
            <a:ext cx="3218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1,49</a:t>
            </a:r>
            <a:endParaRPr lang="en-US" sz="1200"/>
          </a:p>
        </p:txBody>
      </p:sp>
      <p:sp>
        <p:nvSpPr>
          <p:cNvPr id="1964494824" name="Shape 30"/>
          <p:cNvSpPr/>
          <p:nvPr/>
        </p:nvSpPr>
        <p:spPr bwMode="auto">
          <a:xfrm>
            <a:off x="6134100" y="4143970"/>
            <a:ext cx="393700" cy="412750"/>
          </a:xfrm>
          <a:custGeom>
            <a:avLst/>
            <a:gdLst/>
            <a:ahLst/>
            <a:cxnLst/>
            <a:rect l="l" t="t" r="r" b="b"/>
            <a:pathLst>
              <a:path w="393700" h="412750" fill="norm" stroke="1" extrusionOk="0">
                <a:moveTo>
                  <a:pt x="38100" y="0"/>
                </a:moveTo>
                <a:lnTo>
                  <a:pt x="355600" y="0"/>
                </a:lnTo>
                <a:arcTo wR="38100" hR="38100" stAng="16200000" swAng="5400000"/>
                <a:lnTo>
                  <a:pt x="393700" y="412750"/>
                </a:lnTo>
                <a:lnTo>
                  <a:pt x="0" y="412750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B8C2C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558965970" name="Text 31"/>
          <p:cNvSpPr/>
          <p:nvPr/>
        </p:nvSpPr>
        <p:spPr bwMode="auto">
          <a:xfrm>
            <a:off x="6627217" y="3524250"/>
            <a:ext cx="3218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2,95</a:t>
            </a:r>
            <a:endParaRPr lang="en-US" sz="1200"/>
          </a:p>
        </p:txBody>
      </p:sp>
      <p:sp>
        <p:nvSpPr>
          <p:cNvPr id="1142726232" name="Shape 32"/>
          <p:cNvSpPr/>
          <p:nvPr/>
        </p:nvSpPr>
        <p:spPr bwMode="auto">
          <a:xfrm>
            <a:off x="6565900" y="3737570"/>
            <a:ext cx="393700" cy="819150"/>
          </a:xfrm>
          <a:custGeom>
            <a:avLst/>
            <a:gdLst/>
            <a:ahLst/>
            <a:cxnLst/>
            <a:rect l="l" t="t" r="r" b="b"/>
            <a:pathLst>
              <a:path w="393700" h="819150" fill="norm" stroke="1" extrusionOk="0">
                <a:moveTo>
                  <a:pt x="38100" y="0"/>
                </a:moveTo>
                <a:lnTo>
                  <a:pt x="355600" y="0"/>
                </a:lnTo>
                <a:arcTo wR="38100" hR="38100" stAng="16200000" swAng="5400000"/>
                <a:lnTo>
                  <a:pt x="393700" y="819150"/>
                </a:lnTo>
                <a:lnTo>
                  <a:pt x="0" y="819150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701405239" name="Text 33"/>
          <p:cNvSpPr/>
          <p:nvPr/>
        </p:nvSpPr>
        <p:spPr bwMode="auto">
          <a:xfrm>
            <a:off x="711200" y="4607520"/>
            <a:ext cx="87629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rxonly</a:t>
            </a:r>
            <a:endParaRPr lang="en-US" sz="1300"/>
          </a:p>
        </p:txBody>
      </p:sp>
      <p:sp>
        <p:nvSpPr>
          <p:cNvPr id="2007593634" name="Text 34"/>
          <p:cNvSpPr/>
          <p:nvPr/>
        </p:nvSpPr>
        <p:spPr bwMode="auto">
          <a:xfrm>
            <a:off x="1790700" y="4607520"/>
            <a:ext cx="87629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baseline</a:t>
            </a:r>
            <a:endParaRPr lang="en-US" sz="1300"/>
          </a:p>
        </p:txBody>
      </p:sp>
      <p:sp>
        <p:nvSpPr>
          <p:cNvPr id="1703927937" name="Text 35"/>
          <p:cNvSpPr/>
          <p:nvPr/>
        </p:nvSpPr>
        <p:spPr bwMode="auto">
          <a:xfrm>
            <a:off x="2870200" y="4607520"/>
            <a:ext cx="87629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P1</a:t>
            </a:r>
            <a:endParaRPr lang="en-US" sz="1300"/>
          </a:p>
        </p:txBody>
      </p:sp>
      <p:sp>
        <p:nvSpPr>
          <p:cNvPr id="208906032" name="Text 36"/>
          <p:cNvSpPr/>
          <p:nvPr/>
        </p:nvSpPr>
        <p:spPr bwMode="auto">
          <a:xfrm>
            <a:off x="3949700" y="4607520"/>
            <a:ext cx="87629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P1.5</a:t>
            </a:r>
            <a:endParaRPr lang="en-US" sz="1300"/>
          </a:p>
        </p:txBody>
      </p:sp>
      <p:sp>
        <p:nvSpPr>
          <p:cNvPr id="289323912" name="Text 37"/>
          <p:cNvSpPr/>
          <p:nvPr/>
        </p:nvSpPr>
        <p:spPr bwMode="auto">
          <a:xfrm>
            <a:off x="5029200" y="4607520"/>
            <a:ext cx="87629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P2</a:t>
            </a:r>
            <a:endParaRPr lang="en-US" sz="1300"/>
          </a:p>
        </p:txBody>
      </p:sp>
      <p:sp>
        <p:nvSpPr>
          <p:cNvPr id="2063210769" name="Text 38"/>
          <p:cNvSpPr/>
          <p:nvPr/>
        </p:nvSpPr>
        <p:spPr bwMode="auto">
          <a:xfrm>
            <a:off x="6108700" y="4607520"/>
            <a:ext cx="87629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P3</a:t>
            </a:r>
            <a:endParaRPr lang="en-US" sz="1300"/>
          </a:p>
        </p:txBody>
      </p:sp>
      <p:sp>
        <p:nvSpPr>
          <p:cNvPr id="1425659928" name="Text 39"/>
          <p:cNvSpPr/>
          <p:nvPr/>
        </p:nvSpPr>
        <p:spPr bwMode="auto">
          <a:xfrm>
            <a:off x="711200" y="4889438"/>
            <a:ext cx="87629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×1,62</a:t>
            </a:r>
            <a:endParaRPr lang="en-US" sz="1300"/>
          </a:p>
        </p:txBody>
      </p:sp>
      <p:sp>
        <p:nvSpPr>
          <p:cNvPr id="1578479370" name="Text 40"/>
          <p:cNvSpPr/>
          <p:nvPr/>
        </p:nvSpPr>
        <p:spPr bwMode="auto">
          <a:xfrm>
            <a:off x="1790700" y="4889438"/>
            <a:ext cx="87629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×1,91</a:t>
            </a:r>
            <a:endParaRPr lang="en-US" sz="1300"/>
          </a:p>
        </p:txBody>
      </p:sp>
      <p:sp>
        <p:nvSpPr>
          <p:cNvPr id="424571824" name="Text 41"/>
          <p:cNvSpPr/>
          <p:nvPr/>
        </p:nvSpPr>
        <p:spPr bwMode="auto">
          <a:xfrm>
            <a:off x="2870200" y="4889438"/>
            <a:ext cx="87629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×1,91</a:t>
            </a:r>
            <a:endParaRPr lang="en-US" sz="1300"/>
          </a:p>
        </p:txBody>
      </p:sp>
      <p:sp>
        <p:nvSpPr>
          <p:cNvPr id="2094139418" name="Text 42"/>
          <p:cNvSpPr/>
          <p:nvPr/>
        </p:nvSpPr>
        <p:spPr bwMode="auto">
          <a:xfrm>
            <a:off x="3949700" y="4889438"/>
            <a:ext cx="87629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×1,95</a:t>
            </a:r>
            <a:endParaRPr lang="en-US" sz="1300"/>
          </a:p>
        </p:txBody>
      </p:sp>
      <p:sp>
        <p:nvSpPr>
          <p:cNvPr id="1943956499" name="Text 43"/>
          <p:cNvSpPr/>
          <p:nvPr/>
        </p:nvSpPr>
        <p:spPr bwMode="auto">
          <a:xfrm>
            <a:off x="5029200" y="4889438"/>
            <a:ext cx="87629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×1,95</a:t>
            </a:r>
            <a:endParaRPr lang="en-US" sz="1300"/>
          </a:p>
        </p:txBody>
      </p:sp>
      <p:sp>
        <p:nvSpPr>
          <p:cNvPr id="1649110871" name="Text 44"/>
          <p:cNvSpPr/>
          <p:nvPr/>
        </p:nvSpPr>
        <p:spPr bwMode="auto">
          <a:xfrm>
            <a:off x="6108700" y="4889438"/>
            <a:ext cx="87629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  <a:defRPr/>
            </a:pPr>
            <a:r>
              <a:rPr lang="en-US" sz="1300" b="1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×1,98</a:t>
            </a:r>
            <a:endParaRPr lang="en-US" sz="1300"/>
          </a:p>
        </p:txBody>
      </p:sp>
      <p:sp>
        <p:nvSpPr>
          <p:cNvPr id="193457000" name="Shape 45"/>
          <p:cNvSpPr/>
          <p:nvPr/>
        </p:nvSpPr>
        <p:spPr bwMode="auto">
          <a:xfrm>
            <a:off x="7327900" y="1562100"/>
            <a:ext cx="4318000" cy="1169194"/>
          </a:xfrm>
          <a:prstGeom prst="roundRect">
            <a:avLst>
              <a:gd name="adj" fmla="val 10862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400651161" name="Shape 46"/>
          <p:cNvSpPr/>
          <p:nvPr/>
        </p:nvSpPr>
        <p:spPr bwMode="auto">
          <a:xfrm>
            <a:off x="7327900" y="1562100"/>
            <a:ext cx="4318000" cy="88900"/>
          </a:xfrm>
          <a:custGeom>
            <a:avLst/>
            <a:gdLst/>
            <a:ahLst/>
            <a:cxnLst/>
            <a:rect l="l" t="t" r="r" b="b"/>
            <a:pathLst>
              <a:path w="4318000" h="88900" fill="norm" stroke="1" extrusionOk="0">
                <a:moveTo>
                  <a:pt x="5850" y="88900"/>
                </a:moveTo>
                <a:arcTo wR="127000" hR="127000" stAng="11847456" swAng="4352544"/>
                <a:lnTo>
                  <a:pt x="4191000" y="0"/>
                </a:lnTo>
                <a:arcTo wR="127000" hR="127000" stAng="16200000" swAng="4352544"/>
                <a:close/>
              </a:path>
            </a:pathLst>
          </a:custGeom>
          <a:solidFill>
            <a:srgbClr val="1F3A5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434953802" name="Text 47"/>
          <p:cNvSpPr/>
          <p:nvPr/>
        </p:nvSpPr>
        <p:spPr bwMode="auto">
          <a:xfrm>
            <a:off x="7505700" y="1752599"/>
            <a:ext cx="4081272" cy="252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9"/>
              </a:lnSpc>
              <a:buNone/>
              <a:defRPr/>
            </a:pPr>
            <a:r>
              <a:rPr lang="en-US" sz="13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Un contatore per ogni core</a:t>
            </a:r>
            <a:endParaRPr lang="en-US" sz="1300"/>
          </a:p>
        </p:txBody>
      </p:sp>
      <p:sp>
        <p:nvSpPr>
          <p:cNvPr id="1992608866" name="Text 48"/>
          <p:cNvSpPr/>
          <p:nvPr/>
        </p:nvSpPr>
        <p:spPr bwMode="auto">
          <a:xfrm>
            <a:off x="7505700" y="2030214"/>
            <a:ext cx="4081272" cy="612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37"/>
              </a:lnSpc>
              <a:buNone/>
              <a:defRPr/>
            </a:pPr>
            <a:r>
              <a:rPr lang="en-US" sz="12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Le statistiche sono per-core: ogni core incrementa la sua copia, senza istruzioni atomiche e senza contendersi una riga di cache. Chi legge somma.</a:t>
            </a:r>
            <a:endParaRPr lang="en-US" sz="1200"/>
          </a:p>
        </p:txBody>
      </p:sp>
      <p:sp>
        <p:nvSpPr>
          <p:cNvPr id="788594221" name="Shape 49"/>
          <p:cNvSpPr/>
          <p:nvPr/>
        </p:nvSpPr>
        <p:spPr bwMode="auto">
          <a:xfrm>
            <a:off x="7327900" y="2820194"/>
            <a:ext cx="4318000" cy="1169260"/>
          </a:xfrm>
          <a:prstGeom prst="roundRect">
            <a:avLst>
              <a:gd name="adj" fmla="val 10862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765498004" name="Shape 50"/>
          <p:cNvSpPr/>
          <p:nvPr/>
        </p:nvSpPr>
        <p:spPr bwMode="auto">
          <a:xfrm>
            <a:off x="7327900" y="2820194"/>
            <a:ext cx="4318000" cy="88900"/>
          </a:xfrm>
          <a:custGeom>
            <a:avLst/>
            <a:gdLst/>
            <a:ahLst/>
            <a:cxnLst/>
            <a:rect l="l" t="t" r="r" b="b"/>
            <a:pathLst>
              <a:path w="4318000" h="88900" fill="norm" stroke="1" extrusionOk="0">
                <a:moveTo>
                  <a:pt x="5850" y="88900"/>
                </a:moveTo>
                <a:arcTo wR="127000" hR="127000" stAng="11847456" swAng="4352544"/>
                <a:lnTo>
                  <a:pt x="4191000" y="0"/>
                </a:lnTo>
                <a:arcTo wR="127000" hR="127000" stAng="16200000" swAng="4352544"/>
                <a:close/>
              </a:path>
            </a:pathLst>
          </a:custGeom>
          <a:solidFill>
            <a:srgbClr val="E07A2D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95389091" name="Text 51"/>
          <p:cNvSpPr/>
          <p:nvPr/>
        </p:nvSpPr>
        <p:spPr bwMode="auto">
          <a:xfrm>
            <a:off x="7505700" y="3010694"/>
            <a:ext cx="408127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E07A2D"/>
                </a:solidFill>
                <a:latin typeface="Carlito"/>
                <a:ea typeface="Carlito"/>
                <a:cs typeface="Carlito"/>
              </a:rPr>
              <a:t>Perché rxonly cresce meno</a:t>
            </a:r>
            <a:endParaRPr lang="en-US" sz="1400"/>
          </a:p>
        </p:txBody>
      </p:sp>
      <p:sp>
        <p:nvSpPr>
          <p:cNvPr id="19081431" name="Text 52"/>
          <p:cNvSpPr/>
          <p:nvPr/>
        </p:nvSpPr>
        <p:spPr bwMode="auto">
          <a:xfrm>
            <a:off x="7505700" y="3310409"/>
            <a:ext cx="4081272" cy="45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  <a:defRPr/>
            </a:pPr>
            <a:r>
              <a:rPr lang="en-US" sz="13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Tre thread su due code: due scrivono nella stessa coda e si intralciano (slide 13).</a:t>
            </a:r>
            <a:endParaRPr lang="en-US" sz="1300"/>
          </a:p>
        </p:txBody>
      </p:sp>
      <p:sp>
        <p:nvSpPr>
          <p:cNvPr id="1038679593" name="Shape 53"/>
          <p:cNvSpPr/>
          <p:nvPr/>
        </p:nvSpPr>
        <p:spPr bwMode="auto">
          <a:xfrm>
            <a:off x="7327900" y="4078362"/>
            <a:ext cx="4318000" cy="1169194"/>
          </a:xfrm>
          <a:prstGeom prst="roundRect">
            <a:avLst>
              <a:gd name="adj" fmla="val 10862"/>
            </a:avLst>
          </a:prstGeom>
          <a:solidFill>
            <a:srgbClr val="F3F5F8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35887292" name="Shape 54"/>
          <p:cNvSpPr/>
          <p:nvPr/>
        </p:nvSpPr>
        <p:spPr bwMode="auto">
          <a:xfrm>
            <a:off x="7327900" y="4078362"/>
            <a:ext cx="4318000" cy="88900"/>
          </a:xfrm>
          <a:custGeom>
            <a:avLst/>
            <a:gdLst/>
            <a:ahLst/>
            <a:cxnLst/>
            <a:rect l="l" t="t" r="r" b="b"/>
            <a:pathLst>
              <a:path w="4318000" h="88900" fill="norm" stroke="1" extrusionOk="0">
                <a:moveTo>
                  <a:pt x="5850" y="88900"/>
                </a:moveTo>
                <a:arcTo wR="127000" hR="127000" stAng="11847456" swAng="4352544"/>
                <a:lnTo>
                  <a:pt x="4191000" y="0"/>
                </a:lnTo>
                <a:arcTo wR="127000" hR="127000" stAng="16200000" swAng="4352544"/>
                <a:close/>
              </a:path>
            </a:pathLst>
          </a:custGeom>
          <a:solidFill>
            <a:srgbClr val="2E9C6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071564641" name="Text 55"/>
          <p:cNvSpPr/>
          <p:nvPr/>
        </p:nvSpPr>
        <p:spPr bwMode="auto">
          <a:xfrm>
            <a:off x="7505700" y="4268862"/>
            <a:ext cx="408127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>
                <a:solidFill>
                  <a:srgbClr val="2E9C6E"/>
                </a:solidFill>
                <a:latin typeface="Carlito"/>
                <a:ea typeface="Carlito"/>
                <a:cs typeface="Carlito"/>
              </a:rPr>
              <a:t>Una coda e un core, per scelta</a:t>
            </a:r>
            <a:endParaRPr lang="en-US" sz="1400"/>
          </a:p>
        </p:txBody>
      </p:sp>
      <p:sp>
        <p:nvSpPr>
          <p:cNvPr id="1665259967" name="Text 56"/>
          <p:cNvSpPr/>
          <p:nvPr/>
        </p:nvSpPr>
        <p:spPr bwMode="auto">
          <a:xfrm>
            <a:off x="7505700" y="4568565"/>
            <a:ext cx="4081272" cy="45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  <a:defRPr/>
            </a:pPr>
            <a:r>
              <a:rPr lang="en-US" sz="13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Il banco misura il costo per core. Una scheda vera distribuisce i pacchetti su più code e più core (RSS).</a:t>
            </a:r>
            <a:endParaRPr lang="en-US" sz="1300"/>
          </a:p>
        </p:txBody>
      </p:sp>
      <p:sp>
        <p:nvSpPr>
          <p:cNvPr id="1596740389" name="Shape 57"/>
          <p:cNvSpPr/>
          <p:nvPr/>
        </p:nvSpPr>
        <p:spPr bwMode="auto">
          <a:xfrm>
            <a:off x="546100" y="5486400"/>
            <a:ext cx="11099800" cy="774700"/>
          </a:xfrm>
          <a:prstGeom prst="roundRect">
            <a:avLst>
              <a:gd name="adj" fmla="val 13115"/>
            </a:avLst>
          </a:prstGeom>
          <a:solidFill>
            <a:srgbClr val="FFF4DE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174036812" name="Shape 58"/>
          <p:cNvSpPr/>
          <p:nvPr/>
        </p:nvSpPr>
        <p:spPr bwMode="auto">
          <a:xfrm>
            <a:off x="546100" y="5486400"/>
            <a:ext cx="82550" cy="774700"/>
          </a:xfrm>
          <a:custGeom>
            <a:avLst/>
            <a:gdLst/>
            <a:ahLst/>
            <a:cxnLst/>
            <a:rect l="l" t="t" r="r" b="b"/>
            <a:pathLst>
              <a:path w="82550" h="774700" fill="norm" stroke="1" extrusionOk="0">
                <a:moveTo>
                  <a:pt x="0" y="101600"/>
                </a:moveTo>
                <a:arcTo wR="101600" hR="101600" stAng="10800000" swAng="4751585"/>
                <a:lnTo>
                  <a:pt x="82550" y="772898"/>
                </a:lnTo>
                <a:arcTo wR="101600" hR="101600" stAng="6048415" swAng="4751585"/>
                <a:close/>
              </a:path>
            </a:pathLst>
          </a:custGeom>
          <a:solidFill>
            <a:srgbClr val="F2B134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855932966" name="Text 59"/>
          <p:cNvSpPr/>
          <p:nvPr/>
        </p:nvSpPr>
        <p:spPr bwMode="auto">
          <a:xfrm>
            <a:off x="819150" y="5767065"/>
            <a:ext cx="8762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b="1" spc="100">
                <a:solidFill>
                  <a:srgbClr val="B57A00"/>
                </a:solidFill>
                <a:latin typeface="Carlito"/>
                <a:ea typeface="Carlito"/>
                <a:cs typeface="Carlito"/>
              </a:rPr>
              <a:t>QUINDI</a:t>
            </a:r>
            <a:endParaRPr lang="en-US" sz="1200"/>
          </a:p>
        </p:txBody>
      </p:sp>
      <p:sp>
        <p:nvSpPr>
          <p:cNvPr id="422855187" name="Text 60"/>
          <p:cNvSpPr/>
          <p:nvPr/>
        </p:nvSpPr>
        <p:spPr bwMode="auto">
          <a:xfrm>
            <a:off x="1822450" y="5626100"/>
            <a:ext cx="988269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  <a:defRPr/>
            </a:pP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Il costo per pacchetto resta quello di un core: un nodo con N code regge circa </a:t>
            </a:r>
            <a:r>
              <a:rPr lang="en-US" sz="1500" b="1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N volte</a:t>
            </a:r>
            <a:r>
              <a:rPr lang="en-US" sz="1500">
                <a:solidFill>
                  <a:srgbClr val="222B36"/>
                </a:solidFill>
                <a:latin typeface="Carlito"/>
                <a:ea typeface="Carlito"/>
                <a:cs typeface="Carlito"/>
              </a:rPr>
              <a:t> la capacità misurata su un core, finché generatore e scheda reggono.</a:t>
            </a:r>
            <a:endParaRPr lang="en-US" sz="1500"/>
          </a:p>
        </p:txBody>
      </p:sp>
      <p:sp>
        <p:nvSpPr>
          <p:cNvPr id="1094380034" name="Text 61"/>
          <p:cNvSpPr/>
          <p:nvPr/>
        </p:nvSpPr>
        <p:spPr bwMode="auto">
          <a:xfrm>
            <a:off x="546100" y="6426200"/>
            <a:ext cx="10072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  <a:defRPr/>
            </a:pPr>
            <a:r>
              <a:rPr lang="en-US" sz="1200" i="1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pktgen a 3 thread, 64 byte, 3 giri · due code d'ingresso, una per core (CPU 6 e 8) · rapporto = 2 core / 1 core</a:t>
            </a:r>
            <a:endParaRPr lang="en-US" sz="1200"/>
          </a:p>
        </p:txBody>
      </p:sp>
      <p:sp>
        <p:nvSpPr>
          <p:cNvPr id="433619081" name="Text 62"/>
          <p:cNvSpPr/>
          <p:nvPr/>
        </p:nvSpPr>
        <p:spPr bwMode="auto">
          <a:xfrm>
            <a:off x="10960099" y="642620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6B7C93"/>
                </a:solidFill>
                <a:latin typeface="Carlito"/>
                <a:ea typeface="Carlito"/>
                <a:cs typeface="Carlito"/>
              </a:rPr>
              <a:t>23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4">
    <p:bg>
      <p:bgPr shadeToTitle="0">
        <a:solidFill>
          <a:srgbClr val="1F3A5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9209" name="Shape 0"/>
          <p:cNvSpPr/>
          <p:nvPr/>
        </p:nvSpPr>
        <p:spPr bwMode="auto">
          <a:xfrm>
            <a:off x="0" y="0"/>
            <a:ext cx="317500" cy="6858000"/>
          </a:xfrm>
          <a:prstGeom prst="rect">
            <a:avLst/>
          </a:prstGeom>
          <a:solidFill>
            <a:srgbClr val="E07A2D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939810982" name="Text 1"/>
          <p:cNvSpPr/>
          <p:nvPr/>
        </p:nvSpPr>
        <p:spPr bwMode="auto">
          <a:xfrm>
            <a:off x="914400" y="952500"/>
            <a:ext cx="10674096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  <a:defRPr/>
            </a:pPr>
            <a:r>
              <a:rPr lang="en-US" sz="1400" b="1" spc="100">
                <a:solidFill>
                  <a:srgbClr val="F2B134"/>
                </a:solidFill>
                <a:latin typeface="Carlito"/>
                <a:ea typeface="Carlito"/>
                <a:cs typeface="Carlito"/>
              </a:rPr>
              <a:t>IN CHIUSURA · SINTESI</a:t>
            </a:r>
            <a:endParaRPr lang="en-US" sz="1400"/>
          </a:p>
        </p:txBody>
      </p:sp>
      <p:sp>
        <p:nvSpPr>
          <p:cNvPr id="811176331" name="Text 2"/>
          <p:cNvSpPr/>
          <p:nvPr/>
        </p:nvSpPr>
        <p:spPr bwMode="auto">
          <a:xfrm>
            <a:off x="914400" y="1290315"/>
            <a:ext cx="10674096" cy="612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620"/>
              </a:lnSpc>
              <a:buNone/>
              <a:defRPr/>
            </a:pPr>
            <a:r>
              <a:rPr lang="en-US" sz="42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In sintesi</a:t>
            </a:r>
            <a:endParaRPr lang="en-US" sz="4200"/>
          </a:p>
        </p:txBody>
      </p:sp>
      <p:sp>
        <p:nvSpPr>
          <p:cNvPr id="1703730981" name="Shape 3"/>
          <p:cNvSpPr/>
          <p:nvPr/>
        </p:nvSpPr>
        <p:spPr bwMode="auto">
          <a:xfrm>
            <a:off x="914400" y="2445023"/>
            <a:ext cx="3318933" cy="2915444"/>
          </a:xfrm>
          <a:prstGeom prst="roundRect">
            <a:avLst>
              <a:gd name="adj" fmla="val 5227"/>
            </a:avLst>
          </a:prstGeom>
          <a:solidFill>
            <a:srgbClr val="27476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459790798" name="Shape 4"/>
          <p:cNvSpPr/>
          <p:nvPr/>
        </p:nvSpPr>
        <p:spPr bwMode="auto">
          <a:xfrm>
            <a:off x="1130300" y="2660923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002722690" name="Text 5"/>
          <p:cNvSpPr/>
          <p:nvPr/>
        </p:nvSpPr>
        <p:spPr bwMode="auto">
          <a:xfrm>
            <a:off x="1297715" y="2720578"/>
            <a:ext cx="173104" cy="363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  <a:defRPr/>
            </a:pPr>
            <a:r>
              <a:rPr lang="en-US" sz="19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1</a:t>
            </a:r>
            <a:endParaRPr lang="en-US" sz="1900"/>
          </a:p>
        </p:txBody>
      </p:sp>
      <p:sp>
        <p:nvSpPr>
          <p:cNvPr id="666194076" name="Text 6"/>
          <p:cNvSpPr/>
          <p:nvPr/>
        </p:nvSpPr>
        <p:spPr bwMode="auto">
          <a:xfrm>
            <a:off x="1130300" y="3219723"/>
            <a:ext cx="2973747" cy="5803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85"/>
              </a:lnSpc>
              <a:buNone/>
              <a:defRPr/>
            </a:pPr>
            <a:r>
              <a:rPr lang="en-US" sz="19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Il dual boot rende le misure ripetibili</a:t>
            </a:r>
            <a:endParaRPr lang="en-US" sz="1900"/>
          </a:p>
        </p:txBody>
      </p:sp>
      <p:sp>
        <p:nvSpPr>
          <p:cNvPr id="1438087814" name="Text 7"/>
          <p:cNvSpPr/>
          <p:nvPr/>
        </p:nvSpPr>
        <p:spPr bwMode="auto">
          <a:xfrm>
            <a:off x="1130300" y="3876278"/>
            <a:ext cx="2973747" cy="1019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  <a:defRPr/>
            </a:pPr>
            <a:r>
              <a:rPr lang="en-US" sz="1450">
                <a:solidFill>
                  <a:srgbClr val="D6DEE9"/>
                </a:solidFill>
                <a:latin typeface="Carlito"/>
                <a:ea typeface="Carlito"/>
                <a:cs typeface="Carlito"/>
              </a:rPr>
              <a:t>La variazione del costo scende da 15–160% a 0,3–0,6%. Il core del nodo non dorme, non cambia frequenza e nessuno lo interrompe.</a:t>
            </a:r>
            <a:endParaRPr lang="en-US" sz="1450"/>
          </a:p>
        </p:txBody>
      </p:sp>
      <p:sp>
        <p:nvSpPr>
          <p:cNvPr id="108534207" name="Shape 8"/>
          <p:cNvSpPr/>
          <p:nvPr/>
        </p:nvSpPr>
        <p:spPr bwMode="auto">
          <a:xfrm>
            <a:off x="4436533" y="2445023"/>
            <a:ext cx="3318933" cy="2915444"/>
          </a:xfrm>
          <a:prstGeom prst="roundRect">
            <a:avLst>
              <a:gd name="adj" fmla="val 5227"/>
            </a:avLst>
          </a:prstGeom>
          <a:solidFill>
            <a:srgbClr val="27476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825198686" name="Shape 9"/>
          <p:cNvSpPr/>
          <p:nvPr/>
        </p:nvSpPr>
        <p:spPr bwMode="auto">
          <a:xfrm>
            <a:off x="4652433" y="2660923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81244115" name="Text 10"/>
          <p:cNvSpPr/>
          <p:nvPr/>
        </p:nvSpPr>
        <p:spPr bwMode="auto">
          <a:xfrm>
            <a:off x="4819848" y="2720578"/>
            <a:ext cx="173104" cy="363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  <a:defRPr/>
            </a:pPr>
            <a:r>
              <a:rPr lang="en-US" sz="19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2</a:t>
            </a:r>
            <a:endParaRPr lang="en-US" sz="1900"/>
          </a:p>
        </p:txBody>
      </p:sp>
      <p:sp>
        <p:nvSpPr>
          <p:cNvPr id="1114023944" name="Text 11"/>
          <p:cNvSpPr/>
          <p:nvPr/>
        </p:nvSpPr>
        <p:spPr bwMode="auto">
          <a:xfrm>
            <a:off x="4652433" y="3219723"/>
            <a:ext cx="2973747" cy="302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85"/>
              </a:lnSpc>
              <a:buNone/>
              <a:defRPr/>
            </a:pPr>
            <a:r>
              <a:rPr lang="en-US" sz="19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Due generatori, due usi</a:t>
            </a:r>
            <a:endParaRPr lang="en-US" sz="1900"/>
          </a:p>
        </p:txBody>
      </p:sp>
      <p:sp>
        <p:nvSpPr>
          <p:cNvPr id="1167123841" name="Text 12"/>
          <p:cNvSpPr/>
          <p:nvPr/>
        </p:nvSpPr>
        <p:spPr bwMode="auto">
          <a:xfrm>
            <a:off x="4652433" y="3598800"/>
            <a:ext cx="2973747" cy="126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  <a:defRPr/>
            </a:pPr>
            <a:r>
              <a:rPr lang="en-US" sz="1450">
                <a:solidFill>
                  <a:srgbClr val="D6DEE9"/>
                </a:solidFill>
                <a:latin typeface="Carlito"/>
                <a:ea typeface="Carlito"/>
                <a:cs typeface="Carlito"/>
              </a:rPr>
              <a:t>pktgen confronta tutte le pipeline, da 3,31 a 1,50 M/s. xdp_gen, un thread per coda, misura P1–P3 senza la copia: 116–428 ns.</a:t>
            </a:r>
            <a:endParaRPr lang="en-US" sz="1450"/>
          </a:p>
        </p:txBody>
      </p:sp>
      <p:sp>
        <p:nvSpPr>
          <p:cNvPr id="604098758" name="Shape 13"/>
          <p:cNvSpPr/>
          <p:nvPr/>
        </p:nvSpPr>
        <p:spPr bwMode="auto">
          <a:xfrm>
            <a:off x="7958667" y="2445023"/>
            <a:ext cx="3318933" cy="2915444"/>
          </a:xfrm>
          <a:prstGeom prst="roundRect">
            <a:avLst>
              <a:gd name="adj" fmla="val 5227"/>
            </a:avLst>
          </a:prstGeom>
          <a:solidFill>
            <a:srgbClr val="27476F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043608362" name="Shape 14"/>
          <p:cNvSpPr/>
          <p:nvPr/>
        </p:nvSpPr>
        <p:spPr bwMode="auto">
          <a:xfrm>
            <a:off x="8174567" y="2660923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755739281" name="Text 15"/>
          <p:cNvSpPr/>
          <p:nvPr/>
        </p:nvSpPr>
        <p:spPr bwMode="auto">
          <a:xfrm>
            <a:off x="8341982" y="2720578"/>
            <a:ext cx="173104" cy="363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  <a:defRPr/>
            </a:pPr>
            <a:r>
              <a:rPr lang="en-US" sz="1900" b="1">
                <a:solidFill>
                  <a:srgbClr val="1F3A5F"/>
                </a:solidFill>
                <a:latin typeface="Carlito"/>
                <a:ea typeface="Carlito"/>
                <a:cs typeface="Carlito"/>
              </a:rPr>
              <a:t>3</a:t>
            </a:r>
            <a:endParaRPr lang="en-US" sz="1900"/>
          </a:p>
        </p:txBody>
      </p:sp>
      <p:sp>
        <p:nvSpPr>
          <p:cNvPr id="1440241615" name="Text 16"/>
          <p:cNvSpPr/>
          <p:nvPr/>
        </p:nvSpPr>
        <p:spPr bwMode="auto">
          <a:xfrm>
            <a:off x="8174567" y="3219723"/>
            <a:ext cx="2973747" cy="5803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85"/>
              </a:lnSpc>
              <a:buNone/>
              <a:defRPr/>
            </a:pPr>
            <a:r>
              <a:rPr lang="en-US" sz="190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Si perde prima del programma</a:t>
            </a:r>
            <a:endParaRPr lang="en-US" sz="1900"/>
          </a:p>
        </p:txBody>
      </p:sp>
      <p:sp>
        <p:nvSpPr>
          <p:cNvPr id="36496254" name="Text 17"/>
          <p:cNvSpPr/>
          <p:nvPr/>
        </p:nvSpPr>
        <p:spPr bwMode="auto">
          <a:xfrm>
            <a:off x="8174567" y="3876278"/>
            <a:ext cx="2973747" cy="126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  <a:defRPr/>
            </a:pPr>
            <a:r>
              <a:rPr lang="en-US" sz="1450">
                <a:solidFill>
                  <a:srgbClr val="D6DEE9"/>
                </a:solidFill>
                <a:latin typeface="Carlito"/>
                <a:ea typeface="Carlito"/>
                <a:cs typeface="Carlito"/>
              </a:rPr>
              <a:t>Il nodo satura alla sua capacità, il ritardo salta di un ordine di grandezza e la perdita è tutta all'ingresso: il collo di bottiglia è il programma, e la capacità cresce con i core.</a:t>
            </a:r>
            <a:endParaRPr lang="en-US" sz="1450"/>
          </a:p>
        </p:txBody>
      </p:sp>
      <p:sp>
        <p:nvSpPr>
          <p:cNvPr id="1206520092" name="Text 18"/>
          <p:cNvSpPr/>
          <p:nvPr/>
        </p:nvSpPr>
        <p:spPr bwMode="auto">
          <a:xfrm>
            <a:off x="914400" y="5928395"/>
            <a:ext cx="10674096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  <a:defRPr/>
            </a:pPr>
            <a:r>
              <a:rPr lang="en-US" sz="1300">
                <a:solidFill>
                  <a:srgbClr val="9FB0C6"/>
                </a:solidFill>
                <a:latin typeface="Carlito"/>
                <a:ea typeface="Carlito"/>
                <a:cs typeface="Carlito"/>
              </a:rPr>
              <a:t>Ettore Cantile · settembre 2026</a:t>
            </a:r>
            <a:endParaRPr lang="en-US" sz="1300"/>
          </a:p>
        </p:txBody>
      </p:sp>
      <p:sp>
        <p:nvSpPr>
          <p:cNvPr id="1502667220" name="Text 19"/>
          <p:cNvSpPr/>
          <p:nvPr/>
        </p:nvSpPr>
        <p:spPr bwMode="auto">
          <a:xfrm>
            <a:off x="10960099" y="642620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9FB0C6"/>
                </a:solidFill>
                <a:latin typeface="Carlito"/>
                <a:ea typeface="Carlito"/>
                <a:cs typeface="Carlito"/>
              </a:rPr>
              <a:t>25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24</Slides>
  <Notes>24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reale su dual boot</dc:title>
  <dc:subject>PptxGenJS Presentation</dc:subject>
  <dc:creator>PptxGenJS</dc:creator>
  <cp:lastModifiedBy/>
  <cp:revision>4</cp:revision>
  <dcterms:created xsi:type="dcterms:W3CDTF">2026-09-29T15:31:22Z</dcterms:created>
  <dcterms:modified xsi:type="dcterms:W3CDTF">2026-09-30T16:52:04Z</dcterms:modified>
</cp:coreProperties>
</file>